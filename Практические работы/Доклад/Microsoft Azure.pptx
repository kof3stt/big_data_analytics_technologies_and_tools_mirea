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62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2D57EF4E-1AE0-4F1F-A7E9-4C70A579DEC8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209E2E1B-AE8B-4787-B979-37F14F1C7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9586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7EF4E-1AE0-4F1F-A7E9-4C70A579DEC8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E2E1B-AE8B-4787-B979-37F14F1C7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7471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7EF4E-1AE0-4F1F-A7E9-4C70A579DEC8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E2E1B-AE8B-4787-B979-37F14F1C7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677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7EF4E-1AE0-4F1F-A7E9-4C70A579DEC8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E2E1B-AE8B-4787-B979-37F14F1C7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7584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7EF4E-1AE0-4F1F-A7E9-4C70A579DEC8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E2E1B-AE8B-4787-B979-37F14F1C7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5540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7EF4E-1AE0-4F1F-A7E9-4C70A579DEC8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E2E1B-AE8B-4787-B979-37F14F1C7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7111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7EF4E-1AE0-4F1F-A7E9-4C70A579DEC8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E2E1B-AE8B-4787-B979-37F14F1C7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7528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7EF4E-1AE0-4F1F-A7E9-4C70A579DEC8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E2E1B-AE8B-4787-B979-37F14F1C7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1196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7EF4E-1AE0-4F1F-A7E9-4C70A579DEC8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E2E1B-AE8B-4787-B979-37F14F1C7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5611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7EF4E-1AE0-4F1F-A7E9-4C70A579DEC8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E2E1B-AE8B-4787-B979-37F14F1C7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6114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7EF4E-1AE0-4F1F-A7E9-4C70A579DEC8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E2E1B-AE8B-4787-B979-37F14F1C7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40836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7EF4E-1AE0-4F1F-A7E9-4C70A579DEC8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E2E1B-AE8B-4787-B979-37F14F1C7B02}" type="slidenum">
              <a:rPr lang="ru-RU" smtClean="0"/>
              <a:t>‹#›</a:t>
            </a:fld>
            <a:endParaRPr lang="ru-RU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128952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7EF4E-1AE0-4F1F-A7E9-4C70A579DEC8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E2E1B-AE8B-4787-B979-37F14F1C7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88823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7EF4E-1AE0-4F1F-A7E9-4C70A579DEC8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E2E1B-AE8B-4787-B979-37F14F1C7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66718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7EF4E-1AE0-4F1F-A7E9-4C70A579DEC8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E2E1B-AE8B-4787-B979-37F14F1C7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94673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7EF4E-1AE0-4F1F-A7E9-4C70A579DEC8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E2E1B-AE8B-4787-B979-37F14F1C7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53543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7EF4E-1AE0-4F1F-A7E9-4C70A579DEC8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E2E1B-AE8B-4787-B979-37F14F1C7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9096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57EF4E-1AE0-4F1F-A7E9-4C70A579DEC8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9E2E1B-AE8B-4787-B979-37F14F1C7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37726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CF0F60-99DF-BAFC-9AB4-E1385711B2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20975" y="494506"/>
            <a:ext cx="8791575" cy="966787"/>
          </a:xfrm>
        </p:spPr>
        <p:txBody>
          <a:bodyPr/>
          <a:lstStyle/>
          <a:p>
            <a:r>
              <a:rPr lang="en-US" dirty="0"/>
              <a:t>Microsoft Azure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A5A6273-7FB8-DA26-A397-8C0E7DF8FE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2436" y="4224338"/>
            <a:ext cx="8791575" cy="1655762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4B32F-7925-3A22-E134-B414D34128D5}"/>
              </a:ext>
            </a:extLst>
          </p:cNvPr>
          <p:cNvSpPr txBox="1"/>
          <p:nvPr/>
        </p:nvSpPr>
        <p:spPr>
          <a:xfrm>
            <a:off x="1993900" y="5303619"/>
            <a:ext cx="294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Выполнил: </a:t>
            </a:r>
            <a:r>
              <a:rPr lang="ru-RU" dirty="0" err="1"/>
              <a:t>Кликушин</a:t>
            </a:r>
            <a:r>
              <a:rPr lang="ru-RU" dirty="0"/>
              <a:t> Влад, ИКБО-04-22</a:t>
            </a:r>
          </a:p>
        </p:txBody>
      </p:sp>
      <p:pic>
        <p:nvPicPr>
          <p:cNvPr id="1026" name="Picture 2" descr="Microsoft Azure Logo on White Background">
            <a:extLst>
              <a:ext uri="{FF2B5EF4-FFF2-40B4-BE49-F238E27FC236}">
                <a16:creationId xmlns:a16="http://schemas.microsoft.com/office/drawing/2014/main" id="{583BF992-F7A0-13D2-1F99-FE63DDC514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25" y="1874836"/>
            <a:ext cx="5673725" cy="3397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0571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C8F07A-553F-F867-9FF5-443C02EAB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</a:t>
            </a:r>
            <a:r>
              <a:rPr lang="en-US" dirty="0"/>
              <a:t>Azure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AEFAB5-D7B5-510C-BE76-6F8B5C5F649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Azure — глобальная облачная экосистема Microsoft, включающая сотни сервисов для:</a:t>
            </a:r>
            <a:br>
              <a:rPr lang="ru-RU" dirty="0"/>
            </a:br>
            <a:r>
              <a:rPr lang="ru-RU" dirty="0"/>
              <a:t>• хранение данных;</a:t>
            </a:r>
            <a:br>
              <a:rPr lang="ru-RU" dirty="0"/>
            </a:br>
            <a:r>
              <a:rPr lang="ru-RU" dirty="0"/>
              <a:t>• виртуальные машины;</a:t>
            </a:r>
            <a:br>
              <a:rPr lang="ru-RU" dirty="0"/>
            </a:br>
            <a:r>
              <a:rPr lang="ru-RU" dirty="0"/>
              <a:t>• ИИ и аналитика;</a:t>
            </a:r>
            <a:br>
              <a:rPr lang="ru-RU" dirty="0"/>
            </a:br>
            <a:r>
              <a:rPr lang="ru-RU" dirty="0"/>
              <a:t>• сетевые решения;</a:t>
            </a:r>
            <a:br>
              <a:rPr lang="ru-RU" dirty="0"/>
            </a:br>
            <a:r>
              <a:rPr lang="ru-RU" dirty="0"/>
              <a:t>• разработка и деплой приложений.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DC59F85-6C24-F97A-CF75-6832BCE569A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endParaRPr lang="ru-RU"/>
          </a:p>
        </p:txBody>
      </p:sp>
      <p:pic>
        <p:nvPicPr>
          <p:cNvPr id="2050" name="Picture 2" descr="An illustration of the Cloud Computing concept. All kinds of computing... |  Download Scientific Diagram">
            <a:extLst>
              <a:ext uri="{FF2B5EF4-FFF2-40B4-BE49-F238E27FC236}">
                <a16:creationId xmlns:a16="http://schemas.microsoft.com/office/drawing/2014/main" id="{11A9AA81-BA65-0CDA-D814-6AF13D595B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799" y="1439863"/>
            <a:ext cx="5099051" cy="4543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9789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59ED79-3E17-82D6-C446-9B4134985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</a:t>
            </a:r>
            <a:r>
              <a:rPr lang="en-US" dirty="0"/>
              <a:t>Azure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E3EB48-CDEF-645E-C3DE-6DF3B17F6EF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• Высокая масштабируемость;</a:t>
            </a:r>
            <a:br>
              <a:rPr lang="ru-RU" dirty="0"/>
            </a:br>
            <a:r>
              <a:rPr lang="ru-RU" dirty="0"/>
              <a:t>• Глобальная сеть дата-центров;</a:t>
            </a:r>
            <a:br>
              <a:rPr lang="ru-RU" dirty="0"/>
            </a:br>
            <a:r>
              <a:rPr lang="ru-RU" dirty="0"/>
              <a:t>• Гибкая модель оплаты;</a:t>
            </a:r>
            <a:br>
              <a:rPr lang="ru-RU" dirty="0"/>
            </a:br>
            <a:r>
              <a:rPr lang="ru-RU" dirty="0"/>
              <a:t>• Интеграция с продуктами Microsoft;</a:t>
            </a:r>
            <a:br>
              <a:rPr lang="ru-RU" dirty="0"/>
            </a:br>
            <a:r>
              <a:rPr lang="ru-RU" dirty="0"/>
              <a:t>• Высокий уровень безопасности и соответствия стандартам.</a:t>
            </a:r>
          </a:p>
        </p:txBody>
      </p:sp>
      <p:pic>
        <p:nvPicPr>
          <p:cNvPr id="3076" name="Picture 4" descr="Cloud computing - Wikipedia">
            <a:extLst>
              <a:ext uri="{FF2B5EF4-FFF2-40B4-BE49-F238E27FC236}">
                <a16:creationId xmlns:a16="http://schemas.microsoft.com/office/drawing/2014/main" id="{F52C9846-A55A-416A-0438-4630EBAF657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60" y="1313345"/>
            <a:ext cx="5753040" cy="5211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5445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6C2024-2D61-C2ED-F0B8-3D80D96D9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462544"/>
            <a:ext cx="9905998" cy="1478570"/>
          </a:xfrm>
        </p:spPr>
        <p:txBody>
          <a:bodyPr/>
          <a:lstStyle/>
          <a:p>
            <a:r>
              <a:rPr lang="ru-RU" dirty="0"/>
              <a:t>Глобальная инфраструктура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917E25-6DF8-DDC3-D366-AC424469A0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14411" y="1998662"/>
            <a:ext cx="3983040" cy="3541714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Azure включает:</a:t>
            </a:r>
            <a:br>
              <a:rPr lang="ru-RU" dirty="0"/>
            </a:br>
            <a:r>
              <a:rPr lang="ru-RU" dirty="0"/>
              <a:t>• 60+ регионов по всему миру</a:t>
            </a:r>
            <a:br>
              <a:rPr lang="ru-RU" dirty="0"/>
            </a:br>
            <a:r>
              <a:rPr lang="ru-RU" dirty="0"/>
              <a:t>• 200+ дата-центров</a:t>
            </a:r>
            <a:br>
              <a:rPr lang="ru-RU" dirty="0"/>
            </a:br>
            <a:r>
              <a:rPr lang="ru-RU" dirty="0"/>
              <a:t>• Гео-репликацию данных</a:t>
            </a:r>
            <a:br>
              <a:rPr lang="ru-RU" dirty="0"/>
            </a:br>
            <a:r>
              <a:rPr lang="ru-RU" dirty="0"/>
              <a:t>• Гарантию доступности до 99,999%</a:t>
            </a:r>
          </a:p>
        </p:txBody>
      </p:sp>
      <p:pic>
        <p:nvPicPr>
          <p:cNvPr id="4098" name="Picture 2" descr="Microsoft global network - Azure | Microsoft Learn">
            <a:extLst>
              <a:ext uri="{FF2B5EF4-FFF2-40B4-BE49-F238E27FC236}">
                <a16:creationId xmlns:a16="http://schemas.microsoft.com/office/drawing/2014/main" id="{C45F7E54-E568-8B20-8851-F70708C23248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2573" y="1941114"/>
            <a:ext cx="7047795" cy="3964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8898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DD1CBC-3D40-40BE-112A-417CA6EC7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сервисов </a:t>
            </a:r>
            <a:r>
              <a:rPr lang="en-US" dirty="0"/>
              <a:t>Azure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2A4747-C5E4-F6A1-1AEF-FFD6650F92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06461" y="2179636"/>
            <a:ext cx="4351340" cy="3541714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Azure предоставляет 3 ключевые модели:</a:t>
            </a:r>
            <a:br>
              <a:rPr lang="ru-RU" dirty="0"/>
            </a:br>
            <a:r>
              <a:rPr lang="ru-RU" dirty="0"/>
              <a:t>• </a:t>
            </a:r>
            <a:r>
              <a:rPr lang="ru-RU" dirty="0" err="1"/>
              <a:t>IaaS</a:t>
            </a:r>
            <a:r>
              <a:rPr lang="ru-RU" dirty="0"/>
              <a:t> — инфраструктура</a:t>
            </a:r>
            <a:br>
              <a:rPr lang="ru-RU" dirty="0"/>
            </a:br>
            <a:r>
              <a:rPr lang="ru-RU" dirty="0"/>
              <a:t>• </a:t>
            </a:r>
            <a:r>
              <a:rPr lang="ru-RU" dirty="0" err="1"/>
              <a:t>PaaS</a:t>
            </a:r>
            <a:r>
              <a:rPr lang="ru-RU" dirty="0"/>
              <a:t> — платформа</a:t>
            </a:r>
            <a:br>
              <a:rPr lang="ru-RU" dirty="0"/>
            </a:br>
            <a:r>
              <a:rPr lang="ru-RU" dirty="0"/>
              <a:t>• </a:t>
            </a:r>
            <a:r>
              <a:rPr lang="ru-RU" dirty="0" err="1"/>
              <a:t>SaaS</a:t>
            </a:r>
            <a:r>
              <a:rPr lang="ru-RU" dirty="0"/>
              <a:t> — готовые приложения</a:t>
            </a:r>
          </a:p>
        </p:txBody>
      </p:sp>
      <p:pic>
        <p:nvPicPr>
          <p:cNvPr id="5122" name="Picture 2" descr="Main cloud service models: IaaS, PaaS and SaaS">
            <a:extLst>
              <a:ext uri="{FF2B5EF4-FFF2-40B4-BE49-F238E27FC236}">
                <a16:creationId xmlns:a16="http://schemas.microsoft.com/office/drawing/2014/main" id="{A7BA9B8F-33A6-2264-C4D0-03FEEC0DC0B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0647" y="1776493"/>
            <a:ext cx="6584953" cy="4569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1685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D9FFFF-8E01-A31F-F210-E958AED99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Compute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2FB27E-ED1E-324F-D30B-498B88B185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62010" y="2173286"/>
            <a:ext cx="4878389" cy="3541714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Основные вычислительные сервисы:</a:t>
            </a:r>
            <a:br>
              <a:rPr lang="ru-RU" dirty="0"/>
            </a:br>
            <a:r>
              <a:rPr lang="ru-RU" dirty="0"/>
              <a:t>• </a:t>
            </a:r>
            <a:r>
              <a:rPr lang="en-US" dirty="0"/>
              <a:t>Virtual Machines</a:t>
            </a:r>
            <a:br>
              <a:rPr lang="en-US" dirty="0"/>
            </a:br>
            <a:r>
              <a:rPr lang="en-US" dirty="0"/>
              <a:t>• Azure Functions</a:t>
            </a:r>
            <a:br>
              <a:rPr lang="en-US" dirty="0"/>
            </a:br>
            <a:r>
              <a:rPr lang="en-US" dirty="0"/>
              <a:t>• App Service</a:t>
            </a:r>
            <a:br>
              <a:rPr lang="en-US" dirty="0"/>
            </a:br>
            <a:r>
              <a:rPr lang="en-US" dirty="0"/>
              <a:t>• Containers &amp; Kubernetes (AKS)</a:t>
            </a:r>
            <a:endParaRPr lang="ru-RU" dirty="0"/>
          </a:p>
        </p:txBody>
      </p:sp>
      <p:sp>
        <p:nvSpPr>
          <p:cNvPr id="8" name="AutoShape 8" descr="Choose an Azure Compute Service - Azure Architecture Center | Microsoft  Learn">
            <a:extLst>
              <a:ext uri="{FF2B5EF4-FFF2-40B4-BE49-F238E27FC236}">
                <a16:creationId xmlns:a16="http://schemas.microsoft.com/office/drawing/2014/main" id="{6B337D1D-6AD0-8448-1124-8B1F35726F10}"/>
              </a:ext>
            </a:extLst>
          </p:cNvPr>
          <p:cNvSpPr>
            <a:spLocks noGrp="1" noChangeAspect="1" noChangeArrowheads="1"/>
          </p:cNvSpPr>
          <p:nvPr>
            <p:ph sz="half" idx="2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A2EAE15-5E7E-7858-C833-10430FFEB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8795" y="618518"/>
            <a:ext cx="5562019" cy="5660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949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B7FCD5-0335-72BA-F870-C8297FB67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Виртуальные машины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2A47A0-36DF-F3A1-B8B1-484897CCFE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87410" y="2249486"/>
            <a:ext cx="4878389" cy="3541714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• Гибкие конфигурации </a:t>
            </a:r>
            <a:r>
              <a:rPr lang="en-US" dirty="0"/>
              <a:t>CPU, RAM, GPU</a:t>
            </a:r>
            <a:br>
              <a:rPr lang="en-US" dirty="0"/>
            </a:br>
            <a:r>
              <a:rPr lang="en-US" dirty="0"/>
              <a:t>• </a:t>
            </a:r>
            <a:r>
              <a:rPr lang="ru-RU" dirty="0"/>
              <a:t>Быстрое масштабирование</a:t>
            </a:r>
            <a:br>
              <a:rPr lang="ru-RU" dirty="0"/>
            </a:br>
            <a:r>
              <a:rPr lang="ru-RU" dirty="0"/>
              <a:t>• Высокая доступность (</a:t>
            </a:r>
            <a:r>
              <a:rPr lang="en-US" dirty="0"/>
              <a:t>Availability Sets, Zones)</a:t>
            </a:r>
            <a:br>
              <a:rPr lang="en-US" dirty="0"/>
            </a:br>
            <a:r>
              <a:rPr lang="en-US" dirty="0"/>
              <a:t>• </a:t>
            </a:r>
            <a:r>
              <a:rPr lang="ru-RU" dirty="0"/>
              <a:t>Поддержка </a:t>
            </a:r>
            <a:r>
              <a:rPr lang="en-US" dirty="0"/>
              <a:t>Linux </a:t>
            </a:r>
            <a:r>
              <a:rPr lang="ru-RU" dirty="0"/>
              <a:t>и </a:t>
            </a:r>
            <a:r>
              <a:rPr lang="en-US" dirty="0"/>
              <a:t>Windows</a:t>
            </a:r>
            <a:endParaRPr lang="ru-RU" dirty="0"/>
          </a:p>
        </p:txBody>
      </p:sp>
      <p:pic>
        <p:nvPicPr>
          <p:cNvPr id="7170" name="Picture 2" descr="Data Centre Racks: Understanding rack sizes and sizing units">
            <a:extLst>
              <a:ext uri="{FF2B5EF4-FFF2-40B4-BE49-F238E27FC236}">
                <a16:creationId xmlns:a16="http://schemas.microsoft.com/office/drawing/2014/main" id="{A7F5E149-FA47-24F6-1666-A8786DB3DA0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1874983"/>
            <a:ext cx="6076303" cy="4144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9934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40F1FD-4808-0F0B-C9EA-CCD685C1E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Контейнеры и </a:t>
            </a:r>
            <a:r>
              <a:rPr lang="en-US" dirty="0"/>
              <a:t>Kubernetes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85F0C0-BC78-8B3B-AC13-38383C6EE9E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Azure </a:t>
            </a:r>
            <a:r>
              <a:rPr lang="ru-RU" dirty="0" err="1"/>
              <a:t>Kubernetes</a:t>
            </a:r>
            <a:r>
              <a:rPr lang="ru-RU" dirty="0"/>
              <a:t> Service (AKS):</a:t>
            </a:r>
            <a:br>
              <a:rPr lang="ru-RU" dirty="0"/>
            </a:br>
            <a:r>
              <a:rPr lang="ru-RU" dirty="0"/>
              <a:t>• Автоматическое управление кластером;</a:t>
            </a:r>
            <a:br>
              <a:rPr lang="ru-RU" dirty="0"/>
            </a:br>
            <a:r>
              <a:rPr lang="ru-RU" dirty="0"/>
              <a:t>• Мониторинг и авто-масштабирование;</a:t>
            </a:r>
            <a:br>
              <a:rPr lang="ru-RU" dirty="0"/>
            </a:br>
            <a:r>
              <a:rPr lang="ru-RU" dirty="0"/>
              <a:t>• Интеграция с </a:t>
            </a:r>
            <a:r>
              <a:rPr lang="ru-RU" dirty="0" err="1"/>
              <a:t>DevOps</a:t>
            </a:r>
            <a:r>
              <a:rPr lang="ru-RU" dirty="0"/>
              <a:t>;</a:t>
            </a:r>
            <a:br>
              <a:rPr lang="ru-RU" dirty="0"/>
            </a:br>
            <a:r>
              <a:rPr lang="ru-RU" dirty="0"/>
              <a:t>• Упрощённый деплой микросервисов.</a:t>
            </a:r>
          </a:p>
        </p:txBody>
      </p:sp>
      <p:pic>
        <p:nvPicPr>
          <p:cNvPr id="8194" name="Picture 2" descr="What is a Container? | Docker">
            <a:extLst>
              <a:ext uri="{FF2B5EF4-FFF2-40B4-BE49-F238E27FC236}">
                <a16:creationId xmlns:a16="http://schemas.microsoft.com/office/drawing/2014/main" id="{38C4F61F-752C-657C-53FE-A4D69DF46E2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0850" y="1690687"/>
            <a:ext cx="6273800" cy="5011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2385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B237A5-C581-B905-79BE-8A94DE2B7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Storage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A1ABA9-2521-A19B-830A-2DA41B64AA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65160" y="2179636"/>
            <a:ext cx="4878389" cy="3541714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Сервисы хранения данных:</a:t>
            </a:r>
            <a:br>
              <a:rPr lang="ru-RU" dirty="0"/>
            </a:br>
            <a:r>
              <a:rPr lang="ru-RU" dirty="0"/>
              <a:t>• </a:t>
            </a:r>
            <a:r>
              <a:rPr lang="en-US" dirty="0"/>
              <a:t>Blob Storage — </a:t>
            </a:r>
            <a:r>
              <a:rPr lang="ru-RU" dirty="0"/>
              <a:t>объекты</a:t>
            </a:r>
            <a:br>
              <a:rPr lang="ru-RU" dirty="0"/>
            </a:br>
            <a:r>
              <a:rPr lang="ru-RU" dirty="0"/>
              <a:t>• </a:t>
            </a:r>
            <a:r>
              <a:rPr lang="en-US" dirty="0"/>
              <a:t>File Storage — </a:t>
            </a:r>
            <a:r>
              <a:rPr lang="ru-RU" dirty="0"/>
              <a:t>файловая система</a:t>
            </a:r>
            <a:br>
              <a:rPr lang="ru-RU" dirty="0"/>
            </a:br>
            <a:r>
              <a:rPr lang="ru-RU" dirty="0"/>
              <a:t>• </a:t>
            </a:r>
            <a:r>
              <a:rPr lang="en-US" dirty="0"/>
              <a:t>Queue Storage — </a:t>
            </a:r>
            <a:r>
              <a:rPr lang="ru-RU" dirty="0"/>
              <a:t>очереди</a:t>
            </a:r>
            <a:br>
              <a:rPr lang="ru-RU" dirty="0"/>
            </a:br>
            <a:r>
              <a:rPr lang="ru-RU" dirty="0"/>
              <a:t>• </a:t>
            </a:r>
            <a:r>
              <a:rPr lang="en-US" dirty="0"/>
              <a:t>Disk Storage — </a:t>
            </a:r>
            <a:r>
              <a:rPr lang="ru-RU" dirty="0"/>
              <a:t>диски для </a:t>
            </a:r>
            <a:r>
              <a:rPr lang="en-US" dirty="0"/>
              <a:t>VM</a:t>
            </a:r>
            <a:endParaRPr lang="ru-RU" dirty="0"/>
          </a:p>
        </p:txBody>
      </p:sp>
      <p:pic>
        <p:nvPicPr>
          <p:cNvPr id="9218" name="Picture 2" descr="Files in cloud storage illustration | kit8.net">
            <a:extLst>
              <a:ext uri="{FF2B5EF4-FFF2-40B4-BE49-F238E27FC236}">
                <a16:creationId xmlns:a16="http://schemas.microsoft.com/office/drawing/2014/main" id="{C1C5FDC9-1717-02E2-14A9-5D8AB8C93C57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3549" y="1816100"/>
            <a:ext cx="6330904" cy="421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6015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4CE97D-C95B-821E-DBF3-FE66E6DAA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Базы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6AB2931-AA10-55B7-2FDE-75277F460E9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Azure Database Services:</a:t>
            </a:r>
            <a:br>
              <a:rPr lang="en-US" dirty="0"/>
            </a:br>
            <a:r>
              <a:rPr lang="en-US" dirty="0"/>
              <a:t>• SQL Database</a:t>
            </a:r>
            <a:br>
              <a:rPr lang="en-US" dirty="0"/>
            </a:br>
            <a:r>
              <a:rPr lang="en-US" dirty="0"/>
              <a:t>• Cosmos DB</a:t>
            </a:r>
            <a:br>
              <a:rPr lang="en-US" dirty="0"/>
            </a:br>
            <a:r>
              <a:rPr lang="en-US" dirty="0"/>
              <a:t>• PostgreSQL/MariaDB/MySQL</a:t>
            </a:r>
            <a:br>
              <a:rPr lang="en-US" dirty="0"/>
            </a:br>
            <a:r>
              <a:rPr lang="en-US" dirty="0"/>
              <a:t>• Data Lake Storage</a:t>
            </a:r>
            <a:endParaRPr lang="ru-RU" dirty="0"/>
          </a:p>
        </p:txBody>
      </p:sp>
      <p:pic>
        <p:nvPicPr>
          <p:cNvPr id="10242" name="Picture 2" descr="What is Cloud Database? Definition &amp; FAQs | ScyllaDB">
            <a:extLst>
              <a:ext uri="{FF2B5EF4-FFF2-40B4-BE49-F238E27FC236}">
                <a16:creationId xmlns:a16="http://schemas.microsoft.com/office/drawing/2014/main" id="{A1B41898-84E2-2974-8AFD-852E8DCD0B6B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198" y="256355"/>
            <a:ext cx="4875213" cy="1787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42E0CB7-BE88-9765-FEA1-7667AECFD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7196" y="2406096"/>
            <a:ext cx="4428503" cy="4041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8821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066143-211A-C30E-03E2-C4ADC2E2B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Cosmos DB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A6744A-569C-A2B4-0102-9746920B7FA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• Масштабируемое </a:t>
            </a:r>
            <a:r>
              <a:rPr lang="ru-RU" dirty="0" err="1"/>
              <a:t>NoSQL</a:t>
            </a:r>
            <a:r>
              <a:rPr lang="ru-RU" dirty="0"/>
              <a:t>-хранилище</a:t>
            </a:r>
            <a:br>
              <a:rPr lang="ru-RU" dirty="0"/>
            </a:br>
            <a:r>
              <a:rPr lang="ru-RU" dirty="0"/>
              <a:t>• Задержка &lt; 10 мс</a:t>
            </a:r>
            <a:br>
              <a:rPr lang="ru-RU" dirty="0"/>
            </a:br>
            <a:r>
              <a:rPr lang="ru-RU" dirty="0"/>
              <a:t>• Много моделей данных: Key-Value, Document, </a:t>
            </a:r>
            <a:r>
              <a:rPr lang="ru-RU" dirty="0" err="1"/>
              <a:t>Graph</a:t>
            </a:r>
            <a:br>
              <a:rPr lang="ru-RU" dirty="0"/>
            </a:br>
            <a:r>
              <a:rPr lang="ru-RU" dirty="0"/>
              <a:t>• Мировая репликация</a:t>
            </a:r>
          </a:p>
        </p:txBody>
      </p:sp>
      <p:pic>
        <p:nvPicPr>
          <p:cNvPr id="11266" name="Picture 2" descr="Distributed Database Comparison - ScyllaDB">
            <a:extLst>
              <a:ext uri="{FF2B5EF4-FFF2-40B4-BE49-F238E27FC236}">
                <a16:creationId xmlns:a16="http://schemas.microsoft.com/office/drawing/2014/main" id="{3315DBC9-29D3-853B-E6B4-5DF7A8EF3AB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3" y="211013"/>
            <a:ext cx="5311791" cy="2779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Introduction to NoSQL Cloud Database Services - GeeksforGeeks">
            <a:extLst>
              <a:ext uri="{FF2B5EF4-FFF2-40B4-BE49-F238E27FC236}">
                <a16:creationId xmlns:a16="http://schemas.microsoft.com/office/drawing/2014/main" id="{5CF092D2-0B02-F167-F39E-EA78A3B283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3289300"/>
            <a:ext cx="6172200" cy="308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0361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9D17B8-A4F5-3619-1A1C-7712A6DBC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Networking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3018185-0D30-73B9-627F-652C434BD5B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Ключевые сетевые сервисы:</a:t>
            </a:r>
            <a:br>
              <a:rPr lang="ru-RU" dirty="0"/>
            </a:br>
            <a:r>
              <a:rPr lang="ru-RU" dirty="0"/>
              <a:t>• </a:t>
            </a:r>
            <a:r>
              <a:rPr lang="en-US" dirty="0"/>
              <a:t>Virtual Network</a:t>
            </a:r>
            <a:br>
              <a:rPr lang="en-US" dirty="0"/>
            </a:br>
            <a:r>
              <a:rPr lang="en-US" dirty="0"/>
              <a:t>• Load Balancer</a:t>
            </a:r>
            <a:br>
              <a:rPr lang="en-US" dirty="0"/>
            </a:br>
            <a:r>
              <a:rPr lang="en-US" dirty="0"/>
              <a:t>• VPN Gateway</a:t>
            </a:r>
            <a:br>
              <a:rPr lang="en-US" dirty="0"/>
            </a:br>
            <a:r>
              <a:rPr lang="en-US" dirty="0"/>
              <a:t>• Application Gateway</a:t>
            </a:r>
            <a:br>
              <a:rPr lang="en-US" dirty="0"/>
            </a:br>
            <a:r>
              <a:rPr lang="en-US" dirty="0"/>
              <a:t>• Azure DNS</a:t>
            </a:r>
            <a:br>
              <a:rPr lang="en-US" dirty="0"/>
            </a:br>
            <a:r>
              <a:rPr lang="en-US" dirty="0"/>
              <a:t>• Firewall</a:t>
            </a:r>
            <a:endParaRPr lang="ru-RU" dirty="0"/>
          </a:p>
        </p:txBody>
      </p:sp>
      <p:pic>
        <p:nvPicPr>
          <p:cNvPr id="12300" name="Picture 12" descr="Network Diagram for Load Balancing">
            <a:extLst>
              <a:ext uri="{FF2B5EF4-FFF2-40B4-BE49-F238E27FC236}">
                <a16:creationId xmlns:a16="http://schemas.microsoft.com/office/drawing/2014/main" id="{FA25B4C4-0E10-CACE-6AD9-D5DAA18A04B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6732" y="2305843"/>
            <a:ext cx="6644508" cy="3821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5086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0A775C-501E-E453-5E34-835728476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AI </a:t>
            </a:r>
            <a:r>
              <a:rPr lang="ru-RU" dirty="0"/>
              <a:t>и </a:t>
            </a:r>
            <a:r>
              <a:rPr lang="en-US" dirty="0"/>
              <a:t>ML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952632-D31E-6FF1-DF57-73CB501870C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Azure AI </a:t>
            </a:r>
            <a:r>
              <a:rPr lang="ru-RU" dirty="0"/>
              <a:t>предоставляет:</a:t>
            </a:r>
            <a:br>
              <a:rPr lang="ru-RU" dirty="0"/>
            </a:br>
            <a:r>
              <a:rPr lang="ru-RU" dirty="0"/>
              <a:t>• </a:t>
            </a:r>
            <a:r>
              <a:rPr lang="en-US" dirty="0"/>
              <a:t>Azure Machine Learning</a:t>
            </a:r>
            <a:br>
              <a:rPr lang="en-US" dirty="0"/>
            </a:br>
            <a:r>
              <a:rPr lang="en-US" dirty="0"/>
              <a:t>• Cognitive Services</a:t>
            </a:r>
            <a:br>
              <a:rPr lang="en-US" dirty="0"/>
            </a:br>
            <a:r>
              <a:rPr lang="en-US" dirty="0"/>
              <a:t>• Speech/Language Vision API</a:t>
            </a:r>
            <a:br>
              <a:rPr lang="en-US" dirty="0"/>
            </a:br>
            <a:r>
              <a:rPr lang="en-US" dirty="0"/>
              <a:t>• </a:t>
            </a:r>
            <a:r>
              <a:rPr lang="ru-RU" dirty="0"/>
              <a:t>Модели ИИ и </a:t>
            </a:r>
            <a:r>
              <a:rPr lang="en-US" dirty="0" err="1"/>
              <a:t>AutoML</a:t>
            </a:r>
            <a:endParaRPr lang="ru-RU" dirty="0"/>
          </a:p>
        </p:txBody>
      </p:sp>
      <p:pic>
        <p:nvPicPr>
          <p:cNvPr id="13314" name="Picture 2" descr="Deep learning and process understanding for data-driven Earth system science  | Nature">
            <a:extLst>
              <a:ext uri="{FF2B5EF4-FFF2-40B4-BE49-F238E27FC236}">
                <a16:creationId xmlns:a16="http://schemas.microsoft.com/office/drawing/2014/main" id="{1A98847D-7D3C-0331-F385-6123D9B9954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7150" y="1003300"/>
            <a:ext cx="6673850" cy="5397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22902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EB8174-820E-26C8-A94C-94242CDF3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Machine Learning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D210CB-4A04-F4FC-8CE9-388906190CE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• Обучение моделей</a:t>
            </a:r>
            <a:br>
              <a:rPr lang="ru-RU" dirty="0"/>
            </a:br>
            <a:r>
              <a:rPr lang="ru-RU" dirty="0"/>
              <a:t>• </a:t>
            </a:r>
            <a:r>
              <a:rPr lang="ru-RU" dirty="0" err="1"/>
              <a:t>MLOps</a:t>
            </a:r>
            <a:br>
              <a:rPr lang="ru-RU" dirty="0"/>
            </a:br>
            <a:r>
              <a:rPr lang="ru-RU" dirty="0"/>
              <a:t>• Поддержка Python/</a:t>
            </a:r>
            <a:r>
              <a:rPr lang="ru-RU" dirty="0" err="1"/>
              <a:t>Notebook</a:t>
            </a:r>
            <a:br>
              <a:rPr lang="ru-RU" dirty="0"/>
            </a:br>
            <a:r>
              <a:rPr lang="ru-RU" dirty="0"/>
              <a:t>• Эксперименты и мониторинг</a:t>
            </a:r>
            <a:br>
              <a:rPr lang="ru-RU" dirty="0"/>
            </a:br>
            <a:r>
              <a:rPr lang="ru-RU" dirty="0"/>
              <a:t>• Деплой моделей в контейнерах</a:t>
            </a:r>
          </a:p>
        </p:txBody>
      </p:sp>
      <p:pic>
        <p:nvPicPr>
          <p:cNvPr id="14338" name="Picture 2" descr="Machine Learning Operations (MLOps) For Beginners | Towards Data Science">
            <a:extLst>
              <a:ext uri="{FF2B5EF4-FFF2-40B4-BE49-F238E27FC236}">
                <a16:creationId xmlns:a16="http://schemas.microsoft.com/office/drawing/2014/main" id="{7F01A1BE-EF99-9D34-EEBF-7A4796113F3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9600" y="1933766"/>
            <a:ext cx="6240561" cy="3730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50805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C79795-7800-BC6B-D282-847DF559B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DevOps </a:t>
            </a:r>
            <a:r>
              <a:rPr lang="ru-RU" dirty="0"/>
              <a:t>в </a:t>
            </a:r>
            <a:r>
              <a:rPr lang="en-US" dirty="0"/>
              <a:t>Azure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106C2A-2FEB-B7EB-3895-68D6202E88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8210" y="2092324"/>
            <a:ext cx="4878389" cy="354171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Azure DevOps </a:t>
            </a:r>
            <a:r>
              <a:rPr lang="ru-RU" dirty="0"/>
              <a:t>включает:</a:t>
            </a:r>
            <a:br>
              <a:rPr lang="ru-RU" dirty="0"/>
            </a:br>
            <a:r>
              <a:rPr lang="ru-RU" dirty="0"/>
              <a:t>• </a:t>
            </a:r>
            <a:r>
              <a:rPr lang="en-US" dirty="0"/>
              <a:t>Boards (</a:t>
            </a:r>
            <a:r>
              <a:rPr lang="ru-RU" dirty="0"/>
              <a:t>управление задачами)</a:t>
            </a:r>
            <a:br>
              <a:rPr lang="ru-RU" dirty="0"/>
            </a:br>
            <a:r>
              <a:rPr lang="ru-RU" dirty="0"/>
              <a:t>• </a:t>
            </a:r>
            <a:r>
              <a:rPr lang="en-US" dirty="0"/>
              <a:t>Repos (Git-</a:t>
            </a:r>
            <a:r>
              <a:rPr lang="ru-RU" dirty="0"/>
              <a:t>репозитории)</a:t>
            </a:r>
            <a:br>
              <a:rPr lang="ru-RU" dirty="0"/>
            </a:br>
            <a:r>
              <a:rPr lang="ru-RU" dirty="0"/>
              <a:t>• </a:t>
            </a:r>
            <a:r>
              <a:rPr lang="en-US" dirty="0"/>
              <a:t>Pipelines (CI/CD)</a:t>
            </a:r>
            <a:br>
              <a:rPr lang="en-US" dirty="0"/>
            </a:br>
            <a:r>
              <a:rPr lang="en-US" dirty="0"/>
              <a:t>• Artifacts</a:t>
            </a:r>
            <a:br>
              <a:rPr lang="en-US" dirty="0"/>
            </a:br>
            <a:r>
              <a:rPr lang="en-US" dirty="0"/>
              <a:t>• Test Plans</a:t>
            </a:r>
            <a:endParaRPr lang="ru-RU" dirty="0"/>
          </a:p>
        </p:txBody>
      </p:sp>
      <p:pic>
        <p:nvPicPr>
          <p:cNvPr id="15362" name="Picture 2" descr="DevSecOps and Cloud Computing Coaching: CICD Process Flow Diagram |  Implement CICD using Azure DevOps, SonarQube, Artifactory and Slack">
            <a:extLst>
              <a:ext uri="{FF2B5EF4-FFF2-40B4-BE49-F238E27FC236}">
                <a16:creationId xmlns:a16="http://schemas.microsoft.com/office/drawing/2014/main" id="{E26D994B-4ACA-3A62-577C-5D255C45B8AC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1820659"/>
            <a:ext cx="6664301" cy="3813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2771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0F0E6E-21A2-839F-E858-B4A818852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Security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076800-DC31-D4C5-0836-F122960F8D5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Identity &amp; Access Management</a:t>
            </a:r>
            <a:br>
              <a:rPr lang="en-US" dirty="0"/>
            </a:br>
            <a:r>
              <a:rPr lang="en-US" dirty="0"/>
              <a:t>• Azure Defender</a:t>
            </a:r>
            <a:br>
              <a:rPr lang="en-US" dirty="0"/>
            </a:br>
            <a:r>
              <a:rPr lang="en-US" dirty="0"/>
              <a:t>• Key Vault</a:t>
            </a:r>
            <a:br>
              <a:rPr lang="en-US" dirty="0"/>
            </a:br>
            <a:r>
              <a:rPr lang="en-US" dirty="0"/>
              <a:t>• Security Center</a:t>
            </a:r>
            <a:br>
              <a:rPr lang="en-US" dirty="0"/>
            </a:br>
            <a:r>
              <a:rPr lang="en-US" dirty="0"/>
              <a:t>• </a:t>
            </a:r>
            <a:r>
              <a:rPr lang="ru-RU" dirty="0"/>
              <a:t>Защита данных + аудит соответствия</a:t>
            </a:r>
          </a:p>
        </p:txBody>
      </p:sp>
      <p:pic>
        <p:nvPicPr>
          <p:cNvPr id="16386" name="Picture 2" descr="What Is Cloud Security? Strategies to Secure Your Data">
            <a:extLst>
              <a:ext uri="{FF2B5EF4-FFF2-40B4-BE49-F238E27FC236}">
                <a16:creationId xmlns:a16="http://schemas.microsoft.com/office/drawing/2014/main" id="{AC0686CB-6B7B-16F1-7E8D-30FAEAEE5418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799" y="1981201"/>
            <a:ext cx="5894359" cy="3856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8343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266588-B1E5-E18B-1D66-C2BF3E981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Реальные сценарии использования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25510C-2E11-319B-02D1-6FA2ABF196A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• Хостинг сайтов</a:t>
            </a:r>
            <a:br>
              <a:rPr lang="ru-RU" dirty="0"/>
            </a:br>
            <a:r>
              <a:rPr lang="ru-RU" dirty="0"/>
              <a:t>• Аналитика больших данных</a:t>
            </a:r>
            <a:br>
              <a:rPr lang="ru-RU" dirty="0"/>
            </a:br>
            <a:r>
              <a:rPr lang="ru-RU" dirty="0"/>
              <a:t>• Обработка видео/изображений</a:t>
            </a:r>
            <a:br>
              <a:rPr lang="ru-RU" dirty="0"/>
            </a:br>
            <a:r>
              <a:rPr lang="ru-RU" dirty="0"/>
              <a:t>• Интернет вещей (</a:t>
            </a:r>
            <a:r>
              <a:rPr lang="ru-RU" dirty="0" err="1"/>
              <a:t>IoT</a:t>
            </a:r>
            <a:r>
              <a:rPr lang="ru-RU" dirty="0"/>
              <a:t>)</a:t>
            </a:r>
            <a:br>
              <a:rPr lang="ru-RU" dirty="0"/>
            </a:br>
            <a:r>
              <a:rPr lang="ru-RU" dirty="0"/>
              <a:t>• Корпоративные приложения</a:t>
            </a:r>
            <a:br>
              <a:rPr lang="ru-RU" dirty="0"/>
            </a:br>
            <a:r>
              <a:rPr lang="ru-RU" dirty="0"/>
              <a:t>• Игровые серверы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B6141D83-E375-7A4A-E4FD-359B4708432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7412" name="Picture 4" descr="IoT &amp; Cloud Computing integration. | Download Scientific Diagram">
            <a:extLst>
              <a:ext uri="{FF2B5EF4-FFF2-40B4-BE49-F238E27FC236}">
                <a16:creationId xmlns:a16="http://schemas.microsoft.com/office/drawing/2014/main" id="{5A75C6D2-8EBB-37F8-124F-8A96983443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1785935"/>
            <a:ext cx="5056188" cy="4771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67668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CF8384-6DAF-4F7E-771B-9CC3CE905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Преимущества для бизнеса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97C77B-626D-D96F-C763-7CEF52B2049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• Снижение затрат</a:t>
            </a:r>
            <a:br>
              <a:rPr lang="ru-RU" dirty="0"/>
            </a:br>
            <a:r>
              <a:rPr lang="ru-RU" dirty="0"/>
              <a:t>• Быстрое внедрение решений</a:t>
            </a:r>
            <a:br>
              <a:rPr lang="ru-RU" dirty="0"/>
            </a:br>
            <a:r>
              <a:rPr lang="ru-RU" dirty="0"/>
              <a:t>• Гибкость и масштабируемость</a:t>
            </a:r>
            <a:br>
              <a:rPr lang="ru-RU" dirty="0"/>
            </a:br>
            <a:r>
              <a:rPr lang="ru-RU" dirty="0"/>
              <a:t>• Высокая безопасность</a:t>
            </a:r>
            <a:br>
              <a:rPr lang="ru-RU" dirty="0"/>
            </a:br>
            <a:r>
              <a:rPr lang="ru-RU" dirty="0"/>
              <a:t>• Интеграция с Microsoft 365 / Windows</a:t>
            </a:r>
          </a:p>
        </p:txBody>
      </p:sp>
      <p:pic>
        <p:nvPicPr>
          <p:cNvPr id="18434" name="Picture 2" descr="Cloud Business Growth Hacks: Follow the Tips to Benefit - Java Code Geeks">
            <a:extLst>
              <a:ext uri="{FF2B5EF4-FFF2-40B4-BE49-F238E27FC236}">
                <a16:creationId xmlns:a16="http://schemas.microsoft.com/office/drawing/2014/main" id="{96D898BD-4F90-D0E2-C97A-447CAAFCB24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0850" y="2249486"/>
            <a:ext cx="6287325" cy="3541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30626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AB82CD-AF19-C159-FDE0-41E51228E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FB6261-7000-251A-9256-E70B28E62C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1" y="2249486"/>
            <a:ext cx="4294190" cy="354171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dirty="0"/>
              <a:t>Azure — мощная облачная платформа с:</a:t>
            </a:r>
            <a:br>
              <a:rPr lang="ru-RU" dirty="0"/>
            </a:br>
            <a:r>
              <a:rPr lang="ru-RU" dirty="0"/>
              <a:t>• масштабируемыми сервисами</a:t>
            </a:r>
            <a:br>
              <a:rPr lang="ru-RU" dirty="0"/>
            </a:br>
            <a:r>
              <a:rPr lang="ru-RU" dirty="0"/>
              <a:t>• ИИ-возможностями</a:t>
            </a:r>
            <a:br>
              <a:rPr lang="ru-RU" dirty="0"/>
            </a:br>
            <a:r>
              <a:rPr lang="ru-RU" dirty="0"/>
              <a:t>• высокой доступностью</a:t>
            </a:r>
            <a:br>
              <a:rPr lang="ru-RU" dirty="0"/>
            </a:br>
            <a:r>
              <a:rPr lang="ru-RU" dirty="0"/>
              <a:t>• безопасной архитектурой</a:t>
            </a:r>
            <a:br>
              <a:rPr lang="ru-RU" dirty="0"/>
            </a:br>
            <a:r>
              <a:rPr lang="ru-RU" dirty="0"/>
              <a:t>• гибкими инструментами разработки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C687D732-1502-0B41-0C25-97855D84C5E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435601" y="1756086"/>
            <a:ext cx="6255962" cy="416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0147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Контур">
  <a:themeElements>
    <a:clrScheme name="Контур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Контур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Контур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TM04033919[[fn=Контур]]</Template>
  <TotalTime>25</TotalTime>
  <Words>548</Words>
  <Application>Microsoft Office PowerPoint</Application>
  <PresentationFormat>Широкоэкранный</PresentationFormat>
  <Paragraphs>38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2" baseType="lpstr">
      <vt:lpstr>Arial</vt:lpstr>
      <vt:lpstr>Tw Cen MT</vt:lpstr>
      <vt:lpstr>Контур</vt:lpstr>
      <vt:lpstr>Microsoft Azure</vt:lpstr>
      <vt:lpstr>Что такое Azure</vt:lpstr>
      <vt:lpstr>Почему Azure</vt:lpstr>
      <vt:lpstr>Глобальная инфраструктура</vt:lpstr>
      <vt:lpstr>Модель сервисов Azure</vt:lpstr>
      <vt:lpstr>Azure Compute</vt:lpstr>
      <vt:lpstr>Виртуальные машины</vt:lpstr>
      <vt:lpstr>Контейнеры и Kubernetes</vt:lpstr>
      <vt:lpstr>Azure Storage</vt:lpstr>
      <vt:lpstr>Базы данных</vt:lpstr>
      <vt:lpstr>Cosmos DB</vt:lpstr>
      <vt:lpstr>Azure Networking</vt:lpstr>
      <vt:lpstr>Azure AI и ML</vt:lpstr>
      <vt:lpstr>Azure Machine Learning</vt:lpstr>
      <vt:lpstr>DevOps в Azure</vt:lpstr>
      <vt:lpstr>Azure Security</vt:lpstr>
      <vt:lpstr>Реальные сценарии использования</vt:lpstr>
      <vt:lpstr>Преимущества для бизнеса</vt:lpstr>
      <vt:lpstr>ИТОГ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kof3st</dc:creator>
  <cp:lastModifiedBy>kof3st</cp:lastModifiedBy>
  <cp:revision>1</cp:revision>
  <dcterms:created xsi:type="dcterms:W3CDTF">2025-12-03T21:30:06Z</dcterms:created>
  <dcterms:modified xsi:type="dcterms:W3CDTF">2025-12-03T21:55:52Z</dcterms:modified>
</cp:coreProperties>
</file>