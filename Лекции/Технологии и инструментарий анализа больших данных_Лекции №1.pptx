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05" r:id="rId1"/>
  </p:sldMasterIdLst>
  <p:notesMasterIdLst>
    <p:notesMasterId r:id="rId38"/>
  </p:notesMasterIdLst>
  <p:sldIdLst>
    <p:sldId id="256" r:id="rId2"/>
    <p:sldId id="257" r:id="rId3"/>
    <p:sldId id="260" r:id="rId4"/>
    <p:sldId id="259" r:id="rId5"/>
    <p:sldId id="261" r:id="rId6"/>
    <p:sldId id="262" r:id="rId7"/>
    <p:sldId id="263" r:id="rId8"/>
    <p:sldId id="264" r:id="rId9"/>
    <p:sldId id="265" r:id="rId10"/>
    <p:sldId id="267" r:id="rId11"/>
    <p:sldId id="269" r:id="rId12"/>
    <p:sldId id="270" r:id="rId13"/>
    <p:sldId id="272" r:id="rId14"/>
    <p:sldId id="274" r:id="rId15"/>
    <p:sldId id="275" r:id="rId16"/>
    <p:sldId id="273" r:id="rId17"/>
    <p:sldId id="284" r:id="rId18"/>
    <p:sldId id="277" r:id="rId19"/>
    <p:sldId id="279" r:id="rId20"/>
    <p:sldId id="280" r:id="rId21"/>
    <p:sldId id="281" r:id="rId22"/>
    <p:sldId id="283" r:id="rId23"/>
    <p:sldId id="282" r:id="rId24"/>
    <p:sldId id="271" r:id="rId25"/>
    <p:sldId id="276" r:id="rId26"/>
    <p:sldId id="294" r:id="rId27"/>
    <p:sldId id="295" r:id="rId28"/>
    <p:sldId id="296" r:id="rId29"/>
    <p:sldId id="285" r:id="rId30"/>
    <p:sldId id="286" r:id="rId31"/>
    <p:sldId id="287" r:id="rId32"/>
    <p:sldId id="289" r:id="rId33"/>
    <p:sldId id="290" r:id="rId34"/>
    <p:sldId id="291" r:id="rId35"/>
    <p:sldId id="293" r:id="rId36"/>
    <p:sldId id="292" r:id="rId37"/>
  </p:sldIdLst>
  <p:sldSz cx="12192000" cy="6858000"/>
  <p:notesSz cx="6858000" cy="9144000"/>
  <p:defaultTextStyle>
    <a:defPPr>
      <a:defRPr lang="ru-RU"/>
    </a:defPPr>
    <a:lvl1pPr marL="0" algn="l" defTabSz="914377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F5AB1C69-6EDB-4FF4-983F-18BD219EF322}" styleName="Средний стиль 2 — акцент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Средний стиль 2 — акцент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BC89EF96-8CEA-46FF-86C4-4CE0E7609802}" styleName="Светлый стиль 3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651" autoAdjust="0"/>
    <p:restoredTop sz="70510" autoAdjust="0"/>
  </p:normalViewPr>
  <p:slideViewPr>
    <p:cSldViewPr snapToGrid="0">
      <p:cViewPr varScale="1">
        <p:scale>
          <a:sx n="62" d="100"/>
          <a:sy n="62" d="100"/>
        </p:scale>
        <p:origin x="1642" y="6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2C93B40-2F04-4B76-91A8-1F5C5F684006}" type="doc">
      <dgm:prSet loTypeId="urn:microsoft.com/office/officeart/2005/8/layout/hList1" loCatId="list" qsTypeId="urn:microsoft.com/office/officeart/2005/8/quickstyle/simple3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562F2C98-862E-4EC6-90A2-00FB0945DC92}">
      <dgm:prSet phldrT="[Текст]"/>
      <dgm:spPr/>
      <dgm:t>
        <a:bodyPr/>
        <a:lstStyle/>
        <a:p>
          <a:r>
            <a:rPr lang="ru-RU" b="1" dirty="0"/>
            <a:t>Промышленность</a:t>
          </a:r>
        </a:p>
      </dgm:t>
    </dgm:pt>
    <dgm:pt modelId="{4769E844-AEF1-48B6-B7FC-988F0398D88C}" type="parTrans" cxnId="{791D6191-ECB2-4B41-9528-372ED7A1A700}">
      <dgm:prSet/>
      <dgm:spPr/>
      <dgm:t>
        <a:bodyPr/>
        <a:lstStyle/>
        <a:p>
          <a:endParaRPr lang="ru-RU"/>
        </a:p>
      </dgm:t>
    </dgm:pt>
    <dgm:pt modelId="{B1DD0B35-D88C-46DC-8694-0F5F56E7A424}" type="sibTrans" cxnId="{791D6191-ECB2-4B41-9528-372ED7A1A700}">
      <dgm:prSet/>
      <dgm:spPr/>
      <dgm:t>
        <a:bodyPr/>
        <a:lstStyle/>
        <a:p>
          <a:endParaRPr lang="ru-RU"/>
        </a:p>
      </dgm:t>
    </dgm:pt>
    <dgm:pt modelId="{409E743C-C7CC-4BE8-B655-DD74FE9B8426}">
      <dgm:prSet phldrT="[Текст]"/>
      <dgm:spPr/>
      <dgm:t>
        <a:bodyPr/>
        <a:lstStyle/>
        <a:p>
          <a:r>
            <a:rPr lang="ru-RU" dirty="0"/>
            <a:t>Предиктивная аналитика</a:t>
          </a:r>
        </a:p>
      </dgm:t>
    </dgm:pt>
    <dgm:pt modelId="{FCEE890F-708B-46A7-AC6B-FD25059C67DE}" type="parTrans" cxnId="{50D64FC4-6FCA-4975-915E-6BFE511306E5}">
      <dgm:prSet/>
      <dgm:spPr/>
      <dgm:t>
        <a:bodyPr/>
        <a:lstStyle/>
        <a:p>
          <a:endParaRPr lang="ru-RU"/>
        </a:p>
      </dgm:t>
    </dgm:pt>
    <dgm:pt modelId="{56F8B104-0BB2-4FF7-B605-94CE2DA4FE31}" type="sibTrans" cxnId="{50D64FC4-6FCA-4975-915E-6BFE511306E5}">
      <dgm:prSet/>
      <dgm:spPr/>
      <dgm:t>
        <a:bodyPr/>
        <a:lstStyle/>
        <a:p>
          <a:endParaRPr lang="ru-RU"/>
        </a:p>
      </dgm:t>
    </dgm:pt>
    <dgm:pt modelId="{9E063026-E878-4C90-B718-36C8A7F6E0F7}">
      <dgm:prSet phldrT="[Текст]"/>
      <dgm:spPr/>
      <dgm:t>
        <a:bodyPr/>
        <a:lstStyle/>
        <a:p>
          <a:r>
            <a:rPr lang="ru-RU" dirty="0"/>
            <a:t>Оптимизация производства</a:t>
          </a:r>
        </a:p>
      </dgm:t>
    </dgm:pt>
    <dgm:pt modelId="{736C2CEB-1818-46C6-8ADA-DC9024D4E528}" type="parTrans" cxnId="{CA70C9DC-17F1-4E29-B0F5-84093D300800}">
      <dgm:prSet/>
      <dgm:spPr/>
      <dgm:t>
        <a:bodyPr/>
        <a:lstStyle/>
        <a:p>
          <a:endParaRPr lang="ru-RU"/>
        </a:p>
      </dgm:t>
    </dgm:pt>
    <dgm:pt modelId="{058B61CB-FEB2-418E-88BA-AD8E4EC2CE13}" type="sibTrans" cxnId="{CA70C9DC-17F1-4E29-B0F5-84093D300800}">
      <dgm:prSet/>
      <dgm:spPr/>
      <dgm:t>
        <a:bodyPr/>
        <a:lstStyle/>
        <a:p>
          <a:endParaRPr lang="ru-RU"/>
        </a:p>
      </dgm:t>
    </dgm:pt>
    <dgm:pt modelId="{CF6DA4BD-34B6-4DFD-8E22-BF4B30B9B3F9}">
      <dgm:prSet phldrT="[Текст]"/>
      <dgm:spPr/>
      <dgm:t>
        <a:bodyPr/>
        <a:lstStyle/>
        <a:p>
          <a:r>
            <a:rPr lang="ru-RU" b="1" dirty="0"/>
            <a:t>Логистика</a:t>
          </a:r>
        </a:p>
      </dgm:t>
    </dgm:pt>
    <dgm:pt modelId="{096BB4D0-7762-46C5-BC91-54A71E46902B}" type="parTrans" cxnId="{B131AD26-02D3-4046-B285-2EA4B57E9C86}">
      <dgm:prSet/>
      <dgm:spPr/>
      <dgm:t>
        <a:bodyPr/>
        <a:lstStyle/>
        <a:p>
          <a:endParaRPr lang="ru-RU"/>
        </a:p>
      </dgm:t>
    </dgm:pt>
    <dgm:pt modelId="{A0B180B0-6468-49AA-A651-9BCD36085065}" type="sibTrans" cxnId="{B131AD26-02D3-4046-B285-2EA4B57E9C86}">
      <dgm:prSet/>
      <dgm:spPr/>
      <dgm:t>
        <a:bodyPr/>
        <a:lstStyle/>
        <a:p>
          <a:endParaRPr lang="ru-RU"/>
        </a:p>
      </dgm:t>
    </dgm:pt>
    <dgm:pt modelId="{8E64F120-29E6-4866-BEC6-16AD27553BE5}">
      <dgm:prSet phldrT="[Текст]"/>
      <dgm:spPr/>
      <dgm:t>
        <a:bodyPr/>
        <a:lstStyle/>
        <a:p>
          <a:r>
            <a:rPr lang="ru-RU" dirty="0"/>
            <a:t>Планирование перевозок</a:t>
          </a:r>
        </a:p>
      </dgm:t>
    </dgm:pt>
    <dgm:pt modelId="{2FF80E84-1706-48DF-B190-63072DE8B6AD}" type="parTrans" cxnId="{182615B6-6520-47E8-9F52-C02D5DB691B4}">
      <dgm:prSet/>
      <dgm:spPr/>
      <dgm:t>
        <a:bodyPr/>
        <a:lstStyle/>
        <a:p>
          <a:endParaRPr lang="ru-RU"/>
        </a:p>
      </dgm:t>
    </dgm:pt>
    <dgm:pt modelId="{6C5602DC-CA5D-44E4-AC16-0CB3C2981FF1}" type="sibTrans" cxnId="{182615B6-6520-47E8-9F52-C02D5DB691B4}">
      <dgm:prSet/>
      <dgm:spPr/>
      <dgm:t>
        <a:bodyPr/>
        <a:lstStyle/>
        <a:p>
          <a:endParaRPr lang="ru-RU"/>
        </a:p>
      </dgm:t>
    </dgm:pt>
    <dgm:pt modelId="{F18465E1-F4D4-4B6F-B2D7-184652D45171}">
      <dgm:prSet phldrT="[Текст]"/>
      <dgm:spPr/>
      <dgm:t>
        <a:bodyPr/>
        <a:lstStyle/>
        <a:p>
          <a:r>
            <a:rPr lang="ru-RU" dirty="0"/>
            <a:t>Оптимизация маршрутов</a:t>
          </a:r>
        </a:p>
      </dgm:t>
    </dgm:pt>
    <dgm:pt modelId="{053340A9-47C8-47DA-B1EC-4A5FA8EC15EB}" type="parTrans" cxnId="{DD250CD5-AC07-4329-B167-9CD861FF9DA6}">
      <dgm:prSet/>
      <dgm:spPr/>
      <dgm:t>
        <a:bodyPr/>
        <a:lstStyle/>
        <a:p>
          <a:endParaRPr lang="ru-RU"/>
        </a:p>
      </dgm:t>
    </dgm:pt>
    <dgm:pt modelId="{84070795-A034-4997-B7FD-2C85E10634FA}" type="sibTrans" cxnId="{DD250CD5-AC07-4329-B167-9CD861FF9DA6}">
      <dgm:prSet/>
      <dgm:spPr/>
      <dgm:t>
        <a:bodyPr/>
        <a:lstStyle/>
        <a:p>
          <a:endParaRPr lang="ru-RU"/>
        </a:p>
      </dgm:t>
    </dgm:pt>
    <dgm:pt modelId="{0503D2D8-7485-4B59-B73C-AC502E51AA60}">
      <dgm:prSet phldrT="[Текст]"/>
      <dgm:spPr/>
      <dgm:t>
        <a:bodyPr/>
        <a:lstStyle/>
        <a:p>
          <a:r>
            <a:rPr lang="ru-RU" b="1" dirty="0"/>
            <a:t>Ритейл</a:t>
          </a:r>
        </a:p>
      </dgm:t>
    </dgm:pt>
    <dgm:pt modelId="{D8E24B4C-6FE2-4640-8EC2-D85DE52932E3}" type="parTrans" cxnId="{0EB7253B-0D8C-4DCC-A75E-EF6EAD91096D}">
      <dgm:prSet/>
      <dgm:spPr/>
      <dgm:t>
        <a:bodyPr/>
        <a:lstStyle/>
        <a:p>
          <a:endParaRPr lang="ru-RU"/>
        </a:p>
      </dgm:t>
    </dgm:pt>
    <dgm:pt modelId="{0B5E1817-17D3-472F-96D9-F2AC5C4C18EC}" type="sibTrans" cxnId="{0EB7253B-0D8C-4DCC-A75E-EF6EAD91096D}">
      <dgm:prSet/>
      <dgm:spPr/>
      <dgm:t>
        <a:bodyPr/>
        <a:lstStyle/>
        <a:p>
          <a:endParaRPr lang="ru-RU"/>
        </a:p>
      </dgm:t>
    </dgm:pt>
    <dgm:pt modelId="{6A711DB2-1096-4573-896B-BCC13DCC39CE}">
      <dgm:prSet phldrT="[Текст]"/>
      <dgm:spPr/>
      <dgm:t>
        <a:bodyPr/>
        <a:lstStyle/>
        <a:p>
          <a:r>
            <a:rPr lang="ru-RU" dirty="0"/>
            <a:t>Повышение продаж</a:t>
          </a:r>
        </a:p>
      </dgm:t>
    </dgm:pt>
    <dgm:pt modelId="{67491485-87A4-4C17-89B7-C09BE6256EDC}" type="parTrans" cxnId="{6C94E185-8CB1-492F-A06B-5312D1DAB356}">
      <dgm:prSet/>
      <dgm:spPr/>
      <dgm:t>
        <a:bodyPr/>
        <a:lstStyle/>
        <a:p>
          <a:endParaRPr lang="ru-RU"/>
        </a:p>
      </dgm:t>
    </dgm:pt>
    <dgm:pt modelId="{C3EFF6E8-A1D0-4036-B7B9-2D76A527282B}" type="sibTrans" cxnId="{6C94E185-8CB1-492F-A06B-5312D1DAB356}">
      <dgm:prSet/>
      <dgm:spPr/>
      <dgm:t>
        <a:bodyPr/>
        <a:lstStyle/>
        <a:p>
          <a:endParaRPr lang="ru-RU"/>
        </a:p>
      </dgm:t>
    </dgm:pt>
    <dgm:pt modelId="{BC4514B6-B293-452B-980B-94EB8AAD6B10}">
      <dgm:prSet phldrT="[Текст]"/>
      <dgm:spPr/>
      <dgm:t>
        <a:bodyPr/>
        <a:lstStyle/>
        <a:p>
          <a:r>
            <a:rPr lang="ru-RU" dirty="0"/>
            <a:t>Оптимизация выкладки товара</a:t>
          </a:r>
        </a:p>
      </dgm:t>
    </dgm:pt>
    <dgm:pt modelId="{505FEF05-67CB-40F0-839E-E05C540D8FD9}" type="parTrans" cxnId="{064CEE7D-745B-4966-AAB2-1C733F3A1D36}">
      <dgm:prSet/>
      <dgm:spPr/>
      <dgm:t>
        <a:bodyPr/>
        <a:lstStyle/>
        <a:p>
          <a:endParaRPr lang="ru-RU"/>
        </a:p>
      </dgm:t>
    </dgm:pt>
    <dgm:pt modelId="{D2EA67E2-0195-41EF-AB79-5B2FD30DA760}" type="sibTrans" cxnId="{064CEE7D-745B-4966-AAB2-1C733F3A1D36}">
      <dgm:prSet/>
      <dgm:spPr/>
      <dgm:t>
        <a:bodyPr/>
        <a:lstStyle/>
        <a:p>
          <a:endParaRPr lang="ru-RU"/>
        </a:p>
      </dgm:t>
    </dgm:pt>
    <dgm:pt modelId="{3E692FAF-32B8-4527-9148-F15E24110821}">
      <dgm:prSet phldrT="[Текст]"/>
      <dgm:spPr/>
      <dgm:t>
        <a:bodyPr/>
        <a:lstStyle/>
        <a:p>
          <a:r>
            <a:rPr lang="ru-RU" b="1" dirty="0"/>
            <a:t>Финансы</a:t>
          </a:r>
        </a:p>
      </dgm:t>
    </dgm:pt>
    <dgm:pt modelId="{BEC8C439-3FE0-40AB-AA3F-E1CA29D06185}" type="parTrans" cxnId="{8743496F-D3CB-486C-BAD7-B1204EB30FFB}">
      <dgm:prSet/>
      <dgm:spPr/>
      <dgm:t>
        <a:bodyPr/>
        <a:lstStyle/>
        <a:p>
          <a:endParaRPr lang="ru-RU"/>
        </a:p>
      </dgm:t>
    </dgm:pt>
    <dgm:pt modelId="{44DFF386-D999-4514-902C-77E94D40F1AF}" type="sibTrans" cxnId="{8743496F-D3CB-486C-BAD7-B1204EB30FFB}">
      <dgm:prSet/>
      <dgm:spPr/>
      <dgm:t>
        <a:bodyPr/>
        <a:lstStyle/>
        <a:p>
          <a:endParaRPr lang="ru-RU"/>
        </a:p>
      </dgm:t>
    </dgm:pt>
    <dgm:pt modelId="{F48F9BAA-07DC-4952-8019-454F39B26839}">
      <dgm:prSet phldrT="[Текст]"/>
      <dgm:spPr/>
      <dgm:t>
        <a:bodyPr/>
        <a:lstStyle/>
        <a:p>
          <a:r>
            <a:rPr lang="ru-RU" dirty="0"/>
            <a:t>Снижение себестоимости продукции</a:t>
          </a:r>
        </a:p>
      </dgm:t>
    </dgm:pt>
    <dgm:pt modelId="{DB6A442F-AFD3-4B6B-8A79-1BAD8D4F9C61}" type="parTrans" cxnId="{6BCF818F-D4DF-45BD-ADCD-779A3BCE3543}">
      <dgm:prSet/>
      <dgm:spPr/>
      <dgm:t>
        <a:bodyPr/>
        <a:lstStyle/>
        <a:p>
          <a:endParaRPr lang="ru-RU"/>
        </a:p>
      </dgm:t>
    </dgm:pt>
    <dgm:pt modelId="{DCD18C90-5683-4DC4-9228-4FE166672278}" type="sibTrans" cxnId="{6BCF818F-D4DF-45BD-ADCD-779A3BCE3543}">
      <dgm:prSet/>
      <dgm:spPr/>
      <dgm:t>
        <a:bodyPr/>
        <a:lstStyle/>
        <a:p>
          <a:endParaRPr lang="ru-RU"/>
        </a:p>
      </dgm:t>
    </dgm:pt>
    <dgm:pt modelId="{3F651FA4-7A26-4F10-8587-F1B446AB0B12}">
      <dgm:prSet phldrT="[Текст]"/>
      <dgm:spPr/>
      <dgm:t>
        <a:bodyPr/>
        <a:lstStyle/>
        <a:p>
          <a:r>
            <a:rPr lang="ru-RU" dirty="0"/>
            <a:t>Динамическое ценообразование</a:t>
          </a:r>
        </a:p>
      </dgm:t>
    </dgm:pt>
    <dgm:pt modelId="{C5066B0D-FC3D-4A83-946C-1BA7647E4B9D}" type="parTrans" cxnId="{71199E4B-C77E-47C2-9186-770A1FE4F64B}">
      <dgm:prSet/>
      <dgm:spPr/>
      <dgm:t>
        <a:bodyPr/>
        <a:lstStyle/>
        <a:p>
          <a:endParaRPr lang="ru-RU"/>
        </a:p>
      </dgm:t>
    </dgm:pt>
    <dgm:pt modelId="{56AC2381-206B-46D9-BFF8-12A0F359C34C}" type="sibTrans" cxnId="{71199E4B-C77E-47C2-9186-770A1FE4F64B}">
      <dgm:prSet/>
      <dgm:spPr/>
      <dgm:t>
        <a:bodyPr/>
        <a:lstStyle/>
        <a:p>
          <a:endParaRPr lang="ru-RU"/>
        </a:p>
      </dgm:t>
    </dgm:pt>
    <dgm:pt modelId="{D9ED2D63-2544-46FE-82BD-130C8DE176BE}">
      <dgm:prSet phldrT="[Текст]"/>
      <dgm:spPr/>
      <dgm:t>
        <a:bodyPr/>
        <a:lstStyle/>
        <a:p>
          <a:r>
            <a:rPr lang="ru-RU" dirty="0"/>
            <a:t>Автоматизация закупок</a:t>
          </a:r>
        </a:p>
      </dgm:t>
    </dgm:pt>
    <dgm:pt modelId="{1F1220C0-65B8-4219-96E3-D00FF523D30D}" type="parTrans" cxnId="{30132729-173B-4750-B310-CE443AF4FB98}">
      <dgm:prSet/>
      <dgm:spPr/>
      <dgm:t>
        <a:bodyPr/>
        <a:lstStyle/>
        <a:p>
          <a:endParaRPr lang="ru-RU"/>
        </a:p>
      </dgm:t>
    </dgm:pt>
    <dgm:pt modelId="{015601F9-A075-4ACA-9EFB-AF4606A8BD3E}" type="sibTrans" cxnId="{30132729-173B-4750-B310-CE443AF4FB98}">
      <dgm:prSet/>
      <dgm:spPr/>
      <dgm:t>
        <a:bodyPr/>
        <a:lstStyle/>
        <a:p>
          <a:endParaRPr lang="ru-RU"/>
        </a:p>
      </dgm:t>
    </dgm:pt>
    <dgm:pt modelId="{C6F3CBDC-0431-471D-92DA-E9E1FDA9932D}">
      <dgm:prSet phldrT="[Текст]"/>
      <dgm:spPr/>
      <dgm:t>
        <a:bodyPr/>
        <a:lstStyle/>
        <a:p>
          <a:r>
            <a:rPr lang="ru-RU" dirty="0"/>
            <a:t>Оценка платежеспособности клиента</a:t>
          </a:r>
        </a:p>
      </dgm:t>
    </dgm:pt>
    <dgm:pt modelId="{10D4E463-BBF9-41DD-A506-050B129F95E9}" type="parTrans" cxnId="{B8B8EA1B-94C7-4F52-B186-61790489D0F9}">
      <dgm:prSet/>
      <dgm:spPr/>
      <dgm:t>
        <a:bodyPr/>
        <a:lstStyle/>
        <a:p>
          <a:endParaRPr lang="ru-RU"/>
        </a:p>
      </dgm:t>
    </dgm:pt>
    <dgm:pt modelId="{C6D83F35-6DA1-4645-BCD0-C5D0F0ADFB9A}" type="sibTrans" cxnId="{B8B8EA1B-94C7-4F52-B186-61790489D0F9}">
      <dgm:prSet/>
      <dgm:spPr/>
      <dgm:t>
        <a:bodyPr/>
        <a:lstStyle/>
        <a:p>
          <a:endParaRPr lang="ru-RU"/>
        </a:p>
      </dgm:t>
    </dgm:pt>
    <dgm:pt modelId="{F2EC6E78-CFB1-4F6A-B43B-497328745DB8}">
      <dgm:prSet phldrT="[Текст]"/>
      <dgm:spPr/>
      <dgm:t>
        <a:bodyPr/>
        <a:lstStyle/>
        <a:p>
          <a:r>
            <a:rPr lang="ru-RU" dirty="0"/>
            <a:t>Улучшение клиентского сервиса</a:t>
          </a:r>
        </a:p>
      </dgm:t>
    </dgm:pt>
    <dgm:pt modelId="{072CDEEE-247E-437E-8AC3-65F6052ED394}" type="parTrans" cxnId="{C89465CA-6A44-4C72-91DC-89A71040507D}">
      <dgm:prSet/>
      <dgm:spPr/>
      <dgm:t>
        <a:bodyPr/>
        <a:lstStyle/>
        <a:p>
          <a:endParaRPr lang="ru-RU"/>
        </a:p>
      </dgm:t>
    </dgm:pt>
    <dgm:pt modelId="{AC9429EE-4B23-4F77-AD1F-571A5F96FBB9}" type="sibTrans" cxnId="{C89465CA-6A44-4C72-91DC-89A71040507D}">
      <dgm:prSet/>
      <dgm:spPr/>
      <dgm:t>
        <a:bodyPr/>
        <a:lstStyle/>
        <a:p>
          <a:endParaRPr lang="ru-RU"/>
        </a:p>
      </dgm:t>
    </dgm:pt>
    <dgm:pt modelId="{0D8575D1-2253-4F54-8675-3F6DCDB153AD}" type="pres">
      <dgm:prSet presAssocID="{42C93B40-2F04-4B76-91A8-1F5C5F684006}" presName="Name0" presStyleCnt="0">
        <dgm:presLayoutVars>
          <dgm:dir/>
          <dgm:animLvl val="lvl"/>
          <dgm:resizeHandles val="exact"/>
        </dgm:presLayoutVars>
      </dgm:prSet>
      <dgm:spPr/>
    </dgm:pt>
    <dgm:pt modelId="{72CAE7A2-A8DB-40A5-B96E-97F509099D7B}" type="pres">
      <dgm:prSet presAssocID="{562F2C98-862E-4EC6-90A2-00FB0945DC92}" presName="composite" presStyleCnt="0"/>
      <dgm:spPr/>
    </dgm:pt>
    <dgm:pt modelId="{903C9367-D339-466B-A63B-2F521C052F0F}" type="pres">
      <dgm:prSet presAssocID="{562F2C98-862E-4EC6-90A2-00FB0945DC92}" presName="parTx" presStyleLbl="alignNode1" presStyleIdx="0" presStyleCnt="4">
        <dgm:presLayoutVars>
          <dgm:chMax val="0"/>
          <dgm:chPref val="0"/>
          <dgm:bulletEnabled val="1"/>
        </dgm:presLayoutVars>
      </dgm:prSet>
      <dgm:spPr/>
    </dgm:pt>
    <dgm:pt modelId="{7D748BC2-B4E3-4599-864C-68D3A24B7E89}" type="pres">
      <dgm:prSet presAssocID="{562F2C98-862E-4EC6-90A2-00FB0945DC92}" presName="desTx" presStyleLbl="alignAccFollowNode1" presStyleIdx="0" presStyleCnt="4">
        <dgm:presLayoutVars>
          <dgm:bulletEnabled val="1"/>
        </dgm:presLayoutVars>
      </dgm:prSet>
      <dgm:spPr/>
    </dgm:pt>
    <dgm:pt modelId="{915207AC-7E65-419A-BC9F-D34A9508E71C}" type="pres">
      <dgm:prSet presAssocID="{B1DD0B35-D88C-46DC-8694-0F5F56E7A424}" presName="space" presStyleCnt="0"/>
      <dgm:spPr/>
    </dgm:pt>
    <dgm:pt modelId="{6AA0B25C-C0AF-47C9-8C1B-32AAF0EF5E8F}" type="pres">
      <dgm:prSet presAssocID="{CF6DA4BD-34B6-4DFD-8E22-BF4B30B9B3F9}" presName="composite" presStyleCnt="0"/>
      <dgm:spPr/>
    </dgm:pt>
    <dgm:pt modelId="{C10E137F-FBBC-4E28-9848-9482C03E6174}" type="pres">
      <dgm:prSet presAssocID="{CF6DA4BD-34B6-4DFD-8E22-BF4B30B9B3F9}" presName="parTx" presStyleLbl="alignNode1" presStyleIdx="1" presStyleCnt="4">
        <dgm:presLayoutVars>
          <dgm:chMax val="0"/>
          <dgm:chPref val="0"/>
          <dgm:bulletEnabled val="1"/>
        </dgm:presLayoutVars>
      </dgm:prSet>
      <dgm:spPr/>
    </dgm:pt>
    <dgm:pt modelId="{070CC3A7-EE92-4BF4-BC0B-D001633C5024}" type="pres">
      <dgm:prSet presAssocID="{CF6DA4BD-34B6-4DFD-8E22-BF4B30B9B3F9}" presName="desTx" presStyleLbl="alignAccFollowNode1" presStyleIdx="1" presStyleCnt="4">
        <dgm:presLayoutVars>
          <dgm:bulletEnabled val="1"/>
        </dgm:presLayoutVars>
      </dgm:prSet>
      <dgm:spPr/>
    </dgm:pt>
    <dgm:pt modelId="{9E7C6348-DCC0-436B-8E33-8DCF94B95F31}" type="pres">
      <dgm:prSet presAssocID="{A0B180B0-6468-49AA-A651-9BCD36085065}" presName="space" presStyleCnt="0"/>
      <dgm:spPr/>
    </dgm:pt>
    <dgm:pt modelId="{923B8DE2-DE72-494C-9E76-FB520A64582C}" type="pres">
      <dgm:prSet presAssocID="{0503D2D8-7485-4B59-B73C-AC502E51AA60}" presName="composite" presStyleCnt="0"/>
      <dgm:spPr/>
    </dgm:pt>
    <dgm:pt modelId="{221897BB-B48B-4948-8444-DAF7308E4914}" type="pres">
      <dgm:prSet presAssocID="{0503D2D8-7485-4B59-B73C-AC502E51AA60}" presName="parTx" presStyleLbl="alignNode1" presStyleIdx="2" presStyleCnt="4">
        <dgm:presLayoutVars>
          <dgm:chMax val="0"/>
          <dgm:chPref val="0"/>
          <dgm:bulletEnabled val="1"/>
        </dgm:presLayoutVars>
      </dgm:prSet>
      <dgm:spPr/>
    </dgm:pt>
    <dgm:pt modelId="{E8B3DA53-6DB5-4A35-9E50-225C44FB3AC1}" type="pres">
      <dgm:prSet presAssocID="{0503D2D8-7485-4B59-B73C-AC502E51AA60}" presName="desTx" presStyleLbl="alignAccFollowNode1" presStyleIdx="2" presStyleCnt="4">
        <dgm:presLayoutVars>
          <dgm:bulletEnabled val="1"/>
        </dgm:presLayoutVars>
      </dgm:prSet>
      <dgm:spPr/>
    </dgm:pt>
    <dgm:pt modelId="{42B8F5AB-3D9E-4029-9588-22B6DD96CAD4}" type="pres">
      <dgm:prSet presAssocID="{0B5E1817-17D3-472F-96D9-F2AC5C4C18EC}" presName="space" presStyleCnt="0"/>
      <dgm:spPr/>
    </dgm:pt>
    <dgm:pt modelId="{1C7CB049-3AD1-4848-B610-5FE401008B3E}" type="pres">
      <dgm:prSet presAssocID="{3E692FAF-32B8-4527-9148-F15E24110821}" presName="composite" presStyleCnt="0"/>
      <dgm:spPr/>
    </dgm:pt>
    <dgm:pt modelId="{3E260503-6A99-4BE3-BECE-1C7C976A2C49}" type="pres">
      <dgm:prSet presAssocID="{3E692FAF-32B8-4527-9148-F15E24110821}" presName="parTx" presStyleLbl="alignNode1" presStyleIdx="3" presStyleCnt="4">
        <dgm:presLayoutVars>
          <dgm:chMax val="0"/>
          <dgm:chPref val="0"/>
          <dgm:bulletEnabled val="1"/>
        </dgm:presLayoutVars>
      </dgm:prSet>
      <dgm:spPr/>
    </dgm:pt>
    <dgm:pt modelId="{0DC3BAF2-9E57-4AAA-95F3-4F958866978A}" type="pres">
      <dgm:prSet presAssocID="{3E692FAF-32B8-4527-9148-F15E24110821}" presName="desTx" presStyleLbl="alignAccFollowNode1" presStyleIdx="3" presStyleCnt="4">
        <dgm:presLayoutVars>
          <dgm:bulletEnabled val="1"/>
        </dgm:presLayoutVars>
      </dgm:prSet>
      <dgm:spPr/>
    </dgm:pt>
  </dgm:ptLst>
  <dgm:cxnLst>
    <dgm:cxn modelId="{B8B8EA1B-94C7-4F52-B186-61790489D0F9}" srcId="{3E692FAF-32B8-4527-9148-F15E24110821}" destId="{C6F3CBDC-0431-471D-92DA-E9E1FDA9932D}" srcOrd="0" destOrd="0" parTransId="{10D4E463-BBF9-41DD-A506-050B129F95E9}" sibTransId="{C6D83F35-6DA1-4645-BCD0-C5D0F0ADFB9A}"/>
    <dgm:cxn modelId="{B131AD26-02D3-4046-B285-2EA4B57E9C86}" srcId="{42C93B40-2F04-4B76-91A8-1F5C5F684006}" destId="{CF6DA4BD-34B6-4DFD-8E22-BF4B30B9B3F9}" srcOrd="1" destOrd="0" parTransId="{096BB4D0-7762-46C5-BC91-54A71E46902B}" sibTransId="{A0B180B0-6468-49AA-A651-9BCD36085065}"/>
    <dgm:cxn modelId="{30132729-173B-4750-B310-CE443AF4FB98}" srcId="{0503D2D8-7485-4B59-B73C-AC502E51AA60}" destId="{D9ED2D63-2544-46FE-82BD-130C8DE176BE}" srcOrd="2" destOrd="0" parTransId="{1F1220C0-65B8-4219-96E3-D00FF523D30D}" sibTransId="{015601F9-A075-4ACA-9EFB-AF4606A8BD3E}"/>
    <dgm:cxn modelId="{0EB7253B-0D8C-4DCC-A75E-EF6EAD91096D}" srcId="{42C93B40-2F04-4B76-91A8-1F5C5F684006}" destId="{0503D2D8-7485-4B59-B73C-AC502E51AA60}" srcOrd="2" destOrd="0" parTransId="{D8E24B4C-6FE2-4640-8EC2-D85DE52932E3}" sibTransId="{0B5E1817-17D3-472F-96D9-F2AC5C4C18EC}"/>
    <dgm:cxn modelId="{E440193E-F495-4F1B-BC22-FE5C9734534D}" type="presOf" srcId="{6A711DB2-1096-4573-896B-BCC13DCC39CE}" destId="{E8B3DA53-6DB5-4A35-9E50-225C44FB3AC1}" srcOrd="0" destOrd="0" presId="urn:microsoft.com/office/officeart/2005/8/layout/hList1"/>
    <dgm:cxn modelId="{6363C35B-899A-483B-84E9-BB5DDD1AC854}" type="presOf" srcId="{9E063026-E878-4C90-B718-36C8A7F6E0F7}" destId="{7D748BC2-B4E3-4599-864C-68D3A24B7E89}" srcOrd="0" destOrd="1" presId="urn:microsoft.com/office/officeart/2005/8/layout/hList1"/>
    <dgm:cxn modelId="{71199E4B-C77E-47C2-9186-770A1FE4F64B}" srcId="{0503D2D8-7485-4B59-B73C-AC502E51AA60}" destId="{3F651FA4-7A26-4F10-8587-F1B446AB0B12}" srcOrd="3" destOrd="0" parTransId="{C5066B0D-FC3D-4A83-946C-1BA7647E4B9D}" sibTransId="{56AC2381-206B-46D9-BFF8-12A0F359C34C}"/>
    <dgm:cxn modelId="{8743496F-D3CB-486C-BAD7-B1204EB30FFB}" srcId="{42C93B40-2F04-4B76-91A8-1F5C5F684006}" destId="{3E692FAF-32B8-4527-9148-F15E24110821}" srcOrd="3" destOrd="0" parTransId="{BEC8C439-3FE0-40AB-AA3F-E1CA29D06185}" sibTransId="{44DFF386-D999-4514-902C-77E94D40F1AF}"/>
    <dgm:cxn modelId="{26BCA551-56C2-41F2-B7CE-F4E316467AB5}" type="presOf" srcId="{BC4514B6-B293-452B-980B-94EB8AAD6B10}" destId="{E8B3DA53-6DB5-4A35-9E50-225C44FB3AC1}" srcOrd="0" destOrd="1" presId="urn:microsoft.com/office/officeart/2005/8/layout/hList1"/>
    <dgm:cxn modelId="{F8E84372-5A98-4B1C-A81E-A1DE26BFB265}" type="presOf" srcId="{409E743C-C7CC-4BE8-B655-DD74FE9B8426}" destId="{7D748BC2-B4E3-4599-864C-68D3A24B7E89}" srcOrd="0" destOrd="0" presId="urn:microsoft.com/office/officeart/2005/8/layout/hList1"/>
    <dgm:cxn modelId="{A95BD253-3C7E-4B08-A0D3-FA4BF817D434}" type="presOf" srcId="{562F2C98-862E-4EC6-90A2-00FB0945DC92}" destId="{903C9367-D339-466B-A63B-2F521C052F0F}" srcOrd="0" destOrd="0" presId="urn:microsoft.com/office/officeart/2005/8/layout/hList1"/>
    <dgm:cxn modelId="{98BF1B7B-A65C-478D-977C-AD3C5370C3BB}" type="presOf" srcId="{8E64F120-29E6-4866-BEC6-16AD27553BE5}" destId="{070CC3A7-EE92-4BF4-BC0B-D001633C5024}" srcOrd="0" destOrd="0" presId="urn:microsoft.com/office/officeart/2005/8/layout/hList1"/>
    <dgm:cxn modelId="{064CEE7D-745B-4966-AAB2-1C733F3A1D36}" srcId="{0503D2D8-7485-4B59-B73C-AC502E51AA60}" destId="{BC4514B6-B293-452B-980B-94EB8AAD6B10}" srcOrd="1" destOrd="0" parTransId="{505FEF05-67CB-40F0-839E-E05C540D8FD9}" sibTransId="{D2EA67E2-0195-41EF-AB79-5B2FD30DA760}"/>
    <dgm:cxn modelId="{62F07D81-C4E1-4A55-A866-E6579194A8A4}" type="presOf" srcId="{F18465E1-F4D4-4B6F-B2D7-184652D45171}" destId="{070CC3A7-EE92-4BF4-BC0B-D001633C5024}" srcOrd="0" destOrd="1" presId="urn:microsoft.com/office/officeart/2005/8/layout/hList1"/>
    <dgm:cxn modelId="{6C94E185-8CB1-492F-A06B-5312D1DAB356}" srcId="{0503D2D8-7485-4B59-B73C-AC502E51AA60}" destId="{6A711DB2-1096-4573-896B-BCC13DCC39CE}" srcOrd="0" destOrd="0" parTransId="{67491485-87A4-4C17-89B7-C09BE6256EDC}" sibTransId="{C3EFF6E8-A1D0-4036-B7B9-2D76A527282B}"/>
    <dgm:cxn modelId="{6BCF818F-D4DF-45BD-ADCD-779A3BCE3543}" srcId="{562F2C98-862E-4EC6-90A2-00FB0945DC92}" destId="{F48F9BAA-07DC-4952-8019-454F39B26839}" srcOrd="2" destOrd="0" parTransId="{DB6A442F-AFD3-4B6B-8A79-1BAD8D4F9C61}" sibTransId="{DCD18C90-5683-4DC4-9228-4FE166672278}"/>
    <dgm:cxn modelId="{8377ED8F-9AAB-4468-A245-1E5240A78C78}" type="presOf" srcId="{F48F9BAA-07DC-4952-8019-454F39B26839}" destId="{7D748BC2-B4E3-4599-864C-68D3A24B7E89}" srcOrd="0" destOrd="2" presId="urn:microsoft.com/office/officeart/2005/8/layout/hList1"/>
    <dgm:cxn modelId="{791D6191-ECB2-4B41-9528-372ED7A1A700}" srcId="{42C93B40-2F04-4B76-91A8-1F5C5F684006}" destId="{562F2C98-862E-4EC6-90A2-00FB0945DC92}" srcOrd="0" destOrd="0" parTransId="{4769E844-AEF1-48B6-B7FC-988F0398D88C}" sibTransId="{B1DD0B35-D88C-46DC-8694-0F5F56E7A424}"/>
    <dgm:cxn modelId="{03D20494-DBAB-4E70-9090-CF0FC95B24E5}" type="presOf" srcId="{D9ED2D63-2544-46FE-82BD-130C8DE176BE}" destId="{E8B3DA53-6DB5-4A35-9E50-225C44FB3AC1}" srcOrd="0" destOrd="2" presId="urn:microsoft.com/office/officeart/2005/8/layout/hList1"/>
    <dgm:cxn modelId="{4EB4BC95-E5D0-4FD3-9C47-351E626952DB}" type="presOf" srcId="{42C93B40-2F04-4B76-91A8-1F5C5F684006}" destId="{0D8575D1-2253-4F54-8675-3F6DCDB153AD}" srcOrd="0" destOrd="0" presId="urn:microsoft.com/office/officeart/2005/8/layout/hList1"/>
    <dgm:cxn modelId="{182615B6-6520-47E8-9F52-C02D5DB691B4}" srcId="{CF6DA4BD-34B6-4DFD-8E22-BF4B30B9B3F9}" destId="{8E64F120-29E6-4866-BEC6-16AD27553BE5}" srcOrd="0" destOrd="0" parTransId="{2FF80E84-1706-48DF-B190-63072DE8B6AD}" sibTransId="{6C5602DC-CA5D-44E4-AC16-0CB3C2981FF1}"/>
    <dgm:cxn modelId="{10713CB9-8C5E-4B8A-9B68-1DCEB2ACB2E4}" type="presOf" srcId="{0503D2D8-7485-4B59-B73C-AC502E51AA60}" destId="{221897BB-B48B-4948-8444-DAF7308E4914}" srcOrd="0" destOrd="0" presId="urn:microsoft.com/office/officeart/2005/8/layout/hList1"/>
    <dgm:cxn modelId="{21C53DBB-D795-402F-915F-A39D1DAF2D16}" type="presOf" srcId="{F2EC6E78-CFB1-4F6A-B43B-497328745DB8}" destId="{0DC3BAF2-9E57-4AAA-95F3-4F958866978A}" srcOrd="0" destOrd="1" presId="urn:microsoft.com/office/officeart/2005/8/layout/hList1"/>
    <dgm:cxn modelId="{50D64FC4-6FCA-4975-915E-6BFE511306E5}" srcId="{562F2C98-862E-4EC6-90A2-00FB0945DC92}" destId="{409E743C-C7CC-4BE8-B655-DD74FE9B8426}" srcOrd="0" destOrd="0" parTransId="{FCEE890F-708B-46A7-AC6B-FD25059C67DE}" sibTransId="{56F8B104-0BB2-4FF7-B605-94CE2DA4FE31}"/>
    <dgm:cxn modelId="{5167F4C6-AA46-4C01-84C9-DAAF0C55DD19}" type="presOf" srcId="{C6F3CBDC-0431-471D-92DA-E9E1FDA9932D}" destId="{0DC3BAF2-9E57-4AAA-95F3-4F958866978A}" srcOrd="0" destOrd="0" presId="urn:microsoft.com/office/officeart/2005/8/layout/hList1"/>
    <dgm:cxn modelId="{C89465CA-6A44-4C72-91DC-89A71040507D}" srcId="{3E692FAF-32B8-4527-9148-F15E24110821}" destId="{F2EC6E78-CFB1-4F6A-B43B-497328745DB8}" srcOrd="1" destOrd="0" parTransId="{072CDEEE-247E-437E-8AC3-65F6052ED394}" sibTransId="{AC9429EE-4B23-4F77-AD1F-571A5F96FBB9}"/>
    <dgm:cxn modelId="{DD250CD5-AC07-4329-B167-9CD861FF9DA6}" srcId="{CF6DA4BD-34B6-4DFD-8E22-BF4B30B9B3F9}" destId="{F18465E1-F4D4-4B6F-B2D7-184652D45171}" srcOrd="1" destOrd="0" parTransId="{053340A9-47C8-47DA-B1EC-4A5FA8EC15EB}" sibTransId="{84070795-A034-4997-B7FD-2C85E10634FA}"/>
    <dgm:cxn modelId="{CA70C9DC-17F1-4E29-B0F5-84093D300800}" srcId="{562F2C98-862E-4EC6-90A2-00FB0945DC92}" destId="{9E063026-E878-4C90-B718-36C8A7F6E0F7}" srcOrd="1" destOrd="0" parTransId="{736C2CEB-1818-46C6-8ADA-DC9024D4E528}" sibTransId="{058B61CB-FEB2-418E-88BA-AD8E4EC2CE13}"/>
    <dgm:cxn modelId="{8A333FDF-D428-4C38-9648-C9BB1F7952A2}" type="presOf" srcId="{CF6DA4BD-34B6-4DFD-8E22-BF4B30B9B3F9}" destId="{C10E137F-FBBC-4E28-9848-9482C03E6174}" srcOrd="0" destOrd="0" presId="urn:microsoft.com/office/officeart/2005/8/layout/hList1"/>
    <dgm:cxn modelId="{6BBA63E5-C9E8-47C8-B38F-CBBACA81A014}" type="presOf" srcId="{3E692FAF-32B8-4527-9148-F15E24110821}" destId="{3E260503-6A99-4BE3-BECE-1C7C976A2C49}" srcOrd="0" destOrd="0" presId="urn:microsoft.com/office/officeart/2005/8/layout/hList1"/>
    <dgm:cxn modelId="{9469F6EB-5B13-44C1-BBA0-806D50686BD5}" type="presOf" srcId="{3F651FA4-7A26-4F10-8587-F1B446AB0B12}" destId="{E8B3DA53-6DB5-4A35-9E50-225C44FB3AC1}" srcOrd="0" destOrd="3" presId="urn:microsoft.com/office/officeart/2005/8/layout/hList1"/>
    <dgm:cxn modelId="{0FBA393E-9022-408C-855A-C50D73557416}" type="presParOf" srcId="{0D8575D1-2253-4F54-8675-3F6DCDB153AD}" destId="{72CAE7A2-A8DB-40A5-B96E-97F509099D7B}" srcOrd="0" destOrd="0" presId="urn:microsoft.com/office/officeart/2005/8/layout/hList1"/>
    <dgm:cxn modelId="{888708FA-17E6-4271-850E-6D64228545ED}" type="presParOf" srcId="{72CAE7A2-A8DB-40A5-B96E-97F509099D7B}" destId="{903C9367-D339-466B-A63B-2F521C052F0F}" srcOrd="0" destOrd="0" presId="urn:microsoft.com/office/officeart/2005/8/layout/hList1"/>
    <dgm:cxn modelId="{41B6453C-26D8-4BC2-B42F-36D0549B2BE9}" type="presParOf" srcId="{72CAE7A2-A8DB-40A5-B96E-97F509099D7B}" destId="{7D748BC2-B4E3-4599-864C-68D3A24B7E89}" srcOrd="1" destOrd="0" presId="urn:microsoft.com/office/officeart/2005/8/layout/hList1"/>
    <dgm:cxn modelId="{0DC0205A-7FBB-49BE-9EC6-0A6C8F126BDF}" type="presParOf" srcId="{0D8575D1-2253-4F54-8675-3F6DCDB153AD}" destId="{915207AC-7E65-419A-BC9F-D34A9508E71C}" srcOrd="1" destOrd="0" presId="urn:microsoft.com/office/officeart/2005/8/layout/hList1"/>
    <dgm:cxn modelId="{F65EFBF6-7BE7-4A20-807F-D27B474510B6}" type="presParOf" srcId="{0D8575D1-2253-4F54-8675-3F6DCDB153AD}" destId="{6AA0B25C-C0AF-47C9-8C1B-32AAF0EF5E8F}" srcOrd="2" destOrd="0" presId="urn:microsoft.com/office/officeart/2005/8/layout/hList1"/>
    <dgm:cxn modelId="{1C1D0F2B-B0BE-41CD-A813-6FE59BD200CC}" type="presParOf" srcId="{6AA0B25C-C0AF-47C9-8C1B-32AAF0EF5E8F}" destId="{C10E137F-FBBC-4E28-9848-9482C03E6174}" srcOrd="0" destOrd="0" presId="urn:microsoft.com/office/officeart/2005/8/layout/hList1"/>
    <dgm:cxn modelId="{A920A0AA-C550-46C9-9AE2-50147209D7C7}" type="presParOf" srcId="{6AA0B25C-C0AF-47C9-8C1B-32AAF0EF5E8F}" destId="{070CC3A7-EE92-4BF4-BC0B-D001633C5024}" srcOrd="1" destOrd="0" presId="urn:microsoft.com/office/officeart/2005/8/layout/hList1"/>
    <dgm:cxn modelId="{DD729F72-31CA-408E-AB8A-1BA4837BDC4D}" type="presParOf" srcId="{0D8575D1-2253-4F54-8675-3F6DCDB153AD}" destId="{9E7C6348-DCC0-436B-8E33-8DCF94B95F31}" srcOrd="3" destOrd="0" presId="urn:microsoft.com/office/officeart/2005/8/layout/hList1"/>
    <dgm:cxn modelId="{7FDCCABC-EC80-44BD-8E8D-427859BEB0FE}" type="presParOf" srcId="{0D8575D1-2253-4F54-8675-3F6DCDB153AD}" destId="{923B8DE2-DE72-494C-9E76-FB520A64582C}" srcOrd="4" destOrd="0" presId="urn:microsoft.com/office/officeart/2005/8/layout/hList1"/>
    <dgm:cxn modelId="{84EADE7B-B652-4F15-8D12-0989AB1477D4}" type="presParOf" srcId="{923B8DE2-DE72-494C-9E76-FB520A64582C}" destId="{221897BB-B48B-4948-8444-DAF7308E4914}" srcOrd="0" destOrd="0" presId="urn:microsoft.com/office/officeart/2005/8/layout/hList1"/>
    <dgm:cxn modelId="{AC4ECA96-4AD7-4C90-BC70-A36EFBCA4552}" type="presParOf" srcId="{923B8DE2-DE72-494C-9E76-FB520A64582C}" destId="{E8B3DA53-6DB5-4A35-9E50-225C44FB3AC1}" srcOrd="1" destOrd="0" presId="urn:microsoft.com/office/officeart/2005/8/layout/hList1"/>
    <dgm:cxn modelId="{410FEC42-BD0C-48E2-B13C-2734BE6152F5}" type="presParOf" srcId="{0D8575D1-2253-4F54-8675-3F6DCDB153AD}" destId="{42B8F5AB-3D9E-4029-9588-22B6DD96CAD4}" srcOrd="5" destOrd="0" presId="urn:microsoft.com/office/officeart/2005/8/layout/hList1"/>
    <dgm:cxn modelId="{B1012628-9838-48AC-9144-A98F1949E815}" type="presParOf" srcId="{0D8575D1-2253-4F54-8675-3F6DCDB153AD}" destId="{1C7CB049-3AD1-4848-B610-5FE401008B3E}" srcOrd="6" destOrd="0" presId="urn:microsoft.com/office/officeart/2005/8/layout/hList1"/>
    <dgm:cxn modelId="{0BE21C51-EC82-44A8-995A-73B24473BA94}" type="presParOf" srcId="{1C7CB049-3AD1-4848-B610-5FE401008B3E}" destId="{3E260503-6A99-4BE3-BECE-1C7C976A2C49}" srcOrd="0" destOrd="0" presId="urn:microsoft.com/office/officeart/2005/8/layout/hList1"/>
    <dgm:cxn modelId="{B26CD396-84AD-4325-B10B-C9C945116FE6}" type="presParOf" srcId="{1C7CB049-3AD1-4848-B610-5FE401008B3E}" destId="{0DC3BAF2-9E57-4AAA-95F3-4F958866978A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FAF44B5-B5D5-43C2-B86D-8CA151050E88}" type="doc">
      <dgm:prSet loTypeId="urn:microsoft.com/office/officeart/2005/8/layout/h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1740C552-F357-42B2-A85C-C93E84D5DE96}">
      <dgm:prSet phldrT="[Текст]"/>
      <dgm:spPr/>
      <dgm:t>
        <a:bodyPr/>
        <a:lstStyle/>
        <a:p>
          <a:r>
            <a:rPr lang="ru-RU" b="1" dirty="0"/>
            <a:t>Медицина</a:t>
          </a:r>
          <a:endParaRPr lang="ru-RU" dirty="0"/>
        </a:p>
      </dgm:t>
    </dgm:pt>
    <dgm:pt modelId="{C5BD2A6C-9FC5-45F7-92D6-76E9985CCD5E}" type="parTrans" cxnId="{50257936-9C89-40D3-A4F2-28ACA8AF02BF}">
      <dgm:prSet/>
      <dgm:spPr/>
      <dgm:t>
        <a:bodyPr/>
        <a:lstStyle/>
        <a:p>
          <a:endParaRPr lang="ru-RU"/>
        </a:p>
      </dgm:t>
    </dgm:pt>
    <dgm:pt modelId="{941A68B5-F0E3-419F-A39D-957513C27FFD}" type="sibTrans" cxnId="{50257936-9C89-40D3-A4F2-28ACA8AF02BF}">
      <dgm:prSet/>
      <dgm:spPr/>
      <dgm:t>
        <a:bodyPr/>
        <a:lstStyle/>
        <a:p>
          <a:endParaRPr lang="ru-RU"/>
        </a:p>
      </dgm:t>
    </dgm:pt>
    <dgm:pt modelId="{D92A51CA-96D3-4CF9-908A-B7A220425104}">
      <dgm:prSet phldrT="[Текст]"/>
      <dgm:spPr/>
      <dgm:t>
        <a:bodyPr/>
        <a:lstStyle/>
        <a:p>
          <a:r>
            <a:rPr lang="en-US" dirty="0"/>
            <a:t>HR</a:t>
          </a:r>
          <a:endParaRPr lang="ru-RU" dirty="0"/>
        </a:p>
      </dgm:t>
    </dgm:pt>
    <dgm:pt modelId="{867A7A1B-ABD1-4664-A0C1-0741B97A1F87}" type="parTrans" cxnId="{2BCA08A9-D951-4A64-9272-D9BFD6BFF3E7}">
      <dgm:prSet/>
      <dgm:spPr/>
      <dgm:t>
        <a:bodyPr/>
        <a:lstStyle/>
        <a:p>
          <a:endParaRPr lang="ru-RU"/>
        </a:p>
      </dgm:t>
    </dgm:pt>
    <dgm:pt modelId="{55F8DE03-FBA0-48D9-9477-73B39F9CF254}" type="sibTrans" cxnId="{2BCA08A9-D951-4A64-9272-D9BFD6BFF3E7}">
      <dgm:prSet/>
      <dgm:spPr/>
      <dgm:t>
        <a:bodyPr/>
        <a:lstStyle/>
        <a:p>
          <a:endParaRPr lang="ru-RU"/>
        </a:p>
      </dgm:t>
    </dgm:pt>
    <dgm:pt modelId="{D08EC63B-F5FD-4A77-8A15-D1A4AB635EEC}">
      <dgm:prSet phldrT="[Текст]"/>
      <dgm:spPr/>
      <dgm:t>
        <a:bodyPr/>
        <a:lstStyle/>
        <a:p>
          <a:r>
            <a:rPr lang="ru-RU" dirty="0"/>
            <a:t>Анализ базы сотрудников</a:t>
          </a:r>
        </a:p>
      </dgm:t>
    </dgm:pt>
    <dgm:pt modelId="{0D37E00D-21BD-4DE2-9096-170D1AF63B46}" type="parTrans" cxnId="{C6BAD255-B40E-48AF-9A5C-75232728F7E7}">
      <dgm:prSet/>
      <dgm:spPr/>
      <dgm:t>
        <a:bodyPr/>
        <a:lstStyle/>
        <a:p>
          <a:endParaRPr lang="ru-RU"/>
        </a:p>
      </dgm:t>
    </dgm:pt>
    <dgm:pt modelId="{E7A2DDA3-8D0F-469F-8B3A-6B85B90EB7D7}" type="sibTrans" cxnId="{C6BAD255-B40E-48AF-9A5C-75232728F7E7}">
      <dgm:prSet/>
      <dgm:spPr/>
      <dgm:t>
        <a:bodyPr/>
        <a:lstStyle/>
        <a:p>
          <a:endParaRPr lang="ru-RU"/>
        </a:p>
      </dgm:t>
    </dgm:pt>
    <dgm:pt modelId="{55AECDBB-1DF7-4A7F-B317-BA8A8306BE1A}">
      <dgm:prSet phldrT="[Текст]"/>
      <dgm:spPr/>
      <dgm:t>
        <a:bodyPr/>
        <a:lstStyle/>
        <a:p>
          <a:r>
            <a:rPr lang="ru-RU" dirty="0"/>
            <a:t>Оптимизация </a:t>
          </a:r>
          <a:r>
            <a:rPr lang="en-US" dirty="0"/>
            <a:t>HR </a:t>
          </a:r>
          <a:r>
            <a:rPr lang="ru-RU" dirty="0"/>
            <a:t>стратегии</a:t>
          </a:r>
        </a:p>
      </dgm:t>
    </dgm:pt>
    <dgm:pt modelId="{48F41D22-3D54-4826-A01D-4AF128B89E08}" type="parTrans" cxnId="{06B6858D-04BC-4192-A2E9-9684DAB985F6}">
      <dgm:prSet/>
      <dgm:spPr/>
      <dgm:t>
        <a:bodyPr/>
        <a:lstStyle/>
        <a:p>
          <a:endParaRPr lang="ru-RU"/>
        </a:p>
      </dgm:t>
    </dgm:pt>
    <dgm:pt modelId="{316FE7F9-3D79-4E73-88E4-B0533469FA73}" type="sibTrans" cxnId="{06B6858D-04BC-4192-A2E9-9684DAB985F6}">
      <dgm:prSet/>
      <dgm:spPr/>
      <dgm:t>
        <a:bodyPr/>
        <a:lstStyle/>
        <a:p>
          <a:endParaRPr lang="ru-RU"/>
        </a:p>
      </dgm:t>
    </dgm:pt>
    <dgm:pt modelId="{E6A6D93D-53B2-4923-95BB-FA5FADB7360D}">
      <dgm:prSet phldrT="[Текст]"/>
      <dgm:spPr/>
      <dgm:t>
        <a:bodyPr/>
        <a:lstStyle/>
        <a:p>
          <a:r>
            <a:rPr lang="ru-RU" dirty="0"/>
            <a:t>Маркетинг</a:t>
          </a:r>
        </a:p>
      </dgm:t>
    </dgm:pt>
    <dgm:pt modelId="{32C808CA-34D7-47DB-B9FB-5DCF5AC3ECA1}" type="parTrans" cxnId="{FB71C85B-F2CB-4F26-A53A-DE9FFEFAAA2D}">
      <dgm:prSet/>
      <dgm:spPr/>
      <dgm:t>
        <a:bodyPr/>
        <a:lstStyle/>
        <a:p>
          <a:endParaRPr lang="ru-RU"/>
        </a:p>
      </dgm:t>
    </dgm:pt>
    <dgm:pt modelId="{5DFCC9CA-EB52-4C3F-A003-4F8F3789A3F5}" type="sibTrans" cxnId="{FB71C85B-F2CB-4F26-A53A-DE9FFEFAAA2D}">
      <dgm:prSet/>
      <dgm:spPr/>
      <dgm:t>
        <a:bodyPr/>
        <a:lstStyle/>
        <a:p>
          <a:endParaRPr lang="ru-RU"/>
        </a:p>
      </dgm:t>
    </dgm:pt>
    <dgm:pt modelId="{64300D31-8BA5-4A12-ADE8-054F335D434B}">
      <dgm:prSet phldrT="[Текст]"/>
      <dgm:spPr/>
      <dgm:t>
        <a:bodyPr/>
        <a:lstStyle/>
        <a:p>
          <a:r>
            <a:rPr lang="ru-RU" dirty="0"/>
            <a:t>Создание коммерчески успешных продуктов</a:t>
          </a:r>
        </a:p>
      </dgm:t>
    </dgm:pt>
    <dgm:pt modelId="{FBEF7831-091C-490F-9AC0-C4272980A961}" type="parTrans" cxnId="{479DB71D-91DD-46A8-B154-EE5C868BCBD6}">
      <dgm:prSet/>
      <dgm:spPr/>
      <dgm:t>
        <a:bodyPr/>
        <a:lstStyle/>
        <a:p>
          <a:endParaRPr lang="ru-RU"/>
        </a:p>
      </dgm:t>
    </dgm:pt>
    <dgm:pt modelId="{8BC88B16-93DB-4D90-A7A3-A8C6B8F68A40}" type="sibTrans" cxnId="{479DB71D-91DD-46A8-B154-EE5C868BCBD6}">
      <dgm:prSet/>
      <dgm:spPr/>
      <dgm:t>
        <a:bodyPr/>
        <a:lstStyle/>
        <a:p>
          <a:endParaRPr lang="ru-RU"/>
        </a:p>
      </dgm:t>
    </dgm:pt>
    <dgm:pt modelId="{0D009431-A33E-4993-8ECE-6ABF31190A93}">
      <dgm:prSet phldrT="[Текст]"/>
      <dgm:spPr/>
      <dgm:t>
        <a:bodyPr/>
        <a:lstStyle/>
        <a:p>
          <a:r>
            <a:rPr lang="ru-RU" dirty="0"/>
            <a:t>Таргетированная реклама и снижение стоимости привлечения клиента</a:t>
          </a:r>
        </a:p>
      </dgm:t>
    </dgm:pt>
    <dgm:pt modelId="{B119D396-16F3-49DC-AE92-2DBC4D785E29}" type="parTrans" cxnId="{F5FB9E7B-7543-40B1-9C44-4361577DEF86}">
      <dgm:prSet/>
      <dgm:spPr/>
      <dgm:t>
        <a:bodyPr/>
        <a:lstStyle/>
        <a:p>
          <a:endParaRPr lang="ru-RU"/>
        </a:p>
      </dgm:t>
    </dgm:pt>
    <dgm:pt modelId="{F5D2A10D-B216-4637-9683-0BC6F475AA8E}" type="sibTrans" cxnId="{F5FB9E7B-7543-40B1-9C44-4361577DEF86}">
      <dgm:prSet/>
      <dgm:spPr/>
      <dgm:t>
        <a:bodyPr/>
        <a:lstStyle/>
        <a:p>
          <a:endParaRPr lang="ru-RU"/>
        </a:p>
      </dgm:t>
    </dgm:pt>
    <dgm:pt modelId="{49E07346-6BE4-4B7F-8C00-705BF39FF540}">
      <dgm:prSet phldrT="[Текст]"/>
      <dgm:spPr/>
      <dgm:t>
        <a:bodyPr/>
        <a:lstStyle/>
        <a:p>
          <a:r>
            <a:rPr lang="ru-RU" dirty="0"/>
            <a:t>Оценка вероятности заболевания</a:t>
          </a:r>
        </a:p>
      </dgm:t>
    </dgm:pt>
    <dgm:pt modelId="{CFF46ABF-C832-4F57-9EFF-F0B0E857086D}" type="parTrans" cxnId="{6D37DFF8-A3AF-4445-8396-2E05AFBAF096}">
      <dgm:prSet/>
      <dgm:spPr/>
      <dgm:t>
        <a:bodyPr/>
        <a:lstStyle/>
        <a:p>
          <a:endParaRPr lang="ru-RU"/>
        </a:p>
      </dgm:t>
    </dgm:pt>
    <dgm:pt modelId="{7EC54317-F206-432A-858D-721CBFBBC703}" type="sibTrans" cxnId="{6D37DFF8-A3AF-4445-8396-2E05AFBAF096}">
      <dgm:prSet/>
      <dgm:spPr/>
      <dgm:t>
        <a:bodyPr/>
        <a:lstStyle/>
        <a:p>
          <a:endParaRPr lang="ru-RU"/>
        </a:p>
      </dgm:t>
    </dgm:pt>
    <dgm:pt modelId="{2AE7FBC7-1FE1-4057-A78D-48BD636FA41E}">
      <dgm:prSet phldrT="[Текст]"/>
      <dgm:spPr/>
      <dgm:t>
        <a:bodyPr/>
        <a:lstStyle/>
        <a:p>
          <a:r>
            <a:rPr lang="ru-RU" dirty="0"/>
            <a:t>Ведение базы пациентов</a:t>
          </a:r>
        </a:p>
      </dgm:t>
    </dgm:pt>
    <dgm:pt modelId="{B924E5DC-9FA3-48CF-8900-807B55D33AD8}" type="parTrans" cxnId="{37DED413-27D4-4CC7-A245-C1E3AC6EFEBF}">
      <dgm:prSet/>
      <dgm:spPr/>
      <dgm:t>
        <a:bodyPr/>
        <a:lstStyle/>
        <a:p>
          <a:endParaRPr lang="ru-RU"/>
        </a:p>
      </dgm:t>
    </dgm:pt>
    <dgm:pt modelId="{C687468F-E8A5-4059-833E-2E2F43158B36}" type="sibTrans" cxnId="{37DED413-27D4-4CC7-A245-C1E3AC6EFEBF}">
      <dgm:prSet/>
      <dgm:spPr/>
      <dgm:t>
        <a:bodyPr/>
        <a:lstStyle/>
        <a:p>
          <a:endParaRPr lang="ru-RU"/>
        </a:p>
      </dgm:t>
    </dgm:pt>
    <dgm:pt modelId="{59ED2AF1-B9F6-483D-A12F-45B5EE95DBFE}">
      <dgm:prSet phldrT="[Текст]"/>
      <dgm:spPr/>
      <dgm:t>
        <a:bodyPr/>
        <a:lstStyle/>
        <a:p>
          <a:r>
            <a:rPr lang="ru-RU" dirty="0"/>
            <a:t>Образование</a:t>
          </a:r>
        </a:p>
      </dgm:t>
    </dgm:pt>
    <dgm:pt modelId="{6A494F98-B664-4983-B26A-9A88E7E28EC0}" type="parTrans" cxnId="{D91328C1-768F-40D7-8C77-7BBA60DAD4A9}">
      <dgm:prSet/>
      <dgm:spPr/>
      <dgm:t>
        <a:bodyPr/>
        <a:lstStyle/>
        <a:p>
          <a:endParaRPr lang="ru-RU"/>
        </a:p>
      </dgm:t>
    </dgm:pt>
    <dgm:pt modelId="{7283B0EF-D5CF-4C42-859E-E07F2615C1B6}" type="sibTrans" cxnId="{D91328C1-768F-40D7-8C77-7BBA60DAD4A9}">
      <dgm:prSet/>
      <dgm:spPr/>
      <dgm:t>
        <a:bodyPr/>
        <a:lstStyle/>
        <a:p>
          <a:endParaRPr lang="ru-RU"/>
        </a:p>
      </dgm:t>
    </dgm:pt>
    <dgm:pt modelId="{D67C37D5-AC89-4291-AE1A-109975F76E14}">
      <dgm:prSet phldrT="[Текст]"/>
      <dgm:spPr/>
      <dgm:t>
        <a:bodyPr/>
        <a:lstStyle/>
        <a:p>
          <a:r>
            <a:rPr lang="ru-RU" dirty="0"/>
            <a:t>Автоматизация расписаний</a:t>
          </a:r>
        </a:p>
      </dgm:t>
    </dgm:pt>
    <dgm:pt modelId="{BAA53200-006C-49A4-95BF-AF089AF20AAD}" type="parTrans" cxnId="{B1DF9680-2143-4A46-8D67-0D52CC282866}">
      <dgm:prSet/>
      <dgm:spPr/>
      <dgm:t>
        <a:bodyPr/>
        <a:lstStyle/>
        <a:p>
          <a:endParaRPr lang="ru-RU"/>
        </a:p>
      </dgm:t>
    </dgm:pt>
    <dgm:pt modelId="{1185380D-4738-43E5-A250-16DC92C441B6}" type="sibTrans" cxnId="{B1DF9680-2143-4A46-8D67-0D52CC282866}">
      <dgm:prSet/>
      <dgm:spPr/>
      <dgm:t>
        <a:bodyPr/>
        <a:lstStyle/>
        <a:p>
          <a:endParaRPr lang="ru-RU"/>
        </a:p>
      </dgm:t>
    </dgm:pt>
    <dgm:pt modelId="{1BA611B8-F1CF-47DC-B29E-8B7621478910}">
      <dgm:prSet phldrT="[Текст]"/>
      <dgm:spPr/>
      <dgm:t>
        <a:bodyPr/>
        <a:lstStyle/>
        <a:p>
          <a:r>
            <a:rPr lang="ru-RU" dirty="0"/>
            <a:t>Генерация контента</a:t>
          </a:r>
        </a:p>
      </dgm:t>
    </dgm:pt>
    <dgm:pt modelId="{720ACE0B-E32C-4A81-9624-2A0D7018E1AB}" type="parTrans" cxnId="{B2044CCF-294A-452E-BE37-F90D8B5D0537}">
      <dgm:prSet/>
      <dgm:spPr/>
      <dgm:t>
        <a:bodyPr/>
        <a:lstStyle/>
        <a:p>
          <a:endParaRPr lang="ru-RU"/>
        </a:p>
      </dgm:t>
    </dgm:pt>
    <dgm:pt modelId="{3724BB35-153C-4FC3-B645-7410B9E30317}" type="sibTrans" cxnId="{B2044CCF-294A-452E-BE37-F90D8B5D0537}">
      <dgm:prSet/>
      <dgm:spPr/>
      <dgm:t>
        <a:bodyPr/>
        <a:lstStyle/>
        <a:p>
          <a:endParaRPr lang="ru-RU"/>
        </a:p>
      </dgm:t>
    </dgm:pt>
    <dgm:pt modelId="{865229E2-2A3A-4AC3-B095-E36F5687FE49}">
      <dgm:prSet phldrT="[Текст]"/>
      <dgm:spPr/>
      <dgm:t>
        <a:bodyPr/>
        <a:lstStyle/>
        <a:p>
          <a:r>
            <a:rPr lang="ru-RU" dirty="0"/>
            <a:t>Прогнозирование успеваемости</a:t>
          </a:r>
        </a:p>
      </dgm:t>
    </dgm:pt>
    <dgm:pt modelId="{3A5B5113-6031-40D0-9570-0339E7C578A4}" type="parTrans" cxnId="{FA2093DB-B938-4C1F-8E00-4021B6D3CB28}">
      <dgm:prSet/>
      <dgm:spPr/>
      <dgm:t>
        <a:bodyPr/>
        <a:lstStyle/>
        <a:p>
          <a:endParaRPr lang="ru-RU"/>
        </a:p>
      </dgm:t>
    </dgm:pt>
    <dgm:pt modelId="{B3A24C2F-0B04-441F-A87B-1DF23FB50DCD}" type="sibTrans" cxnId="{FA2093DB-B938-4C1F-8E00-4021B6D3CB28}">
      <dgm:prSet/>
      <dgm:spPr/>
      <dgm:t>
        <a:bodyPr/>
        <a:lstStyle/>
        <a:p>
          <a:endParaRPr lang="ru-RU"/>
        </a:p>
      </dgm:t>
    </dgm:pt>
    <dgm:pt modelId="{BC5C7215-FA18-4014-A69C-E488C6F47643}" type="pres">
      <dgm:prSet presAssocID="{4FAF44B5-B5D5-43C2-B86D-8CA151050E88}" presName="Name0" presStyleCnt="0">
        <dgm:presLayoutVars>
          <dgm:dir/>
          <dgm:animLvl val="lvl"/>
          <dgm:resizeHandles val="exact"/>
        </dgm:presLayoutVars>
      </dgm:prSet>
      <dgm:spPr/>
    </dgm:pt>
    <dgm:pt modelId="{B412C7C7-9E53-4389-A4F4-7B804A6ABEB6}" type="pres">
      <dgm:prSet presAssocID="{1740C552-F357-42B2-A85C-C93E84D5DE96}" presName="composite" presStyleCnt="0"/>
      <dgm:spPr/>
    </dgm:pt>
    <dgm:pt modelId="{A7476113-2F8B-4F3A-8AC3-6BCA17473086}" type="pres">
      <dgm:prSet presAssocID="{1740C552-F357-42B2-A85C-C93E84D5DE96}" presName="parTx" presStyleLbl="alignNode1" presStyleIdx="0" presStyleCnt="4">
        <dgm:presLayoutVars>
          <dgm:chMax val="0"/>
          <dgm:chPref val="0"/>
          <dgm:bulletEnabled val="1"/>
        </dgm:presLayoutVars>
      </dgm:prSet>
      <dgm:spPr/>
    </dgm:pt>
    <dgm:pt modelId="{CCF57290-A14E-4A93-8959-3063BCCE9F8F}" type="pres">
      <dgm:prSet presAssocID="{1740C552-F357-42B2-A85C-C93E84D5DE96}" presName="desTx" presStyleLbl="alignAccFollowNode1" presStyleIdx="0" presStyleCnt="4">
        <dgm:presLayoutVars>
          <dgm:bulletEnabled val="1"/>
        </dgm:presLayoutVars>
      </dgm:prSet>
      <dgm:spPr/>
    </dgm:pt>
    <dgm:pt modelId="{ED30951F-25DB-4793-B0E5-3DA33979C4EE}" type="pres">
      <dgm:prSet presAssocID="{941A68B5-F0E3-419F-A39D-957513C27FFD}" presName="space" presStyleCnt="0"/>
      <dgm:spPr/>
    </dgm:pt>
    <dgm:pt modelId="{9F5FA3D5-0448-4AF5-9C29-1248E1325670}" type="pres">
      <dgm:prSet presAssocID="{D92A51CA-96D3-4CF9-908A-B7A220425104}" presName="composite" presStyleCnt="0"/>
      <dgm:spPr/>
    </dgm:pt>
    <dgm:pt modelId="{FA12E38B-ED90-4A95-ADC5-22515A6DC8B5}" type="pres">
      <dgm:prSet presAssocID="{D92A51CA-96D3-4CF9-908A-B7A220425104}" presName="parTx" presStyleLbl="alignNode1" presStyleIdx="1" presStyleCnt="4">
        <dgm:presLayoutVars>
          <dgm:chMax val="0"/>
          <dgm:chPref val="0"/>
          <dgm:bulletEnabled val="1"/>
        </dgm:presLayoutVars>
      </dgm:prSet>
      <dgm:spPr/>
    </dgm:pt>
    <dgm:pt modelId="{42307719-F214-4BA2-A07D-3883DFB4D894}" type="pres">
      <dgm:prSet presAssocID="{D92A51CA-96D3-4CF9-908A-B7A220425104}" presName="desTx" presStyleLbl="alignAccFollowNode1" presStyleIdx="1" presStyleCnt="4">
        <dgm:presLayoutVars>
          <dgm:bulletEnabled val="1"/>
        </dgm:presLayoutVars>
      </dgm:prSet>
      <dgm:spPr/>
    </dgm:pt>
    <dgm:pt modelId="{4DE62743-4503-45E3-A39C-08E72E666A26}" type="pres">
      <dgm:prSet presAssocID="{55F8DE03-FBA0-48D9-9477-73B39F9CF254}" presName="space" presStyleCnt="0"/>
      <dgm:spPr/>
    </dgm:pt>
    <dgm:pt modelId="{2106C18C-8D00-4C03-BE36-C70BB60772DC}" type="pres">
      <dgm:prSet presAssocID="{E6A6D93D-53B2-4923-95BB-FA5FADB7360D}" presName="composite" presStyleCnt="0"/>
      <dgm:spPr/>
    </dgm:pt>
    <dgm:pt modelId="{19E15F87-9691-4ABA-AD3C-56318852DA6C}" type="pres">
      <dgm:prSet presAssocID="{E6A6D93D-53B2-4923-95BB-FA5FADB7360D}" presName="parTx" presStyleLbl="alignNode1" presStyleIdx="2" presStyleCnt="4">
        <dgm:presLayoutVars>
          <dgm:chMax val="0"/>
          <dgm:chPref val="0"/>
          <dgm:bulletEnabled val="1"/>
        </dgm:presLayoutVars>
      </dgm:prSet>
      <dgm:spPr/>
    </dgm:pt>
    <dgm:pt modelId="{4CC4B419-6F44-4A39-A5DB-A35D4C109138}" type="pres">
      <dgm:prSet presAssocID="{E6A6D93D-53B2-4923-95BB-FA5FADB7360D}" presName="desTx" presStyleLbl="alignAccFollowNode1" presStyleIdx="2" presStyleCnt="4">
        <dgm:presLayoutVars>
          <dgm:bulletEnabled val="1"/>
        </dgm:presLayoutVars>
      </dgm:prSet>
      <dgm:spPr/>
    </dgm:pt>
    <dgm:pt modelId="{0C5C802E-D6ED-47D7-B8ED-436E0BCDDC08}" type="pres">
      <dgm:prSet presAssocID="{5DFCC9CA-EB52-4C3F-A003-4F8F3789A3F5}" presName="space" presStyleCnt="0"/>
      <dgm:spPr/>
    </dgm:pt>
    <dgm:pt modelId="{D5B46A46-D1F9-4AF3-8A5B-1FD760341635}" type="pres">
      <dgm:prSet presAssocID="{59ED2AF1-B9F6-483D-A12F-45B5EE95DBFE}" presName="composite" presStyleCnt="0"/>
      <dgm:spPr/>
    </dgm:pt>
    <dgm:pt modelId="{6EB70E6A-7071-498F-AC21-0511CD43079D}" type="pres">
      <dgm:prSet presAssocID="{59ED2AF1-B9F6-483D-A12F-45B5EE95DBFE}" presName="parTx" presStyleLbl="alignNode1" presStyleIdx="3" presStyleCnt="4">
        <dgm:presLayoutVars>
          <dgm:chMax val="0"/>
          <dgm:chPref val="0"/>
          <dgm:bulletEnabled val="1"/>
        </dgm:presLayoutVars>
      </dgm:prSet>
      <dgm:spPr/>
    </dgm:pt>
    <dgm:pt modelId="{D60DC2B4-D0A2-4105-A7C6-9E5CEBBB1EF5}" type="pres">
      <dgm:prSet presAssocID="{59ED2AF1-B9F6-483D-A12F-45B5EE95DBFE}" presName="desTx" presStyleLbl="alignAccFollowNode1" presStyleIdx="3" presStyleCnt="4">
        <dgm:presLayoutVars>
          <dgm:bulletEnabled val="1"/>
        </dgm:presLayoutVars>
      </dgm:prSet>
      <dgm:spPr/>
    </dgm:pt>
  </dgm:ptLst>
  <dgm:cxnLst>
    <dgm:cxn modelId="{E280F10A-39F2-483D-9B9E-FA8CED7B4644}" type="presOf" srcId="{D67C37D5-AC89-4291-AE1A-109975F76E14}" destId="{D60DC2B4-D0A2-4105-A7C6-9E5CEBBB1EF5}" srcOrd="0" destOrd="0" presId="urn:microsoft.com/office/officeart/2005/8/layout/hList1"/>
    <dgm:cxn modelId="{37DED413-27D4-4CC7-A245-C1E3AC6EFEBF}" srcId="{1740C552-F357-42B2-A85C-C93E84D5DE96}" destId="{2AE7FBC7-1FE1-4057-A78D-48BD636FA41E}" srcOrd="1" destOrd="0" parTransId="{B924E5DC-9FA3-48CF-8900-807B55D33AD8}" sibTransId="{C687468F-E8A5-4059-833E-2E2F43158B36}"/>
    <dgm:cxn modelId="{7638DF14-D16D-4568-86EE-909356882C00}" type="presOf" srcId="{D08EC63B-F5FD-4A77-8A15-D1A4AB635EEC}" destId="{42307719-F214-4BA2-A07D-3883DFB4D894}" srcOrd="0" destOrd="0" presId="urn:microsoft.com/office/officeart/2005/8/layout/hList1"/>
    <dgm:cxn modelId="{479DB71D-91DD-46A8-B154-EE5C868BCBD6}" srcId="{E6A6D93D-53B2-4923-95BB-FA5FADB7360D}" destId="{64300D31-8BA5-4A12-ADE8-054F335D434B}" srcOrd="0" destOrd="0" parTransId="{FBEF7831-091C-490F-9AC0-C4272980A961}" sibTransId="{8BC88B16-93DB-4D90-A7A3-A8C6B8F68A40}"/>
    <dgm:cxn modelId="{50257936-9C89-40D3-A4F2-28ACA8AF02BF}" srcId="{4FAF44B5-B5D5-43C2-B86D-8CA151050E88}" destId="{1740C552-F357-42B2-A85C-C93E84D5DE96}" srcOrd="0" destOrd="0" parTransId="{C5BD2A6C-9FC5-45F7-92D6-76E9985CCD5E}" sibTransId="{941A68B5-F0E3-419F-A39D-957513C27FFD}"/>
    <dgm:cxn modelId="{FB71C85B-F2CB-4F26-A53A-DE9FFEFAAA2D}" srcId="{4FAF44B5-B5D5-43C2-B86D-8CA151050E88}" destId="{E6A6D93D-53B2-4923-95BB-FA5FADB7360D}" srcOrd="2" destOrd="0" parTransId="{32C808CA-34D7-47DB-B9FB-5DCF5AC3ECA1}" sibTransId="{5DFCC9CA-EB52-4C3F-A003-4F8F3789A3F5}"/>
    <dgm:cxn modelId="{8AF32466-8954-4B2F-BC78-E91816F00305}" type="presOf" srcId="{59ED2AF1-B9F6-483D-A12F-45B5EE95DBFE}" destId="{6EB70E6A-7071-498F-AC21-0511CD43079D}" srcOrd="0" destOrd="0" presId="urn:microsoft.com/office/officeart/2005/8/layout/hList1"/>
    <dgm:cxn modelId="{B2BCE366-63FA-49D3-82CC-95DCE6CE216F}" type="presOf" srcId="{E6A6D93D-53B2-4923-95BB-FA5FADB7360D}" destId="{19E15F87-9691-4ABA-AD3C-56318852DA6C}" srcOrd="0" destOrd="0" presId="urn:microsoft.com/office/officeart/2005/8/layout/hList1"/>
    <dgm:cxn modelId="{1DA48047-9E63-4821-94FE-51A86CBD3AD7}" type="presOf" srcId="{49E07346-6BE4-4B7F-8C00-705BF39FF540}" destId="{CCF57290-A14E-4A93-8959-3063BCCE9F8F}" srcOrd="0" destOrd="0" presId="urn:microsoft.com/office/officeart/2005/8/layout/hList1"/>
    <dgm:cxn modelId="{3EEB246B-7369-423F-A4A2-C77410FC0721}" type="presOf" srcId="{2AE7FBC7-1FE1-4057-A78D-48BD636FA41E}" destId="{CCF57290-A14E-4A93-8959-3063BCCE9F8F}" srcOrd="0" destOrd="1" presId="urn:microsoft.com/office/officeart/2005/8/layout/hList1"/>
    <dgm:cxn modelId="{C6BAD255-B40E-48AF-9A5C-75232728F7E7}" srcId="{D92A51CA-96D3-4CF9-908A-B7A220425104}" destId="{D08EC63B-F5FD-4A77-8A15-D1A4AB635EEC}" srcOrd="0" destOrd="0" parTransId="{0D37E00D-21BD-4DE2-9096-170D1AF63B46}" sibTransId="{E7A2DDA3-8D0F-469F-8B3A-6B85B90EB7D7}"/>
    <dgm:cxn modelId="{8186DE55-D538-444A-AA37-034C940DB54F}" type="presOf" srcId="{55AECDBB-1DF7-4A7F-B317-BA8A8306BE1A}" destId="{42307719-F214-4BA2-A07D-3883DFB4D894}" srcOrd="0" destOrd="1" presId="urn:microsoft.com/office/officeart/2005/8/layout/hList1"/>
    <dgm:cxn modelId="{7047A85A-A798-4F9E-B9EF-50B50925EB83}" type="presOf" srcId="{0D009431-A33E-4993-8ECE-6ABF31190A93}" destId="{4CC4B419-6F44-4A39-A5DB-A35D4C109138}" srcOrd="0" destOrd="1" presId="urn:microsoft.com/office/officeart/2005/8/layout/hList1"/>
    <dgm:cxn modelId="{F5FB9E7B-7543-40B1-9C44-4361577DEF86}" srcId="{E6A6D93D-53B2-4923-95BB-FA5FADB7360D}" destId="{0D009431-A33E-4993-8ECE-6ABF31190A93}" srcOrd="1" destOrd="0" parTransId="{B119D396-16F3-49DC-AE92-2DBC4D785E29}" sibTransId="{F5D2A10D-B216-4637-9683-0BC6F475AA8E}"/>
    <dgm:cxn modelId="{B1DF9680-2143-4A46-8D67-0D52CC282866}" srcId="{59ED2AF1-B9F6-483D-A12F-45B5EE95DBFE}" destId="{D67C37D5-AC89-4291-AE1A-109975F76E14}" srcOrd="0" destOrd="0" parTransId="{BAA53200-006C-49A4-95BF-AF089AF20AAD}" sibTransId="{1185380D-4738-43E5-A250-16DC92C441B6}"/>
    <dgm:cxn modelId="{191AF383-EBB8-49D1-B1AB-096257D0C63B}" type="presOf" srcId="{1BA611B8-F1CF-47DC-B29E-8B7621478910}" destId="{D60DC2B4-D0A2-4105-A7C6-9E5CEBBB1EF5}" srcOrd="0" destOrd="1" presId="urn:microsoft.com/office/officeart/2005/8/layout/hList1"/>
    <dgm:cxn modelId="{BCE50489-E0B5-4FEA-9CB3-2B79E49E7B03}" type="presOf" srcId="{D92A51CA-96D3-4CF9-908A-B7A220425104}" destId="{FA12E38B-ED90-4A95-ADC5-22515A6DC8B5}" srcOrd="0" destOrd="0" presId="urn:microsoft.com/office/officeart/2005/8/layout/hList1"/>
    <dgm:cxn modelId="{06B6858D-04BC-4192-A2E9-9684DAB985F6}" srcId="{D92A51CA-96D3-4CF9-908A-B7A220425104}" destId="{55AECDBB-1DF7-4A7F-B317-BA8A8306BE1A}" srcOrd="1" destOrd="0" parTransId="{48F41D22-3D54-4826-A01D-4AF128B89E08}" sibTransId="{316FE7F9-3D79-4E73-88E4-B0533469FA73}"/>
    <dgm:cxn modelId="{357BCB9C-E815-42A4-A90C-BA9CD04A19F0}" type="presOf" srcId="{4FAF44B5-B5D5-43C2-B86D-8CA151050E88}" destId="{BC5C7215-FA18-4014-A69C-E488C6F47643}" srcOrd="0" destOrd="0" presId="urn:microsoft.com/office/officeart/2005/8/layout/hList1"/>
    <dgm:cxn modelId="{683C019F-A951-4A3D-AD4A-8CA08884CBC5}" type="presOf" srcId="{64300D31-8BA5-4A12-ADE8-054F335D434B}" destId="{4CC4B419-6F44-4A39-A5DB-A35D4C109138}" srcOrd="0" destOrd="0" presId="urn:microsoft.com/office/officeart/2005/8/layout/hList1"/>
    <dgm:cxn modelId="{2BCA08A9-D951-4A64-9272-D9BFD6BFF3E7}" srcId="{4FAF44B5-B5D5-43C2-B86D-8CA151050E88}" destId="{D92A51CA-96D3-4CF9-908A-B7A220425104}" srcOrd="1" destOrd="0" parTransId="{867A7A1B-ABD1-4664-A0C1-0741B97A1F87}" sibTransId="{55F8DE03-FBA0-48D9-9477-73B39F9CF254}"/>
    <dgm:cxn modelId="{D91328C1-768F-40D7-8C77-7BBA60DAD4A9}" srcId="{4FAF44B5-B5D5-43C2-B86D-8CA151050E88}" destId="{59ED2AF1-B9F6-483D-A12F-45B5EE95DBFE}" srcOrd="3" destOrd="0" parTransId="{6A494F98-B664-4983-B26A-9A88E7E28EC0}" sibTransId="{7283B0EF-D5CF-4C42-859E-E07F2615C1B6}"/>
    <dgm:cxn modelId="{B2044CCF-294A-452E-BE37-F90D8B5D0537}" srcId="{59ED2AF1-B9F6-483D-A12F-45B5EE95DBFE}" destId="{1BA611B8-F1CF-47DC-B29E-8B7621478910}" srcOrd="1" destOrd="0" parTransId="{720ACE0B-E32C-4A81-9624-2A0D7018E1AB}" sibTransId="{3724BB35-153C-4FC3-B645-7410B9E30317}"/>
    <dgm:cxn modelId="{FA2093DB-B938-4C1F-8E00-4021B6D3CB28}" srcId="{59ED2AF1-B9F6-483D-A12F-45B5EE95DBFE}" destId="{865229E2-2A3A-4AC3-B095-E36F5687FE49}" srcOrd="2" destOrd="0" parTransId="{3A5B5113-6031-40D0-9570-0339E7C578A4}" sibTransId="{B3A24C2F-0B04-441F-A87B-1DF23FB50DCD}"/>
    <dgm:cxn modelId="{397E97DC-F1F3-4328-AA83-60CFA33D5EDB}" type="presOf" srcId="{865229E2-2A3A-4AC3-B095-E36F5687FE49}" destId="{D60DC2B4-D0A2-4105-A7C6-9E5CEBBB1EF5}" srcOrd="0" destOrd="2" presId="urn:microsoft.com/office/officeart/2005/8/layout/hList1"/>
    <dgm:cxn modelId="{0CD538F8-8FA0-498C-9B8B-6A65B1CA8E61}" type="presOf" srcId="{1740C552-F357-42B2-A85C-C93E84D5DE96}" destId="{A7476113-2F8B-4F3A-8AC3-6BCA17473086}" srcOrd="0" destOrd="0" presId="urn:microsoft.com/office/officeart/2005/8/layout/hList1"/>
    <dgm:cxn modelId="{6D37DFF8-A3AF-4445-8396-2E05AFBAF096}" srcId="{1740C552-F357-42B2-A85C-C93E84D5DE96}" destId="{49E07346-6BE4-4B7F-8C00-705BF39FF540}" srcOrd="0" destOrd="0" parTransId="{CFF46ABF-C832-4F57-9EFF-F0B0E857086D}" sibTransId="{7EC54317-F206-432A-858D-721CBFBBC703}"/>
    <dgm:cxn modelId="{3BD3332C-00C0-4217-93B3-C4919C915D44}" type="presParOf" srcId="{BC5C7215-FA18-4014-A69C-E488C6F47643}" destId="{B412C7C7-9E53-4389-A4F4-7B804A6ABEB6}" srcOrd="0" destOrd="0" presId="urn:microsoft.com/office/officeart/2005/8/layout/hList1"/>
    <dgm:cxn modelId="{A26ABB02-2166-4AE4-92C6-654DBBBB9BC9}" type="presParOf" srcId="{B412C7C7-9E53-4389-A4F4-7B804A6ABEB6}" destId="{A7476113-2F8B-4F3A-8AC3-6BCA17473086}" srcOrd="0" destOrd="0" presId="urn:microsoft.com/office/officeart/2005/8/layout/hList1"/>
    <dgm:cxn modelId="{A41F8D34-F9A9-4E84-9FEF-D59EB3956F87}" type="presParOf" srcId="{B412C7C7-9E53-4389-A4F4-7B804A6ABEB6}" destId="{CCF57290-A14E-4A93-8959-3063BCCE9F8F}" srcOrd="1" destOrd="0" presId="urn:microsoft.com/office/officeart/2005/8/layout/hList1"/>
    <dgm:cxn modelId="{65B22A3D-E006-40FE-B9AE-665F2B8F8E7C}" type="presParOf" srcId="{BC5C7215-FA18-4014-A69C-E488C6F47643}" destId="{ED30951F-25DB-4793-B0E5-3DA33979C4EE}" srcOrd="1" destOrd="0" presId="urn:microsoft.com/office/officeart/2005/8/layout/hList1"/>
    <dgm:cxn modelId="{BC19DA0D-5DCB-4A48-AEB1-1B64D79E5DD8}" type="presParOf" srcId="{BC5C7215-FA18-4014-A69C-E488C6F47643}" destId="{9F5FA3D5-0448-4AF5-9C29-1248E1325670}" srcOrd="2" destOrd="0" presId="urn:microsoft.com/office/officeart/2005/8/layout/hList1"/>
    <dgm:cxn modelId="{BF00D985-1EF3-42FD-BF69-D99584B3BD5F}" type="presParOf" srcId="{9F5FA3D5-0448-4AF5-9C29-1248E1325670}" destId="{FA12E38B-ED90-4A95-ADC5-22515A6DC8B5}" srcOrd="0" destOrd="0" presId="urn:microsoft.com/office/officeart/2005/8/layout/hList1"/>
    <dgm:cxn modelId="{C4667EF4-0AB1-4C9A-8DAC-A9C9970522CC}" type="presParOf" srcId="{9F5FA3D5-0448-4AF5-9C29-1248E1325670}" destId="{42307719-F214-4BA2-A07D-3883DFB4D894}" srcOrd="1" destOrd="0" presId="urn:microsoft.com/office/officeart/2005/8/layout/hList1"/>
    <dgm:cxn modelId="{FCF54F72-793F-4232-B673-F24D20D70AC5}" type="presParOf" srcId="{BC5C7215-FA18-4014-A69C-E488C6F47643}" destId="{4DE62743-4503-45E3-A39C-08E72E666A26}" srcOrd="3" destOrd="0" presId="urn:microsoft.com/office/officeart/2005/8/layout/hList1"/>
    <dgm:cxn modelId="{2E66615B-5EED-4AA5-9E13-F9DD517F16B7}" type="presParOf" srcId="{BC5C7215-FA18-4014-A69C-E488C6F47643}" destId="{2106C18C-8D00-4C03-BE36-C70BB60772DC}" srcOrd="4" destOrd="0" presId="urn:microsoft.com/office/officeart/2005/8/layout/hList1"/>
    <dgm:cxn modelId="{D637DBE6-8808-4AF5-884B-5B6043AC34C5}" type="presParOf" srcId="{2106C18C-8D00-4C03-BE36-C70BB60772DC}" destId="{19E15F87-9691-4ABA-AD3C-56318852DA6C}" srcOrd="0" destOrd="0" presId="urn:microsoft.com/office/officeart/2005/8/layout/hList1"/>
    <dgm:cxn modelId="{FCA2147D-99F0-4C59-8DFC-2D07EEA506CF}" type="presParOf" srcId="{2106C18C-8D00-4C03-BE36-C70BB60772DC}" destId="{4CC4B419-6F44-4A39-A5DB-A35D4C109138}" srcOrd="1" destOrd="0" presId="urn:microsoft.com/office/officeart/2005/8/layout/hList1"/>
    <dgm:cxn modelId="{EAABDCBC-AFBB-44CE-9B6B-6B919CF0EAC8}" type="presParOf" srcId="{BC5C7215-FA18-4014-A69C-E488C6F47643}" destId="{0C5C802E-D6ED-47D7-B8ED-436E0BCDDC08}" srcOrd="5" destOrd="0" presId="urn:microsoft.com/office/officeart/2005/8/layout/hList1"/>
    <dgm:cxn modelId="{D489289D-D337-4F4E-9A4D-5AA9C0488C80}" type="presParOf" srcId="{BC5C7215-FA18-4014-A69C-E488C6F47643}" destId="{D5B46A46-D1F9-4AF3-8A5B-1FD760341635}" srcOrd="6" destOrd="0" presId="urn:microsoft.com/office/officeart/2005/8/layout/hList1"/>
    <dgm:cxn modelId="{63FAF4DD-D2F8-4A03-9CD6-6B736CF9E485}" type="presParOf" srcId="{D5B46A46-D1F9-4AF3-8A5B-1FD760341635}" destId="{6EB70E6A-7071-498F-AC21-0511CD43079D}" srcOrd="0" destOrd="0" presId="urn:microsoft.com/office/officeart/2005/8/layout/hList1"/>
    <dgm:cxn modelId="{41988860-A75B-4E0E-9021-9E3633A0DA02}" type="presParOf" srcId="{D5B46A46-D1F9-4AF3-8A5B-1FD760341635}" destId="{D60DC2B4-D0A2-4105-A7C6-9E5CEBBB1EF5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168360EC-B607-47E1-8D35-E7A53A4C2475}" type="doc">
      <dgm:prSet loTypeId="urn:microsoft.com/office/officeart/2005/8/layout/chevron2" loCatId="process" qsTypeId="urn:microsoft.com/office/officeart/2005/8/quickstyle/simple3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5A457734-97F2-415A-8B27-CADA1C09CF2F}">
      <dgm:prSet phldrT="[Текст]"/>
      <dgm:spPr/>
      <dgm:t>
        <a:bodyPr/>
        <a:lstStyle/>
        <a:p>
          <a:r>
            <a:rPr lang="ru-RU" dirty="0"/>
            <a:t>Вход</a:t>
          </a:r>
        </a:p>
      </dgm:t>
    </dgm:pt>
    <dgm:pt modelId="{9CB453C1-9A6F-466A-847C-878CD5F5B646}" type="parTrans" cxnId="{A43E0E5C-353C-4447-A795-6F8D8E1BEC63}">
      <dgm:prSet/>
      <dgm:spPr/>
      <dgm:t>
        <a:bodyPr/>
        <a:lstStyle/>
        <a:p>
          <a:endParaRPr lang="ru-RU"/>
        </a:p>
      </dgm:t>
    </dgm:pt>
    <dgm:pt modelId="{72831288-FD30-46B9-99C8-E127488B0DA4}" type="sibTrans" cxnId="{A43E0E5C-353C-4447-A795-6F8D8E1BEC63}">
      <dgm:prSet/>
      <dgm:spPr/>
      <dgm:t>
        <a:bodyPr/>
        <a:lstStyle/>
        <a:p>
          <a:endParaRPr lang="ru-RU"/>
        </a:p>
      </dgm:t>
    </dgm:pt>
    <dgm:pt modelId="{F8D9A6EF-B952-48F5-B588-9C87C0507EA7}">
      <dgm:prSet phldrT="[Текст]"/>
      <dgm:spPr/>
      <dgm:t>
        <a:bodyPr/>
        <a:lstStyle/>
        <a:p>
          <a:r>
            <a:rPr lang="ru-RU" dirty="0"/>
            <a:t>Сбор информации из различных источников</a:t>
          </a:r>
        </a:p>
      </dgm:t>
    </dgm:pt>
    <dgm:pt modelId="{6941E87E-21EF-4D0F-8CA8-5747001D0F42}" type="parTrans" cxnId="{0F313E0B-A5B1-40AD-AA51-68CF121883F2}">
      <dgm:prSet/>
      <dgm:spPr/>
      <dgm:t>
        <a:bodyPr/>
        <a:lstStyle/>
        <a:p>
          <a:endParaRPr lang="ru-RU"/>
        </a:p>
      </dgm:t>
    </dgm:pt>
    <dgm:pt modelId="{D34DFEA9-0D18-4D6E-8269-52D68C4C0157}" type="sibTrans" cxnId="{0F313E0B-A5B1-40AD-AA51-68CF121883F2}">
      <dgm:prSet/>
      <dgm:spPr/>
      <dgm:t>
        <a:bodyPr/>
        <a:lstStyle/>
        <a:p>
          <a:endParaRPr lang="ru-RU"/>
        </a:p>
      </dgm:t>
    </dgm:pt>
    <dgm:pt modelId="{9F96EB32-11F2-4111-BA26-9E023CB6C11A}">
      <dgm:prSet phldrT="[Текст]"/>
      <dgm:spPr/>
      <dgm:t>
        <a:bodyPr/>
        <a:lstStyle/>
        <a:p>
          <a:r>
            <a:rPr lang="en-US" dirty="0"/>
            <a:t>Staging area</a:t>
          </a:r>
          <a:r>
            <a:rPr lang="ru-RU" dirty="0"/>
            <a:t> и первичная предобработка данных</a:t>
          </a:r>
        </a:p>
      </dgm:t>
    </dgm:pt>
    <dgm:pt modelId="{2DDD54C2-6397-4D63-9D76-BB8E392EDE92}" type="parTrans" cxnId="{A3DB851B-38C3-43E1-9FA6-4B0A5EF5209D}">
      <dgm:prSet/>
      <dgm:spPr/>
      <dgm:t>
        <a:bodyPr/>
        <a:lstStyle/>
        <a:p>
          <a:endParaRPr lang="ru-RU"/>
        </a:p>
      </dgm:t>
    </dgm:pt>
    <dgm:pt modelId="{662C30F1-202B-44E1-9125-D256262AE2FF}" type="sibTrans" cxnId="{A3DB851B-38C3-43E1-9FA6-4B0A5EF5209D}">
      <dgm:prSet/>
      <dgm:spPr/>
      <dgm:t>
        <a:bodyPr/>
        <a:lstStyle/>
        <a:p>
          <a:endParaRPr lang="ru-RU"/>
        </a:p>
      </dgm:t>
    </dgm:pt>
    <dgm:pt modelId="{03FF813E-660D-4470-8041-A47965C7EF9F}">
      <dgm:prSet phldrT="[Текст]"/>
      <dgm:spPr/>
      <dgm:t>
        <a:bodyPr/>
        <a:lstStyle/>
        <a:p>
          <a:r>
            <a:rPr lang="ru-RU" dirty="0"/>
            <a:t>БД</a:t>
          </a:r>
        </a:p>
      </dgm:t>
    </dgm:pt>
    <dgm:pt modelId="{763E70DB-DBEB-4EF6-BB83-44765F33820F}" type="parTrans" cxnId="{2A5C71D6-97BC-441A-B343-16D6A9F897DF}">
      <dgm:prSet/>
      <dgm:spPr/>
      <dgm:t>
        <a:bodyPr/>
        <a:lstStyle/>
        <a:p>
          <a:endParaRPr lang="ru-RU"/>
        </a:p>
      </dgm:t>
    </dgm:pt>
    <dgm:pt modelId="{75A78E1B-ADFC-4467-964A-5F94CBAA24CE}" type="sibTrans" cxnId="{2A5C71D6-97BC-441A-B343-16D6A9F897DF}">
      <dgm:prSet/>
      <dgm:spPr/>
      <dgm:t>
        <a:bodyPr/>
        <a:lstStyle/>
        <a:p>
          <a:endParaRPr lang="ru-RU"/>
        </a:p>
      </dgm:t>
    </dgm:pt>
    <dgm:pt modelId="{EA32D1CF-A913-4777-A9E5-D23BEA1C6CB1}">
      <dgm:prSet phldrT="[Текст]"/>
      <dgm:spPr/>
      <dgm:t>
        <a:bodyPr/>
        <a:lstStyle/>
        <a:p>
          <a:r>
            <a:rPr lang="ru-RU" dirty="0"/>
            <a:t>Размещение данных на хранение в базы данных и хранилища</a:t>
          </a:r>
        </a:p>
      </dgm:t>
    </dgm:pt>
    <dgm:pt modelId="{829858E0-7F39-452F-8A56-B1CAD9DC93B7}" type="parTrans" cxnId="{997C25E3-854A-425C-BE8A-27DD2A544487}">
      <dgm:prSet/>
      <dgm:spPr/>
      <dgm:t>
        <a:bodyPr/>
        <a:lstStyle/>
        <a:p>
          <a:endParaRPr lang="ru-RU"/>
        </a:p>
      </dgm:t>
    </dgm:pt>
    <dgm:pt modelId="{ABE465B7-9D89-4FBF-B9F5-CDADAA8AF044}" type="sibTrans" cxnId="{997C25E3-854A-425C-BE8A-27DD2A544487}">
      <dgm:prSet/>
      <dgm:spPr/>
      <dgm:t>
        <a:bodyPr/>
        <a:lstStyle/>
        <a:p>
          <a:endParaRPr lang="ru-RU"/>
        </a:p>
      </dgm:t>
    </dgm:pt>
    <dgm:pt modelId="{61FC985B-1DB3-4F3F-A7EB-A52160086570}">
      <dgm:prSet phldrT="[Текст]"/>
      <dgm:spPr/>
      <dgm:t>
        <a:bodyPr/>
        <a:lstStyle/>
        <a:p>
          <a:r>
            <a:rPr lang="ru-RU" dirty="0"/>
            <a:t>Оптимизация хранения и миграции данных</a:t>
          </a:r>
        </a:p>
      </dgm:t>
    </dgm:pt>
    <dgm:pt modelId="{5F0E9BB7-D2D1-4CF4-A7BF-2F8E531611E1}" type="parTrans" cxnId="{980FBBF5-223B-4BA1-ABCE-BC06B3A7359C}">
      <dgm:prSet/>
      <dgm:spPr/>
      <dgm:t>
        <a:bodyPr/>
        <a:lstStyle/>
        <a:p>
          <a:endParaRPr lang="ru-RU"/>
        </a:p>
      </dgm:t>
    </dgm:pt>
    <dgm:pt modelId="{E52546DA-B24B-4CBD-A686-68E618745F93}" type="sibTrans" cxnId="{980FBBF5-223B-4BA1-ABCE-BC06B3A7359C}">
      <dgm:prSet/>
      <dgm:spPr/>
      <dgm:t>
        <a:bodyPr/>
        <a:lstStyle/>
        <a:p>
          <a:endParaRPr lang="ru-RU"/>
        </a:p>
      </dgm:t>
    </dgm:pt>
    <dgm:pt modelId="{02452A41-D50E-4C4B-B42D-37FE62A22244}">
      <dgm:prSet phldrT="[Текст]"/>
      <dgm:spPr/>
      <dgm:t>
        <a:bodyPr/>
        <a:lstStyle/>
        <a:p>
          <a:r>
            <a:rPr lang="en-US" dirty="0"/>
            <a:t>DS</a:t>
          </a:r>
          <a:endParaRPr lang="ru-RU" dirty="0"/>
        </a:p>
      </dgm:t>
    </dgm:pt>
    <dgm:pt modelId="{03689D46-97AE-47F9-B1C6-04AFF0C62E8D}" type="parTrans" cxnId="{F87A1239-8153-4F21-91BC-98E8985B4576}">
      <dgm:prSet/>
      <dgm:spPr/>
      <dgm:t>
        <a:bodyPr/>
        <a:lstStyle/>
        <a:p>
          <a:endParaRPr lang="ru-RU"/>
        </a:p>
      </dgm:t>
    </dgm:pt>
    <dgm:pt modelId="{978E720E-B723-417D-BC65-CD14426DDE63}" type="sibTrans" cxnId="{F87A1239-8153-4F21-91BC-98E8985B4576}">
      <dgm:prSet/>
      <dgm:spPr/>
      <dgm:t>
        <a:bodyPr/>
        <a:lstStyle/>
        <a:p>
          <a:endParaRPr lang="ru-RU"/>
        </a:p>
      </dgm:t>
    </dgm:pt>
    <dgm:pt modelId="{DEB53839-8943-4852-8FB6-DCAAEBDF9A8E}">
      <dgm:prSet phldrT="[Текст]"/>
      <dgm:spPr/>
      <dgm:t>
        <a:bodyPr/>
        <a:lstStyle/>
        <a:p>
          <a:r>
            <a:rPr lang="ru-RU" dirty="0"/>
            <a:t>Обработка и анализ данных</a:t>
          </a:r>
        </a:p>
      </dgm:t>
    </dgm:pt>
    <dgm:pt modelId="{C9283CFD-150C-4611-B385-0A4145080C95}" type="parTrans" cxnId="{B05EA352-57E7-41FE-9B1D-C4CE46C87FBE}">
      <dgm:prSet/>
      <dgm:spPr/>
      <dgm:t>
        <a:bodyPr/>
        <a:lstStyle/>
        <a:p>
          <a:endParaRPr lang="ru-RU"/>
        </a:p>
      </dgm:t>
    </dgm:pt>
    <dgm:pt modelId="{0D031340-752B-49AF-82F9-1FE3980C59C6}" type="sibTrans" cxnId="{B05EA352-57E7-41FE-9B1D-C4CE46C87FBE}">
      <dgm:prSet/>
      <dgm:spPr/>
      <dgm:t>
        <a:bodyPr/>
        <a:lstStyle/>
        <a:p>
          <a:endParaRPr lang="ru-RU"/>
        </a:p>
      </dgm:t>
    </dgm:pt>
    <dgm:pt modelId="{4CF942F5-4A3A-4E1A-B3FA-D452515F802C}">
      <dgm:prSet phldrT="[Текст]"/>
      <dgm:spPr/>
      <dgm:t>
        <a:bodyPr/>
        <a:lstStyle/>
        <a:p>
          <a:r>
            <a:rPr lang="ru-RU" dirty="0"/>
            <a:t>Оперативное принятие решений, обработка потоковых данных</a:t>
          </a:r>
        </a:p>
      </dgm:t>
    </dgm:pt>
    <dgm:pt modelId="{5934D509-29F5-482B-8E47-C7C3FF7E6217}" type="parTrans" cxnId="{97A3160B-EA03-4CE4-9C38-03F1958C6D74}">
      <dgm:prSet/>
      <dgm:spPr/>
      <dgm:t>
        <a:bodyPr/>
        <a:lstStyle/>
        <a:p>
          <a:endParaRPr lang="ru-RU"/>
        </a:p>
      </dgm:t>
    </dgm:pt>
    <dgm:pt modelId="{777F663C-051C-4FFB-8D81-EFAD68B6D91D}" type="sibTrans" cxnId="{97A3160B-EA03-4CE4-9C38-03F1958C6D74}">
      <dgm:prSet/>
      <dgm:spPr/>
      <dgm:t>
        <a:bodyPr/>
        <a:lstStyle/>
        <a:p>
          <a:endParaRPr lang="ru-RU"/>
        </a:p>
      </dgm:t>
    </dgm:pt>
    <dgm:pt modelId="{1B52141D-C3F2-47B3-9BDC-D681B8DC5A2F}">
      <dgm:prSet/>
      <dgm:spPr/>
      <dgm:t>
        <a:bodyPr/>
        <a:lstStyle/>
        <a:p>
          <a:r>
            <a:rPr lang="ru-RU" dirty="0"/>
            <a:t>Визуализация данных</a:t>
          </a:r>
        </a:p>
      </dgm:t>
    </dgm:pt>
    <dgm:pt modelId="{7078EE59-DB0F-45E4-A8F7-41B445E04DBA}" type="parTrans" cxnId="{661A4EB4-9347-4F74-BCD0-02A18B0BFEED}">
      <dgm:prSet/>
      <dgm:spPr/>
      <dgm:t>
        <a:bodyPr/>
        <a:lstStyle/>
        <a:p>
          <a:endParaRPr lang="ru-RU"/>
        </a:p>
      </dgm:t>
    </dgm:pt>
    <dgm:pt modelId="{679F1D24-0350-4B88-B217-305C14F9EB66}" type="sibTrans" cxnId="{661A4EB4-9347-4F74-BCD0-02A18B0BFEED}">
      <dgm:prSet/>
      <dgm:spPr/>
      <dgm:t>
        <a:bodyPr/>
        <a:lstStyle/>
        <a:p>
          <a:endParaRPr lang="ru-RU"/>
        </a:p>
      </dgm:t>
    </dgm:pt>
    <dgm:pt modelId="{40237AD0-EF93-4CD8-938A-1B8107F67187}">
      <dgm:prSet/>
      <dgm:spPr/>
      <dgm:t>
        <a:bodyPr/>
        <a:lstStyle/>
        <a:p>
          <a:r>
            <a:rPr lang="en-US" dirty="0"/>
            <a:t>ML</a:t>
          </a:r>
          <a:endParaRPr lang="ru-RU" dirty="0"/>
        </a:p>
      </dgm:t>
    </dgm:pt>
    <dgm:pt modelId="{3717E6E2-2C7C-4B5B-AF73-FA89E394494C}" type="parTrans" cxnId="{98617B2E-ABA7-499E-AD22-6DB5FB93306B}">
      <dgm:prSet/>
      <dgm:spPr/>
      <dgm:t>
        <a:bodyPr/>
        <a:lstStyle/>
        <a:p>
          <a:endParaRPr lang="ru-RU"/>
        </a:p>
      </dgm:t>
    </dgm:pt>
    <dgm:pt modelId="{2EF781C2-0314-40A3-945D-13E7325BE122}" type="sibTrans" cxnId="{98617B2E-ABA7-499E-AD22-6DB5FB93306B}">
      <dgm:prSet/>
      <dgm:spPr/>
      <dgm:t>
        <a:bodyPr/>
        <a:lstStyle/>
        <a:p>
          <a:endParaRPr lang="ru-RU"/>
        </a:p>
      </dgm:t>
    </dgm:pt>
    <dgm:pt modelId="{2C91D85D-5DBC-4CE7-B671-1F5E1DE315B9}">
      <dgm:prSet/>
      <dgm:spPr/>
      <dgm:t>
        <a:bodyPr/>
        <a:lstStyle/>
        <a:p>
          <a:r>
            <a:rPr lang="ru-RU" dirty="0"/>
            <a:t>Использование в статистических моделях и моделях </a:t>
          </a:r>
          <a:r>
            <a:rPr lang="en-US" dirty="0"/>
            <a:t>ML</a:t>
          </a:r>
          <a:endParaRPr lang="ru-RU" dirty="0"/>
        </a:p>
      </dgm:t>
    </dgm:pt>
    <dgm:pt modelId="{F1B5FADF-CF7E-4478-A47C-AEE6954A304F}" type="parTrans" cxnId="{808F150B-2DE1-4E4F-99AE-2BB698DE513E}">
      <dgm:prSet/>
      <dgm:spPr/>
      <dgm:t>
        <a:bodyPr/>
        <a:lstStyle/>
        <a:p>
          <a:endParaRPr lang="ru-RU"/>
        </a:p>
      </dgm:t>
    </dgm:pt>
    <dgm:pt modelId="{B3F5DFD8-CEB5-4027-A58E-B7F5812D52ED}" type="sibTrans" cxnId="{808F150B-2DE1-4E4F-99AE-2BB698DE513E}">
      <dgm:prSet/>
      <dgm:spPr/>
      <dgm:t>
        <a:bodyPr/>
        <a:lstStyle/>
        <a:p>
          <a:endParaRPr lang="ru-RU"/>
        </a:p>
      </dgm:t>
    </dgm:pt>
    <dgm:pt modelId="{61DB7E77-3A64-428B-85A5-DDFEAEA1792E}" type="pres">
      <dgm:prSet presAssocID="{168360EC-B607-47E1-8D35-E7A53A4C2475}" presName="linearFlow" presStyleCnt="0">
        <dgm:presLayoutVars>
          <dgm:dir/>
          <dgm:animLvl val="lvl"/>
          <dgm:resizeHandles val="exact"/>
        </dgm:presLayoutVars>
      </dgm:prSet>
      <dgm:spPr/>
    </dgm:pt>
    <dgm:pt modelId="{05014D53-3922-4177-A947-DCAC1945FD41}" type="pres">
      <dgm:prSet presAssocID="{5A457734-97F2-415A-8B27-CADA1C09CF2F}" presName="composite" presStyleCnt="0"/>
      <dgm:spPr/>
    </dgm:pt>
    <dgm:pt modelId="{9DEB77A2-5A52-4AF3-8B07-447E0978659F}" type="pres">
      <dgm:prSet presAssocID="{5A457734-97F2-415A-8B27-CADA1C09CF2F}" presName="parentText" presStyleLbl="alignNode1" presStyleIdx="0" presStyleCnt="4">
        <dgm:presLayoutVars>
          <dgm:chMax val="1"/>
          <dgm:bulletEnabled val="1"/>
        </dgm:presLayoutVars>
      </dgm:prSet>
      <dgm:spPr/>
    </dgm:pt>
    <dgm:pt modelId="{D5B5B410-BE75-4C62-8BED-97CC37BA1ACD}" type="pres">
      <dgm:prSet presAssocID="{5A457734-97F2-415A-8B27-CADA1C09CF2F}" presName="descendantText" presStyleLbl="alignAcc1" presStyleIdx="0" presStyleCnt="4">
        <dgm:presLayoutVars>
          <dgm:bulletEnabled val="1"/>
        </dgm:presLayoutVars>
      </dgm:prSet>
      <dgm:spPr/>
    </dgm:pt>
    <dgm:pt modelId="{2C1E23B0-6DC6-4E3C-9671-EBDDD0338E15}" type="pres">
      <dgm:prSet presAssocID="{72831288-FD30-46B9-99C8-E127488B0DA4}" presName="sp" presStyleCnt="0"/>
      <dgm:spPr/>
    </dgm:pt>
    <dgm:pt modelId="{EF2D172A-ED65-47F6-A103-604FA7839752}" type="pres">
      <dgm:prSet presAssocID="{03FF813E-660D-4470-8041-A47965C7EF9F}" presName="composite" presStyleCnt="0"/>
      <dgm:spPr/>
    </dgm:pt>
    <dgm:pt modelId="{16DAC979-F5C6-4A65-BAE0-5F16E07AE415}" type="pres">
      <dgm:prSet presAssocID="{03FF813E-660D-4470-8041-A47965C7EF9F}" presName="parentText" presStyleLbl="alignNode1" presStyleIdx="1" presStyleCnt="4">
        <dgm:presLayoutVars>
          <dgm:chMax val="1"/>
          <dgm:bulletEnabled val="1"/>
        </dgm:presLayoutVars>
      </dgm:prSet>
      <dgm:spPr/>
    </dgm:pt>
    <dgm:pt modelId="{7862DDB4-F214-4760-AFF7-F4215E640065}" type="pres">
      <dgm:prSet presAssocID="{03FF813E-660D-4470-8041-A47965C7EF9F}" presName="descendantText" presStyleLbl="alignAcc1" presStyleIdx="1" presStyleCnt="4">
        <dgm:presLayoutVars>
          <dgm:bulletEnabled val="1"/>
        </dgm:presLayoutVars>
      </dgm:prSet>
      <dgm:spPr/>
    </dgm:pt>
    <dgm:pt modelId="{8B2DF570-76C0-4EDC-9DE0-50CBF738FEBA}" type="pres">
      <dgm:prSet presAssocID="{75A78E1B-ADFC-4467-964A-5F94CBAA24CE}" presName="sp" presStyleCnt="0"/>
      <dgm:spPr/>
    </dgm:pt>
    <dgm:pt modelId="{EB8D608B-25FB-4ED1-A25A-8F4575D37D3E}" type="pres">
      <dgm:prSet presAssocID="{02452A41-D50E-4C4B-B42D-37FE62A22244}" presName="composite" presStyleCnt="0"/>
      <dgm:spPr/>
    </dgm:pt>
    <dgm:pt modelId="{E552EF60-8CAE-401F-AF11-440218C3D805}" type="pres">
      <dgm:prSet presAssocID="{02452A41-D50E-4C4B-B42D-37FE62A22244}" presName="parentText" presStyleLbl="alignNode1" presStyleIdx="2" presStyleCnt="4">
        <dgm:presLayoutVars>
          <dgm:chMax val="1"/>
          <dgm:bulletEnabled val="1"/>
        </dgm:presLayoutVars>
      </dgm:prSet>
      <dgm:spPr/>
    </dgm:pt>
    <dgm:pt modelId="{08EBDF85-798E-49A6-8C3B-7FFE06F048CA}" type="pres">
      <dgm:prSet presAssocID="{02452A41-D50E-4C4B-B42D-37FE62A22244}" presName="descendantText" presStyleLbl="alignAcc1" presStyleIdx="2" presStyleCnt="4">
        <dgm:presLayoutVars>
          <dgm:bulletEnabled val="1"/>
        </dgm:presLayoutVars>
      </dgm:prSet>
      <dgm:spPr/>
    </dgm:pt>
    <dgm:pt modelId="{AC37B5F9-FA0D-4F55-B669-38C9ED9F69EA}" type="pres">
      <dgm:prSet presAssocID="{978E720E-B723-417D-BC65-CD14426DDE63}" presName="sp" presStyleCnt="0"/>
      <dgm:spPr/>
    </dgm:pt>
    <dgm:pt modelId="{14FD834E-727A-42FB-B58E-12E14F925CD3}" type="pres">
      <dgm:prSet presAssocID="{40237AD0-EF93-4CD8-938A-1B8107F67187}" presName="composite" presStyleCnt="0"/>
      <dgm:spPr/>
    </dgm:pt>
    <dgm:pt modelId="{360F3C7D-959D-40FA-85FE-4CB61E903EA7}" type="pres">
      <dgm:prSet presAssocID="{40237AD0-EF93-4CD8-938A-1B8107F67187}" presName="parentText" presStyleLbl="alignNode1" presStyleIdx="3" presStyleCnt="4">
        <dgm:presLayoutVars>
          <dgm:chMax val="1"/>
          <dgm:bulletEnabled val="1"/>
        </dgm:presLayoutVars>
      </dgm:prSet>
      <dgm:spPr/>
    </dgm:pt>
    <dgm:pt modelId="{BF2B74E2-D964-46ED-8867-BDCB488031C5}" type="pres">
      <dgm:prSet presAssocID="{40237AD0-EF93-4CD8-938A-1B8107F67187}" presName="descendantText" presStyleLbl="alignAcc1" presStyleIdx="3" presStyleCnt="4">
        <dgm:presLayoutVars>
          <dgm:bulletEnabled val="1"/>
        </dgm:presLayoutVars>
      </dgm:prSet>
      <dgm:spPr/>
    </dgm:pt>
  </dgm:ptLst>
  <dgm:cxnLst>
    <dgm:cxn modelId="{808F150B-2DE1-4E4F-99AE-2BB698DE513E}" srcId="{40237AD0-EF93-4CD8-938A-1B8107F67187}" destId="{2C91D85D-5DBC-4CE7-B671-1F5E1DE315B9}" srcOrd="1" destOrd="0" parTransId="{F1B5FADF-CF7E-4478-A47C-AEE6954A304F}" sibTransId="{B3F5DFD8-CEB5-4027-A58E-B7F5812D52ED}"/>
    <dgm:cxn modelId="{97A3160B-EA03-4CE4-9C38-03F1958C6D74}" srcId="{02452A41-D50E-4C4B-B42D-37FE62A22244}" destId="{4CF942F5-4A3A-4E1A-B3FA-D452515F802C}" srcOrd="1" destOrd="0" parTransId="{5934D509-29F5-482B-8E47-C7C3FF7E6217}" sibTransId="{777F663C-051C-4FFB-8D81-EFAD68B6D91D}"/>
    <dgm:cxn modelId="{0F313E0B-A5B1-40AD-AA51-68CF121883F2}" srcId="{5A457734-97F2-415A-8B27-CADA1C09CF2F}" destId="{F8D9A6EF-B952-48F5-B588-9C87C0507EA7}" srcOrd="0" destOrd="0" parTransId="{6941E87E-21EF-4D0F-8CA8-5747001D0F42}" sibTransId="{D34DFEA9-0D18-4D6E-8269-52D68C4C0157}"/>
    <dgm:cxn modelId="{A3DB851B-38C3-43E1-9FA6-4B0A5EF5209D}" srcId="{5A457734-97F2-415A-8B27-CADA1C09CF2F}" destId="{9F96EB32-11F2-4111-BA26-9E023CB6C11A}" srcOrd="1" destOrd="0" parTransId="{2DDD54C2-6397-4D63-9D76-BB8E392EDE92}" sibTransId="{662C30F1-202B-44E1-9125-D256262AE2FF}"/>
    <dgm:cxn modelId="{A599971C-2853-4CD8-B33F-84602654A530}" type="presOf" srcId="{40237AD0-EF93-4CD8-938A-1B8107F67187}" destId="{360F3C7D-959D-40FA-85FE-4CB61E903EA7}" srcOrd="0" destOrd="0" presId="urn:microsoft.com/office/officeart/2005/8/layout/chevron2"/>
    <dgm:cxn modelId="{8FDE9B21-19E6-4C79-935E-FE5CADEAD387}" type="presOf" srcId="{4CF942F5-4A3A-4E1A-B3FA-D452515F802C}" destId="{08EBDF85-798E-49A6-8C3B-7FFE06F048CA}" srcOrd="0" destOrd="1" presId="urn:microsoft.com/office/officeart/2005/8/layout/chevron2"/>
    <dgm:cxn modelId="{98617B2E-ABA7-499E-AD22-6DB5FB93306B}" srcId="{168360EC-B607-47E1-8D35-E7A53A4C2475}" destId="{40237AD0-EF93-4CD8-938A-1B8107F67187}" srcOrd="3" destOrd="0" parTransId="{3717E6E2-2C7C-4B5B-AF73-FA89E394494C}" sibTransId="{2EF781C2-0314-40A3-945D-13E7325BE122}"/>
    <dgm:cxn modelId="{F87A1239-8153-4F21-91BC-98E8985B4576}" srcId="{168360EC-B607-47E1-8D35-E7A53A4C2475}" destId="{02452A41-D50E-4C4B-B42D-37FE62A22244}" srcOrd="2" destOrd="0" parTransId="{03689D46-97AE-47F9-B1C6-04AFF0C62E8D}" sibTransId="{978E720E-B723-417D-BC65-CD14426DDE63}"/>
    <dgm:cxn modelId="{A43E0E5C-353C-4447-A795-6F8D8E1BEC63}" srcId="{168360EC-B607-47E1-8D35-E7A53A4C2475}" destId="{5A457734-97F2-415A-8B27-CADA1C09CF2F}" srcOrd="0" destOrd="0" parTransId="{9CB453C1-9A6F-466A-847C-878CD5F5B646}" sibTransId="{72831288-FD30-46B9-99C8-E127488B0DA4}"/>
    <dgm:cxn modelId="{613BFA60-879A-49DF-BA8F-061C3F61FE42}" type="presOf" srcId="{168360EC-B607-47E1-8D35-E7A53A4C2475}" destId="{61DB7E77-3A64-428B-85A5-DDFEAEA1792E}" srcOrd="0" destOrd="0" presId="urn:microsoft.com/office/officeart/2005/8/layout/chevron2"/>
    <dgm:cxn modelId="{587F0669-78D0-4ED6-AE45-78DD62FE81BF}" type="presOf" srcId="{1B52141D-C3F2-47B3-9BDC-D681B8DC5A2F}" destId="{BF2B74E2-D964-46ED-8867-BDCB488031C5}" srcOrd="0" destOrd="0" presId="urn:microsoft.com/office/officeart/2005/8/layout/chevron2"/>
    <dgm:cxn modelId="{B05EA352-57E7-41FE-9B1D-C4CE46C87FBE}" srcId="{02452A41-D50E-4C4B-B42D-37FE62A22244}" destId="{DEB53839-8943-4852-8FB6-DCAAEBDF9A8E}" srcOrd="0" destOrd="0" parTransId="{C9283CFD-150C-4611-B385-0A4145080C95}" sibTransId="{0D031340-752B-49AF-82F9-1FE3980C59C6}"/>
    <dgm:cxn modelId="{9A5F3C76-AC3D-41C4-9612-69F46C4A38C0}" type="presOf" srcId="{02452A41-D50E-4C4B-B42D-37FE62A22244}" destId="{E552EF60-8CAE-401F-AF11-440218C3D805}" srcOrd="0" destOrd="0" presId="urn:microsoft.com/office/officeart/2005/8/layout/chevron2"/>
    <dgm:cxn modelId="{D7CBB058-6C44-4BFA-8F43-E7413EB2EFEB}" type="presOf" srcId="{EA32D1CF-A913-4777-A9E5-D23BEA1C6CB1}" destId="{7862DDB4-F214-4760-AFF7-F4215E640065}" srcOrd="0" destOrd="0" presId="urn:microsoft.com/office/officeart/2005/8/layout/chevron2"/>
    <dgm:cxn modelId="{0682447B-65D6-43A0-8918-FA27801FFAE3}" type="presOf" srcId="{F8D9A6EF-B952-48F5-B588-9C87C0507EA7}" destId="{D5B5B410-BE75-4C62-8BED-97CC37BA1ACD}" srcOrd="0" destOrd="0" presId="urn:microsoft.com/office/officeart/2005/8/layout/chevron2"/>
    <dgm:cxn modelId="{D9124D90-133E-4721-8056-4E7BC26CFBD4}" type="presOf" srcId="{9F96EB32-11F2-4111-BA26-9E023CB6C11A}" destId="{D5B5B410-BE75-4C62-8BED-97CC37BA1ACD}" srcOrd="0" destOrd="1" presId="urn:microsoft.com/office/officeart/2005/8/layout/chevron2"/>
    <dgm:cxn modelId="{4700FF99-6EA3-4A17-AD85-FFFC2A573994}" type="presOf" srcId="{03FF813E-660D-4470-8041-A47965C7EF9F}" destId="{16DAC979-F5C6-4A65-BAE0-5F16E07AE415}" srcOrd="0" destOrd="0" presId="urn:microsoft.com/office/officeart/2005/8/layout/chevron2"/>
    <dgm:cxn modelId="{661A4EB4-9347-4F74-BCD0-02A18B0BFEED}" srcId="{40237AD0-EF93-4CD8-938A-1B8107F67187}" destId="{1B52141D-C3F2-47B3-9BDC-D681B8DC5A2F}" srcOrd="0" destOrd="0" parTransId="{7078EE59-DB0F-45E4-A8F7-41B445E04DBA}" sibTransId="{679F1D24-0350-4B88-B217-305C14F9EB66}"/>
    <dgm:cxn modelId="{2A5C71D6-97BC-441A-B343-16D6A9F897DF}" srcId="{168360EC-B607-47E1-8D35-E7A53A4C2475}" destId="{03FF813E-660D-4470-8041-A47965C7EF9F}" srcOrd="1" destOrd="0" parTransId="{763E70DB-DBEB-4EF6-BB83-44765F33820F}" sibTransId="{75A78E1B-ADFC-4467-964A-5F94CBAA24CE}"/>
    <dgm:cxn modelId="{D83E35DE-BD83-4CBE-B23F-5A1D7F05A36A}" type="presOf" srcId="{DEB53839-8943-4852-8FB6-DCAAEBDF9A8E}" destId="{08EBDF85-798E-49A6-8C3B-7FFE06F048CA}" srcOrd="0" destOrd="0" presId="urn:microsoft.com/office/officeart/2005/8/layout/chevron2"/>
    <dgm:cxn modelId="{997C25E3-854A-425C-BE8A-27DD2A544487}" srcId="{03FF813E-660D-4470-8041-A47965C7EF9F}" destId="{EA32D1CF-A913-4777-A9E5-D23BEA1C6CB1}" srcOrd="0" destOrd="0" parTransId="{829858E0-7F39-452F-8A56-B1CAD9DC93B7}" sibTransId="{ABE465B7-9D89-4FBF-B9F5-CDADAA8AF044}"/>
    <dgm:cxn modelId="{C0C709E5-DA6C-4987-AAAB-97F0A8D83D7A}" type="presOf" srcId="{61FC985B-1DB3-4F3F-A7EB-A52160086570}" destId="{7862DDB4-F214-4760-AFF7-F4215E640065}" srcOrd="0" destOrd="1" presId="urn:microsoft.com/office/officeart/2005/8/layout/chevron2"/>
    <dgm:cxn modelId="{C240D5E8-1BE3-42BB-A875-1BEC4E4DAEC8}" type="presOf" srcId="{2C91D85D-5DBC-4CE7-B671-1F5E1DE315B9}" destId="{BF2B74E2-D964-46ED-8867-BDCB488031C5}" srcOrd="0" destOrd="1" presId="urn:microsoft.com/office/officeart/2005/8/layout/chevron2"/>
    <dgm:cxn modelId="{09C789F2-40EC-45AC-A864-6AD0EAF9B03C}" type="presOf" srcId="{5A457734-97F2-415A-8B27-CADA1C09CF2F}" destId="{9DEB77A2-5A52-4AF3-8B07-447E0978659F}" srcOrd="0" destOrd="0" presId="urn:microsoft.com/office/officeart/2005/8/layout/chevron2"/>
    <dgm:cxn modelId="{980FBBF5-223B-4BA1-ABCE-BC06B3A7359C}" srcId="{03FF813E-660D-4470-8041-A47965C7EF9F}" destId="{61FC985B-1DB3-4F3F-A7EB-A52160086570}" srcOrd="1" destOrd="0" parTransId="{5F0E9BB7-D2D1-4CF4-A7BF-2F8E531611E1}" sibTransId="{E52546DA-B24B-4CBD-A686-68E618745F93}"/>
    <dgm:cxn modelId="{2E05D1C0-3336-409B-B43F-AA66521F5A2C}" type="presParOf" srcId="{61DB7E77-3A64-428B-85A5-DDFEAEA1792E}" destId="{05014D53-3922-4177-A947-DCAC1945FD41}" srcOrd="0" destOrd="0" presId="urn:microsoft.com/office/officeart/2005/8/layout/chevron2"/>
    <dgm:cxn modelId="{133844F7-8E17-4F06-B30F-DCF6D1DCCB0C}" type="presParOf" srcId="{05014D53-3922-4177-A947-DCAC1945FD41}" destId="{9DEB77A2-5A52-4AF3-8B07-447E0978659F}" srcOrd="0" destOrd="0" presId="urn:microsoft.com/office/officeart/2005/8/layout/chevron2"/>
    <dgm:cxn modelId="{08DCB093-0D3F-4B99-8C38-E1C36370E4A3}" type="presParOf" srcId="{05014D53-3922-4177-A947-DCAC1945FD41}" destId="{D5B5B410-BE75-4C62-8BED-97CC37BA1ACD}" srcOrd="1" destOrd="0" presId="urn:microsoft.com/office/officeart/2005/8/layout/chevron2"/>
    <dgm:cxn modelId="{36AC7D34-D6B0-4B63-A9B4-817597D83E59}" type="presParOf" srcId="{61DB7E77-3A64-428B-85A5-DDFEAEA1792E}" destId="{2C1E23B0-6DC6-4E3C-9671-EBDDD0338E15}" srcOrd="1" destOrd="0" presId="urn:microsoft.com/office/officeart/2005/8/layout/chevron2"/>
    <dgm:cxn modelId="{8F360376-949F-4FE6-AC7A-15C01AC2C528}" type="presParOf" srcId="{61DB7E77-3A64-428B-85A5-DDFEAEA1792E}" destId="{EF2D172A-ED65-47F6-A103-604FA7839752}" srcOrd="2" destOrd="0" presId="urn:microsoft.com/office/officeart/2005/8/layout/chevron2"/>
    <dgm:cxn modelId="{AD8CDBFA-4BF3-4FCE-9CA0-83D1B9967947}" type="presParOf" srcId="{EF2D172A-ED65-47F6-A103-604FA7839752}" destId="{16DAC979-F5C6-4A65-BAE0-5F16E07AE415}" srcOrd="0" destOrd="0" presId="urn:microsoft.com/office/officeart/2005/8/layout/chevron2"/>
    <dgm:cxn modelId="{3D32F737-B8FA-4775-9D60-8CDD13264572}" type="presParOf" srcId="{EF2D172A-ED65-47F6-A103-604FA7839752}" destId="{7862DDB4-F214-4760-AFF7-F4215E640065}" srcOrd="1" destOrd="0" presId="urn:microsoft.com/office/officeart/2005/8/layout/chevron2"/>
    <dgm:cxn modelId="{94121FD6-755A-40BA-9413-91B84B5037E9}" type="presParOf" srcId="{61DB7E77-3A64-428B-85A5-DDFEAEA1792E}" destId="{8B2DF570-76C0-4EDC-9DE0-50CBF738FEBA}" srcOrd="3" destOrd="0" presId="urn:microsoft.com/office/officeart/2005/8/layout/chevron2"/>
    <dgm:cxn modelId="{5E4DAD3E-73D5-4CE0-B99E-9A02C09F9D93}" type="presParOf" srcId="{61DB7E77-3A64-428B-85A5-DDFEAEA1792E}" destId="{EB8D608B-25FB-4ED1-A25A-8F4575D37D3E}" srcOrd="4" destOrd="0" presId="urn:microsoft.com/office/officeart/2005/8/layout/chevron2"/>
    <dgm:cxn modelId="{4827A820-5E47-49DC-BBC9-18F0EA7771EA}" type="presParOf" srcId="{EB8D608B-25FB-4ED1-A25A-8F4575D37D3E}" destId="{E552EF60-8CAE-401F-AF11-440218C3D805}" srcOrd="0" destOrd="0" presId="urn:microsoft.com/office/officeart/2005/8/layout/chevron2"/>
    <dgm:cxn modelId="{7D6730FC-0F53-4B0C-B408-80E348F130B9}" type="presParOf" srcId="{EB8D608B-25FB-4ED1-A25A-8F4575D37D3E}" destId="{08EBDF85-798E-49A6-8C3B-7FFE06F048CA}" srcOrd="1" destOrd="0" presId="urn:microsoft.com/office/officeart/2005/8/layout/chevron2"/>
    <dgm:cxn modelId="{C24D2642-FDB2-4023-A26A-742440841848}" type="presParOf" srcId="{61DB7E77-3A64-428B-85A5-DDFEAEA1792E}" destId="{AC37B5F9-FA0D-4F55-B669-38C9ED9F69EA}" srcOrd="5" destOrd="0" presId="urn:microsoft.com/office/officeart/2005/8/layout/chevron2"/>
    <dgm:cxn modelId="{00848F36-D680-4C9B-8C7D-4DEF198784DE}" type="presParOf" srcId="{61DB7E77-3A64-428B-85A5-DDFEAEA1792E}" destId="{14FD834E-727A-42FB-B58E-12E14F925CD3}" srcOrd="6" destOrd="0" presId="urn:microsoft.com/office/officeart/2005/8/layout/chevron2"/>
    <dgm:cxn modelId="{F3E7C66A-9AA8-4720-B507-F1511037CAFD}" type="presParOf" srcId="{14FD834E-727A-42FB-B58E-12E14F925CD3}" destId="{360F3C7D-959D-40FA-85FE-4CB61E903EA7}" srcOrd="0" destOrd="0" presId="urn:microsoft.com/office/officeart/2005/8/layout/chevron2"/>
    <dgm:cxn modelId="{BDBE80F0-8442-4C31-987E-B9DE57EA72C3}" type="presParOf" srcId="{14FD834E-727A-42FB-B58E-12E14F925CD3}" destId="{BF2B74E2-D964-46ED-8867-BDCB488031C5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03C9367-D339-466B-A63B-2F521C052F0F}">
      <dsp:nvSpPr>
        <dsp:cNvPr id="0" name=""/>
        <dsp:cNvSpPr/>
      </dsp:nvSpPr>
      <dsp:spPr>
        <a:xfrm>
          <a:off x="3953" y="4357"/>
          <a:ext cx="2377306" cy="460800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13792" tIns="65024" rIns="113792" bIns="65024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b="1" kern="1200" dirty="0"/>
            <a:t>Промышленность</a:t>
          </a:r>
        </a:p>
      </dsp:txBody>
      <dsp:txXfrm>
        <a:off x="3953" y="4357"/>
        <a:ext cx="2377306" cy="460800"/>
      </dsp:txXfrm>
    </dsp:sp>
    <dsp:sp modelId="{7D748BC2-B4E3-4599-864C-68D3A24B7E89}">
      <dsp:nvSpPr>
        <dsp:cNvPr id="0" name=""/>
        <dsp:cNvSpPr/>
      </dsp:nvSpPr>
      <dsp:spPr>
        <a:xfrm>
          <a:off x="3953" y="465157"/>
          <a:ext cx="2377306" cy="188856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85344" rIns="113792" bIns="128016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1600" kern="1200" dirty="0"/>
            <a:t>Предиктивная аналитика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1600" kern="1200" dirty="0"/>
            <a:t>Оптимизация производства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1600" kern="1200" dirty="0"/>
            <a:t>Снижение себестоимости продукции</a:t>
          </a:r>
        </a:p>
      </dsp:txBody>
      <dsp:txXfrm>
        <a:off x="3953" y="465157"/>
        <a:ext cx="2377306" cy="1888560"/>
      </dsp:txXfrm>
    </dsp:sp>
    <dsp:sp modelId="{C10E137F-FBBC-4E28-9848-9482C03E6174}">
      <dsp:nvSpPr>
        <dsp:cNvPr id="0" name=""/>
        <dsp:cNvSpPr/>
      </dsp:nvSpPr>
      <dsp:spPr>
        <a:xfrm>
          <a:off x="2714082" y="4357"/>
          <a:ext cx="2377306" cy="460800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13792" tIns="65024" rIns="113792" bIns="65024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b="1" kern="1200" dirty="0"/>
            <a:t>Логистика</a:t>
          </a:r>
        </a:p>
      </dsp:txBody>
      <dsp:txXfrm>
        <a:off x="2714082" y="4357"/>
        <a:ext cx="2377306" cy="460800"/>
      </dsp:txXfrm>
    </dsp:sp>
    <dsp:sp modelId="{070CC3A7-EE92-4BF4-BC0B-D001633C5024}">
      <dsp:nvSpPr>
        <dsp:cNvPr id="0" name=""/>
        <dsp:cNvSpPr/>
      </dsp:nvSpPr>
      <dsp:spPr>
        <a:xfrm>
          <a:off x="2714082" y="465157"/>
          <a:ext cx="2377306" cy="188856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85344" rIns="113792" bIns="128016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1600" kern="1200" dirty="0"/>
            <a:t>Планирование перевозок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1600" kern="1200" dirty="0"/>
            <a:t>Оптимизация маршрутов</a:t>
          </a:r>
        </a:p>
      </dsp:txBody>
      <dsp:txXfrm>
        <a:off x="2714082" y="465157"/>
        <a:ext cx="2377306" cy="1888560"/>
      </dsp:txXfrm>
    </dsp:sp>
    <dsp:sp modelId="{221897BB-B48B-4948-8444-DAF7308E4914}">
      <dsp:nvSpPr>
        <dsp:cNvPr id="0" name=""/>
        <dsp:cNvSpPr/>
      </dsp:nvSpPr>
      <dsp:spPr>
        <a:xfrm>
          <a:off x="5424211" y="4357"/>
          <a:ext cx="2377306" cy="460800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13792" tIns="65024" rIns="113792" bIns="65024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b="1" kern="1200" dirty="0"/>
            <a:t>Ритейл</a:t>
          </a:r>
        </a:p>
      </dsp:txBody>
      <dsp:txXfrm>
        <a:off x="5424211" y="4357"/>
        <a:ext cx="2377306" cy="460800"/>
      </dsp:txXfrm>
    </dsp:sp>
    <dsp:sp modelId="{E8B3DA53-6DB5-4A35-9E50-225C44FB3AC1}">
      <dsp:nvSpPr>
        <dsp:cNvPr id="0" name=""/>
        <dsp:cNvSpPr/>
      </dsp:nvSpPr>
      <dsp:spPr>
        <a:xfrm>
          <a:off x="5424211" y="465157"/>
          <a:ext cx="2377306" cy="188856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85344" rIns="113792" bIns="128016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1600" kern="1200" dirty="0"/>
            <a:t>Повышение продаж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1600" kern="1200" dirty="0"/>
            <a:t>Оптимизация выкладки товара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1600" kern="1200" dirty="0"/>
            <a:t>Автоматизация закупок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1600" kern="1200" dirty="0"/>
            <a:t>Динамическое ценообразование</a:t>
          </a:r>
        </a:p>
      </dsp:txBody>
      <dsp:txXfrm>
        <a:off x="5424211" y="465157"/>
        <a:ext cx="2377306" cy="1888560"/>
      </dsp:txXfrm>
    </dsp:sp>
    <dsp:sp modelId="{3E260503-6A99-4BE3-BECE-1C7C976A2C49}">
      <dsp:nvSpPr>
        <dsp:cNvPr id="0" name=""/>
        <dsp:cNvSpPr/>
      </dsp:nvSpPr>
      <dsp:spPr>
        <a:xfrm>
          <a:off x="8134340" y="4357"/>
          <a:ext cx="2377306" cy="460800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13792" tIns="65024" rIns="113792" bIns="65024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b="1" kern="1200" dirty="0"/>
            <a:t>Финансы</a:t>
          </a:r>
        </a:p>
      </dsp:txBody>
      <dsp:txXfrm>
        <a:off x="8134340" y="4357"/>
        <a:ext cx="2377306" cy="460800"/>
      </dsp:txXfrm>
    </dsp:sp>
    <dsp:sp modelId="{0DC3BAF2-9E57-4AAA-95F3-4F958866978A}">
      <dsp:nvSpPr>
        <dsp:cNvPr id="0" name=""/>
        <dsp:cNvSpPr/>
      </dsp:nvSpPr>
      <dsp:spPr>
        <a:xfrm>
          <a:off x="8134340" y="465157"/>
          <a:ext cx="2377306" cy="188856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85344" rIns="113792" bIns="128016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1600" kern="1200" dirty="0"/>
            <a:t>Оценка платежеспособности клиента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1600" kern="1200" dirty="0"/>
            <a:t>Улучшение клиентского сервиса</a:t>
          </a:r>
        </a:p>
      </dsp:txBody>
      <dsp:txXfrm>
        <a:off x="8134340" y="465157"/>
        <a:ext cx="2377306" cy="188856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7476113-2F8B-4F3A-8AC3-6BCA17473086}">
      <dsp:nvSpPr>
        <dsp:cNvPr id="0" name=""/>
        <dsp:cNvSpPr/>
      </dsp:nvSpPr>
      <dsp:spPr>
        <a:xfrm>
          <a:off x="3953" y="162722"/>
          <a:ext cx="2377305" cy="4896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904" tIns="69088" rIns="120904" bIns="69088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700" b="1" kern="1200" dirty="0"/>
            <a:t>Медицина</a:t>
          </a:r>
          <a:endParaRPr lang="ru-RU" sz="1700" kern="1200" dirty="0"/>
        </a:p>
      </dsp:txBody>
      <dsp:txXfrm>
        <a:off x="3953" y="162722"/>
        <a:ext cx="2377305" cy="489600"/>
      </dsp:txXfrm>
    </dsp:sp>
    <dsp:sp modelId="{CCF57290-A14E-4A93-8959-3063BCCE9F8F}">
      <dsp:nvSpPr>
        <dsp:cNvPr id="0" name=""/>
        <dsp:cNvSpPr/>
      </dsp:nvSpPr>
      <dsp:spPr>
        <a:xfrm>
          <a:off x="3953" y="652322"/>
          <a:ext cx="2377305" cy="1932222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0678" tIns="90678" rIns="120904" bIns="136017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1700" kern="1200" dirty="0"/>
            <a:t>Оценка вероятности заболевания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1700" kern="1200" dirty="0"/>
            <a:t>Ведение базы пациентов</a:t>
          </a:r>
        </a:p>
      </dsp:txBody>
      <dsp:txXfrm>
        <a:off x="3953" y="652322"/>
        <a:ext cx="2377305" cy="1932222"/>
      </dsp:txXfrm>
    </dsp:sp>
    <dsp:sp modelId="{FA12E38B-ED90-4A95-ADC5-22515A6DC8B5}">
      <dsp:nvSpPr>
        <dsp:cNvPr id="0" name=""/>
        <dsp:cNvSpPr/>
      </dsp:nvSpPr>
      <dsp:spPr>
        <a:xfrm>
          <a:off x="2714082" y="162722"/>
          <a:ext cx="2377305" cy="4896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904" tIns="69088" rIns="120904" bIns="69088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HR</a:t>
          </a:r>
          <a:endParaRPr lang="ru-RU" sz="1700" kern="1200" dirty="0"/>
        </a:p>
      </dsp:txBody>
      <dsp:txXfrm>
        <a:off x="2714082" y="162722"/>
        <a:ext cx="2377305" cy="489600"/>
      </dsp:txXfrm>
    </dsp:sp>
    <dsp:sp modelId="{42307719-F214-4BA2-A07D-3883DFB4D894}">
      <dsp:nvSpPr>
        <dsp:cNvPr id="0" name=""/>
        <dsp:cNvSpPr/>
      </dsp:nvSpPr>
      <dsp:spPr>
        <a:xfrm>
          <a:off x="2714082" y="652322"/>
          <a:ext cx="2377305" cy="1932222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0678" tIns="90678" rIns="120904" bIns="136017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1700" kern="1200" dirty="0"/>
            <a:t>Анализ базы сотрудников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1700" kern="1200" dirty="0"/>
            <a:t>Оптимизация </a:t>
          </a:r>
          <a:r>
            <a:rPr lang="en-US" sz="1700" kern="1200" dirty="0"/>
            <a:t>HR </a:t>
          </a:r>
          <a:r>
            <a:rPr lang="ru-RU" sz="1700" kern="1200" dirty="0"/>
            <a:t>стратегии</a:t>
          </a:r>
        </a:p>
      </dsp:txBody>
      <dsp:txXfrm>
        <a:off x="2714082" y="652322"/>
        <a:ext cx="2377305" cy="1932222"/>
      </dsp:txXfrm>
    </dsp:sp>
    <dsp:sp modelId="{19E15F87-9691-4ABA-AD3C-56318852DA6C}">
      <dsp:nvSpPr>
        <dsp:cNvPr id="0" name=""/>
        <dsp:cNvSpPr/>
      </dsp:nvSpPr>
      <dsp:spPr>
        <a:xfrm>
          <a:off x="5424210" y="162722"/>
          <a:ext cx="2377305" cy="4896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904" tIns="69088" rIns="120904" bIns="69088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700" kern="1200" dirty="0"/>
            <a:t>Маркетинг</a:t>
          </a:r>
        </a:p>
      </dsp:txBody>
      <dsp:txXfrm>
        <a:off x="5424210" y="162722"/>
        <a:ext cx="2377305" cy="489600"/>
      </dsp:txXfrm>
    </dsp:sp>
    <dsp:sp modelId="{4CC4B419-6F44-4A39-A5DB-A35D4C109138}">
      <dsp:nvSpPr>
        <dsp:cNvPr id="0" name=""/>
        <dsp:cNvSpPr/>
      </dsp:nvSpPr>
      <dsp:spPr>
        <a:xfrm>
          <a:off x="5424210" y="652322"/>
          <a:ext cx="2377305" cy="1932222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0678" tIns="90678" rIns="120904" bIns="136017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1700" kern="1200" dirty="0"/>
            <a:t>Создание коммерчески успешных продуктов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1700" kern="1200" dirty="0"/>
            <a:t>Таргетированная реклама и снижение стоимости привлечения клиента</a:t>
          </a:r>
        </a:p>
      </dsp:txBody>
      <dsp:txXfrm>
        <a:off x="5424210" y="652322"/>
        <a:ext cx="2377305" cy="1932222"/>
      </dsp:txXfrm>
    </dsp:sp>
    <dsp:sp modelId="{6EB70E6A-7071-498F-AC21-0511CD43079D}">
      <dsp:nvSpPr>
        <dsp:cNvPr id="0" name=""/>
        <dsp:cNvSpPr/>
      </dsp:nvSpPr>
      <dsp:spPr>
        <a:xfrm>
          <a:off x="8134339" y="162722"/>
          <a:ext cx="2377305" cy="4896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904" tIns="69088" rIns="120904" bIns="69088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700" kern="1200" dirty="0"/>
            <a:t>Образование</a:t>
          </a:r>
        </a:p>
      </dsp:txBody>
      <dsp:txXfrm>
        <a:off x="8134339" y="162722"/>
        <a:ext cx="2377305" cy="489600"/>
      </dsp:txXfrm>
    </dsp:sp>
    <dsp:sp modelId="{D60DC2B4-D0A2-4105-A7C6-9E5CEBBB1EF5}">
      <dsp:nvSpPr>
        <dsp:cNvPr id="0" name=""/>
        <dsp:cNvSpPr/>
      </dsp:nvSpPr>
      <dsp:spPr>
        <a:xfrm>
          <a:off x="8134339" y="652322"/>
          <a:ext cx="2377305" cy="1932222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0678" tIns="90678" rIns="120904" bIns="136017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1700" kern="1200" dirty="0"/>
            <a:t>Автоматизация расписаний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1700" kern="1200" dirty="0"/>
            <a:t>Генерация контента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1700" kern="1200" dirty="0"/>
            <a:t>Прогнозирование успеваемости</a:t>
          </a:r>
        </a:p>
      </dsp:txBody>
      <dsp:txXfrm>
        <a:off x="8134339" y="652322"/>
        <a:ext cx="2377305" cy="193222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DEB77A2-5A52-4AF3-8B07-447E0978659F}">
      <dsp:nvSpPr>
        <dsp:cNvPr id="0" name=""/>
        <dsp:cNvSpPr/>
      </dsp:nvSpPr>
      <dsp:spPr>
        <a:xfrm rot="5400000">
          <a:off x="-196910" y="199401"/>
          <a:ext cx="1312733" cy="918913"/>
        </a:xfrm>
        <a:prstGeom prst="chevron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5875" tIns="15875" rIns="15875" bIns="15875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500" kern="1200" dirty="0"/>
            <a:t>Вход</a:t>
          </a:r>
        </a:p>
      </dsp:txBody>
      <dsp:txXfrm rot="-5400000">
        <a:off x="1" y="461948"/>
        <a:ext cx="918913" cy="393820"/>
      </dsp:txXfrm>
    </dsp:sp>
    <dsp:sp modelId="{D5B5B410-BE75-4C62-8BED-97CC37BA1ACD}">
      <dsp:nvSpPr>
        <dsp:cNvPr id="0" name=""/>
        <dsp:cNvSpPr/>
      </dsp:nvSpPr>
      <dsp:spPr>
        <a:xfrm rot="5400000">
          <a:off x="5290618" y="-4369213"/>
          <a:ext cx="853277" cy="9596686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688" tIns="15240" rIns="15240" bIns="15240" numCol="1" spcCol="1270" anchor="ctr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2400" kern="1200" dirty="0"/>
            <a:t>Сбор информации из различных источников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 dirty="0"/>
            <a:t>Staging area</a:t>
          </a:r>
          <a:r>
            <a:rPr lang="ru-RU" sz="2400" kern="1200" dirty="0"/>
            <a:t> и первичная предобработка данных</a:t>
          </a:r>
        </a:p>
      </dsp:txBody>
      <dsp:txXfrm rot="-5400000">
        <a:off x="918914" y="44145"/>
        <a:ext cx="9555032" cy="769969"/>
      </dsp:txXfrm>
    </dsp:sp>
    <dsp:sp modelId="{16DAC979-F5C6-4A65-BAE0-5F16E07AE415}">
      <dsp:nvSpPr>
        <dsp:cNvPr id="0" name=""/>
        <dsp:cNvSpPr/>
      </dsp:nvSpPr>
      <dsp:spPr>
        <a:xfrm rot="5400000">
          <a:off x="-196910" y="1366183"/>
          <a:ext cx="1312733" cy="918913"/>
        </a:xfrm>
        <a:prstGeom prst="chevron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5875" tIns="15875" rIns="15875" bIns="15875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500" kern="1200" dirty="0"/>
            <a:t>БД</a:t>
          </a:r>
        </a:p>
      </dsp:txBody>
      <dsp:txXfrm rot="-5400000">
        <a:off x="1" y="1628730"/>
        <a:ext cx="918913" cy="393820"/>
      </dsp:txXfrm>
    </dsp:sp>
    <dsp:sp modelId="{7862DDB4-F214-4760-AFF7-F4215E640065}">
      <dsp:nvSpPr>
        <dsp:cNvPr id="0" name=""/>
        <dsp:cNvSpPr/>
      </dsp:nvSpPr>
      <dsp:spPr>
        <a:xfrm rot="5400000">
          <a:off x="5290618" y="-3202431"/>
          <a:ext cx="853277" cy="9596686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688" tIns="15240" rIns="15240" bIns="15240" numCol="1" spcCol="1270" anchor="ctr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2400" kern="1200" dirty="0"/>
            <a:t>Размещение данных на хранение в базы данных и хранилища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2400" kern="1200" dirty="0"/>
            <a:t>Оптимизация хранения и миграции данных</a:t>
          </a:r>
        </a:p>
      </dsp:txBody>
      <dsp:txXfrm rot="-5400000">
        <a:off x="918914" y="1210927"/>
        <a:ext cx="9555032" cy="769969"/>
      </dsp:txXfrm>
    </dsp:sp>
    <dsp:sp modelId="{E552EF60-8CAE-401F-AF11-440218C3D805}">
      <dsp:nvSpPr>
        <dsp:cNvPr id="0" name=""/>
        <dsp:cNvSpPr/>
      </dsp:nvSpPr>
      <dsp:spPr>
        <a:xfrm rot="5400000">
          <a:off x="-196910" y="2532965"/>
          <a:ext cx="1312733" cy="918913"/>
        </a:xfrm>
        <a:prstGeom prst="chevron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5875" tIns="15875" rIns="15875" bIns="15875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DS</a:t>
          </a:r>
          <a:endParaRPr lang="ru-RU" sz="2500" kern="1200" dirty="0"/>
        </a:p>
      </dsp:txBody>
      <dsp:txXfrm rot="-5400000">
        <a:off x="1" y="2795512"/>
        <a:ext cx="918913" cy="393820"/>
      </dsp:txXfrm>
    </dsp:sp>
    <dsp:sp modelId="{08EBDF85-798E-49A6-8C3B-7FFE06F048CA}">
      <dsp:nvSpPr>
        <dsp:cNvPr id="0" name=""/>
        <dsp:cNvSpPr/>
      </dsp:nvSpPr>
      <dsp:spPr>
        <a:xfrm rot="5400000">
          <a:off x="5290618" y="-2035649"/>
          <a:ext cx="853277" cy="9596686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688" tIns="15240" rIns="15240" bIns="15240" numCol="1" spcCol="1270" anchor="ctr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2400" kern="1200" dirty="0"/>
            <a:t>Обработка и анализ данных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2400" kern="1200" dirty="0"/>
            <a:t>Оперативное принятие решений, обработка потоковых данных</a:t>
          </a:r>
        </a:p>
      </dsp:txBody>
      <dsp:txXfrm rot="-5400000">
        <a:off x="918914" y="2377709"/>
        <a:ext cx="9555032" cy="769969"/>
      </dsp:txXfrm>
    </dsp:sp>
    <dsp:sp modelId="{360F3C7D-959D-40FA-85FE-4CB61E903EA7}">
      <dsp:nvSpPr>
        <dsp:cNvPr id="0" name=""/>
        <dsp:cNvSpPr/>
      </dsp:nvSpPr>
      <dsp:spPr>
        <a:xfrm rot="5400000">
          <a:off x="-196910" y="3699747"/>
          <a:ext cx="1312733" cy="918913"/>
        </a:xfrm>
        <a:prstGeom prst="chevron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5875" tIns="15875" rIns="15875" bIns="15875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ML</a:t>
          </a:r>
          <a:endParaRPr lang="ru-RU" sz="2500" kern="1200" dirty="0"/>
        </a:p>
      </dsp:txBody>
      <dsp:txXfrm rot="-5400000">
        <a:off x="1" y="3962294"/>
        <a:ext cx="918913" cy="393820"/>
      </dsp:txXfrm>
    </dsp:sp>
    <dsp:sp modelId="{BF2B74E2-D964-46ED-8867-BDCB488031C5}">
      <dsp:nvSpPr>
        <dsp:cNvPr id="0" name=""/>
        <dsp:cNvSpPr/>
      </dsp:nvSpPr>
      <dsp:spPr>
        <a:xfrm rot="5400000">
          <a:off x="5290618" y="-868866"/>
          <a:ext cx="853277" cy="9596686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688" tIns="15240" rIns="15240" bIns="15240" numCol="1" spcCol="1270" anchor="ctr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2400" kern="1200" dirty="0"/>
            <a:t>Визуализация данных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2400" kern="1200" dirty="0"/>
            <a:t>Использование в статистических моделях и моделях </a:t>
          </a:r>
          <a:r>
            <a:rPr lang="en-US" sz="2400" kern="1200" dirty="0"/>
            <a:t>ML</a:t>
          </a:r>
          <a:endParaRPr lang="ru-RU" sz="2400" kern="1200" dirty="0"/>
        </a:p>
      </dsp:txBody>
      <dsp:txXfrm rot="-5400000">
        <a:off x="918914" y="3544492"/>
        <a:ext cx="9555032" cy="76996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6BB4B77-92A8-4974-A692-42FA5825A187}" type="datetimeFigureOut">
              <a:rPr lang="ru-RU" smtClean="0"/>
              <a:t>03.09.2024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4ECBE7-4487-4615-A10C-5FECAADA1E8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742154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bigdataschool.ru/blog/iot-ipv6-crypto-big-data.html" TargetMode="External"/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s://bigdataschool.ru/wiki/machine-learning" TargetMode="External"/></Relationships>
</file>

<file path=ppt/notesSlides/_rels/notes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bigdataschool.ru/courses/big-data-analytics-for-executives" TargetMode="External"/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Relationship Id="rId5" Type="http://schemas.openxmlformats.org/officeDocument/2006/relationships/hyperlink" Target="https://bigdataschool.ru/wiki/spark-streaming" TargetMode="External"/><Relationship Id="rId4" Type="http://schemas.openxmlformats.org/officeDocument/2006/relationships/hyperlink" Target="https://bigdataschool.ru/wiki/hdfs" TargetMode="Externa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rubda.ru/wp-content/uploads/2023/07/strategiya-rynka_abd_2023.pdf" TargetMode="External"/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4ECBE7-4487-4615-A10C-5FECAADA1E8C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665757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Первая лекция посвящена аналитике данных и большим данным. </a:t>
            </a:r>
          </a:p>
          <a:p>
            <a:r>
              <a:rPr lang="ru-RU" dirty="0"/>
              <a:t>На данной лекции разберемся с вами с определением больших данных, какими характеристиками они обладают и какие критерии отделяют большие данные от данных поменьше. Поймем также в чем же польза от больших данных, в каких реальных приложениях могут применяться инструменты для получения знаний из больших выборок данных.</a:t>
            </a:r>
          </a:p>
          <a:p>
            <a:r>
              <a:rPr lang="ru-RU" dirty="0"/>
              <a:t>В одной из частей нашей лекции упомянем инструментарий для работы с большими данными, такие технологии сейчас используются в реальных задачах </a:t>
            </a:r>
            <a:r>
              <a:rPr lang="en-US" dirty="0" err="1"/>
              <a:t>BigData</a:t>
            </a:r>
            <a:r>
              <a:rPr lang="en-US" dirty="0"/>
              <a:t>.</a:t>
            </a:r>
            <a:endParaRPr lang="ru-RU" dirty="0"/>
          </a:p>
          <a:p>
            <a:r>
              <a:rPr lang="ru-RU" dirty="0"/>
              <a:t>Также прольем свет на рынок </a:t>
            </a:r>
            <a:r>
              <a:rPr lang="en-US" dirty="0" err="1"/>
              <a:t>BigData</a:t>
            </a:r>
            <a:r>
              <a:rPr lang="en-US" dirty="0"/>
              <a:t> </a:t>
            </a:r>
            <a:r>
              <a:rPr lang="ru-RU" dirty="0"/>
              <a:t>в мире и в России.</a:t>
            </a:r>
          </a:p>
          <a:p>
            <a:r>
              <a:rPr lang="ru-RU" dirty="0"/>
              <a:t>В заключении посмотрим на то, как выглядит жизненный цикл проектов аналитики больших данных, с чего начинается любой проект по обработке данных и чем он заканчивается.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4ECBE7-4487-4615-A10C-5FECAADA1E8C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11735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Для начала начнем с предпосылок необходимости в инструментах отказоустойчивой обработки больших объемов данных. На сегодняшний день информация правит балом и любая услуга для человека начинается по клику/сообщению/звонку в сети на сайте поставщика услуг. Любая информация в сети о деятельности человека имеет под собой ценный статистический образец, который пополняет мировой банк данных.</a:t>
            </a:r>
            <a:br>
              <a:rPr lang="ru-RU" dirty="0"/>
            </a:br>
            <a:br>
              <a:rPr lang="ru-RU" dirty="0"/>
            </a:br>
            <a:r>
              <a:rPr lang="ru-RU" dirty="0"/>
              <a:t>На слайде перечислена малая </a:t>
            </a:r>
            <a:r>
              <a:rPr lang="ru-RU" dirty="0" err="1"/>
              <a:t>подвыборка</a:t>
            </a:r>
            <a:r>
              <a:rPr lang="ru-RU" dirty="0"/>
              <a:t> популярных источников данных для бизнеса и больших данных.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Социальные медиа если и не обрабатывают ваши сообщения (что не всегда проверяемая история), то точно хранят их для вас в ваших чатах. Также обрабатываются, хранятся и предоставляются вам в пользование данные о ваших реакциях/комментариях в социальных сетях. Это всё является уже общедоступной информацией и о вас в том числе.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Дорожные службы и общественные активисты размещают открытые камеры с дорожного полотна, камер у жилых домов, парковок, магазинов и </a:t>
            </a:r>
            <a:r>
              <a:rPr lang="ru-RU" dirty="0" err="1"/>
              <a:t>т.д</a:t>
            </a:r>
            <a:r>
              <a:rPr lang="ru-RU" dirty="0"/>
              <a:t> для наблюдения за обстановкой и получения записей к доказательной базе происшествий. Размер видео и аудио записей в величинах информации много выше чем размер сообщений в </a:t>
            </a:r>
            <a:r>
              <a:rPr lang="ru-RU" dirty="0" err="1"/>
              <a:t>соц.сетях</a:t>
            </a:r>
            <a:r>
              <a:rPr lang="ru-RU" dirty="0"/>
              <a:t> и с такими данными важно уметь работать, правильно их хранить, обрабатывать и извлекать из них пользу. Для этого применяются не только методы </a:t>
            </a:r>
            <a:r>
              <a:rPr lang="en-US" dirty="0" err="1"/>
              <a:t>BigData</a:t>
            </a:r>
            <a:r>
              <a:rPr lang="ru-RU" dirty="0"/>
              <a:t>, но и методы связанные с обработкой неструктурированных данных в формате моделей ИИ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Транзакции в реальном времени поступают в базы данных организаций, что является высоконагруженной точкой обработки данных. Информацию важно уметь правильно сохранять в базы данных, синхронизировать со средствами оплаты, а также извлекать из них полезные для бизнеса знания.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и т.д.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ru-RU" dirty="0"/>
              <a:t>Таким образом, любая деятельность человека сегодня заключается в генерации данных для общества, государства и бизнеса. Данные несут ценную информацию не только об общих тенденциях, но и о персональных предпочтениях пользователей. Это топливо современных механизмов функционирования уже национального и международного хозяйства. Важным являются сегодня как навыки работы с данными и инструментами для их обработки, а также понимание механизмов работы с данными.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ru-RU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ru-RU" dirty="0"/>
              <a:t>По данным зарубежных компаний произведенные и накопленные на сегодня данные в мире исчисляются в зеттабайтах и их объем все еще экспоненциально растет относительно времени.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4ECBE7-4487-4615-A10C-5FECAADA1E8C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995469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 настоящий момент времени увеличивается число продуктов, которые принимают новую модель ведения бизнеса на базе </a:t>
            </a:r>
            <a:r>
              <a:rPr lang="en-US" dirty="0"/>
              <a:t>data-driven </a:t>
            </a:r>
            <a:r>
              <a:rPr lang="ru-RU" dirty="0"/>
              <a:t>модели, когда бизнес-процессы оказания услуг или производства запускаются по триггеру поступления нового заказа.  </a:t>
            </a:r>
            <a:br>
              <a:rPr lang="ru-RU" dirty="0"/>
            </a:br>
            <a:br>
              <a:rPr lang="ru-RU" dirty="0"/>
            </a:br>
            <a:r>
              <a:rPr lang="ru-RU" dirty="0"/>
              <a:t>Такие системы обязаны иметь возможность верифицировать достоверную информацию как поступающую заявку, уметь брать ее в работу и использовать ее в целях организации работы бизнеса.</a:t>
            </a:r>
            <a:br>
              <a:rPr lang="ru-RU" dirty="0"/>
            </a:br>
            <a:br>
              <a:rPr lang="ru-RU" dirty="0"/>
            </a:br>
            <a:r>
              <a:rPr lang="ru-RU" dirty="0"/>
              <a:t>Постфактум имеется возможность проводить анализ работы системы на базе новых кейсов, а именно бизнес-аналитику эффективности разработанного решения и в целом бизнес-аналитику на протяжении всего времени работы системы также на базе технологий больших данных. Так называемая надстройка над надстройкой.</a:t>
            </a:r>
          </a:p>
          <a:p>
            <a:endParaRPr lang="ru-RU" dirty="0"/>
          </a:p>
          <a:p>
            <a:r>
              <a:rPr lang="ru-RU" dirty="0"/>
              <a:t>Предсказывать поведение клиентов на основе собранной исторической информации о поступающих заявках. Получение важной трендовой составляющей и ее предсказание может в реальном масштабе времени помочь бизнесу вовремя изменить вектор развития.</a:t>
            </a:r>
          </a:p>
          <a:p>
            <a:endParaRPr lang="ru-RU" dirty="0"/>
          </a:p>
          <a:p>
            <a:r>
              <a:rPr lang="ru-RU" dirty="0"/>
              <a:t>Управление производством.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4ECBE7-4487-4615-A10C-5FECAADA1E8C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9367285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ru-RU" b="1" dirty="0"/>
          </a:p>
          <a:p>
            <a:pPr marL="0" indent="0">
              <a:buNone/>
            </a:pPr>
            <a:endParaRPr lang="ru-RU" b="1" dirty="0"/>
          </a:p>
          <a:p>
            <a:pPr marL="0" indent="0">
              <a:buNone/>
            </a:pPr>
            <a:r>
              <a:rPr lang="en-US" b="1" dirty="0"/>
              <a:t>1.0 </a:t>
            </a:r>
            <a:r>
              <a:rPr lang="ru-RU" b="1" dirty="0"/>
              <a:t>Традиционная аналитика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Преимущественно описательная аналитика и отчетность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Данные из внутренних источников, относительно небольшие, структурированные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Разрозненные группы аналитиков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Аналитика – вспомогательный инструмент</a:t>
            </a:r>
          </a:p>
          <a:p>
            <a:r>
              <a:rPr lang="ru-RU" dirty="0"/>
              <a:t>Аналитика выполняет вспомогательную и необязательную функцию для принятия решений</a:t>
            </a:r>
          </a:p>
          <a:p>
            <a:r>
              <a:rPr lang="ru-RU" dirty="0"/>
              <a:t>Это то, как по факту сейчас выглядит аналитика данных в академической среде</a:t>
            </a:r>
          </a:p>
          <a:p>
            <a:endParaRPr lang="ru-RU" dirty="0"/>
          </a:p>
          <a:p>
            <a:pPr marL="0" indent="0">
              <a:buNone/>
            </a:pPr>
            <a:r>
              <a:rPr lang="ru-RU" b="1" dirty="0"/>
              <a:t>2.0 Большие данные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Сложные, большие и неструктурированные источники данных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Новые аналитические и вычислительные возможности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Появление «исследователей данных»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Продукты и услуги, основанные на данных, - источник прибыли</a:t>
            </a:r>
          </a:p>
          <a:p>
            <a:r>
              <a:rPr lang="ru-RU" dirty="0"/>
              <a:t>Создание продуктов и услуг, основанных на данных</a:t>
            </a:r>
          </a:p>
          <a:p>
            <a:r>
              <a:rPr lang="ru-RU" dirty="0"/>
              <a:t>Новые решения бизнеса и технологических лидеров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4ECBE7-4487-4615-A10C-5FECAADA1E8C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927201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4ECBE7-4487-4615-A10C-5FECAADA1E8C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1150531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Откуда появился тренд на использование больших данных?</a:t>
            </a:r>
          </a:p>
          <a:p>
            <a:r>
              <a:rPr lang="ru-RU" b="0" i="0" dirty="0">
                <a:effectLst/>
                <a:highlight>
                  <a:srgbClr val="191830"/>
                </a:highlight>
                <a:latin typeface="YS Text"/>
              </a:rPr>
              <a:t>Тренд на использование больших данных появился в 1960-70х годах с началом истории Центров обработки данных. </a:t>
            </a:r>
          </a:p>
          <a:p>
            <a:endParaRPr lang="ru-RU" b="0" i="0" dirty="0">
              <a:effectLst/>
              <a:highlight>
                <a:srgbClr val="191830"/>
              </a:highlight>
              <a:latin typeface="YS Text"/>
            </a:endParaRPr>
          </a:p>
          <a:p>
            <a:r>
              <a:rPr lang="ru-RU" b="0" i="0" dirty="0">
                <a:effectLst/>
                <a:highlight>
                  <a:srgbClr val="191830"/>
                </a:highlight>
                <a:latin typeface="YS Text"/>
              </a:rPr>
              <a:t>Первая платформа для работы с большими данными, </a:t>
            </a:r>
            <a:r>
              <a:rPr lang="ru-RU" b="0" i="0" dirty="0" err="1">
                <a:effectLst/>
                <a:highlight>
                  <a:srgbClr val="191830"/>
                </a:highlight>
                <a:latin typeface="YS Text"/>
              </a:rPr>
              <a:t>Hadoop</a:t>
            </a:r>
            <a:r>
              <a:rPr lang="ru-RU" b="0" i="0" dirty="0">
                <a:effectLst/>
                <a:highlight>
                  <a:srgbClr val="191830"/>
                </a:highlight>
                <a:latin typeface="YS Text"/>
              </a:rPr>
              <a:t>, была создана в 2005 году. </a:t>
            </a:r>
          </a:p>
          <a:p>
            <a:r>
              <a:rPr lang="ru-RU" b="0" i="0" dirty="0">
                <a:effectLst/>
                <a:highlight>
                  <a:srgbClr val="191830"/>
                </a:highlight>
                <a:latin typeface="YS Text"/>
              </a:rPr>
              <a:t>Термин Big Data впервые употребил в 2008 году редактор журнала Nature Клиффорд Линч, определив его как всю неоднородную информацию объёмом более 150 ГБ в сутки.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4ECBE7-4487-4615-A10C-5FECAADA1E8C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5982853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Что такое </a:t>
            </a:r>
            <a:r>
              <a:rPr lang="en-US" dirty="0" err="1"/>
              <a:t>BigData</a:t>
            </a:r>
            <a:r>
              <a:rPr lang="en-US" dirty="0"/>
              <a:t>?</a:t>
            </a:r>
            <a:endParaRPr lang="ru-RU" dirty="0"/>
          </a:p>
          <a:p>
            <a:pPr algn="l"/>
            <a:endParaRPr lang="ru-RU" dirty="0"/>
          </a:p>
          <a:p>
            <a:pPr algn="l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Volume –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объем,  а именно большое количество одномоментных данных внутри одного пакета (больше 150ГБ в пакете)</a:t>
            </a:r>
          </a:p>
          <a:p>
            <a:pPr algn="l"/>
            <a:endParaRPr lang="ru-RU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algn="l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Velocity –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скорость,  количество информации за единицу бизнес-времени (время обслуживания одного клиента, проведения экземпляра бизнес-процесса). (больше 8-16ГБ за один поток)</a:t>
            </a:r>
          </a:p>
          <a:p>
            <a:pPr algn="l"/>
            <a:endParaRPr lang="ru-RU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algn="l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Variety –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разнообразие,  а именно вариативность структуры данных, форматов и полей данных, а также разнообразие форматов представления информации.</a:t>
            </a:r>
          </a:p>
          <a:p>
            <a:pPr algn="l"/>
            <a:endParaRPr lang="ru-RU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algn="l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Variability –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изменчивость,  нестабильность поступления данных в зависимости от характерного распределения нагруженности сервиса или услуги (методы исследования операций)</a:t>
            </a:r>
          </a:p>
          <a:p>
            <a:pPr algn="l"/>
            <a:endParaRPr lang="ru-RU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algn="l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Value –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ценность,</a:t>
            </a:r>
          </a:p>
          <a:p>
            <a:pPr algn="l"/>
            <a:endParaRPr lang="ru-RU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algn="l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Veracity –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правдоподобие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4ECBE7-4487-4615-A10C-5FECAADA1E8C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3214075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4ECBE7-4487-4615-A10C-5FECAADA1E8C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9127918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/>
            <a:r>
              <a:rPr lang="ru-RU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Roboto Slab" panose="020F0502020204030204" pitchFamily="2" charset="0"/>
              </a:rPr>
              <a:t>Типовая архитектура </a:t>
            </a:r>
            <a:r>
              <a:rPr lang="ru-RU" b="0" i="0" dirty="0" err="1">
                <a:solidFill>
                  <a:srgbClr val="333333"/>
                </a:solidFill>
                <a:effectLst/>
                <a:highlight>
                  <a:srgbClr val="FFFFFF"/>
                </a:highlight>
                <a:latin typeface="Roboto Slab" panose="020F0502020204030204" pitchFamily="2" charset="0"/>
              </a:rPr>
              <a:t>IoT</a:t>
            </a:r>
            <a:r>
              <a:rPr lang="ru-RU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Roboto Slab" panose="020F0502020204030204" pitchFamily="2" charset="0"/>
              </a:rPr>
              <a:t>-систем состоит из следующих 3-х уровней </a:t>
            </a:r>
            <a:r>
              <a:rPr lang="ru-RU" b="1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Roboto Slab" panose="020F0502020204030204" pitchFamily="2" charset="0"/>
              </a:rPr>
              <a:t>[1]</a:t>
            </a:r>
            <a:r>
              <a:rPr lang="ru-RU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Roboto Slab" panose="020F0502020204030204" pitchFamily="2" charset="0"/>
              </a:rPr>
              <a:t>: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Roboto Slab" panose="020F0502020204030204" pitchFamily="2" charset="0"/>
              </a:rPr>
              <a:t>конечные устройства (вещи, </a:t>
            </a:r>
            <a:r>
              <a:rPr lang="ru-RU" b="1" i="0" dirty="0" err="1">
                <a:solidFill>
                  <a:srgbClr val="333333"/>
                </a:solidFill>
                <a:effectLst/>
                <a:highlight>
                  <a:srgbClr val="FFFFFF"/>
                </a:highlight>
                <a:latin typeface="Roboto Slab" panose="020F0502020204030204" pitchFamily="2" charset="0"/>
              </a:rPr>
              <a:t>Things</a:t>
            </a:r>
            <a:r>
              <a:rPr lang="ru-RU" b="1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Roboto Slab" panose="020F0502020204030204" pitchFamily="2" charset="0"/>
              </a:rPr>
              <a:t>) </a:t>
            </a:r>
            <a:r>
              <a:rPr lang="ru-RU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Roboto Slab" panose="020F0502020204030204" pitchFamily="2" charset="0"/>
              </a:rPr>
              <a:t>– датчики, сенсоры, контроллеры и прочее периферийное оборудование для измерения необходимых показателей и передачи этих данных в сеть по проводным или беспроводным протоколам (</a:t>
            </a:r>
            <a:r>
              <a:rPr lang="ru-RU" b="0" i="0" dirty="0" err="1">
                <a:solidFill>
                  <a:srgbClr val="333333"/>
                </a:solidFill>
                <a:effectLst/>
                <a:highlight>
                  <a:srgbClr val="FFFFFF"/>
                </a:highlight>
                <a:latin typeface="Roboto Slab" panose="020F0502020204030204" pitchFamily="2" charset="0"/>
              </a:rPr>
              <a:t>Serial</a:t>
            </a:r>
            <a:r>
              <a:rPr lang="ru-RU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Roboto Slab" panose="020F0502020204030204" pitchFamily="2" charset="0"/>
              </a:rPr>
              <a:t>, RS-485, MODBUS, CAN </a:t>
            </a:r>
            <a:r>
              <a:rPr lang="ru-RU" b="0" i="0" dirty="0" err="1">
                <a:solidFill>
                  <a:srgbClr val="333333"/>
                </a:solidFill>
                <a:effectLst/>
                <a:highlight>
                  <a:srgbClr val="FFFFFF"/>
                </a:highlight>
                <a:latin typeface="Roboto Slab" panose="020F0502020204030204" pitchFamily="2" charset="0"/>
              </a:rPr>
              <a:t>bus</a:t>
            </a:r>
            <a:r>
              <a:rPr lang="ru-RU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Roboto Slab" panose="020F0502020204030204" pitchFamily="2" charset="0"/>
              </a:rPr>
              <a:t>, OPC UA, BLE, WiFi, Bluetooth, </a:t>
            </a:r>
            <a:r>
              <a:rPr lang="ru-RU" b="0" i="0" u="none" strike="noStrike" dirty="0">
                <a:solidFill>
                  <a:srgbClr val="294A70"/>
                </a:solidFill>
                <a:effectLst/>
                <a:highlight>
                  <a:srgbClr val="FFFFFF"/>
                </a:highlight>
                <a:latin typeface="Roboto Slab" panose="020F0502020204030204" pitchFamily="2" charset="0"/>
                <a:hlinkClick r:id="rId3"/>
              </a:rPr>
              <a:t>6LoRaWAN</a:t>
            </a:r>
            <a:r>
              <a:rPr lang="ru-RU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Roboto Slab" panose="020F0502020204030204" pitchFamily="2" charset="0"/>
              </a:rPr>
              <a:t>, </a:t>
            </a:r>
            <a:r>
              <a:rPr lang="ru-RU" b="0" i="0" dirty="0" err="1">
                <a:solidFill>
                  <a:srgbClr val="333333"/>
                </a:solidFill>
                <a:effectLst/>
                <a:highlight>
                  <a:srgbClr val="FFFFFF"/>
                </a:highlight>
                <a:latin typeface="Roboto Slab" panose="020F0502020204030204" pitchFamily="2" charset="0"/>
              </a:rPr>
              <a:t>Sigfox</a:t>
            </a:r>
            <a:r>
              <a:rPr lang="ru-RU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Roboto Slab" panose="020F0502020204030204" pitchFamily="2" charset="0"/>
              </a:rPr>
              <a:t> и пр.). Поскольку каждая «порция» этой информации невелика по объему, такие данные называют малыми (Little Data).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Roboto Slab" panose="020F0502020204030204" pitchFamily="2" charset="0"/>
              </a:rPr>
              <a:t>сетевые шлюзы и хабы (Network)</a:t>
            </a:r>
            <a:r>
              <a:rPr lang="ru-RU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Roboto Slab" panose="020F0502020204030204" pitchFamily="2" charset="0"/>
              </a:rPr>
              <a:t>– роутеры, которые объединяют и подключают конечные устройства к облаку.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Roboto Slab" panose="020F0502020204030204" pitchFamily="2" charset="0"/>
              </a:rPr>
              <a:t>Облако (</a:t>
            </a:r>
            <a:r>
              <a:rPr lang="ru-RU" b="1" i="0" dirty="0" err="1">
                <a:solidFill>
                  <a:srgbClr val="333333"/>
                </a:solidFill>
                <a:effectLst/>
                <a:highlight>
                  <a:srgbClr val="FFFFFF"/>
                </a:highlight>
                <a:latin typeface="Roboto Slab" panose="020F0502020204030204" pitchFamily="2" charset="0"/>
              </a:rPr>
              <a:t>Cloud</a:t>
            </a:r>
            <a:r>
              <a:rPr lang="ru-RU" b="1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Roboto Slab" panose="020F0502020204030204" pitchFamily="2" charset="0"/>
              </a:rPr>
              <a:t>) </a:t>
            </a:r>
            <a:r>
              <a:rPr lang="ru-RU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Roboto Slab" panose="020F0502020204030204" pitchFamily="2" charset="0"/>
              </a:rPr>
              <a:t>– удаленный сервер в </a:t>
            </a:r>
            <a:r>
              <a:rPr lang="ru-RU" b="0" i="0" dirty="0" err="1">
                <a:solidFill>
                  <a:srgbClr val="333333"/>
                </a:solidFill>
                <a:effectLst/>
                <a:highlight>
                  <a:srgbClr val="FFFFFF"/>
                </a:highlight>
                <a:latin typeface="Roboto Slab" panose="020F0502020204030204" pitchFamily="2" charset="0"/>
              </a:rPr>
              <a:t>датацентре</a:t>
            </a:r>
            <a:r>
              <a:rPr lang="ru-RU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Roboto Slab" panose="020F0502020204030204" pitchFamily="2" charset="0"/>
              </a:rPr>
              <a:t>, обрабатывающий, анализирующий и надежно хранящий информацию. Именно здесь малые данные превращаются в Big Data, когда консолидируется множество информационных потоков с различных устройств. Так интернет вещей становится «интеллектуальным», поскольку подключаются средства анализа данных, в т.ч. с использованием методов машинного обучения (</a:t>
            </a:r>
            <a:r>
              <a:rPr lang="ru-RU" b="0" i="0" u="none" strike="noStrike" dirty="0">
                <a:solidFill>
                  <a:srgbClr val="294A70"/>
                </a:solidFill>
                <a:effectLst/>
                <a:highlight>
                  <a:srgbClr val="FFFFFF"/>
                </a:highlight>
                <a:latin typeface="Roboto Slab" panose="020F0502020204030204" pitchFamily="2" charset="0"/>
                <a:hlinkClick r:id="rId4"/>
              </a:rPr>
              <a:t>Machine Learning</a:t>
            </a:r>
            <a:r>
              <a:rPr lang="ru-RU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Roboto Slab" panose="020F0502020204030204" pitchFamily="2" charset="0"/>
              </a:rPr>
              <a:t>). Это позволяет эффективно и удаленно управлять техникой, на которой установлены конечные устройства. Например, если датчики уровня вибрации оборудования показывают превышение допустимых значений, можно заранее спланировать профилактический ремонт и избежать поломки дорогостоящих инструментов.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4ECBE7-4487-4615-A10C-5FECAADA1E8C}" type="slidenum">
              <a:rPr lang="ru-RU" smtClean="0"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3032941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/>
            <a:r>
              <a:rPr lang="ru-RU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Roboto Slab" pitchFamily="2" charset="0"/>
              </a:rPr>
              <a:t>Часто для анализа пользовательских сеансов в пакетном режиме используются такие Big Data технологии, как Apache </a:t>
            </a:r>
            <a:r>
              <a:rPr lang="ru-RU" b="0" i="0" dirty="0" err="1">
                <a:solidFill>
                  <a:srgbClr val="333333"/>
                </a:solidFill>
                <a:effectLst/>
                <a:highlight>
                  <a:srgbClr val="FFFFFF"/>
                </a:highlight>
                <a:latin typeface="Roboto Slab" pitchFamily="2" charset="0"/>
              </a:rPr>
              <a:t>Kafka</a:t>
            </a:r>
            <a:r>
              <a:rPr lang="ru-RU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Roboto Slab" pitchFamily="2" charset="0"/>
              </a:rPr>
              <a:t>, </a:t>
            </a:r>
            <a:r>
              <a:rPr lang="ru-RU" b="0" i="0" dirty="0" err="1">
                <a:solidFill>
                  <a:srgbClr val="333333"/>
                </a:solidFill>
                <a:effectLst/>
                <a:highlight>
                  <a:srgbClr val="FFFFFF"/>
                </a:highlight>
                <a:latin typeface="Roboto Slab" pitchFamily="2" charset="0"/>
              </a:rPr>
              <a:t>Hadoop</a:t>
            </a:r>
            <a:r>
              <a:rPr lang="ru-RU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Roboto Slab" pitchFamily="2" charset="0"/>
              </a:rPr>
              <a:t>, Spark и </a:t>
            </a:r>
            <a:r>
              <a:rPr lang="ru-RU" b="0" i="0" dirty="0" err="1">
                <a:solidFill>
                  <a:srgbClr val="333333"/>
                </a:solidFill>
                <a:effectLst/>
                <a:highlight>
                  <a:srgbClr val="FFFFFF"/>
                </a:highlight>
                <a:latin typeface="Roboto Slab" pitchFamily="2" charset="0"/>
              </a:rPr>
              <a:t>Oozie</a:t>
            </a:r>
            <a:r>
              <a:rPr lang="ru-RU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Roboto Slab" pitchFamily="2" charset="0"/>
              </a:rPr>
              <a:t>. В этом случае система </a:t>
            </a:r>
            <a:r>
              <a:rPr lang="ru-RU" b="0" i="0" u="none" strike="noStrike" dirty="0">
                <a:solidFill>
                  <a:srgbClr val="294A70"/>
                </a:solidFill>
                <a:effectLst/>
                <a:highlight>
                  <a:srgbClr val="FFFFFF"/>
                </a:highlight>
                <a:latin typeface="Roboto Slab" pitchFamily="2" charset="0"/>
                <a:hlinkClick r:id="rId3"/>
              </a:rPr>
              <a:t>аналитики больших данных</a:t>
            </a:r>
            <a:r>
              <a:rPr lang="ru-RU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Roboto Slab" pitchFamily="2" charset="0"/>
              </a:rPr>
              <a:t> работает следующим образом: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Roboto Slab" pitchFamily="2" charset="0"/>
              </a:rPr>
              <a:t>сперва выполняется сбор данные о пользовательском поведении – события об активности пользователей непрерывно отправляются в Apache </a:t>
            </a:r>
            <a:r>
              <a:rPr lang="ru-RU" b="0" i="0" dirty="0" err="1">
                <a:solidFill>
                  <a:srgbClr val="333333"/>
                </a:solidFill>
                <a:effectLst/>
                <a:highlight>
                  <a:srgbClr val="FFFFFF"/>
                </a:highlight>
                <a:latin typeface="Roboto Slab" pitchFamily="2" charset="0"/>
              </a:rPr>
              <a:t>Kafka</a:t>
            </a:r>
            <a:r>
              <a:rPr lang="ru-RU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Roboto Slab" pitchFamily="2" charset="0"/>
              </a:rPr>
              <a:t> в режиме реального времени$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Roboto Slab" pitchFamily="2" charset="0"/>
              </a:rPr>
              <a:t>для периодического копирования событий из </a:t>
            </a:r>
            <a:r>
              <a:rPr lang="ru-RU" b="0" i="0" dirty="0" err="1">
                <a:solidFill>
                  <a:srgbClr val="333333"/>
                </a:solidFill>
                <a:effectLst/>
                <a:highlight>
                  <a:srgbClr val="FFFFFF"/>
                </a:highlight>
                <a:latin typeface="Roboto Slab" pitchFamily="2" charset="0"/>
              </a:rPr>
              <a:t>Kafka</a:t>
            </a:r>
            <a:r>
              <a:rPr lang="ru-RU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Roboto Slab" pitchFamily="2" charset="0"/>
              </a:rPr>
              <a:t> в </a:t>
            </a:r>
            <a:r>
              <a:rPr lang="ru-RU" b="0" i="0" u="none" strike="noStrike" dirty="0">
                <a:solidFill>
                  <a:srgbClr val="294A70"/>
                </a:solidFill>
                <a:effectLst/>
                <a:highlight>
                  <a:srgbClr val="FFFFFF"/>
                </a:highlight>
                <a:latin typeface="Roboto Slab" pitchFamily="2" charset="0"/>
                <a:hlinkClick r:id="rId4"/>
              </a:rPr>
              <a:t>HDFS</a:t>
            </a:r>
            <a:r>
              <a:rPr lang="ru-RU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Roboto Slab" pitchFamily="2" charset="0"/>
              </a:rPr>
              <a:t> (система </a:t>
            </a:r>
            <a:r>
              <a:rPr lang="ru-RU" b="0" i="0" dirty="0" err="1">
                <a:solidFill>
                  <a:srgbClr val="333333"/>
                </a:solidFill>
                <a:effectLst/>
                <a:highlight>
                  <a:srgbClr val="FFFFFF"/>
                </a:highlight>
                <a:latin typeface="Roboto Slab" pitchFamily="2" charset="0"/>
              </a:rPr>
              <a:t>Hadoop</a:t>
            </a:r>
            <a:r>
              <a:rPr lang="ru-RU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Roboto Slab" pitchFamily="2" charset="0"/>
              </a:rPr>
              <a:t>), например, каждый час используется пакетный инструмент, такой как </a:t>
            </a:r>
            <a:r>
              <a:rPr lang="ru-RU" b="0" i="0" dirty="0" err="1">
                <a:solidFill>
                  <a:srgbClr val="333333"/>
                </a:solidFill>
                <a:effectLst/>
                <a:highlight>
                  <a:srgbClr val="FFFFFF"/>
                </a:highlight>
                <a:latin typeface="Roboto Slab" pitchFamily="2" charset="0"/>
              </a:rPr>
              <a:t>Camus</a:t>
            </a:r>
            <a:r>
              <a:rPr lang="ru-RU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Roboto Slab" pitchFamily="2" charset="0"/>
              </a:rPr>
              <a:t> или </a:t>
            </a:r>
            <a:r>
              <a:rPr lang="ru-RU" b="0" i="0" dirty="0" err="1">
                <a:solidFill>
                  <a:srgbClr val="333333"/>
                </a:solidFill>
                <a:effectLst/>
                <a:highlight>
                  <a:srgbClr val="FFFFFF"/>
                </a:highlight>
                <a:latin typeface="Roboto Slab" pitchFamily="2" charset="0"/>
              </a:rPr>
              <a:t>Oozie</a:t>
            </a:r>
            <a:r>
              <a:rPr lang="ru-RU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Roboto Slab" pitchFamily="2" charset="0"/>
              </a:rPr>
              <a:t>;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Roboto Slab" pitchFamily="2" charset="0"/>
              </a:rPr>
              <a:t>Spark запускает пакетные задания для группировки отдельных пользовательских событий в пользовательские сеансы. В </a:t>
            </a:r>
            <a:r>
              <a:rPr lang="ru-RU" b="0" i="0" dirty="0" err="1">
                <a:solidFill>
                  <a:srgbClr val="333333"/>
                </a:solidFill>
                <a:effectLst/>
                <a:highlight>
                  <a:srgbClr val="FFFFFF"/>
                </a:highlight>
                <a:latin typeface="Roboto Slab" pitchFamily="2" charset="0"/>
              </a:rPr>
              <a:t>Spotify</a:t>
            </a:r>
            <a:r>
              <a:rPr lang="ru-RU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Roboto Slab" pitchFamily="2" charset="0"/>
              </a:rPr>
              <a:t> сессия одного пользователя может длиться много часов, к примеру, при прослушивании музыки в долгих поездках. Это усложняет процесс создания полных и правильных пользовательских сессий, т.к. события одного и того же пользовательского сеанса могут располагаться в разных часовых сегментах, которые неизвестны заранее.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Roboto Slab" pitchFamily="2" charset="0"/>
              </a:rPr>
              <a:t>для смягчения этой проблемы задание Spark может запускаться ежедневно, например, в полночь, обрабатывая последние 24-часовые сегменты, чтобы создать набор данных с пользовательскими сеансами за определенный день. Такой подход гарантирует полноту и корректность созданных пользовательских сеансов.</a:t>
            </a:r>
          </a:p>
          <a:p>
            <a:endParaRPr lang="ru-RU" dirty="0"/>
          </a:p>
          <a:p>
            <a:endParaRPr lang="ru-RU" dirty="0"/>
          </a:p>
          <a:p>
            <a:r>
              <a:rPr lang="ru-RU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Roboto Slab" pitchFamily="2" charset="0"/>
              </a:rPr>
              <a:t>Самый простой способ уменьшить задержку и сократить цикл обратной связи — использовать </a:t>
            </a:r>
            <a:r>
              <a:rPr lang="ru-RU" b="0" i="0" u="none" strike="noStrike" dirty="0">
                <a:solidFill>
                  <a:srgbClr val="294A70"/>
                </a:solidFill>
                <a:effectLst/>
                <a:highlight>
                  <a:srgbClr val="FFFFFF"/>
                </a:highlight>
                <a:latin typeface="Roboto Slab" pitchFamily="2" charset="0"/>
                <a:hlinkClick r:id="rId5"/>
              </a:rPr>
              <a:t>Spark </a:t>
            </a:r>
            <a:r>
              <a:rPr lang="ru-RU" b="0" i="0" u="none" strike="noStrike" dirty="0" err="1">
                <a:solidFill>
                  <a:srgbClr val="294A70"/>
                </a:solidFill>
                <a:effectLst/>
                <a:highlight>
                  <a:srgbClr val="FFFFFF"/>
                </a:highlight>
                <a:latin typeface="Roboto Slab" pitchFamily="2" charset="0"/>
                <a:hlinkClick r:id="rId5"/>
              </a:rPr>
              <a:t>Streaming</a:t>
            </a:r>
            <a:r>
              <a:rPr lang="ru-RU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Roboto Slab" pitchFamily="2" charset="0"/>
              </a:rPr>
              <a:t>. Непрерывное выполнение задания потоковой передачи Spark позволяет исключить </a:t>
            </a:r>
            <a:r>
              <a:rPr lang="ru-RU" b="0" i="0" dirty="0" err="1">
                <a:solidFill>
                  <a:srgbClr val="333333"/>
                </a:solidFill>
                <a:effectLst/>
                <a:highlight>
                  <a:srgbClr val="FFFFFF"/>
                </a:highlight>
                <a:latin typeface="Roboto Slab" pitchFamily="2" charset="0"/>
              </a:rPr>
              <a:t>Camus</a:t>
            </a:r>
            <a:r>
              <a:rPr lang="ru-RU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Roboto Slab" pitchFamily="2" charset="0"/>
              </a:rPr>
              <a:t>, </a:t>
            </a:r>
            <a:r>
              <a:rPr lang="ru-RU" b="0" i="0" dirty="0" err="1">
                <a:solidFill>
                  <a:srgbClr val="333333"/>
                </a:solidFill>
                <a:effectLst/>
                <a:highlight>
                  <a:srgbClr val="FFFFFF"/>
                </a:highlight>
                <a:latin typeface="Roboto Slab" pitchFamily="2" charset="0"/>
              </a:rPr>
              <a:t>Oozie</a:t>
            </a:r>
            <a:r>
              <a:rPr lang="ru-RU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Roboto Slab" pitchFamily="2" charset="0"/>
              </a:rPr>
              <a:t> и разделение данных в </a:t>
            </a:r>
            <a:r>
              <a:rPr lang="ru-RU" b="0" i="0" dirty="0" err="1">
                <a:solidFill>
                  <a:srgbClr val="333333"/>
                </a:solidFill>
                <a:effectLst/>
                <a:highlight>
                  <a:srgbClr val="FFFFFF"/>
                </a:highlight>
                <a:latin typeface="Roboto Slab" pitchFamily="2" charset="0"/>
              </a:rPr>
              <a:t>Hadoop</a:t>
            </a:r>
            <a:r>
              <a:rPr lang="ru-RU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Roboto Slab" pitchFamily="2" charset="0"/>
              </a:rPr>
              <a:t> HDFS. Также можно быстрее получать результаты, настроив задание Spark </a:t>
            </a:r>
            <a:r>
              <a:rPr lang="ru-RU" b="0" i="0" dirty="0" err="1">
                <a:solidFill>
                  <a:srgbClr val="333333"/>
                </a:solidFill>
                <a:effectLst/>
                <a:highlight>
                  <a:srgbClr val="FFFFFF"/>
                </a:highlight>
                <a:latin typeface="Roboto Slab" pitchFamily="2" charset="0"/>
              </a:rPr>
              <a:t>Streaming</a:t>
            </a:r>
            <a:r>
              <a:rPr lang="ru-RU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Roboto Slab" pitchFamily="2" charset="0"/>
              </a:rPr>
              <a:t> для обработки всех новых событий небольшими пакетами каждые 10 минут или даже ежеминутно.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4ECBE7-4487-4615-A10C-5FECAADA1E8C}" type="slidenum">
              <a:rPr lang="ru-RU" smtClean="0"/>
              <a:t>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4553881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</a:rPr>
              <a:t>В 2019 году объем глобального рынка Big Data и бизнес-аналитики достиг 168,8 млрд долларов. В соответствии с оценкой, по итогам 2020 года объём глобального рынка больших данных увеличился на 12%, по сравнению с показателями предыдущего года, и достиг 189,1 млрд долл. Кроме того, в период 2018-2022 гг. предполагается рост рынка со среднегодовым темпом (CAGR) на уровне 13,2%. Таким образом, объем рынка может увеличиться до 274,3 млрд долл. к 2022 году.</a:t>
            </a:r>
            <a:br>
              <a:rPr lang="ru-RU" dirty="0"/>
            </a:br>
            <a:br>
              <a:rPr lang="ru-RU" dirty="0"/>
            </a:br>
            <a:r>
              <a:rPr lang="ru-RU" b="0" i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</a:rPr>
              <a:t>ResearchAndMarkets</a:t>
            </a:r>
            <a:r>
              <a:rPr lang="ru-RU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</a:rPr>
              <a:t> прогнозирует возможные темпы роста глобального рынка Big </a:t>
            </a:r>
            <a:r>
              <a:rPr lang="ru-RU" b="0" i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</a:rPr>
              <a:t>data</a:t>
            </a:r>
            <a:r>
              <a:rPr lang="ru-RU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</a:rPr>
              <a:t> на уровне 19,7% ежегодно на период 2019-2025 годов.</a:t>
            </a:r>
            <a:br>
              <a:rPr lang="ru-RU" dirty="0"/>
            </a:br>
            <a:br>
              <a:rPr lang="ru-RU" dirty="0"/>
            </a:br>
            <a:r>
              <a:rPr lang="ru-RU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</a:rPr>
              <a:t>С географической точки зрения по результатам 2020 года наиболее крупным стал рынок США с объемом доходов в 100 млрд долл. Второе и третье место по объему заняли Япония (9,6 млрд долл.) и Великобритания (9,2 млрд </a:t>
            </a:r>
            <a:r>
              <a:rPr lang="ru-RU" b="0" i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</a:rPr>
              <a:t>долл</a:t>
            </a:r>
            <a:r>
              <a:rPr lang="ru-RU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</a:rPr>
              <a:t>). Также в пятерку крупнейших рынков вошли КНР (8,6 млрд долл.) и Германия (7,9 млрд долл.).</a:t>
            </a:r>
            <a:br>
              <a:rPr lang="ru-RU" dirty="0"/>
            </a:br>
            <a:br>
              <a:rPr lang="ru-RU" dirty="0"/>
            </a:br>
            <a:r>
              <a:rPr lang="ru-RU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</a:rPr>
              <a:t>В Аргентине и Вьетнаме наблюдаются наиболее высокие показатели прироста за пятилетний период (</a:t>
            </a:r>
            <a:r>
              <a:rPr lang="ru-RU" b="0" i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</a:rPr>
              <a:t>CAGRs</a:t>
            </a:r>
            <a:r>
              <a:rPr lang="ru-RU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</a:rPr>
              <a:t> – 23,1% и 19,4%). Третье место по уровню CAGR занял Китай (19,2%), что к 2022 году может обеспечить выход этой страны на второе место по уровню доходов.</a:t>
            </a:r>
            <a:endParaRPr lang="en-US" b="0" i="0" dirty="0">
              <a:solidFill>
                <a:srgbClr val="000000"/>
              </a:solidFill>
              <a:effectLst/>
              <a:highlight>
                <a:srgbClr val="FFFFFF"/>
              </a:highlight>
              <a:latin typeface="Times New Roman" panose="02020603050405020304" pitchFamily="18" charset="0"/>
            </a:endParaRPr>
          </a:p>
          <a:p>
            <a:endParaRPr lang="en-US" b="0" i="0" dirty="0">
              <a:solidFill>
                <a:srgbClr val="000000"/>
              </a:solidFill>
              <a:effectLst/>
              <a:highlight>
                <a:srgbClr val="FFFFFF"/>
              </a:highlight>
              <a:latin typeface="Times New Roman" panose="02020603050405020304" pitchFamily="18" charset="0"/>
            </a:endParaRPr>
          </a:p>
          <a:p>
            <a:r>
              <a:rPr lang="ru-RU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</a:rPr>
              <a:t>Российский рынок пока занимает незначительную долю в мировом предложении и потреблении информационных технологий. Однако в 2018-2019 гг. было принято немало решений и реализовано достаточное количество законодательных инициатив, способствующих развитию отечественного рынка Big Data.</a:t>
            </a:r>
            <a:br>
              <a:rPr lang="ru-RU" dirty="0"/>
            </a:br>
            <a:br>
              <a:rPr lang="ru-RU" dirty="0"/>
            </a:br>
            <a:r>
              <a:rPr lang="ru-RU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</a:rPr>
              <a:t>По результатам опроса, проведенного International Data Corporation (IDC) и Hitachi </a:t>
            </a:r>
            <a:r>
              <a:rPr lang="ru-RU" b="0" i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</a:rPr>
              <a:t>Vantara</a:t>
            </a:r>
            <a:r>
              <a:rPr lang="ru-RU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</a:rPr>
              <a:t> в ходе исследования «Аналитика больших данных как инструмент бизнес-инноваций», более 55% российских организаций выделяют бюджет на внедрение технологий больших данных (участие приняли более 100 компаний со штатом от 500 чел.).</a:t>
            </a:r>
            <a:br>
              <a:rPr lang="ru-RU" dirty="0"/>
            </a:br>
            <a:br>
              <a:rPr lang="ru-RU" dirty="0"/>
            </a:br>
            <a:r>
              <a:rPr lang="ru-RU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</a:rPr>
              <a:t>По состоянию на конец 2020 год Boston Consulting Group оценивает объем российского рынка больших данных в 45 млрд руб. с темпом прироста 12% в течение последних пяти лет.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4ECBE7-4487-4615-A10C-5FECAADA1E8C}" type="slidenum">
              <a:rPr lang="ru-RU" smtClean="0"/>
              <a:t>19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6888855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4ECBE7-4487-4615-A10C-5FECAADA1E8C}" type="slidenum">
              <a:rPr lang="ru-RU" smtClean="0"/>
              <a:t>20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0874540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fontAlgn="base"/>
            <a:r>
              <a:rPr lang="ru-RU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Ассоциация больших данных, как основной центр экспертизы в области данных и интересант создания благоприятных условий для развития технологий и продуктов в сфере Big Data в России, взяла на себя исследование индустрии и разработала </a:t>
            </a:r>
            <a:r>
              <a:rPr lang="ru-RU" b="1" i="0" u="sng" dirty="0">
                <a:solidFill>
                  <a:srgbClr val="001689"/>
                </a:solidFill>
                <a:effectLst/>
                <a:latin typeface="Roboto" panose="02000000000000000000" pitchFamily="2" charset="0"/>
                <a:hlinkClick r:id="rId3"/>
              </a:rPr>
              <a:t>Стратегию развития рынка больших данных 2024</a:t>
            </a:r>
            <a:r>
              <a:rPr lang="ru-RU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.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4ECBE7-4487-4615-A10C-5FECAADA1E8C}" type="slidenum">
              <a:rPr lang="ru-RU" smtClean="0"/>
              <a:t>21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1989493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4ECBE7-4487-4615-A10C-5FECAADA1E8C}" type="slidenum">
              <a:rPr lang="ru-RU" smtClean="0"/>
              <a:t>22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3733533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4ECBE7-4487-4615-A10C-5FECAADA1E8C}" type="slidenum">
              <a:rPr lang="ru-RU" smtClean="0"/>
              <a:t>23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6197231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ru-RU" b="0" i="0" dirty="0">
              <a:effectLst/>
              <a:latin typeface="YS Text"/>
            </a:endParaRPr>
          </a:p>
          <a:p>
            <a:pPr algn="l"/>
            <a:r>
              <a:rPr lang="ru-RU" b="0" i="0" dirty="0">
                <a:effectLst/>
                <a:latin typeface="YS Text"/>
              </a:rPr>
              <a:t>Выбрать </a:t>
            </a:r>
            <a:r>
              <a:rPr lang="ru-RU" b="0" i="0" dirty="0" err="1">
                <a:effectLst/>
                <a:latin typeface="YS Text"/>
              </a:rPr>
              <a:t>NoSQL</a:t>
            </a:r>
            <a:r>
              <a:rPr lang="ru-RU" b="0" i="0" dirty="0">
                <a:effectLst/>
                <a:latin typeface="YS Text"/>
              </a:rPr>
              <a:t> стоит в тех случаях, когда:</a:t>
            </a:r>
          </a:p>
          <a:p>
            <a:pPr algn="l">
              <a:buFont typeface="Arial" panose="020B0604020202020204" pitchFamily="34" charset="0"/>
              <a:buNone/>
            </a:pPr>
            <a:r>
              <a:rPr lang="en-US" b="0" i="0" dirty="0">
                <a:effectLst/>
                <a:latin typeface="YS Text"/>
              </a:rPr>
              <a:t>- </a:t>
            </a:r>
            <a:r>
              <a:rPr lang="ru-RU" b="0" i="0" dirty="0">
                <a:effectLst/>
                <a:latin typeface="YS Text"/>
              </a:rPr>
              <a:t>нужно хранить большие объёмы неструктурированных или быстро меняющихся данных;</a:t>
            </a:r>
          </a:p>
          <a:p>
            <a:pPr algn="l">
              <a:buFont typeface="Arial" panose="020B0604020202020204" pitchFamily="34" charset="0"/>
              <a:buNone/>
            </a:pPr>
            <a:r>
              <a:rPr lang="en-US" b="0" i="0" dirty="0">
                <a:effectLst/>
                <a:latin typeface="YS Text"/>
              </a:rPr>
              <a:t>- </a:t>
            </a:r>
            <a:r>
              <a:rPr lang="ru-RU" b="0" i="0" dirty="0">
                <a:effectLst/>
                <a:latin typeface="YS Text"/>
              </a:rPr>
              <a:t>нет возможности описать схему СУБД до начала проектирования базы данных или предполагается, что в процессе работы архитектура хранилища будет меняться;</a:t>
            </a:r>
          </a:p>
          <a:p>
            <a:pPr algn="l">
              <a:buFont typeface="Arial" panose="020B0604020202020204" pitchFamily="34" charset="0"/>
              <a:buNone/>
            </a:pPr>
            <a:r>
              <a:rPr lang="en-US" b="0" i="0" dirty="0">
                <a:effectLst/>
                <a:latin typeface="YS Text"/>
              </a:rPr>
              <a:t>- </a:t>
            </a:r>
            <a:r>
              <a:rPr lang="ru-RU" b="0" i="0" dirty="0">
                <a:effectLst/>
                <a:latin typeface="YS Text"/>
              </a:rPr>
              <a:t>необходимо быстро без большой предварительной подготовки запустить прототип продукта;</a:t>
            </a:r>
          </a:p>
          <a:p>
            <a:pPr algn="l">
              <a:buFont typeface="Arial" panose="020B0604020202020204" pitchFamily="34" charset="0"/>
              <a:buNone/>
            </a:pPr>
            <a:r>
              <a:rPr lang="en-US" b="0" i="0" dirty="0">
                <a:effectLst/>
                <a:latin typeface="YS Text"/>
              </a:rPr>
              <a:t>- </a:t>
            </a:r>
            <a:r>
              <a:rPr lang="ru-RU" b="0" i="0" dirty="0">
                <a:effectLst/>
                <a:latin typeface="YS Text"/>
              </a:rPr>
              <a:t>требуется высокая масштабируемость системы без лишних </a:t>
            </a:r>
            <a:r>
              <a:rPr lang="ru-RU" b="0" i="0" dirty="0" err="1">
                <a:effectLst/>
                <a:latin typeface="YS Text"/>
              </a:rPr>
              <a:t>ресурсозатрат</a:t>
            </a:r>
            <a:r>
              <a:rPr lang="ru-RU" b="0" i="0" dirty="0">
                <a:effectLst/>
                <a:latin typeface="YS Text"/>
              </a:rPr>
              <a:t>;</a:t>
            </a:r>
          </a:p>
          <a:p>
            <a:pPr algn="l">
              <a:buFont typeface="Arial" panose="020B0604020202020204" pitchFamily="34" charset="0"/>
              <a:buNone/>
            </a:pPr>
            <a:r>
              <a:rPr lang="en-US" b="0" i="0" dirty="0">
                <a:effectLst/>
                <a:latin typeface="YS Text"/>
              </a:rPr>
              <a:t>- </a:t>
            </a:r>
            <a:r>
              <a:rPr lang="ru-RU" b="0" i="0" dirty="0">
                <a:effectLst/>
                <a:latin typeface="YS Text"/>
              </a:rPr>
              <a:t>строгой согласованностью можно пожертвовать ради производительности и доступности.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4ECBE7-4487-4615-A10C-5FECAADA1E8C}" type="slidenum">
              <a:rPr lang="ru-RU" smtClean="0"/>
              <a:t>26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638331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b="0" i="0" dirty="0" err="1">
                <a:solidFill>
                  <a:srgbClr val="000000"/>
                </a:solidFill>
                <a:effectLst/>
                <a:highlight>
                  <a:srgbClr val="F8F9FA"/>
                </a:highlight>
                <a:latin typeface="Arial" panose="020B0604020202020204" pitchFamily="34" charset="0"/>
              </a:rPr>
              <a:t>Графовые</a:t>
            </a:r>
            <a:r>
              <a:rPr lang="ru-RU" b="0" i="0" dirty="0">
                <a:solidFill>
                  <a:srgbClr val="000000"/>
                </a:solidFill>
                <a:effectLst/>
                <a:highlight>
                  <a:srgbClr val="F8F9FA"/>
                </a:highlight>
                <a:latin typeface="Arial" panose="020B0604020202020204" pitchFamily="34" charset="0"/>
              </a:rPr>
              <a:t> БД</a:t>
            </a:r>
          </a:p>
          <a:p>
            <a:r>
              <a:rPr lang="en-US" b="0" i="0" dirty="0">
                <a:solidFill>
                  <a:srgbClr val="000000"/>
                </a:solidFill>
                <a:effectLst/>
                <a:highlight>
                  <a:srgbClr val="F8F9FA"/>
                </a:highlight>
                <a:latin typeface="Arial" panose="020B0604020202020204" pitchFamily="34" charset="0"/>
              </a:rPr>
              <a:t>NEO4j – 2007</a:t>
            </a:r>
          </a:p>
          <a:p>
            <a:r>
              <a:rPr lang="en-US" b="0" i="0" dirty="0" err="1">
                <a:solidFill>
                  <a:srgbClr val="000000"/>
                </a:solidFill>
                <a:effectLst/>
                <a:highlight>
                  <a:srgbClr val="F8F9FA"/>
                </a:highlight>
                <a:latin typeface="Arial" panose="020B0604020202020204" pitchFamily="34" charset="0"/>
              </a:rPr>
              <a:t>OrientDB</a:t>
            </a:r>
            <a:r>
              <a:rPr lang="en-US" b="0" i="0" dirty="0">
                <a:solidFill>
                  <a:srgbClr val="000000"/>
                </a:solidFill>
                <a:effectLst/>
                <a:highlight>
                  <a:srgbClr val="F8F9FA"/>
                </a:highlight>
                <a:latin typeface="Arial" panose="020B0604020202020204" pitchFamily="34" charset="0"/>
              </a:rPr>
              <a:t> - 2010</a:t>
            </a:r>
          </a:p>
          <a:p>
            <a:endParaRPr lang="en-US" b="0" i="0" dirty="0">
              <a:solidFill>
                <a:srgbClr val="000000"/>
              </a:solidFill>
              <a:effectLst/>
              <a:highlight>
                <a:srgbClr val="F8F9FA"/>
              </a:highlight>
              <a:latin typeface="Arial" panose="020B0604020202020204" pitchFamily="34" charset="0"/>
            </a:endParaRPr>
          </a:p>
          <a:p>
            <a:r>
              <a:rPr lang="ru-RU" b="0" i="0" dirty="0">
                <a:solidFill>
                  <a:srgbClr val="000000"/>
                </a:solidFill>
                <a:effectLst/>
                <a:highlight>
                  <a:srgbClr val="F8F9FA"/>
                </a:highlight>
                <a:latin typeface="Arial" panose="020B0604020202020204" pitchFamily="34" charset="0"/>
              </a:rPr>
              <a:t>Файл-ориентированные БД</a:t>
            </a:r>
            <a:endParaRPr lang="en-US" b="0" i="0" dirty="0">
              <a:solidFill>
                <a:srgbClr val="000000"/>
              </a:solidFill>
              <a:effectLst/>
              <a:highlight>
                <a:srgbClr val="F8F9FA"/>
              </a:highlight>
              <a:latin typeface="Arial" panose="020B0604020202020204" pitchFamily="34" charset="0"/>
            </a:endParaRPr>
          </a:p>
          <a:p>
            <a:r>
              <a:rPr lang="en-US" b="1" i="0" dirty="0">
                <a:solidFill>
                  <a:srgbClr val="000000"/>
                </a:solidFill>
                <a:effectLst/>
                <a:highlight>
                  <a:srgbClr val="F8F9FA"/>
                </a:highlight>
                <a:latin typeface="Arial" panose="020B0604020202020204" pitchFamily="34" charset="0"/>
              </a:rPr>
              <a:t>Apache CouchDB 2005</a:t>
            </a:r>
          </a:p>
          <a:p>
            <a:r>
              <a:rPr lang="en-US" b="1" i="0" dirty="0" err="1">
                <a:solidFill>
                  <a:srgbClr val="000000"/>
                </a:solidFill>
                <a:effectLst/>
                <a:highlight>
                  <a:srgbClr val="F8F9FA"/>
                </a:highlight>
                <a:latin typeface="Arial" panose="020B0604020202020204" pitchFamily="34" charset="0"/>
              </a:rPr>
              <a:t>Mongodb</a:t>
            </a:r>
            <a:r>
              <a:rPr lang="en-US" b="1" i="0" dirty="0">
                <a:solidFill>
                  <a:srgbClr val="000000"/>
                </a:solidFill>
                <a:effectLst/>
                <a:highlight>
                  <a:srgbClr val="F8F9FA"/>
                </a:highlight>
                <a:latin typeface="Arial" panose="020B0604020202020204" pitchFamily="34" charset="0"/>
              </a:rPr>
              <a:t> 2009</a:t>
            </a:r>
          </a:p>
          <a:p>
            <a:r>
              <a:rPr lang="en-US" b="1" i="0" dirty="0">
                <a:solidFill>
                  <a:srgbClr val="000000"/>
                </a:solidFill>
                <a:effectLst/>
                <a:highlight>
                  <a:srgbClr val="F8F9FA"/>
                </a:highlight>
                <a:latin typeface="Arial" panose="020B0604020202020204" pitchFamily="34" charset="0"/>
              </a:rPr>
              <a:t>Elasticsearch 2010</a:t>
            </a:r>
            <a:endParaRPr lang="ru-RU" b="1" i="0" dirty="0">
              <a:solidFill>
                <a:srgbClr val="000000"/>
              </a:solidFill>
              <a:effectLst/>
              <a:highlight>
                <a:srgbClr val="F8F9FA"/>
              </a:highlight>
              <a:latin typeface="Arial" panose="020B0604020202020204" pitchFamily="34" charset="0"/>
            </a:endParaRPr>
          </a:p>
          <a:p>
            <a:r>
              <a:rPr lang="en-US" b="1" i="0" dirty="0">
                <a:solidFill>
                  <a:srgbClr val="000000"/>
                </a:solidFill>
                <a:effectLst/>
                <a:highlight>
                  <a:srgbClr val="F8F9FA"/>
                </a:highlight>
                <a:latin typeface="Arial" panose="020B0604020202020204" pitchFamily="34" charset="0"/>
              </a:rPr>
              <a:t>Amazon DynamoDB 2012</a:t>
            </a:r>
          </a:p>
          <a:p>
            <a:endParaRPr lang="en-US" dirty="0"/>
          </a:p>
          <a:p>
            <a:r>
              <a:rPr lang="ru-RU" dirty="0"/>
              <a:t>БД ключ-значение</a:t>
            </a:r>
          </a:p>
          <a:p>
            <a:r>
              <a:rPr lang="en-US" dirty="0"/>
              <a:t>Redis</a:t>
            </a:r>
          </a:p>
          <a:p>
            <a:r>
              <a:rPr lang="en-US" dirty="0"/>
              <a:t>DynamoDB</a:t>
            </a:r>
          </a:p>
          <a:p>
            <a:r>
              <a:rPr lang="en-US" dirty="0" err="1"/>
              <a:t>Riak</a:t>
            </a:r>
            <a:r>
              <a:rPr lang="en-US" dirty="0"/>
              <a:t> – (</a:t>
            </a:r>
            <a:r>
              <a:rPr lang="ru-RU" dirty="0"/>
              <a:t>синхронизация данных в ЦОДах</a:t>
            </a:r>
            <a:r>
              <a:rPr lang="en-US" dirty="0"/>
              <a:t>)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4ECBE7-4487-4615-A10C-5FECAADA1E8C}" type="slidenum">
              <a:rPr lang="ru-RU" smtClean="0"/>
              <a:t>28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5520231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4ECBE7-4487-4615-A10C-5FECAADA1E8C}" type="slidenum">
              <a:rPr lang="ru-RU" smtClean="0"/>
              <a:t>33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4742930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Практическая реализация</a:t>
            </a:r>
          </a:p>
          <a:p>
            <a:r>
              <a:rPr lang="ru-RU" dirty="0"/>
              <a:t>доставка финальных рекомендаций, отчетов, кода и технических документов, </a:t>
            </a:r>
          </a:p>
          <a:p>
            <a:r>
              <a:rPr lang="ru-RU" dirty="0"/>
              <a:t>запуск пилотного проекта, </a:t>
            </a:r>
          </a:p>
          <a:p>
            <a:r>
              <a:rPr lang="ru-RU" dirty="0"/>
              <a:t>реализация модели в производственной среде </a:t>
            </a:r>
          </a:p>
          <a:p>
            <a:r>
              <a:rPr lang="ru-RU" dirty="0"/>
              <a:t>интеграция аналитических оценок в панель управления или в операционной системе 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4ECBE7-4487-4615-A10C-5FECAADA1E8C}" type="slidenum">
              <a:rPr lang="ru-RU" smtClean="0"/>
              <a:t>34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5479347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4ECBE7-4487-4615-A10C-5FECAADA1E8C}" type="slidenum">
              <a:rPr lang="ru-RU" smtClean="0"/>
              <a:t>36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719439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лектор слева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Текст 4">
            <a:extLst>
              <a:ext uri="{FF2B5EF4-FFF2-40B4-BE49-F238E27FC236}">
                <a16:creationId xmlns:a16="http://schemas.microsoft.com/office/drawing/2014/main" id="{A1E5457D-1A65-4814-B82B-2C09539FDD7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62445" y="212652"/>
            <a:ext cx="11216177" cy="214598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5400" b="0" cap="none" spc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ru-RU" dirty="0"/>
              <a:t>Название дисциплины</a:t>
            </a:r>
          </a:p>
        </p:txBody>
      </p:sp>
      <p:sp>
        <p:nvSpPr>
          <p:cNvPr id="6" name="Текст 4">
            <a:extLst>
              <a:ext uri="{FF2B5EF4-FFF2-40B4-BE49-F238E27FC236}">
                <a16:creationId xmlns:a16="http://schemas.microsoft.com/office/drawing/2014/main" id="{243EB0EA-B14F-4F7C-A662-195D09977AC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62444" y="4433107"/>
            <a:ext cx="11216177" cy="689986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4000" b="0" cap="none" spc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ru-RU" dirty="0"/>
              <a:t>ФИО лектора</a:t>
            </a:r>
          </a:p>
        </p:txBody>
      </p:sp>
      <p:sp>
        <p:nvSpPr>
          <p:cNvPr id="8" name="Текст 4">
            <a:extLst>
              <a:ext uri="{FF2B5EF4-FFF2-40B4-BE49-F238E27FC236}">
                <a16:creationId xmlns:a16="http://schemas.microsoft.com/office/drawing/2014/main" id="{6657CA8C-522E-4429-B65F-6D6FE560E4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62442" y="6034875"/>
            <a:ext cx="11216177" cy="513908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2000" b="0" cap="none" spc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ru-RU" dirty="0"/>
              <a:t>Контактный </a:t>
            </a:r>
            <a:r>
              <a:rPr lang="en-US" dirty="0"/>
              <a:t>e-mail</a:t>
            </a:r>
            <a:endParaRPr lang="ru-RU" dirty="0"/>
          </a:p>
        </p:txBody>
      </p:sp>
      <p:sp>
        <p:nvSpPr>
          <p:cNvPr id="9" name="Текст 4">
            <a:extLst>
              <a:ext uri="{FF2B5EF4-FFF2-40B4-BE49-F238E27FC236}">
                <a16:creationId xmlns:a16="http://schemas.microsoft.com/office/drawing/2014/main" id="{7D9F4617-139A-49F3-B340-15C00D7D399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62443" y="5344889"/>
            <a:ext cx="11216177" cy="513908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2000" b="0" cap="none" spc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ru-RU" dirty="0"/>
              <a:t>Звание, должность, место работы</a:t>
            </a:r>
          </a:p>
        </p:txBody>
      </p:sp>
      <p:sp>
        <p:nvSpPr>
          <p:cNvPr id="3" name="Прямоугольник 2"/>
          <p:cNvSpPr/>
          <p:nvPr userDrawn="1"/>
        </p:nvSpPr>
        <p:spPr>
          <a:xfrm>
            <a:off x="9270527" y="5800781"/>
            <a:ext cx="2808092" cy="45719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0" name="Рисунок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490" y="70792"/>
            <a:ext cx="640362" cy="7079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416116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244FFBC-5083-5772-781F-FA8FFDCAFF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latin typeface="+mn-lt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E133F82-3BB3-7EDF-7536-20AF304CA6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58781"/>
            <a:ext cx="10515600" cy="4818181"/>
          </a:xfr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58AC38B-5A39-332A-B892-1C5B3FBB85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AA438C3-09F7-C37D-6E65-4491F577CA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EC83835-A57E-A742-987C-C776B6ED15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5FB71-5E9C-41B5-9BB8-3F1EBEAEB16A}" type="slidenum">
              <a:rPr lang="ru-RU" smtClean="0"/>
              <a:t>‹#›</a:t>
            </a:fld>
            <a:endParaRPr lang="ru-RU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FB905A05-7552-49FE-9E77-7F0D9D97E04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490" y="70792"/>
            <a:ext cx="640362" cy="7079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3881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878FF1D-6E2D-5C37-1EF9-3C33C8D4FA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0582E55-3C82-8981-AD35-5BE1CAF781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5C24C26-5FFB-10BC-7F6B-DD086C3D3B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D785404-A40E-C6B4-B1AF-346CA25363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FEA0686-FE00-F77C-4961-0D4916B1D1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5FB71-5E9C-41B5-9BB8-3F1EBEAEB16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452756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03BFC52-ACF7-50D2-B236-F3AD0C764E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63D935F-6E1D-704A-FFD9-95880A32F61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350233"/>
            <a:ext cx="5181600" cy="4826729"/>
          </a:xfr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45F5B83-C11F-C63E-19F8-F170305E73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350233"/>
            <a:ext cx="5181600" cy="4826730"/>
          </a:xfr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16558B0-F06F-5D3F-D4CE-12FEA6CA58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5CA1470-A32E-0878-FF54-B467D37346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23D6CAE-E104-B509-30C5-5F816DC34D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5FB71-5E9C-41B5-9BB8-3F1EBEAEB16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409585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9662FB2-61E9-B090-DDF5-637C0F1167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B13BEC1-5CE1-39A0-5F98-DF1F88A9A1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7B468AB7-7222-8D12-74BF-6E3FB9D6FF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6F43AB0-793E-04C0-7572-90E3AE8BD6E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23145C1A-E56D-D9A4-49F4-0E7DE8CF2B4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D740FE84-A485-926E-EB2F-9B3A823DB8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4ADDA50C-CC20-F389-1487-E639ADD36B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9EDB0A96-E301-1128-9118-CB1ADB6AF5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5FB71-5E9C-41B5-9BB8-3F1EBEAEB16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372021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DF0D036-AD2A-1CBA-C6F3-7B4578499C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2C548B4E-17C4-CF0D-4E01-1DC835F2F1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05E4C0D2-8219-4FB3-36A6-B7D7FBAE00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B480AC24-E8CC-84DB-8B56-18C72FA883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5FB71-5E9C-41B5-9BB8-3F1EBEAEB16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571347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1828864F-9629-DBDC-6AA3-5D97BFEFB2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E5DC655F-3247-CCB5-ACC2-F50126E46C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322E155-6080-BCFA-E59A-34FCD9CD2F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5FB71-5E9C-41B5-9BB8-3F1EBEAEB16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413728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DABC904-DE7E-1195-CDF6-0A530BBDF0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ABC21CB-E5B3-D11E-2E38-ECCD7B0B1D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C5E67837-24BE-30FB-FD14-64C3E801CD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6F30326-BFB0-8F27-BDF9-353C631FD3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538C1939-F636-863E-84C1-530A04A8AF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153206C-50B3-2EDC-8517-7704146F07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5FB71-5E9C-41B5-9BB8-3F1EBEAEB16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51964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880F850-BF2A-5E90-C014-05D89F8466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65ED2E89-03E3-6279-B0B8-5B70A09CD47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688B8B21-B9FB-6209-49AE-287EA61C5C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03AF0344-3C4D-162C-D2C6-3EC83808A1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531DDED-EC2F-5D31-C4FB-58BF1C1C6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A915E6D-61CA-F55A-221D-E7DDED9F27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5FB71-5E9C-41B5-9BB8-3F1EBEAEB16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741696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D2E7370-4728-F9E8-C914-18F0F1D5AD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0939D510-D502-390D-92B5-3838FC4CC0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C79971B-94C9-FEEC-4C09-AC62144438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9135BFA-5492-23C4-E6A2-1A5B50DB84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AF740CD-9E9E-D419-05AF-685E0B4E59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5FB71-5E9C-41B5-9BB8-3F1EBEAEB16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552841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1703B8D4-FFFB-51BC-0095-F6912432DD2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6EE6D829-078B-B5F1-ADE1-33C94626B7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2FE88C0-8BC2-47C8-E4DC-B700D95EBC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A85BF16-D79D-ED36-0BF9-885AFC7FB3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41666F3-33E7-6CB8-C181-1FE2342AAC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5FB71-5E9C-41B5-9BB8-3F1EBEAEB16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716415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лектор слева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Текст 4">
            <a:extLst>
              <a:ext uri="{FF2B5EF4-FFF2-40B4-BE49-F238E27FC236}">
                <a16:creationId xmlns:a16="http://schemas.microsoft.com/office/drawing/2014/main" id="{A1E5457D-1A65-4814-B82B-2C09539FDD7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62445" y="212652"/>
            <a:ext cx="11216177" cy="247207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5400" b="0" cap="none" spc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ru-RU" dirty="0"/>
              <a:t>Название дисциплины</a:t>
            </a:r>
          </a:p>
        </p:txBody>
      </p:sp>
      <p:sp>
        <p:nvSpPr>
          <p:cNvPr id="6" name="Текст 4">
            <a:extLst>
              <a:ext uri="{FF2B5EF4-FFF2-40B4-BE49-F238E27FC236}">
                <a16:creationId xmlns:a16="http://schemas.microsoft.com/office/drawing/2014/main" id="{243EB0EA-B14F-4F7C-A662-195D09977AC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62444" y="4433107"/>
            <a:ext cx="11216177" cy="689986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4000" b="0" cap="none" spc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ru-RU" dirty="0"/>
              <a:t>ФИО лектора</a:t>
            </a:r>
          </a:p>
        </p:txBody>
      </p:sp>
      <p:sp>
        <p:nvSpPr>
          <p:cNvPr id="8" name="Текст 4">
            <a:extLst>
              <a:ext uri="{FF2B5EF4-FFF2-40B4-BE49-F238E27FC236}">
                <a16:creationId xmlns:a16="http://schemas.microsoft.com/office/drawing/2014/main" id="{6657CA8C-522E-4429-B65F-6D6FE560E4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62442" y="6034875"/>
            <a:ext cx="11216177" cy="513908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2000" b="0" cap="none" spc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ru-RU" dirty="0"/>
              <a:t>Контактный </a:t>
            </a:r>
            <a:r>
              <a:rPr lang="en-US" dirty="0"/>
              <a:t>e-mail</a:t>
            </a:r>
            <a:endParaRPr lang="ru-RU" dirty="0"/>
          </a:p>
        </p:txBody>
      </p:sp>
      <p:sp>
        <p:nvSpPr>
          <p:cNvPr id="9" name="Текст 4">
            <a:extLst>
              <a:ext uri="{FF2B5EF4-FFF2-40B4-BE49-F238E27FC236}">
                <a16:creationId xmlns:a16="http://schemas.microsoft.com/office/drawing/2014/main" id="{7D9F4617-139A-49F3-B340-15C00D7D399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62443" y="5344889"/>
            <a:ext cx="11216177" cy="513908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2000" b="0" cap="none" spc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ru-RU" dirty="0"/>
              <a:t>Звание, должность, место работы</a:t>
            </a:r>
          </a:p>
        </p:txBody>
      </p:sp>
      <p:sp>
        <p:nvSpPr>
          <p:cNvPr id="3" name="Прямоугольник 2"/>
          <p:cNvSpPr/>
          <p:nvPr userDrawn="1"/>
        </p:nvSpPr>
        <p:spPr>
          <a:xfrm>
            <a:off x="9270527" y="5800781"/>
            <a:ext cx="2808092" cy="45719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0" name="Рисунок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490" y="70792"/>
            <a:ext cx="640362" cy="7079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150897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лектор слева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Текст 4">
            <a:extLst>
              <a:ext uri="{FF2B5EF4-FFF2-40B4-BE49-F238E27FC236}">
                <a16:creationId xmlns:a16="http://schemas.microsoft.com/office/drawing/2014/main" id="{A1E5457D-1A65-4814-B82B-2C09539FDD7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93619" y="212653"/>
            <a:ext cx="11185004" cy="116189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5400" b="0" cap="none" spc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defRPr>
            </a:lvl1pPr>
          </a:lstStyle>
          <a:p>
            <a:pPr lvl="0"/>
            <a:r>
              <a:rPr lang="ru-RU" dirty="0"/>
              <a:t>Название слайда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6EAB95B9-19B9-409F-B0C0-80242AEA1C5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93619" y="1830183"/>
            <a:ext cx="11185004" cy="4487862"/>
          </a:xfrm>
          <a:prstGeom prst="rect">
            <a:avLst/>
          </a:prstGeom>
        </p:spPr>
        <p:txBody>
          <a:bodyPr/>
          <a:lstStyle>
            <a:lvl1pPr>
              <a:defRPr sz="3600"/>
            </a:lvl1pPr>
            <a:lvl2pPr>
              <a:defRPr sz="32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pic>
        <p:nvPicPr>
          <p:cNvPr id="6" name="Рисунок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490" y="70792"/>
            <a:ext cx="640362" cy="7079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134691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лектор слева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490" y="70792"/>
            <a:ext cx="640362" cy="7079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639499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лектор в центре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490" y="70792"/>
            <a:ext cx="640362" cy="7079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087466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лектор справа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490" y="70792"/>
            <a:ext cx="640362" cy="7079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051723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без лектора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490" y="70792"/>
            <a:ext cx="640362" cy="7079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413629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ли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490" y="70792"/>
            <a:ext cx="640362" cy="7079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90887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83F0DFB-F6BC-AF29-BE7E-4E3216FC72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0791"/>
            <a:ext cx="10515600" cy="11000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C8C1FDE-157F-0CF9-6678-361FB41BEF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350235"/>
            <a:ext cx="10515600" cy="48267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EFCC27C-378E-A92F-E57E-3D7AA4E23EB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D90D05E-2ECB-3FE6-00DA-ABD9FD37424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9280FC2-FB5C-C830-013D-02D6917C45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C5FB71-5E9C-41B5-9BB8-3F1EBEAEB16A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EEDEDD01-40D1-3A00-9058-486237677F41}"/>
              </a:ext>
            </a:extLst>
          </p:cNvPr>
          <p:cNvPicPr>
            <a:picLocks noChangeAspect="1"/>
          </p:cNvPicPr>
          <p:nvPr userDrawn="1"/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490" y="70792"/>
            <a:ext cx="640362" cy="7079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94711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9" r:id="rId1"/>
    <p:sldLayoutId id="2147483707" r:id="rId2"/>
    <p:sldLayoutId id="2147483708" r:id="rId3"/>
    <p:sldLayoutId id="2147483709" r:id="rId4"/>
    <p:sldLayoutId id="2147483710" r:id="rId5"/>
    <p:sldLayoutId id="2147483711" r:id="rId6"/>
    <p:sldLayoutId id="2147483712" r:id="rId7"/>
    <p:sldLayoutId id="2147483713" r:id="rId8"/>
    <p:sldLayoutId id="2147483714" r:id="rId9"/>
    <p:sldLayoutId id="2147483715" r:id="rId10"/>
    <p:sldLayoutId id="2147483716" r:id="rId11"/>
    <p:sldLayoutId id="2147483717" r:id="rId12"/>
    <p:sldLayoutId id="2147483718" r:id="rId13"/>
    <p:sldLayoutId id="2147483704" r:id="rId14"/>
    <p:sldLayoutId id="2147483699" r:id="rId15"/>
    <p:sldLayoutId id="2147483700" r:id="rId16"/>
    <p:sldLayoutId id="2147483702" r:id="rId17"/>
    <p:sldLayoutId id="2147483697" r:id="rId18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n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Yurchenkov@mirea.ru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hyperlink" Target="mailto:qwerty29544@gmail.com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tatista.com/statistics/871513/worldwide-data-created/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demandsage.com/big-data-statistics/" TargetMode="Externa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.xml"/><Relationship Id="rId3" Type="http://schemas.openxmlformats.org/officeDocument/2006/relationships/diagramLayout" Target="../diagrams/layout1.xml"/><Relationship Id="rId7" Type="http://schemas.openxmlformats.org/officeDocument/2006/relationships/diagramData" Target="../diagrams/data2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11" Type="http://schemas.microsoft.com/office/2007/relationships/diagramDrawing" Target="../diagrams/drawing2.xml"/><Relationship Id="rId5" Type="http://schemas.openxmlformats.org/officeDocument/2006/relationships/diagramColors" Target="../diagrams/colors1.xml"/><Relationship Id="rId10" Type="http://schemas.openxmlformats.org/officeDocument/2006/relationships/diagramColors" Target="../diagrams/colors2.xml"/><Relationship Id="rId4" Type="http://schemas.openxmlformats.org/officeDocument/2006/relationships/diagramQuickStyle" Target="../diagrams/quickStyle1.xml"/><Relationship Id="rId9" Type="http://schemas.openxmlformats.org/officeDocument/2006/relationships/diagramQuickStyle" Target="../diagrams/quickStyle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7" Type="http://schemas.openxmlformats.org/officeDocument/2006/relationships/image" Target="../media/image11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jpeg"/><Relationship Id="rId5" Type="http://schemas.openxmlformats.org/officeDocument/2006/relationships/image" Target="../media/image9.jpeg"/><Relationship Id="rId4" Type="http://schemas.openxmlformats.org/officeDocument/2006/relationships/hyperlink" Target="https://www.idc.com/" TargetMode="Externa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20.png"/><Relationship Id="rId7" Type="http://schemas.openxmlformats.org/officeDocument/2006/relationships/image" Target="../media/image23.jpe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11" Type="http://schemas.openxmlformats.org/officeDocument/2006/relationships/image" Target="../media/image27.png"/><Relationship Id="rId5" Type="http://schemas.openxmlformats.org/officeDocument/2006/relationships/image" Target="../media/image21.png"/><Relationship Id="rId10" Type="http://schemas.openxmlformats.org/officeDocument/2006/relationships/image" Target="../media/image26.png"/><Relationship Id="rId4" Type="http://schemas.openxmlformats.org/officeDocument/2006/relationships/image" Target="../media/image17.png"/><Relationship Id="rId9" Type="http://schemas.openxmlformats.org/officeDocument/2006/relationships/image" Target="../media/image25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13" Type="http://schemas.openxmlformats.org/officeDocument/2006/relationships/image" Target="../media/image35.png"/><Relationship Id="rId3" Type="http://schemas.openxmlformats.org/officeDocument/2006/relationships/image" Target="../media/image15.png"/><Relationship Id="rId7" Type="http://schemas.openxmlformats.org/officeDocument/2006/relationships/image" Target="../media/image29.png"/><Relationship Id="rId12" Type="http://schemas.openxmlformats.org/officeDocument/2006/relationships/image" Target="../media/image3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11" Type="http://schemas.openxmlformats.org/officeDocument/2006/relationships/image" Target="../media/image33.png"/><Relationship Id="rId5" Type="http://schemas.openxmlformats.org/officeDocument/2006/relationships/image" Target="../media/image18.png"/><Relationship Id="rId10" Type="http://schemas.openxmlformats.org/officeDocument/2006/relationships/image" Target="../media/image32.png"/><Relationship Id="rId4" Type="http://schemas.openxmlformats.org/officeDocument/2006/relationships/image" Target="../media/image16.png"/><Relationship Id="rId9" Type="http://schemas.openxmlformats.org/officeDocument/2006/relationships/image" Target="../media/image31.png"/><Relationship Id="rId14" Type="http://schemas.openxmlformats.org/officeDocument/2006/relationships/image" Target="../media/image36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hyperlink" Target="mailto:Yurchenkov@mirea.ru" TargetMode="Externa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Relationship Id="rId4" Type="http://schemas.openxmlformats.org/officeDocument/2006/relationships/hyperlink" Target="mailto:qwerty29544@gmail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>
            <a:extLst>
              <a:ext uri="{FF2B5EF4-FFF2-40B4-BE49-F238E27FC236}">
                <a16:creationId xmlns:a16="http://schemas.microsoft.com/office/drawing/2014/main" id="{D02A7036-67AC-4B6E-933D-0EBEFC2F148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/>
              <a:t>Технологии и инструментарий анализа больших данных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4304D1FC-3C2B-40AC-AC46-5ADB2B78FD7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ru-RU" sz="4000" dirty="0"/>
              <a:t>Юрченков Иван Александрович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85920733-DC10-4100-9E5C-5EBB2D00AEC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>
                <a:hlinkClick r:id="rId3"/>
              </a:rPr>
              <a:t>Yurchenkov@mirea.ru</a:t>
            </a:r>
            <a:r>
              <a:rPr lang="en-US" dirty="0"/>
              <a:t>	</a:t>
            </a:r>
            <a:r>
              <a:rPr lang="en-US" dirty="0">
                <a:hlinkClick r:id="rId4"/>
              </a:rPr>
              <a:t>qwerty29544@gmail.com</a:t>
            </a:r>
            <a:r>
              <a:rPr lang="en-US" dirty="0"/>
              <a:t> 	</a:t>
            </a:r>
            <a:r>
              <a:rPr lang="en-US" dirty="0" err="1"/>
              <a:t>tg</a:t>
            </a:r>
            <a:r>
              <a:rPr lang="en-US" dirty="0"/>
              <a:t>:</a:t>
            </a:r>
            <a:r>
              <a:rPr lang="ru-RU" dirty="0"/>
              <a:t> </a:t>
            </a:r>
            <a:r>
              <a:rPr lang="en-US" dirty="0"/>
              <a:t>@ivanyurchenkov</a:t>
            </a:r>
            <a:endParaRPr lang="ru-RU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936B0D40-C816-44EC-A3D6-5CA90F8CE9F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ru-RU" dirty="0"/>
              <a:t>Старший преподаватель кафедры прикладной математики ИИТ</a:t>
            </a:r>
          </a:p>
        </p:txBody>
      </p:sp>
    </p:spTree>
    <p:extLst>
      <p:ext uri="{BB962C8B-B14F-4D97-AF65-F5344CB8AC3E}">
        <p14:creationId xmlns:p14="http://schemas.microsoft.com/office/powerpoint/2010/main" val="13911731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5">
            <a:extLst>
              <a:ext uri="{FF2B5EF4-FFF2-40B4-BE49-F238E27FC236}">
                <a16:creationId xmlns:a16="http://schemas.microsoft.com/office/drawing/2014/main" id="{1B725C7C-1A33-D3B6-C8C0-BB5D3E0185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0791"/>
            <a:ext cx="10515600" cy="1256833"/>
          </a:xfrm>
        </p:spPr>
        <p:txBody>
          <a:bodyPr>
            <a:noAutofit/>
          </a:bodyPr>
          <a:lstStyle/>
          <a:p>
            <a:pPr algn="ctr"/>
            <a:r>
              <a:rPr lang="ru-RU" dirty="0">
                <a:latin typeface="+mn-lt"/>
              </a:rPr>
              <a:t>Лекция №1. Большие данные. </a:t>
            </a:r>
            <a:br>
              <a:rPr lang="ru-RU" dirty="0">
                <a:latin typeface="+mn-lt"/>
              </a:rPr>
            </a:br>
            <a:r>
              <a:rPr lang="ru-RU" dirty="0">
                <a:latin typeface="+mn-lt"/>
              </a:rPr>
              <a:t>Анализ больших данных</a:t>
            </a:r>
          </a:p>
        </p:txBody>
      </p:sp>
      <p:sp>
        <p:nvSpPr>
          <p:cNvPr id="2" name="Текст 1">
            <a:extLst>
              <a:ext uri="{FF2B5EF4-FFF2-40B4-BE49-F238E27FC236}">
                <a16:creationId xmlns:a16="http://schemas.microsoft.com/office/drawing/2014/main" id="{BEF096E4-BC02-4F45-474B-72674D86E7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27624"/>
            <a:ext cx="10515600" cy="521128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b="1" dirty="0"/>
              <a:t>Основные вопросы:</a:t>
            </a:r>
          </a:p>
          <a:p>
            <a:pPr marL="742950" indent="-742950">
              <a:buAutoNum type="arabicPeriod"/>
            </a:pPr>
            <a:r>
              <a:rPr lang="en-US" dirty="0"/>
              <a:t>Data Science</a:t>
            </a:r>
          </a:p>
          <a:p>
            <a:pPr marL="742950" indent="-742950">
              <a:buAutoNum type="arabicPeriod"/>
            </a:pPr>
            <a:r>
              <a:rPr lang="en-US" dirty="0"/>
              <a:t>V-</a:t>
            </a:r>
            <a:r>
              <a:rPr lang="ru-RU" dirty="0"/>
              <a:t>характеристики больших данных</a:t>
            </a:r>
          </a:p>
          <a:p>
            <a:pPr marL="742950" indent="-742950">
              <a:buAutoNum type="arabicPeriod"/>
            </a:pPr>
            <a:r>
              <a:rPr lang="ru-RU" dirty="0"/>
              <a:t>Критерии  </a:t>
            </a:r>
            <a:r>
              <a:rPr lang="en-US" dirty="0"/>
              <a:t>Big Data</a:t>
            </a:r>
          </a:p>
          <a:p>
            <a:pPr marL="742950" indent="-742950">
              <a:buAutoNum type="arabicPeriod"/>
            </a:pPr>
            <a:r>
              <a:rPr lang="ru-RU" dirty="0"/>
              <a:t>Полезность больших данных</a:t>
            </a:r>
          </a:p>
          <a:p>
            <a:pPr marL="742950" indent="-742950">
              <a:buAutoNum type="arabicPeriod"/>
            </a:pPr>
            <a:r>
              <a:rPr lang="ru-RU" dirty="0"/>
              <a:t>Что необходимо для работы с большими данными</a:t>
            </a:r>
          </a:p>
          <a:p>
            <a:pPr marL="742950" indent="-742950">
              <a:buAutoNum type="arabicPeriod"/>
            </a:pPr>
            <a:r>
              <a:rPr lang="ru-RU" dirty="0"/>
              <a:t>Примеры использования Big Data в отраслях</a:t>
            </a:r>
          </a:p>
          <a:p>
            <a:pPr marL="742950" indent="-742950">
              <a:buAutoNum type="arabicPeriod"/>
            </a:pPr>
            <a:r>
              <a:rPr lang="ru-RU" dirty="0"/>
              <a:t>Рынок Big Data в мире и в России</a:t>
            </a:r>
          </a:p>
          <a:p>
            <a:pPr marL="742950" indent="-742950">
              <a:buAutoNum type="arabicPeriod"/>
            </a:pPr>
            <a:r>
              <a:rPr lang="ru-RU" dirty="0"/>
              <a:t>Жизненный цикл проектов по работе с данными</a:t>
            </a:r>
          </a:p>
          <a:p>
            <a:pPr marL="742950" indent="-742950">
              <a:buAutoNum type="arabicPeriod"/>
            </a:pPr>
            <a:endParaRPr lang="ru-RU" dirty="0"/>
          </a:p>
          <a:p>
            <a:pPr marL="0" indent="0">
              <a:buNone/>
            </a:pPr>
            <a:endParaRPr lang="ru-RU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3F8E211-449D-C68C-8389-CD803EC9ED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5FB71-5E9C-41B5-9BB8-3F1EBEAEB16A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975285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A8843301-0A0C-C78C-C18B-858DAA6DB0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Big Data</a:t>
            </a:r>
            <a:endParaRPr lang="ru-RU" dirty="0"/>
          </a:p>
        </p:txBody>
      </p:sp>
      <p:sp>
        <p:nvSpPr>
          <p:cNvPr id="2" name="Текст 1">
            <a:extLst>
              <a:ext uri="{FF2B5EF4-FFF2-40B4-BE49-F238E27FC236}">
                <a16:creationId xmlns:a16="http://schemas.microsoft.com/office/drawing/2014/main" id="{897C2C76-ED10-9A71-B261-04ECD5F24A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Данные, поступающие в </a:t>
            </a:r>
            <a:r>
              <a:rPr lang="ru-RU" b="1" dirty="0"/>
              <a:t>режиме реального времени</a:t>
            </a:r>
            <a:r>
              <a:rPr lang="ru-RU" dirty="0"/>
              <a:t>:</a:t>
            </a:r>
          </a:p>
          <a:p>
            <a:r>
              <a:rPr lang="ru-RU" dirty="0"/>
              <a:t>Социальные медиа и мессенджеры (</a:t>
            </a:r>
            <a:r>
              <a:rPr lang="en-US" dirty="0"/>
              <a:t>VK, </a:t>
            </a:r>
            <a:r>
              <a:rPr lang="ru-RU" dirty="0"/>
              <a:t>дзен, </a:t>
            </a:r>
            <a:r>
              <a:rPr lang="en-US" dirty="0" err="1"/>
              <a:t>Rutube</a:t>
            </a:r>
            <a:r>
              <a:rPr lang="ru-RU" dirty="0"/>
              <a:t>)</a:t>
            </a:r>
            <a:endParaRPr lang="en-US" dirty="0"/>
          </a:p>
          <a:p>
            <a:r>
              <a:rPr lang="ru-RU" dirty="0"/>
              <a:t>Видео с камер, фото и видео-регистраторов</a:t>
            </a:r>
          </a:p>
          <a:p>
            <a:r>
              <a:rPr lang="ru-RU" dirty="0"/>
              <a:t>Транзакции ритейла и банка</a:t>
            </a:r>
          </a:p>
          <a:p>
            <a:r>
              <a:rPr lang="ru-RU" dirty="0"/>
              <a:t>Электронная почта</a:t>
            </a:r>
          </a:p>
        </p:txBody>
      </p:sp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955C1D46-F132-6067-C94D-E807DF17BD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3755673"/>
              </p:ext>
            </p:extLst>
          </p:nvPr>
        </p:nvGraphicFramePr>
        <p:xfrm>
          <a:off x="838200" y="4295719"/>
          <a:ext cx="11185004" cy="16154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592502">
                  <a:extLst>
                    <a:ext uri="{9D8B030D-6E8A-4147-A177-3AD203B41FA5}">
                      <a16:colId xmlns:a16="http://schemas.microsoft.com/office/drawing/2014/main" val="206734937"/>
                    </a:ext>
                  </a:extLst>
                </a:gridCol>
                <a:gridCol w="5592502">
                  <a:extLst>
                    <a:ext uri="{9D8B030D-6E8A-4147-A177-3AD203B41FA5}">
                      <a16:colId xmlns:a16="http://schemas.microsoft.com/office/drawing/2014/main" val="4267476668"/>
                    </a:ext>
                  </a:extLst>
                </a:gridCol>
              </a:tblGrid>
              <a:tr h="808832">
                <a:tc>
                  <a:txBody>
                    <a:bodyPr/>
                    <a:lstStyle/>
                    <a:p>
                      <a:r>
                        <a:rPr lang="en-US" sz="2000" dirty="0">
                          <a:hlinkClick r:id="rId3"/>
                        </a:rPr>
                        <a:t>Data growth worldwide 2010-2025 | Statista</a:t>
                      </a:r>
                      <a:br>
                        <a:rPr lang="ru-RU" sz="2000" dirty="0"/>
                      </a:br>
                      <a:r>
                        <a:rPr lang="ru-RU" sz="2000" dirty="0"/>
                        <a:t>К 2025-му году объем данных в мире достигнет 181 </a:t>
                      </a:r>
                      <a:r>
                        <a:rPr lang="ru-RU" sz="2000" dirty="0" err="1"/>
                        <a:t>Збайт</a:t>
                      </a:r>
                      <a:r>
                        <a:rPr lang="ru-RU" sz="2000" dirty="0"/>
                        <a:t> (1 </a:t>
                      </a:r>
                      <a:r>
                        <a:rPr lang="ru-RU" sz="2000" dirty="0" err="1"/>
                        <a:t>Збайт</a:t>
                      </a:r>
                      <a:r>
                        <a:rPr lang="ru-RU" sz="2000" dirty="0"/>
                        <a:t> = триллион Гб) 30% сгенерированных данных будут использоваться в режиме реального времени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hlinkClick r:id="rId4"/>
                        </a:rPr>
                        <a:t>Big Data Statistics For 2024 (Growth, Market Size &amp; More) (demandsage.com)</a:t>
                      </a:r>
                      <a:endParaRPr lang="ru-RU" sz="2000" dirty="0"/>
                    </a:p>
                    <a:p>
                      <a:r>
                        <a:rPr lang="nl-NL" sz="2000" dirty="0"/>
                        <a:t>2025*	181 zettabytes	23.13%</a:t>
                      </a:r>
                    </a:p>
                    <a:p>
                      <a:r>
                        <a:rPr lang="nl-NL" sz="2000" dirty="0"/>
                        <a:t>2024*	147 zettabytes	22.5%</a:t>
                      </a:r>
                    </a:p>
                    <a:p>
                      <a:r>
                        <a:rPr lang="nl-NL" sz="2000" dirty="0"/>
                        <a:t>2023	120 zettabytes	23.71%</a:t>
                      </a:r>
                      <a:endParaRPr lang="ru-RU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22583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196079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C093116F-2530-D4AE-7D00-13B1E27AD9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Big Data</a:t>
            </a:r>
            <a:endParaRPr lang="ru-RU" dirty="0"/>
          </a:p>
        </p:txBody>
      </p:sp>
      <p:sp>
        <p:nvSpPr>
          <p:cNvPr id="2" name="Текст 1">
            <a:extLst>
              <a:ext uri="{FF2B5EF4-FFF2-40B4-BE49-F238E27FC236}">
                <a16:creationId xmlns:a16="http://schemas.microsoft.com/office/drawing/2014/main" id="{5E3ED0EC-BE40-EC52-05C7-0872A8DF99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b="1" dirty="0"/>
              <a:t>Для чего применяется:</a:t>
            </a:r>
          </a:p>
          <a:p>
            <a:r>
              <a:rPr lang="ru-RU" dirty="0"/>
              <a:t>Разрабатывать </a:t>
            </a:r>
            <a:r>
              <a:rPr lang="en-US" dirty="0"/>
              <a:t>Data-Driven </a:t>
            </a:r>
            <a:r>
              <a:rPr lang="ru-RU" dirty="0"/>
              <a:t>системы на базе алгоритмов искусственного интеллекта (ИИ)</a:t>
            </a:r>
            <a:endParaRPr lang="ru-RU" b="1" dirty="0"/>
          </a:p>
          <a:p>
            <a:r>
              <a:rPr lang="ru-RU" dirty="0"/>
              <a:t>Проводить анализ бизнес-процессов</a:t>
            </a:r>
          </a:p>
          <a:p>
            <a:r>
              <a:rPr lang="ru-RU" dirty="0"/>
              <a:t>Предсказывать поведение клиентов</a:t>
            </a:r>
          </a:p>
          <a:p>
            <a:r>
              <a:rPr lang="ru-RU" dirty="0"/>
              <a:t>Управлять производством</a:t>
            </a:r>
          </a:p>
        </p:txBody>
      </p:sp>
    </p:spTree>
    <p:extLst>
      <p:ext uri="{BB962C8B-B14F-4D97-AF65-F5344CB8AC3E}">
        <p14:creationId xmlns:p14="http://schemas.microsoft.com/office/powerpoint/2010/main" val="42469978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EE081F4C-CC5B-A031-A037-BCCA47E854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0791"/>
            <a:ext cx="10515600" cy="827567"/>
          </a:xfrm>
        </p:spPr>
        <p:txBody>
          <a:bodyPr/>
          <a:lstStyle/>
          <a:p>
            <a:r>
              <a:rPr lang="en-US" dirty="0"/>
              <a:t>Big Data</a:t>
            </a:r>
            <a:endParaRPr lang="ru-RU" dirty="0"/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B8492AEB-3E2B-5233-308B-2ECAE7C5A28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015635"/>
            <a:ext cx="5181600" cy="534071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1.0 </a:t>
            </a:r>
            <a:r>
              <a:rPr lang="ru-RU" b="1" dirty="0"/>
              <a:t>Традиционная аналитика</a:t>
            </a:r>
          </a:p>
          <a:p>
            <a:r>
              <a:rPr lang="ru-RU" dirty="0"/>
              <a:t>Преимущественно описательная аналитика и отчетность</a:t>
            </a:r>
          </a:p>
          <a:p>
            <a:r>
              <a:rPr lang="ru-RU" dirty="0"/>
              <a:t>Данные из внутренних источников, относительно небольшие, структурированные</a:t>
            </a:r>
          </a:p>
          <a:p>
            <a:r>
              <a:rPr lang="ru-RU" dirty="0"/>
              <a:t>Разрозненные группы аналитиков</a:t>
            </a:r>
          </a:p>
          <a:p>
            <a:r>
              <a:rPr lang="ru-RU" dirty="0"/>
              <a:t>Аналитика – вспомогательный инструмент</a:t>
            </a:r>
          </a:p>
          <a:p>
            <a:pPr marL="0" indent="0">
              <a:buNone/>
            </a:pPr>
            <a:endParaRPr lang="ru-RU" dirty="0"/>
          </a:p>
        </p:txBody>
      </p:sp>
      <p:sp>
        <p:nvSpPr>
          <p:cNvPr id="7" name="Объект 6">
            <a:extLst>
              <a:ext uri="{FF2B5EF4-FFF2-40B4-BE49-F238E27FC236}">
                <a16:creationId xmlns:a16="http://schemas.microsoft.com/office/drawing/2014/main" id="{4C5455FC-094C-3A75-7B40-D148C3ED69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015634"/>
            <a:ext cx="5181600" cy="534071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b="1" dirty="0"/>
              <a:t>2.0 Большие данные</a:t>
            </a:r>
          </a:p>
          <a:p>
            <a:r>
              <a:rPr lang="ru-RU" dirty="0"/>
              <a:t>Сложные, большие и неструктурированные источники данных</a:t>
            </a:r>
          </a:p>
          <a:p>
            <a:r>
              <a:rPr lang="ru-RU" dirty="0"/>
              <a:t>Новые аналитические и вычислительные возможности</a:t>
            </a:r>
          </a:p>
          <a:p>
            <a:r>
              <a:rPr lang="ru-RU" dirty="0"/>
              <a:t>Появление «исследователей данных»</a:t>
            </a:r>
          </a:p>
          <a:p>
            <a:r>
              <a:rPr lang="ru-RU" dirty="0"/>
              <a:t>Продукты и услуги, основанные на данных, - источник прибыли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E7F0D6F-E930-2B4C-0AFD-6CFA3913AE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5FB71-5E9C-41B5-9BB8-3F1EBEAEB16A}" type="slidenum">
              <a:rPr lang="ru-RU" smtClean="0"/>
              <a:t>5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288051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E7E01DF-0355-2F12-9492-40E42495B0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Подробно, откуда данных много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C1247336-9EA7-6834-1E60-B739FE4B05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Социальные сети и их данные</a:t>
            </a:r>
          </a:p>
          <a:p>
            <a:r>
              <a:rPr lang="ru-RU" dirty="0"/>
              <a:t>Данные от измерительных устройств и интернета вещей</a:t>
            </a:r>
          </a:p>
          <a:p>
            <a:r>
              <a:rPr lang="ru-RU" dirty="0"/>
              <a:t>Журналы доступа пользователей веб-сайтов</a:t>
            </a:r>
          </a:p>
          <a:p>
            <a:r>
              <a:rPr lang="ru-RU" dirty="0"/>
              <a:t>Тексты и документы в сети Интернет, научный корпус текстов</a:t>
            </a:r>
          </a:p>
          <a:p>
            <a:r>
              <a:rPr lang="ru-RU" dirty="0"/>
              <a:t> Данные, производимые наукой (астрономия, биоинформатика, атмосфера, биохимия, биология)</a:t>
            </a:r>
          </a:p>
          <a:p>
            <a:r>
              <a:rPr lang="ru-RU" dirty="0"/>
              <a:t>Данные министерства обороны и ВС (спутники, радары)</a:t>
            </a:r>
          </a:p>
          <a:p>
            <a:r>
              <a:rPr lang="ru-RU" dirty="0"/>
              <a:t>Медицинские данные и архивы</a:t>
            </a:r>
          </a:p>
          <a:p>
            <a:r>
              <a:rPr lang="ru-RU" dirty="0"/>
              <a:t>Фото и видео данные в сети</a:t>
            </a:r>
          </a:p>
          <a:p>
            <a:r>
              <a:rPr lang="ru-RU" dirty="0"/>
              <a:t>Данные электронной коммерции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0792C718-0138-1DB2-9ACA-ECD4679C66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5FB71-5E9C-41B5-9BB8-3F1EBEAEB16A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008430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19094AC-1AC6-6495-8D5F-A84DC8BF32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Big Data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21F9E57-A813-F941-DE55-7EE5130CA9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b="1" dirty="0"/>
              <a:t>Клиффорд Линч, 2008 (редактор Nature)</a:t>
            </a:r>
            <a:r>
              <a:rPr lang="ru-RU" dirty="0"/>
              <a:t> </a:t>
            </a:r>
            <a:endParaRPr lang="en-US" dirty="0"/>
          </a:p>
          <a:p>
            <a:pPr marL="0" indent="0">
              <a:buNone/>
            </a:pPr>
            <a:r>
              <a:rPr lang="ru-RU" dirty="0"/>
              <a:t>«Как могут повлиять на будущее науки, технологии, открывающие возможности работы с большими объёмами данных?»</a:t>
            </a:r>
            <a:endParaRPr lang="en-US" dirty="0"/>
          </a:p>
          <a:p>
            <a:pPr marL="0" indent="0">
              <a:buNone/>
            </a:pPr>
            <a:r>
              <a:rPr lang="ru-RU" b="1" dirty="0"/>
              <a:t>Данные:</a:t>
            </a:r>
          </a:p>
          <a:p>
            <a:r>
              <a:rPr lang="ru-RU" dirty="0"/>
              <a:t>Обладают высокой скоростью поступления из различных источников (</a:t>
            </a:r>
            <a:r>
              <a:rPr lang="en-US" dirty="0"/>
              <a:t>Velocity</a:t>
            </a:r>
            <a:r>
              <a:rPr lang="ru-RU" dirty="0"/>
              <a:t>)</a:t>
            </a:r>
            <a:endParaRPr lang="en-US" dirty="0"/>
          </a:p>
          <a:p>
            <a:r>
              <a:rPr lang="ru-RU" dirty="0"/>
              <a:t>Обладают высокой изменчивостью источников данных или сложными взаимосвязями и трудностями изменения отдельных записей (</a:t>
            </a:r>
            <a:r>
              <a:rPr lang="en-US" dirty="0"/>
              <a:t>Variety</a:t>
            </a:r>
            <a:r>
              <a:rPr lang="ru-RU" dirty="0"/>
              <a:t>)</a:t>
            </a:r>
            <a:endParaRPr lang="en-US" dirty="0"/>
          </a:p>
          <a:p>
            <a:r>
              <a:rPr lang="ru-RU" dirty="0"/>
              <a:t>Гигантский объем и многообразие типов и форматов представления (</a:t>
            </a:r>
            <a:r>
              <a:rPr lang="en-US" dirty="0"/>
              <a:t>Volume</a:t>
            </a:r>
            <a:r>
              <a:rPr lang="ru-RU" dirty="0"/>
              <a:t>)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8060BE6-2DDB-41DF-AA9E-6FD04CED18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5FB71-5E9C-41B5-9BB8-3F1EBEAEB16A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830410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0D8C64B-924F-E4E1-DE1B-995DE0D418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Big Data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0F0B002-A109-F818-33E6-91992B4B1C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70847"/>
            <a:ext cx="10515600" cy="225815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b="1" dirty="0"/>
              <a:t>Big Data </a:t>
            </a:r>
            <a:r>
              <a:rPr lang="ru-RU" dirty="0"/>
              <a:t>– </a:t>
            </a:r>
            <a:r>
              <a:rPr lang="ru-RU" i="1" dirty="0"/>
              <a:t>большие объёмы данных, инструменты, методы, подходы, технологии их обработки</a:t>
            </a:r>
            <a:endParaRPr lang="en-US" i="1" dirty="0"/>
          </a:p>
          <a:p>
            <a:pPr marL="0" indent="0">
              <a:buNone/>
            </a:pPr>
            <a:r>
              <a:rPr lang="ru-RU" b="1" dirty="0"/>
              <a:t>Цель обработки Big Data</a:t>
            </a:r>
            <a:r>
              <a:rPr lang="ru-RU" dirty="0"/>
              <a:t>: быстрое и эффективное использование всех видов информации в условиях непрерывного изменения и прироста в больших объёмах</a:t>
            </a:r>
            <a:endParaRPr lang="ru-RU" i="1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C23B0E1-E94E-8384-5F77-991E316B7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5FB71-5E9C-41B5-9BB8-3F1EBEAEB16A}" type="slidenum">
              <a:rPr lang="ru-RU" smtClean="0"/>
              <a:t>8</a:t>
            </a:fld>
            <a:endParaRPr lang="ru-RU"/>
          </a:p>
        </p:txBody>
      </p:sp>
      <p:graphicFrame>
        <p:nvGraphicFramePr>
          <p:cNvPr id="5" name="Таблица 4">
            <a:extLst>
              <a:ext uri="{FF2B5EF4-FFF2-40B4-BE49-F238E27FC236}">
                <a16:creationId xmlns:a16="http://schemas.microsoft.com/office/drawing/2014/main" id="{786E448E-2B9E-5C6C-AAB2-1622FD2478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356091"/>
              </p:ext>
            </p:extLst>
          </p:nvPr>
        </p:nvGraphicFramePr>
        <p:xfrm>
          <a:off x="838200" y="3429000"/>
          <a:ext cx="10515600" cy="2651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225716">
                  <a:extLst>
                    <a:ext uri="{9D8B030D-6E8A-4147-A177-3AD203B41FA5}">
                      <a16:colId xmlns:a16="http://schemas.microsoft.com/office/drawing/2014/main" val="4169518952"/>
                    </a:ext>
                  </a:extLst>
                </a:gridCol>
                <a:gridCol w="5289884">
                  <a:extLst>
                    <a:ext uri="{9D8B030D-6E8A-4147-A177-3AD203B41FA5}">
                      <a16:colId xmlns:a16="http://schemas.microsoft.com/office/drawing/2014/main" val="1848571151"/>
                    </a:ext>
                  </a:extLst>
                </a:gridCol>
              </a:tblGrid>
              <a:tr h="2346944">
                <a:tc>
                  <a:txBody>
                    <a:bodyPr/>
                    <a:lstStyle/>
                    <a:p>
                      <a:pPr algn="ctr"/>
                      <a:r>
                        <a:rPr lang="ru-RU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V-характеристики (2001): </a:t>
                      </a:r>
                    </a:p>
                    <a:p>
                      <a:pPr algn="ctr"/>
                      <a:r>
                        <a:rPr lang="ru-RU" sz="24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Volume</a:t>
                      </a:r>
                      <a:r>
                        <a:rPr lang="ru-RU" sz="2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– объем </a:t>
                      </a:r>
                    </a:p>
                    <a:p>
                      <a:pPr algn="ctr"/>
                      <a:r>
                        <a:rPr lang="ru-RU" sz="24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Velocity</a:t>
                      </a:r>
                      <a:r>
                        <a:rPr lang="ru-RU" sz="2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– скорость </a:t>
                      </a:r>
                    </a:p>
                    <a:p>
                      <a:pPr algn="ctr"/>
                      <a:r>
                        <a:rPr lang="ru-RU" sz="24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Variety</a:t>
                      </a:r>
                      <a:r>
                        <a:rPr lang="ru-RU" sz="2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– разнообразие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V-</a:t>
                      </a:r>
                      <a:r>
                        <a:rPr lang="ru-RU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характеристики (2022): </a:t>
                      </a:r>
                    </a:p>
                    <a:p>
                      <a:pPr algn="ctr"/>
                      <a:r>
                        <a:rPr lang="en-US" sz="2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Volume – </a:t>
                      </a:r>
                      <a:r>
                        <a:rPr lang="ru-RU" sz="2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объем, </a:t>
                      </a:r>
                    </a:p>
                    <a:p>
                      <a:pPr algn="ctr"/>
                      <a:r>
                        <a:rPr lang="en-US" sz="2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Velocity – </a:t>
                      </a:r>
                      <a:r>
                        <a:rPr lang="ru-RU" sz="2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скорость, </a:t>
                      </a:r>
                    </a:p>
                    <a:p>
                      <a:pPr algn="ctr"/>
                      <a:r>
                        <a:rPr lang="en-US" sz="2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Variety – </a:t>
                      </a:r>
                      <a:r>
                        <a:rPr lang="ru-RU" sz="2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разнообразие, </a:t>
                      </a:r>
                    </a:p>
                    <a:p>
                      <a:pPr algn="ctr"/>
                      <a:r>
                        <a:rPr lang="en-US" sz="2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Variability – </a:t>
                      </a:r>
                      <a:r>
                        <a:rPr lang="ru-RU" sz="24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вариантивность</a:t>
                      </a:r>
                      <a:r>
                        <a:rPr lang="ru-RU" sz="2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</a:p>
                    <a:p>
                      <a:pPr algn="ctr"/>
                      <a:r>
                        <a:rPr lang="en-US" sz="2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Value – </a:t>
                      </a:r>
                      <a:r>
                        <a:rPr lang="ru-RU" sz="2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ценность,</a:t>
                      </a:r>
                      <a:br>
                        <a:rPr lang="ru-RU" sz="2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2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Veracity – </a:t>
                      </a:r>
                      <a:r>
                        <a:rPr lang="ru-RU" sz="2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правдоподобие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51488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98091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7DFA835-8DAA-CCD7-E418-13B7CDCDC3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Критерии и необходимость </a:t>
            </a:r>
            <a:r>
              <a:rPr lang="en-US" dirty="0"/>
              <a:t>Big Data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3143133-86CF-7CEF-08B8-69C1069557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ru-RU" b="1" dirty="0"/>
              <a:t>Критерии больших данных</a:t>
            </a:r>
          </a:p>
          <a:p>
            <a:pPr marL="514350" indent="-514350">
              <a:buAutoNum type="arabicPeriod"/>
            </a:pPr>
            <a:r>
              <a:rPr lang="ru-RU" dirty="0"/>
              <a:t>Данные должны быть цифровыми </a:t>
            </a:r>
            <a:endParaRPr lang="en-US" dirty="0"/>
          </a:p>
          <a:p>
            <a:pPr marL="514350" indent="-514350">
              <a:buAutoNum type="arabicPeriod"/>
            </a:pPr>
            <a:r>
              <a:rPr lang="ru-RU" dirty="0"/>
              <a:t>Данные должны поступать в объективно больших объемах и быстро накапливаться </a:t>
            </a:r>
            <a:endParaRPr lang="en-US" dirty="0"/>
          </a:p>
          <a:p>
            <a:pPr marL="514350" indent="-514350">
              <a:buAutoNum type="arabicPeriod"/>
            </a:pPr>
            <a:r>
              <a:rPr lang="ru-RU" dirty="0"/>
              <a:t>Данные должны быть разнородными и слабо структурированными</a:t>
            </a:r>
          </a:p>
          <a:p>
            <a:pPr marL="0" indent="0">
              <a:buNone/>
            </a:pPr>
            <a:r>
              <a:rPr lang="ru-RU" b="1" dirty="0"/>
              <a:t>Необходимость</a:t>
            </a:r>
          </a:p>
          <a:p>
            <a:r>
              <a:rPr lang="ru-RU" dirty="0"/>
              <a:t>обнаружить скрытые тенденции в больших наборах данных </a:t>
            </a:r>
          </a:p>
          <a:p>
            <a:r>
              <a:rPr lang="ru-RU" dirty="0"/>
              <a:t>воспользоваться этими тенденциями для прогнозирования </a:t>
            </a:r>
          </a:p>
          <a:p>
            <a:r>
              <a:rPr lang="ru-RU" dirty="0"/>
              <a:t>вычислить вероятность любого возможного исхода </a:t>
            </a:r>
          </a:p>
          <a:p>
            <a:r>
              <a:rPr lang="ru-RU" dirty="0"/>
              <a:t>получить точные результаты быстро</a:t>
            </a:r>
          </a:p>
          <a:p>
            <a:pPr marL="0" indent="0">
              <a:buNone/>
            </a:pPr>
            <a:endParaRPr lang="ru-RU" b="1" dirty="0"/>
          </a:p>
          <a:p>
            <a:pPr marL="0" indent="0">
              <a:buNone/>
            </a:pPr>
            <a:endParaRPr lang="ru-RU" b="1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D1D2778-C412-81E2-8244-D0886C00B8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5FB71-5E9C-41B5-9BB8-3F1EBEAEB16A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065237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D8DD592-790E-2BF6-3F82-2EBE9F1DA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Задачи, решаемые </a:t>
            </a:r>
            <a:r>
              <a:rPr lang="en-US" dirty="0"/>
              <a:t>Big Data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098A302-B09B-AC73-D780-06F608B5B1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70847"/>
            <a:ext cx="10515600" cy="5006115"/>
          </a:xfrm>
        </p:spPr>
        <p:txBody>
          <a:bodyPr/>
          <a:lstStyle/>
          <a:p>
            <a:r>
              <a:rPr lang="ru-RU" dirty="0"/>
              <a:t>Управление документами и доступом</a:t>
            </a:r>
          </a:p>
          <a:p>
            <a:r>
              <a:rPr lang="ru-RU" dirty="0"/>
              <a:t>Выявление мошенничества</a:t>
            </a:r>
          </a:p>
          <a:p>
            <a:r>
              <a:rPr lang="ru-RU" dirty="0"/>
              <a:t>Системы гарантирования доходов</a:t>
            </a:r>
          </a:p>
          <a:p>
            <a:r>
              <a:rPr lang="ru-RU" dirty="0"/>
              <a:t>Анализ текучести клиентов</a:t>
            </a:r>
          </a:p>
          <a:p>
            <a:r>
              <a:rPr lang="ru-RU" dirty="0"/>
              <a:t>Мониторинг интеллектуальных счётчиков</a:t>
            </a:r>
          </a:p>
          <a:p>
            <a:r>
              <a:rPr lang="ru-RU" dirty="0"/>
              <a:t>Мониторинг оборудования</a:t>
            </a:r>
          </a:p>
          <a:p>
            <a:r>
              <a:rPr lang="ru-RU" dirty="0"/>
              <a:t>Оптимизация ценовой политики</a:t>
            </a:r>
          </a:p>
          <a:p>
            <a:r>
              <a:rPr lang="ru-RU" dirty="0"/>
              <a:t>Оптимизация автомобильного движения</a:t>
            </a:r>
          </a:p>
          <a:p>
            <a:r>
              <a:rPr lang="ru-RU" dirty="0"/>
              <a:t>Анализ социальных сетей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8CCC8B0-2E4E-4CD6-5657-6ADDAE2A43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5FB71-5E9C-41B5-9BB8-3F1EBEAEB16A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252853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D8DD592-790E-2BF6-3F82-2EBE9F1DA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Задачи, решаемые </a:t>
            </a:r>
            <a:r>
              <a:rPr lang="en-US" dirty="0"/>
              <a:t>Big Data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098A302-B09B-AC73-D780-06F608B5B1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70847"/>
            <a:ext cx="10515600" cy="5006115"/>
          </a:xfrm>
        </p:spPr>
        <p:txBody>
          <a:bodyPr/>
          <a:lstStyle/>
          <a:p>
            <a:r>
              <a:rPr lang="ru-RU" dirty="0"/>
              <a:t>Анализ поведения клиентов</a:t>
            </a:r>
          </a:p>
          <a:p>
            <a:r>
              <a:rPr lang="ru-RU" dirty="0"/>
              <a:t>Оптимизация ИТ инфраструктуры</a:t>
            </a:r>
          </a:p>
          <a:p>
            <a:r>
              <a:rPr lang="ru-RU" dirty="0"/>
              <a:t>Прогноз погоды</a:t>
            </a:r>
          </a:p>
          <a:p>
            <a:r>
              <a:rPr lang="ru-RU" dirty="0"/>
              <a:t>Разведка природных ресурсов</a:t>
            </a:r>
          </a:p>
          <a:p>
            <a:r>
              <a:rPr lang="ru-RU" dirty="0"/>
              <a:t>Управление контентом для предоставления в судебной практике</a:t>
            </a:r>
          </a:p>
          <a:p>
            <a:r>
              <a:rPr lang="ru-RU" dirty="0"/>
              <a:t>Аналитика в медицинских исследованиях</a:t>
            </a:r>
          </a:p>
          <a:p>
            <a:r>
              <a:rPr lang="ru-RU" dirty="0"/>
              <a:t>Управление гарантийными обязательствами</a:t>
            </a:r>
          </a:p>
          <a:p>
            <a:r>
              <a:rPr lang="ru-RU" dirty="0"/>
              <a:t>Анализ рекламных компаний</a:t>
            </a:r>
          </a:p>
          <a:p>
            <a:r>
              <a:rPr lang="ru-RU" dirty="0"/>
              <a:t>Исследования в области естественных наук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8CCC8B0-2E4E-4CD6-5657-6ADDAE2A43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5FB71-5E9C-41B5-9BB8-3F1EBEAEB16A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380352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83A5265-5276-6824-C9E6-CD3960A6C0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Big Data</a:t>
            </a:r>
            <a:r>
              <a:rPr lang="ru-RU" dirty="0"/>
              <a:t> в </a:t>
            </a:r>
            <a:r>
              <a:rPr lang="en-US" dirty="0"/>
              <a:t>IoT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9FB2D73-1CA0-4C99-5E0B-749D6DDF11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dirty="0"/>
              <a:t>В интернете вещей задачи </a:t>
            </a:r>
            <a:r>
              <a:rPr lang="en-US" dirty="0" err="1"/>
              <a:t>BigData</a:t>
            </a:r>
            <a:r>
              <a:rPr lang="en-US" dirty="0"/>
              <a:t> </a:t>
            </a:r>
            <a:r>
              <a:rPr lang="ru-RU" dirty="0"/>
              <a:t>сводятся:</a:t>
            </a:r>
          </a:p>
          <a:p>
            <a:pPr marL="514350" indent="-514350">
              <a:buAutoNum type="arabicPeriod"/>
            </a:pPr>
            <a:r>
              <a:rPr lang="ru-RU" dirty="0"/>
              <a:t>Управление источниками данных </a:t>
            </a:r>
            <a:r>
              <a:rPr lang="ru-RU" dirty="0" err="1"/>
              <a:t>IoT</a:t>
            </a:r>
            <a:r>
              <a:rPr lang="ru-RU" dirty="0"/>
              <a:t>, где датчики в устройствах генерируют неструктурированные, </a:t>
            </a:r>
            <a:r>
              <a:rPr lang="ru-RU" dirty="0" err="1"/>
              <a:t>полуструктурированные</a:t>
            </a:r>
            <a:r>
              <a:rPr lang="ru-RU" dirty="0"/>
              <a:t> или структурированные данные</a:t>
            </a:r>
          </a:p>
          <a:p>
            <a:pPr marL="514350" indent="-514350">
              <a:buAutoNum type="arabicPeriod"/>
            </a:pPr>
            <a:r>
              <a:rPr lang="ru-RU" dirty="0"/>
              <a:t>Сбор и хранение данных </a:t>
            </a:r>
            <a:r>
              <a:rPr lang="ru-RU" dirty="0" err="1"/>
              <a:t>IoT</a:t>
            </a:r>
            <a:r>
              <a:rPr lang="ru-RU" dirty="0"/>
              <a:t> в системе хранения больших данных</a:t>
            </a:r>
          </a:p>
          <a:p>
            <a:pPr marL="514350" indent="-514350">
              <a:buAutoNum type="arabicPeriod"/>
            </a:pPr>
            <a:r>
              <a:rPr lang="ru-RU" dirty="0"/>
              <a:t>Преобразование данных </a:t>
            </a:r>
            <a:r>
              <a:rPr lang="ru-RU" dirty="0" err="1"/>
              <a:t>IoT</a:t>
            </a:r>
            <a:r>
              <a:rPr lang="ru-RU" dirty="0"/>
              <a:t> в совместно используемые и распределяемые файлы Big Data</a:t>
            </a:r>
          </a:p>
          <a:p>
            <a:pPr marL="514350" indent="-514350">
              <a:buAutoNum type="arabicPeriod"/>
            </a:pPr>
            <a:r>
              <a:rPr lang="ru-RU" dirty="0"/>
              <a:t>Применение аналитических инструментов, таких как </a:t>
            </a:r>
            <a:r>
              <a:rPr lang="ru-RU" dirty="0" err="1"/>
              <a:t>Hadoop</a:t>
            </a:r>
            <a:r>
              <a:rPr lang="ru-RU" dirty="0"/>
              <a:t>, </a:t>
            </a:r>
            <a:r>
              <a:rPr lang="ru-RU" dirty="0" err="1"/>
              <a:t>MapReduce</a:t>
            </a:r>
            <a:r>
              <a:rPr lang="ru-RU" dirty="0"/>
              <a:t> или Spark, для анализа данных и генерация отчета для пользователя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C92EF8D-C80D-DEB6-38A0-B6DD2BE527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5FB71-5E9C-41B5-9BB8-3F1EBEAEB16A}" type="slidenum">
              <a:rPr lang="ru-RU" smtClean="0"/>
              <a:t>12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D6CD1CD-FB0E-92CA-A8D1-523C2D88C1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877552" y="6352530"/>
            <a:ext cx="6436895" cy="365125"/>
          </a:xfrm>
        </p:spPr>
        <p:txBody>
          <a:bodyPr/>
          <a:lstStyle/>
          <a:p>
            <a:r>
              <a:rPr lang="en-US" dirty="0"/>
              <a:t>https://www.researchgate.net/publication/342946040_Big_Data_Analytics_for_IoT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354231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83A5265-5276-6824-C9E6-CD3960A6C0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Big Data</a:t>
            </a:r>
            <a:r>
              <a:rPr lang="ru-RU" dirty="0"/>
              <a:t> в </a:t>
            </a:r>
            <a:r>
              <a:rPr lang="en-US" dirty="0"/>
              <a:t>IoT</a:t>
            </a: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C92EF8D-C80D-DEB6-38A0-B6DD2BE527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5FB71-5E9C-41B5-9BB8-3F1EBEAEB16A}" type="slidenum">
              <a:rPr lang="ru-RU" smtClean="0"/>
              <a:t>13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D6CD1CD-FB0E-92CA-A8D1-523C2D88C1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877552" y="6352530"/>
            <a:ext cx="6436895" cy="365125"/>
          </a:xfrm>
        </p:spPr>
        <p:txBody>
          <a:bodyPr/>
          <a:lstStyle/>
          <a:p>
            <a:r>
              <a:rPr lang="en-US" dirty="0"/>
              <a:t>https://bigdataschool.ru/blog/iot-architecture-big-data.html?ysclid=m0ff5bh0ky553728173</a:t>
            </a:r>
            <a:endParaRPr lang="ru-RU" dirty="0"/>
          </a:p>
        </p:txBody>
      </p:sp>
      <p:pic>
        <p:nvPicPr>
          <p:cNvPr id="1026" name="Picture 2" descr="IoT, Internet of Things, архитектура">
            <a:extLst>
              <a:ext uri="{FF2B5EF4-FFF2-40B4-BE49-F238E27FC236}">
                <a16:creationId xmlns:a16="http://schemas.microsoft.com/office/drawing/2014/main" id="{B8BB2BB9-CA69-3CC6-AB33-DF64D91EECFE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56296" y="1458361"/>
            <a:ext cx="7679405" cy="46028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678841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6134066-A74C-BD57-3AC6-4A20932F1A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Big Data </a:t>
            </a:r>
            <a:r>
              <a:rPr lang="ru-RU" dirty="0"/>
              <a:t>в ритейле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E9DF837-3E84-A02B-9667-0951603C79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 algn="l">
              <a:buNone/>
            </a:pPr>
            <a:r>
              <a:rPr lang="ru-RU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YS Text"/>
              </a:rPr>
              <a:t>Главные возможности применения Big Data в ритейле:</a:t>
            </a:r>
          </a:p>
          <a:p>
            <a:pPr algn="l"/>
            <a:r>
              <a:rPr lang="ru-RU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YS Text"/>
              </a:rPr>
              <a:t>формирование ассортиментной матрицы и оптимизация товарных остатков</a:t>
            </a:r>
          </a:p>
          <a:p>
            <a:pPr algn="l"/>
            <a:r>
              <a:rPr lang="ru-RU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YS Text"/>
              </a:rPr>
              <a:t>распределение товаров между и внутри торговых точек (мерчендайзинг)</a:t>
            </a:r>
          </a:p>
          <a:p>
            <a:pPr algn="l"/>
            <a:r>
              <a:rPr lang="ru-RU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YS Text"/>
              </a:rPr>
              <a:t>предсказание спроса</a:t>
            </a:r>
          </a:p>
          <a:p>
            <a:pPr algn="l"/>
            <a:r>
              <a:rPr lang="ru-RU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YS Text"/>
              </a:rPr>
              <a:t>анализ данных программ лояльности</a:t>
            </a:r>
          </a:p>
          <a:p>
            <a:pPr algn="l"/>
            <a:r>
              <a:rPr lang="ru-RU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YS Text"/>
              </a:rPr>
              <a:t>ценообразование, в том числе динамическое</a:t>
            </a:r>
          </a:p>
          <a:p>
            <a:pPr algn="l"/>
            <a:r>
              <a:rPr lang="ru-RU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YS Text"/>
              </a:rPr>
              <a:t>оптимизация маркетинговых и рекламных кампаний</a:t>
            </a:r>
          </a:p>
          <a:p>
            <a:pPr algn="l"/>
            <a:r>
              <a:rPr lang="ru-RU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YS Text"/>
              </a:rPr>
              <a:t>персонализация коммуникации с пользователями во всех каналах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956F9844-DF5A-483C-C0DE-65100C19A3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5FB71-5E9C-41B5-9BB8-3F1EBEAEB16A}" type="slidenum">
              <a:rPr lang="ru-RU" smtClean="0"/>
              <a:t>14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9B7625A-DCF0-7A2E-C808-A83C604097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https://retailrocket.ru/blog/big-data-v-sovremennom-ritejle/?ysclid=m0ffgkfkp8527787059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741667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3C56AFF-89A4-BA06-830F-19CDB5D3E8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Big Data </a:t>
            </a:r>
            <a:r>
              <a:rPr lang="ru-RU" dirty="0"/>
              <a:t>в ритейле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9B9EAA26-142A-2925-4848-444B377279D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t="19076"/>
          <a:stretch/>
        </p:blipFill>
        <p:spPr>
          <a:xfrm>
            <a:off x="1820087" y="1912854"/>
            <a:ext cx="8551826" cy="3898984"/>
          </a:xfrm>
          <a:prstGeom prst="rect">
            <a:avLst/>
          </a:prstGeom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DC641E2-7A1F-68D4-52FB-585C353F02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5FB71-5E9C-41B5-9BB8-3F1EBEAEB16A}" type="slidenum">
              <a:rPr lang="ru-RU" smtClean="0"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526410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 descr="курсы Kafka Hadoop Spark, обучение большим данным, Big Data для разработчиков и архитекторов">
            <a:extLst>
              <a:ext uri="{FF2B5EF4-FFF2-40B4-BE49-F238E27FC236}">
                <a16:creationId xmlns:a16="http://schemas.microsoft.com/office/drawing/2014/main" id="{DB7F1EB0-05E5-FD0E-C40B-4D777420ADD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1308"/>
          <a:stretch/>
        </p:blipFill>
        <p:spPr bwMode="auto">
          <a:xfrm>
            <a:off x="285730" y="1304273"/>
            <a:ext cx="7665616" cy="26902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83A5265-5276-6824-C9E6-CD3960A6C0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Big Data</a:t>
            </a:r>
            <a:r>
              <a:rPr lang="ru-RU" dirty="0"/>
              <a:t> в сервисах подписки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C92EF8D-C80D-DEB6-38A0-B6DD2BE527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5FB71-5E9C-41B5-9BB8-3F1EBEAEB16A}" type="slidenum">
              <a:rPr lang="ru-RU" smtClean="0"/>
              <a:t>16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D6CD1CD-FB0E-92CA-A8D1-523C2D88C1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877552" y="6352530"/>
            <a:ext cx="6436895" cy="365125"/>
          </a:xfrm>
        </p:spPr>
        <p:txBody>
          <a:bodyPr/>
          <a:lstStyle/>
          <a:p>
            <a:r>
              <a:rPr lang="en-US" dirty="0"/>
              <a:t>https://bigdataschool.ru/blog/iot-architecture-big-data.html?ysclid=m0ff5bh0ky553728173</a:t>
            </a:r>
            <a:endParaRPr lang="ru-RU" dirty="0"/>
          </a:p>
        </p:txBody>
      </p:sp>
      <p:pic>
        <p:nvPicPr>
          <p:cNvPr id="2050" name="Picture 2" descr="курсы Kafka Hadoop Spark, обучение большим данным, Big Data для разработчиков и архитекторов">
            <a:extLst>
              <a:ext uri="{FF2B5EF4-FFF2-40B4-BE49-F238E27FC236}">
                <a16:creationId xmlns:a16="http://schemas.microsoft.com/office/drawing/2014/main" id="{3C530272-2649-970E-1E8B-88F38F4632D0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64" t="37990" r="11637"/>
          <a:stretch/>
        </p:blipFill>
        <p:spPr bwMode="auto">
          <a:xfrm>
            <a:off x="6701590" y="2562222"/>
            <a:ext cx="5204680" cy="35184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8" name="Picture 10" descr="Kafka, Spark Streaming, пакетная аналитика больших данных">
            <a:extLst>
              <a:ext uri="{FF2B5EF4-FFF2-40B4-BE49-F238E27FC236}">
                <a16:creationId xmlns:a16="http://schemas.microsoft.com/office/drawing/2014/main" id="{E8C403C6-EB6C-46F3-35BB-F7F9B58B0D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730" y="4508707"/>
            <a:ext cx="6058431" cy="16957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4602176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62D49D8-26BD-486A-1F4F-FAC7E6C235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Польза решений на основе </a:t>
            </a:r>
            <a:r>
              <a:rPr lang="en-US" dirty="0" err="1"/>
              <a:t>BigData</a:t>
            </a:r>
            <a:r>
              <a:rPr lang="ru-RU" dirty="0"/>
              <a:t> по отраслям</a:t>
            </a:r>
          </a:p>
        </p:txBody>
      </p:sp>
      <p:graphicFrame>
        <p:nvGraphicFramePr>
          <p:cNvPr id="5" name="Объект 4">
            <a:extLst>
              <a:ext uri="{FF2B5EF4-FFF2-40B4-BE49-F238E27FC236}">
                <a16:creationId xmlns:a16="http://schemas.microsoft.com/office/drawing/2014/main" id="{657DD2C8-3EB8-14EF-10F3-BAE08CAEEC5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62208429"/>
              </p:ext>
            </p:extLst>
          </p:nvPr>
        </p:nvGraphicFramePr>
        <p:xfrm>
          <a:off x="838198" y="1170847"/>
          <a:ext cx="10515600" cy="23580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2C3B13B-A741-37A6-CEAD-BF7D87FB72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5FB71-5E9C-41B5-9BB8-3F1EBEAEB16A}" type="slidenum">
              <a:rPr lang="ru-RU" smtClean="0"/>
              <a:t>17</a:t>
            </a:fld>
            <a:endParaRPr lang="ru-RU"/>
          </a:p>
        </p:txBody>
      </p:sp>
      <p:graphicFrame>
        <p:nvGraphicFramePr>
          <p:cNvPr id="6" name="Схема 5">
            <a:extLst>
              <a:ext uri="{FF2B5EF4-FFF2-40B4-BE49-F238E27FC236}">
                <a16:creationId xmlns:a16="http://schemas.microsoft.com/office/drawing/2014/main" id="{2A40A125-A771-DCFB-58A1-5D1AFA9B1F4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02485211"/>
              </p:ext>
            </p:extLst>
          </p:nvPr>
        </p:nvGraphicFramePr>
        <p:xfrm>
          <a:off x="838199" y="3636544"/>
          <a:ext cx="10515599" cy="274726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354131462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165EBC1-8EF5-BB27-2C59-79DEF18CD7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Рынок </a:t>
            </a:r>
            <a:r>
              <a:rPr lang="en-US" dirty="0" err="1"/>
              <a:t>BigData</a:t>
            </a:r>
            <a:r>
              <a:rPr lang="en-US" dirty="0"/>
              <a:t> (</a:t>
            </a:r>
            <a:r>
              <a:rPr lang="ru-RU" dirty="0"/>
              <a:t>медиа декабрь 2023</a:t>
            </a:r>
            <a:r>
              <a:rPr lang="en-US" dirty="0"/>
              <a:t>)</a:t>
            </a:r>
            <a:endParaRPr lang="ru-RU" dirty="0"/>
          </a:p>
        </p:txBody>
      </p:sp>
      <p:graphicFrame>
        <p:nvGraphicFramePr>
          <p:cNvPr id="6" name="Объект 5">
            <a:extLst>
              <a:ext uri="{FF2B5EF4-FFF2-40B4-BE49-F238E27FC236}">
                <a16:creationId xmlns:a16="http://schemas.microsoft.com/office/drawing/2014/main" id="{FD25FC49-0E26-5CC9-75AC-3FCA057EF45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9361699"/>
              </p:ext>
            </p:extLst>
          </p:nvPr>
        </p:nvGraphicFramePr>
        <p:xfrm>
          <a:off x="1855613" y="1170847"/>
          <a:ext cx="8480774" cy="4921140"/>
        </p:xfrm>
        <a:graphic>
          <a:graphicData uri="http://schemas.openxmlformats.org/drawingml/2006/table">
            <a:tbl>
              <a:tblPr/>
              <a:tblGrid>
                <a:gridCol w="4240387">
                  <a:extLst>
                    <a:ext uri="{9D8B030D-6E8A-4147-A177-3AD203B41FA5}">
                      <a16:colId xmlns:a16="http://schemas.microsoft.com/office/drawing/2014/main" val="1749330393"/>
                    </a:ext>
                  </a:extLst>
                </a:gridCol>
                <a:gridCol w="4240387">
                  <a:extLst>
                    <a:ext uri="{9D8B030D-6E8A-4147-A177-3AD203B41FA5}">
                      <a16:colId xmlns:a16="http://schemas.microsoft.com/office/drawing/2014/main" val="654163950"/>
                    </a:ext>
                  </a:extLst>
                </a:gridCol>
              </a:tblGrid>
              <a:tr h="34414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b="1">
                          <a:solidFill>
                            <a:srgbClr val="4F4F4F"/>
                          </a:solidFill>
                          <a:effectLst/>
                          <a:highlight>
                            <a:srgbClr val="FFFFFF"/>
                          </a:highlight>
                        </a:rPr>
                        <a:t>Characteristic</a:t>
                      </a:r>
                    </a:p>
                  </a:txBody>
                  <a:tcPr marL="115228" marR="115228" marT="61455" marB="614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b="1">
                          <a:solidFill>
                            <a:srgbClr val="4F4F4F"/>
                          </a:solidFill>
                          <a:effectLst/>
                          <a:highlight>
                            <a:srgbClr val="FFFFFF"/>
                          </a:highlight>
                        </a:rPr>
                        <a:t>Amount per minute</a:t>
                      </a:r>
                    </a:p>
                  </a:txBody>
                  <a:tcPr marL="115228" marR="115228" marT="61455" marB="614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4946185"/>
                  </a:ext>
                </a:extLst>
              </a:tr>
              <a:tr h="34414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>
                          <a:effectLst/>
                        </a:rPr>
                        <a:t>USD traded in treasury bonds</a:t>
                      </a:r>
                    </a:p>
                  </a:txBody>
                  <a:tcPr marL="115228" marR="115228" marT="61455" marB="61455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500">
                          <a:effectLst/>
                        </a:rPr>
                        <a:t>398,000,000</a:t>
                      </a:r>
                    </a:p>
                  </a:txBody>
                  <a:tcPr marL="115228" marR="115228" marT="61455" marB="61455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7513212"/>
                  </a:ext>
                </a:extLst>
              </a:tr>
              <a:tr h="34414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>
                          <a:effectLst/>
                        </a:rPr>
                        <a:t>Emails sent</a:t>
                      </a:r>
                    </a:p>
                  </a:txBody>
                  <a:tcPr marL="115228" marR="115228" marT="61455" marB="61455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500">
                          <a:effectLst/>
                        </a:rPr>
                        <a:t>241,000,000</a:t>
                      </a:r>
                    </a:p>
                  </a:txBody>
                  <a:tcPr marL="115228" marR="115228" marT="61455" marB="61455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8661441"/>
                  </a:ext>
                </a:extLst>
              </a:tr>
              <a:tr h="34414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>
                          <a:effectLst/>
                        </a:rPr>
                        <a:t>WhatsApp messages sent</a:t>
                      </a:r>
                    </a:p>
                  </a:txBody>
                  <a:tcPr marL="115228" marR="115228" marT="61455" marB="61455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500" dirty="0">
                          <a:effectLst/>
                        </a:rPr>
                        <a:t>41,600,000</a:t>
                      </a:r>
                    </a:p>
                  </a:txBody>
                  <a:tcPr marL="115228" marR="115228" marT="61455" marB="61455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7429309"/>
                  </a:ext>
                </a:extLst>
              </a:tr>
              <a:tr h="34414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>
                          <a:effectLst/>
                        </a:rPr>
                        <a:t>Global hours spent online</a:t>
                      </a:r>
                    </a:p>
                  </a:txBody>
                  <a:tcPr marL="115228" marR="115228" marT="61455" marB="61455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500">
                          <a:effectLst/>
                        </a:rPr>
                        <a:t>25,100,000</a:t>
                      </a:r>
                    </a:p>
                  </a:txBody>
                  <a:tcPr marL="115228" marR="115228" marT="61455" marB="61455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0677411"/>
                  </a:ext>
                </a:extLst>
              </a:tr>
              <a:tr h="34414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>
                          <a:effectLst/>
                        </a:rPr>
                        <a:t>Searches on Google</a:t>
                      </a:r>
                    </a:p>
                  </a:txBody>
                  <a:tcPr marL="115228" marR="115228" marT="61455" marB="61455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500">
                          <a:effectLst/>
                        </a:rPr>
                        <a:t>6,300,000</a:t>
                      </a:r>
                    </a:p>
                  </a:txBody>
                  <a:tcPr marL="115228" marR="115228" marT="61455" marB="61455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9315241"/>
                  </a:ext>
                </a:extLst>
              </a:tr>
              <a:tr h="34414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>
                          <a:effectLst/>
                        </a:rPr>
                        <a:t>Facebook posts liked</a:t>
                      </a:r>
                    </a:p>
                  </a:txBody>
                  <a:tcPr marL="115228" marR="115228" marT="61455" marB="61455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500">
                          <a:effectLst/>
                        </a:rPr>
                        <a:t>4,000,000</a:t>
                      </a:r>
                    </a:p>
                  </a:txBody>
                  <a:tcPr marL="115228" marR="115228" marT="61455" marB="61455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8090799"/>
                  </a:ext>
                </a:extLst>
              </a:tr>
              <a:tr h="34414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>
                          <a:effectLst/>
                        </a:rPr>
                        <a:t>USD sent on Venmo</a:t>
                      </a:r>
                    </a:p>
                  </a:txBody>
                  <a:tcPr marL="115228" marR="115228" marT="61455" marB="61455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500">
                          <a:effectLst/>
                        </a:rPr>
                        <a:t>1,000,000</a:t>
                      </a:r>
                    </a:p>
                  </a:txBody>
                  <a:tcPr marL="115228" marR="115228" marT="61455" marB="61455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2277668"/>
                  </a:ext>
                </a:extLst>
              </a:tr>
              <a:tr h="34414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>
                          <a:effectLst/>
                        </a:rPr>
                        <a:t>Reels sent via DM on Instagram</a:t>
                      </a:r>
                    </a:p>
                  </a:txBody>
                  <a:tcPr marL="115228" marR="115228" marT="61455" marB="61455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500">
                          <a:effectLst/>
                        </a:rPr>
                        <a:t>694,000</a:t>
                      </a:r>
                    </a:p>
                  </a:txBody>
                  <a:tcPr marL="115228" marR="115228" marT="61455" marB="61455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3429510"/>
                  </a:ext>
                </a:extLst>
              </a:tr>
              <a:tr h="34414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>
                          <a:effectLst/>
                        </a:rPr>
                        <a:t>USD spent on Amazon</a:t>
                      </a:r>
                    </a:p>
                  </a:txBody>
                  <a:tcPr marL="115228" marR="115228" marT="61455" marB="61455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500">
                          <a:effectLst/>
                        </a:rPr>
                        <a:t>455,000</a:t>
                      </a:r>
                    </a:p>
                  </a:txBody>
                  <a:tcPr marL="115228" marR="115228" marT="61455" marB="61455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4621537"/>
                  </a:ext>
                </a:extLst>
              </a:tr>
              <a:tr h="34414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>
                          <a:effectLst/>
                        </a:rPr>
                        <a:t>X (Twitter) posts sent</a:t>
                      </a:r>
                    </a:p>
                  </a:txBody>
                  <a:tcPr marL="115228" marR="115228" marT="61455" marB="61455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500">
                          <a:effectLst/>
                        </a:rPr>
                        <a:t>360,000</a:t>
                      </a:r>
                    </a:p>
                  </a:txBody>
                  <a:tcPr marL="115228" marR="115228" marT="61455" marB="61455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6772172"/>
                  </a:ext>
                </a:extLst>
              </a:tr>
              <a:tr h="34414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>
                          <a:effectLst/>
                        </a:rPr>
                        <a:t>USD spent on DoorDash</a:t>
                      </a:r>
                    </a:p>
                  </a:txBody>
                  <a:tcPr marL="115228" marR="115228" marT="61455" marB="61455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500">
                          <a:effectLst/>
                        </a:rPr>
                        <a:t>122,000</a:t>
                      </a:r>
                    </a:p>
                  </a:txBody>
                  <a:tcPr marL="115228" marR="115228" marT="61455" marB="61455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9419103"/>
                  </a:ext>
                </a:extLst>
              </a:tr>
              <a:tr h="34414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>
                          <a:effectLst/>
                        </a:rPr>
                        <a:t>Taylor Swift song streamed</a:t>
                      </a:r>
                    </a:p>
                  </a:txBody>
                  <a:tcPr marL="115228" marR="115228" marT="61455" marB="61455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500">
                          <a:effectLst/>
                        </a:rPr>
                        <a:t>69,400</a:t>
                      </a:r>
                    </a:p>
                  </a:txBody>
                  <a:tcPr marL="115228" marR="115228" marT="61455" marB="61455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5660112"/>
                  </a:ext>
                </a:extLst>
              </a:tr>
              <a:tr h="34414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>
                          <a:effectLst/>
                        </a:rPr>
                        <a:t>Hours of content watched on Twitch</a:t>
                      </a:r>
                    </a:p>
                  </a:txBody>
                  <a:tcPr marL="115228" marR="115228" marT="61455" marB="61455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500" dirty="0">
                          <a:effectLst/>
                        </a:rPr>
                        <a:t>48,000</a:t>
                      </a:r>
                    </a:p>
                  </a:txBody>
                  <a:tcPr marL="115228" marR="115228" marT="61455" marB="61455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1213817"/>
                  </a:ext>
                </a:extLst>
              </a:tr>
            </a:tbl>
          </a:graphicData>
        </a:graphic>
      </p:graphicFrame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750DFD3-0316-AD22-369D-7588DCE50F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5FB71-5E9C-41B5-9BB8-3F1EBEAEB16A}" type="slidenum">
              <a:rPr lang="ru-RU" smtClean="0"/>
              <a:t>18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8910D90-3FBD-ADD3-3BDD-D1162BF45A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356350"/>
            <a:ext cx="9891154" cy="365125"/>
          </a:xfrm>
        </p:spPr>
        <p:txBody>
          <a:bodyPr/>
          <a:lstStyle/>
          <a:p>
            <a:r>
              <a:rPr lang="en-US" dirty="0"/>
              <a:t>Media usage in an internet minute as of December 2023  https://www.statista.com/statistics/195140/new-user-generated-content-uploaded-by-users-per-minute/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813016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165EBC1-8EF5-BB27-2C59-79DEF18CD7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</a:t>
            </a:r>
            <a:r>
              <a:rPr lang="ru-RU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</a:rPr>
              <a:t>иаграмма стран лидеров больших данных</a:t>
            </a: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750DFD3-0316-AD22-369D-7588DCE50F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5FB71-5E9C-41B5-9BB8-3F1EBEAEB16A}" type="slidenum">
              <a:rPr lang="ru-RU" smtClean="0"/>
              <a:t>19</a:t>
            </a:fld>
            <a:endParaRPr lang="ru-RU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0EE5CA69-0E92-8CBD-69EC-6A8B15709B81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9673" y="1358900"/>
            <a:ext cx="9052654" cy="4818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1753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42B3C81-EAC4-A82C-76E9-79978EB9A0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Индустрия использования </a:t>
            </a:r>
            <a:r>
              <a:rPr lang="en-US" dirty="0" err="1"/>
              <a:t>BigData</a:t>
            </a:r>
            <a:r>
              <a:rPr lang="en-US" dirty="0"/>
              <a:t> (2022)</a:t>
            </a: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C570726-F019-BE3B-D042-FE375937AA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5FB71-5E9C-41B5-9BB8-3F1EBEAEB16A}" type="slidenum">
              <a:rPr lang="ru-RU" smtClean="0"/>
              <a:t>20</a:t>
            </a:fld>
            <a:endParaRPr lang="ru-RU"/>
          </a:p>
        </p:txBody>
      </p:sp>
      <p:pic>
        <p:nvPicPr>
          <p:cNvPr id="3076" name="Picture 4">
            <a:extLst>
              <a:ext uri="{FF2B5EF4-FFF2-40B4-BE49-F238E27FC236}">
                <a16:creationId xmlns:a16="http://schemas.microsoft.com/office/drawing/2014/main" id="{69188B85-A88E-1DAF-7B9A-A1A831B175D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199" y="984613"/>
            <a:ext cx="4652513" cy="24443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2B8B395-3C63-D47B-530F-869FBBFDD2E3}"/>
              </a:ext>
            </a:extLst>
          </p:cNvPr>
          <p:cNvSpPr txBox="1"/>
          <p:nvPr/>
        </p:nvSpPr>
        <p:spPr>
          <a:xfrm>
            <a:off x="4703971" y="1369275"/>
            <a:ext cx="139202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b="1" i="0" dirty="0">
                <a:solidFill>
                  <a:srgbClr val="45474E"/>
                </a:solidFill>
                <a:effectLst/>
                <a:highlight>
                  <a:srgbClr val="FFFFFF"/>
                </a:highlight>
              </a:rPr>
              <a:t>Инвестиции в технологии больших данных по отраслям, %</a:t>
            </a:r>
            <a:endParaRPr lang="ru-RU" sz="1600" b="1" dirty="0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13767853-0BC6-3226-B5C5-DF5B597E02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143242"/>
            <a:ext cx="9802091" cy="694535"/>
          </a:xfrm>
        </p:spPr>
        <p:txBody>
          <a:bodyPr/>
          <a:lstStyle/>
          <a:p>
            <a:r>
              <a:rPr lang="en-US" dirty="0"/>
              <a:t>IDC Forecasts Revenues for Big Data and Business Analytics Solutions Will Reach $189.1 Billion This Year with Double-Digit Annual Growth Through 2022: </a:t>
            </a:r>
            <a:r>
              <a:rPr lang="en-US" dirty="0">
                <a:hlinkClick r:id="rId4"/>
              </a:rPr>
              <a:t>https://www.idc.com</a:t>
            </a:r>
            <a:br>
              <a:rPr lang="en-US" dirty="0"/>
            </a:br>
            <a:r>
              <a:rPr lang="en-US" dirty="0"/>
              <a:t>https://delprof.ru/press-center/open-analytics/big-data-perspektivy-razvitiya-trendy-i-obemy-rynka-bolshikh-dannykh/?</a:t>
            </a:r>
            <a:endParaRPr lang="ru-RU" dirty="0"/>
          </a:p>
        </p:txBody>
      </p:sp>
      <p:pic>
        <p:nvPicPr>
          <p:cNvPr id="3078" name="Picture 6" descr="Рис. 6. Технологии, используемые среди российских компаний, %">
            <a:extLst>
              <a:ext uri="{FF2B5EF4-FFF2-40B4-BE49-F238E27FC236}">
                <a16:creationId xmlns:a16="http://schemas.microsoft.com/office/drawing/2014/main" id="{7F44DB2F-EB4D-7E7F-5DE2-285F2AE019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1069319"/>
            <a:ext cx="3907407" cy="24612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49EA409-B124-8FB4-37BA-0DEB61071658}"/>
              </a:ext>
            </a:extLst>
          </p:cNvPr>
          <p:cNvSpPr txBox="1"/>
          <p:nvPr/>
        </p:nvSpPr>
        <p:spPr>
          <a:xfrm>
            <a:off x="10430494" y="1466147"/>
            <a:ext cx="153983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b="1" dirty="0">
                <a:solidFill>
                  <a:srgbClr val="45474E"/>
                </a:solidFill>
                <a:highlight>
                  <a:srgbClr val="FFFFFF"/>
                </a:highlight>
              </a:rPr>
              <a:t>Технологии, используемые среди российских компаний, %</a:t>
            </a:r>
          </a:p>
        </p:txBody>
      </p:sp>
      <p:pic>
        <p:nvPicPr>
          <p:cNvPr id="3080" name="Picture 8" descr="Рис7. Индустрия использования BD в РФjpg">
            <a:extLst>
              <a:ext uri="{FF2B5EF4-FFF2-40B4-BE49-F238E27FC236}">
                <a16:creationId xmlns:a16="http://schemas.microsoft.com/office/drawing/2014/main" id="{0D37A485-597D-AFC0-0FCA-11EBFBFD25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8559" y="3601072"/>
            <a:ext cx="4274153" cy="24668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2" name="Picture 10" descr="Рис.2. Доля сегментов рынка в общем объеме выручки, %">
            <a:extLst>
              <a:ext uri="{FF2B5EF4-FFF2-40B4-BE49-F238E27FC236}">
                <a16:creationId xmlns:a16="http://schemas.microsoft.com/office/drawing/2014/main" id="{888316BD-A00B-EEEB-D784-66CE0BCE92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65064" y="3650816"/>
            <a:ext cx="3917022" cy="23257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F99D358-EF7C-2FAD-140A-B22A58843845}"/>
              </a:ext>
            </a:extLst>
          </p:cNvPr>
          <p:cNvSpPr txBox="1"/>
          <p:nvPr/>
        </p:nvSpPr>
        <p:spPr>
          <a:xfrm>
            <a:off x="4703971" y="4230956"/>
            <a:ext cx="153983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b="1" dirty="0">
                <a:solidFill>
                  <a:srgbClr val="45474E"/>
                </a:solidFill>
                <a:highlight>
                  <a:srgbClr val="FFFFFF"/>
                </a:highlight>
              </a:rPr>
              <a:t>Индустрии использования больших данных в России, %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52A129B-3101-F460-D9A4-1236B11F4905}"/>
              </a:ext>
            </a:extLst>
          </p:cNvPr>
          <p:cNvSpPr txBox="1"/>
          <p:nvPr/>
        </p:nvSpPr>
        <p:spPr>
          <a:xfrm>
            <a:off x="10430494" y="4151962"/>
            <a:ext cx="153983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b="1" dirty="0">
                <a:solidFill>
                  <a:srgbClr val="45474E"/>
                </a:solidFill>
                <a:highlight>
                  <a:srgbClr val="FFFFFF"/>
                </a:highlight>
              </a:rPr>
              <a:t>Доля сегментов рынка в общем объеме выручки, %</a:t>
            </a:r>
          </a:p>
        </p:txBody>
      </p:sp>
    </p:spTree>
    <p:extLst>
      <p:ext uri="{BB962C8B-B14F-4D97-AF65-F5344CB8AC3E}">
        <p14:creationId xmlns:p14="http://schemas.microsoft.com/office/powerpoint/2010/main" val="253837176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FF1FD64-9516-AF8D-C355-C3CBC1C4F2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Ассоциация больших данных РФ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1E9CE1F-17E8-7F3B-5008-5F662BB35E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5FB71-5E9C-41B5-9BB8-3F1EBEAEB16A}" type="slidenum">
              <a:rPr lang="ru-RU" smtClean="0"/>
              <a:t>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E63E45E-4DD0-439C-8160-785A16782B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Ассоциация больших данных  https://rubda.ru/</a:t>
            </a:r>
          </a:p>
        </p:txBody>
      </p:sp>
      <p:pic>
        <p:nvPicPr>
          <p:cNvPr id="9" name="Объект 8">
            <a:extLst>
              <a:ext uri="{FF2B5EF4-FFF2-40B4-BE49-F238E27FC236}">
                <a16:creationId xmlns:a16="http://schemas.microsoft.com/office/drawing/2014/main" id="{2608CE6B-C73F-92BB-7872-A3D4399C4D6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 bwMode="auto">
          <a:xfrm>
            <a:off x="1590675" y="2339181"/>
            <a:ext cx="9010650" cy="285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3070849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5444460-25B5-9C4C-EE7E-C749912B53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DD734E6-BFA1-23AF-1A32-FE45DFF484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740B757-DD6C-679A-94D6-4403BE4177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5FB71-5E9C-41B5-9BB8-3F1EBEAEB16A}" type="slidenum">
              <a:rPr lang="ru-RU" smtClean="0"/>
              <a:t>22</a:t>
            </a:fld>
            <a:endParaRPr lang="ru-RU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FDE34B25-A793-30C6-36D2-35D017D0DD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29" y="0"/>
            <a:ext cx="1216217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846044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9B4B189-DE04-ACA0-28EC-69F235B694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7632248-EF45-1316-CA18-D6521B87E8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DF24E62-7398-6250-1E11-0059F3CC5F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5FB71-5E9C-41B5-9BB8-3F1EBEAEB16A}" type="slidenum">
              <a:rPr lang="ru-RU" smtClean="0"/>
              <a:t>23</a:t>
            </a:fld>
            <a:endParaRPr lang="ru-RU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0E86CABD-1328-6B57-5C44-194B44CEFA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4172"/>
            <a:ext cx="12192000" cy="6789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978064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2F889D6-1F12-B326-39A0-F9E27D3CC4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Базовый </a:t>
            </a:r>
            <a:r>
              <a:rPr lang="ru-RU" dirty="0" err="1"/>
              <a:t>пайплайн</a:t>
            </a:r>
            <a:r>
              <a:rPr lang="ru-RU" dirty="0"/>
              <a:t> </a:t>
            </a:r>
            <a:r>
              <a:rPr lang="en-US" dirty="0" err="1"/>
              <a:t>BigData</a:t>
            </a:r>
            <a:endParaRPr lang="ru-RU" dirty="0"/>
          </a:p>
        </p:txBody>
      </p:sp>
      <p:graphicFrame>
        <p:nvGraphicFramePr>
          <p:cNvPr id="5" name="Объект 4">
            <a:extLst>
              <a:ext uri="{FF2B5EF4-FFF2-40B4-BE49-F238E27FC236}">
                <a16:creationId xmlns:a16="http://schemas.microsoft.com/office/drawing/2014/main" id="{F9112203-26BE-9C0F-079B-B1F252C9E30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59361281"/>
              </p:ext>
            </p:extLst>
          </p:nvPr>
        </p:nvGraphicFramePr>
        <p:xfrm>
          <a:off x="838200" y="1358900"/>
          <a:ext cx="10515600" cy="48180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E7A23ED-8669-8BEF-23F9-798975CE86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5FB71-5E9C-41B5-9BB8-3F1EBEAEB16A}" type="slidenum">
              <a:rPr lang="ru-RU" smtClean="0"/>
              <a:t>24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581826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95A3011-9CDE-C928-2758-AFB8EE30E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Технологии работы с большими данными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55B4E58-EB1D-8B76-5EC9-E74BDE3234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1" dirty="0"/>
              <a:t>Горизонтальная масштабируемость</a:t>
            </a:r>
            <a:r>
              <a:rPr lang="en-US" b="1" dirty="0"/>
              <a:t> </a:t>
            </a:r>
            <a:br>
              <a:rPr lang="ru-RU" b="1" dirty="0"/>
            </a:br>
            <a:r>
              <a:rPr lang="en-US" b="1" dirty="0"/>
              <a:t>(</a:t>
            </a:r>
            <a:r>
              <a:rPr lang="ru-RU" b="1" dirty="0"/>
              <a:t>большое количество места и серверов</a:t>
            </a:r>
            <a:r>
              <a:rPr lang="en-US" b="1" dirty="0"/>
              <a:t>)</a:t>
            </a:r>
            <a:endParaRPr lang="ru-RU" b="1" dirty="0"/>
          </a:p>
          <a:p>
            <a:r>
              <a:rPr lang="en-US" b="1" dirty="0"/>
              <a:t>MapReduce</a:t>
            </a:r>
            <a:r>
              <a:rPr lang="en-US" dirty="0"/>
              <a:t> – </a:t>
            </a:r>
            <a:r>
              <a:rPr lang="ru-RU" dirty="0"/>
              <a:t>модель распределенных вычислений, используемая для параллельных вычислений над очень большими наборами данных в компьютерных кластерах</a:t>
            </a:r>
          </a:p>
          <a:p>
            <a:r>
              <a:rPr lang="en-US" dirty="0"/>
              <a:t>NoSQL</a:t>
            </a:r>
          </a:p>
          <a:p>
            <a:r>
              <a:rPr lang="en-US" dirty="0"/>
              <a:t>Hadoop, Spark, MPP</a:t>
            </a:r>
          </a:p>
          <a:p>
            <a:r>
              <a:rPr lang="en-US" dirty="0"/>
              <a:t>R, </a:t>
            </a:r>
            <a:r>
              <a:rPr lang="en-US" b="1" dirty="0"/>
              <a:t>Python</a:t>
            </a:r>
            <a:r>
              <a:rPr lang="en-US" dirty="0"/>
              <a:t>, Scala, Java</a:t>
            </a:r>
          </a:p>
          <a:p>
            <a:r>
              <a:rPr lang="ru-RU" dirty="0"/>
              <a:t>Облачные вычисления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8034BF9-8139-8575-D303-8A0DC7EE13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5FB71-5E9C-41B5-9BB8-3F1EBEAEB16A}" type="slidenum">
              <a:rPr lang="ru-RU" smtClean="0"/>
              <a:t>25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6478317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34D6BEC-DD2F-0C33-73B9-46AF0CDBF2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SQL vs NoSQL</a:t>
            </a:r>
            <a:endParaRPr lang="ru-RU" dirty="0"/>
          </a:p>
        </p:txBody>
      </p:sp>
      <p:graphicFrame>
        <p:nvGraphicFramePr>
          <p:cNvPr id="5" name="Объект 4">
            <a:extLst>
              <a:ext uri="{FF2B5EF4-FFF2-40B4-BE49-F238E27FC236}">
                <a16:creationId xmlns:a16="http://schemas.microsoft.com/office/drawing/2014/main" id="{0CE6D4D9-E863-68CA-CF20-4BE5043C69F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68624534"/>
              </p:ext>
            </p:extLst>
          </p:nvPr>
        </p:nvGraphicFramePr>
        <p:xfrm>
          <a:off x="693561" y="1772000"/>
          <a:ext cx="4821810" cy="2594065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2410905">
                  <a:extLst>
                    <a:ext uri="{9D8B030D-6E8A-4147-A177-3AD203B41FA5}">
                      <a16:colId xmlns:a16="http://schemas.microsoft.com/office/drawing/2014/main" val="2709683543"/>
                    </a:ext>
                  </a:extLst>
                </a:gridCol>
                <a:gridCol w="2410905">
                  <a:extLst>
                    <a:ext uri="{9D8B030D-6E8A-4147-A177-3AD203B41FA5}">
                      <a16:colId xmlns:a16="http://schemas.microsoft.com/office/drawing/2014/main" val="2239807585"/>
                    </a:ext>
                  </a:extLst>
                </a:gridCol>
              </a:tblGrid>
              <a:tr h="455615">
                <a:tc>
                  <a:txBody>
                    <a:bodyPr/>
                    <a:lstStyle/>
                    <a:p>
                      <a:pPr algn="ctr"/>
                      <a:r>
                        <a:rPr lang="en-US" sz="3000" b="1" dirty="0"/>
                        <a:t>SQL</a:t>
                      </a:r>
                      <a:endParaRPr lang="ru-RU" sz="3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00" b="1" dirty="0"/>
                        <a:t>NoSQL</a:t>
                      </a:r>
                      <a:endParaRPr lang="ru-RU" sz="30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21333529"/>
                  </a:ext>
                </a:extLst>
              </a:tr>
              <a:tr h="798221">
                <a:tc>
                  <a:txBody>
                    <a:bodyPr/>
                    <a:lstStyle/>
                    <a:p>
                      <a:pPr algn="ctr"/>
                      <a:r>
                        <a:rPr lang="ru-RU" sz="2200" dirty="0"/>
                        <a:t>Доступ посредством </a:t>
                      </a:r>
                      <a:r>
                        <a:rPr lang="en-US" sz="2200" dirty="0"/>
                        <a:t>SQL</a:t>
                      </a:r>
                      <a:endParaRPr lang="ru-RU" sz="2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200" dirty="0"/>
                        <a:t>Нет единого стандарта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6985156"/>
                  </a:ext>
                </a:extLst>
              </a:tr>
              <a:tr h="791589">
                <a:tc>
                  <a:txBody>
                    <a:bodyPr/>
                    <a:lstStyle/>
                    <a:p>
                      <a:pPr algn="ctr"/>
                      <a:r>
                        <a:rPr lang="ru-RU" sz="2200" dirty="0"/>
                        <a:t>Схема таблиц фиксирована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200" dirty="0"/>
                        <a:t>Гибкость, отсутствие схемы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2931895"/>
                  </a:ext>
                </a:extLst>
              </a:tr>
              <a:tr h="455615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/>
                        <a:t>ACID</a:t>
                      </a:r>
                      <a:endParaRPr lang="ru-RU" sz="2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/>
                        <a:t>BASE</a:t>
                      </a:r>
                      <a:endParaRPr lang="ru-RU" sz="2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1048511"/>
                  </a:ext>
                </a:extLst>
              </a:tr>
            </a:tbl>
          </a:graphicData>
        </a:graphic>
      </p:graphicFrame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B4C8FD4-CBAA-E6AE-0600-E86C7426BC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5FB71-5E9C-41B5-9BB8-3F1EBEAEB16A}" type="slidenum">
              <a:rPr lang="ru-RU" smtClean="0"/>
              <a:t>26</a:t>
            </a:fld>
            <a:endParaRPr lang="ru-RU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CEE55F94-9142-B12C-EAB0-DBA4D5BFF0A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35340" y="1952695"/>
            <a:ext cx="2743200" cy="2225615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1B3A6B33-45D3-56BD-5437-FFD3720396C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06096" y="3836798"/>
            <a:ext cx="2867212" cy="2702114"/>
          </a:xfrm>
          <a:prstGeom prst="rect">
            <a:avLst/>
          </a:prstGeom>
        </p:spPr>
      </p:pic>
      <p:pic>
        <p:nvPicPr>
          <p:cNvPr id="9" name="Picture 6">
            <a:extLst>
              <a:ext uri="{FF2B5EF4-FFF2-40B4-BE49-F238E27FC236}">
                <a16:creationId xmlns:a16="http://schemas.microsoft.com/office/drawing/2014/main" id="{9882D6B8-442E-7CAD-F3BE-91EEB89402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2070" y="5250844"/>
            <a:ext cx="5803930" cy="14706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A4151CBC-F6E4-E7ED-A11A-03EE03E72C43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76958" y="195237"/>
            <a:ext cx="3603682" cy="2268747"/>
          </a:xfrm>
          <a:prstGeom prst="rect">
            <a:avLst/>
          </a:prstGeom>
        </p:spPr>
      </p:pic>
      <p:cxnSp>
        <p:nvCxnSpPr>
          <p:cNvPr id="17" name="Прямая со стрелкой 16">
            <a:extLst>
              <a:ext uri="{FF2B5EF4-FFF2-40B4-BE49-F238E27FC236}">
                <a16:creationId xmlns:a16="http://schemas.microsoft.com/office/drawing/2014/main" id="{B0B8EF1F-0749-A777-3E48-1501A4E0C050}"/>
              </a:ext>
            </a:extLst>
          </p:cNvPr>
          <p:cNvCxnSpPr>
            <a:cxnSpLocks/>
          </p:cNvCxnSpPr>
          <p:nvPr/>
        </p:nvCxnSpPr>
        <p:spPr>
          <a:xfrm>
            <a:off x="4370120" y="4366065"/>
            <a:ext cx="0" cy="82179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Прямая со стрелкой 17">
            <a:extLst>
              <a:ext uri="{FF2B5EF4-FFF2-40B4-BE49-F238E27FC236}">
                <a16:creationId xmlns:a16="http://schemas.microsoft.com/office/drawing/2014/main" id="{51ED2676-C1AF-BCBD-4508-0C78CB0B1E6E}"/>
              </a:ext>
            </a:extLst>
          </p:cNvPr>
          <p:cNvCxnSpPr>
            <a:cxnSpLocks/>
            <a:stCxn id="5" idx="3"/>
            <a:endCxn id="8" idx="1"/>
          </p:cNvCxnSpPr>
          <p:nvPr/>
        </p:nvCxnSpPr>
        <p:spPr>
          <a:xfrm>
            <a:off x="5515371" y="3069032"/>
            <a:ext cx="1390725" cy="2118823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Прямая со стрелкой 23">
            <a:extLst>
              <a:ext uri="{FF2B5EF4-FFF2-40B4-BE49-F238E27FC236}">
                <a16:creationId xmlns:a16="http://schemas.microsoft.com/office/drawing/2014/main" id="{4BE63C3A-24C4-F49B-8B30-684B1A1619A6}"/>
              </a:ext>
            </a:extLst>
          </p:cNvPr>
          <p:cNvCxnSpPr>
            <a:cxnSpLocks/>
          </p:cNvCxnSpPr>
          <p:nvPr/>
        </p:nvCxnSpPr>
        <p:spPr>
          <a:xfrm>
            <a:off x="1909948" y="4366065"/>
            <a:ext cx="0" cy="82179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Прямая со стрелкой 24">
            <a:extLst>
              <a:ext uri="{FF2B5EF4-FFF2-40B4-BE49-F238E27FC236}">
                <a16:creationId xmlns:a16="http://schemas.microsoft.com/office/drawing/2014/main" id="{91FF84E7-5EDF-4E16-3902-9347768A9350}"/>
              </a:ext>
            </a:extLst>
          </p:cNvPr>
          <p:cNvCxnSpPr>
            <a:cxnSpLocks/>
            <a:stCxn id="5" idx="3"/>
            <a:endCxn id="6" idx="1"/>
          </p:cNvCxnSpPr>
          <p:nvPr/>
        </p:nvCxnSpPr>
        <p:spPr>
          <a:xfrm flipV="1">
            <a:off x="5515371" y="3065503"/>
            <a:ext cx="3819969" cy="3529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Прямая со стрелкой 27">
            <a:extLst>
              <a:ext uri="{FF2B5EF4-FFF2-40B4-BE49-F238E27FC236}">
                <a16:creationId xmlns:a16="http://schemas.microsoft.com/office/drawing/2014/main" id="{996DA5C1-13FB-E7C8-F279-3B3AE8ADD0FF}"/>
              </a:ext>
            </a:extLst>
          </p:cNvPr>
          <p:cNvCxnSpPr>
            <a:cxnSpLocks/>
            <a:stCxn id="5" idx="3"/>
            <a:endCxn id="15" idx="2"/>
          </p:cNvCxnSpPr>
          <p:nvPr/>
        </p:nvCxnSpPr>
        <p:spPr>
          <a:xfrm flipV="1">
            <a:off x="5515371" y="2463984"/>
            <a:ext cx="1663428" cy="605048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7471239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AB3F757-B935-BCEB-4C9D-D2AA8F474D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Инструменты для данных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4D65ECC-1CCF-CF23-C1B5-CB694E0F13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5FB71-5E9C-41B5-9BB8-3F1EBEAEB16A}" type="slidenum">
              <a:rPr lang="ru-RU" smtClean="0"/>
              <a:t>27</a:t>
            </a:fld>
            <a:endParaRPr lang="ru-RU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6A18A0FE-BE23-0875-DB1B-BBCD6799C4F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616" b="20055"/>
          <a:stretch/>
        </p:blipFill>
        <p:spPr bwMode="auto">
          <a:xfrm>
            <a:off x="8946773" y="3902702"/>
            <a:ext cx="2407027" cy="7587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4">
            <a:extLst>
              <a:ext uri="{FF2B5EF4-FFF2-40B4-BE49-F238E27FC236}">
                <a16:creationId xmlns:a16="http://schemas.microsoft.com/office/drawing/2014/main" id="{40799B84-D33D-A771-BB05-50BA8924E0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84076" y="3481651"/>
            <a:ext cx="2526524" cy="6874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C9F8095-A4CB-8D37-72B3-0147A888EA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6827" y="896247"/>
            <a:ext cx="10098343" cy="25587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8" name="Picture 4" descr="Picture background">
            <a:extLst>
              <a:ext uri="{FF2B5EF4-FFF2-40B4-BE49-F238E27FC236}">
                <a16:creationId xmlns:a16="http://schemas.microsoft.com/office/drawing/2014/main" id="{9327C200-BF06-F9AD-CB1F-882566A0591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882" t="28157" r="13838" b="28845"/>
          <a:stretch/>
        </p:blipFill>
        <p:spPr bwMode="auto">
          <a:xfrm>
            <a:off x="1285047" y="3474055"/>
            <a:ext cx="2526524" cy="8572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0" name="Picture 6" descr="Picture background">
            <a:extLst>
              <a:ext uri="{FF2B5EF4-FFF2-40B4-BE49-F238E27FC236}">
                <a16:creationId xmlns:a16="http://schemas.microsoft.com/office/drawing/2014/main" id="{0F985E74-F8CB-AEE0-07CC-3E9AB155A3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27835" y="3958462"/>
            <a:ext cx="1507759" cy="7797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2" name="Picture 8" descr="Picture background">
            <a:extLst>
              <a:ext uri="{FF2B5EF4-FFF2-40B4-BE49-F238E27FC236}">
                <a16:creationId xmlns:a16="http://schemas.microsoft.com/office/drawing/2014/main" id="{A162CE16-102C-6AF2-2501-AF1F8F8879F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929" b="25295"/>
          <a:stretch/>
        </p:blipFill>
        <p:spPr bwMode="auto">
          <a:xfrm>
            <a:off x="1015813" y="4511413"/>
            <a:ext cx="2497080" cy="8572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4" name="Picture 10" descr="Picture background">
            <a:extLst>
              <a:ext uri="{FF2B5EF4-FFF2-40B4-BE49-F238E27FC236}">
                <a16:creationId xmlns:a16="http://schemas.microsoft.com/office/drawing/2014/main" id="{1C60C757-B496-CC6C-77DB-F71279A80A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43595" y="5241698"/>
            <a:ext cx="1998885" cy="612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6" name="Picture 12" descr="Picture background">
            <a:extLst>
              <a:ext uri="{FF2B5EF4-FFF2-40B4-BE49-F238E27FC236}">
                <a16:creationId xmlns:a16="http://schemas.microsoft.com/office/drawing/2014/main" id="{A6CA67DC-2F67-EB01-515E-BE3F48C21D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21571" y="4518713"/>
            <a:ext cx="2526524" cy="422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60" name="Picture 16" descr="Picture background">
            <a:extLst>
              <a:ext uri="{FF2B5EF4-FFF2-40B4-BE49-F238E27FC236}">
                <a16:creationId xmlns:a16="http://schemas.microsoft.com/office/drawing/2014/main" id="{2F133E63-BD5C-F66A-4EED-8C43C40A3F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21884" y="4969040"/>
            <a:ext cx="3026002" cy="6111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62" name="Picture 18" descr="Apache HBase">
            <a:extLst>
              <a:ext uri="{FF2B5EF4-FFF2-40B4-BE49-F238E27FC236}">
                <a16:creationId xmlns:a16="http://schemas.microsoft.com/office/drawing/2014/main" id="{FD19273C-885E-D556-3175-27411AE31D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84076" y="5501457"/>
            <a:ext cx="3026002" cy="7725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1566834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C4E7C24-86D9-B482-ED8C-AD5882E025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Инструменты для данных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816284A-E31F-AD85-0435-6979797F42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5FB71-5E9C-41B5-9BB8-3F1EBEAEB16A}" type="slidenum">
              <a:rPr lang="ru-RU" smtClean="0"/>
              <a:t>28</a:t>
            </a:fld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1CC1030-D0A7-A585-B2F2-511418ABE43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10600" y="1170847"/>
            <a:ext cx="2743200" cy="2225615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C52CB659-8D42-907F-85BC-E3A9284EBE2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1011" y="962709"/>
            <a:ext cx="2867212" cy="2702114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ACFEEEC1-1DAC-24FD-7937-BDB59F785161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4952" y="1346807"/>
            <a:ext cx="3603682" cy="2268747"/>
          </a:xfrm>
          <a:prstGeom prst="rect">
            <a:avLst/>
          </a:prstGeom>
        </p:spPr>
      </p:pic>
      <p:pic>
        <p:nvPicPr>
          <p:cNvPr id="7174" name="Picture 6" descr="Picture background">
            <a:extLst>
              <a:ext uri="{FF2B5EF4-FFF2-40B4-BE49-F238E27FC236}">
                <a16:creationId xmlns:a16="http://schemas.microsoft.com/office/drawing/2014/main" id="{77554913-0DB8-554B-7184-F678AD065A3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931" b="15142"/>
          <a:stretch/>
        </p:blipFill>
        <p:spPr bwMode="auto">
          <a:xfrm>
            <a:off x="4718074" y="6060263"/>
            <a:ext cx="3393085" cy="8261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6" name="Picture 8" descr="Picture background">
            <a:extLst>
              <a:ext uri="{FF2B5EF4-FFF2-40B4-BE49-F238E27FC236}">
                <a16:creationId xmlns:a16="http://schemas.microsoft.com/office/drawing/2014/main" id="{A46FDDBC-F4DE-AE60-2072-3D627BE8129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427" b="24877"/>
          <a:stretch/>
        </p:blipFill>
        <p:spPr bwMode="auto">
          <a:xfrm>
            <a:off x="5048954" y="4025736"/>
            <a:ext cx="2731325" cy="6650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8" name="Picture 10">
            <a:extLst>
              <a:ext uri="{FF2B5EF4-FFF2-40B4-BE49-F238E27FC236}">
                <a16:creationId xmlns:a16="http://schemas.microsoft.com/office/drawing/2014/main" id="{16D5DC7F-985D-9899-5701-5275E3093B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48954" y="5364129"/>
            <a:ext cx="2935001" cy="6481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80" name="Picture 12">
            <a:extLst>
              <a:ext uri="{FF2B5EF4-FFF2-40B4-BE49-F238E27FC236}">
                <a16:creationId xmlns:a16="http://schemas.microsoft.com/office/drawing/2014/main" id="{F0B850E8-8F31-830C-DF3D-A25DC3346C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25829" y="4703572"/>
            <a:ext cx="2381250" cy="60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6" descr="Picture background">
            <a:extLst>
              <a:ext uri="{FF2B5EF4-FFF2-40B4-BE49-F238E27FC236}">
                <a16:creationId xmlns:a16="http://schemas.microsoft.com/office/drawing/2014/main" id="{C2E64A55-D14A-8EE0-8705-BDF27D523A4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931" b="15142"/>
          <a:stretch/>
        </p:blipFill>
        <p:spPr bwMode="auto">
          <a:xfrm>
            <a:off x="8243713" y="4819813"/>
            <a:ext cx="3393085" cy="8261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84" name="Picture 16">
            <a:extLst>
              <a:ext uri="{FF2B5EF4-FFF2-40B4-BE49-F238E27FC236}">
                <a16:creationId xmlns:a16="http://schemas.microsoft.com/office/drawing/2014/main" id="{39C96BE3-58FA-FF2C-5797-870C57A8E5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28975" y="3901602"/>
            <a:ext cx="2470704" cy="8261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86" name="Picture 18">
            <a:extLst>
              <a:ext uri="{FF2B5EF4-FFF2-40B4-BE49-F238E27FC236}">
                <a16:creationId xmlns:a16="http://schemas.microsoft.com/office/drawing/2014/main" id="{33CA248B-BE52-8875-0219-835C87F43F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01195" y="5631276"/>
            <a:ext cx="2298484" cy="7250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88" name="Picture 20">
            <a:extLst>
              <a:ext uri="{FF2B5EF4-FFF2-40B4-BE49-F238E27FC236}">
                <a16:creationId xmlns:a16="http://schemas.microsoft.com/office/drawing/2014/main" id="{9CCD4523-21D0-3DC6-42CF-F9D3D54E72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2067" y="3913478"/>
            <a:ext cx="1909453" cy="7160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90" name="Picture 22">
            <a:extLst>
              <a:ext uri="{FF2B5EF4-FFF2-40B4-BE49-F238E27FC236}">
                <a16:creationId xmlns:a16="http://schemas.microsoft.com/office/drawing/2014/main" id="{0CD3E210-4108-5229-3ACC-3176982AA02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161" b="25481"/>
          <a:stretch/>
        </p:blipFill>
        <p:spPr bwMode="auto">
          <a:xfrm>
            <a:off x="1401213" y="4819813"/>
            <a:ext cx="2031159" cy="9634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92" name="Picture 24">
            <a:extLst>
              <a:ext uri="{FF2B5EF4-FFF2-40B4-BE49-F238E27FC236}">
                <a16:creationId xmlns:a16="http://schemas.microsoft.com/office/drawing/2014/main" id="{FAA8EE0D-09ED-34A7-28A5-2317CA34A9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9656" y="5973573"/>
            <a:ext cx="1781150" cy="3413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4883436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A9981EF-890A-A249-EDEC-2B4F418F7C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Методы анализа данных </a:t>
            </a:r>
            <a:r>
              <a:rPr lang="en-US" dirty="0" err="1"/>
              <a:t>BigData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4D9B3A3-EC14-7948-9A27-F6D061EF8E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Визуализация </a:t>
            </a:r>
            <a:r>
              <a:rPr lang="ru-RU" dirty="0" err="1"/>
              <a:t>даных</a:t>
            </a:r>
            <a:endParaRPr lang="ru-RU" dirty="0"/>
          </a:p>
          <a:p>
            <a:r>
              <a:rPr lang="ru-RU" dirty="0"/>
              <a:t>Смешение и интеграция данных</a:t>
            </a:r>
          </a:p>
          <a:p>
            <a:r>
              <a:rPr lang="ru-RU" dirty="0"/>
              <a:t>Статистический анализ данных</a:t>
            </a:r>
          </a:p>
          <a:p>
            <a:r>
              <a:rPr lang="ru-RU" dirty="0"/>
              <a:t>Пространственный анализ</a:t>
            </a:r>
          </a:p>
          <a:p>
            <a:r>
              <a:rPr lang="ru-RU" dirty="0"/>
              <a:t>Краудсорсинг</a:t>
            </a:r>
          </a:p>
          <a:p>
            <a:r>
              <a:rPr lang="ru-RU" dirty="0"/>
              <a:t>Предиктивная аналитика</a:t>
            </a:r>
          </a:p>
          <a:p>
            <a:r>
              <a:rPr lang="en-US" dirty="0"/>
              <a:t>Data Mining</a:t>
            </a:r>
          </a:p>
          <a:p>
            <a:r>
              <a:rPr lang="ru-RU" dirty="0"/>
              <a:t>Машинное и глубокое обучение</a:t>
            </a:r>
          </a:p>
          <a:p>
            <a:r>
              <a:rPr lang="ru-RU" dirty="0"/>
              <a:t>Имитационное моделирование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CCD6845-92F7-4890-76B1-C7BA9D13EE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5FB71-5E9C-41B5-9BB8-3F1EBEAEB16A}" type="slidenum">
              <a:rPr lang="ru-RU" smtClean="0"/>
              <a:t>29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1150364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8BBD61A-7CE9-07E1-F4C9-6A15B0E1A2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 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50A2FCD-269E-2E46-F14B-0B740476B4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ru-RU" b="1" dirty="0"/>
              <a:t>Задача аналитика</a:t>
            </a:r>
            <a:r>
              <a:rPr lang="ru-RU" dirty="0"/>
              <a:t>: оценить продажи магазинов  </a:t>
            </a:r>
          </a:p>
          <a:p>
            <a:r>
              <a:rPr lang="ru-RU" dirty="0"/>
              <a:t>Разные способы заполнения форм учета у каждого магазина: разная структура и формат хранения </a:t>
            </a:r>
          </a:p>
          <a:p>
            <a:r>
              <a:rPr lang="ru-RU" dirty="0"/>
              <a:t>Способ решения: N скриптов для преобразования таблиц, сборщик </a:t>
            </a:r>
          </a:p>
          <a:p>
            <a:pPr marL="0" indent="0">
              <a:buNone/>
            </a:pPr>
            <a:r>
              <a:rPr lang="ru-RU" b="1" dirty="0"/>
              <a:t>Минусы</a:t>
            </a:r>
            <a:r>
              <a:rPr lang="ru-RU" dirty="0"/>
              <a:t>: </a:t>
            </a:r>
          </a:p>
          <a:p>
            <a:r>
              <a:rPr lang="ru-RU" dirty="0"/>
              <a:t>поддержка N скриптов одновременно </a:t>
            </a:r>
          </a:p>
          <a:p>
            <a:r>
              <a:rPr lang="ru-RU" dirty="0"/>
              <a:t>изменение структуры отчетов магазинов во времени =&gt; искать и переписывать скрипты</a:t>
            </a:r>
          </a:p>
          <a:p>
            <a:r>
              <a:rPr lang="ru-RU" dirty="0"/>
              <a:t>появление нового магазина =&gt;новый скрипт </a:t>
            </a:r>
          </a:p>
          <a:p>
            <a:r>
              <a:rPr lang="ru-RU" dirty="0"/>
              <a:t>изменение формата отчетности =&gt; изменения во все скрипты </a:t>
            </a:r>
          </a:p>
          <a:p>
            <a:r>
              <a:rPr lang="ru-RU" dirty="0"/>
              <a:t>сложная отладка и поддержка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94FA502-1946-9742-4C88-58C0809B03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5FB71-5E9C-41B5-9BB8-3F1EBEAEB16A}" type="slidenum">
              <a:rPr lang="ru-RU" smtClean="0"/>
              <a:t>30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4830606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570E9A7-2F1D-27FA-85B0-70E734CE29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BEC2AA6-7A89-4517-2B1E-7B6A98F0A6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ru-RU" dirty="0"/>
              <a:t>Производитель товаров работает не напрямую с магазинами, а через посредников </a:t>
            </a:r>
          </a:p>
          <a:p>
            <a:r>
              <a:rPr lang="ru-RU" dirty="0"/>
              <a:t>Посредники посещают магазины, пытаются стимулировать продажи </a:t>
            </a:r>
          </a:p>
          <a:p>
            <a:pPr marL="0" indent="0">
              <a:buNone/>
            </a:pPr>
            <a:r>
              <a:rPr lang="ru-RU" dirty="0"/>
              <a:t>N магазинов и К дистрибьюторов </a:t>
            </a:r>
          </a:p>
          <a:p>
            <a:pPr marL="0" indent="0">
              <a:buNone/>
            </a:pPr>
            <a:r>
              <a:rPr lang="ru-RU" b="1" dirty="0"/>
              <a:t>Задача:</a:t>
            </a:r>
            <a:r>
              <a:rPr lang="ru-RU" dirty="0"/>
              <a:t> агрегировать данные магазинов и сравнить их с результатами дистрибьюторов (у всех данные имеют разную структуру и формат) </a:t>
            </a:r>
          </a:p>
          <a:p>
            <a:pPr marL="0" indent="0">
              <a:buNone/>
            </a:pPr>
            <a:r>
              <a:rPr lang="ru-RU" dirty="0"/>
              <a:t>1 способ: самописное решение </a:t>
            </a:r>
          </a:p>
          <a:p>
            <a:pPr marL="0" indent="0">
              <a:buNone/>
            </a:pPr>
            <a:r>
              <a:rPr lang="ru-RU" dirty="0"/>
              <a:t>2 способ: закупить ПО у третьей стороны </a:t>
            </a:r>
          </a:p>
          <a:p>
            <a:pPr marL="0" indent="0">
              <a:buNone/>
            </a:pPr>
            <a:r>
              <a:rPr lang="ru-RU" b="1" dirty="0"/>
              <a:t>Процесс анализа:</a:t>
            </a:r>
            <a:r>
              <a:rPr lang="ru-RU" dirty="0"/>
              <a:t> данные консолидируются =&gt; трансформируются (агрегируются) =&gt; загружаются в систему для анализа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F605238-E097-D00D-8E3F-5334DDAD25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5FB71-5E9C-41B5-9BB8-3F1EBEAEB16A}" type="slidenum">
              <a:rPr lang="ru-RU" smtClean="0"/>
              <a:t>31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922976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3FB2896-BADF-D387-2014-DBEC94FDEE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Жизненный цикл аналитики данных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A3546C9-5252-3B7A-7825-5F3AD79922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5FB71-5E9C-41B5-9BB8-3F1EBEAEB16A}" type="slidenum">
              <a:rPr lang="ru-RU" smtClean="0"/>
              <a:t>32</a:t>
            </a:fld>
            <a:endParaRPr lang="ru-RU"/>
          </a:p>
        </p:txBody>
      </p:sp>
      <p:sp>
        <p:nvSpPr>
          <p:cNvPr id="8" name="Объект 7">
            <a:extLst>
              <a:ext uri="{FF2B5EF4-FFF2-40B4-BE49-F238E27FC236}">
                <a16:creationId xmlns:a16="http://schemas.microsoft.com/office/drawing/2014/main" id="{C3526921-8B2A-54CB-8661-8AF8E24E00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70847"/>
            <a:ext cx="10515600" cy="500611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dirty="0"/>
              <a:t>Последовательность действий, которую нужно выполнить на наборе входных данных для эффективного достижения цели аналитики с помощью выбранных методов анализа </a:t>
            </a:r>
          </a:p>
          <a:p>
            <a:r>
              <a:rPr lang="ru-RU" b="1" dirty="0"/>
              <a:t>Выявление проблем анализа данных</a:t>
            </a:r>
          </a:p>
          <a:p>
            <a:r>
              <a:rPr lang="ru-RU" b="1" dirty="0"/>
              <a:t>Сбор набора данных</a:t>
            </a:r>
          </a:p>
          <a:p>
            <a:r>
              <a:rPr lang="ru-RU" b="1" dirty="0"/>
              <a:t>Проектирование</a:t>
            </a:r>
          </a:p>
          <a:p>
            <a:r>
              <a:rPr lang="ru-RU" b="1" dirty="0"/>
              <a:t>Анализ данных</a:t>
            </a:r>
          </a:p>
          <a:p>
            <a:r>
              <a:rPr lang="ru-RU" b="1" dirty="0"/>
              <a:t>Визуализация данных</a:t>
            </a:r>
          </a:p>
          <a:p>
            <a:pPr marL="0" indent="0">
              <a:buNone/>
            </a:pPr>
            <a:r>
              <a:rPr lang="ru-RU" dirty="0"/>
              <a:t>Понять реальную конечную цель проекта, какую пользу он может принести, оценить его критерии успешности/провала, выбрать технологии для сбора, трансформации и анализа данных </a:t>
            </a:r>
          </a:p>
        </p:txBody>
      </p:sp>
    </p:spTree>
    <p:extLst>
      <p:ext uri="{BB962C8B-B14F-4D97-AF65-F5344CB8AC3E}">
        <p14:creationId xmlns:p14="http://schemas.microsoft.com/office/powerpoint/2010/main" val="178618052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F6AA28A-1A24-78EF-6B86-BD671B9708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Жизненный цикл аналитики данных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33572C4-8F78-4201-5C45-F709CEE071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58781"/>
            <a:ext cx="5800106" cy="4818181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CRISP-DM 2.0</a:t>
            </a:r>
          </a:p>
          <a:p>
            <a:r>
              <a:rPr lang="ru-RU" dirty="0"/>
              <a:t>Выявление проблемы анализа данных</a:t>
            </a:r>
            <a:r>
              <a:rPr lang="en-US" dirty="0"/>
              <a:t> (50%)</a:t>
            </a:r>
            <a:endParaRPr lang="ru-RU" dirty="0"/>
          </a:p>
          <a:p>
            <a:r>
              <a:rPr lang="ru-RU" dirty="0"/>
              <a:t>Сбор набора данных</a:t>
            </a:r>
            <a:r>
              <a:rPr lang="en-US" dirty="0"/>
              <a:t> (20%)</a:t>
            </a:r>
            <a:endParaRPr lang="ru-RU" dirty="0"/>
          </a:p>
          <a:p>
            <a:r>
              <a:rPr lang="ru-RU" dirty="0"/>
              <a:t>Проектирование хранилища данных</a:t>
            </a:r>
            <a:r>
              <a:rPr lang="en-US" dirty="0"/>
              <a:t> (10%)</a:t>
            </a:r>
            <a:endParaRPr lang="ru-RU" dirty="0"/>
          </a:p>
          <a:p>
            <a:r>
              <a:rPr lang="ru-RU" dirty="0"/>
              <a:t>Подготовка данных</a:t>
            </a:r>
            <a:r>
              <a:rPr lang="en-US" dirty="0"/>
              <a:t> (10%)</a:t>
            </a:r>
            <a:endParaRPr lang="ru-RU" dirty="0"/>
          </a:p>
          <a:p>
            <a:r>
              <a:rPr lang="ru-RU" dirty="0"/>
              <a:t>Моделирование</a:t>
            </a:r>
            <a:r>
              <a:rPr lang="en-US" dirty="0"/>
              <a:t> (5%)</a:t>
            </a:r>
            <a:endParaRPr lang="ru-RU" dirty="0"/>
          </a:p>
          <a:p>
            <a:r>
              <a:rPr lang="ru-RU" dirty="0"/>
              <a:t>Оценка и внедрение</a:t>
            </a:r>
            <a:r>
              <a:rPr lang="en-US" dirty="0"/>
              <a:t> (5%)</a:t>
            </a:r>
          </a:p>
          <a:p>
            <a:pPr marL="0" indent="0">
              <a:buNone/>
            </a:pPr>
            <a:r>
              <a:rPr lang="en-US" dirty="0"/>
              <a:t>X% — </a:t>
            </a:r>
            <a:r>
              <a:rPr lang="ru-RU" dirty="0"/>
              <a:t>процент от общего времени выполнения проекта</a:t>
            </a:r>
          </a:p>
          <a:p>
            <a:pPr marL="0" indent="0">
              <a:buNone/>
            </a:pP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180C57B-E453-96FB-4AE9-E81C8213C0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5FB71-5E9C-41B5-9BB8-3F1EBEAEB16A}" type="slidenum">
              <a:rPr lang="ru-RU" smtClean="0"/>
              <a:t>33</a:t>
            </a:fld>
            <a:endParaRPr lang="ru-RU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098BE44F-5EE7-583C-AA51-4BAD487B7C7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7223" y="1350235"/>
            <a:ext cx="4496577" cy="4487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356897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B8FB950-6ACC-3290-08EE-B247F7635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Жизненный цикл аналитики данных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61A59CE-9542-0CFD-F6F9-A7CDFEBDEF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358781"/>
            <a:ext cx="5455722" cy="4997569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b="1" dirty="0"/>
              <a:t>Задачи бизнес-анализа </a:t>
            </a:r>
            <a:r>
              <a:rPr lang="en-US" b="1" dirty="0"/>
              <a:t>CRISP-DM:</a:t>
            </a:r>
          </a:p>
          <a:p>
            <a:r>
              <a:rPr lang="ru-RU" dirty="0"/>
              <a:t>Определение бизнес-целей</a:t>
            </a:r>
          </a:p>
          <a:p>
            <a:r>
              <a:rPr lang="ru-RU" dirty="0"/>
              <a:t>Оценка текущей ситуации</a:t>
            </a:r>
          </a:p>
          <a:p>
            <a:r>
              <a:rPr lang="ru-RU" dirty="0"/>
              <a:t>Определение целей аналитики</a:t>
            </a:r>
          </a:p>
          <a:p>
            <a:r>
              <a:rPr lang="ru-RU" dirty="0"/>
              <a:t>Подготовка плана проекта</a:t>
            </a:r>
          </a:p>
          <a:p>
            <a:pPr marL="0" indent="0">
              <a:buNone/>
            </a:pPr>
            <a:r>
              <a:rPr lang="ru-RU" b="1" dirty="0"/>
              <a:t>Задачи аналитики данных</a:t>
            </a:r>
            <a:r>
              <a:rPr lang="ru-RU" dirty="0"/>
              <a:t>:</a:t>
            </a:r>
          </a:p>
          <a:p>
            <a:r>
              <a:rPr lang="ru-RU" dirty="0"/>
              <a:t>Сбор данных</a:t>
            </a:r>
          </a:p>
          <a:p>
            <a:r>
              <a:rPr lang="ru-RU" dirty="0"/>
              <a:t>Описание данных</a:t>
            </a:r>
          </a:p>
          <a:p>
            <a:r>
              <a:rPr lang="ru-RU" dirty="0"/>
              <a:t>Исследование данных</a:t>
            </a:r>
          </a:p>
          <a:p>
            <a:r>
              <a:rPr lang="ru-RU" dirty="0"/>
              <a:t>Качество данных</a:t>
            </a:r>
          </a:p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C678E72-4BE1-7D08-97DC-4FD3DD4DBE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5FB71-5E9C-41B5-9BB8-3F1EBEAEB16A}" type="slidenum">
              <a:rPr lang="ru-RU" smtClean="0"/>
              <a:t>34</a:t>
            </a:fld>
            <a:endParaRPr lang="ru-RU"/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BEF10317-0236-6047-4445-210C48F2C3DD}"/>
              </a:ext>
            </a:extLst>
          </p:cNvPr>
          <p:cNvSpPr txBox="1">
            <a:spLocks/>
          </p:cNvSpPr>
          <p:nvPr/>
        </p:nvSpPr>
        <p:spPr>
          <a:xfrm>
            <a:off x="6293923" y="1358781"/>
            <a:ext cx="5455722" cy="5362694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2800" b="1" dirty="0"/>
              <a:t>Подготовка данных</a:t>
            </a:r>
            <a:r>
              <a:rPr lang="ru-RU" sz="2800" dirty="0"/>
              <a:t>:</a:t>
            </a:r>
          </a:p>
          <a:p>
            <a:r>
              <a:rPr lang="ru-RU" sz="2800" dirty="0"/>
              <a:t>консолидация данных</a:t>
            </a:r>
          </a:p>
          <a:p>
            <a:r>
              <a:rPr lang="ru-RU" sz="2800" dirty="0"/>
              <a:t>формирование выборок</a:t>
            </a:r>
          </a:p>
          <a:p>
            <a:r>
              <a:rPr lang="ru-RU" sz="2800" dirty="0"/>
              <a:t>очистка данных</a:t>
            </a:r>
          </a:p>
          <a:p>
            <a:r>
              <a:rPr lang="ru-RU" sz="2800" dirty="0"/>
              <a:t>вычисление новых признаков</a:t>
            </a:r>
          </a:p>
          <a:p>
            <a:r>
              <a:rPr lang="ru-RU" sz="2800" dirty="0"/>
              <a:t>обогащение данных</a:t>
            </a:r>
          </a:p>
          <a:p>
            <a:r>
              <a:rPr lang="ru-RU" sz="2800" dirty="0"/>
              <a:t>форматирование данных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ru-RU" b="1" dirty="0"/>
              <a:t>Построение модели</a:t>
            </a:r>
            <a:r>
              <a:rPr lang="ru-RU" dirty="0"/>
              <a:t>:</a:t>
            </a:r>
          </a:p>
          <a:p>
            <a:r>
              <a:rPr lang="ru-RU" dirty="0"/>
              <a:t>разработать наборы данных для тестирования, обучения и производства</a:t>
            </a:r>
          </a:p>
          <a:p>
            <a:r>
              <a:rPr lang="ru-RU" dirty="0"/>
              <a:t>оценить жизнеспособность и надежность данных для использования в модели</a:t>
            </a:r>
          </a:p>
          <a:p>
            <a:r>
              <a:rPr lang="ru-RU" dirty="0"/>
              <a:t>выбрать рабочее окружение </a:t>
            </a:r>
          </a:p>
        </p:txBody>
      </p:sp>
    </p:spTree>
    <p:extLst>
      <p:ext uri="{BB962C8B-B14F-4D97-AF65-F5344CB8AC3E}">
        <p14:creationId xmlns:p14="http://schemas.microsoft.com/office/powerpoint/2010/main" val="321736185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D54702D-1A18-5C18-5C8D-EF0E8ADF83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Контрольные вопросы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39866D4-BB93-EF9D-609C-E94334EBCE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Большие данные и характеристики</a:t>
            </a:r>
          </a:p>
          <a:p>
            <a:r>
              <a:rPr lang="en-US" dirty="0"/>
              <a:t>V</a:t>
            </a:r>
            <a:r>
              <a:rPr lang="ru-RU" dirty="0"/>
              <a:t>-больших данных</a:t>
            </a:r>
          </a:p>
          <a:p>
            <a:r>
              <a:rPr lang="ru-RU" dirty="0"/>
              <a:t>Индустрия больших данных в мире и в России</a:t>
            </a:r>
          </a:p>
          <a:p>
            <a:r>
              <a:rPr lang="ru-RU" dirty="0"/>
              <a:t>Отрасли,</a:t>
            </a:r>
            <a:r>
              <a:rPr lang="en-US" dirty="0"/>
              <a:t> </a:t>
            </a:r>
            <a:r>
              <a:rPr lang="ru-RU" dirty="0"/>
              <a:t>в которых задействованы инструменты </a:t>
            </a:r>
            <a:r>
              <a:rPr lang="en-US" dirty="0" err="1"/>
              <a:t>BigData</a:t>
            </a:r>
            <a:endParaRPr lang="ru-RU" dirty="0"/>
          </a:p>
          <a:p>
            <a:r>
              <a:rPr lang="ru-RU" dirty="0"/>
              <a:t>Методики аналитики данных</a:t>
            </a:r>
          </a:p>
          <a:p>
            <a:r>
              <a:rPr lang="ru-RU" dirty="0"/>
              <a:t>Жизненный цикл проектов больших данных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AB05BE3-55A9-948D-77E0-791542D2FA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5FB71-5E9C-41B5-9BB8-3F1EBEAEB16A}" type="slidenum">
              <a:rPr lang="ru-RU" smtClean="0"/>
              <a:t>35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7003546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>
            <a:extLst>
              <a:ext uri="{FF2B5EF4-FFF2-40B4-BE49-F238E27FC236}">
                <a16:creationId xmlns:a16="http://schemas.microsoft.com/office/drawing/2014/main" id="{D02A7036-67AC-4B6E-933D-0EBEFC2F148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 anchor="b"/>
          <a:lstStyle/>
          <a:p>
            <a:r>
              <a:rPr lang="ru-RU" dirty="0"/>
              <a:t>Спасибо за внимание!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4304D1FC-3C2B-40AC-AC46-5ADB2B78FD7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ru-RU" sz="4000" dirty="0"/>
              <a:t>Юрченков Иван Александрович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85920733-DC10-4100-9E5C-5EBB2D00AEC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>
                <a:hlinkClick r:id="rId3"/>
              </a:rPr>
              <a:t>Yurchenkov@mirea.ru</a:t>
            </a:r>
            <a:r>
              <a:rPr lang="en-US" dirty="0"/>
              <a:t>	</a:t>
            </a:r>
            <a:r>
              <a:rPr lang="en-US" dirty="0">
                <a:hlinkClick r:id="rId4"/>
              </a:rPr>
              <a:t>qwerty29544@gmail.com</a:t>
            </a:r>
            <a:r>
              <a:rPr lang="en-US" dirty="0"/>
              <a:t> 	</a:t>
            </a:r>
            <a:r>
              <a:rPr lang="en-US" dirty="0" err="1"/>
              <a:t>tg</a:t>
            </a:r>
            <a:r>
              <a:rPr lang="en-US" dirty="0"/>
              <a:t>:</a:t>
            </a:r>
            <a:r>
              <a:rPr lang="ru-RU" dirty="0"/>
              <a:t> </a:t>
            </a:r>
            <a:r>
              <a:rPr lang="en-US" dirty="0"/>
              <a:t>@ivanyurchenkov</a:t>
            </a:r>
            <a:endParaRPr lang="ru-RU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936B0D40-C816-44EC-A3D6-5CA90F8CE9F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ru-RU" dirty="0"/>
              <a:t>Старший преподаватель кафедры прикладной математики ИИТ</a:t>
            </a:r>
          </a:p>
        </p:txBody>
      </p:sp>
    </p:spTree>
    <p:extLst>
      <p:ext uri="{BB962C8B-B14F-4D97-AF65-F5344CB8AC3E}">
        <p14:creationId xmlns:p14="http://schemas.microsoft.com/office/powerpoint/2010/main" val="2103870918"/>
      </p:ext>
    </p:extLst>
  </p:cSld>
  <p:clrMapOvr>
    <a:masterClrMapping/>
  </p:clrMapOvr>
</p:sld>
</file>

<file path=ppt/theme/theme1.xml><?xml version="1.0" encoding="utf-8"?>
<a:theme xmlns:a="http://schemas.openxmlformats.org/drawingml/2006/main" name="Специальное оформление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1851</TotalTime>
  <Words>3520</Words>
  <Application>Microsoft Office PowerPoint</Application>
  <PresentationFormat>Широкоэкранный</PresentationFormat>
  <Paragraphs>450</Paragraphs>
  <Slides>36</Slides>
  <Notes>21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36</vt:i4>
      </vt:variant>
    </vt:vector>
  </HeadingPairs>
  <TitlesOfParts>
    <vt:vector size="43" baseType="lpstr">
      <vt:lpstr>Arial</vt:lpstr>
      <vt:lpstr>Calibri</vt:lpstr>
      <vt:lpstr>Roboto</vt:lpstr>
      <vt:lpstr>Roboto Slab</vt:lpstr>
      <vt:lpstr>Times New Roman</vt:lpstr>
      <vt:lpstr>YS Text</vt:lpstr>
      <vt:lpstr>Специальное оформление</vt:lpstr>
      <vt:lpstr>Презентация PowerPoint</vt:lpstr>
      <vt:lpstr>Лекция №1. Большие данные.  Анализ больших данных</vt:lpstr>
      <vt:lpstr>Big Data</vt:lpstr>
      <vt:lpstr>Big Data</vt:lpstr>
      <vt:lpstr>Big Data</vt:lpstr>
      <vt:lpstr>Подробно, откуда данных много</vt:lpstr>
      <vt:lpstr>Big Data</vt:lpstr>
      <vt:lpstr>Big Data</vt:lpstr>
      <vt:lpstr>Критерии и необходимость Big Data</vt:lpstr>
      <vt:lpstr>Задачи, решаемые Big Data</vt:lpstr>
      <vt:lpstr>Задачи, решаемые Big Data</vt:lpstr>
      <vt:lpstr>Big Data в IoT</vt:lpstr>
      <vt:lpstr>Big Data в IoT</vt:lpstr>
      <vt:lpstr>Big Data в ритейле</vt:lpstr>
      <vt:lpstr>Big Data в ритейле</vt:lpstr>
      <vt:lpstr>Big Data в сервисах подписки</vt:lpstr>
      <vt:lpstr>Польза решений на основе BigData по отраслям</vt:lpstr>
      <vt:lpstr>Рынок BigData (медиа декабрь 2023)</vt:lpstr>
      <vt:lpstr>Диаграмма стран лидеров больших данных</vt:lpstr>
      <vt:lpstr>Индустрия использования BigData (2022)</vt:lpstr>
      <vt:lpstr>Ассоциация больших данных РФ</vt:lpstr>
      <vt:lpstr>Презентация PowerPoint</vt:lpstr>
      <vt:lpstr>Презентация PowerPoint</vt:lpstr>
      <vt:lpstr>Базовый пайплайн BigData</vt:lpstr>
      <vt:lpstr>Технологии работы с большими данными</vt:lpstr>
      <vt:lpstr>SQL vs NoSQL</vt:lpstr>
      <vt:lpstr>Инструменты для данных</vt:lpstr>
      <vt:lpstr>Инструменты для данных</vt:lpstr>
      <vt:lpstr>Методы анализа данных BigData</vt:lpstr>
      <vt:lpstr>Пример </vt:lpstr>
      <vt:lpstr>Пример</vt:lpstr>
      <vt:lpstr>Жизненный цикл аналитики данных</vt:lpstr>
      <vt:lpstr>Жизненный цикл аналитики данных</vt:lpstr>
      <vt:lpstr>Жизненный цикл аналитики данных</vt:lpstr>
      <vt:lpstr>Контрольные вопросы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Саният Рагимова</dc:creator>
  <cp:lastModifiedBy>Иван Юрченков</cp:lastModifiedBy>
  <cp:revision>82</cp:revision>
  <dcterms:created xsi:type="dcterms:W3CDTF">2019-02-28T12:14:57Z</dcterms:created>
  <dcterms:modified xsi:type="dcterms:W3CDTF">2024-09-03T13:52:40Z</dcterms:modified>
</cp:coreProperties>
</file>