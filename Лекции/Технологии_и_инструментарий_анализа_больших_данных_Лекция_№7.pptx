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6" r:id="rId1"/>
  </p:sldMasterIdLst>
  <p:notesMasterIdLst>
    <p:notesMasterId r:id="rId65"/>
  </p:notesMasterIdLst>
  <p:sldIdLst>
    <p:sldId id="313" r:id="rId2"/>
    <p:sldId id="312" r:id="rId3"/>
    <p:sldId id="495" r:id="rId4"/>
    <p:sldId id="445" r:id="rId5"/>
    <p:sldId id="442" r:id="rId6"/>
    <p:sldId id="441" r:id="rId7"/>
    <p:sldId id="447" r:id="rId8"/>
    <p:sldId id="492" r:id="rId9"/>
    <p:sldId id="493" r:id="rId10"/>
    <p:sldId id="523" r:id="rId11"/>
    <p:sldId id="448" r:id="rId12"/>
    <p:sldId id="524" r:id="rId13"/>
    <p:sldId id="526" r:id="rId14"/>
    <p:sldId id="527" r:id="rId15"/>
    <p:sldId id="528" r:id="rId16"/>
    <p:sldId id="529" r:id="rId17"/>
    <p:sldId id="443" r:id="rId18"/>
    <p:sldId id="444" r:id="rId19"/>
    <p:sldId id="530" r:id="rId20"/>
    <p:sldId id="497" r:id="rId21"/>
    <p:sldId id="499" r:id="rId22"/>
    <p:sldId id="464" r:id="rId23"/>
    <p:sldId id="531" r:id="rId24"/>
    <p:sldId id="450" r:id="rId25"/>
    <p:sldId id="466" r:id="rId26"/>
    <p:sldId id="471" r:id="rId27"/>
    <p:sldId id="449" r:id="rId28"/>
    <p:sldId id="476" r:id="rId29"/>
    <p:sldId id="477" r:id="rId30"/>
    <p:sldId id="470" r:id="rId31"/>
    <p:sldId id="467" r:id="rId32"/>
    <p:sldId id="469" r:id="rId33"/>
    <p:sldId id="465" r:id="rId34"/>
    <p:sldId id="475" r:id="rId35"/>
    <p:sldId id="484" r:id="rId36"/>
    <p:sldId id="485" r:id="rId37"/>
    <p:sldId id="479" r:id="rId38"/>
    <p:sldId id="483" r:id="rId39"/>
    <p:sldId id="480" r:id="rId40"/>
    <p:sldId id="532" r:id="rId41"/>
    <p:sldId id="481" r:id="rId42"/>
    <p:sldId id="486" r:id="rId43"/>
    <p:sldId id="482" r:id="rId44"/>
    <p:sldId id="533" r:id="rId45"/>
    <p:sldId id="456" r:id="rId46"/>
    <p:sldId id="453" r:id="rId47"/>
    <p:sldId id="459" r:id="rId48"/>
    <p:sldId id="461" r:id="rId49"/>
    <p:sldId id="487" r:id="rId50"/>
    <p:sldId id="488" r:id="rId51"/>
    <p:sldId id="534" r:id="rId52"/>
    <p:sldId id="489" r:id="rId53"/>
    <p:sldId id="490" r:id="rId54"/>
    <p:sldId id="522" r:id="rId55"/>
    <p:sldId id="505" r:id="rId56"/>
    <p:sldId id="506" r:id="rId57"/>
    <p:sldId id="535" r:id="rId58"/>
    <p:sldId id="507" r:id="rId59"/>
    <p:sldId id="509" r:id="rId60"/>
    <p:sldId id="514" r:id="rId61"/>
    <p:sldId id="515" r:id="rId62"/>
    <p:sldId id="519" r:id="rId63"/>
    <p:sldId id="462" r:id="rId64"/>
  </p:sldIdLst>
  <p:sldSz cx="9144000" cy="6858000" type="screen4x3"/>
  <p:notesSz cx="9144000" cy="6858000"/>
  <p:defaultTextStyle>
    <a:defPPr>
      <a:defRPr kern="0"/>
    </a:defPPr>
  </p:defaultTextStyle>
  <p:extLst>
    <p:ext uri="{521415D9-36F7-43E2-AB2F-B90AF26B5E84}">
      <p14:sectionLst xmlns:p14="http://schemas.microsoft.com/office/powerpoint/2010/main">
        <p14:section name="Введение в ансамблевое обучение" id="{2E521712-8874-4BC2-BBFE-B523B4F3C52E}">
          <p14:sldIdLst>
            <p14:sldId id="313"/>
            <p14:sldId id="312"/>
            <p14:sldId id="495"/>
            <p14:sldId id="445"/>
            <p14:sldId id="442"/>
            <p14:sldId id="441"/>
            <p14:sldId id="447"/>
            <p14:sldId id="492"/>
            <p14:sldId id="493"/>
            <p14:sldId id="523"/>
          </p14:sldIdLst>
        </p14:section>
        <p14:section name="Раздел без заголовка" id="{A6983B71-8AD8-4205-9B04-65B90DB7947A}">
          <p14:sldIdLst>
            <p14:sldId id="448"/>
            <p14:sldId id="524"/>
            <p14:sldId id="526"/>
            <p14:sldId id="527"/>
            <p14:sldId id="528"/>
            <p14:sldId id="529"/>
            <p14:sldId id="443"/>
            <p14:sldId id="444"/>
            <p14:sldId id="530"/>
            <p14:sldId id="497"/>
            <p14:sldId id="499"/>
            <p14:sldId id="464"/>
            <p14:sldId id="531"/>
            <p14:sldId id="450"/>
            <p14:sldId id="466"/>
            <p14:sldId id="471"/>
            <p14:sldId id="449"/>
            <p14:sldId id="476"/>
            <p14:sldId id="477"/>
            <p14:sldId id="470"/>
            <p14:sldId id="467"/>
            <p14:sldId id="469"/>
            <p14:sldId id="465"/>
            <p14:sldId id="475"/>
            <p14:sldId id="484"/>
            <p14:sldId id="485"/>
            <p14:sldId id="479"/>
            <p14:sldId id="483"/>
            <p14:sldId id="480"/>
            <p14:sldId id="532"/>
            <p14:sldId id="481"/>
            <p14:sldId id="486"/>
            <p14:sldId id="482"/>
            <p14:sldId id="533"/>
            <p14:sldId id="456"/>
            <p14:sldId id="453"/>
            <p14:sldId id="459"/>
            <p14:sldId id="461"/>
            <p14:sldId id="487"/>
            <p14:sldId id="488"/>
            <p14:sldId id="534"/>
            <p14:sldId id="489"/>
            <p14:sldId id="490"/>
            <p14:sldId id="522"/>
            <p14:sldId id="505"/>
            <p14:sldId id="506"/>
            <p14:sldId id="535"/>
            <p14:sldId id="507"/>
            <p14:sldId id="509"/>
            <p14:sldId id="514"/>
            <p14:sldId id="515"/>
            <p14:sldId id="519"/>
            <p14:sldId id="462"/>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khail Bocharov" initials="MB" lastIdx="2" clrIdx="0">
    <p:extLst>
      <p:ext uri="{19B8F6BF-5375-455C-9EA6-DF929625EA0E}">
        <p15:presenceInfo xmlns:p15="http://schemas.microsoft.com/office/powerpoint/2012/main" userId="7adb6a7eedeb765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586" autoAdjust="0"/>
    <p:restoredTop sz="72422" autoAdjust="0"/>
  </p:normalViewPr>
  <p:slideViewPr>
    <p:cSldViewPr>
      <p:cViewPr varScale="1">
        <p:scale>
          <a:sx n="64" d="100"/>
          <a:sy n="64" d="100"/>
        </p:scale>
        <p:origin x="1421" y="67"/>
      </p:cViewPr>
      <p:guideLst>
        <p:guide orient="horz" pos="2880"/>
        <p:guide pos="2160"/>
      </p:guideLst>
    </p:cSldViewPr>
  </p:slideViewPr>
  <p:notesTextViewPr>
    <p:cViewPr>
      <p:scale>
        <a:sx n="100" d="100"/>
        <a:sy n="100" d="100"/>
      </p:scale>
      <p:origin x="0" y="0"/>
    </p:cViewPr>
  </p:notesTextViewPr>
  <p:notesViewPr>
    <p:cSldViewPr>
      <p:cViewPr varScale="1">
        <p:scale>
          <a:sx n="100" d="100"/>
          <a:sy n="100" d="100"/>
        </p:scale>
        <p:origin x="1404"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4D3DCB-A1F6-4D77-B944-BA104682E2A1}" type="datetimeFigureOut">
              <a:rPr lang="ru-RU" smtClean="0"/>
              <a:t>25.11.2024</a:t>
            </a:fld>
            <a:endParaRPr lang="ru-RU"/>
          </a:p>
        </p:txBody>
      </p:sp>
      <p:sp>
        <p:nvSpPr>
          <p:cNvPr id="4" name="Образ слайда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ECB8B1E-725D-4009-AE77-F13A2082C589}" type="slidenum">
              <a:rPr lang="ru-RU" smtClean="0"/>
              <a:t>‹#›</a:t>
            </a:fld>
            <a:endParaRPr lang="ru-RU"/>
          </a:p>
        </p:txBody>
      </p:sp>
    </p:spTree>
    <p:extLst>
      <p:ext uri="{BB962C8B-B14F-4D97-AF65-F5344CB8AC3E}">
        <p14:creationId xmlns:p14="http://schemas.microsoft.com/office/powerpoint/2010/main" val="3827504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scikit-learn.org/stable/modules/generated/sklearn.ensemble.HistGradientBoostingClassifier.html#histgradientboostingclassifier"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s://scikit-learn.org/stable/modules/generated/sklearn.ensemble.HistGradientBoostingRegressor.html#histgradientboostingregressor"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zhanpengfang.github.io/418home.html"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F4ECBE7-4487-4615-A10C-5FECAADA1E8C}" type="slidenum">
              <a:rPr lang="ru-RU" smtClean="0"/>
              <a:t>1</a:t>
            </a:fld>
            <a:endParaRPr lang="ru-RU"/>
          </a:p>
        </p:txBody>
      </p:sp>
    </p:spTree>
    <p:extLst>
      <p:ext uri="{BB962C8B-B14F-4D97-AF65-F5344CB8AC3E}">
        <p14:creationId xmlns:p14="http://schemas.microsoft.com/office/powerpoint/2010/main" val="396657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DF4ECBE7-4487-4615-A10C-5FECAADA1E8C}"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73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1200" dirty="0"/>
              <a:t>Ансамбль алгоритмов (методов) — метод, который использует несколько обучающих алгоритмов с целью получения лучшей эффективности прогнозирования, чем можно было бы получить от каждого обучающего алгоритма по отдельности.</a:t>
            </a:r>
          </a:p>
          <a:p>
            <a:pPr marL="0" indent="0" algn="l">
              <a:buNone/>
            </a:pPr>
            <a:r>
              <a:rPr lang="ru-RU" sz="1200" b="1" i="0" dirty="0">
                <a:solidFill>
                  <a:srgbClr val="000000"/>
                </a:solidFill>
                <a:effectLst/>
                <a:latin typeface="Linux Libertine"/>
              </a:rPr>
              <a:t>Теорема Кондорсе о присяжных</a:t>
            </a:r>
          </a:p>
          <a:p>
            <a:pPr marL="0" indent="0" algn="just">
              <a:buNone/>
            </a:pPr>
            <a:r>
              <a:rPr lang="ru-RU" sz="1200" dirty="0"/>
              <a:t>Если каждый член жюри присяжных имеет независимое мнение, и если вероятность правильного решения члена жюри больше 0.5, то тогда вероятность правильного решения присяжных в целом возрастает с увеличением количества членов жюри, и стремится к единице.</a:t>
            </a:r>
          </a:p>
          <a:p>
            <a:pPr marL="0" indent="0" algn="just">
              <a:buNone/>
            </a:pPr>
            <a:r>
              <a:rPr lang="ru-RU" sz="1200" dirty="0"/>
              <a:t>Если же вероятность быть правым у каждого из членов жюри меньше 0.5, то вероятность принятия правильного решения присяжными в целом монотонно уменьшается и стремится к нулю с увеличением количества присяжных.</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a:t>
            </a:fld>
            <a:endParaRPr lang="ru-RU"/>
          </a:p>
        </p:txBody>
      </p:sp>
    </p:spTree>
    <p:extLst>
      <p:ext uri="{BB962C8B-B14F-4D97-AF65-F5344CB8AC3E}">
        <p14:creationId xmlns:p14="http://schemas.microsoft.com/office/powerpoint/2010/main" val="1764333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1200" dirty="0">
                <a:solidFill>
                  <a:srgbClr val="000000"/>
                </a:solidFill>
                <a:latin typeface="PetersburgC"/>
              </a:rPr>
              <a:t>П</a:t>
            </a:r>
            <a:r>
              <a:rPr lang="ru-RU" sz="1200" b="0" i="0" u="none" strike="noStrike" baseline="0" dirty="0">
                <a:solidFill>
                  <a:srgbClr val="000000"/>
                </a:solidFill>
                <a:latin typeface="PetersburgC"/>
              </a:rPr>
              <a:t>ростые алгоритмы машинного обучения имеют свои ограничения. Из-за простоты иногда они не могут создать модель, достаточно эффективную для поставленной задачи машинного обучения. В таких случаях можно попробовать использовать глубокие нейронные сети. Однако на практике глубокие нейронные сети требуют значительного объема размеченных данных, которых может не быть. Другой способ повысить эффективность простых алгоритмов обучения — использовать </a:t>
            </a:r>
            <a:r>
              <a:rPr lang="ru-RU" sz="1200" b="1" i="0" u="none" strike="noStrike" baseline="0" dirty="0">
                <a:solidFill>
                  <a:srgbClr val="000000"/>
                </a:solidFill>
                <a:latin typeface="PetersburgC"/>
              </a:rPr>
              <a:t>обучение ансамбля</a:t>
            </a:r>
            <a:r>
              <a:rPr lang="ru-RU" sz="1200" b="0" i="0" u="none" strike="noStrike" baseline="0" dirty="0">
                <a:solidFill>
                  <a:srgbClr val="000000"/>
                </a:solidFill>
                <a:latin typeface="PetersburgC"/>
              </a:rPr>
              <a:t>.</a:t>
            </a:r>
          </a:p>
          <a:p>
            <a:pPr marL="0" indent="0">
              <a:buNone/>
            </a:pPr>
            <a:endParaRPr lang="ru-RU" sz="1200" dirty="0">
              <a:solidFill>
                <a:srgbClr val="000000"/>
              </a:solidFill>
              <a:latin typeface="PetersburgC"/>
            </a:endParaRPr>
          </a:p>
          <a:p>
            <a:pPr marL="0" indent="0" algn="just">
              <a:buNone/>
            </a:pPr>
            <a:r>
              <a:rPr lang="ru-RU" sz="1200" b="0" i="0" u="none" strike="noStrike" baseline="0" dirty="0">
                <a:solidFill>
                  <a:srgbClr val="000000"/>
                </a:solidFill>
                <a:latin typeface="PetersburgC"/>
              </a:rPr>
              <a:t>Обучение ансамбля — это парадигма обучения, которая основана на обучении не одной </a:t>
            </a:r>
            <a:r>
              <a:rPr lang="ru-RU" sz="1200" b="0" i="0" u="none" strike="noStrike" baseline="0" dirty="0" err="1">
                <a:solidFill>
                  <a:srgbClr val="000000"/>
                </a:solidFill>
                <a:latin typeface="PetersburgC"/>
              </a:rPr>
              <a:t>сверхправильной</a:t>
            </a:r>
            <a:r>
              <a:rPr lang="ru-RU" sz="1200" b="0" i="0" u="none" strike="noStrike" baseline="0" dirty="0">
                <a:solidFill>
                  <a:srgbClr val="000000"/>
                </a:solidFill>
                <a:latin typeface="PetersburgC"/>
              </a:rPr>
              <a:t> модели, а большого числа моделей с низкой правильностью и объединении прогнозов, данных этими </a:t>
            </a:r>
            <a:r>
              <a:rPr lang="ru-RU" sz="1200" b="0" i="1" u="none" strike="noStrike" baseline="0" dirty="0">
                <a:solidFill>
                  <a:srgbClr val="000000"/>
                </a:solidFill>
                <a:latin typeface="PetersburgC"/>
              </a:rPr>
              <a:t>слабыми </a:t>
            </a:r>
            <a:r>
              <a:rPr lang="ru-RU" sz="1200" b="0" i="0" u="none" strike="noStrike" baseline="0" dirty="0">
                <a:solidFill>
                  <a:srgbClr val="000000"/>
                </a:solidFill>
                <a:latin typeface="PetersburgC"/>
              </a:rPr>
              <a:t>моделями, для получения более правильной </a:t>
            </a:r>
            <a:r>
              <a:rPr lang="ru-RU" sz="1200" b="1" i="0" u="none" strike="noStrike" baseline="0" dirty="0">
                <a:solidFill>
                  <a:srgbClr val="000000"/>
                </a:solidFill>
                <a:latin typeface="PetersburgC"/>
              </a:rPr>
              <a:t>метамодели</a:t>
            </a:r>
            <a:r>
              <a:rPr lang="ru-RU" sz="1200" b="0" i="0" u="none" strike="noStrike" baseline="0" dirty="0">
                <a:solidFill>
                  <a:srgbClr val="000000"/>
                </a:solidFill>
                <a:latin typeface="PetersburgC"/>
              </a:rPr>
              <a:t>.</a:t>
            </a:r>
            <a:endParaRPr lang="ru-RU" dirty="0"/>
          </a:p>
          <a:p>
            <a:endParaRPr lang="ru-RU" dirty="0"/>
          </a:p>
          <a:p>
            <a:pPr marL="0" indent="0" algn="just">
              <a:buNone/>
            </a:pPr>
            <a:r>
              <a:rPr lang="ru-RU" sz="1200" b="0" i="0" u="none" strike="noStrike" baseline="0" dirty="0">
                <a:solidFill>
                  <a:srgbClr val="000000"/>
                </a:solidFill>
                <a:latin typeface="PetersburgC"/>
              </a:rPr>
              <a:t>Модели с низкой правильностью обычно обучаются </a:t>
            </a:r>
            <a:r>
              <a:rPr lang="ru-RU" sz="1200" b="1" i="0" u="none" strike="noStrike" baseline="0" dirty="0">
                <a:solidFill>
                  <a:srgbClr val="000000"/>
                </a:solidFill>
                <a:latin typeface="PetersburgC"/>
              </a:rPr>
              <a:t>слабыми алгоритмами обучения</a:t>
            </a:r>
            <a:r>
              <a:rPr lang="ru-RU" sz="1200" b="0" i="0" u="none" strike="noStrike" baseline="0" dirty="0">
                <a:solidFill>
                  <a:srgbClr val="000000"/>
                </a:solidFill>
                <a:latin typeface="PetersburgC"/>
              </a:rPr>
              <a:t>, которые не способны обучать сложные модели и поэтому показывают высокую скорость работы на этапах обучения и прогнозирования. Наиболее часто в роли слабого алгоритма используется алгоритм обучения дерева решений, который обычно прекращает разбивать обучающий набор после нескольких итераций. В результате получаются мелкие и не очень правильные деревья, но, как гласит идея обучения ансамбля, если деревья не идентичны и каждое дерево хотя бы немного лучше случайного угадывания, мы можем получить высокую правильность, объединив большое количество таких деревьев.</a:t>
            </a:r>
          </a:p>
          <a:p>
            <a:pPr marL="0" indent="0" algn="just">
              <a:buNone/>
            </a:pPr>
            <a:endParaRPr lang="ru-RU" sz="1200" b="0" i="0" u="none" strike="noStrike" baseline="0" dirty="0">
              <a:solidFill>
                <a:srgbClr val="000000"/>
              </a:solidFill>
              <a:latin typeface="PetersburgC"/>
            </a:endParaRPr>
          </a:p>
          <a:p>
            <a:pPr marL="0" indent="0" algn="just">
              <a:buNone/>
            </a:pPr>
            <a:r>
              <a:rPr lang="ru-RU" sz="1200" b="0" i="0" u="none" strike="noStrike" baseline="0" dirty="0">
                <a:solidFill>
                  <a:srgbClr val="000000"/>
                </a:solidFill>
                <a:latin typeface="PetersburgC"/>
              </a:rPr>
              <a:t>Чтобы получить окончательный прогноз для входа </a:t>
            </a:r>
            <a:r>
              <a:rPr lang="ru-RU" sz="1200" b="1" i="0" u="none" strike="noStrike" baseline="0" dirty="0">
                <a:solidFill>
                  <a:srgbClr val="000000"/>
                </a:solidFill>
                <a:latin typeface="PetersburgC"/>
              </a:rPr>
              <a:t>x</a:t>
            </a:r>
            <a:r>
              <a:rPr lang="ru-RU" sz="1200" b="0" i="0" u="none" strike="noStrike" baseline="0" dirty="0">
                <a:solidFill>
                  <a:srgbClr val="000000"/>
                </a:solidFill>
                <a:latin typeface="PetersburgC"/>
              </a:rPr>
              <a:t>, прогнозы всех слабых моделей объединяются с использованием некоторого метода взвешенного голосования. Конкретная форма взвешивания голосов зависит от алгоритма, но сама суть не зависит от него.</a:t>
            </a:r>
          </a:p>
          <a:p>
            <a:pPr marL="0" indent="0" algn="just">
              <a:buNone/>
            </a:pPr>
            <a:endParaRPr lang="ru-RU" sz="1200" b="0" i="0" u="none" strike="noStrike" baseline="0" dirty="0">
              <a:solidFill>
                <a:srgbClr val="000000"/>
              </a:solidFill>
              <a:latin typeface="PetersburgC"/>
            </a:endParaRPr>
          </a:p>
          <a:p>
            <a:pPr marL="0" indent="0" algn="just">
              <a:buNone/>
            </a:pPr>
            <a:r>
              <a:rPr lang="ru-RU" sz="1200" b="0" i="0" u="none" strike="noStrike" baseline="0" dirty="0">
                <a:solidFill>
                  <a:srgbClr val="000000"/>
                </a:solidFill>
                <a:latin typeface="PetersburgC"/>
              </a:rPr>
              <a:t>Пример: если по совокупности слабые модели предсказывают, что электронное письмо является спамом, мы присваиваем образцу </a:t>
            </a:r>
            <a:r>
              <a:rPr lang="ru-RU" sz="1200" b="1" i="0" u="none" strike="noStrike" baseline="0" dirty="0">
                <a:solidFill>
                  <a:srgbClr val="000000"/>
                </a:solidFill>
                <a:latin typeface="PetersburgC"/>
              </a:rPr>
              <a:t>x </a:t>
            </a:r>
            <a:r>
              <a:rPr lang="ru-RU" sz="1200" b="0" i="0" u="none" strike="noStrike" baseline="0" dirty="0">
                <a:solidFill>
                  <a:srgbClr val="000000"/>
                </a:solidFill>
                <a:latin typeface="PetersburgC"/>
              </a:rPr>
              <a:t>метку </a:t>
            </a:r>
            <a:r>
              <a:rPr lang="ru-RU" sz="1200" b="0" i="1" u="none" strike="noStrike" baseline="0" dirty="0">
                <a:solidFill>
                  <a:srgbClr val="000000"/>
                </a:solidFill>
                <a:latin typeface="PetersburgC"/>
              </a:rPr>
              <a:t>спам</a:t>
            </a:r>
            <a:r>
              <a:rPr lang="ru-RU" sz="1200" b="0" i="0" u="none" strike="noStrike" baseline="0" dirty="0">
                <a:solidFill>
                  <a:srgbClr val="000000"/>
                </a:solidFill>
                <a:latin typeface="PetersburgC"/>
              </a:rPr>
              <a:t>.</a:t>
            </a:r>
          </a:p>
        </p:txBody>
      </p:sp>
      <p:sp>
        <p:nvSpPr>
          <p:cNvPr id="4" name="Номер слайда 3"/>
          <p:cNvSpPr>
            <a:spLocks noGrp="1"/>
          </p:cNvSpPr>
          <p:nvPr>
            <p:ph type="sldNum" sz="quarter" idx="5"/>
          </p:nvPr>
        </p:nvSpPr>
        <p:spPr/>
        <p:txBody>
          <a:bodyPr/>
          <a:lstStyle/>
          <a:p>
            <a:fld id="{DECB8B1E-725D-4009-AE77-F13A2082C589}" type="slidenum">
              <a:rPr lang="ru-RU" smtClean="0"/>
              <a:t>4</a:t>
            </a:fld>
            <a:endParaRPr lang="ru-RU"/>
          </a:p>
        </p:txBody>
      </p:sp>
    </p:spTree>
    <p:extLst>
      <p:ext uri="{BB962C8B-B14F-4D97-AF65-F5344CB8AC3E}">
        <p14:creationId xmlns:p14="http://schemas.microsoft.com/office/powerpoint/2010/main" val="1339793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r>
              <a:rPr lang="ru-RU" dirty="0"/>
              <a:t>Почему комбинирование нескольких моделей может оказаться лучше?</a:t>
            </a:r>
          </a:p>
          <a:p>
            <a:pPr marL="0" indent="0" algn="just">
              <a:buNone/>
            </a:pPr>
            <a:r>
              <a:rPr lang="ru-RU" dirty="0"/>
              <a:t>Потому что когда некоррелированные модели в чем-то соглашаются, велика вероятность, что это что-то – правильный исход. Ключевое слово здесь «некоррелированные». В идеале модели должны быть построены с использованием разных признаков или иметь разную природу – например, метод опорных векторов (SVM) и случайный лес. </a:t>
            </a:r>
          </a:p>
          <a:p>
            <a:pPr marL="0" indent="0" algn="just">
              <a:buNone/>
            </a:pPr>
            <a:r>
              <a:rPr lang="ru-RU" dirty="0"/>
              <a:t>Комбинирование разных версий алгоритма обучения решающих деревьев или нескольких SVM с различными </a:t>
            </a:r>
            <a:r>
              <a:rPr lang="ru-RU" dirty="0" err="1"/>
              <a:t>гиперпараметрами</a:t>
            </a:r>
            <a:r>
              <a:rPr lang="ru-RU" dirty="0"/>
              <a:t> может и не дать существенного улучшения качества.</a:t>
            </a:r>
          </a:p>
          <a:p>
            <a:pPr marL="0" indent="0">
              <a:buNone/>
            </a:pPr>
            <a:r>
              <a:rPr lang="ru-RU" dirty="0"/>
              <a:t>Цель ансамблевого обучения – обучиться комбинировать сильные стороны базовых моделей.</a:t>
            </a:r>
          </a:p>
          <a:p>
            <a:pPr marL="0" indent="0">
              <a:buNone/>
            </a:pPr>
            <a:endParaRPr lang="ru-RU" dirty="0"/>
          </a:p>
          <a:p>
            <a:pPr marL="0" indent="0" algn="just">
              <a:buNone/>
            </a:pPr>
            <a:r>
              <a:rPr lang="ru-RU" dirty="0"/>
              <a:t>Представим, что у вас есть несколько моделей, обученных на ваших данных. Можно ли придумать процедуру, которая позволит использовать все имеющиеся модели и при этом получить на тестовых данных качество выше, чем могла показать каждая из этих моделей в отдельности? Как смешать несколько моделей в одну? </a:t>
            </a:r>
          </a:p>
          <a:p>
            <a:pPr marL="0" indent="0">
              <a:buNone/>
            </a:pPr>
            <a:endParaRPr lang="ru-RU" dirty="0"/>
          </a:p>
          <a:p>
            <a:pPr marL="0" indent="0">
              <a:buNone/>
            </a:pPr>
            <a:r>
              <a:rPr lang="ru-RU" dirty="0" err="1"/>
              <a:t>Стэкинг</a:t>
            </a:r>
            <a:r>
              <a:rPr lang="ru-RU" dirty="0"/>
              <a:t>, </a:t>
            </a:r>
            <a:r>
              <a:rPr lang="ru-RU" dirty="0" err="1"/>
              <a:t>бэггинг</a:t>
            </a:r>
            <a:r>
              <a:rPr lang="ru-RU" dirty="0"/>
              <a:t>, случайные леса.</a:t>
            </a:r>
          </a:p>
          <a:p>
            <a:pPr marL="0" indent="0">
              <a:buNone/>
            </a:pP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a:t>
            </a:fld>
            <a:endParaRPr lang="ru-RU"/>
          </a:p>
        </p:txBody>
      </p:sp>
    </p:spTree>
    <p:extLst>
      <p:ext uri="{BB962C8B-B14F-4D97-AF65-F5344CB8AC3E}">
        <p14:creationId xmlns:p14="http://schemas.microsoft.com/office/powerpoint/2010/main" val="340977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a:t>
            </a:fld>
            <a:endParaRPr lang="ru-RU"/>
          </a:p>
        </p:txBody>
      </p:sp>
    </p:spTree>
    <p:extLst>
      <p:ext uri="{BB962C8B-B14F-4D97-AF65-F5344CB8AC3E}">
        <p14:creationId xmlns:p14="http://schemas.microsoft.com/office/powerpoint/2010/main" val="1915547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t>Существуют специальные алгоритмы ансамблевого обучения, например, обучение случайного леса и градиентный </a:t>
            </a:r>
            <a:r>
              <a:rPr lang="ru-RU" sz="1200" dirty="0" err="1"/>
              <a:t>бустинг</a:t>
            </a:r>
            <a:r>
              <a:rPr lang="ru-RU" sz="1200" dirty="0"/>
              <a:t>. Они обучают ансамбль слабых моделей, насчитывающий от нескольких сотен до нескольких тысяч моделей, и получают в итоге сильную модель, качество которой значительно выше, чем у каждой слабой модели по отдельности.</a:t>
            </a:r>
          </a:p>
          <a:p>
            <a:endParaRPr lang="ru-RU" dirty="0"/>
          </a:p>
          <a:p>
            <a:pPr marL="0" indent="0" algn="just">
              <a:buNone/>
            </a:pPr>
            <a:r>
              <a:rPr lang="ru-RU" dirty="0"/>
              <a:t>Двумя основными методами обучения ансамблей являются </a:t>
            </a:r>
            <a:r>
              <a:rPr lang="ru-RU" dirty="0" err="1"/>
              <a:t>бустинг</a:t>
            </a:r>
            <a:r>
              <a:rPr lang="ru-RU" dirty="0"/>
              <a:t> (</a:t>
            </a:r>
            <a:r>
              <a:rPr lang="ru-RU" dirty="0" err="1"/>
              <a:t>boosting</a:t>
            </a:r>
            <a:r>
              <a:rPr lang="ru-RU" dirty="0"/>
              <a:t> — форсирование) и </a:t>
            </a:r>
            <a:r>
              <a:rPr lang="ru-RU" dirty="0" err="1"/>
              <a:t>бэггинг</a:t>
            </a:r>
            <a:r>
              <a:rPr lang="ru-RU" dirty="0"/>
              <a:t> (</a:t>
            </a:r>
            <a:r>
              <a:rPr lang="ru-RU" dirty="0" err="1"/>
              <a:t>bagging</a:t>
            </a:r>
            <a:r>
              <a:rPr lang="ru-RU" dirty="0"/>
              <a:t> — агрегирование).</a:t>
            </a:r>
          </a:p>
          <a:p>
            <a:pPr marL="0" indent="0" algn="just">
              <a:buNone/>
            </a:pPr>
            <a:r>
              <a:rPr lang="ru-RU" sz="1200" b="0" i="0" u="none" strike="noStrike" baseline="0" dirty="0">
                <a:solidFill>
                  <a:srgbClr val="000000"/>
                </a:solidFill>
                <a:latin typeface="PetersburgC"/>
              </a:rPr>
              <a:t>Метод </a:t>
            </a:r>
            <a:r>
              <a:rPr lang="ru-RU" sz="1200" b="0" i="0" u="none" strike="noStrike" baseline="0" dirty="0" err="1">
                <a:solidFill>
                  <a:srgbClr val="000000"/>
                </a:solidFill>
                <a:latin typeface="PetersburgC"/>
              </a:rPr>
              <a:t>бустинга</a:t>
            </a:r>
            <a:r>
              <a:rPr lang="ru-RU" sz="1200" b="0" i="0" u="none" strike="noStrike" baseline="0" dirty="0">
                <a:solidFill>
                  <a:srgbClr val="000000"/>
                </a:solidFill>
                <a:latin typeface="PetersburgC"/>
              </a:rPr>
              <a:t> заключается в использовании исходных обучающих данных и итеративного создания нескольких моделей с применением слабого алгоритма. </a:t>
            </a:r>
            <a:endParaRPr lang="en-US" sz="1200" b="0" i="0" u="none" strike="noStrike" baseline="0" dirty="0">
              <a:solidFill>
                <a:srgbClr val="000000"/>
              </a:solidFill>
              <a:latin typeface="PetersburgC"/>
            </a:endParaRPr>
          </a:p>
          <a:p>
            <a:pPr marL="0" indent="0" algn="just">
              <a:buNone/>
            </a:pPr>
            <a:endParaRPr lang="ru-RU" sz="1200" b="0" i="0" u="none" strike="noStrike" baseline="0" dirty="0">
              <a:solidFill>
                <a:srgbClr val="000000"/>
              </a:solidFill>
              <a:latin typeface="PetersburgC"/>
            </a:endParaRPr>
          </a:p>
          <a:p>
            <a:pPr marL="0" indent="0" algn="just">
              <a:buNone/>
            </a:pPr>
            <a:r>
              <a:rPr lang="ru-RU" sz="1200" b="0" i="0" u="none" strike="noStrike" baseline="0" dirty="0">
                <a:solidFill>
                  <a:srgbClr val="000000"/>
                </a:solidFill>
                <a:latin typeface="PetersburgC"/>
              </a:rPr>
              <a:t>Каждая новая модель отличается от предыдущих тем, что, конструируя ее, слабый алгоритм пытается «исправить» ошибки, допускаемые предыдущими моделями. Окончательная </a:t>
            </a:r>
            <a:r>
              <a:rPr lang="ru-RU" sz="1200" b="1" i="0" u="none" strike="noStrike" baseline="0" dirty="0">
                <a:solidFill>
                  <a:srgbClr val="000000"/>
                </a:solidFill>
                <a:latin typeface="PetersburgC"/>
              </a:rPr>
              <a:t>ансамблевая модель </a:t>
            </a:r>
            <a:r>
              <a:rPr lang="ru-RU" sz="1200" b="0" i="0" u="none" strike="noStrike" baseline="0" dirty="0">
                <a:solidFill>
                  <a:srgbClr val="000000"/>
                </a:solidFill>
                <a:latin typeface="PetersburgC"/>
              </a:rPr>
              <a:t>представляет собой комбинацию этих многочисленных слабых моделей, построенных итеративно.</a:t>
            </a:r>
          </a:p>
          <a:p>
            <a:pPr marL="0" indent="0" algn="just">
              <a:buNone/>
            </a:pPr>
            <a:endParaRPr lang="en-US" sz="1200" b="0" i="0" u="none" strike="noStrike" baseline="0" dirty="0">
              <a:solidFill>
                <a:srgbClr val="000000"/>
              </a:solidFill>
              <a:latin typeface="PetersburgC"/>
            </a:endParaRPr>
          </a:p>
          <a:p>
            <a:pPr marL="0" indent="0" algn="just">
              <a:buNone/>
            </a:pPr>
            <a:r>
              <a:rPr lang="ru-RU" sz="1200" b="0" i="0" u="none" strike="noStrike" baseline="0" dirty="0">
                <a:solidFill>
                  <a:srgbClr val="000000"/>
                </a:solidFill>
                <a:latin typeface="PetersburgC"/>
              </a:rPr>
              <a:t>Суть </a:t>
            </a:r>
            <a:r>
              <a:rPr lang="ru-RU" sz="1200" b="0" i="0" u="none" strike="noStrike" baseline="0" dirty="0" err="1">
                <a:solidFill>
                  <a:srgbClr val="000000"/>
                </a:solidFill>
                <a:latin typeface="PetersburgC"/>
              </a:rPr>
              <a:t>бэггинга</a:t>
            </a:r>
            <a:r>
              <a:rPr lang="ru-RU" sz="1200" b="0" i="0" u="none" strike="noStrike" baseline="0" dirty="0">
                <a:solidFill>
                  <a:srgbClr val="000000"/>
                </a:solidFill>
                <a:latin typeface="PetersburgC"/>
              </a:rPr>
              <a:t> заключается в создании множества «копий» обучающих данных (каждая копия немного отличается от других) и последующем применении слабого алгоритма к каждой копии с целью получить несколько слабых моделей, а затем объединить их. Широко используемым и эффективным алгоритмом машинного обучения, основанным на идее </a:t>
            </a:r>
            <a:r>
              <a:rPr lang="ru-RU" sz="1200" b="0" i="0" u="none" strike="noStrike" baseline="0" dirty="0" err="1">
                <a:solidFill>
                  <a:srgbClr val="000000"/>
                </a:solidFill>
                <a:latin typeface="PetersburgC"/>
              </a:rPr>
              <a:t>бэггинга</a:t>
            </a:r>
            <a:r>
              <a:rPr lang="ru-RU" sz="1200" b="0" i="0" u="none" strike="noStrike" baseline="0" dirty="0">
                <a:solidFill>
                  <a:srgbClr val="000000"/>
                </a:solidFill>
                <a:latin typeface="PetersburgC"/>
              </a:rPr>
              <a:t>, является </a:t>
            </a:r>
            <a:r>
              <a:rPr lang="ru-RU" sz="1200" b="1" i="0" u="none" strike="noStrike" baseline="0" dirty="0">
                <a:solidFill>
                  <a:srgbClr val="000000"/>
                </a:solidFill>
                <a:latin typeface="PetersburgC"/>
              </a:rPr>
              <a:t>случайный лес</a:t>
            </a:r>
            <a:r>
              <a:rPr lang="ru-RU" sz="1200" b="0" i="0" u="none" strike="noStrike" baseline="0" dirty="0">
                <a:solidFill>
                  <a:srgbClr val="000000"/>
                </a:solidFill>
                <a:latin typeface="PetersburgC"/>
              </a:rPr>
              <a:t>.</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7</a:t>
            </a:fld>
            <a:endParaRPr lang="ru-RU"/>
          </a:p>
        </p:txBody>
      </p:sp>
    </p:spTree>
    <p:extLst>
      <p:ext uri="{BB962C8B-B14F-4D97-AF65-F5344CB8AC3E}">
        <p14:creationId xmlns:p14="http://schemas.microsoft.com/office/powerpoint/2010/main" val="3359047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dirty="0">
                <a:solidFill>
                  <a:srgbClr val="323232"/>
                </a:solidFill>
                <a:effectLst/>
                <a:latin typeface="__CoFoSans_66cdd1"/>
              </a:rPr>
              <a:t>Для </a:t>
            </a:r>
            <a:r>
              <a:rPr lang="ru-RU" sz="1200" b="0" i="0" dirty="0">
                <a:solidFill>
                  <a:srgbClr val="323232"/>
                </a:solidFill>
                <a:effectLst/>
                <a:latin typeface="KaTeX_Main"/>
              </a:rPr>
              <a:t>Q(a)</a:t>
            </a:r>
            <a:r>
              <a:rPr lang="ru-RU" sz="1200" b="0" i="0" dirty="0">
                <a:solidFill>
                  <a:srgbClr val="323232"/>
                </a:solidFill>
                <a:effectLst/>
                <a:latin typeface="__CoFoSans_66cdd1"/>
              </a:rPr>
              <a:t> существует разложение на три компоненты — шум, смещение и разброс. Это разложение называется </a:t>
            </a:r>
            <a:r>
              <a:rPr lang="ru-RU" sz="1200" b="0" i="0" dirty="0" err="1">
                <a:solidFill>
                  <a:srgbClr val="323232"/>
                </a:solidFill>
                <a:effectLst/>
                <a:latin typeface="__CoFoSans_66cdd1"/>
              </a:rPr>
              <a:t>bias-variance</a:t>
            </a:r>
            <a:r>
              <a:rPr lang="ru-RU" sz="1200" b="0" i="0" dirty="0">
                <a:solidFill>
                  <a:srgbClr val="323232"/>
                </a:solidFill>
                <a:effectLst/>
                <a:latin typeface="__CoFoSans_66cdd1"/>
              </a:rPr>
              <a:t> </a:t>
            </a:r>
            <a:r>
              <a:rPr lang="ru-RU" sz="1200" b="0" i="0" dirty="0" err="1">
                <a:solidFill>
                  <a:srgbClr val="323232"/>
                </a:solidFill>
                <a:effectLst/>
                <a:latin typeface="__CoFoSans_66cdd1"/>
              </a:rPr>
              <a:t>decomposition</a:t>
            </a:r>
            <a:r>
              <a:rPr lang="ru-RU" sz="1200" b="0" i="0" dirty="0">
                <a:solidFill>
                  <a:srgbClr val="323232"/>
                </a:solidFill>
                <a:effectLst/>
                <a:latin typeface="__CoFoSans_66cdd1"/>
              </a:rPr>
              <a:t>, оно — одно из мощных средств для анализа работы ансамблей. </a:t>
            </a:r>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9</a:t>
            </a:fld>
            <a:endParaRPr lang="ru-RU"/>
          </a:p>
        </p:txBody>
      </p:sp>
    </p:spTree>
    <p:extLst>
      <p:ext uri="{BB962C8B-B14F-4D97-AF65-F5344CB8AC3E}">
        <p14:creationId xmlns:p14="http://schemas.microsoft.com/office/powerpoint/2010/main" val="3693517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23232"/>
                </a:solidFill>
                <a:effectLst/>
                <a:latin typeface="__CoFoSans_66cdd1"/>
              </a:rPr>
              <a:t>Идея </a:t>
            </a:r>
            <a:r>
              <a:rPr lang="ru-RU" b="0" i="0" dirty="0" err="1">
                <a:solidFill>
                  <a:srgbClr val="323232"/>
                </a:solidFill>
                <a:effectLst/>
                <a:latin typeface="__CoFoSans_66cdd1"/>
              </a:rPr>
              <a:t>бэггинга</a:t>
            </a:r>
            <a:r>
              <a:rPr lang="ru-RU" b="0" i="0" dirty="0">
                <a:solidFill>
                  <a:srgbClr val="323232"/>
                </a:solidFill>
                <a:effectLst/>
                <a:latin typeface="__CoFoSans_66cdd1"/>
              </a:rPr>
              <a:t> (</a:t>
            </a:r>
            <a:r>
              <a:rPr lang="ru-RU" b="0" i="0" dirty="0" err="1">
                <a:solidFill>
                  <a:srgbClr val="323232"/>
                </a:solidFill>
                <a:effectLst/>
                <a:latin typeface="__CoFoSans_66cdd1"/>
              </a:rPr>
              <a:t>bagging</a:t>
            </a:r>
            <a:r>
              <a:rPr lang="ru-RU" b="0" i="0" dirty="0">
                <a:solidFill>
                  <a:srgbClr val="323232"/>
                </a:solidFill>
                <a:effectLst/>
                <a:latin typeface="__CoFoSans_66cdd1"/>
              </a:rPr>
              <a:t>, </a:t>
            </a:r>
            <a:r>
              <a:rPr lang="ru-RU" b="0" i="0" dirty="0" err="1">
                <a:solidFill>
                  <a:srgbClr val="323232"/>
                </a:solidFill>
                <a:effectLst/>
                <a:latin typeface="__CoFoSans_66cdd1"/>
              </a:rPr>
              <a:t>bootstrap</a:t>
            </a:r>
            <a:r>
              <a:rPr lang="ru-RU" b="0" i="0" dirty="0">
                <a:solidFill>
                  <a:srgbClr val="323232"/>
                </a:solidFill>
                <a:effectLst/>
                <a:latin typeface="__CoFoSans_66cdd1"/>
              </a:rPr>
              <a:t> </a:t>
            </a:r>
            <a:r>
              <a:rPr lang="ru-RU" b="0" i="0" dirty="0" err="1">
                <a:solidFill>
                  <a:srgbClr val="323232"/>
                </a:solidFill>
                <a:effectLst/>
                <a:latin typeface="__CoFoSans_66cdd1"/>
              </a:rPr>
              <a:t>aggregation</a:t>
            </a:r>
            <a:r>
              <a:rPr lang="ru-RU" b="0" i="0" dirty="0">
                <a:solidFill>
                  <a:srgbClr val="323232"/>
                </a:solidFill>
                <a:effectLst/>
                <a:latin typeface="__CoFoSans_66cdd1"/>
              </a:rPr>
              <a:t>) заключается в следующем. </a:t>
            </a:r>
          </a:p>
          <a:p>
            <a:r>
              <a:rPr lang="ru-RU" b="0" i="0" dirty="0">
                <a:solidFill>
                  <a:srgbClr val="323232"/>
                </a:solidFill>
                <a:effectLst/>
                <a:latin typeface="__CoFoSans_66cdd1"/>
              </a:rPr>
              <a:t>Пусть обучающая выборка состояла из </a:t>
            </a:r>
            <a:r>
              <a:rPr lang="ru-RU" b="0" i="0" dirty="0">
                <a:solidFill>
                  <a:srgbClr val="323232"/>
                </a:solidFill>
                <a:effectLst/>
                <a:latin typeface="KaTeX_Main"/>
              </a:rPr>
              <a:t>n</a:t>
            </a:r>
            <a:r>
              <a:rPr lang="ru-RU" b="0" i="0" dirty="0">
                <a:solidFill>
                  <a:srgbClr val="323232"/>
                </a:solidFill>
                <a:effectLst/>
                <a:latin typeface="__CoFoSans_66cdd1"/>
              </a:rPr>
              <a:t> объектов. Выберем из неё </a:t>
            </a:r>
            <a:r>
              <a:rPr lang="ru-RU" b="0" i="0" dirty="0">
                <a:solidFill>
                  <a:srgbClr val="323232"/>
                </a:solidFill>
                <a:effectLst/>
                <a:latin typeface="KaTeX_Main"/>
              </a:rPr>
              <a:t>n</a:t>
            </a:r>
            <a:r>
              <a:rPr lang="ru-RU" b="0" i="0" dirty="0">
                <a:solidFill>
                  <a:srgbClr val="323232"/>
                </a:solidFill>
                <a:effectLst/>
                <a:latin typeface="__CoFoSans_66cdd1"/>
              </a:rPr>
              <a:t> примеров равновероятно, с возвращением. </a:t>
            </a:r>
          </a:p>
          <a:p>
            <a:r>
              <a:rPr lang="ru-RU" b="0" i="0" dirty="0">
                <a:solidFill>
                  <a:srgbClr val="323232"/>
                </a:solidFill>
                <a:effectLst/>
                <a:latin typeface="__CoFoSans_66cdd1"/>
              </a:rPr>
              <a:t>Получим новую выборку </a:t>
            </a:r>
            <a:r>
              <a:rPr lang="ru-RU" b="0" i="0" dirty="0">
                <a:solidFill>
                  <a:srgbClr val="323232"/>
                </a:solidFill>
                <a:effectLst/>
                <a:latin typeface="KaTeX_Main"/>
              </a:rPr>
              <a:t>X1</a:t>
            </a:r>
            <a:r>
              <a:rPr lang="ru-RU" b="0" i="0" dirty="0">
                <a:solidFill>
                  <a:srgbClr val="323232"/>
                </a:solidFill>
                <a:effectLst/>
                <a:latin typeface="__CoFoSans_66cdd1"/>
              </a:rPr>
              <a:t>, в которой некоторых элементов исходной выборки не будет, а какие-то могут войти несколько раз. </a:t>
            </a:r>
          </a:p>
          <a:p>
            <a:r>
              <a:rPr lang="ru-RU" b="0" i="0" dirty="0">
                <a:solidFill>
                  <a:srgbClr val="323232"/>
                </a:solidFill>
                <a:effectLst/>
                <a:latin typeface="__CoFoSans_66cdd1"/>
              </a:rPr>
              <a:t>С помощью некоторого алгоритма </a:t>
            </a:r>
            <a:r>
              <a:rPr lang="ru-RU" b="0" i="0" dirty="0">
                <a:solidFill>
                  <a:srgbClr val="323232"/>
                </a:solidFill>
                <a:effectLst/>
                <a:latin typeface="KaTeX_Main"/>
              </a:rPr>
              <a:t>b</a:t>
            </a:r>
            <a:r>
              <a:rPr lang="ru-RU" b="0" i="0" dirty="0">
                <a:solidFill>
                  <a:srgbClr val="323232"/>
                </a:solidFill>
                <a:effectLst/>
                <a:latin typeface="__CoFoSans_66cdd1"/>
              </a:rPr>
              <a:t> обучим на этой выборке модель </a:t>
            </a:r>
            <a:r>
              <a:rPr lang="ru-RU" b="0" i="0" dirty="0">
                <a:solidFill>
                  <a:srgbClr val="323232"/>
                </a:solidFill>
                <a:effectLst/>
                <a:latin typeface="KaTeX_Main"/>
              </a:rPr>
              <a:t>b1(x)=b(x,X1)</a:t>
            </a:r>
            <a:r>
              <a:rPr lang="ru-RU" b="0" i="0" dirty="0">
                <a:solidFill>
                  <a:srgbClr val="323232"/>
                </a:solidFill>
                <a:effectLst/>
                <a:latin typeface="__CoFoSans_66cdd1"/>
              </a:rPr>
              <a:t>. </a:t>
            </a:r>
          </a:p>
          <a:p>
            <a:r>
              <a:rPr lang="ru-RU" b="0" i="0" dirty="0">
                <a:solidFill>
                  <a:srgbClr val="323232"/>
                </a:solidFill>
                <a:effectLst/>
                <a:latin typeface="__CoFoSans_66cdd1"/>
              </a:rPr>
              <a:t>Повторим процедуру: сформируем вторую выборку </a:t>
            </a:r>
            <a:r>
              <a:rPr lang="ru-RU" b="0" i="0" dirty="0">
                <a:solidFill>
                  <a:srgbClr val="323232"/>
                </a:solidFill>
                <a:effectLst/>
                <a:latin typeface="KaTeX_Main"/>
              </a:rPr>
              <a:t>X2</a:t>
            </a:r>
            <a:r>
              <a:rPr lang="ru-RU" b="0" i="0" dirty="0">
                <a:solidFill>
                  <a:srgbClr val="323232"/>
                </a:solidFill>
                <a:effectLst/>
                <a:latin typeface="__CoFoSans_66cdd1"/>
              </a:rPr>
              <a:t> из </a:t>
            </a:r>
            <a:r>
              <a:rPr lang="ru-RU" b="0" i="0" dirty="0">
                <a:solidFill>
                  <a:srgbClr val="323232"/>
                </a:solidFill>
                <a:effectLst/>
                <a:latin typeface="KaTeX_Main"/>
              </a:rPr>
              <a:t>n</a:t>
            </a:r>
            <a:r>
              <a:rPr lang="ru-RU" b="0" i="0" dirty="0">
                <a:solidFill>
                  <a:srgbClr val="323232"/>
                </a:solidFill>
                <a:effectLst/>
                <a:latin typeface="__CoFoSans_66cdd1"/>
              </a:rPr>
              <a:t> элементов с возвращением и с помощью того же алгоритма обучим на ней модель </a:t>
            </a:r>
            <a:r>
              <a:rPr lang="ru-RU" b="0" i="0" dirty="0">
                <a:solidFill>
                  <a:srgbClr val="323232"/>
                </a:solidFill>
                <a:effectLst/>
                <a:latin typeface="KaTeX_Main"/>
              </a:rPr>
              <a:t>b2(x)=b(x,X2)</a:t>
            </a:r>
            <a:r>
              <a:rPr lang="ru-RU" b="0" i="0" dirty="0">
                <a:solidFill>
                  <a:srgbClr val="323232"/>
                </a:solidFill>
                <a:effectLst/>
                <a:latin typeface="__CoFoSans_66cdd1"/>
              </a:rPr>
              <a:t>. </a:t>
            </a:r>
          </a:p>
          <a:p>
            <a:r>
              <a:rPr lang="ru-RU" b="0" i="0" dirty="0">
                <a:solidFill>
                  <a:srgbClr val="323232"/>
                </a:solidFill>
                <a:effectLst/>
                <a:latin typeface="__CoFoSans_66cdd1"/>
              </a:rPr>
              <a:t>Повторив процедуру </a:t>
            </a:r>
            <a:r>
              <a:rPr lang="ru-RU" b="0" i="0" dirty="0">
                <a:solidFill>
                  <a:srgbClr val="323232"/>
                </a:solidFill>
                <a:effectLst/>
                <a:latin typeface="KaTeX_Main"/>
              </a:rPr>
              <a:t>k</a:t>
            </a:r>
            <a:r>
              <a:rPr lang="ru-RU" b="0" i="0" dirty="0">
                <a:solidFill>
                  <a:srgbClr val="323232"/>
                </a:solidFill>
                <a:effectLst/>
                <a:latin typeface="__CoFoSans_66cdd1"/>
              </a:rPr>
              <a:t> раз, получим </a:t>
            </a:r>
            <a:r>
              <a:rPr lang="ru-RU" b="0" i="0" dirty="0">
                <a:solidFill>
                  <a:srgbClr val="323232"/>
                </a:solidFill>
                <a:effectLst/>
                <a:latin typeface="KaTeX_Main"/>
              </a:rPr>
              <a:t>k</a:t>
            </a:r>
            <a:r>
              <a:rPr lang="ru-RU" b="0" i="0" dirty="0">
                <a:solidFill>
                  <a:srgbClr val="323232"/>
                </a:solidFill>
                <a:effectLst/>
                <a:latin typeface="__CoFoSans_66cdd1"/>
              </a:rPr>
              <a:t> моделей, обученных на </a:t>
            </a:r>
            <a:r>
              <a:rPr lang="ru-RU" b="0" i="0" dirty="0">
                <a:solidFill>
                  <a:srgbClr val="323232"/>
                </a:solidFill>
                <a:effectLst/>
                <a:latin typeface="KaTeX_Main"/>
              </a:rPr>
              <a:t>k</a:t>
            </a:r>
            <a:r>
              <a:rPr lang="ru-RU" b="0" i="0" dirty="0">
                <a:solidFill>
                  <a:srgbClr val="323232"/>
                </a:solidFill>
                <a:effectLst/>
                <a:latin typeface="__CoFoSans_66cdd1"/>
              </a:rPr>
              <a:t> выборках. </a:t>
            </a:r>
          </a:p>
          <a:p>
            <a:r>
              <a:rPr lang="ru-RU" b="0" i="0" dirty="0">
                <a:solidFill>
                  <a:srgbClr val="323232"/>
                </a:solidFill>
                <a:effectLst/>
                <a:latin typeface="__CoFoSans_66cdd1"/>
              </a:rPr>
              <a:t>Чтобы получить одно предсказание, усредним предсказания всех моделей:</a:t>
            </a:r>
          </a:p>
          <a:p>
            <a:endParaRPr lang="ru-RU" b="0" i="0" dirty="0">
              <a:solidFill>
                <a:srgbClr val="323232"/>
              </a:solidFill>
              <a:effectLst/>
              <a:latin typeface="__CoFoSans_66cdd1"/>
            </a:endParaRPr>
          </a:p>
          <a:p>
            <a:pPr algn="l">
              <a:spcBef>
                <a:spcPts val="1200"/>
              </a:spcBef>
            </a:pPr>
            <a:r>
              <a:rPr lang="ru-RU" b="0" i="0" dirty="0">
                <a:solidFill>
                  <a:srgbClr val="323232"/>
                </a:solidFill>
                <a:effectLst/>
                <a:latin typeface="__CoFoSans_66cdd1"/>
              </a:rPr>
              <a:t>Процесс генерации </a:t>
            </a:r>
            <a:r>
              <a:rPr lang="ru-RU" b="0" i="0" dirty="0" err="1">
                <a:solidFill>
                  <a:srgbClr val="323232"/>
                </a:solidFill>
                <a:effectLst/>
                <a:latin typeface="__CoFoSans_66cdd1"/>
              </a:rPr>
              <a:t>подвыборок</a:t>
            </a:r>
            <a:r>
              <a:rPr lang="ru-RU" b="0" i="0" dirty="0">
                <a:solidFill>
                  <a:srgbClr val="323232"/>
                </a:solidFill>
                <a:effectLst/>
                <a:latin typeface="__CoFoSans_66cdd1"/>
              </a:rPr>
              <a:t> с помощью семплирования с возвращением называется </a:t>
            </a:r>
            <a:r>
              <a:rPr lang="ru-RU" b="0" i="0" dirty="0" err="1">
                <a:solidFill>
                  <a:srgbClr val="323232"/>
                </a:solidFill>
                <a:effectLst/>
                <a:latin typeface="__CoFoSans_66cdd1"/>
              </a:rPr>
              <a:t>бутстрепом</a:t>
            </a:r>
            <a:r>
              <a:rPr lang="ru-RU" b="0" i="0" dirty="0">
                <a:solidFill>
                  <a:srgbClr val="323232"/>
                </a:solidFill>
                <a:effectLst/>
                <a:latin typeface="__CoFoSans_66cdd1"/>
              </a:rPr>
              <a:t> (</a:t>
            </a:r>
            <a:r>
              <a:rPr lang="ru-RU" b="0" i="0" dirty="0" err="1">
                <a:solidFill>
                  <a:srgbClr val="323232"/>
                </a:solidFill>
                <a:effectLst/>
                <a:latin typeface="__CoFoSans_66cdd1"/>
              </a:rPr>
              <a:t>bootstrap</a:t>
            </a:r>
            <a:r>
              <a:rPr lang="ru-RU" b="0" i="0" dirty="0">
                <a:solidFill>
                  <a:srgbClr val="323232"/>
                </a:solidFill>
                <a:effectLst/>
                <a:latin typeface="__CoFoSans_66cdd1"/>
              </a:rPr>
              <a:t>), а модели </a:t>
            </a:r>
            <a:r>
              <a:rPr lang="ru-RU" b="0" i="0" dirty="0">
                <a:solidFill>
                  <a:srgbClr val="323232"/>
                </a:solidFill>
                <a:effectLst/>
                <a:latin typeface="KaTeX_Main"/>
              </a:rPr>
              <a:t>b1(x),…,</a:t>
            </a:r>
            <a:r>
              <a:rPr lang="ru-RU" b="0" i="0" dirty="0" err="1">
                <a:solidFill>
                  <a:srgbClr val="323232"/>
                </a:solidFill>
                <a:effectLst/>
                <a:latin typeface="KaTeX_Main"/>
              </a:rPr>
              <a:t>bk</a:t>
            </a:r>
            <a:r>
              <a:rPr lang="ru-RU" b="0" i="0" dirty="0">
                <a:solidFill>
                  <a:srgbClr val="323232"/>
                </a:solidFill>
                <a:effectLst/>
                <a:latin typeface="KaTeX_Main"/>
              </a:rPr>
              <a:t>(x)</a:t>
            </a:r>
            <a:r>
              <a:rPr lang="ru-RU" b="0" i="1" dirty="0">
                <a:solidFill>
                  <a:srgbClr val="323232"/>
                </a:solidFill>
                <a:effectLst/>
                <a:latin typeface="KaTeX_Math"/>
              </a:rPr>
              <a:t>b</a:t>
            </a:r>
            <a:r>
              <a:rPr lang="ru-RU" b="0" i="0" dirty="0">
                <a:solidFill>
                  <a:srgbClr val="323232"/>
                </a:solidFill>
                <a:effectLst/>
                <a:latin typeface="KaTeX_Main"/>
              </a:rPr>
              <a:t>1​(</a:t>
            </a:r>
            <a:r>
              <a:rPr lang="ru-RU" b="0" i="1" dirty="0">
                <a:solidFill>
                  <a:srgbClr val="323232"/>
                </a:solidFill>
                <a:effectLst/>
                <a:latin typeface="KaTeX_Math"/>
              </a:rPr>
              <a:t>x</a:t>
            </a:r>
            <a:r>
              <a:rPr lang="ru-RU" b="0" i="0" dirty="0">
                <a:solidFill>
                  <a:srgbClr val="323232"/>
                </a:solidFill>
                <a:effectLst/>
                <a:latin typeface="KaTeX_Main"/>
              </a:rPr>
              <a:t>),…,</a:t>
            </a:r>
            <a:r>
              <a:rPr lang="ru-RU" b="0" i="1" dirty="0" err="1">
                <a:solidFill>
                  <a:srgbClr val="323232"/>
                </a:solidFill>
                <a:effectLst/>
                <a:latin typeface="KaTeX_Math"/>
              </a:rPr>
              <a:t>bk</a:t>
            </a:r>
            <a:r>
              <a:rPr lang="ru-RU" b="0" i="0" dirty="0">
                <a:solidFill>
                  <a:srgbClr val="323232"/>
                </a:solidFill>
                <a:effectLst/>
                <a:latin typeface="KaTeX_Main"/>
              </a:rPr>
              <a:t>​(</a:t>
            </a:r>
            <a:r>
              <a:rPr lang="ru-RU" b="0" i="1" dirty="0">
                <a:solidFill>
                  <a:srgbClr val="323232"/>
                </a:solidFill>
                <a:effectLst/>
                <a:latin typeface="KaTeX_Math"/>
              </a:rPr>
              <a:t>x</a:t>
            </a:r>
            <a:r>
              <a:rPr lang="ru-RU" b="0" i="0" dirty="0">
                <a:solidFill>
                  <a:srgbClr val="323232"/>
                </a:solidFill>
                <a:effectLst/>
                <a:latin typeface="KaTeX_Main"/>
              </a:rPr>
              <a:t>)</a:t>
            </a:r>
            <a:r>
              <a:rPr lang="ru-RU" b="0" i="0" dirty="0">
                <a:solidFill>
                  <a:srgbClr val="323232"/>
                </a:solidFill>
                <a:effectLst/>
                <a:latin typeface="__CoFoSans_66cdd1"/>
              </a:rPr>
              <a:t> часто называют базовыми алгоритмами (хотя, наверное, лучше было бы назвать их базовыми моделями). Модель </a:t>
            </a:r>
            <a:r>
              <a:rPr lang="ru-RU" b="0" i="0" dirty="0">
                <a:solidFill>
                  <a:srgbClr val="323232"/>
                </a:solidFill>
                <a:effectLst/>
                <a:latin typeface="KaTeX_Main"/>
              </a:rPr>
              <a:t>a(x)</a:t>
            </a:r>
            <a:r>
              <a:rPr lang="ru-RU" b="0" i="1" dirty="0">
                <a:solidFill>
                  <a:srgbClr val="323232"/>
                </a:solidFill>
                <a:effectLst/>
                <a:latin typeface="KaTeX_Math"/>
              </a:rPr>
              <a:t>a</a:t>
            </a:r>
            <a:r>
              <a:rPr lang="ru-RU" b="0" i="0" dirty="0">
                <a:solidFill>
                  <a:srgbClr val="323232"/>
                </a:solidFill>
                <a:effectLst/>
                <a:latin typeface="KaTeX_Main"/>
              </a:rPr>
              <a:t>(</a:t>
            </a:r>
            <a:r>
              <a:rPr lang="ru-RU" b="0" i="1" dirty="0">
                <a:solidFill>
                  <a:srgbClr val="323232"/>
                </a:solidFill>
                <a:effectLst/>
                <a:latin typeface="KaTeX_Math"/>
              </a:rPr>
              <a:t>x</a:t>
            </a:r>
            <a:r>
              <a:rPr lang="ru-RU" b="0" i="0" dirty="0">
                <a:solidFill>
                  <a:srgbClr val="323232"/>
                </a:solidFill>
                <a:effectLst/>
                <a:latin typeface="KaTeX_Main"/>
              </a:rPr>
              <a:t>)</a:t>
            </a:r>
            <a:r>
              <a:rPr lang="ru-RU" b="0" i="0" dirty="0">
                <a:solidFill>
                  <a:srgbClr val="323232"/>
                </a:solidFill>
                <a:effectLst/>
                <a:latin typeface="__CoFoSans_66cdd1"/>
              </a:rPr>
              <a:t> называется ансамблем этих моделей.</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11</a:t>
            </a:fld>
            <a:endParaRPr lang="ru-RU"/>
          </a:p>
        </p:txBody>
      </p:sp>
    </p:spTree>
    <p:extLst>
      <p:ext uri="{BB962C8B-B14F-4D97-AF65-F5344CB8AC3E}">
        <p14:creationId xmlns:p14="http://schemas.microsoft.com/office/powerpoint/2010/main" val="3796215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323232"/>
                </a:solidFill>
                <a:effectLst/>
                <a:latin typeface="__CoFoSans_66cdd1"/>
              </a:rPr>
              <a:t>Посмотрим, что происходит с качеством предсказания при переходе от одной модели к ансамблю. Сначала убедимся, что смещение ансамбля не изменилось по сравнению со средним смещением отдельных моделей. Будем считать, что когда мы берём матожидание по всем обучающим выборкам </a:t>
            </a:r>
            <a:r>
              <a:rPr lang="ru-RU" b="0" i="0" dirty="0">
                <a:solidFill>
                  <a:srgbClr val="323232"/>
                </a:solidFill>
                <a:effectLst/>
                <a:latin typeface="KaTeX_Main"/>
              </a:rPr>
              <a:t>X</a:t>
            </a:r>
            <a:r>
              <a:rPr lang="ru-RU" b="0" i="0" dirty="0">
                <a:solidFill>
                  <a:srgbClr val="323232"/>
                </a:solidFill>
                <a:effectLst/>
                <a:latin typeface="__CoFoSans_66cdd1"/>
              </a:rPr>
              <a:t>, то в эти выборки включены также все </a:t>
            </a:r>
            <a:r>
              <a:rPr lang="ru-RU" b="0" i="0" dirty="0" err="1">
                <a:solidFill>
                  <a:srgbClr val="323232"/>
                </a:solidFill>
                <a:effectLst/>
                <a:latin typeface="__CoFoSans_66cdd1"/>
              </a:rPr>
              <a:t>подвыборки</a:t>
            </a:r>
            <a:r>
              <a:rPr lang="ru-RU" b="0" i="0" dirty="0">
                <a:solidFill>
                  <a:srgbClr val="323232"/>
                </a:solidFill>
                <a:effectLst/>
                <a:latin typeface="__CoFoSans_66cdd1"/>
              </a:rPr>
              <a:t>, полученные </a:t>
            </a:r>
            <a:r>
              <a:rPr lang="ru-RU" b="0" i="0" dirty="0" err="1">
                <a:solidFill>
                  <a:srgbClr val="323232"/>
                </a:solidFill>
                <a:effectLst/>
                <a:latin typeface="__CoFoSans_66cdd1"/>
              </a:rPr>
              <a:t>бутстрепом</a:t>
            </a:r>
            <a:r>
              <a:rPr lang="ru-RU" b="0" i="0" dirty="0">
                <a:solidFill>
                  <a:srgbClr val="323232"/>
                </a:solidFill>
                <a:effectLst/>
                <a:latin typeface="__CoFoSans_66cdd1"/>
              </a:rPr>
              <a:t>.</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12</a:t>
            </a:fld>
            <a:endParaRPr lang="ru-RU"/>
          </a:p>
        </p:txBody>
      </p:sp>
    </p:spTree>
    <p:extLst>
      <p:ext uri="{BB962C8B-B14F-4D97-AF65-F5344CB8AC3E}">
        <p14:creationId xmlns:p14="http://schemas.microsoft.com/office/powerpoint/2010/main" val="3750225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3D731-FCAA-6D6E-E355-ED90921A21E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F3FBA7C-1F0B-B684-DE70-4A6E32FAD1E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ADC7A25D-A480-7B79-3967-A885ECD9CA09}"/>
              </a:ext>
            </a:extLst>
          </p:cNvPr>
          <p:cNvSpPr>
            <a:spLocks noGrp="1"/>
          </p:cNvSpPr>
          <p:nvPr>
            <p:ph type="body" idx="1"/>
          </p:nvPr>
        </p:nvSpPr>
        <p:spPr/>
        <p:txBody>
          <a:bodyPr/>
          <a:lstStyle/>
          <a:p>
            <a:r>
              <a:rPr lang="ru-RU" b="0" i="0" dirty="0">
                <a:solidFill>
                  <a:srgbClr val="323232"/>
                </a:solidFill>
                <a:effectLst/>
                <a:latin typeface="__CoFoSans_66cdd1"/>
              </a:rPr>
              <a:t>Получили, что смещение композиции равно смещению одного алгоритма. Теперь посмотрим, что происходит с разбросом.</a:t>
            </a:r>
            <a:endParaRPr lang="ru-RU" dirty="0"/>
          </a:p>
        </p:txBody>
      </p:sp>
      <p:sp>
        <p:nvSpPr>
          <p:cNvPr id="4" name="Номер слайда 3">
            <a:extLst>
              <a:ext uri="{FF2B5EF4-FFF2-40B4-BE49-F238E27FC236}">
                <a16:creationId xmlns:a16="http://schemas.microsoft.com/office/drawing/2014/main" id="{54F9F779-83F5-B49E-8547-81FD853D60DE}"/>
              </a:ext>
            </a:extLst>
          </p:cNvPr>
          <p:cNvSpPr>
            <a:spLocks noGrp="1"/>
          </p:cNvSpPr>
          <p:nvPr>
            <p:ph type="sldNum" sz="quarter" idx="5"/>
          </p:nvPr>
        </p:nvSpPr>
        <p:spPr/>
        <p:txBody>
          <a:bodyPr/>
          <a:lstStyle/>
          <a:p>
            <a:fld id="{DECB8B1E-725D-4009-AE77-F13A2082C589}" type="slidenum">
              <a:rPr lang="ru-RU" smtClean="0"/>
              <a:t>13</a:t>
            </a:fld>
            <a:endParaRPr lang="ru-RU"/>
          </a:p>
        </p:txBody>
      </p:sp>
    </p:spTree>
    <p:extLst>
      <p:ext uri="{BB962C8B-B14F-4D97-AF65-F5344CB8AC3E}">
        <p14:creationId xmlns:p14="http://schemas.microsoft.com/office/powerpoint/2010/main" val="1864518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D8549-13AB-6572-5930-ABEAE564A1F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93632ED-5654-3A5E-A0A7-673D6840BA3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13C4B69-B9E9-ED78-2622-F11067925ED9}"/>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DB25FC5E-DCF5-BB28-F4C5-A5FED678B2AC}"/>
              </a:ext>
            </a:extLst>
          </p:cNvPr>
          <p:cNvSpPr>
            <a:spLocks noGrp="1"/>
          </p:cNvSpPr>
          <p:nvPr>
            <p:ph type="sldNum" sz="quarter" idx="5"/>
          </p:nvPr>
        </p:nvSpPr>
        <p:spPr/>
        <p:txBody>
          <a:bodyPr/>
          <a:lstStyle/>
          <a:p>
            <a:fld id="{DECB8B1E-725D-4009-AE77-F13A2082C589}" type="slidenum">
              <a:rPr lang="ru-RU" smtClean="0"/>
              <a:t>14</a:t>
            </a:fld>
            <a:endParaRPr lang="ru-RU"/>
          </a:p>
        </p:txBody>
      </p:sp>
    </p:spTree>
    <p:extLst>
      <p:ext uri="{BB962C8B-B14F-4D97-AF65-F5344CB8AC3E}">
        <p14:creationId xmlns:p14="http://schemas.microsoft.com/office/powerpoint/2010/main" val="3535987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98C19-0BF5-3481-5191-204B3609C409}"/>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3BB08645-2121-87CE-F7D4-7B354E2044F8}"/>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B7B2560-63B6-BE7E-ED4B-1E13BC2364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323232"/>
                </a:solidFill>
                <a:effectLst/>
                <a:latin typeface="__CoFoSans_66cdd1"/>
              </a:rPr>
              <a:t>Если предположить, что базовые алгоритмы </a:t>
            </a:r>
            <a:r>
              <a:rPr lang="ru-RU" b="0" i="0" dirty="0" err="1">
                <a:solidFill>
                  <a:srgbClr val="323232"/>
                </a:solidFill>
                <a:effectLst/>
                <a:latin typeface="__CoFoSans_66cdd1"/>
              </a:rPr>
              <a:t>некоррелированы</a:t>
            </a:r>
            <a:r>
              <a:rPr lang="ru-RU" b="0" i="0" dirty="0">
                <a:solidFill>
                  <a:srgbClr val="323232"/>
                </a:solidFill>
                <a:effectLst/>
                <a:latin typeface="__CoFoSans_66cdd1"/>
              </a:rPr>
              <a:t>, то:</a:t>
            </a:r>
            <a:endParaRPr lang="en-US" b="0" i="0" dirty="0">
              <a:solidFill>
                <a:srgbClr val="323232"/>
              </a:solidFill>
              <a:effectLst/>
              <a:latin typeface="__CoFoSans_66cdd1"/>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23232"/>
              </a:solidFill>
              <a:effectLst/>
              <a:latin typeface="__CoFoSans_66cdd1"/>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323232"/>
                </a:solidFill>
                <a:effectLst/>
                <a:latin typeface="__CoFoSans_66cdd1"/>
              </a:rPr>
              <a:t>Получилось, что в этом случае дисперсия композиции в </a:t>
            </a:r>
            <a:r>
              <a:rPr lang="ru-RU" b="0" i="0" dirty="0">
                <a:solidFill>
                  <a:srgbClr val="323232"/>
                </a:solidFill>
                <a:effectLst/>
                <a:latin typeface="KaTeX_Main"/>
              </a:rPr>
              <a:t>k</a:t>
            </a:r>
            <a:r>
              <a:rPr lang="ru-RU" b="0" i="0" dirty="0">
                <a:solidFill>
                  <a:srgbClr val="323232"/>
                </a:solidFill>
                <a:effectLst/>
                <a:latin typeface="__CoFoSans_66cdd1"/>
              </a:rPr>
              <a:t> раз меньше дисперсии отдельного алгоритма.</a:t>
            </a:r>
            <a:endParaRPr lang="ru-RU" dirty="0"/>
          </a:p>
        </p:txBody>
      </p:sp>
      <p:sp>
        <p:nvSpPr>
          <p:cNvPr id="4" name="Номер слайда 3">
            <a:extLst>
              <a:ext uri="{FF2B5EF4-FFF2-40B4-BE49-F238E27FC236}">
                <a16:creationId xmlns:a16="http://schemas.microsoft.com/office/drawing/2014/main" id="{BCA640EA-BC71-A4FB-08F1-BF41FCFAC960}"/>
              </a:ext>
            </a:extLst>
          </p:cNvPr>
          <p:cNvSpPr>
            <a:spLocks noGrp="1"/>
          </p:cNvSpPr>
          <p:nvPr>
            <p:ph type="sldNum" sz="quarter" idx="5"/>
          </p:nvPr>
        </p:nvSpPr>
        <p:spPr/>
        <p:txBody>
          <a:bodyPr/>
          <a:lstStyle/>
          <a:p>
            <a:fld id="{DECB8B1E-725D-4009-AE77-F13A2082C589}" type="slidenum">
              <a:rPr lang="ru-RU" smtClean="0"/>
              <a:t>15</a:t>
            </a:fld>
            <a:endParaRPr lang="ru-RU"/>
          </a:p>
        </p:txBody>
      </p:sp>
    </p:spTree>
    <p:extLst>
      <p:ext uri="{BB962C8B-B14F-4D97-AF65-F5344CB8AC3E}">
        <p14:creationId xmlns:p14="http://schemas.microsoft.com/office/powerpoint/2010/main" val="3043278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solidFill>
                  <a:srgbClr val="323232"/>
                </a:solidFill>
                <a:effectLst/>
                <a:latin typeface="__CoFoSans_66cdd1"/>
              </a:rPr>
              <a:t>Раз нам известно, что ошибка алгоритма раскладывается на шум, смещение и разброс, можно подумать над способом сократить ошибку. Будет разумно попытаться сначала уменьшить одну из составляющих. Понятно, что с шумом уже ничего не сделать — это минимально возможная ошибка. Какую можно придумать процедуру, чтобы, например, сократить разброс, не увеличивая смещение?</a:t>
            </a:r>
          </a:p>
          <a:p>
            <a:pPr marL="0" indent="0" algn="just">
              <a:buNone/>
            </a:pPr>
            <a:r>
              <a:rPr lang="ru-RU" b="0" i="0" dirty="0">
                <a:solidFill>
                  <a:srgbClr val="323232"/>
                </a:solidFill>
                <a:effectLst/>
                <a:latin typeface="__CoFoSans_66cdd1"/>
              </a:rPr>
              <a:t>Пример приходит из жизни: если много человек проголосуют независимо друг от друга, то вместе они придут к разумному решению несмотря на то, что опыт каждого из них субъективен. Аналогом голосования в мире машинного обучения является </a:t>
            </a:r>
            <a:r>
              <a:rPr lang="ru-RU" b="0" i="0" dirty="0" err="1">
                <a:solidFill>
                  <a:srgbClr val="323232"/>
                </a:solidFill>
                <a:effectLst/>
                <a:latin typeface="__CoFoSans_66cdd1"/>
              </a:rPr>
              <a:t>бэггинг</a:t>
            </a:r>
            <a:r>
              <a:rPr lang="ru-RU" b="0" i="0" dirty="0">
                <a:solidFill>
                  <a:srgbClr val="323232"/>
                </a:solidFill>
                <a:effectLst/>
                <a:latin typeface="__CoFoSans_66cdd1"/>
              </a:rPr>
              <a:t>.</a:t>
            </a:r>
            <a:endParaRPr lang="ru-RU" sz="1200" b="0" i="0" u="none" strike="noStrike" baseline="0" dirty="0">
              <a:latin typeface="PTSerif-Regular"/>
            </a:endParaRPr>
          </a:p>
          <a:p>
            <a:pPr marL="0" indent="0" algn="l">
              <a:buNone/>
            </a:pPr>
            <a:endParaRPr lang="ru-RU" sz="1200" b="0" i="0" u="none" strike="noStrike" baseline="0" dirty="0">
              <a:latin typeface="PTSerif-Regular"/>
            </a:endParaRPr>
          </a:p>
          <a:p>
            <a:pPr marL="0" indent="0" algn="l">
              <a:buNone/>
            </a:pPr>
            <a:r>
              <a:rPr lang="ru-RU" sz="1200" b="0" i="0" u="none" strike="noStrike" baseline="0" dirty="0">
                <a:latin typeface="PTSerif-Regular"/>
              </a:rPr>
              <a:t>Существует три способа объединить слабо коррелированные модели в ансамблевую: 1) усреднение, 2) голосование и 3) </a:t>
            </a:r>
            <a:r>
              <a:rPr lang="ru-RU" sz="1200" b="0" i="0" u="none" strike="noStrike" baseline="0" dirty="0" err="1">
                <a:latin typeface="PTSerif-Regular"/>
              </a:rPr>
              <a:t>штабелирование</a:t>
            </a:r>
            <a:r>
              <a:rPr lang="ru-RU" sz="1200" b="0" i="0" u="none" strike="noStrike" baseline="0" dirty="0">
                <a:latin typeface="PTSerif-Regular"/>
              </a:rPr>
              <a:t> моделей.</a:t>
            </a:r>
          </a:p>
          <a:p>
            <a:pPr algn="l"/>
            <a:r>
              <a:rPr lang="ru-RU" sz="1200" b="1" i="0" u="none" strike="noStrike" baseline="0" dirty="0">
                <a:latin typeface="PTSerif-Bold"/>
              </a:rPr>
              <a:t>Усреднение </a:t>
            </a:r>
            <a:r>
              <a:rPr lang="ru-RU" sz="1200" b="0" i="0" u="none" strike="noStrike" baseline="0" dirty="0">
                <a:latin typeface="PTSerif-Regular"/>
              </a:rPr>
              <a:t>работает для регрессии, а также тех моделей классификации, которые возвращают оценки. Заключается оно в применении всех базовых моделей к входу </a:t>
            </a:r>
            <a:r>
              <a:rPr lang="ru-RU" sz="1200" b="1" i="0" u="none" strike="noStrike" baseline="0" dirty="0">
                <a:latin typeface="PTSerif-Bold"/>
              </a:rPr>
              <a:t>x </a:t>
            </a:r>
            <a:r>
              <a:rPr lang="ru-RU" sz="1200" b="0" i="0" u="none" strike="noStrike" baseline="0" dirty="0">
                <a:latin typeface="PTSerif-Regular"/>
              </a:rPr>
              <a:t>с последующим усреднением предсказаний. Чтобы понять, действительно ли усредненная модель работает лучше, чем отдельные, можно протестировать ее на контрольном наборе, применив ту или иную метрику качества.</a:t>
            </a:r>
          </a:p>
          <a:p>
            <a:pPr algn="l"/>
            <a:r>
              <a:rPr lang="ru-RU" sz="1200" b="1" i="0" u="none" strike="noStrike" baseline="0" dirty="0">
                <a:latin typeface="PTSerif-Bold"/>
              </a:rPr>
              <a:t>Голосование </a:t>
            </a:r>
            <a:r>
              <a:rPr lang="ru-RU" sz="1200" b="0" i="0" u="none" strike="noStrike" baseline="0" dirty="0">
                <a:latin typeface="PTSerif-Regular"/>
              </a:rPr>
              <a:t>работает для моделей классификации. Оно заключается в применении всех базовых моделей к входу </a:t>
            </a:r>
            <a:r>
              <a:rPr lang="ru-RU" sz="1200" b="1" i="0" u="none" strike="noStrike" baseline="0" dirty="0">
                <a:latin typeface="PTSerif-Bold"/>
              </a:rPr>
              <a:t>x </a:t>
            </a:r>
            <a:r>
              <a:rPr lang="ru-RU" sz="1200" b="0" i="0" u="none" strike="noStrike" baseline="0" dirty="0">
                <a:latin typeface="PTSerif-Regular"/>
              </a:rPr>
              <a:t>с последующим возвратом класса, за который отдано большинство голосов. Если таких классов больше одного, то можно случайно выбрать любой из них или вернуть сообщение об ошибке, если неправильная классификация могла бы нанести значительный ущерб бизнесу.</a:t>
            </a:r>
          </a:p>
          <a:p>
            <a:pPr algn="l"/>
            <a:r>
              <a:rPr lang="ru-RU" sz="1200" b="1" i="0" u="none" strike="noStrike" baseline="0" dirty="0" err="1">
                <a:latin typeface="PTSerif-Bold"/>
              </a:rPr>
              <a:t>Штабелирование</a:t>
            </a:r>
            <a:r>
              <a:rPr lang="ru-RU" sz="1200" b="1" i="0" u="none" strike="noStrike" baseline="0" dirty="0">
                <a:latin typeface="PTSerif-Bold"/>
              </a:rPr>
              <a:t> </a:t>
            </a:r>
            <a:r>
              <a:rPr lang="ru-RU" sz="1200" b="0" i="0" u="none" strike="noStrike" baseline="0" dirty="0">
                <a:latin typeface="PTSerif-Regular"/>
              </a:rPr>
              <a:t>– метод ансамблевого обучения, при котором сильная модель обучается путем подачи ей на вход выходов более слабых моделей.</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17</a:t>
            </a:fld>
            <a:endParaRPr lang="ru-RU"/>
          </a:p>
        </p:txBody>
      </p:sp>
    </p:spTree>
    <p:extLst>
      <p:ext uri="{BB962C8B-B14F-4D97-AF65-F5344CB8AC3E}">
        <p14:creationId xmlns:p14="http://schemas.microsoft.com/office/powerpoint/2010/main" val="3747599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Случайный лес имеет только одно отличие от классического </a:t>
            </a:r>
            <a:r>
              <a:rPr lang="ru-RU" dirty="0" err="1"/>
              <a:t>бэггинга</a:t>
            </a:r>
            <a:r>
              <a:rPr lang="ru-RU" dirty="0"/>
              <a:t>. Он использует модифицированный алгоритм обучения дерева, который при каждом расщеплении в процессе обучения проверяет случайное подмножество признаков. Это делается с целью устранить корреляцию между деревьями: если один или несколько признаков имеют большую прогнозирующую способность, многие деревья будут выбирать их для расщепления данных. Это приведет к появлению в «лесу» большого числа коррелированных деревьев. Корреляция по признакам с большой прогнозирующей способностью препятствует повышению точности предсказания. Высокая эффективность ансамбля моделей объясняется тем, что хорошие модели, вероятнее всего, согласятся с одним и тем же прогнозом, а плохие — не согласятся и дадут разные прогнозы. Корреляция сделает плохие модели более склонными к согласию, что исказит картину голосования или повлияет на среднее значение.</a:t>
            </a:r>
          </a:p>
          <a:p>
            <a:endParaRPr lang="en-US" dirty="0"/>
          </a:p>
          <a:p>
            <a:pPr marL="0" indent="0" algn="just">
              <a:buNone/>
            </a:pPr>
            <a:r>
              <a:rPr lang="ru-RU" dirty="0"/>
              <a:t>Наиболее важными </a:t>
            </a:r>
            <a:r>
              <a:rPr lang="ru-RU" dirty="0" err="1"/>
              <a:t>гиперпараметрами</a:t>
            </a:r>
            <a:r>
              <a:rPr lang="ru-RU" dirty="0"/>
              <a:t> для настройки являются количество деревьев B и размер случайного подмножества признаков, которые необходимо учитывать при каждом расщеплении.</a:t>
            </a:r>
          </a:p>
          <a:p>
            <a:pPr marL="0" indent="0" algn="just">
              <a:buNone/>
            </a:pPr>
            <a:r>
              <a:rPr lang="ru-RU" dirty="0"/>
              <a:t>Случайный лес — один из наиболее широко используемых алгоритмов обучения ансамблей. Чем обусловлена его эффективность? Причина в том, что, используя несколько выборок из исходного набора данных, мы уменьшаем дисперсию конечной модели. Низкая дисперсия означает слабую предрасположенность к переобучению. Переобучение происходит, когда модель пытается объяснить небольшие вариации в наборе данных, потому что набор данных является лишь небольшой выборкой из всех возможных примеров явления, которое мы пытаемся смоделировать. В случае неудачного подхода к формированию обучающего набора в него могут попасть некоторые нежелательные (но неизбежные) артефакты: шум, аномальные и чрезмерно или недостаточно представительные данные. Создавая несколько случайных выборок с заменой обучающего набора, мы уменьшаем влияние этих артефактов.</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18</a:t>
            </a:fld>
            <a:endParaRPr lang="ru-RU"/>
          </a:p>
        </p:txBody>
      </p:sp>
    </p:spTree>
    <p:extLst>
      <p:ext uri="{BB962C8B-B14F-4D97-AF65-F5344CB8AC3E}">
        <p14:creationId xmlns:p14="http://schemas.microsoft.com/office/powerpoint/2010/main" val="1828266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dirty="0"/>
              <a:t>Увеличение числа элементарных алгоритмов в ансамбле не меняет смещения и уменьшает разброс. Так как число признаков и варианты </a:t>
            </a:r>
            <a:r>
              <a:rPr lang="ru-RU" dirty="0" err="1"/>
              <a:t>подвыборок</a:t>
            </a:r>
            <a:r>
              <a:rPr lang="ru-RU" dirty="0"/>
              <a:t>, на которых строятся деревья в случайном лесе, ограничены, уменьшать разброс до бесконечности не получится. Поэтому имеет смысл построить график ошибки от числа деревьев и ограничить размер леса в тот момент, когда ошибка перестанет значимо уменьшаться.</a:t>
            </a:r>
          </a:p>
          <a:p>
            <a:pPr marL="0" indent="0" algn="just">
              <a:buNone/>
            </a:pPr>
            <a:endParaRPr lang="ru-RU" dirty="0"/>
          </a:p>
          <a:p>
            <a:pPr marL="0" indent="0" algn="just">
              <a:buNone/>
            </a:pPr>
            <a:r>
              <a:rPr lang="ru-RU" dirty="0"/>
              <a:t>Вторым практическим ограничением на количество деревьев может быть время работы ансамбля. Однако есть положительное свойство случайного леса: случайный лес можно строить и применять параллельно, что сокращает время работы, если у нас есть несколько процессоров. Но процессоров, скорее всего, всё же сильно меньше числа деревьев, а сами деревья обычно глубокие. Поэтому на большом числе деревьев </a:t>
            </a:r>
            <a:r>
              <a:rPr lang="ru-RU" dirty="0" err="1"/>
              <a:t>Random</a:t>
            </a:r>
            <a:r>
              <a:rPr lang="ru-RU" dirty="0"/>
              <a:t> </a:t>
            </a:r>
            <a:r>
              <a:rPr lang="ru-RU" dirty="0" err="1"/>
              <a:t>Forest</a:t>
            </a:r>
            <a:r>
              <a:rPr lang="ru-RU" dirty="0"/>
              <a:t> может работать дольше желаемого и количество деревьев можно сократить, немного пожертвовав качеством.</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21</a:t>
            </a:fld>
            <a:endParaRPr lang="ru-RU"/>
          </a:p>
        </p:txBody>
      </p:sp>
    </p:spTree>
    <p:extLst>
      <p:ext uri="{BB962C8B-B14F-4D97-AF65-F5344CB8AC3E}">
        <p14:creationId xmlns:p14="http://schemas.microsoft.com/office/powerpoint/2010/main" val="3770212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1" i="0" dirty="0" err="1">
                <a:solidFill>
                  <a:srgbClr val="222222"/>
                </a:solidFill>
                <a:effectLst/>
                <a:latin typeface="Arial" panose="020B0604020202020204" pitchFamily="34" charset="0"/>
              </a:rPr>
              <a:t>Бустинг</a:t>
            </a:r>
            <a:r>
              <a:rPr lang="ru-RU" b="0" i="0" dirty="0">
                <a:solidFill>
                  <a:srgbClr val="222222"/>
                </a:solidFill>
                <a:effectLst/>
                <a:latin typeface="Arial" panose="020B0604020202020204" pitchFamily="34" charset="0"/>
              </a:rPr>
              <a:t> (англ. </a:t>
            </a:r>
            <a:r>
              <a:rPr lang="ru-RU" b="0" i="1" dirty="0" err="1">
                <a:effectLst/>
                <a:latin typeface="Arial" panose="020B0604020202020204" pitchFamily="34" charset="0"/>
              </a:rPr>
              <a:t>boosting</a:t>
            </a:r>
            <a:r>
              <a:rPr lang="ru-RU" b="0" i="0" dirty="0">
                <a:effectLst/>
                <a:latin typeface="Arial" panose="020B0604020202020204" pitchFamily="34" charset="0"/>
              </a:rPr>
              <a:t>) — </a:t>
            </a:r>
            <a:r>
              <a:rPr lang="ru-RU" b="0" i="0" u="none" strike="noStrike" dirty="0">
                <a:effectLst/>
                <a:latin typeface="Arial" panose="020B0604020202020204" pitchFamily="34" charset="0"/>
              </a:rPr>
              <a:t>мета-алгоритм машинного обучения</a:t>
            </a:r>
            <a:r>
              <a:rPr lang="ru-RU" b="0" i="0" dirty="0">
                <a:effectLst/>
                <a:latin typeface="Arial" panose="020B0604020202020204" pitchFamily="34" charset="0"/>
              </a:rPr>
              <a:t>. Основной идеей </a:t>
            </a:r>
            <a:r>
              <a:rPr lang="ru-RU" b="0" i="0" dirty="0" err="1">
                <a:effectLst/>
                <a:latin typeface="Arial" panose="020B0604020202020204" pitchFamily="34" charset="0"/>
              </a:rPr>
              <a:t>бустинга</a:t>
            </a:r>
            <a:r>
              <a:rPr lang="ru-RU" b="0" i="0" dirty="0">
                <a:effectLst/>
                <a:latin typeface="Arial" panose="020B0604020202020204" pitchFamily="34" charset="0"/>
              </a:rPr>
              <a:t> является комбинирование слабых функций, которые строятся в ходе итеративного процесса, где на каждом шаге новая модель обучается с использованием данных об ошибках предыдущих. Сильный обучающий алгоритм является классификатором, хорошо </a:t>
            </a:r>
            <a:r>
              <a:rPr lang="ru-RU" b="0" i="0" u="none" strike="noStrike" dirty="0">
                <a:effectLst/>
                <a:latin typeface="Arial" panose="020B0604020202020204" pitchFamily="34" charset="0"/>
              </a:rPr>
              <a:t>коррелирующим</a:t>
            </a:r>
            <a:r>
              <a:rPr lang="ru-RU" b="0" i="0" dirty="0">
                <a:effectLst/>
                <a:latin typeface="Arial" panose="020B0604020202020204" pitchFamily="34" charset="0"/>
              </a:rPr>
              <a:t> с верной классификацией, в отличие от слабого. </a:t>
            </a:r>
            <a:r>
              <a:rPr lang="ru-RU" b="0" i="0" dirty="0" err="1">
                <a:effectLst/>
                <a:latin typeface="Arial" panose="020B0604020202020204" pitchFamily="34" charset="0"/>
              </a:rPr>
              <a:t>Бустинг</a:t>
            </a:r>
            <a:r>
              <a:rPr lang="ru-RU" b="0" i="0" dirty="0">
                <a:effectLst/>
                <a:latin typeface="Arial" panose="020B0604020202020204" pitchFamily="34" charset="0"/>
              </a:rPr>
              <a:t> представляет собой композицию алгоритмов, в которых ошибки отдельных алгоритмов взаимно компенсируются.</a:t>
            </a:r>
          </a:p>
          <a:p>
            <a:pPr marL="0" indent="0" algn="just">
              <a:buNone/>
            </a:pPr>
            <a:r>
              <a:rPr lang="ru-RU" b="0" i="0" dirty="0">
                <a:effectLst/>
                <a:latin typeface="Arial" panose="020B0604020202020204" pitchFamily="34" charset="0"/>
              </a:rPr>
              <a:t>Наравне с </a:t>
            </a:r>
            <a:r>
              <a:rPr lang="ru-RU" b="0" i="0" dirty="0" err="1">
                <a:effectLst/>
                <a:latin typeface="Arial" panose="020B0604020202020204" pitchFamily="34" charset="0"/>
              </a:rPr>
              <a:t>бустингом</a:t>
            </a:r>
            <a:r>
              <a:rPr lang="ru-RU" b="0" i="0" dirty="0">
                <a:effectLst/>
                <a:latin typeface="Arial" panose="020B0604020202020204" pitchFamily="34" charset="0"/>
              </a:rPr>
              <a:t> в мета-обучении также рассматривают такие понятия, как </a:t>
            </a:r>
            <a:r>
              <a:rPr lang="ru-RU" b="1" i="0" u="none" strike="noStrike" dirty="0" err="1">
                <a:effectLst/>
                <a:latin typeface="Arial" panose="020B0604020202020204" pitchFamily="34" charset="0"/>
              </a:rPr>
              <a:t>бэггинг</a:t>
            </a:r>
            <a:r>
              <a:rPr lang="ru-RU" b="0" i="0" dirty="0">
                <a:effectLst/>
                <a:latin typeface="Arial" panose="020B0604020202020204" pitchFamily="34" charset="0"/>
              </a:rPr>
              <a:t> (англ. </a:t>
            </a:r>
            <a:r>
              <a:rPr lang="ru-RU" b="1" i="1" dirty="0" err="1">
                <a:effectLst/>
                <a:latin typeface="Arial" panose="020B0604020202020204" pitchFamily="34" charset="0"/>
              </a:rPr>
              <a:t>bagging</a:t>
            </a:r>
            <a:r>
              <a:rPr lang="ru-RU" b="0" i="0" dirty="0">
                <a:effectLst/>
                <a:latin typeface="Arial" panose="020B0604020202020204" pitchFamily="34" charset="0"/>
              </a:rPr>
              <a:t>) и </a:t>
            </a:r>
            <a:r>
              <a:rPr lang="ru-RU" b="1" i="0" dirty="0" err="1">
                <a:effectLst/>
                <a:latin typeface="Arial" panose="020B0604020202020204" pitchFamily="34" charset="0"/>
              </a:rPr>
              <a:t>стэкинг</a:t>
            </a:r>
            <a:r>
              <a:rPr lang="ru-RU" b="0" i="0" dirty="0">
                <a:effectLst/>
                <a:latin typeface="Arial" panose="020B0604020202020204" pitchFamily="34" charset="0"/>
              </a:rPr>
              <a:t> (англ. </a:t>
            </a:r>
            <a:r>
              <a:rPr lang="ru-RU" b="1" i="1" dirty="0" err="1">
                <a:effectLst/>
                <a:latin typeface="Arial" panose="020B0604020202020204" pitchFamily="34" charset="0"/>
              </a:rPr>
              <a:t>stacking</a:t>
            </a:r>
            <a:r>
              <a:rPr lang="ru-RU" b="0" i="0" dirty="0">
                <a:effectLst/>
                <a:latin typeface="Arial" panose="020B0604020202020204" pitchFamily="34" charset="0"/>
              </a:rPr>
              <a:t>). </a:t>
            </a:r>
            <a:r>
              <a:rPr lang="ru-RU" b="1" i="0" dirty="0" err="1">
                <a:effectLst/>
                <a:latin typeface="Arial" panose="020B0604020202020204" pitchFamily="34" charset="0"/>
              </a:rPr>
              <a:t>Бэггинг</a:t>
            </a:r>
            <a:r>
              <a:rPr lang="ru-RU" b="0" i="0" dirty="0">
                <a:effectLst/>
                <a:latin typeface="Arial" panose="020B0604020202020204" pitchFamily="34" charset="0"/>
              </a:rPr>
              <a:t>, в отличии от </a:t>
            </a:r>
            <a:r>
              <a:rPr lang="ru-RU" b="0" i="0" dirty="0" err="1">
                <a:effectLst/>
                <a:latin typeface="Arial" panose="020B0604020202020204" pitchFamily="34" charset="0"/>
              </a:rPr>
              <a:t>бустинга</a:t>
            </a:r>
            <a:r>
              <a:rPr lang="ru-RU" b="0" i="0" dirty="0">
                <a:effectLst/>
                <a:latin typeface="Arial" panose="020B0604020202020204" pitchFamily="34" charset="0"/>
              </a:rPr>
              <a:t>, использует параллельное обучение базовых классификаторов. </a:t>
            </a:r>
            <a:r>
              <a:rPr lang="ru-RU" b="1" i="0" dirty="0" err="1">
                <a:effectLst/>
                <a:latin typeface="Arial" panose="020B0604020202020204" pitchFamily="34" charset="0"/>
              </a:rPr>
              <a:t>Стэкинг</a:t>
            </a:r>
            <a:r>
              <a:rPr lang="ru-RU" b="0" i="0" dirty="0">
                <a:effectLst/>
                <a:latin typeface="Arial" panose="020B0604020202020204" pitchFamily="34" charset="0"/>
              </a:rPr>
              <a:t> же комбинирует результаты различных алгоритмов, получая тем самым более точный ответ.</a:t>
            </a:r>
          </a:p>
          <a:p>
            <a:pPr marL="0" indent="0" algn="just">
              <a:buNone/>
            </a:pPr>
            <a:r>
              <a:rPr lang="ru-RU" b="0" i="0" dirty="0">
                <a:effectLst/>
                <a:latin typeface="Arial" panose="020B0604020202020204" pitchFamily="34" charset="0"/>
              </a:rPr>
              <a:t>Одним из недостатков </a:t>
            </a:r>
            <a:r>
              <a:rPr lang="ru-RU" b="0" i="0" dirty="0" err="1">
                <a:effectLst/>
                <a:latin typeface="Arial" panose="020B0604020202020204" pitchFamily="34" charset="0"/>
              </a:rPr>
              <a:t>бустинга</a:t>
            </a:r>
            <a:r>
              <a:rPr lang="ru-RU" b="0" i="0" dirty="0">
                <a:effectLst/>
                <a:latin typeface="Arial" panose="020B0604020202020204" pitchFamily="34" charset="0"/>
              </a:rPr>
              <a:t> является то, что он может приводить к построению громоздких композиций, состоящих из сотен алгоритмов. Такие композиции исключают возможность содержательной интерпретации, требуют больших объёмов памяти для хранения базовых алгоритмов и существенных затрат времени на вычисление классификаций.</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22</a:t>
            </a:fld>
            <a:endParaRPr lang="ru-RU"/>
          </a:p>
        </p:txBody>
      </p:sp>
    </p:spTree>
    <p:extLst>
      <p:ext uri="{BB962C8B-B14F-4D97-AF65-F5344CB8AC3E}">
        <p14:creationId xmlns:p14="http://schemas.microsoft.com/office/powerpoint/2010/main" val="983029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8D705-0123-2DEA-4A8B-01D4BE6BA34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0B07EBE-4CC7-A543-D39D-033CA9F62C4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56DACCA5-FB61-123B-8E6D-5460F70CBD1C}"/>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07142E99-146F-3784-D243-7B5DBAE1916F}"/>
              </a:ext>
            </a:extLst>
          </p:cNvPr>
          <p:cNvSpPr>
            <a:spLocks noGrp="1"/>
          </p:cNvSpPr>
          <p:nvPr>
            <p:ph type="sldNum" sz="quarter" idx="5"/>
          </p:nvPr>
        </p:nvSpPr>
        <p:spPr/>
        <p:txBody>
          <a:bodyPr/>
          <a:lstStyle/>
          <a:p>
            <a:fld id="{DECB8B1E-725D-4009-AE77-F13A2082C589}" type="slidenum">
              <a:rPr lang="ru-RU" smtClean="0"/>
              <a:t>23</a:t>
            </a:fld>
            <a:endParaRPr lang="ru-RU"/>
          </a:p>
        </p:txBody>
      </p:sp>
    </p:spTree>
    <p:extLst>
      <p:ext uri="{BB962C8B-B14F-4D97-AF65-F5344CB8AC3E}">
        <p14:creationId xmlns:p14="http://schemas.microsoft.com/office/powerpoint/2010/main" val="3909997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effectLst/>
                <a:latin typeface="Arial" panose="020B0604020202020204" pitchFamily="34" charset="0"/>
              </a:rPr>
              <a:t>Основное расхождение между многими алгоритмами </a:t>
            </a:r>
            <a:r>
              <a:rPr lang="ru-RU" b="0" i="0" dirty="0" err="1">
                <a:effectLst/>
                <a:latin typeface="Arial" panose="020B0604020202020204" pitchFamily="34" charset="0"/>
              </a:rPr>
              <a:t>бустинга</a:t>
            </a:r>
            <a:r>
              <a:rPr lang="ru-RU" b="0" i="0" dirty="0">
                <a:effectLst/>
                <a:latin typeface="Arial" panose="020B0604020202020204" pitchFamily="34" charset="0"/>
              </a:rPr>
              <a:t> заключается в методах определения весовых коэффициентов точек тренировочных данных и гипотез. Первым алгоритмом машинного обучения, который смог адаптироваться к слабому обучению был </a:t>
            </a:r>
            <a:r>
              <a:rPr lang="ru-RU" b="0" i="0" dirty="0" err="1">
                <a:effectLst/>
                <a:latin typeface="Arial" panose="020B0604020202020204" pitchFamily="34" charset="0"/>
              </a:rPr>
              <a:t>AdaBoost</a:t>
            </a:r>
            <a:r>
              <a:rPr lang="ru-RU" b="0" i="0" dirty="0">
                <a:effectLst/>
                <a:latin typeface="Arial" panose="020B0604020202020204" pitchFamily="34" charset="0"/>
              </a:rPr>
              <a:t> (</a:t>
            </a:r>
            <a:r>
              <a:rPr lang="ru-RU" b="0" i="0" dirty="0" err="1">
                <a:effectLst/>
                <a:latin typeface="Arial" panose="020B0604020202020204" pitchFamily="34" charset="0"/>
              </a:rPr>
              <a:t>Adaptive</a:t>
            </a:r>
            <a:r>
              <a:rPr lang="ru-RU" b="0" i="0" dirty="0">
                <a:effectLst/>
                <a:latin typeface="Arial" panose="020B0604020202020204" pitchFamily="34" charset="0"/>
              </a:rPr>
              <a:t> </a:t>
            </a:r>
            <a:r>
              <a:rPr lang="ru-RU" b="0" i="0" dirty="0" err="1">
                <a:effectLst/>
                <a:latin typeface="Arial" panose="020B0604020202020204" pitchFamily="34" charset="0"/>
              </a:rPr>
              <a:t>Boosting</a:t>
            </a:r>
            <a:r>
              <a:rPr lang="ru-RU" b="0" i="0" dirty="0">
                <a:effectLst/>
                <a:latin typeface="Arial" panose="020B0604020202020204" pitchFamily="34" charset="0"/>
              </a:rPr>
              <a:t>), предложенный  Йоавом </a:t>
            </a:r>
            <a:r>
              <a:rPr lang="ru-RU" b="0" i="0" dirty="0" err="1">
                <a:effectLst/>
                <a:latin typeface="Arial" panose="020B0604020202020204" pitchFamily="34" charset="0"/>
              </a:rPr>
              <a:t>Фройндом</a:t>
            </a:r>
            <a:r>
              <a:rPr lang="ru-RU" b="0" i="0" dirty="0">
                <a:effectLst/>
                <a:latin typeface="Arial" panose="020B0604020202020204" pitchFamily="34" charset="0"/>
              </a:rPr>
              <a:t> (</a:t>
            </a:r>
            <a:r>
              <a:rPr lang="ru-RU" b="0" i="0" dirty="0" err="1">
                <a:effectLst/>
                <a:latin typeface="Arial" panose="020B0604020202020204" pitchFamily="34" charset="0"/>
              </a:rPr>
              <a:t>Yoav</a:t>
            </a:r>
            <a:r>
              <a:rPr lang="ru-RU" b="0" i="0" dirty="0">
                <a:effectLst/>
                <a:latin typeface="Arial" panose="020B0604020202020204" pitchFamily="34" charset="0"/>
              </a:rPr>
              <a:t> </a:t>
            </a:r>
            <a:r>
              <a:rPr lang="ru-RU" b="0" i="0" dirty="0" err="1">
                <a:effectLst/>
                <a:latin typeface="Arial" panose="020B0604020202020204" pitchFamily="34" charset="0"/>
              </a:rPr>
              <a:t>Freund</a:t>
            </a:r>
            <a:r>
              <a:rPr lang="ru-RU" b="0" i="0" dirty="0">
                <a:effectLst/>
                <a:latin typeface="Arial" panose="020B0604020202020204" pitchFamily="34" charset="0"/>
              </a:rPr>
              <a:t>) и Робертом Шапире (Robert </a:t>
            </a:r>
            <a:r>
              <a:rPr lang="ru-RU" b="0" i="0" dirty="0" err="1">
                <a:effectLst/>
                <a:latin typeface="Arial" panose="020B0604020202020204" pitchFamily="34" charset="0"/>
              </a:rPr>
              <a:t>Elias</a:t>
            </a:r>
            <a:r>
              <a:rPr lang="ru-RU" b="0" i="0" dirty="0">
                <a:effectLst/>
                <a:latin typeface="Arial" panose="020B0604020202020204" pitchFamily="34" charset="0"/>
              </a:rPr>
              <a:t> </a:t>
            </a:r>
            <a:r>
              <a:rPr lang="ru-RU" b="0" i="0" dirty="0" err="1">
                <a:effectLst/>
                <a:latin typeface="Arial" panose="020B0604020202020204" pitchFamily="34" charset="0"/>
              </a:rPr>
              <a:t>Schapire</a:t>
            </a:r>
            <a:r>
              <a:rPr lang="ru-RU" b="0" i="0" dirty="0">
                <a:effectLst/>
                <a:latin typeface="Arial" panose="020B0604020202020204" pitchFamily="34" charset="0"/>
              </a:rPr>
              <a:t>). </a:t>
            </a:r>
            <a:endParaRPr lang="en-US" b="0" i="0" dirty="0">
              <a:effectLst/>
              <a:latin typeface="Arial" panose="020B0604020202020204" pitchFamily="34" charset="0"/>
            </a:endParaRPr>
          </a:p>
          <a:p>
            <a:pPr marL="0" indent="0" algn="just">
              <a:buNone/>
            </a:pPr>
            <a:r>
              <a:rPr lang="ru-RU" b="0" i="0" dirty="0">
                <a:effectLst/>
                <a:latin typeface="Arial" panose="020B0604020202020204" pitchFamily="34" charset="0"/>
              </a:rPr>
              <a:t>В основе </a:t>
            </a:r>
            <a:r>
              <a:rPr lang="en-US" b="0" i="0" dirty="0">
                <a:effectLst/>
                <a:latin typeface="Arial" panose="020B0604020202020204" pitchFamily="34" charset="0"/>
              </a:rPr>
              <a:t>AdaBoost</a:t>
            </a:r>
            <a:r>
              <a:rPr lang="ru-RU" b="0" i="0" dirty="0">
                <a:effectLst/>
                <a:latin typeface="Arial" panose="020B0604020202020204" pitchFamily="34" charset="0"/>
              </a:rPr>
              <a:t> лежит концепция </a:t>
            </a:r>
            <a:r>
              <a:rPr lang="ru-RU" b="0" i="0" dirty="0" err="1">
                <a:effectLst/>
                <a:latin typeface="Arial" panose="020B0604020202020204" pitchFamily="34" charset="0"/>
              </a:rPr>
              <a:t>бустинга</a:t>
            </a:r>
            <a:r>
              <a:rPr lang="ru-RU" b="0" i="0" dirty="0">
                <a:effectLst/>
                <a:latin typeface="Arial" panose="020B0604020202020204" pitchFamily="34" charset="0"/>
              </a:rPr>
              <a:t>, когда слабые базовые модели последовательно объединяются в одну сильную, исправляя ошибки предшественников.</a:t>
            </a:r>
          </a:p>
          <a:p>
            <a:pPr marL="0" indent="0" algn="just">
              <a:buNone/>
            </a:pPr>
            <a:r>
              <a:rPr lang="ru-RU" b="0" i="0" dirty="0">
                <a:effectLst/>
                <a:latin typeface="Arial" panose="020B0604020202020204" pitchFamily="34" charset="0"/>
              </a:rPr>
              <a:t>В </a:t>
            </a:r>
            <a:r>
              <a:rPr lang="ru-RU" b="0" i="0" dirty="0" err="1">
                <a:effectLst/>
                <a:latin typeface="Arial" panose="020B0604020202020204" pitchFamily="34" charset="0"/>
              </a:rPr>
              <a:t>AdaBoost</a:t>
            </a:r>
            <a:r>
              <a:rPr lang="ru-RU" b="0" i="0" dirty="0">
                <a:effectLst/>
                <a:latin typeface="Arial" panose="020B0604020202020204" pitchFamily="34" charset="0"/>
              </a:rPr>
              <a:t> в качестве базовой модели используется — дерево </a:t>
            </a:r>
            <a:r>
              <a:rPr lang="ru-RU" dirty="0">
                <a:latin typeface="Arial" panose="020B0604020202020204" pitchFamily="34" charset="0"/>
              </a:rPr>
              <a:t>(могут использоваться другие модели) </a:t>
            </a:r>
            <a:r>
              <a:rPr lang="ru-RU" b="0" i="0" dirty="0">
                <a:effectLst/>
                <a:latin typeface="Arial" panose="020B0604020202020204" pitchFamily="34" charset="0"/>
              </a:rPr>
              <a:t>с </a:t>
            </a:r>
            <a:r>
              <a:rPr lang="ru-RU" dirty="0">
                <a:latin typeface="Arial" panose="020B0604020202020204" pitchFamily="34" charset="0"/>
              </a:rPr>
              <a:t>небольшой глубиной, называемое пень , </a:t>
            </a:r>
            <a:r>
              <a:rPr lang="ru-RU" b="0" i="0" dirty="0">
                <a:effectLst/>
                <a:latin typeface="Arial" panose="020B0604020202020204" pitchFamily="34" charset="0"/>
              </a:rPr>
              <a:t>которому присваивается вектор весов размера N, каждое значение которого соответствует определённому значению </a:t>
            </a:r>
            <a:r>
              <a:rPr lang="ru-RU" b="0" i="0" dirty="0" err="1">
                <a:effectLst/>
                <a:latin typeface="Arial" panose="020B0604020202020204" pitchFamily="34" charset="0"/>
              </a:rPr>
              <a:t>y_train</a:t>
            </a:r>
            <a:r>
              <a:rPr lang="ru-RU" b="0" i="0" dirty="0">
                <a:effectLst/>
                <a:latin typeface="Arial" panose="020B0604020202020204" pitchFamily="34" charset="0"/>
              </a:rPr>
              <a:t> и изначально равно 1 / N, где N — количество образцов в обучающей выборке. Каждый следующий пень обучается с учётом весов, рассчитанных на основе ошибок предыдущего прогноза. Также для каждого обученного дерева отдельно рассчитывается вес, используемый для оценки важности итоговых прогнозов.</a:t>
            </a:r>
          </a:p>
          <a:p>
            <a:pPr marL="0" indent="0" algn="just">
              <a:buNone/>
            </a:pPr>
            <a:endParaRPr lang="ru-RU" b="0" i="0" dirty="0">
              <a:effectLst/>
              <a:latin typeface="Arial" panose="020B0604020202020204" pitchFamily="34" charset="0"/>
            </a:endParaRPr>
          </a:p>
          <a:p>
            <a:pPr marL="0" indent="0" algn="l">
              <a:buNone/>
            </a:pPr>
            <a:r>
              <a:rPr lang="ru-RU" b="0" i="1" u="sng" dirty="0">
                <a:solidFill>
                  <a:srgbClr val="333333"/>
                </a:solidFill>
                <a:effectLst/>
                <a:latin typeface="-apple-system"/>
              </a:rPr>
              <a:t>Преимущества</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высокая точность при правильной подготовке данных;</a:t>
            </a:r>
          </a:p>
          <a:p>
            <a:pPr algn="l">
              <a:buFont typeface="Arial" panose="020B0604020202020204" pitchFamily="34" charset="0"/>
              <a:buChar char="•"/>
            </a:pPr>
            <a:r>
              <a:rPr lang="ru-RU" b="0" i="0" dirty="0">
                <a:solidFill>
                  <a:srgbClr val="333333"/>
                </a:solidFill>
                <a:effectLst/>
                <a:latin typeface="-apple-system"/>
              </a:rPr>
              <a:t>работа со сложными, нелинейными зависимостями в данных;</a:t>
            </a:r>
          </a:p>
          <a:p>
            <a:pPr algn="l">
              <a:buFont typeface="Arial" panose="020B0604020202020204" pitchFamily="34" charset="0"/>
              <a:buChar char="•"/>
            </a:pPr>
            <a:r>
              <a:rPr lang="ru-RU" b="0" i="0" dirty="0">
                <a:solidFill>
                  <a:srgbClr val="333333"/>
                </a:solidFill>
                <a:effectLst/>
                <a:latin typeface="-apple-system"/>
              </a:rPr>
              <a:t>высокая обобщающая способность.</a:t>
            </a:r>
          </a:p>
          <a:p>
            <a:pPr marL="0" indent="0" algn="l">
              <a:buNone/>
            </a:pPr>
            <a:r>
              <a:rPr lang="ru-RU" b="0" i="1" u="sng" dirty="0">
                <a:solidFill>
                  <a:srgbClr val="333333"/>
                </a:solidFill>
                <a:effectLst/>
                <a:latin typeface="-apple-system"/>
              </a:rPr>
              <a:t>Недостатки</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низкая скорость обучения при работе с большими датасетами;</a:t>
            </a:r>
          </a:p>
          <a:p>
            <a:pPr algn="l">
              <a:buFont typeface="Arial" panose="020B0604020202020204" pitchFamily="34" charset="0"/>
              <a:buChar char="•"/>
            </a:pPr>
            <a:r>
              <a:rPr lang="ru-RU" b="0" i="0" dirty="0">
                <a:solidFill>
                  <a:srgbClr val="333333"/>
                </a:solidFill>
                <a:effectLst/>
                <a:latin typeface="-apple-system"/>
              </a:rPr>
              <a:t>нестабильность при работе с несбалансированными данными, а также чувствительность к шуму и выбросам.</a:t>
            </a:r>
          </a:p>
          <a:p>
            <a:pPr marL="0" indent="0" algn="just">
              <a:buNone/>
            </a:pPr>
            <a:endParaRPr lang="ru-RU" b="0" i="0" dirty="0">
              <a:effectLst/>
              <a:latin typeface="Arial" panose="020B0604020202020204" pitchFamily="34" charset="0"/>
            </a:endParaRP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24</a:t>
            </a:fld>
            <a:endParaRPr lang="ru-RU"/>
          </a:p>
        </p:txBody>
      </p:sp>
    </p:spTree>
    <p:extLst>
      <p:ext uri="{BB962C8B-B14F-4D97-AF65-F5344CB8AC3E}">
        <p14:creationId xmlns:p14="http://schemas.microsoft.com/office/powerpoint/2010/main" val="1912207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https://scikit-learn.org/stable/modules/generated/sklearn.ensemble.AdaBoostClassifier.html#adaboostclassifier</a:t>
            </a:r>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30</a:t>
            </a:fld>
            <a:endParaRPr lang="ru-RU"/>
          </a:p>
        </p:txBody>
      </p:sp>
    </p:spTree>
    <p:extLst>
      <p:ext uri="{BB962C8B-B14F-4D97-AF65-F5344CB8AC3E}">
        <p14:creationId xmlns:p14="http://schemas.microsoft.com/office/powerpoint/2010/main" val="3845117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33</a:t>
            </a:fld>
            <a:endParaRPr lang="ru-RU"/>
          </a:p>
        </p:txBody>
      </p:sp>
    </p:spTree>
    <p:extLst>
      <p:ext uri="{BB962C8B-B14F-4D97-AF65-F5344CB8AC3E}">
        <p14:creationId xmlns:p14="http://schemas.microsoft.com/office/powerpoint/2010/main" val="164818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dirty="0">
                <a:solidFill>
                  <a:srgbClr val="222222"/>
                </a:solidFill>
              </a:rPr>
              <a:t>Благодаря </a:t>
            </a:r>
            <a:r>
              <a:rPr lang="ru-RU" dirty="0" err="1">
                <a:solidFill>
                  <a:srgbClr val="222222"/>
                </a:solidFill>
              </a:rPr>
              <a:t>AdaBoost</a:t>
            </a:r>
            <a:r>
              <a:rPr lang="ru-RU" dirty="0">
                <a:solidFill>
                  <a:srgbClr val="222222"/>
                </a:solidFill>
              </a:rPr>
              <a:t> в мире появился градиентный </a:t>
            </a:r>
            <a:r>
              <a:rPr lang="ru-RU" dirty="0" err="1">
                <a:solidFill>
                  <a:srgbClr val="222222"/>
                </a:solidFill>
              </a:rPr>
              <a:t>бустинг</a:t>
            </a:r>
            <a:r>
              <a:rPr lang="ru-RU" dirty="0">
                <a:solidFill>
                  <a:srgbClr val="222222"/>
                </a:solidFill>
              </a:rPr>
              <a:t> (англ. </a:t>
            </a:r>
            <a:r>
              <a:rPr lang="en-US" b="0" i="0" dirty="0">
                <a:solidFill>
                  <a:srgbClr val="4D5156"/>
                </a:solidFill>
                <a:effectLst/>
              </a:rPr>
              <a:t>Gradient Boosting Machine</a:t>
            </a:r>
            <a:r>
              <a:rPr lang="ru-RU" dirty="0">
                <a:solidFill>
                  <a:srgbClr val="222222"/>
                </a:solidFill>
              </a:rPr>
              <a:t>) или GBM. </a:t>
            </a:r>
          </a:p>
          <a:p>
            <a:pPr marL="0" indent="0" algn="just">
              <a:buNone/>
            </a:pPr>
            <a:endParaRPr lang="ru-RU" dirty="0">
              <a:solidFill>
                <a:srgbClr val="222222"/>
              </a:solidFill>
            </a:endParaRPr>
          </a:p>
          <a:p>
            <a:pPr marL="0" indent="0" algn="just">
              <a:buNone/>
            </a:pPr>
            <a:r>
              <a:rPr lang="ru-RU" dirty="0" err="1">
                <a:solidFill>
                  <a:srgbClr val="222222"/>
                </a:solidFill>
              </a:rPr>
              <a:t>Adaboost</a:t>
            </a:r>
            <a:r>
              <a:rPr lang="ru-RU" dirty="0">
                <a:solidFill>
                  <a:srgbClr val="222222"/>
                </a:solidFill>
              </a:rPr>
              <a:t> работал хорошо, но из-за того, что обоснований работы алгоритма с его надстройками было мало, вокруг них возник полный спектр спекуляций: кто-то считал его </a:t>
            </a:r>
            <a:r>
              <a:rPr lang="ru-RU" dirty="0" err="1">
                <a:solidFill>
                  <a:srgbClr val="222222"/>
                </a:solidFill>
              </a:rPr>
              <a:t>сверх-алгоритмом</a:t>
            </a:r>
            <a:r>
              <a:rPr lang="ru-RU" dirty="0">
                <a:solidFill>
                  <a:srgbClr val="222222"/>
                </a:solidFill>
              </a:rPr>
              <a:t> и волшебной пулей, кто-то был скептичен и разделял мнение, что это малоприменимый подход с жесткой </a:t>
            </a:r>
            <a:r>
              <a:rPr lang="ru-RU" dirty="0" err="1">
                <a:solidFill>
                  <a:srgbClr val="222222"/>
                </a:solidFill>
              </a:rPr>
              <a:t>переподгонкой</a:t>
            </a:r>
            <a:r>
              <a:rPr lang="ru-RU" dirty="0">
                <a:solidFill>
                  <a:srgbClr val="222222"/>
                </a:solidFill>
              </a:rPr>
              <a:t> (</a:t>
            </a:r>
            <a:r>
              <a:rPr lang="ru-RU" dirty="0" err="1">
                <a:solidFill>
                  <a:srgbClr val="222222"/>
                </a:solidFill>
              </a:rPr>
              <a:t>overfitting</a:t>
            </a:r>
            <a:r>
              <a:rPr lang="ru-RU" dirty="0">
                <a:solidFill>
                  <a:srgbClr val="222222"/>
                </a:solidFill>
              </a:rPr>
              <a:t>). Особенно сильно это касалось применимости на данных с мощными выбросами, к которым </a:t>
            </a:r>
            <a:r>
              <a:rPr lang="ru-RU" dirty="0" err="1">
                <a:solidFill>
                  <a:srgbClr val="222222"/>
                </a:solidFill>
              </a:rPr>
              <a:t>Adaboost</a:t>
            </a:r>
            <a:r>
              <a:rPr lang="ru-RU" dirty="0">
                <a:solidFill>
                  <a:srgbClr val="222222"/>
                </a:solidFill>
              </a:rPr>
              <a:t> оказался неустойчив. </a:t>
            </a:r>
          </a:p>
          <a:p>
            <a:pPr marL="0" indent="0" algn="just">
              <a:buNone/>
            </a:pPr>
            <a:endParaRPr lang="ru-RU" dirty="0">
              <a:solidFill>
                <a:srgbClr val="222222"/>
              </a:solidFill>
            </a:endParaRPr>
          </a:p>
          <a:p>
            <a:pPr marL="0" indent="0" algn="just">
              <a:buNone/>
            </a:pPr>
            <a:r>
              <a:rPr lang="ru-RU" dirty="0">
                <a:solidFill>
                  <a:srgbClr val="222222"/>
                </a:solidFill>
              </a:rPr>
              <a:t>В 1999 году от </a:t>
            </a:r>
            <a:r>
              <a:rPr lang="ru-RU" dirty="0" err="1">
                <a:solidFill>
                  <a:srgbClr val="222222"/>
                </a:solidFill>
              </a:rPr>
              <a:t>Jerome</a:t>
            </a:r>
            <a:r>
              <a:rPr lang="ru-RU" dirty="0">
                <a:solidFill>
                  <a:srgbClr val="222222"/>
                </a:solidFill>
              </a:rPr>
              <a:t> </a:t>
            </a:r>
            <a:r>
              <a:rPr lang="ru-RU" dirty="0" err="1">
                <a:solidFill>
                  <a:srgbClr val="222222"/>
                </a:solidFill>
              </a:rPr>
              <a:t>Friedman</a:t>
            </a:r>
            <a:r>
              <a:rPr lang="ru-RU" dirty="0">
                <a:solidFill>
                  <a:srgbClr val="222222"/>
                </a:solidFill>
              </a:rPr>
              <a:t> (профессора Стэнфордской кафедры статистики, уже принесшей миру такие алгоритмы </a:t>
            </a:r>
            <a:r>
              <a:rPr lang="ru-RU" dirty="0" err="1">
                <a:solidFill>
                  <a:srgbClr val="222222"/>
                </a:solidFill>
              </a:rPr>
              <a:t>какак</a:t>
            </a:r>
            <a:r>
              <a:rPr lang="ru-RU" dirty="0">
                <a:solidFill>
                  <a:srgbClr val="222222"/>
                </a:solidFill>
              </a:rPr>
              <a:t> </a:t>
            </a:r>
            <a:r>
              <a:rPr lang="ru-RU" dirty="0" err="1">
                <a:solidFill>
                  <a:srgbClr val="222222"/>
                </a:solidFill>
              </a:rPr>
              <a:t>Lasso</a:t>
            </a:r>
            <a:r>
              <a:rPr lang="ru-RU" dirty="0">
                <a:solidFill>
                  <a:srgbClr val="222222"/>
                </a:solidFill>
              </a:rPr>
              <a:t>, </a:t>
            </a:r>
            <a:r>
              <a:rPr lang="ru-RU" dirty="0" err="1">
                <a:solidFill>
                  <a:srgbClr val="222222"/>
                </a:solidFill>
              </a:rPr>
              <a:t>Elastic</a:t>
            </a:r>
            <a:r>
              <a:rPr lang="ru-RU" dirty="0">
                <a:solidFill>
                  <a:srgbClr val="222222"/>
                </a:solidFill>
              </a:rPr>
              <a:t> Net и </a:t>
            </a:r>
            <a:r>
              <a:rPr lang="ru-RU" dirty="0" err="1">
                <a:solidFill>
                  <a:srgbClr val="222222"/>
                </a:solidFill>
              </a:rPr>
              <a:t>Random</a:t>
            </a:r>
            <a:r>
              <a:rPr lang="ru-RU" dirty="0">
                <a:solidFill>
                  <a:srgbClr val="222222"/>
                </a:solidFill>
              </a:rPr>
              <a:t> </a:t>
            </a:r>
            <a:r>
              <a:rPr lang="ru-RU" dirty="0" err="1">
                <a:solidFill>
                  <a:srgbClr val="222222"/>
                </a:solidFill>
              </a:rPr>
              <a:t>Forest</a:t>
            </a:r>
            <a:r>
              <a:rPr lang="ru-RU" dirty="0">
                <a:solidFill>
                  <a:srgbClr val="222222"/>
                </a:solidFill>
              </a:rPr>
              <a:t>) появилось обобщение наработок алгоритмов </a:t>
            </a:r>
            <a:r>
              <a:rPr lang="ru-RU" dirty="0" err="1">
                <a:solidFill>
                  <a:srgbClr val="222222"/>
                </a:solidFill>
              </a:rPr>
              <a:t>бустинга</a:t>
            </a:r>
            <a:r>
              <a:rPr lang="ru-RU" dirty="0">
                <a:solidFill>
                  <a:srgbClr val="222222"/>
                </a:solidFill>
              </a:rPr>
              <a:t> — градиентный </a:t>
            </a:r>
            <a:r>
              <a:rPr lang="ru-RU" dirty="0" err="1">
                <a:solidFill>
                  <a:srgbClr val="222222"/>
                </a:solidFill>
              </a:rPr>
              <a:t>бустинг</a:t>
            </a:r>
            <a:r>
              <a:rPr lang="ru-RU" dirty="0">
                <a:solidFill>
                  <a:srgbClr val="222222"/>
                </a:solidFill>
              </a:rPr>
              <a:t>, он же </a:t>
            </a:r>
            <a:r>
              <a:rPr lang="ru-RU" dirty="0" err="1">
                <a:solidFill>
                  <a:srgbClr val="222222"/>
                </a:solidFill>
              </a:rPr>
              <a:t>Gradient</a:t>
            </a:r>
            <a:r>
              <a:rPr lang="ru-RU" dirty="0">
                <a:solidFill>
                  <a:srgbClr val="222222"/>
                </a:solidFill>
              </a:rPr>
              <a:t> </a:t>
            </a:r>
            <a:r>
              <a:rPr lang="ru-RU" dirty="0" err="1">
                <a:solidFill>
                  <a:srgbClr val="222222"/>
                </a:solidFill>
              </a:rPr>
              <a:t>Boosting</a:t>
            </a:r>
            <a:r>
              <a:rPr lang="ru-RU" dirty="0">
                <a:solidFill>
                  <a:srgbClr val="222222"/>
                </a:solidFill>
              </a:rPr>
              <a:t> (Machine), он же GBM. Этой работой </a:t>
            </a:r>
            <a:r>
              <a:rPr lang="ru-RU" dirty="0" err="1">
                <a:solidFill>
                  <a:srgbClr val="222222"/>
                </a:solidFill>
              </a:rPr>
              <a:t>Friedman</a:t>
            </a:r>
            <a:r>
              <a:rPr lang="ru-RU" dirty="0">
                <a:solidFill>
                  <a:srgbClr val="222222"/>
                </a:solidFill>
              </a:rPr>
              <a:t> задал статистическую базу для создания многих алгоритмов, предоставив общий подход </a:t>
            </a:r>
            <a:r>
              <a:rPr lang="ru-RU" dirty="0" err="1">
                <a:solidFill>
                  <a:srgbClr val="222222"/>
                </a:solidFill>
              </a:rPr>
              <a:t>бустинга</a:t>
            </a:r>
            <a:r>
              <a:rPr lang="ru-RU" dirty="0">
                <a:solidFill>
                  <a:srgbClr val="222222"/>
                </a:solidFill>
              </a:rPr>
              <a:t> как оптимизации в функциональном пространстве. </a:t>
            </a:r>
          </a:p>
          <a:p>
            <a:pPr marL="0" indent="0" algn="just">
              <a:buNone/>
            </a:pPr>
            <a:endParaRPr lang="ru-RU" dirty="0">
              <a:solidFill>
                <a:srgbClr val="222222"/>
              </a:solidFill>
              <a:latin typeface="Arial" panose="020B0604020202020204" pitchFamily="34" charset="0"/>
            </a:endParaRPr>
          </a:p>
          <a:p>
            <a:pPr marL="0" indent="0" algn="just">
              <a:buNone/>
            </a:pPr>
            <a:r>
              <a:rPr lang="ru-RU" b="0" i="0" dirty="0">
                <a:solidFill>
                  <a:srgbClr val="333333"/>
                </a:solidFill>
                <a:effectLst/>
                <a:latin typeface="-apple-system"/>
              </a:rPr>
              <a:t>Таким образом произошел переход от инженерно-алгоритмических изысканий в построении алгоритмов (так свойственных в ML) к полноценной методологии, объясняющей как такие алгоритмы строить и изучать. </a:t>
            </a:r>
          </a:p>
          <a:p>
            <a:pPr marL="0" indent="0" algn="just">
              <a:buNone/>
            </a:pPr>
            <a:r>
              <a:rPr lang="ru-RU" b="0" i="0" dirty="0">
                <a:solidFill>
                  <a:srgbClr val="333333"/>
                </a:solidFill>
                <a:effectLst/>
                <a:latin typeface="-apple-system"/>
              </a:rPr>
              <a:t>С точки зрения математической составляющей, на первый взгляд изменилось не так много по сравнению с </a:t>
            </a:r>
            <a:r>
              <a:rPr lang="en-US" b="0" i="0" dirty="0">
                <a:solidFill>
                  <a:srgbClr val="333333"/>
                </a:solidFill>
                <a:effectLst/>
                <a:latin typeface="-apple-system"/>
              </a:rPr>
              <a:t>AdaBoost</a:t>
            </a:r>
            <a:r>
              <a:rPr lang="ru-RU" b="0" i="0" dirty="0">
                <a:solidFill>
                  <a:srgbClr val="333333"/>
                </a:solidFill>
                <a:effectLst/>
                <a:latin typeface="-apple-system"/>
              </a:rPr>
              <a:t>: мы всё также используем </a:t>
            </a:r>
            <a:r>
              <a:rPr lang="ru-RU" b="0" i="0" dirty="0" err="1">
                <a:solidFill>
                  <a:srgbClr val="333333"/>
                </a:solidFill>
                <a:effectLst/>
                <a:latin typeface="-apple-system"/>
              </a:rPr>
              <a:t>бустинг</a:t>
            </a:r>
            <a:r>
              <a:rPr lang="ru-RU" b="0" i="0" dirty="0">
                <a:solidFill>
                  <a:srgbClr val="333333"/>
                </a:solidFill>
                <a:effectLst/>
                <a:latin typeface="-apple-system"/>
              </a:rPr>
              <a:t>, добавляем слабые алгоритмы, наращивая наш ансамбль постепенными улучшениями тех участков данных, где предыдущие модели "не доработали". Но при построении следующей простой модели, она строится не просто на </a:t>
            </a:r>
            <a:r>
              <a:rPr lang="ru-RU" b="0" i="0" dirty="0" err="1">
                <a:solidFill>
                  <a:srgbClr val="333333"/>
                </a:solidFill>
                <a:effectLst/>
                <a:latin typeface="-apple-system"/>
              </a:rPr>
              <a:t>перевзвешенных</a:t>
            </a:r>
            <a:r>
              <a:rPr lang="ru-RU" b="0" i="0" dirty="0">
                <a:solidFill>
                  <a:srgbClr val="333333"/>
                </a:solidFill>
                <a:effectLst/>
                <a:latin typeface="-apple-system"/>
              </a:rPr>
              <a:t> наблюдениях, а так, чтобы лучшим образом приближать общий градиент целевой функции. На концептуальном уровне это дало большой простор новых исследований и расширений реализации существующих алгоритмов.</a:t>
            </a:r>
            <a:endParaRPr lang="ru-RU" dirty="0"/>
          </a:p>
          <a:p>
            <a:pPr marL="0" indent="0" algn="just">
              <a:buNone/>
            </a:pPr>
            <a:endParaRPr lang="ru-RU" dirty="0">
              <a:solidFill>
                <a:srgbClr val="222222"/>
              </a:solidFill>
              <a:latin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ru-RU" dirty="0"/>
              <a:t>Свое место в "джентльменском наборе" градиентный </a:t>
            </a:r>
            <a:r>
              <a:rPr lang="ru-RU" dirty="0" err="1"/>
              <a:t>бустинг</a:t>
            </a:r>
            <a:r>
              <a:rPr lang="ru-RU" dirty="0"/>
              <a:t> занял не сразу — на это потребовалось больше 10 лет с момента появления. Во-первых, у базового GBM появилось много расширений под разные статистические задачи: </a:t>
            </a:r>
            <a:r>
              <a:rPr lang="ru-RU" dirty="0" err="1"/>
              <a:t>GLMboost</a:t>
            </a:r>
            <a:r>
              <a:rPr lang="ru-RU" dirty="0"/>
              <a:t> и </a:t>
            </a:r>
            <a:r>
              <a:rPr lang="ru-RU" dirty="0" err="1"/>
              <a:t>GAMboost</a:t>
            </a:r>
            <a:r>
              <a:rPr lang="ru-RU" dirty="0"/>
              <a:t> как усиление уже имеющихся GAM моделей, </a:t>
            </a:r>
            <a:r>
              <a:rPr lang="ru-RU" dirty="0" err="1"/>
              <a:t>CoxBoost</a:t>
            </a:r>
            <a:r>
              <a:rPr lang="ru-RU" dirty="0"/>
              <a:t> для кривых дожития, </a:t>
            </a:r>
            <a:r>
              <a:rPr lang="ru-RU" dirty="0" err="1"/>
              <a:t>RankBoost</a:t>
            </a:r>
            <a:r>
              <a:rPr lang="ru-RU" dirty="0"/>
              <a:t> и </a:t>
            </a:r>
            <a:r>
              <a:rPr lang="ru-RU" dirty="0" err="1"/>
              <a:t>LambdaMART</a:t>
            </a:r>
            <a:r>
              <a:rPr lang="ru-RU" dirty="0"/>
              <a:t> для ранжирования. Во-вторых, появилось много реализаций того же GBM под разными названиями и разных платформах: </a:t>
            </a:r>
            <a:r>
              <a:rPr lang="ru-RU" dirty="0" err="1"/>
              <a:t>Stochastic</a:t>
            </a:r>
            <a:r>
              <a:rPr lang="ru-RU" dirty="0"/>
              <a:t> GBM, GBDT (</a:t>
            </a:r>
            <a:r>
              <a:rPr lang="ru-RU" dirty="0" err="1"/>
              <a:t>Gradient</a:t>
            </a:r>
            <a:r>
              <a:rPr lang="ru-RU" dirty="0"/>
              <a:t> </a:t>
            </a:r>
            <a:r>
              <a:rPr lang="ru-RU" dirty="0" err="1"/>
              <a:t>Boosted</a:t>
            </a:r>
            <a:r>
              <a:rPr lang="ru-RU" dirty="0"/>
              <a:t> </a:t>
            </a:r>
            <a:r>
              <a:rPr lang="ru-RU" dirty="0" err="1"/>
              <a:t>Decision</a:t>
            </a:r>
            <a:r>
              <a:rPr lang="ru-RU" dirty="0"/>
              <a:t> </a:t>
            </a:r>
            <a:r>
              <a:rPr lang="ru-RU" dirty="0" err="1"/>
              <a:t>Trees</a:t>
            </a:r>
            <a:r>
              <a:rPr lang="ru-RU" dirty="0"/>
              <a:t>), GBRT (</a:t>
            </a:r>
            <a:r>
              <a:rPr lang="ru-RU" dirty="0" err="1"/>
              <a:t>Gradient</a:t>
            </a:r>
            <a:r>
              <a:rPr lang="ru-RU" dirty="0"/>
              <a:t> </a:t>
            </a:r>
            <a:r>
              <a:rPr lang="ru-RU" dirty="0" err="1"/>
              <a:t>Boosted</a:t>
            </a:r>
            <a:r>
              <a:rPr lang="ru-RU" dirty="0"/>
              <a:t> </a:t>
            </a:r>
            <a:r>
              <a:rPr lang="ru-RU" dirty="0" err="1"/>
              <a:t>Regression</a:t>
            </a:r>
            <a:r>
              <a:rPr lang="ru-RU" dirty="0"/>
              <a:t> </a:t>
            </a:r>
            <a:r>
              <a:rPr lang="ru-RU" dirty="0" err="1"/>
              <a:t>Trees</a:t>
            </a:r>
            <a:r>
              <a:rPr lang="ru-RU" dirty="0"/>
              <a:t>), MART (</a:t>
            </a:r>
            <a:r>
              <a:rPr lang="ru-RU" dirty="0" err="1"/>
              <a:t>Multiple</a:t>
            </a:r>
            <a:r>
              <a:rPr lang="ru-RU" dirty="0"/>
              <a:t> </a:t>
            </a:r>
            <a:r>
              <a:rPr lang="ru-RU" dirty="0" err="1"/>
              <a:t>Additive</a:t>
            </a:r>
            <a:r>
              <a:rPr lang="ru-RU" dirty="0"/>
              <a:t> </a:t>
            </a:r>
            <a:r>
              <a:rPr lang="ru-RU" dirty="0" err="1"/>
              <a:t>Regression</a:t>
            </a:r>
            <a:r>
              <a:rPr lang="ru-RU" dirty="0"/>
              <a:t> </a:t>
            </a:r>
            <a:r>
              <a:rPr lang="ru-RU" dirty="0" err="1"/>
              <a:t>Trees</a:t>
            </a:r>
            <a:r>
              <a:rPr lang="ru-RU" dirty="0"/>
              <a:t>), GBM как </a:t>
            </a:r>
            <a:r>
              <a:rPr lang="ru-RU" dirty="0" err="1"/>
              <a:t>Generalised</a:t>
            </a:r>
            <a:r>
              <a:rPr lang="ru-RU" dirty="0"/>
              <a:t> </a:t>
            </a:r>
            <a:r>
              <a:rPr lang="ru-RU" dirty="0" err="1"/>
              <a:t>Boosting</a:t>
            </a:r>
            <a:r>
              <a:rPr lang="ru-RU" dirty="0"/>
              <a:t> </a:t>
            </a:r>
            <a:r>
              <a:rPr lang="ru-RU" dirty="0" err="1"/>
              <a:t>Machines</a:t>
            </a:r>
            <a:r>
              <a:rPr lang="ru-RU" dirty="0"/>
              <a:t> и прочие. К тому же, сообщества </a:t>
            </a:r>
            <a:r>
              <a:rPr lang="ru-RU" dirty="0" err="1"/>
              <a:t>machine</a:t>
            </a:r>
            <a:r>
              <a:rPr lang="ru-RU" dirty="0"/>
              <a:t> </a:t>
            </a:r>
            <a:r>
              <a:rPr lang="ru-RU" dirty="0" err="1"/>
              <a:t>learner-ов</a:t>
            </a:r>
            <a:r>
              <a:rPr lang="ru-RU" dirty="0"/>
              <a:t> были достаточно разобщены и занимались всем подряд, из-за этого отследить успехи </a:t>
            </a:r>
            <a:r>
              <a:rPr lang="ru-RU" dirty="0" err="1"/>
              <a:t>бустинга</a:t>
            </a:r>
            <a:r>
              <a:rPr lang="ru-RU" dirty="0"/>
              <a:t> достаточно сложно.</a:t>
            </a:r>
          </a:p>
          <a:p>
            <a:pPr marL="0" indent="0" algn="just">
              <a:buNone/>
            </a:pPr>
            <a:endParaRPr lang="ru-RU" dirty="0">
              <a:solidFill>
                <a:srgbClr val="222222"/>
              </a:solidFill>
              <a:latin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ru-RU" b="0" i="0" dirty="0">
                <a:solidFill>
                  <a:srgbClr val="333333"/>
                </a:solidFill>
                <a:effectLst/>
                <a:latin typeface="-apple-system"/>
              </a:rPr>
              <a:t>Главную роль в популяризации </a:t>
            </a:r>
            <a:r>
              <a:rPr lang="ru-RU" b="0" i="0" dirty="0" err="1">
                <a:solidFill>
                  <a:srgbClr val="333333"/>
                </a:solidFill>
                <a:effectLst/>
                <a:latin typeface="-apple-system"/>
              </a:rPr>
              <a:t>бустинга</a:t>
            </a:r>
            <a:r>
              <a:rPr lang="ru-RU" b="0" i="0" dirty="0">
                <a:solidFill>
                  <a:srgbClr val="333333"/>
                </a:solidFill>
                <a:effectLst/>
                <a:latin typeface="-apple-system"/>
              </a:rPr>
              <a:t> сыграли ML соревнования, в особенности </a:t>
            </a:r>
            <a:r>
              <a:rPr lang="ru-RU" b="0" i="0" dirty="0" err="1">
                <a:solidFill>
                  <a:srgbClr val="333333"/>
                </a:solidFill>
                <a:effectLst/>
                <a:latin typeface="-apple-system"/>
              </a:rPr>
              <a:t>kaggle</a:t>
            </a:r>
            <a:r>
              <a:rPr lang="ru-RU" b="0" i="0" dirty="0">
                <a:solidFill>
                  <a:srgbClr val="333333"/>
                </a:solidFill>
                <a:effectLst/>
                <a:latin typeface="-apple-system"/>
              </a:rPr>
              <a:t>. Исследователям давно не хватало общей платформы, где было бы достаточно участников и задач, чтобы в открытой борьбе за </a:t>
            </a:r>
            <a:r>
              <a:rPr lang="ru-RU" b="0" i="0" dirty="0" err="1">
                <a:solidFill>
                  <a:srgbClr val="333333"/>
                </a:solidFill>
                <a:effectLst/>
                <a:latin typeface="-apple-system"/>
              </a:rPr>
              <a:t>state</a:t>
            </a:r>
            <a:r>
              <a:rPr lang="ru-RU" b="0" i="0" dirty="0">
                <a:solidFill>
                  <a:srgbClr val="333333"/>
                </a:solidFill>
                <a:effectLst/>
                <a:latin typeface="-apple-system"/>
              </a:rPr>
              <a:t> </a:t>
            </a:r>
            <a:r>
              <a:rPr lang="ru-RU" b="0" i="0" dirty="0" err="1">
                <a:solidFill>
                  <a:srgbClr val="333333"/>
                </a:solidFill>
                <a:effectLst/>
                <a:latin typeface="-apple-system"/>
              </a:rPr>
              <a:t>of</a:t>
            </a:r>
            <a:r>
              <a:rPr lang="ru-RU" b="0" i="0" dirty="0">
                <a:solidFill>
                  <a:srgbClr val="333333"/>
                </a:solidFill>
                <a:effectLst/>
                <a:latin typeface="-apple-system"/>
              </a:rPr>
              <a:t> </a:t>
            </a:r>
            <a:r>
              <a:rPr lang="ru-RU" b="0" i="0" dirty="0" err="1">
                <a:solidFill>
                  <a:srgbClr val="333333"/>
                </a:solidFill>
                <a:effectLst/>
                <a:latin typeface="-apple-system"/>
              </a:rPr>
              <a:t>the</a:t>
            </a:r>
            <a:r>
              <a:rPr lang="ru-RU" b="0" i="0" dirty="0">
                <a:solidFill>
                  <a:srgbClr val="333333"/>
                </a:solidFill>
                <a:effectLst/>
                <a:latin typeface="-apple-system"/>
              </a:rPr>
              <a:t> </a:t>
            </a:r>
            <a:r>
              <a:rPr lang="ru-RU" b="0" i="0" dirty="0" err="1">
                <a:solidFill>
                  <a:srgbClr val="333333"/>
                </a:solidFill>
                <a:effectLst/>
                <a:latin typeface="-apple-system"/>
              </a:rPr>
              <a:t>art</a:t>
            </a:r>
            <a:r>
              <a:rPr lang="ru-RU" b="0" i="0" dirty="0">
                <a:solidFill>
                  <a:srgbClr val="333333"/>
                </a:solidFill>
                <a:effectLst/>
                <a:latin typeface="-apple-system"/>
              </a:rPr>
              <a:t> соревновались люди с их алгоритмами и подходами. Именно это и произошло с </a:t>
            </a:r>
            <a:r>
              <a:rPr lang="ru-RU" b="0" i="0" dirty="0" err="1">
                <a:solidFill>
                  <a:srgbClr val="333333"/>
                </a:solidFill>
                <a:effectLst/>
                <a:latin typeface="-apple-system"/>
              </a:rPr>
              <a:t>бустингом</a:t>
            </a:r>
            <a:r>
              <a:rPr lang="ru-RU" b="0" i="0" dirty="0">
                <a:solidFill>
                  <a:srgbClr val="333333"/>
                </a:solidFill>
                <a:effectLst/>
                <a:latin typeface="-apple-system"/>
              </a:rPr>
              <a:t>, который прижился на </a:t>
            </a:r>
            <a:r>
              <a:rPr lang="ru-RU" b="0" i="0" dirty="0" err="1">
                <a:solidFill>
                  <a:srgbClr val="333333"/>
                </a:solidFill>
                <a:effectLst/>
                <a:latin typeface="-apple-system"/>
              </a:rPr>
              <a:t>kaggle</a:t>
            </a:r>
            <a:r>
              <a:rPr lang="ru-RU" b="0" i="0" dirty="0">
                <a:solidFill>
                  <a:srgbClr val="333333"/>
                </a:solidFill>
                <a:effectLst/>
                <a:latin typeface="-apple-system"/>
              </a:rPr>
              <a:t> почти </a:t>
            </a:r>
            <a:r>
              <a:rPr lang="ru-RU" b="0" i="0" u="none" strike="noStrike" dirty="0">
                <a:effectLst/>
                <a:latin typeface="-apple-system"/>
              </a:rPr>
              <a:t>сразу</a:t>
            </a:r>
            <a:r>
              <a:rPr lang="ru-RU" b="0" i="0" dirty="0">
                <a:solidFill>
                  <a:srgbClr val="333333"/>
                </a:solidFill>
                <a:effectLst/>
                <a:latin typeface="-apple-system"/>
              </a:rPr>
              <a:t> (победители соревнований с 2011 года использовали GBM), а </a:t>
            </a:r>
            <a:r>
              <a:rPr lang="ru-RU" b="0" i="0" u="none" strike="noStrike" dirty="0" err="1">
                <a:effectLst/>
                <a:latin typeface="-apple-system"/>
              </a:rPr>
              <a:t>xgboost</a:t>
            </a:r>
            <a:r>
              <a:rPr lang="ru-RU" b="0" i="0" dirty="0">
                <a:solidFill>
                  <a:srgbClr val="333333"/>
                </a:solidFill>
                <a:effectLst/>
                <a:latin typeface="-apple-system"/>
              </a:rPr>
              <a:t> как фреймворк быстро завоевал популярность вскоре после своего появления. При этом </a:t>
            </a:r>
            <a:r>
              <a:rPr lang="ru-RU" b="0" i="0" dirty="0" err="1">
                <a:solidFill>
                  <a:srgbClr val="333333"/>
                </a:solidFill>
                <a:effectLst/>
                <a:latin typeface="-apple-system"/>
              </a:rPr>
              <a:t>xgboost</a:t>
            </a:r>
            <a:r>
              <a:rPr lang="ru-RU" b="0" i="0" dirty="0">
                <a:solidFill>
                  <a:srgbClr val="333333"/>
                </a:solidFill>
                <a:effectLst/>
                <a:latin typeface="-apple-system"/>
              </a:rPr>
              <a:t> (победители соревнований с 2016 года использовали </a:t>
            </a:r>
            <a:r>
              <a:rPr lang="en-US" b="0" i="0" dirty="0">
                <a:solidFill>
                  <a:srgbClr val="333333"/>
                </a:solidFill>
                <a:effectLst/>
                <a:latin typeface="-apple-system"/>
              </a:rPr>
              <a:t>X</a:t>
            </a:r>
            <a:r>
              <a:rPr lang="ru-RU" b="0" i="0" dirty="0">
                <a:solidFill>
                  <a:srgbClr val="333333"/>
                </a:solidFill>
                <a:effectLst/>
                <a:latin typeface="-apple-system"/>
              </a:rPr>
              <a:t>GBM</a:t>
            </a:r>
            <a:r>
              <a:rPr lang="en-US" b="0" i="0" dirty="0">
                <a:solidFill>
                  <a:srgbClr val="333333"/>
                </a:solidFill>
                <a:effectLst/>
                <a:latin typeface="-apple-system"/>
              </a:rPr>
              <a:t> </a:t>
            </a:r>
            <a:r>
              <a:rPr lang="ru-RU" b="0" i="0" dirty="0">
                <a:solidFill>
                  <a:srgbClr val="333333"/>
                </a:solidFill>
                <a:effectLst/>
                <a:latin typeface="-apple-system"/>
              </a:rPr>
              <a:t>или </a:t>
            </a:r>
            <a:r>
              <a:rPr lang="en-US" dirty="0" err="1"/>
              <a:t>XGBoost</a:t>
            </a:r>
            <a:r>
              <a:rPr lang="ru-RU" b="0" i="0" dirty="0">
                <a:solidFill>
                  <a:srgbClr val="333333"/>
                </a:solidFill>
                <a:effectLst/>
                <a:latin typeface="-apple-system"/>
              </a:rPr>
              <a:t>) — это не какой-то новый уникальный алгоритм, а просто крайне эффективная реализация классического GBM с некоторыми дополнительными эвристиками.</a:t>
            </a:r>
            <a:endParaRPr lang="ru-RU" dirty="0"/>
          </a:p>
          <a:p>
            <a:pPr marL="0" indent="0" algn="just">
              <a:buNone/>
            </a:pPr>
            <a:endParaRPr lang="en-US" dirty="0">
              <a:solidFill>
                <a:srgbClr val="222222"/>
              </a:solidFill>
              <a:latin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ru-RU" b="0" i="0" dirty="0">
                <a:solidFill>
                  <a:srgbClr val="333333"/>
                </a:solidFill>
                <a:effectLst/>
                <a:latin typeface="-apple-system"/>
              </a:rPr>
              <a:t>В то же время </a:t>
            </a:r>
            <a:r>
              <a:rPr lang="ru-RU" b="0" i="0" dirty="0" err="1">
                <a:solidFill>
                  <a:srgbClr val="333333"/>
                </a:solidFill>
                <a:effectLst/>
                <a:latin typeface="-apple-system"/>
              </a:rPr>
              <a:t>бустинг</a:t>
            </a:r>
            <a:r>
              <a:rPr lang="ru-RU" b="0" i="0" dirty="0">
                <a:solidFill>
                  <a:srgbClr val="333333"/>
                </a:solidFill>
                <a:effectLst/>
                <a:latin typeface="-apple-system"/>
              </a:rPr>
              <a:t> начали активно применять в задачах ранжирования выдачи поисковых систем. Эту задачу выписали с точки зрения функции потерь, которая штрафует за ошибки в порядке выдачи, так что стало удобно просто вставить ее в GBM. Одними из первых внедрили </a:t>
            </a:r>
            <a:r>
              <a:rPr lang="ru-RU" b="0" i="0" dirty="0" err="1">
                <a:solidFill>
                  <a:srgbClr val="333333"/>
                </a:solidFill>
                <a:effectLst/>
                <a:latin typeface="-apple-system"/>
              </a:rPr>
              <a:t>бустинг</a:t>
            </a:r>
            <a:r>
              <a:rPr lang="ru-RU" b="0" i="0" dirty="0">
                <a:solidFill>
                  <a:srgbClr val="333333"/>
                </a:solidFill>
                <a:effectLst/>
                <a:latin typeface="-apple-system"/>
              </a:rPr>
              <a:t> в ранжирование </a:t>
            </a:r>
            <a:r>
              <a:rPr lang="ru-RU" b="0" i="0" dirty="0" err="1">
                <a:solidFill>
                  <a:srgbClr val="333333"/>
                </a:solidFill>
                <a:effectLst/>
                <a:latin typeface="-apple-system"/>
              </a:rPr>
              <a:t>AltaVista</a:t>
            </a:r>
            <a:r>
              <a:rPr lang="ru-RU" b="0" i="0" dirty="0">
                <a:solidFill>
                  <a:srgbClr val="333333"/>
                </a:solidFill>
                <a:effectLst/>
                <a:latin typeface="-apple-system"/>
              </a:rPr>
              <a:t>, а вскоре за ними последовали Yahoo, Yandex, </a:t>
            </a:r>
            <a:r>
              <a:rPr lang="ru-RU" b="0" i="0" dirty="0" err="1">
                <a:solidFill>
                  <a:srgbClr val="333333"/>
                </a:solidFill>
                <a:effectLst/>
                <a:latin typeface="-apple-system"/>
              </a:rPr>
              <a:t>Bing</a:t>
            </a:r>
            <a:r>
              <a:rPr lang="ru-RU" b="0" i="0" dirty="0">
                <a:solidFill>
                  <a:srgbClr val="333333"/>
                </a:solidFill>
                <a:effectLst/>
                <a:latin typeface="-apple-system"/>
              </a:rPr>
              <a:t> и другие. Причем, говоря о внедрении, речь шла о том, что </a:t>
            </a:r>
            <a:r>
              <a:rPr lang="ru-RU" b="0" i="0" dirty="0" err="1">
                <a:solidFill>
                  <a:srgbClr val="333333"/>
                </a:solidFill>
                <a:effectLst/>
                <a:latin typeface="-apple-system"/>
              </a:rPr>
              <a:t>бустинг</a:t>
            </a:r>
            <a:r>
              <a:rPr lang="ru-RU" b="0" i="0" dirty="0">
                <a:solidFill>
                  <a:srgbClr val="333333"/>
                </a:solidFill>
                <a:effectLst/>
                <a:latin typeface="-apple-system"/>
              </a:rPr>
              <a:t> на годы вперед становился основным алгоритмом внутри работающих движков, а не еще одной взаимо-заменяемой исследовательской поделкой, живущей в рамках пары научных статей.</a:t>
            </a:r>
            <a:endParaRPr lang="ru-RU" dirty="0"/>
          </a:p>
          <a:p>
            <a:pPr marL="0" indent="0" algn="just">
              <a:buNone/>
            </a:pPr>
            <a:endParaRPr lang="ru-RU" dirty="0">
              <a:solidFill>
                <a:srgbClr val="222222"/>
              </a:solidFill>
              <a:latin typeface="Arial" panose="020B0604020202020204" pitchFamily="34" charset="0"/>
            </a:endParaRPr>
          </a:p>
          <a:p>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34</a:t>
            </a:fld>
            <a:endParaRPr lang="ru-RU"/>
          </a:p>
        </p:txBody>
      </p:sp>
    </p:spTree>
    <p:extLst>
      <p:ext uri="{BB962C8B-B14F-4D97-AF65-F5344CB8AC3E}">
        <p14:creationId xmlns:p14="http://schemas.microsoft.com/office/powerpoint/2010/main" val="4072122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dirty="0"/>
              <a:t>В </a:t>
            </a:r>
            <a:r>
              <a:rPr lang="ru-RU" dirty="0" err="1"/>
              <a:t>scikit-learn</a:t>
            </a:r>
            <a:r>
              <a:rPr lang="ru-RU" dirty="0"/>
              <a:t> есть особая версия градиентного </a:t>
            </a:r>
            <a:r>
              <a:rPr lang="ru-RU" dirty="0" err="1"/>
              <a:t>бустинга</a:t>
            </a:r>
            <a:r>
              <a:rPr lang="ru-RU" dirty="0"/>
              <a:t> — </a:t>
            </a:r>
            <a:r>
              <a:rPr lang="ru-RU" dirty="0" err="1"/>
              <a:t>HistGradientBoosting</a:t>
            </a:r>
            <a:r>
              <a:rPr lang="ru-RU" dirty="0"/>
              <a:t> на основе </a:t>
            </a:r>
            <a:r>
              <a:rPr lang="ru-RU" dirty="0" err="1"/>
              <a:t>LightGBM</a:t>
            </a:r>
            <a:r>
              <a:rPr lang="ru-RU" dirty="0"/>
              <a:t>, предназначенная для работы с большими наборами данных </a:t>
            </a:r>
            <a:r>
              <a:rPr lang="en-US" b="0" i="0" dirty="0">
                <a:solidFill>
                  <a:srgbClr val="222832"/>
                </a:solidFill>
                <a:effectLst/>
                <a:latin typeface="-apple-system"/>
              </a:rPr>
              <a:t>(</a:t>
            </a:r>
            <a:r>
              <a:rPr lang="en-US" b="0" i="0" dirty="0" err="1">
                <a:solidFill>
                  <a:srgbClr val="222832"/>
                </a:solidFill>
                <a:effectLst/>
                <a:latin typeface="-apple-system"/>
              </a:rPr>
              <a:t>n_samples</a:t>
            </a:r>
            <a:r>
              <a:rPr lang="en-US" b="0" i="0" dirty="0">
                <a:solidFill>
                  <a:srgbClr val="222832"/>
                </a:solidFill>
                <a:effectLst/>
                <a:latin typeface="-apple-system"/>
              </a:rPr>
              <a:t> &gt;= 10 000)</a:t>
            </a:r>
            <a:r>
              <a:rPr lang="ru-RU" dirty="0"/>
              <a:t>, которая отрабатывает гораздо быстрее и чаще лучше, чем классический градиентный </a:t>
            </a:r>
            <a:r>
              <a:rPr lang="ru-RU" dirty="0" err="1"/>
              <a:t>бустинг</a:t>
            </a:r>
            <a:r>
              <a:rPr lang="ru-RU" dirty="0"/>
              <a:t>.</a:t>
            </a:r>
          </a:p>
          <a:p>
            <a:pPr marL="0" indent="0" algn="just">
              <a:buNone/>
            </a:pPr>
            <a:endParaRPr lang="ru-RU" dirty="0"/>
          </a:p>
          <a:p>
            <a:pPr marL="0" indent="0" algn="just">
              <a:buNone/>
            </a:pPr>
            <a:r>
              <a:rPr lang="ru-RU" dirty="0"/>
              <a:t>Классификатор </a:t>
            </a:r>
            <a:r>
              <a:rPr lang="ru-RU" dirty="0" err="1"/>
              <a:t>GradientBoostingClassifier</a:t>
            </a:r>
            <a:r>
              <a:rPr lang="ru-RU" dirty="0"/>
              <a:t> и регрессор </a:t>
            </a:r>
            <a:r>
              <a:rPr lang="en-US" dirty="0" err="1"/>
              <a:t>GradientBoostingRegressor</a:t>
            </a:r>
            <a:r>
              <a:rPr lang="ru-RU" dirty="0"/>
              <a:t> реализованы для больших наборов данных (</a:t>
            </a:r>
            <a:r>
              <a:rPr lang="ru-RU" dirty="0" err="1"/>
              <a:t>n_samples</a:t>
            </a:r>
            <a:r>
              <a:rPr lang="ru-RU" dirty="0"/>
              <a:t> &gt;= 10 000) и имеют встроенную поддержку пропущенных значений (</a:t>
            </a:r>
            <a:r>
              <a:rPr lang="ru-RU" dirty="0" err="1"/>
              <a:t>NaN</a:t>
            </a:r>
            <a:r>
              <a:rPr lang="ru-RU" dirty="0"/>
              <a:t>). Во время обучения производитель деревьев узнает в каждой точке разделения, следует ли относить образцы с пропущенными значениями к левому или правому потомку, на основе потенциального выигрыша. При прогнозировании образцы с пропущенными значениями назначаются левому или правому потомку соответственно. Если во время обучения для заданного признака не было обнаружено пропущенных значений, то образцы с пропущенными значениями сопоставляются с тем потомком, у которого больше всего образцов.</a:t>
            </a:r>
          </a:p>
          <a:p>
            <a:pPr marL="0" indent="0" algn="just">
              <a:buNone/>
            </a:pPr>
            <a:endParaRPr lang="ru-RU" dirty="0"/>
          </a:p>
          <a:p>
            <a:pPr marL="0" indent="0" algn="just">
              <a:buNone/>
            </a:pPr>
            <a:r>
              <a:rPr lang="ru-RU" sz="900" dirty="0">
                <a:hlinkClick r:id="rId3"/>
              </a:rPr>
              <a:t>(</a:t>
            </a:r>
            <a:r>
              <a:rPr lang="en-US" sz="900" dirty="0">
                <a:hlinkClick r:id="rId3"/>
              </a:rPr>
              <a:t>https://scikit-learn.org/stable/modules/generated/sklearn.ensemble.HistGradientBoostingClassifier.html#histgradientboostingclassifier</a:t>
            </a:r>
            <a:endParaRPr lang="ru-RU" sz="900" dirty="0"/>
          </a:p>
          <a:p>
            <a:pPr marL="0" indent="0" algn="just">
              <a:buNone/>
            </a:pPr>
            <a:r>
              <a:rPr lang="en-US" sz="900" dirty="0">
                <a:hlinkClick r:id="rId4"/>
              </a:rPr>
              <a:t>https://scikit-learn.org/stable/modules/generated/sklearn.ensemble.HistGradientBoostingRegressor.html#histgradientboostingregressor</a:t>
            </a:r>
            <a:r>
              <a:rPr lang="ru-RU" sz="900" dirty="0"/>
              <a:t>)</a:t>
            </a:r>
          </a:p>
          <a:p>
            <a:pPr marL="0" indent="0" algn="just">
              <a:buNone/>
            </a:pPr>
            <a:endParaRPr lang="ru-RU" dirty="0"/>
          </a:p>
          <a:p>
            <a:pPr algn="just"/>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43</a:t>
            </a:fld>
            <a:endParaRPr lang="ru-RU"/>
          </a:p>
        </p:txBody>
      </p:sp>
    </p:spTree>
    <p:extLst>
      <p:ext uri="{BB962C8B-B14F-4D97-AF65-F5344CB8AC3E}">
        <p14:creationId xmlns:p14="http://schemas.microsoft.com/office/powerpoint/2010/main" val="4517678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44</a:t>
            </a:fld>
            <a:endParaRPr lang="ru-RU"/>
          </a:p>
        </p:txBody>
      </p:sp>
    </p:spTree>
    <p:extLst>
      <p:ext uri="{BB962C8B-B14F-4D97-AF65-F5344CB8AC3E}">
        <p14:creationId xmlns:p14="http://schemas.microsoft.com/office/powerpoint/2010/main" val="11564051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err="1"/>
              <a:t>XGBoost</a:t>
            </a:r>
            <a:r>
              <a:rPr lang="ru-RU" dirty="0"/>
              <a:t> разрабатывался как исследовательский проект Вашингтонского Университета. </a:t>
            </a:r>
            <a:r>
              <a:rPr lang="ru-RU" dirty="0" err="1"/>
              <a:t>Tianqi</a:t>
            </a:r>
            <a:r>
              <a:rPr lang="ru-RU" dirty="0"/>
              <a:t> </a:t>
            </a:r>
            <a:r>
              <a:rPr lang="ru-RU" dirty="0" err="1"/>
              <a:t>Chen</a:t>
            </a:r>
            <a:r>
              <a:rPr lang="ru-RU" dirty="0"/>
              <a:t> и </a:t>
            </a:r>
            <a:r>
              <a:rPr lang="ru-RU" dirty="0" err="1"/>
              <a:t>Carlos</a:t>
            </a:r>
            <a:r>
              <a:rPr lang="ru-RU" dirty="0"/>
              <a:t> </a:t>
            </a:r>
            <a:r>
              <a:rPr lang="ru-RU" dirty="0" err="1"/>
              <a:t>Guestrin</a:t>
            </a:r>
            <a:r>
              <a:rPr lang="ru-RU" dirty="0"/>
              <a:t> представили их работу на конференции SIGKDD в 2016 году и произвели фурор в мире машинного обучения. С момента его введения этот алгоритм не только лидировал в соревнованиях </a:t>
            </a:r>
            <a:r>
              <a:rPr lang="ru-RU" dirty="0" err="1"/>
              <a:t>Kaggle</a:t>
            </a:r>
            <a:r>
              <a:rPr lang="en-US" dirty="0"/>
              <a:t> </a:t>
            </a:r>
            <a:r>
              <a:rPr lang="ru-RU" dirty="0"/>
              <a:t>и </a:t>
            </a:r>
            <a:r>
              <a:rPr lang="en-US" dirty="0"/>
              <a:t>KDD Cup</a:t>
            </a:r>
            <a:r>
              <a:rPr lang="ru-RU" dirty="0"/>
              <a:t>, но и был основой нескольких отраслевых передовых приложений. В результате образовалось общество специалистов по анализу данных, вносящих вклад в проекты </a:t>
            </a:r>
            <a:r>
              <a:rPr lang="ru-RU" dirty="0" err="1"/>
              <a:t>XGBoost</a:t>
            </a:r>
            <a:r>
              <a:rPr lang="ru-RU" dirty="0"/>
              <a:t> с открытым исходным кодом на </a:t>
            </a:r>
            <a:r>
              <a:rPr lang="ru-RU" dirty="0" err="1"/>
              <a:t>GitHub</a:t>
            </a:r>
            <a:r>
              <a:rPr lang="ru-RU" dirty="0"/>
              <a:t> (</a:t>
            </a:r>
            <a:r>
              <a:rPr lang="en-US" dirty="0"/>
              <a:t>https://github.com/dmlc/xgboost/</a:t>
            </a:r>
            <a:r>
              <a:rPr lang="ru-RU" dirty="0"/>
              <a:t>). </a:t>
            </a:r>
          </a:p>
          <a:p>
            <a:endParaRPr lang="en-US" dirty="0"/>
          </a:p>
          <a:p>
            <a:pPr marL="457200" indent="-457200">
              <a:buFont typeface="+mj-lt"/>
              <a:buAutoNum type="arabicPeriod"/>
            </a:pPr>
            <a:r>
              <a:rPr lang="ru-RU" dirty="0"/>
              <a:t>Широкая область применения: может быть использован для решения задач регрессии, классификации, упорядочения и пользовательских задач на предсказание.</a:t>
            </a:r>
          </a:p>
          <a:p>
            <a:pPr marL="457200" indent="-457200">
              <a:buFont typeface="+mj-lt"/>
              <a:buAutoNum type="arabicPeriod"/>
            </a:pPr>
            <a:r>
              <a:rPr lang="ru-RU" dirty="0"/>
              <a:t>Совместимость: Windows, Linux и OS X.</a:t>
            </a:r>
          </a:p>
          <a:p>
            <a:pPr marL="457200" indent="-457200">
              <a:buFont typeface="+mj-lt"/>
              <a:buAutoNum type="arabicPeriod"/>
            </a:pPr>
            <a:r>
              <a:rPr lang="ru-RU" dirty="0"/>
              <a:t>Языки: поддерживает большинство ведущих языков программирования, например, C++, Python, R, Java, Scala и </a:t>
            </a:r>
            <a:r>
              <a:rPr lang="ru-RU" dirty="0" err="1"/>
              <a:t>Julia</a:t>
            </a:r>
            <a:r>
              <a:rPr lang="ru-RU" dirty="0"/>
              <a:t>.</a:t>
            </a:r>
          </a:p>
          <a:p>
            <a:pPr marL="457200" indent="-457200">
              <a:buFont typeface="+mj-lt"/>
              <a:buAutoNum type="arabicPeriod"/>
            </a:pPr>
            <a:r>
              <a:rPr lang="ru-RU" dirty="0"/>
              <a:t>Облачная интеграция: поддерживает кластеры AWS, Azure и </a:t>
            </a:r>
            <a:r>
              <a:rPr lang="ru-RU" dirty="0" err="1"/>
              <a:t>Yarn</a:t>
            </a:r>
            <a:r>
              <a:rPr lang="ru-RU" dirty="0"/>
              <a:t>, хорошо работает с </a:t>
            </a:r>
            <a:r>
              <a:rPr lang="ru-RU" dirty="0" err="1"/>
              <a:t>Flink</a:t>
            </a:r>
            <a:r>
              <a:rPr lang="ru-RU" dirty="0"/>
              <a:t>, Spark.</a:t>
            </a:r>
          </a:p>
          <a:p>
            <a:endParaRPr lang="ru-RU" dirty="0"/>
          </a:p>
          <a:p>
            <a:pPr marL="0" indent="0" algn="just">
              <a:buNone/>
            </a:pPr>
            <a:r>
              <a:rPr lang="ru-RU" b="0" i="0" dirty="0" err="1">
                <a:solidFill>
                  <a:srgbClr val="1F2328"/>
                </a:solidFill>
                <a:effectLst/>
                <a:latin typeface="-apple-system"/>
              </a:rPr>
              <a:t>XGBoost</a:t>
            </a:r>
            <a:r>
              <a:rPr lang="ru-RU" b="0" i="0" dirty="0">
                <a:solidFill>
                  <a:srgbClr val="1F2328"/>
                </a:solidFill>
                <a:effectLst/>
                <a:latin typeface="-apple-system"/>
              </a:rPr>
              <a:t> — это оптимизированная распределенная библиотека градиентного </a:t>
            </a:r>
            <a:r>
              <a:rPr lang="ru-RU" b="0" i="0" dirty="0" err="1">
                <a:solidFill>
                  <a:srgbClr val="1F2328"/>
                </a:solidFill>
                <a:effectLst/>
                <a:latin typeface="-apple-system"/>
              </a:rPr>
              <a:t>бустинга</a:t>
            </a:r>
            <a:r>
              <a:rPr lang="ru-RU" b="0" i="0" dirty="0">
                <a:solidFill>
                  <a:srgbClr val="1F2328"/>
                </a:solidFill>
                <a:effectLst/>
                <a:latin typeface="-apple-system"/>
              </a:rPr>
              <a:t>, разработанная для обеспечения высокой </a:t>
            </a:r>
            <a:r>
              <a:rPr lang="ru-RU" b="1" dirty="0">
                <a:solidFill>
                  <a:srgbClr val="1F2328"/>
                </a:solidFill>
                <a:effectLst/>
                <a:latin typeface="-apple-system"/>
              </a:rPr>
              <a:t>эффективности</a:t>
            </a:r>
            <a:r>
              <a:rPr lang="ru-RU" b="0" dirty="0">
                <a:solidFill>
                  <a:srgbClr val="1F2328"/>
                </a:solidFill>
                <a:effectLst/>
                <a:latin typeface="-apple-system"/>
              </a:rPr>
              <a:t>, </a:t>
            </a:r>
            <a:r>
              <a:rPr lang="ru-RU" b="1" dirty="0">
                <a:solidFill>
                  <a:srgbClr val="1F2328"/>
                </a:solidFill>
                <a:effectLst/>
                <a:latin typeface="-apple-system"/>
              </a:rPr>
              <a:t>гибкости</a:t>
            </a:r>
            <a:r>
              <a:rPr lang="ru-RU" b="0" dirty="0">
                <a:solidFill>
                  <a:srgbClr val="1F2328"/>
                </a:solidFill>
                <a:effectLst/>
                <a:latin typeface="-apple-system"/>
              </a:rPr>
              <a:t> и </a:t>
            </a:r>
            <a:r>
              <a:rPr lang="ru-RU" b="1" dirty="0">
                <a:solidFill>
                  <a:srgbClr val="1F2328"/>
                </a:solidFill>
                <a:effectLst/>
                <a:latin typeface="-apple-system"/>
              </a:rPr>
              <a:t>переносимост</a:t>
            </a:r>
            <a:r>
              <a:rPr lang="ru-RU" b="1" dirty="0">
                <a:solidFill>
                  <a:srgbClr val="1F2328"/>
                </a:solidFill>
                <a:latin typeface="-apple-system"/>
              </a:rPr>
              <a:t>и</a:t>
            </a:r>
            <a:r>
              <a:rPr lang="ru-RU" b="0" i="0" dirty="0">
                <a:solidFill>
                  <a:srgbClr val="1F2328"/>
                </a:solidFill>
                <a:effectLst/>
                <a:latin typeface="-apple-system"/>
              </a:rPr>
              <a:t>. </a:t>
            </a:r>
          </a:p>
          <a:p>
            <a:pPr marL="0" indent="0" algn="just">
              <a:buNone/>
            </a:pPr>
            <a:r>
              <a:rPr lang="ru-RU" b="0" i="0" dirty="0">
                <a:solidFill>
                  <a:srgbClr val="1F2328"/>
                </a:solidFill>
                <a:effectLst/>
                <a:latin typeface="-apple-system"/>
              </a:rPr>
              <a:t>Она реализует алгоритмы машинного обучения в рамках фреймворка </a:t>
            </a:r>
            <a:r>
              <a:rPr lang="ru-RU" b="0" i="0" dirty="0">
                <a:effectLst/>
                <a:latin typeface="-apple-system"/>
              </a:rPr>
              <a:t>градиентного </a:t>
            </a:r>
            <a:r>
              <a:rPr lang="ru-RU" b="0" i="0" dirty="0" err="1">
                <a:effectLst/>
                <a:latin typeface="-apple-system"/>
              </a:rPr>
              <a:t>бустинга</a:t>
            </a:r>
            <a:r>
              <a:rPr lang="ru-RU" b="0" i="0" dirty="0">
                <a:solidFill>
                  <a:srgbClr val="1F2328"/>
                </a:solidFill>
                <a:effectLst/>
                <a:latin typeface="-apple-system"/>
              </a:rPr>
              <a:t>. </a:t>
            </a:r>
            <a:r>
              <a:rPr lang="ru-RU" b="0" i="0" dirty="0" err="1">
                <a:solidFill>
                  <a:srgbClr val="1F2328"/>
                </a:solidFill>
                <a:effectLst/>
                <a:latin typeface="-apple-system"/>
              </a:rPr>
              <a:t>XGBoost</a:t>
            </a:r>
            <a:r>
              <a:rPr lang="ru-RU" b="0" i="0" dirty="0">
                <a:solidFill>
                  <a:srgbClr val="1F2328"/>
                </a:solidFill>
                <a:effectLst/>
                <a:latin typeface="-apple-system"/>
              </a:rPr>
              <a:t> обеспечивает параллельный древовидный </a:t>
            </a:r>
            <a:r>
              <a:rPr lang="ru-RU" b="0" i="0" dirty="0" err="1">
                <a:solidFill>
                  <a:srgbClr val="1F2328"/>
                </a:solidFill>
                <a:effectLst/>
                <a:latin typeface="-apple-system"/>
              </a:rPr>
              <a:t>бустинг</a:t>
            </a:r>
            <a:r>
              <a:rPr lang="ru-RU" b="0" i="0" dirty="0">
                <a:solidFill>
                  <a:srgbClr val="1F2328"/>
                </a:solidFill>
                <a:effectLst/>
                <a:latin typeface="-apple-system"/>
              </a:rPr>
              <a:t> (также известный как GBDT, GBM), который решает множество задач науки о данных быстрым и точным способом. Код библиотеки </a:t>
            </a:r>
            <a:r>
              <a:rPr lang="ru-RU" b="0" i="0" dirty="0" err="1">
                <a:solidFill>
                  <a:srgbClr val="1F2328"/>
                </a:solidFill>
                <a:effectLst/>
                <a:latin typeface="-apple-system"/>
              </a:rPr>
              <a:t>XGBoost</a:t>
            </a:r>
            <a:r>
              <a:rPr lang="ru-RU" b="0" i="0" dirty="0">
                <a:solidFill>
                  <a:srgbClr val="1F2328"/>
                </a:solidFill>
                <a:effectLst/>
                <a:latin typeface="-apple-system"/>
              </a:rPr>
              <a:t> работает в основных распределенных средах (</a:t>
            </a:r>
            <a:r>
              <a:rPr lang="ru-RU" b="0" i="0" dirty="0" err="1">
                <a:solidFill>
                  <a:srgbClr val="1F2328"/>
                </a:solidFill>
                <a:effectLst/>
                <a:latin typeface="-apple-system"/>
              </a:rPr>
              <a:t>Kubernetes</a:t>
            </a:r>
            <a:r>
              <a:rPr lang="ru-RU" b="0" i="0" dirty="0">
                <a:solidFill>
                  <a:srgbClr val="1F2328"/>
                </a:solidFill>
                <a:effectLst/>
                <a:latin typeface="-apple-system"/>
              </a:rPr>
              <a:t>, </a:t>
            </a:r>
            <a:r>
              <a:rPr lang="ru-RU" b="0" i="0" dirty="0" err="1">
                <a:solidFill>
                  <a:srgbClr val="1F2328"/>
                </a:solidFill>
                <a:effectLst/>
                <a:latin typeface="-apple-system"/>
              </a:rPr>
              <a:t>Hadoop</a:t>
            </a:r>
            <a:r>
              <a:rPr lang="ru-RU" b="0" i="0" dirty="0">
                <a:solidFill>
                  <a:srgbClr val="1F2328"/>
                </a:solidFill>
                <a:effectLst/>
                <a:latin typeface="-apple-system"/>
              </a:rPr>
              <a:t>, SGE, </a:t>
            </a:r>
            <a:r>
              <a:rPr lang="ru-RU" b="0" i="0" dirty="0" err="1">
                <a:solidFill>
                  <a:srgbClr val="1F2328"/>
                </a:solidFill>
                <a:effectLst/>
                <a:latin typeface="-apple-system"/>
              </a:rPr>
              <a:t>Dask</a:t>
            </a:r>
            <a:r>
              <a:rPr lang="ru-RU" b="0" i="0" dirty="0">
                <a:solidFill>
                  <a:srgbClr val="1F2328"/>
                </a:solidFill>
                <a:effectLst/>
                <a:latin typeface="-apple-system"/>
              </a:rPr>
              <a:t>, Spark, </a:t>
            </a:r>
            <a:r>
              <a:rPr lang="ru-RU" b="0" i="0" dirty="0" err="1">
                <a:solidFill>
                  <a:srgbClr val="1F2328"/>
                </a:solidFill>
                <a:effectLst/>
                <a:latin typeface="-apple-system"/>
              </a:rPr>
              <a:t>PySpark</a:t>
            </a:r>
            <a:r>
              <a:rPr lang="ru-RU" b="0" i="0" dirty="0">
                <a:solidFill>
                  <a:srgbClr val="1F2328"/>
                </a:solidFill>
                <a:effectLst/>
                <a:latin typeface="-apple-system"/>
              </a:rPr>
              <a:t>) и может решать задачи, по обработке данных превышающих миллиарды записей.</a:t>
            </a:r>
          </a:p>
          <a:p>
            <a:pPr marL="0" indent="0" algn="just">
              <a:buNone/>
            </a:pPr>
            <a:endParaRPr lang="ru-RU" b="0" i="0" dirty="0">
              <a:solidFill>
                <a:srgbClr val="1F2328"/>
              </a:solidFill>
              <a:effectLst/>
              <a:latin typeface="-apple-system"/>
            </a:endParaRPr>
          </a:p>
          <a:p>
            <a:pPr marL="0" indent="0" algn="just">
              <a:buNone/>
            </a:pPr>
            <a:endParaRPr lang="ru-RU" dirty="0"/>
          </a:p>
          <a:p>
            <a:pPr marL="0" indent="0" algn="just">
              <a:buNone/>
            </a:pPr>
            <a:endParaRPr lang="ru-RU" dirty="0"/>
          </a:p>
          <a:p>
            <a:pPr marL="0" indent="0" algn="just">
              <a:buNone/>
            </a:pP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46</a:t>
            </a:fld>
            <a:endParaRPr lang="ru-RU"/>
          </a:p>
        </p:txBody>
      </p:sp>
    </p:spTree>
    <p:extLst>
      <p:ext uri="{BB962C8B-B14F-4D97-AF65-F5344CB8AC3E}">
        <p14:creationId xmlns:p14="http://schemas.microsoft.com/office/powerpoint/2010/main" val="14020503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342900" lvl="0" indent="-342900" algn="just">
              <a:lnSpc>
                <a:spcPct val="107000"/>
              </a:lnSpc>
              <a:spcAft>
                <a:spcPts val="800"/>
              </a:spcAft>
              <a:buFont typeface="+mj-lt"/>
              <a:buAutoNum type="arabicPeriod"/>
              <a:tabLst>
                <a:tab pos="457200" algn="l"/>
              </a:tabLst>
            </a:pPr>
            <a:r>
              <a:rPr lang="ru-RU" sz="1200" b="1" dirty="0" err="1">
                <a:effectLst/>
                <a:latin typeface="Times New Roman" panose="02020603050405020304" pitchFamily="18" charset="0"/>
                <a:ea typeface="Times New Roman" panose="02020603050405020304" pitchFamily="18" charset="0"/>
                <a:cs typeface="Times New Roman" panose="02020603050405020304" pitchFamily="18" charset="0"/>
              </a:rPr>
              <a:t>Параллелизация</a:t>
            </a:r>
            <a:r>
              <a:rPr lang="ru-RU" sz="12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ru-RU" sz="1200" dirty="0">
                <a:effectLst/>
                <a:latin typeface="Times New Roman" panose="02020603050405020304" pitchFamily="18" charset="0"/>
                <a:ea typeface="Times New Roman" panose="02020603050405020304" pitchFamily="18" charset="0"/>
                <a:cs typeface="Times New Roman" panose="02020603050405020304" pitchFamily="18" charset="0"/>
              </a:rPr>
              <a:t> В </a:t>
            </a:r>
            <a:r>
              <a:rPr lang="ru-RU" sz="1200" dirty="0" err="1">
                <a:effectLst/>
                <a:latin typeface="Times New Roman" panose="02020603050405020304" pitchFamily="18" charset="0"/>
                <a:ea typeface="Times New Roman" panose="02020603050405020304" pitchFamily="18" charset="0"/>
                <a:cs typeface="Times New Roman" panose="02020603050405020304" pitchFamily="18" charset="0"/>
              </a:rPr>
              <a:t>XGBoost</a:t>
            </a:r>
            <a:r>
              <a:rPr lang="ru-RU" sz="1200" dirty="0">
                <a:effectLst/>
                <a:latin typeface="Times New Roman" panose="02020603050405020304" pitchFamily="18" charset="0"/>
                <a:ea typeface="Times New Roman" panose="02020603050405020304" pitchFamily="18" charset="0"/>
                <a:cs typeface="Times New Roman" panose="02020603050405020304" pitchFamily="18" charset="0"/>
              </a:rPr>
              <a:t> построение деревьев основано на </a:t>
            </a:r>
            <a:r>
              <a:rPr lang="ru-RU" sz="1200" u="sng"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параллелизации</a:t>
            </a:r>
            <a:r>
              <a:rPr lang="ru-RU" sz="1200" dirty="0">
                <a:effectLst/>
                <a:latin typeface="Times New Roman" panose="02020603050405020304" pitchFamily="18" charset="0"/>
                <a:ea typeface="Times New Roman" panose="02020603050405020304" pitchFamily="18" charset="0"/>
                <a:cs typeface="Times New Roman" panose="02020603050405020304" pitchFamily="18" charset="0"/>
              </a:rPr>
              <a:t>. Это возможно благодаря взаимозаменяемой природе циклов, используемых для построения базы для обучения: внешний цикл перечисляет листья деревьев, внутренний цикл вычисляет признаки. Нахождение цикла внутри другого мешает параллелизировать алгоритм, так как внешний цикл не может начать своё выполнение, если внутренний ещё не закончил свою работу. Поэтому для улучшения времени работы порядок циклов меняется: инициализация проходит при считывании данных, затем выполняется сортировка, использующая параллельные потоки. Эта замена улучшает производительность алгоритма, распределяя вычисления по потокам.</a:t>
            </a:r>
            <a:endParaRPr lang="ru-RU"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ru-RU" sz="1200" b="1" dirty="0">
                <a:effectLst/>
                <a:latin typeface="Times New Roman" panose="02020603050405020304" pitchFamily="18" charset="0"/>
                <a:ea typeface="Times New Roman" panose="02020603050405020304" pitchFamily="18" charset="0"/>
                <a:cs typeface="Times New Roman" panose="02020603050405020304" pitchFamily="18" charset="0"/>
              </a:rPr>
              <a:t>Отсечение ветвей дерева:</a:t>
            </a:r>
            <a:r>
              <a:rPr lang="ru-RU" sz="1200" dirty="0">
                <a:effectLst/>
                <a:latin typeface="Times New Roman" panose="02020603050405020304" pitchFamily="18" charset="0"/>
                <a:ea typeface="Times New Roman" panose="02020603050405020304" pitchFamily="18" charset="0"/>
                <a:cs typeface="Times New Roman" panose="02020603050405020304" pitchFamily="18" charset="0"/>
              </a:rPr>
              <a:t> В фреймворке GBM критерий остановки для разбиения дерева зависит от критерия отрицательной потери в точке разбиения. </a:t>
            </a:r>
            <a:r>
              <a:rPr lang="ru-RU" sz="1200" dirty="0" err="1">
                <a:effectLst/>
                <a:latin typeface="Times New Roman" panose="02020603050405020304" pitchFamily="18" charset="0"/>
                <a:ea typeface="Times New Roman" panose="02020603050405020304" pitchFamily="18" charset="0"/>
                <a:cs typeface="Times New Roman" panose="02020603050405020304" pitchFamily="18" charset="0"/>
              </a:rPr>
              <a:t>XGBoost</a:t>
            </a:r>
            <a:r>
              <a:rPr lang="ru-RU" sz="1200" dirty="0">
                <a:effectLst/>
                <a:latin typeface="Times New Roman" panose="02020603050405020304" pitchFamily="18" charset="0"/>
                <a:ea typeface="Times New Roman" panose="02020603050405020304" pitchFamily="18" charset="0"/>
                <a:cs typeface="Times New Roman" panose="02020603050405020304" pitchFamily="18" charset="0"/>
              </a:rPr>
              <a:t> использует параметр максимальной глубины </a:t>
            </a:r>
            <a:r>
              <a:rPr lang="ru-RU" sz="1200" dirty="0" err="1">
                <a:effectLst/>
                <a:latin typeface="Courier New" panose="02070309020205020404" pitchFamily="49" charset="0"/>
                <a:ea typeface="Times New Roman" panose="02020603050405020304" pitchFamily="18" charset="0"/>
                <a:cs typeface="Times New Roman" panose="02020603050405020304" pitchFamily="18" charset="0"/>
              </a:rPr>
              <a:t>max_depth</a:t>
            </a:r>
            <a:r>
              <a:rPr lang="ru-RU" sz="1200" dirty="0">
                <a:effectLst/>
                <a:latin typeface="Times New Roman" panose="02020603050405020304" pitchFamily="18" charset="0"/>
                <a:ea typeface="Times New Roman" panose="02020603050405020304" pitchFamily="18" charset="0"/>
                <a:cs typeface="Times New Roman" panose="02020603050405020304" pitchFamily="18" charset="0"/>
              </a:rPr>
              <a:t> вместо этого критерия и начинает обратное отсечение. Этот “глубинный” подход значительно улучшает вычислительную производительность.</a:t>
            </a:r>
            <a:endParaRPr lang="ru-RU"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ru-RU" sz="1200" b="1" dirty="0">
                <a:effectLst/>
                <a:latin typeface="Times New Roman" panose="02020603050405020304" pitchFamily="18" charset="0"/>
                <a:ea typeface="Times New Roman" panose="02020603050405020304" pitchFamily="18" charset="0"/>
                <a:cs typeface="Times New Roman" panose="02020603050405020304" pitchFamily="18" charset="0"/>
              </a:rPr>
              <a:t>Аппаратная оптимизация:</a:t>
            </a:r>
            <a:r>
              <a:rPr lang="ru-RU" sz="1200" dirty="0">
                <a:effectLst/>
                <a:latin typeface="Times New Roman" panose="02020603050405020304" pitchFamily="18" charset="0"/>
                <a:ea typeface="Times New Roman" panose="02020603050405020304" pitchFamily="18" charset="0"/>
                <a:cs typeface="Times New Roman" panose="02020603050405020304" pitchFamily="18" charset="0"/>
              </a:rPr>
              <a:t> Алгоритм был разработан таким образом, чтобы он оптимально использовал аппаратные ресурсы. Это достигается путём создания внутренних буферов в каждом потоке для хранения статистики градиента. Дальнейшие улучшения, как, например, вычисления вне ядра, позволяют работать с большими наборами данных, которые не помещаются в памяти компьютера.</a:t>
            </a:r>
            <a:endParaRPr lang="ru-RU"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47</a:t>
            </a:fld>
            <a:endParaRPr lang="ru-RU"/>
          </a:p>
        </p:txBody>
      </p:sp>
    </p:spTree>
    <p:extLst>
      <p:ext uri="{BB962C8B-B14F-4D97-AF65-F5344CB8AC3E}">
        <p14:creationId xmlns:p14="http://schemas.microsoft.com/office/powerpoint/2010/main" val="18292137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sz="1200" dirty="0"/>
              <a:t>За основу был взят датасет </a:t>
            </a:r>
            <a:r>
              <a:rPr lang="ru-RU" sz="1200" dirty="0" err="1"/>
              <a:t>Scikit-learn</a:t>
            </a:r>
            <a:r>
              <a:rPr lang="ru-RU" sz="1200" dirty="0"/>
              <a:t> “</a:t>
            </a:r>
            <a:r>
              <a:rPr lang="ru-RU" sz="1200" dirty="0" err="1"/>
              <a:t>Make_Classification</a:t>
            </a:r>
            <a:r>
              <a:rPr lang="ru-RU" sz="1200" dirty="0"/>
              <a:t>” для того, чтобы создать миллион точек с 20 признаками (из них 2 информативных и 2 излишних). Рассмотрим работу различных алгоритмов </a:t>
            </a:r>
            <a:r>
              <a:rPr lang="ru-RU" sz="1200" dirty="0" err="1"/>
              <a:t>алгоритмов</a:t>
            </a:r>
            <a:r>
              <a:rPr lang="ru-RU" sz="1200" dirty="0"/>
              <a:t> по критериям точности и времени обучения: логистическая регрессия, случайный лес, стандартный градиентный </a:t>
            </a:r>
            <a:r>
              <a:rPr lang="ru-RU" sz="1200" dirty="0" err="1"/>
              <a:t>бустинг</a:t>
            </a:r>
            <a:r>
              <a:rPr lang="ru-RU" sz="1200" dirty="0"/>
              <a:t> и </a:t>
            </a:r>
            <a:r>
              <a:rPr lang="ru-RU" sz="1200" dirty="0" err="1"/>
              <a:t>XGBoos:t</a:t>
            </a:r>
            <a:r>
              <a:rPr lang="ru-RU" sz="1200" dirty="0"/>
              <a:t>.</a:t>
            </a:r>
          </a:p>
          <a:p>
            <a:pPr marL="0" indent="0" algn="just">
              <a:buNone/>
            </a:pPr>
            <a:endParaRPr lang="ru-RU" sz="1200" dirty="0"/>
          </a:p>
          <a:p>
            <a:pPr marL="0" indent="0" algn="just">
              <a:buNone/>
            </a:pPr>
            <a:r>
              <a:rPr lang="ru-RU" sz="1200" dirty="0"/>
              <a:t>Видим, что </a:t>
            </a:r>
            <a:r>
              <a:rPr lang="ru-RU" sz="1200" dirty="0" err="1"/>
              <a:t>XGBoost</a:t>
            </a:r>
            <a:r>
              <a:rPr lang="ru-RU" sz="1200" dirty="0"/>
              <a:t> обладает лучшей комбинацией «точность-время обучения” среди других алгоритмов.</a:t>
            </a:r>
          </a:p>
          <a:p>
            <a:pPr marL="0" indent="0" algn="just">
              <a:buNone/>
            </a:pPr>
            <a:endParaRPr lang="ru-RU" sz="1200" dirty="0"/>
          </a:p>
          <a:p>
            <a:pPr marL="0" indent="0" algn="just">
              <a:buNone/>
            </a:pPr>
            <a:endParaRPr lang="ru-RU" sz="1200"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48</a:t>
            </a:fld>
            <a:endParaRPr lang="ru-RU"/>
          </a:p>
        </p:txBody>
      </p:sp>
    </p:spTree>
    <p:extLst>
      <p:ext uri="{BB962C8B-B14F-4D97-AF65-F5344CB8AC3E}">
        <p14:creationId xmlns:p14="http://schemas.microsoft.com/office/powerpoint/2010/main" val="27040723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dirty="0"/>
              <a:t>В 2017 году Яндекс выложил в </a:t>
            </a:r>
            <a:r>
              <a:rPr lang="ru-RU" dirty="0" err="1"/>
              <a:t>open</a:t>
            </a:r>
            <a:r>
              <a:rPr lang="ru-RU" dirty="0"/>
              <a:t> </a:t>
            </a:r>
            <a:r>
              <a:rPr lang="ru-RU" dirty="0" err="1"/>
              <a:t>source</a:t>
            </a:r>
            <a:r>
              <a:rPr lang="ru-RU" dirty="0"/>
              <a:t> собственную библиотеку </a:t>
            </a:r>
            <a:r>
              <a:rPr lang="ru-RU" dirty="0" err="1"/>
              <a:t>CatBoost</a:t>
            </a:r>
            <a:r>
              <a:rPr lang="ru-RU" dirty="0"/>
              <a:t>, разработанную с учетом многолетнего опыта компании в области машинного обучения. С ее помощью можно эффективно обучать модели на разнородных данных, в том числе таких, которые трудно представить в виде чисел (например, виды облаков или категории товаров). Исходный код, документация, бенчмарки и необходимые инструменты уже опубликованы на </a:t>
            </a:r>
            <a:r>
              <a:rPr lang="ru-RU" dirty="0" err="1"/>
              <a:t>GitHub</a:t>
            </a:r>
            <a:r>
              <a:rPr lang="ru-RU" dirty="0"/>
              <a:t> под лицензией Apache 2.0.</a:t>
            </a:r>
            <a:r>
              <a:rPr lang="ru-RU" b="0" i="0" dirty="0">
                <a:solidFill>
                  <a:srgbClr val="333333"/>
                </a:solidFill>
                <a:effectLst/>
                <a:latin typeface="-apple-system"/>
              </a:rPr>
              <a:t> </a:t>
            </a:r>
          </a:p>
          <a:p>
            <a:pPr marL="0" indent="0" algn="just">
              <a:buNone/>
            </a:pPr>
            <a:r>
              <a:rPr lang="ru-RU" b="0" i="0" dirty="0" err="1">
                <a:solidFill>
                  <a:srgbClr val="333333"/>
                </a:solidFill>
                <a:effectLst/>
                <a:latin typeface="-apple-system"/>
              </a:rPr>
              <a:t>CatBoost</a:t>
            </a:r>
            <a:r>
              <a:rPr lang="ru-RU" b="0" i="0" dirty="0">
                <a:solidFill>
                  <a:srgbClr val="333333"/>
                </a:solidFill>
                <a:effectLst/>
                <a:latin typeface="-apple-system"/>
              </a:rPr>
              <a:t> – высокопроизводительная библиотека с открытым исходным кодом для градиентного </a:t>
            </a:r>
            <a:r>
              <a:rPr lang="ru-RU" b="0" i="0" dirty="0" err="1">
                <a:solidFill>
                  <a:srgbClr val="333333"/>
                </a:solidFill>
                <a:effectLst/>
                <a:latin typeface="-apple-system"/>
              </a:rPr>
              <a:t>бустинга</a:t>
            </a:r>
            <a:r>
              <a:rPr lang="ru-RU" b="0" i="0" dirty="0">
                <a:solidFill>
                  <a:srgbClr val="333333"/>
                </a:solidFill>
                <a:effectLst/>
                <a:latin typeface="-apple-system"/>
              </a:rPr>
              <a:t> на деревьях решений. Она внедряется в Яндексе для решения задач ранжирования, предсказания и построения рекомендаций. </a:t>
            </a:r>
          </a:p>
          <a:p>
            <a:pPr marL="0" indent="0" algn="just">
              <a:buNone/>
            </a:pPr>
            <a:r>
              <a:rPr lang="ru-RU" dirty="0" err="1"/>
              <a:t>CatBoost</a:t>
            </a:r>
            <a:r>
              <a:rPr lang="ru-RU" dirty="0"/>
              <a:t> разработан исследователями и инженерами Яндекса и используется для поиска, рекомендательных систем, персональных помощников, беспилотных автомобилей, прогнозирования погоды и многих других задач в Яндексе и других компаниях, включая CERN, </a:t>
            </a:r>
            <a:r>
              <a:rPr lang="ru-RU" dirty="0" err="1"/>
              <a:t>Cloudflare</a:t>
            </a:r>
            <a:r>
              <a:rPr lang="ru-RU" dirty="0"/>
              <a:t>, </a:t>
            </a:r>
            <a:r>
              <a:rPr lang="ru-RU" dirty="0" err="1"/>
              <a:t>Careem</a:t>
            </a:r>
            <a:r>
              <a:rPr lang="ru-RU" dirty="0"/>
              <a:t> </a:t>
            </a:r>
            <a:r>
              <a:rPr lang="ru-RU" dirty="0" err="1"/>
              <a:t>taxi</a:t>
            </a:r>
            <a:r>
              <a:rPr lang="ru-RU" dirty="0"/>
              <a:t>. Он находится в открытом исходном коде и может использоваться любым человеком.</a:t>
            </a:r>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Практически любой современный метод на основе градиентного </a:t>
            </a:r>
            <a:r>
              <a:rPr lang="ru-RU" dirty="0" err="1"/>
              <a:t>бустинга</a:t>
            </a:r>
            <a:r>
              <a:rPr lang="ru-RU" dirty="0"/>
              <a:t> работает с числовыми признаками. Если у нас в наборе данных присутствуют не только числовые, но и категориальные признаки (англ. </a:t>
            </a:r>
            <a:r>
              <a:rPr lang="ru-RU" dirty="0" err="1"/>
              <a:t>categorical</a:t>
            </a:r>
            <a:r>
              <a:rPr lang="ru-RU" dirty="0"/>
              <a:t> </a:t>
            </a:r>
            <a:r>
              <a:rPr lang="ru-RU" dirty="0" err="1"/>
              <a:t>features</a:t>
            </a:r>
            <a:r>
              <a:rPr lang="ru-RU" dirty="0"/>
              <a:t>), то необходимо переводить категориальные признаки в числовые. Это приводит к искажению их сути и потенциальному снижению точности работы модели. Именно поэтому было важно разработать алгоритм, который умеет работать не только с числовыми признаками, но и с категориальными напрямую, закономерности между которыми этот алгоритм будет выявлять самостоятельно, без ручной «помощи». </a:t>
            </a:r>
            <a:r>
              <a:rPr lang="ru-RU" dirty="0" err="1"/>
              <a:t>CatBoost</a:t>
            </a:r>
            <a:r>
              <a:rPr lang="ru-RU" dirty="0"/>
              <a:t> — библиотека для градиентного </a:t>
            </a:r>
            <a:r>
              <a:rPr lang="ru-RU" dirty="0" err="1"/>
              <a:t>бустинга</a:t>
            </a:r>
            <a:r>
              <a:rPr lang="ru-RU" dirty="0"/>
              <a:t>, главным преимуществом которой является то, что она одинаково хорошо работает «из коробки» как с числовыми признаками, так и с категориальными.</a:t>
            </a:r>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49</a:t>
            </a:fld>
            <a:endParaRPr lang="ru-RU"/>
          </a:p>
        </p:txBody>
      </p:sp>
    </p:spTree>
    <p:extLst>
      <p:ext uri="{BB962C8B-B14F-4D97-AF65-F5344CB8AC3E}">
        <p14:creationId xmlns:p14="http://schemas.microsoft.com/office/powerpoint/2010/main" val="5009185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b="0" i="0" dirty="0" err="1">
                <a:solidFill>
                  <a:srgbClr val="333333"/>
                </a:solidFill>
                <a:effectLst/>
              </a:rPr>
              <a:t>LightGBM</a:t>
            </a:r>
            <a:r>
              <a:rPr lang="ru-RU" b="0" i="0" dirty="0">
                <a:solidFill>
                  <a:srgbClr val="333333"/>
                </a:solidFill>
                <a:effectLst/>
              </a:rPr>
              <a:t> (Light </a:t>
            </a:r>
            <a:r>
              <a:rPr lang="ru-RU" b="0" i="0" dirty="0" err="1">
                <a:solidFill>
                  <a:srgbClr val="333333"/>
                </a:solidFill>
                <a:effectLst/>
              </a:rPr>
              <a:t>Gradient</a:t>
            </a:r>
            <a:r>
              <a:rPr lang="ru-RU" b="0" i="0" dirty="0">
                <a:solidFill>
                  <a:srgbClr val="333333"/>
                </a:solidFill>
                <a:effectLst/>
              </a:rPr>
              <a:t> </a:t>
            </a:r>
            <a:r>
              <a:rPr lang="ru-RU" b="0" i="0" dirty="0" err="1">
                <a:solidFill>
                  <a:srgbClr val="333333"/>
                </a:solidFill>
                <a:effectLst/>
              </a:rPr>
              <a:t>Boosting</a:t>
            </a:r>
            <a:r>
              <a:rPr lang="ru-RU" b="0" i="0" dirty="0">
                <a:solidFill>
                  <a:srgbClr val="333333"/>
                </a:solidFill>
                <a:effectLst/>
              </a:rPr>
              <a:t> Machine) — реализация градиентного </a:t>
            </a:r>
            <a:r>
              <a:rPr lang="ru-RU" b="0" i="0" dirty="0" err="1">
                <a:solidFill>
                  <a:srgbClr val="333333"/>
                </a:solidFill>
                <a:effectLst/>
              </a:rPr>
              <a:t>бустинга</a:t>
            </a:r>
            <a:r>
              <a:rPr lang="ru-RU" b="0" i="0" dirty="0">
                <a:solidFill>
                  <a:srgbClr val="333333"/>
                </a:solidFill>
                <a:effectLst/>
              </a:rPr>
              <a:t> от компании Microsoft, способная обрабатывать большие наборы данных и при этом обеспечивать высокую точность. </a:t>
            </a:r>
          </a:p>
          <a:p>
            <a:pPr algn="just"/>
            <a:r>
              <a:rPr lang="ru-RU" b="0" i="0" dirty="0" err="1">
                <a:solidFill>
                  <a:srgbClr val="222222"/>
                </a:solidFill>
                <a:effectLst/>
              </a:rPr>
              <a:t>LightGBM</a:t>
            </a:r>
            <a:r>
              <a:rPr lang="ru-RU" b="0" i="0" dirty="0">
                <a:solidFill>
                  <a:srgbClr val="222222"/>
                </a:solidFill>
                <a:effectLst/>
              </a:rPr>
              <a:t> — это фреймворк, который предоставляет реализацию деревьев принятия решений с градиентным </a:t>
            </a:r>
            <a:r>
              <a:rPr lang="ru-RU" b="0" i="0" dirty="0" err="1">
                <a:solidFill>
                  <a:srgbClr val="222222"/>
                </a:solidFill>
                <a:effectLst/>
              </a:rPr>
              <a:t>бустингом</a:t>
            </a:r>
            <a:r>
              <a:rPr lang="ru-RU" b="0" i="0" dirty="0">
                <a:solidFill>
                  <a:srgbClr val="222222"/>
                </a:solidFill>
                <a:effectLst/>
              </a:rPr>
              <a:t>. Он создан группой исследователей и разработчиков Microsoft. </a:t>
            </a:r>
            <a:r>
              <a:rPr lang="ru-RU" b="0" i="0" dirty="0" err="1">
                <a:solidFill>
                  <a:srgbClr val="222222"/>
                </a:solidFill>
                <a:effectLst/>
              </a:rPr>
              <a:t>LightGBM</a:t>
            </a:r>
            <a:r>
              <a:rPr lang="ru-RU" b="0" i="0" dirty="0">
                <a:solidFill>
                  <a:srgbClr val="222222"/>
                </a:solidFill>
                <a:effectLst/>
              </a:rPr>
              <a:t> известен своей более высокой скоростью обучения, хорошей точностью с параметрами по умолчанию, параллельным и GPU обучением, малым использованием памяти и возможностью обработки больших датасетов, которые не всегда помещаются в ней.</a:t>
            </a:r>
          </a:p>
          <a:p>
            <a:pPr algn="just"/>
            <a:r>
              <a:rPr lang="ru-RU" b="0" i="0" dirty="0">
                <a:solidFill>
                  <a:srgbClr val="222222"/>
                </a:solidFill>
                <a:effectLst/>
              </a:rPr>
              <a:t>Для работы с </a:t>
            </a:r>
            <a:r>
              <a:rPr lang="ru-RU" b="0" i="0" dirty="0" err="1">
                <a:solidFill>
                  <a:srgbClr val="222222"/>
                </a:solidFill>
                <a:effectLst/>
              </a:rPr>
              <a:t>LightGBM</a:t>
            </a:r>
            <a:r>
              <a:rPr lang="ru-RU" b="0" i="0" dirty="0">
                <a:solidFill>
                  <a:srgbClr val="222222"/>
                </a:solidFill>
                <a:effectLst/>
              </a:rPr>
              <a:t> доступны API на C, Python или R. Фреймворк также предоставляет CLI, который позволяет нам использовать библиотеку из командной строки. Оценщики (</a:t>
            </a:r>
            <a:r>
              <a:rPr lang="ru-RU" b="0" i="0" dirty="0" err="1">
                <a:solidFill>
                  <a:srgbClr val="222222"/>
                </a:solidFill>
                <a:effectLst/>
              </a:rPr>
              <a:t>estimators</a:t>
            </a:r>
            <a:r>
              <a:rPr lang="ru-RU" b="0" i="0" dirty="0">
                <a:solidFill>
                  <a:srgbClr val="222222"/>
                </a:solidFill>
                <a:effectLst/>
              </a:rPr>
              <a:t>) </a:t>
            </a:r>
            <a:r>
              <a:rPr lang="ru-RU" b="0" i="0" dirty="0" err="1">
                <a:solidFill>
                  <a:srgbClr val="222222"/>
                </a:solidFill>
                <a:effectLst/>
              </a:rPr>
              <a:t>LightGBM</a:t>
            </a:r>
            <a:r>
              <a:rPr lang="ru-RU" b="0" i="0" dirty="0">
                <a:solidFill>
                  <a:srgbClr val="222222"/>
                </a:solidFill>
                <a:effectLst/>
              </a:rPr>
              <a:t> оснащены множеством </a:t>
            </a:r>
            <a:r>
              <a:rPr lang="ru-RU" b="0" i="0" dirty="0" err="1">
                <a:solidFill>
                  <a:srgbClr val="222222"/>
                </a:solidFill>
                <a:effectLst/>
              </a:rPr>
              <a:t>гиперпараметров</a:t>
            </a:r>
            <a:r>
              <a:rPr lang="ru-RU" b="0" i="0" dirty="0">
                <a:solidFill>
                  <a:srgbClr val="222222"/>
                </a:solidFill>
                <a:effectLst/>
              </a:rPr>
              <a:t> для настройки модели. Кроме этого, в нем уже реализован большой набор функций оптимизации/потерь и оценочных метрики.</a:t>
            </a:r>
          </a:p>
          <a:p>
            <a:pPr marL="0" indent="0" algn="just">
              <a:buNone/>
            </a:pPr>
            <a:endParaRPr lang="en-US" dirty="0"/>
          </a:p>
          <a:p>
            <a:r>
              <a:rPr lang="ru-RU" dirty="0"/>
              <a:t>Light </a:t>
            </a:r>
            <a:r>
              <a:rPr lang="ru-RU" dirty="0" err="1"/>
              <a:t>Gradient</a:t>
            </a:r>
            <a:r>
              <a:rPr lang="ru-RU" dirty="0"/>
              <a:t> </a:t>
            </a:r>
            <a:r>
              <a:rPr lang="ru-RU" dirty="0" err="1"/>
              <a:t>Boosted</a:t>
            </a:r>
            <a:r>
              <a:rPr lang="ru-RU" dirty="0"/>
              <a:t> Machine (далее — </a:t>
            </a:r>
            <a:r>
              <a:rPr lang="ru-RU" dirty="0" err="1"/>
              <a:t>LightGBM</a:t>
            </a:r>
            <a:r>
              <a:rPr lang="ru-RU" dirty="0"/>
              <a:t>), библиотека с открытым исходным кодом, которая предоставляет эффективную и действенную реализацию алгоритма градиентного </a:t>
            </a:r>
            <a:r>
              <a:rPr lang="ru-RU" dirty="0" err="1"/>
              <a:t>бустинга</a:t>
            </a:r>
            <a:r>
              <a:rPr lang="ru-RU" dirty="0"/>
              <a:t>.</a:t>
            </a:r>
          </a:p>
          <a:p>
            <a:endParaRPr lang="ru-RU" dirty="0"/>
          </a:p>
          <a:p>
            <a:r>
              <a:rPr lang="ru-RU" dirty="0" err="1"/>
              <a:t>LightGBM</a:t>
            </a:r>
            <a:r>
              <a:rPr lang="ru-RU" dirty="0"/>
              <a:t> расширяет алгоритм градиентного </a:t>
            </a:r>
            <a:r>
              <a:rPr lang="ru-RU" dirty="0" err="1"/>
              <a:t>бустинга</a:t>
            </a:r>
            <a:r>
              <a:rPr lang="ru-RU" dirty="0"/>
              <a:t>, добавляя тип автоматического выбора объектов, а также фокусируясь на примерах </a:t>
            </a:r>
            <a:r>
              <a:rPr lang="ru-RU" dirty="0" err="1"/>
              <a:t>бустинга</a:t>
            </a:r>
            <a:r>
              <a:rPr lang="ru-RU" dirty="0"/>
              <a:t> с большими градиентами. Это может привести к резкому ускорению обучения и улучшению прогнозных показателей. Таким образом, </a:t>
            </a:r>
            <a:r>
              <a:rPr lang="ru-RU" dirty="0" err="1"/>
              <a:t>LightGBM</a:t>
            </a:r>
            <a:r>
              <a:rPr lang="ru-RU" dirty="0"/>
              <a:t> стала де-факто алгоритмом для соревнований по машинному обучению при работе с табличными данными для задач регрессионного и классификационного прогностического моделирования. </a:t>
            </a:r>
          </a:p>
          <a:p>
            <a:pPr marL="0" indent="0" algn="just">
              <a:buNone/>
            </a:pP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56</a:t>
            </a:fld>
            <a:endParaRPr lang="ru-RU"/>
          </a:p>
        </p:txBody>
      </p:sp>
    </p:spTree>
    <p:extLst>
      <p:ext uri="{BB962C8B-B14F-4D97-AF65-F5344CB8AC3E}">
        <p14:creationId xmlns:p14="http://schemas.microsoft.com/office/powerpoint/2010/main" val="21056016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buNone/>
            </a:pPr>
            <a:r>
              <a:rPr lang="ru-RU" b="0" i="0" dirty="0">
                <a:solidFill>
                  <a:srgbClr val="333333"/>
                </a:solidFill>
                <a:effectLst/>
                <a:latin typeface="-apple-system"/>
              </a:rPr>
              <a:t>Библиотека </a:t>
            </a:r>
            <a:r>
              <a:rPr lang="ru-RU" b="0" i="0" dirty="0" err="1">
                <a:solidFill>
                  <a:srgbClr val="333333"/>
                </a:solidFill>
                <a:effectLst/>
                <a:latin typeface="-apple-system"/>
              </a:rPr>
              <a:t>LightGBM</a:t>
            </a:r>
            <a:r>
              <a:rPr lang="ru-RU" b="0" i="0" dirty="0">
                <a:solidFill>
                  <a:srgbClr val="333333"/>
                </a:solidFill>
                <a:effectLst/>
                <a:latin typeface="-apple-system"/>
              </a:rPr>
              <a:t> имеет собственный API, хотя мы используем метод через классы-оболочки </a:t>
            </a:r>
            <a:r>
              <a:rPr lang="ru-RU" b="0" i="0" dirty="0" err="1">
                <a:solidFill>
                  <a:srgbClr val="333333"/>
                </a:solidFill>
                <a:effectLst/>
                <a:latin typeface="-apple-system"/>
              </a:rPr>
              <a:t>scikit-learn</a:t>
            </a:r>
            <a:r>
              <a:rPr lang="ru-RU" b="0" i="0" dirty="0">
                <a:solidFill>
                  <a:srgbClr val="333333"/>
                </a:solidFill>
                <a:effectLst/>
                <a:latin typeface="-apple-system"/>
              </a:rPr>
              <a:t>: </a:t>
            </a:r>
            <a:r>
              <a:rPr lang="ru-RU" b="0" i="0" u="none" strike="noStrike" dirty="0" err="1">
                <a:effectLst/>
                <a:latin typeface="-apple-system"/>
              </a:rPr>
              <a:t>LGBMRegressor</a:t>
            </a:r>
            <a:r>
              <a:rPr lang="ru-RU" b="0" i="0" dirty="0">
                <a:solidFill>
                  <a:srgbClr val="333333"/>
                </a:solidFill>
                <a:effectLst/>
                <a:latin typeface="-apple-system"/>
              </a:rPr>
              <a:t> и </a:t>
            </a:r>
            <a:r>
              <a:rPr lang="ru-RU" b="0" i="0" u="none" strike="noStrike" dirty="0" err="1">
                <a:effectLst/>
                <a:latin typeface="-apple-system"/>
              </a:rPr>
              <a:t>LGBMClassifier</a:t>
            </a:r>
            <a:r>
              <a:rPr lang="ru-RU" b="0" i="0" dirty="0">
                <a:solidFill>
                  <a:srgbClr val="333333"/>
                </a:solidFill>
                <a:effectLst/>
                <a:latin typeface="-apple-system"/>
              </a:rPr>
              <a:t>. Это позволит применять весь набор инструментов из библиотеки машинного обучения </a:t>
            </a:r>
            <a:r>
              <a:rPr lang="ru-RU" b="0" i="0" dirty="0" err="1">
                <a:solidFill>
                  <a:srgbClr val="333333"/>
                </a:solidFill>
                <a:effectLst/>
                <a:latin typeface="-apple-system"/>
              </a:rPr>
              <a:t>scikit-learn</a:t>
            </a:r>
            <a:r>
              <a:rPr lang="ru-RU" b="0" i="0" dirty="0">
                <a:solidFill>
                  <a:srgbClr val="333333"/>
                </a:solidFill>
                <a:effectLst/>
                <a:latin typeface="-apple-system"/>
              </a:rPr>
              <a:t> для подготовки данных и оценки моделей.</a:t>
            </a:r>
            <a:br>
              <a:rPr lang="ru-RU" dirty="0"/>
            </a:br>
            <a:br>
              <a:rPr lang="ru-RU" dirty="0"/>
            </a:br>
            <a:r>
              <a:rPr lang="ru-RU" b="0" i="0" dirty="0" err="1">
                <a:solidFill>
                  <a:srgbClr val="333333"/>
                </a:solidFill>
                <a:effectLst/>
                <a:latin typeface="-apple-system"/>
              </a:rPr>
              <a:t>LightGBM</a:t>
            </a:r>
            <a:r>
              <a:rPr lang="ru-RU" b="0" i="0" dirty="0">
                <a:solidFill>
                  <a:srgbClr val="333333"/>
                </a:solidFill>
                <a:effectLst/>
                <a:latin typeface="-apple-system"/>
              </a:rPr>
              <a:t> может устанавливаться как автономная библиотека, а модель </a:t>
            </a:r>
            <a:r>
              <a:rPr lang="ru-RU" b="0" i="0" dirty="0" err="1">
                <a:solidFill>
                  <a:srgbClr val="333333"/>
                </a:solidFill>
                <a:effectLst/>
                <a:latin typeface="-apple-system"/>
              </a:rPr>
              <a:t>LightGBM</a:t>
            </a:r>
            <a:r>
              <a:rPr lang="ru-RU" b="0" i="0" dirty="0">
                <a:solidFill>
                  <a:srgbClr val="333333"/>
                </a:solidFill>
                <a:effectLst/>
                <a:latin typeface="-apple-system"/>
              </a:rPr>
              <a:t> может разрабатываться с помощью API </a:t>
            </a:r>
            <a:r>
              <a:rPr lang="ru-RU" b="0" i="0" dirty="0" err="1">
                <a:solidFill>
                  <a:srgbClr val="333333"/>
                </a:solidFill>
                <a:effectLst/>
                <a:latin typeface="-apple-system"/>
              </a:rPr>
              <a:t>scikit-learn</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Первый шаг — установка библиотеки </a:t>
            </a:r>
            <a:r>
              <a:rPr lang="ru-RU" b="0" i="0" dirty="0" err="1">
                <a:solidFill>
                  <a:srgbClr val="333333"/>
                </a:solidFill>
                <a:effectLst/>
                <a:latin typeface="-apple-system"/>
              </a:rPr>
              <a:t>LightGBM</a:t>
            </a:r>
            <a:r>
              <a:rPr lang="ru-RU" b="0" i="0" dirty="0">
                <a:solidFill>
                  <a:srgbClr val="333333"/>
                </a:solidFill>
                <a:effectLst/>
                <a:latin typeface="-apple-system"/>
              </a:rPr>
              <a:t>. На большинстве платформ её можно выполнить с помощью менеджера пакетов </a:t>
            </a:r>
            <a:r>
              <a:rPr lang="ru-RU" b="0" i="0" dirty="0" err="1">
                <a:solidFill>
                  <a:srgbClr val="333333"/>
                </a:solidFill>
                <a:effectLst/>
                <a:latin typeface="-apple-system"/>
              </a:rPr>
              <a:t>pip</a:t>
            </a:r>
            <a:r>
              <a:rPr lang="ru-RU" b="0" i="0" dirty="0">
                <a:solidFill>
                  <a:srgbClr val="333333"/>
                </a:solidFill>
                <a:effectLst/>
                <a:latin typeface="-apple-system"/>
              </a:rPr>
              <a:t>,  например:</a:t>
            </a:r>
          </a:p>
          <a:p>
            <a:pPr marL="0" indent="0">
              <a:buNone/>
            </a:pPr>
            <a:endParaRPr lang="ru-RU" dirty="0"/>
          </a:p>
          <a:p>
            <a:pPr marL="0" indent="0">
              <a:buNone/>
            </a:pPr>
            <a:endParaRPr lang="en-US" b="0" i="0" dirty="0">
              <a:solidFill>
                <a:srgbClr val="333333"/>
              </a:solidFill>
              <a:effectLst/>
              <a:latin typeface="-apple-system"/>
            </a:endParaRPr>
          </a:p>
          <a:p>
            <a:pPr marL="0" indent="0">
              <a:buNone/>
            </a:pPr>
            <a:r>
              <a:rPr lang="ru-RU" b="0" i="0" dirty="0">
                <a:solidFill>
                  <a:srgbClr val="333333"/>
                </a:solidFill>
                <a:effectLst/>
                <a:latin typeface="-apple-system"/>
              </a:rPr>
              <a:t>Проверить установку и версию можно так:</a:t>
            </a:r>
            <a:endParaRPr lang="en-US" b="0" i="0" dirty="0">
              <a:solidFill>
                <a:srgbClr val="333333"/>
              </a:solidFill>
              <a:effectLst/>
              <a:latin typeface="-apple-system"/>
            </a:endParaRPr>
          </a:p>
          <a:p>
            <a:pPr marL="0" indent="0">
              <a:buNone/>
            </a:pPr>
            <a:endParaRPr lang="ru-RU" b="0" i="0" dirty="0">
              <a:solidFill>
                <a:srgbClr val="333333"/>
              </a:solidFill>
              <a:effectLst/>
              <a:latin typeface="-apple-system"/>
            </a:endParaRPr>
          </a:p>
          <a:p>
            <a:pPr marL="0" indent="0" algn="just">
              <a:buNone/>
            </a:pPr>
            <a:endParaRPr lang="en-US" dirty="0"/>
          </a:p>
          <a:p>
            <a:pPr marL="0" indent="0" algn="just">
              <a:buNone/>
            </a:pPr>
            <a:endParaRPr lang="en-US" b="0" i="0" dirty="0">
              <a:solidFill>
                <a:srgbClr val="333333"/>
              </a:solidFill>
              <a:effectLst/>
              <a:latin typeface="-apple-system"/>
            </a:endParaRPr>
          </a:p>
          <a:p>
            <a:pPr marL="0" indent="0" algn="just">
              <a:buNone/>
            </a:pPr>
            <a:r>
              <a:rPr lang="ru-RU" b="0" i="0" dirty="0">
                <a:solidFill>
                  <a:srgbClr val="333333"/>
                </a:solidFill>
                <a:effectLst/>
                <a:latin typeface="-apple-system"/>
              </a:rPr>
              <a:t>Обе модели работают одинаково и используют одни и те же аргументы, влияющие на то, как деревья решений создаются и добавляются в ансамбль. При построении модели используется случайность. Это означает, что каждый раз, когда алгоритм запускается на одних и тех же данных, он создаёт несколько иную модель.</a:t>
            </a:r>
            <a:br>
              <a:rPr lang="ru-RU" dirty="0"/>
            </a:br>
            <a:br>
              <a:rPr lang="ru-RU" dirty="0"/>
            </a:br>
            <a:r>
              <a:rPr lang="ru-RU" b="0" i="0" dirty="0">
                <a:solidFill>
                  <a:srgbClr val="333333"/>
                </a:solidFill>
                <a:effectLst/>
                <a:latin typeface="-apple-system"/>
              </a:rPr>
              <a:t>При использовании алгоритмов машинного обучения со стохастическим алгоритмом обучения рекомендуется оценивать их путём усреднения их производительности по нескольким запускам или повторениям кросс-валидации. При подгонке окончательной модели может оказаться желательным либо увеличивать число деревьев до тех пор, пока дисперсия модели не уменьшится при повторных оценках, либо обучать несколько конечных моделей и усреднить их прогнозы. </a:t>
            </a:r>
          </a:p>
          <a:p>
            <a:pPr marL="0" indent="0" algn="just">
              <a:buNone/>
            </a:pPr>
            <a:r>
              <a:rPr lang="ru-RU" b="0" i="0" dirty="0">
                <a:solidFill>
                  <a:srgbClr val="333333"/>
                </a:solidFill>
                <a:effectLst/>
                <a:latin typeface="-apple-system"/>
              </a:rPr>
              <a:t>Рассмотрим разработку ансамбля </a:t>
            </a:r>
            <a:r>
              <a:rPr lang="ru-RU" b="0" i="0" dirty="0" err="1">
                <a:solidFill>
                  <a:srgbClr val="333333"/>
                </a:solidFill>
                <a:effectLst/>
                <a:latin typeface="-apple-system"/>
              </a:rPr>
              <a:t>LightGBM</a:t>
            </a:r>
            <a:r>
              <a:rPr lang="ru-RU" b="0" i="0" dirty="0">
                <a:solidFill>
                  <a:srgbClr val="333333"/>
                </a:solidFill>
                <a:effectLst/>
                <a:latin typeface="-apple-system"/>
              </a:rPr>
              <a:t> как для классификации, так и для регрессии.</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58</a:t>
            </a:fld>
            <a:endParaRPr lang="ru-RU"/>
          </a:p>
        </p:txBody>
      </p:sp>
    </p:spTree>
    <p:extLst>
      <p:ext uri="{BB962C8B-B14F-4D97-AF65-F5344CB8AC3E}">
        <p14:creationId xmlns:p14="http://schemas.microsoft.com/office/powerpoint/2010/main" val="16149117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solidFill>
                  <a:srgbClr val="333333"/>
                </a:solidFill>
                <a:effectLst/>
                <a:latin typeface="-apple-system"/>
              </a:rPr>
              <a:t>В этом разделе рассмотрим применение </a:t>
            </a:r>
            <a:r>
              <a:rPr lang="ru-RU" b="0" i="0" dirty="0" err="1">
                <a:solidFill>
                  <a:srgbClr val="333333"/>
                </a:solidFill>
                <a:effectLst/>
                <a:latin typeface="-apple-system"/>
              </a:rPr>
              <a:t>LightGBM</a:t>
            </a:r>
            <a:r>
              <a:rPr lang="ru-RU" b="0" i="0" dirty="0">
                <a:solidFill>
                  <a:srgbClr val="333333"/>
                </a:solidFill>
                <a:effectLst/>
                <a:latin typeface="-apple-system"/>
              </a:rPr>
              <a:t> для задачи классификации. Во-первых, мы можем использовать функцию </a:t>
            </a:r>
            <a:r>
              <a:rPr lang="ru-RU" b="0" i="0" u="none" strike="noStrike" dirty="0" err="1">
                <a:effectLst/>
                <a:latin typeface="-apple-system"/>
              </a:rPr>
              <a:t>make_classification</a:t>
            </a:r>
            <a:r>
              <a:rPr lang="ru-RU" b="0" i="0" u="none" strike="noStrike" dirty="0">
                <a:effectLst/>
                <a:latin typeface="-apple-system"/>
              </a:rPr>
              <a:t>()</a:t>
            </a:r>
            <a:r>
              <a:rPr lang="ru-RU" b="0" i="0" dirty="0">
                <a:solidFill>
                  <a:srgbClr val="333333"/>
                </a:solidFill>
                <a:effectLst/>
                <a:latin typeface="-apple-system"/>
              </a:rPr>
              <a:t> создать синтетическую задачу бинарной классификации с 1000 примерами и 20 входными признаками.</a:t>
            </a:r>
            <a:endParaRPr lang="en-US" b="0" i="0" dirty="0">
              <a:solidFill>
                <a:srgbClr val="333333"/>
              </a:solidFill>
              <a:effectLst/>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r>
              <a:rPr lang="ru-RU" dirty="0">
                <a:solidFill>
                  <a:srgbClr val="333333"/>
                </a:solidFill>
                <a:latin typeface="-apple-system"/>
              </a:rPr>
              <a:t>Затем мы можем оценить алгоритм </a:t>
            </a:r>
            <a:r>
              <a:rPr lang="ru-RU" dirty="0" err="1">
                <a:solidFill>
                  <a:srgbClr val="333333"/>
                </a:solidFill>
                <a:latin typeface="-apple-system"/>
              </a:rPr>
              <a:t>LightGBM</a:t>
            </a:r>
            <a:r>
              <a:rPr lang="ru-RU" dirty="0">
                <a:solidFill>
                  <a:srgbClr val="333333"/>
                </a:solidFill>
                <a:latin typeface="-apple-system"/>
              </a:rPr>
              <a:t> на этом наборе данных. Мы будем оценивать модель с помощью повторной стратифицированной k-кратной кросс-валидации с тремя повторами и k, равным 10. Мы сообщим среднее и стандартное отклонения точности модели по всем повторениям и сгибам.</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59</a:t>
            </a:fld>
            <a:endParaRPr lang="ru-RU"/>
          </a:p>
        </p:txBody>
      </p:sp>
    </p:spTree>
    <p:extLst>
      <p:ext uri="{BB962C8B-B14F-4D97-AF65-F5344CB8AC3E}">
        <p14:creationId xmlns:p14="http://schemas.microsoft.com/office/powerpoint/2010/main" val="3504502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ru-RU" b="0" i="0" dirty="0">
                <a:solidFill>
                  <a:srgbClr val="333333"/>
                </a:solidFill>
                <a:effectLst/>
                <a:latin typeface="-apple-system"/>
              </a:rPr>
              <a:t>Запуск примера показывает точность среднего и стандартного отклонений модели.</a:t>
            </a:r>
            <a:br>
              <a:rPr lang="ru-RU" dirty="0"/>
            </a:br>
            <a:br>
              <a:rPr lang="ru-RU" dirty="0"/>
            </a:br>
            <a:r>
              <a:rPr lang="ru-RU" dirty="0">
                <a:solidFill>
                  <a:srgbClr val="333333"/>
                </a:solidFill>
                <a:latin typeface="-apple-system"/>
              </a:rPr>
              <a:t>В</a:t>
            </a:r>
            <a:r>
              <a:rPr lang="ru-RU" b="0" i="0" dirty="0">
                <a:solidFill>
                  <a:srgbClr val="333333"/>
                </a:solidFill>
                <a:effectLst/>
                <a:latin typeface="-apple-system"/>
              </a:rPr>
              <a:t>аши </a:t>
            </a:r>
            <a:r>
              <a:rPr lang="ru-RU" b="0" i="0" u="none" strike="noStrike" dirty="0">
                <a:effectLst/>
                <a:latin typeface="-apple-system"/>
              </a:rPr>
              <a:t>результаты могут отличаться</a:t>
            </a:r>
            <a:r>
              <a:rPr lang="ru-RU" b="0" i="0" dirty="0">
                <a:solidFill>
                  <a:srgbClr val="333333"/>
                </a:solidFill>
                <a:effectLst/>
                <a:latin typeface="-apple-system"/>
              </a:rPr>
              <a:t>, учитывая стохастический характер алгоритма или процедуры оценки, или различия в числовой точности. Попробуйте выполнить пример несколько раз и сравнить средний результат.</a:t>
            </a:r>
            <a:br>
              <a:rPr lang="ru-RU" dirty="0"/>
            </a:br>
            <a:r>
              <a:rPr lang="ru-RU" b="0" i="0" dirty="0">
                <a:solidFill>
                  <a:srgbClr val="333333"/>
                </a:solidFill>
                <a:effectLst/>
                <a:latin typeface="-apple-system"/>
              </a:rPr>
              <a:t>В этом случае мы видим, что ансамбль </a:t>
            </a:r>
            <a:r>
              <a:rPr lang="ru-RU" b="0" i="0" dirty="0" err="1">
                <a:solidFill>
                  <a:srgbClr val="333333"/>
                </a:solidFill>
                <a:effectLst/>
                <a:latin typeface="-apple-system"/>
              </a:rPr>
              <a:t>LightGBM</a:t>
            </a:r>
            <a:r>
              <a:rPr lang="ru-RU" b="0" i="0" dirty="0">
                <a:solidFill>
                  <a:srgbClr val="333333"/>
                </a:solidFill>
                <a:effectLst/>
                <a:latin typeface="-apple-system"/>
              </a:rPr>
              <a:t> с </a:t>
            </a:r>
            <a:r>
              <a:rPr lang="ru-RU" b="0" i="0" dirty="0" err="1">
                <a:solidFill>
                  <a:srgbClr val="333333"/>
                </a:solidFill>
                <a:effectLst/>
                <a:latin typeface="-apple-system"/>
              </a:rPr>
              <a:t>гиперпараметрами</a:t>
            </a:r>
            <a:r>
              <a:rPr lang="ru-RU" b="0" i="0" dirty="0">
                <a:solidFill>
                  <a:srgbClr val="333333"/>
                </a:solidFill>
                <a:effectLst/>
                <a:latin typeface="-apple-system"/>
              </a:rPr>
              <a:t> по умолчанию достигает точности классификации около 9</a:t>
            </a:r>
            <a:r>
              <a:rPr lang="en-US" b="0" i="0" dirty="0">
                <a:solidFill>
                  <a:srgbClr val="333333"/>
                </a:solidFill>
                <a:effectLst/>
                <a:latin typeface="-apple-system"/>
              </a:rPr>
              <a:t>3</a:t>
            </a:r>
            <a:r>
              <a:rPr lang="ru-RU" b="0" i="0" dirty="0">
                <a:solidFill>
                  <a:srgbClr val="333333"/>
                </a:solidFill>
                <a:effectLst/>
                <a:latin typeface="-apple-system"/>
              </a:rPr>
              <a:t>,</a:t>
            </a:r>
            <a:r>
              <a:rPr lang="en-US" b="0" i="0" dirty="0">
                <a:solidFill>
                  <a:srgbClr val="333333"/>
                </a:solidFill>
                <a:effectLst/>
                <a:latin typeface="-apple-system"/>
              </a:rPr>
              <a:t>0</a:t>
            </a:r>
            <a:r>
              <a:rPr lang="ru-RU" b="0" i="0" dirty="0">
                <a:solidFill>
                  <a:srgbClr val="333333"/>
                </a:solidFill>
                <a:effectLst/>
                <a:latin typeface="-apple-system"/>
              </a:rPr>
              <a:t> % в этом тестовом наборе данных.</a:t>
            </a:r>
            <a:endParaRPr lang="ru-RU" dirty="0"/>
          </a:p>
          <a:p>
            <a:pPr marL="0" indent="0" algn="just">
              <a:buNone/>
            </a:pPr>
            <a:endParaRPr lang="en-US" dirty="0"/>
          </a:p>
          <a:p>
            <a:pPr marL="0" indent="0" algn="just">
              <a:buNone/>
            </a:pPr>
            <a:endParaRPr lang="en-US" dirty="0"/>
          </a:p>
          <a:p>
            <a:pPr marL="0" indent="0" algn="just">
              <a:buNone/>
            </a:pPr>
            <a:r>
              <a:rPr lang="ru-RU" dirty="0"/>
              <a:t>Мы также можем использовать модель </a:t>
            </a:r>
            <a:r>
              <a:rPr lang="ru-RU" dirty="0" err="1"/>
              <a:t>LightGBM</a:t>
            </a:r>
            <a:r>
              <a:rPr lang="ru-RU" dirty="0"/>
              <a:t> в качестве окончательной модели и делать прогнозы для классификации. Во-первых, ансамбль </a:t>
            </a:r>
            <a:r>
              <a:rPr lang="ru-RU" dirty="0" err="1"/>
              <a:t>LightGBM</a:t>
            </a:r>
            <a:r>
              <a:rPr lang="ru-RU" dirty="0"/>
              <a:t> подходит для всех доступных данных, во-вторых, можно вызвать функцию </a:t>
            </a:r>
            <a:r>
              <a:rPr lang="ru-RU" dirty="0" err="1"/>
              <a:t>predict</a:t>
            </a:r>
            <a:r>
              <a:rPr lang="ru-RU" dirty="0"/>
              <a:t>(), чтобы сделать прогнозы по новым данным. Приведённый ниже пример демонстрирует это на нашем наборе данных бинарной классификации.</a:t>
            </a:r>
          </a:p>
          <a:p>
            <a:pPr marL="0" indent="0" algn="just">
              <a:buNone/>
            </a:pPr>
            <a:endParaRPr lang="ru-RU" dirty="0"/>
          </a:p>
          <a:p>
            <a:pPr marL="0" indent="0" algn="just">
              <a:buNone/>
            </a:pPr>
            <a:endParaRPr lang="ru-RU" dirty="0"/>
          </a:p>
          <a:p>
            <a:pPr marL="0" indent="0" algn="just">
              <a:buNone/>
            </a:pPr>
            <a:r>
              <a:rPr lang="ru-RU" b="0" i="0" dirty="0">
                <a:solidFill>
                  <a:srgbClr val="333333"/>
                </a:solidFill>
                <a:effectLst/>
                <a:latin typeface="-apple-system"/>
              </a:rPr>
              <a:t>Запуск примера обучает модели ансамбля </a:t>
            </a:r>
            <a:r>
              <a:rPr lang="ru-RU" b="0" i="0" dirty="0" err="1">
                <a:solidFill>
                  <a:srgbClr val="333333"/>
                </a:solidFill>
                <a:effectLst/>
                <a:latin typeface="-apple-system"/>
              </a:rPr>
              <a:t>LightGBM</a:t>
            </a:r>
            <a:r>
              <a:rPr lang="ru-RU" b="0" i="0" dirty="0">
                <a:solidFill>
                  <a:srgbClr val="333333"/>
                </a:solidFill>
                <a:effectLst/>
                <a:latin typeface="-apple-system"/>
              </a:rPr>
              <a:t> для всего набора данных, а затем используется для прогнозирования новой строки данных.</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60</a:t>
            </a:fld>
            <a:endParaRPr lang="ru-RU"/>
          </a:p>
        </p:txBody>
      </p:sp>
    </p:spTree>
    <p:extLst>
      <p:ext uri="{BB962C8B-B14F-4D97-AF65-F5344CB8AC3E}">
        <p14:creationId xmlns:p14="http://schemas.microsoft.com/office/powerpoint/2010/main" val="11527422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indent="0" algn="just">
              <a:buNone/>
            </a:pPr>
            <a:r>
              <a:rPr lang="ru-RU" b="0" i="0" dirty="0">
                <a:solidFill>
                  <a:srgbClr val="333333"/>
                </a:solidFill>
                <a:effectLst/>
                <a:latin typeface="-apple-system"/>
              </a:rPr>
              <a:t>Оценим алгоритм </a:t>
            </a:r>
            <a:r>
              <a:rPr lang="ru-RU" b="0" i="0" dirty="0" err="1">
                <a:solidFill>
                  <a:srgbClr val="333333"/>
                </a:solidFill>
                <a:effectLst/>
                <a:latin typeface="-apple-system"/>
              </a:rPr>
              <a:t>LightGBM</a:t>
            </a:r>
            <a:r>
              <a:rPr lang="ru-RU" b="0" i="0" dirty="0">
                <a:solidFill>
                  <a:srgbClr val="333333"/>
                </a:solidFill>
                <a:effectLst/>
                <a:latin typeface="-apple-system"/>
              </a:rPr>
              <a:t> на этом наборе данных.</a:t>
            </a:r>
            <a:br>
              <a:rPr lang="ru-RU" dirty="0"/>
            </a:br>
            <a:br>
              <a:rPr lang="ru-RU" dirty="0"/>
            </a:br>
            <a:r>
              <a:rPr lang="ru-RU" b="0" i="0" dirty="0">
                <a:solidFill>
                  <a:srgbClr val="333333"/>
                </a:solidFill>
                <a:effectLst/>
                <a:latin typeface="-apple-system"/>
              </a:rPr>
              <a:t>Как и в последнем разделе, мы будем оценивать модель с помощью повторной k-кратной кросс-валидации с тремя повторами и k равным 10. Мы сообщим о средней абсолютной ошибке (MAE) модели по всем повторам и группам кросс-валидации. Библиотека </a:t>
            </a:r>
            <a:r>
              <a:rPr lang="ru-RU" b="0" i="0" dirty="0" err="1">
                <a:solidFill>
                  <a:srgbClr val="333333"/>
                </a:solidFill>
                <a:effectLst/>
                <a:latin typeface="-apple-system"/>
              </a:rPr>
              <a:t>scikit-learn</a:t>
            </a:r>
            <a:r>
              <a:rPr lang="ru-RU" b="0" i="0" dirty="0">
                <a:solidFill>
                  <a:srgbClr val="333333"/>
                </a:solidFill>
                <a:effectLst/>
                <a:latin typeface="-apple-system"/>
              </a:rPr>
              <a:t> делает MAE отрицательным, так что она максимизируется, а не минимизируется. Это означает, что большие отрицательные MAE лучше, а идеальная модель имеет MAE 0.</a:t>
            </a:r>
          </a:p>
          <a:p>
            <a:pPr marL="0" indent="0" algn="just">
              <a:buNone/>
            </a:pPr>
            <a:r>
              <a:rPr lang="ru-RU" b="0" i="0" dirty="0">
                <a:solidFill>
                  <a:srgbClr val="333333"/>
                </a:solidFill>
                <a:effectLst/>
                <a:latin typeface="-apple-system"/>
              </a:rPr>
              <a:t>Запуск примера сообщает о средней и стандартной точности отклонения модели.</a:t>
            </a:r>
          </a:p>
          <a:p>
            <a:pPr marL="0" indent="0" algn="just">
              <a:buNone/>
            </a:pPr>
            <a:r>
              <a:rPr lang="ru-RU" dirty="0">
                <a:solidFill>
                  <a:srgbClr val="333333"/>
                </a:solidFill>
                <a:latin typeface="-apple-system"/>
              </a:rPr>
              <a:t>В</a:t>
            </a:r>
            <a:r>
              <a:rPr lang="ru-RU" b="0" i="0" dirty="0">
                <a:solidFill>
                  <a:srgbClr val="333333"/>
                </a:solidFill>
                <a:effectLst/>
                <a:latin typeface="-apple-system"/>
              </a:rPr>
              <a:t>аши </a:t>
            </a:r>
            <a:r>
              <a:rPr lang="ru-RU" b="0" i="0" u="none" strike="noStrike" dirty="0">
                <a:effectLst/>
                <a:latin typeface="-apple-system"/>
              </a:rPr>
              <a:t>результаты могут различаться</a:t>
            </a:r>
            <a:r>
              <a:rPr lang="ru-RU" b="0" i="0" dirty="0">
                <a:solidFill>
                  <a:srgbClr val="333333"/>
                </a:solidFill>
                <a:effectLst/>
                <a:latin typeface="-apple-system"/>
              </a:rPr>
              <a:t>, учитывая стохастический характер алгоритма или процедуры оценки, или различия в числовой точности. Подумайте о том, чтобы запустить пример несколько раз и сравнить средний результат. В этом случае мы видим, что ансамбль </a:t>
            </a:r>
            <a:r>
              <a:rPr lang="ru-RU" b="0" i="0" dirty="0" err="1">
                <a:solidFill>
                  <a:srgbClr val="333333"/>
                </a:solidFill>
                <a:effectLst/>
                <a:latin typeface="-apple-system"/>
              </a:rPr>
              <a:t>LightGBM</a:t>
            </a:r>
            <a:r>
              <a:rPr lang="ru-RU" b="0" i="0" dirty="0">
                <a:solidFill>
                  <a:srgbClr val="333333"/>
                </a:solidFill>
                <a:effectLst/>
                <a:latin typeface="-apple-system"/>
              </a:rPr>
              <a:t> с </a:t>
            </a:r>
            <a:r>
              <a:rPr lang="ru-RU" b="0" i="0" dirty="0" err="1">
                <a:solidFill>
                  <a:srgbClr val="333333"/>
                </a:solidFill>
                <a:effectLst/>
                <a:latin typeface="-apple-system"/>
              </a:rPr>
              <a:t>гиперпараметрами</a:t>
            </a:r>
            <a:r>
              <a:rPr lang="ru-RU" b="0" i="0" dirty="0">
                <a:solidFill>
                  <a:srgbClr val="333333"/>
                </a:solidFill>
                <a:effectLst/>
                <a:latin typeface="-apple-system"/>
              </a:rPr>
              <a:t> по умолчанию достигает MAE около 60.</a:t>
            </a:r>
            <a:endParaRPr lang="ru-RU" dirty="0"/>
          </a:p>
          <a:p>
            <a:endParaRPr lang="ru-RU" dirty="0"/>
          </a:p>
        </p:txBody>
      </p:sp>
      <p:sp>
        <p:nvSpPr>
          <p:cNvPr id="4" name="Номер слайда 3"/>
          <p:cNvSpPr>
            <a:spLocks noGrp="1"/>
          </p:cNvSpPr>
          <p:nvPr>
            <p:ph type="sldNum" sz="quarter" idx="5"/>
          </p:nvPr>
        </p:nvSpPr>
        <p:spPr/>
        <p:txBody>
          <a:bodyPr/>
          <a:lstStyle/>
          <a:p>
            <a:fld id="{DECB8B1E-725D-4009-AE77-F13A2082C589}" type="slidenum">
              <a:rPr lang="ru-RU" smtClean="0"/>
              <a:t>62</a:t>
            </a:fld>
            <a:endParaRPr lang="ru-RU"/>
          </a:p>
        </p:txBody>
      </p:sp>
    </p:spTree>
    <p:extLst>
      <p:ext uri="{BB962C8B-B14F-4D97-AF65-F5344CB8AC3E}">
        <p14:creationId xmlns:p14="http://schemas.microsoft.com/office/powerpoint/2010/main" val="4292772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46834" y="212653"/>
            <a:ext cx="8412133" cy="2145987"/>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646833" y="4433107"/>
            <a:ext cx="8412133" cy="689986"/>
          </a:xfrm>
          <a:prstGeom prst="rect">
            <a:avLst/>
          </a:prstGeom>
        </p:spPr>
        <p:txBody>
          <a:bodyPr/>
          <a:lstStyle>
            <a:lvl1pPr marL="0" indent="0" algn="r">
              <a:buNone/>
              <a:defRPr sz="3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646832" y="6034875"/>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646833" y="5344889"/>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6952895" y="5800782"/>
            <a:ext cx="2106069"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338501875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44FFBC-5083-5772-781F-FA8FFDCAFFCA}"/>
              </a:ext>
            </a:extLst>
          </p:cNvPr>
          <p:cNvSpPr>
            <a:spLocks noGrp="1"/>
          </p:cNvSpPr>
          <p:nvPr>
            <p:ph type="title"/>
          </p:nvPr>
        </p:nvSpPr>
        <p:spPr/>
        <p:txBody>
          <a:bodyPr/>
          <a:lstStyle>
            <a:lvl1pPr>
              <a:defRPr b="1">
                <a:latin typeface="+mn-lt"/>
              </a:defRPr>
            </a:lvl1pPr>
          </a:lstStyle>
          <a:p>
            <a:r>
              <a:rPr lang="ru-RU" dirty="0"/>
              <a:t>Образец заголовка</a:t>
            </a:r>
          </a:p>
        </p:txBody>
      </p:sp>
      <p:sp>
        <p:nvSpPr>
          <p:cNvPr id="3" name="Объект 2">
            <a:extLst>
              <a:ext uri="{FF2B5EF4-FFF2-40B4-BE49-F238E27FC236}">
                <a16:creationId xmlns:a16="http://schemas.microsoft.com/office/drawing/2014/main" id="{4E133F82-3BB3-7EDF-7536-20AF304CA626}"/>
              </a:ext>
            </a:extLst>
          </p:cNvPr>
          <p:cNvSpPr>
            <a:spLocks noGrp="1"/>
          </p:cNvSpPr>
          <p:nvPr>
            <p:ph idx="1"/>
          </p:nvPr>
        </p:nvSpPr>
        <p:spPr>
          <a:xfrm>
            <a:off x="628650" y="1358782"/>
            <a:ext cx="7886700" cy="4818181"/>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558AC38B-5A39-332A-B892-1C5B3FBB8588}"/>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7AA438C3-09F7-C37D-6E65-4491F577CAE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EC83835-A57E-A742-987C-C776B6ED1513}"/>
              </a:ext>
            </a:extLst>
          </p:cNvPr>
          <p:cNvSpPr>
            <a:spLocks noGrp="1"/>
          </p:cNvSpPr>
          <p:nvPr>
            <p:ph type="sldNum" sz="quarter" idx="12"/>
          </p:nvPr>
        </p:nvSpPr>
        <p:spPr/>
        <p:txBody>
          <a:bodyPr/>
          <a:lstStyle/>
          <a:p>
            <a:fld id="{81C5FB71-5E9C-41B5-9BB8-3F1EBEAEB16A}" type="slidenum">
              <a:rPr lang="ru-RU" smtClean="0"/>
              <a:t>‹#›</a:t>
            </a:fld>
            <a:endParaRPr lang="ru-RU"/>
          </a:p>
        </p:txBody>
      </p:sp>
      <p:pic>
        <p:nvPicPr>
          <p:cNvPr id="7" name="Рисунок 6">
            <a:extLst>
              <a:ext uri="{FF2B5EF4-FFF2-40B4-BE49-F238E27FC236}">
                <a16:creationId xmlns:a16="http://schemas.microsoft.com/office/drawing/2014/main" id="{FB905A05-7552-49FE-9E77-7F0D9D97E0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25065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78FF1D-6E2D-5C37-1EF9-3C33C8D4FA83}"/>
              </a:ext>
            </a:extLst>
          </p:cNvPr>
          <p:cNvSpPr>
            <a:spLocks noGrp="1"/>
          </p:cNvSpPr>
          <p:nvPr>
            <p:ph type="title"/>
          </p:nvPr>
        </p:nvSpPr>
        <p:spPr>
          <a:xfrm>
            <a:off x="623888" y="1709739"/>
            <a:ext cx="7886700" cy="2852737"/>
          </a:xfrm>
        </p:spPr>
        <p:txBody>
          <a:bodyPr anchor="b"/>
          <a:lstStyle>
            <a:lvl1pPr>
              <a:defRPr sz="4500"/>
            </a:lvl1pPr>
          </a:lstStyle>
          <a:p>
            <a:r>
              <a:rPr lang="ru-RU" dirty="0"/>
              <a:t>Образец заголовка</a:t>
            </a:r>
          </a:p>
        </p:txBody>
      </p:sp>
      <p:sp>
        <p:nvSpPr>
          <p:cNvPr id="3" name="Текст 2">
            <a:extLst>
              <a:ext uri="{FF2B5EF4-FFF2-40B4-BE49-F238E27FC236}">
                <a16:creationId xmlns:a16="http://schemas.microsoft.com/office/drawing/2014/main" id="{F0582E55-3C82-8981-AD35-5BE1CAF7810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dirty="0"/>
              <a:t>Образец текста</a:t>
            </a:r>
          </a:p>
        </p:txBody>
      </p:sp>
      <p:sp>
        <p:nvSpPr>
          <p:cNvPr id="4" name="Дата 3">
            <a:extLst>
              <a:ext uri="{FF2B5EF4-FFF2-40B4-BE49-F238E27FC236}">
                <a16:creationId xmlns:a16="http://schemas.microsoft.com/office/drawing/2014/main" id="{05C24C26-5FFB-10BC-7F6B-DD086C3D3B2F}"/>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9D785404-A40E-C6B4-B1AF-346CA25363D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FEA0686-FE00-F77C-4961-0D4916B1D1E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493748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BFC52-ACF7-50D2-B236-F3AD0C764E3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63D935F-6E1D-704A-FFD9-95880A32F611}"/>
              </a:ext>
            </a:extLst>
          </p:cNvPr>
          <p:cNvSpPr>
            <a:spLocks noGrp="1"/>
          </p:cNvSpPr>
          <p:nvPr>
            <p:ph sz="half" idx="1"/>
          </p:nvPr>
        </p:nvSpPr>
        <p:spPr>
          <a:xfrm>
            <a:off x="628650" y="1350234"/>
            <a:ext cx="3886200" cy="482672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C45F5B83-C11F-C63E-19F8-F170305E7390}"/>
              </a:ext>
            </a:extLst>
          </p:cNvPr>
          <p:cNvSpPr>
            <a:spLocks noGrp="1"/>
          </p:cNvSpPr>
          <p:nvPr>
            <p:ph sz="half" idx="2"/>
          </p:nvPr>
        </p:nvSpPr>
        <p:spPr>
          <a:xfrm>
            <a:off x="4629150" y="1350233"/>
            <a:ext cx="3886200" cy="4826730"/>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a:extLst>
              <a:ext uri="{FF2B5EF4-FFF2-40B4-BE49-F238E27FC236}">
                <a16:creationId xmlns:a16="http://schemas.microsoft.com/office/drawing/2014/main" id="{816558B0-F06F-5D3F-D4CE-12FEA6CA58DA}"/>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D5CA1470-A32E-0878-FF54-B467D373461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23D6CAE-E104-B509-30C5-5F816DC34D74}"/>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07378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662FB2-61E9-B090-DDF5-637C0F11674A}"/>
              </a:ext>
            </a:extLst>
          </p:cNvPr>
          <p:cNvSpPr>
            <a:spLocks noGrp="1"/>
          </p:cNvSpPr>
          <p:nvPr>
            <p:ph type="title"/>
          </p:nvPr>
        </p:nvSpPr>
        <p:spPr>
          <a:xfrm>
            <a:off x="629841" y="365126"/>
            <a:ext cx="78867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8B13BEC1-5CE1-39A0-5F98-DF1F88A9A1B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Объект 3">
            <a:extLst>
              <a:ext uri="{FF2B5EF4-FFF2-40B4-BE49-F238E27FC236}">
                <a16:creationId xmlns:a16="http://schemas.microsoft.com/office/drawing/2014/main" id="{7B468AB7-7222-8D12-74BF-6E3FB9D6FFE1}"/>
              </a:ext>
            </a:extLst>
          </p:cNvPr>
          <p:cNvSpPr>
            <a:spLocks noGrp="1"/>
          </p:cNvSpPr>
          <p:nvPr>
            <p:ph sz="half" idx="2"/>
          </p:nvPr>
        </p:nvSpPr>
        <p:spPr>
          <a:xfrm>
            <a:off x="629842" y="2505075"/>
            <a:ext cx="3868340" cy="368458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a:extLst>
              <a:ext uri="{FF2B5EF4-FFF2-40B4-BE49-F238E27FC236}">
                <a16:creationId xmlns:a16="http://schemas.microsoft.com/office/drawing/2014/main" id="{36F43AB0-793E-04C0-7572-90E3AE8BD6E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Объект 5">
            <a:extLst>
              <a:ext uri="{FF2B5EF4-FFF2-40B4-BE49-F238E27FC236}">
                <a16:creationId xmlns:a16="http://schemas.microsoft.com/office/drawing/2014/main" id="{23145C1A-E56D-D9A4-49F4-0E7DE8CF2B49}"/>
              </a:ext>
            </a:extLst>
          </p:cNvPr>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740FE84-A485-926E-EB2F-9B3A823DB8E8}"/>
              </a:ext>
            </a:extLst>
          </p:cNvPr>
          <p:cNvSpPr>
            <a:spLocks noGrp="1"/>
          </p:cNvSpPr>
          <p:nvPr>
            <p:ph type="dt" sz="half" idx="10"/>
          </p:nvPr>
        </p:nvSpPr>
        <p:spPr/>
        <p:txBody>
          <a:bodyPr/>
          <a:lstStyle/>
          <a:p>
            <a:endParaRPr lang="ru-RU"/>
          </a:p>
        </p:txBody>
      </p:sp>
      <p:sp>
        <p:nvSpPr>
          <p:cNvPr id="8" name="Нижний колонтитул 7">
            <a:extLst>
              <a:ext uri="{FF2B5EF4-FFF2-40B4-BE49-F238E27FC236}">
                <a16:creationId xmlns:a16="http://schemas.microsoft.com/office/drawing/2014/main" id="{4ADDA50C-CC20-F389-1487-E639ADD36B0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EDB0A96-E301-1128-9118-CB1ADB6AF5BF}"/>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71738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F0D036-AD2A-1CBA-C6F3-7B4578499C9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C548B4E-17C4-CF0D-4E01-1DC835F2F11A}"/>
              </a:ext>
            </a:extLst>
          </p:cNvPr>
          <p:cNvSpPr>
            <a:spLocks noGrp="1"/>
          </p:cNvSpPr>
          <p:nvPr>
            <p:ph type="dt" sz="half" idx="10"/>
          </p:nvPr>
        </p:nvSpPr>
        <p:spPr/>
        <p:txBody>
          <a:bodyPr/>
          <a:lstStyle/>
          <a:p>
            <a:endParaRPr lang="ru-RU"/>
          </a:p>
        </p:txBody>
      </p:sp>
      <p:sp>
        <p:nvSpPr>
          <p:cNvPr id="4" name="Нижний колонтитул 3">
            <a:extLst>
              <a:ext uri="{FF2B5EF4-FFF2-40B4-BE49-F238E27FC236}">
                <a16:creationId xmlns:a16="http://schemas.microsoft.com/office/drawing/2014/main" id="{05E4C0D2-8219-4FB3-36A6-B7D7FBAE007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480AC24-E8CC-84DB-8B56-18C72FA88379}"/>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4279817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828864F-9629-DBDC-6AA3-5D97BFEFB2E4}"/>
              </a:ext>
            </a:extLst>
          </p:cNvPr>
          <p:cNvSpPr>
            <a:spLocks noGrp="1"/>
          </p:cNvSpPr>
          <p:nvPr>
            <p:ph type="dt" sz="half" idx="10"/>
          </p:nvPr>
        </p:nvSpPr>
        <p:spPr/>
        <p:txBody>
          <a:bodyPr/>
          <a:lstStyle/>
          <a:p>
            <a:endParaRPr lang="ru-RU"/>
          </a:p>
        </p:txBody>
      </p:sp>
      <p:sp>
        <p:nvSpPr>
          <p:cNvPr id="3" name="Нижний колонтитул 2">
            <a:extLst>
              <a:ext uri="{FF2B5EF4-FFF2-40B4-BE49-F238E27FC236}">
                <a16:creationId xmlns:a16="http://schemas.microsoft.com/office/drawing/2014/main" id="{E5DC655F-3247-CCB5-ACC2-F50126E46CE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322E155-6080-BCFA-E59A-34FCD9CD2F0C}"/>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802324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ABC904-DE7E-1195-CDF6-0A530BBDF000}"/>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Объект 2">
            <a:extLst>
              <a:ext uri="{FF2B5EF4-FFF2-40B4-BE49-F238E27FC236}">
                <a16:creationId xmlns:a16="http://schemas.microsoft.com/office/drawing/2014/main" id="{EABC21CB-E5B3-D11E-2E38-ECCD7B0B1D0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5E67837-24BE-30FB-FD14-64C3E801CD2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76F30326-BFB0-8F27-BDF9-353C631FD3D0}"/>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538C1939-F636-863E-84C1-530A04A8AFB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153206C-50B3-2EDC-8517-7704146F07EB}"/>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3098352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0F850-BF2A-5E90-C014-05D89F8466AC}"/>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p>
        </p:txBody>
      </p:sp>
      <p:sp>
        <p:nvSpPr>
          <p:cNvPr id="3" name="Рисунок 2">
            <a:extLst>
              <a:ext uri="{FF2B5EF4-FFF2-40B4-BE49-F238E27FC236}">
                <a16:creationId xmlns:a16="http://schemas.microsoft.com/office/drawing/2014/main" id="{65ED2E89-03E3-6279-B0B8-5B70A09CD47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a:p>
        </p:txBody>
      </p:sp>
      <p:sp>
        <p:nvSpPr>
          <p:cNvPr id="4" name="Текст 3">
            <a:extLst>
              <a:ext uri="{FF2B5EF4-FFF2-40B4-BE49-F238E27FC236}">
                <a16:creationId xmlns:a16="http://schemas.microsoft.com/office/drawing/2014/main" id="{688B8B21-B9FB-6209-49AE-287EA61C5CA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03AF0344-3C4D-162C-D2C6-3EC83808A152}"/>
              </a:ext>
            </a:extLst>
          </p:cNvPr>
          <p:cNvSpPr>
            <a:spLocks noGrp="1"/>
          </p:cNvSpPr>
          <p:nvPr>
            <p:ph type="dt" sz="half" idx="10"/>
          </p:nvPr>
        </p:nvSpPr>
        <p:spPr/>
        <p:txBody>
          <a:bodyPr/>
          <a:lstStyle/>
          <a:p>
            <a:endParaRPr lang="ru-RU"/>
          </a:p>
        </p:txBody>
      </p:sp>
      <p:sp>
        <p:nvSpPr>
          <p:cNvPr id="6" name="Нижний колонтитул 5">
            <a:extLst>
              <a:ext uri="{FF2B5EF4-FFF2-40B4-BE49-F238E27FC236}">
                <a16:creationId xmlns:a16="http://schemas.microsoft.com/office/drawing/2014/main" id="{F531DDED-EC2F-5D31-C4FB-58BF1C1C65E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A915E6D-61CA-F55A-221D-E7DDED9F27AE}"/>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2829864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2E7370-4728-F9E8-C914-18F0F1D5ADDF}"/>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0939D510-D502-390D-92B5-3838FC4CC0D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C79971B-94C9-FEEC-4C09-AC621444383B}"/>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B9135BFA-5492-23C4-E6A2-1A5B50DB849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F740CD-9E9E-D419-05AF-685E0B4E5908}"/>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611975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703B8D4-FFFB-51BC-0095-F6912432DD2C}"/>
              </a:ext>
            </a:extLst>
          </p:cNvPr>
          <p:cNvSpPr>
            <a:spLocks noGrp="1"/>
          </p:cNvSpPr>
          <p:nvPr>
            <p:ph type="title" orient="vert"/>
          </p:nvPr>
        </p:nvSpPr>
        <p:spPr>
          <a:xfrm>
            <a:off x="6543675" y="365125"/>
            <a:ext cx="1971675"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EE6D829-078B-B5F1-ADE1-33C94626B733}"/>
              </a:ext>
            </a:extLst>
          </p:cNvPr>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FE88C0-8BC2-47C8-E4DC-B700D95EBC03}"/>
              </a:ext>
            </a:extLst>
          </p:cNvPr>
          <p:cNvSpPr>
            <a:spLocks noGrp="1"/>
          </p:cNvSpPr>
          <p:nvPr>
            <p:ph type="dt" sz="half" idx="10"/>
          </p:nvPr>
        </p:nvSpPr>
        <p:spPr/>
        <p:txBody>
          <a:bodyPr/>
          <a:lstStyle/>
          <a:p>
            <a:endParaRPr lang="ru-RU"/>
          </a:p>
        </p:txBody>
      </p:sp>
      <p:sp>
        <p:nvSpPr>
          <p:cNvPr id="5" name="Нижний колонтитул 4">
            <a:extLst>
              <a:ext uri="{FF2B5EF4-FFF2-40B4-BE49-F238E27FC236}">
                <a16:creationId xmlns:a16="http://schemas.microsoft.com/office/drawing/2014/main" id="{8A85BF16-D79D-ED36-0BF9-885AFC7FB32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41666F3-33E7-6CB8-C181-1FE2342AAC90}"/>
              </a:ext>
            </a:extLst>
          </p:cNvPr>
          <p:cNvSpPr>
            <a:spLocks noGrp="1"/>
          </p:cNvSpPr>
          <p:nvPr>
            <p:ph type="sldNum" sz="quarter" idx="12"/>
          </p:nvPr>
        </p:nvSpPr>
        <p:spPr/>
        <p:txBody>
          <a:bodyPr/>
          <a:lstStyle/>
          <a:p>
            <a:fld id="{81C5FB71-5E9C-41B5-9BB8-3F1EBEAEB16A}" type="slidenum">
              <a:rPr lang="ru-RU" smtClean="0"/>
              <a:t>‹#›</a:t>
            </a:fld>
            <a:endParaRPr lang="ru-RU"/>
          </a:p>
        </p:txBody>
      </p:sp>
    </p:spTree>
    <p:extLst>
      <p:ext uri="{BB962C8B-B14F-4D97-AF65-F5344CB8AC3E}">
        <p14:creationId xmlns:p14="http://schemas.microsoft.com/office/powerpoint/2010/main" val="1302828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46834" y="212652"/>
            <a:ext cx="8412133" cy="2472070"/>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Название дисциплины</a:t>
            </a:r>
          </a:p>
        </p:txBody>
      </p:sp>
      <p:sp>
        <p:nvSpPr>
          <p:cNvPr id="6" name="Текст 4">
            <a:extLst>
              <a:ext uri="{FF2B5EF4-FFF2-40B4-BE49-F238E27FC236}">
                <a16:creationId xmlns:a16="http://schemas.microsoft.com/office/drawing/2014/main" id="{243EB0EA-B14F-4F7C-A662-195D09977AC2}"/>
              </a:ext>
            </a:extLst>
          </p:cNvPr>
          <p:cNvSpPr>
            <a:spLocks noGrp="1"/>
          </p:cNvSpPr>
          <p:nvPr>
            <p:ph type="body" sz="quarter" idx="11" hasCustomPrompt="1"/>
          </p:nvPr>
        </p:nvSpPr>
        <p:spPr>
          <a:xfrm>
            <a:off x="646833" y="4433107"/>
            <a:ext cx="8412133" cy="689986"/>
          </a:xfrm>
          <a:prstGeom prst="rect">
            <a:avLst/>
          </a:prstGeom>
        </p:spPr>
        <p:txBody>
          <a:bodyPr/>
          <a:lstStyle>
            <a:lvl1pPr marL="0" indent="0" algn="r">
              <a:buNone/>
              <a:defRPr sz="30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ФИО лектора</a:t>
            </a:r>
          </a:p>
        </p:txBody>
      </p:sp>
      <p:sp>
        <p:nvSpPr>
          <p:cNvPr id="8" name="Текст 4">
            <a:extLst>
              <a:ext uri="{FF2B5EF4-FFF2-40B4-BE49-F238E27FC236}">
                <a16:creationId xmlns:a16="http://schemas.microsoft.com/office/drawing/2014/main" id="{6657CA8C-522E-4429-B65F-6D6FE560E4B1}"/>
              </a:ext>
            </a:extLst>
          </p:cNvPr>
          <p:cNvSpPr>
            <a:spLocks noGrp="1"/>
          </p:cNvSpPr>
          <p:nvPr>
            <p:ph type="body" sz="quarter" idx="13" hasCustomPrompt="1"/>
          </p:nvPr>
        </p:nvSpPr>
        <p:spPr>
          <a:xfrm>
            <a:off x="646832" y="6034875"/>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Контактный </a:t>
            </a:r>
            <a:r>
              <a:rPr lang="en-US" dirty="0"/>
              <a:t>e-mail</a:t>
            </a:r>
            <a:endParaRPr lang="ru-RU" dirty="0"/>
          </a:p>
        </p:txBody>
      </p:sp>
      <p:sp>
        <p:nvSpPr>
          <p:cNvPr id="9" name="Текст 4">
            <a:extLst>
              <a:ext uri="{FF2B5EF4-FFF2-40B4-BE49-F238E27FC236}">
                <a16:creationId xmlns:a16="http://schemas.microsoft.com/office/drawing/2014/main" id="{7D9F4617-139A-49F3-B340-15C00D7D3994}"/>
              </a:ext>
            </a:extLst>
          </p:cNvPr>
          <p:cNvSpPr>
            <a:spLocks noGrp="1"/>
          </p:cNvSpPr>
          <p:nvPr>
            <p:ph type="body" sz="quarter" idx="14" hasCustomPrompt="1"/>
          </p:nvPr>
        </p:nvSpPr>
        <p:spPr>
          <a:xfrm>
            <a:off x="646833" y="5344889"/>
            <a:ext cx="8412133" cy="513908"/>
          </a:xfrm>
          <a:prstGeom prst="rect">
            <a:avLst/>
          </a:prstGeom>
        </p:spPr>
        <p:txBody>
          <a:bodyPr/>
          <a:lstStyle>
            <a:lvl1pPr marL="0" indent="0" algn="r">
              <a:buNone/>
              <a:defRPr sz="1500" b="0" cap="none" spc="0">
                <a:ln w="0"/>
                <a:solidFill>
                  <a:schemeClr val="tx1"/>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defRPr>
            </a:lvl1pPr>
          </a:lstStyle>
          <a:p>
            <a:pPr lvl="0"/>
            <a:r>
              <a:rPr lang="ru-RU" dirty="0"/>
              <a:t>Звание, должность, место работы</a:t>
            </a:r>
          </a:p>
        </p:txBody>
      </p:sp>
      <p:sp>
        <p:nvSpPr>
          <p:cNvPr id="3" name="Прямоугольник 2"/>
          <p:cNvSpPr/>
          <p:nvPr userDrawn="1"/>
        </p:nvSpPr>
        <p:spPr>
          <a:xfrm>
            <a:off x="6952895" y="5800782"/>
            <a:ext cx="2106069" cy="4571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latin typeface="Calibri" panose="020F0502020204030204" pitchFamily="34" charset="0"/>
              <a:cs typeface="Calibri" panose="020F0502020204030204" pitchFamily="34" charset="0"/>
            </a:endParaRPr>
          </a:p>
        </p:txBody>
      </p:sp>
      <p:pic>
        <p:nvPicPr>
          <p:cNvPr id="10" name="Рисунок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18798989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лектор слева">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A1E5457D-1A65-4814-B82B-2C09539FDD7D}"/>
              </a:ext>
            </a:extLst>
          </p:cNvPr>
          <p:cNvSpPr>
            <a:spLocks noGrp="1"/>
          </p:cNvSpPr>
          <p:nvPr>
            <p:ph type="body" sz="quarter" idx="10" hasCustomPrompt="1"/>
          </p:nvPr>
        </p:nvSpPr>
        <p:spPr>
          <a:xfrm>
            <a:off x="670214" y="212653"/>
            <a:ext cx="8388753" cy="1161898"/>
          </a:xfrm>
          <a:prstGeom prst="rect">
            <a:avLst/>
          </a:prstGeom>
        </p:spPr>
        <p:txBody>
          <a:bodyPr/>
          <a:lstStyle>
            <a:lvl1pPr marL="0" indent="0" algn="ctr">
              <a:buNone/>
              <a:defRPr sz="4050" b="0" cap="none" spc="0">
                <a:ln w="0"/>
                <a:solidFill>
                  <a:schemeClr val="tx1"/>
                </a:solidFill>
                <a:effectLst>
                  <a:outerShdw blurRad="38100" dist="19050" dir="2700000" algn="tl" rotWithShape="0">
                    <a:schemeClr val="dk1">
                      <a:alpha val="40000"/>
                    </a:schemeClr>
                  </a:outerShdw>
                </a:effectLst>
              </a:defRPr>
            </a:lvl1pPr>
          </a:lstStyle>
          <a:p>
            <a:pPr lvl="0"/>
            <a:r>
              <a:rPr lang="ru-RU" dirty="0"/>
              <a:t>Название слайда</a:t>
            </a:r>
          </a:p>
        </p:txBody>
      </p:sp>
      <p:sp>
        <p:nvSpPr>
          <p:cNvPr id="4" name="Текст 3">
            <a:extLst>
              <a:ext uri="{FF2B5EF4-FFF2-40B4-BE49-F238E27FC236}">
                <a16:creationId xmlns:a16="http://schemas.microsoft.com/office/drawing/2014/main" id="{6EAB95B9-19B9-409F-B0C0-80242AEA1C51}"/>
              </a:ext>
            </a:extLst>
          </p:cNvPr>
          <p:cNvSpPr>
            <a:spLocks noGrp="1"/>
          </p:cNvSpPr>
          <p:nvPr>
            <p:ph type="body" sz="quarter" idx="11"/>
          </p:nvPr>
        </p:nvSpPr>
        <p:spPr>
          <a:xfrm>
            <a:off x="670214" y="1830183"/>
            <a:ext cx="8388753" cy="4487862"/>
          </a:xfrm>
          <a:prstGeom prst="rect">
            <a:avLst/>
          </a:prstGeom>
        </p:spPr>
        <p:txBody>
          <a:bodyPr/>
          <a:lstStyle>
            <a:lvl1pPr>
              <a:defRPr sz="2700"/>
            </a:lvl1pPr>
            <a:lvl2pPr>
              <a:defRPr sz="2400"/>
            </a:lvl2pPr>
            <a:lvl3pPr>
              <a:defRPr sz="1800"/>
            </a:lvl3pPr>
            <a:lvl4pPr>
              <a:defRPr sz="1500"/>
            </a:lvl4pPr>
            <a:lvl5pPr>
              <a:defRPr sz="1500"/>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pic>
        <p:nvPicPr>
          <p:cNvPr id="6" name="Рисунок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06695591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лектор слева">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4014844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лектор в центре">
    <p:spTree>
      <p:nvGrpSpPr>
        <p:cNvPr id="1" name=""/>
        <p:cNvGrpSpPr/>
        <p:nvPr/>
      </p:nvGrpSpPr>
      <p:grpSpPr>
        <a:xfrm>
          <a:off x="0" y="0"/>
          <a:ext cx="0" cy="0"/>
          <a:chOff x="0" y="0"/>
          <a:chExt cx="0" cy="0"/>
        </a:xfrm>
      </p:grpSpPr>
      <p:pic>
        <p:nvPicPr>
          <p:cNvPr id="3" name="Рисунок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15261915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лектор справа">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414758807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без лектора">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2998224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титульный лист">
    <p:spTree>
      <p:nvGrpSpPr>
        <p:cNvPr id="1" name=""/>
        <p:cNvGrpSpPr/>
        <p:nvPr/>
      </p:nvGrpSpPr>
      <p:grpSpPr>
        <a:xfrm>
          <a:off x="0" y="0"/>
          <a:ext cx="0" cy="0"/>
          <a:chOff x="0" y="0"/>
          <a:chExt cx="0" cy="0"/>
        </a:xfrm>
      </p:grpSpPr>
      <p:pic>
        <p:nvPicPr>
          <p:cNvPr id="4" name="Рисунок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4026837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3F0DFB-F6BC-AF29-BE7E-4E3216FC72C1}"/>
              </a:ext>
            </a:extLst>
          </p:cNvPr>
          <p:cNvSpPr>
            <a:spLocks noGrp="1"/>
          </p:cNvSpPr>
          <p:nvPr>
            <p:ph type="title"/>
          </p:nvPr>
        </p:nvSpPr>
        <p:spPr>
          <a:xfrm>
            <a:off x="628650" y="70791"/>
            <a:ext cx="7886700" cy="1100056"/>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AC8C1FDE-157F-0CF9-6678-361FB41BEF8F}"/>
              </a:ext>
            </a:extLst>
          </p:cNvPr>
          <p:cNvSpPr>
            <a:spLocks noGrp="1"/>
          </p:cNvSpPr>
          <p:nvPr>
            <p:ph type="body" idx="1"/>
          </p:nvPr>
        </p:nvSpPr>
        <p:spPr>
          <a:xfrm>
            <a:off x="628650" y="1350236"/>
            <a:ext cx="7886700" cy="4826727"/>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EEFCC27C-378E-A92F-E57E-3D7AA4E23E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7D90D05E-2ECB-3FE6-00DA-ABD9FD37424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050">
                <a:solidFill>
                  <a:schemeClr val="tx1">
                    <a:tint val="75000"/>
                  </a:schemeClr>
                </a:solidFill>
              </a:defRPr>
            </a:lvl1pPr>
          </a:lstStyle>
          <a:p>
            <a:endParaRPr lang="ru-RU" dirty="0"/>
          </a:p>
        </p:txBody>
      </p:sp>
      <p:sp>
        <p:nvSpPr>
          <p:cNvPr id="6" name="Номер слайда 5">
            <a:extLst>
              <a:ext uri="{FF2B5EF4-FFF2-40B4-BE49-F238E27FC236}">
                <a16:creationId xmlns:a16="http://schemas.microsoft.com/office/drawing/2014/main" id="{99280FC2-FB5C-C830-013D-02D6917C456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500">
                <a:solidFill>
                  <a:schemeClr val="tx1">
                    <a:tint val="75000"/>
                  </a:schemeClr>
                </a:solidFill>
              </a:defRPr>
            </a:lvl1pPr>
          </a:lstStyle>
          <a:p>
            <a:fld id="{81C5FB71-5E9C-41B5-9BB8-3F1EBEAEB16A}" type="slidenum">
              <a:rPr lang="ru-RU" smtClean="0"/>
              <a:pPr/>
              <a:t>‹#›</a:t>
            </a:fld>
            <a:endParaRPr lang="ru-RU" dirty="0"/>
          </a:p>
        </p:txBody>
      </p:sp>
      <p:pic>
        <p:nvPicPr>
          <p:cNvPr id="7" name="Рисунок 6">
            <a:extLst>
              <a:ext uri="{FF2B5EF4-FFF2-40B4-BE49-F238E27FC236}">
                <a16:creationId xmlns:a16="http://schemas.microsoft.com/office/drawing/2014/main" id="{EEDEDD01-40D1-3A00-9058-486237677F41}"/>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66367" y="70793"/>
            <a:ext cx="480272" cy="707923"/>
          </a:xfrm>
          <a:prstGeom prst="rect">
            <a:avLst/>
          </a:prstGeom>
        </p:spPr>
      </p:pic>
    </p:spTree>
    <p:extLst>
      <p:ext uri="{BB962C8B-B14F-4D97-AF65-F5344CB8AC3E}">
        <p14:creationId xmlns:p14="http://schemas.microsoft.com/office/powerpoint/2010/main" val="60413021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hf hdr="0" dt="0"/>
  <p:txStyles>
    <p:titleStyle>
      <a:lvl1pPr algn="l" defTabSz="685800" rtl="0" eaLnBrk="1" latinLnBrk="0" hangingPunct="1">
        <a:lnSpc>
          <a:spcPct val="90000"/>
        </a:lnSpc>
        <a:spcBef>
          <a:spcPct val="0"/>
        </a:spcBef>
        <a:buNone/>
        <a:defRPr sz="2700" b="1"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urchenkov@mirea.ru"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mailto:qwerty29544@gmail.com"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scikit-learn.org/stable/modules/ensemble.html#adaboost"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scikit-learn.org/stable/modules/generated/sklearn.ensemble.AdaBoostRegressor.html#adaboostregressor" TargetMode="External"/><Relationship Id="rId2" Type="http://schemas.openxmlformats.org/officeDocument/2006/relationships/hyperlink" Target="https://scikit-learn.org/stable/modules/generated/sklearn.ensemble.AdaBoostClassifier.html#adaboostclassifier"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scikit-learn.org/stable/modules/generated/sklearn.ensemble.AdaBoostRegressor.html#adaboostregressor" TargetMode="External"/><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scikit-learn.org/stable/modules/generated/sklearn.datasets.make_regression.html"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02A7036-67AC-4B6E-933D-0EBEFC2F148D}"/>
              </a:ext>
            </a:extLst>
          </p:cNvPr>
          <p:cNvSpPr>
            <a:spLocks noGrp="1"/>
          </p:cNvSpPr>
          <p:nvPr>
            <p:ph type="body" sz="quarter" idx="10"/>
          </p:nvPr>
        </p:nvSpPr>
        <p:spPr/>
        <p:txBody>
          <a:bodyPr/>
          <a:lstStyle/>
          <a:p>
            <a:r>
              <a:rPr lang="ru-RU" dirty="0"/>
              <a:t>Технологии и инструментарий анализа больших данных</a:t>
            </a:r>
          </a:p>
        </p:txBody>
      </p:sp>
      <p:sp>
        <p:nvSpPr>
          <p:cNvPr id="4" name="Текст 3">
            <a:extLst>
              <a:ext uri="{FF2B5EF4-FFF2-40B4-BE49-F238E27FC236}">
                <a16:creationId xmlns:a16="http://schemas.microsoft.com/office/drawing/2014/main" id="{4304D1FC-3C2B-40AC-AC46-5ADB2B78FD76}"/>
              </a:ext>
            </a:extLst>
          </p:cNvPr>
          <p:cNvSpPr>
            <a:spLocks noGrp="1"/>
          </p:cNvSpPr>
          <p:nvPr>
            <p:ph type="body" sz="quarter" idx="11"/>
          </p:nvPr>
        </p:nvSpPr>
        <p:spPr>
          <a:xfrm>
            <a:off x="675407" y="4419600"/>
            <a:ext cx="8412133" cy="689986"/>
          </a:xfrm>
        </p:spPr>
        <p:txBody>
          <a:bodyPr/>
          <a:lstStyle/>
          <a:p>
            <a:r>
              <a:rPr lang="ru-RU" dirty="0"/>
              <a:t>Юрченков Иван Александрович</a:t>
            </a:r>
          </a:p>
        </p:txBody>
      </p:sp>
      <p:sp>
        <p:nvSpPr>
          <p:cNvPr id="5" name="Текст 4">
            <a:extLst>
              <a:ext uri="{FF2B5EF4-FFF2-40B4-BE49-F238E27FC236}">
                <a16:creationId xmlns:a16="http://schemas.microsoft.com/office/drawing/2014/main" id="{85920733-DC10-4100-9E5C-5EBB2D00AEC4}"/>
              </a:ext>
            </a:extLst>
          </p:cNvPr>
          <p:cNvSpPr>
            <a:spLocks noGrp="1"/>
          </p:cNvSpPr>
          <p:nvPr>
            <p:ph type="body" sz="quarter" idx="13"/>
          </p:nvPr>
        </p:nvSpPr>
        <p:spPr/>
        <p:txBody>
          <a:bodyPr/>
          <a:lstStyle/>
          <a:p>
            <a:r>
              <a:rPr lang="en-US" dirty="0">
                <a:hlinkClick r:id="rId3"/>
              </a:rPr>
              <a:t>Yurchenkov@mirea.ru</a:t>
            </a:r>
            <a:r>
              <a:rPr lang="en-US" dirty="0"/>
              <a:t>	</a:t>
            </a:r>
            <a:r>
              <a:rPr lang="en-US" dirty="0">
                <a:hlinkClick r:id="rId4"/>
              </a:rPr>
              <a:t>qwerty29544@gmail.com</a:t>
            </a:r>
            <a:r>
              <a:rPr lang="en-US" dirty="0"/>
              <a:t> 	</a:t>
            </a:r>
            <a:r>
              <a:rPr lang="en-US" dirty="0" err="1"/>
              <a:t>tg</a:t>
            </a:r>
            <a:r>
              <a:rPr lang="en-US" dirty="0"/>
              <a:t>:</a:t>
            </a:r>
            <a:r>
              <a:rPr lang="ru-RU" dirty="0"/>
              <a:t> </a:t>
            </a:r>
            <a:r>
              <a:rPr lang="en-US" dirty="0"/>
              <a:t>@ivanyurchenkov</a:t>
            </a:r>
            <a:endParaRPr lang="ru-RU" dirty="0"/>
          </a:p>
        </p:txBody>
      </p:sp>
      <p:sp>
        <p:nvSpPr>
          <p:cNvPr id="6" name="Текст 5">
            <a:extLst>
              <a:ext uri="{FF2B5EF4-FFF2-40B4-BE49-F238E27FC236}">
                <a16:creationId xmlns:a16="http://schemas.microsoft.com/office/drawing/2014/main" id="{936B0D40-C816-44EC-A3D6-5CA90F8CE9F3}"/>
              </a:ext>
            </a:extLst>
          </p:cNvPr>
          <p:cNvSpPr>
            <a:spLocks noGrp="1"/>
          </p:cNvSpPr>
          <p:nvPr>
            <p:ph type="body" sz="quarter" idx="14"/>
          </p:nvPr>
        </p:nvSpPr>
        <p:spPr/>
        <p:txBody>
          <a:bodyPr/>
          <a:lstStyle/>
          <a:p>
            <a:r>
              <a:rPr lang="ru-RU" dirty="0"/>
              <a:t>Старший преподаватель кафедры прикладной математики ИИТ</a:t>
            </a:r>
          </a:p>
        </p:txBody>
      </p:sp>
    </p:spTree>
    <p:extLst>
      <p:ext uri="{BB962C8B-B14F-4D97-AF65-F5344CB8AC3E}">
        <p14:creationId xmlns:p14="http://schemas.microsoft.com/office/powerpoint/2010/main" val="1391173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1B725C7C-1A33-D3B6-C8C0-BB5D3E01856E}"/>
              </a:ext>
            </a:extLst>
          </p:cNvPr>
          <p:cNvSpPr>
            <a:spLocks noGrp="1"/>
          </p:cNvSpPr>
          <p:nvPr>
            <p:ph type="title"/>
          </p:nvPr>
        </p:nvSpPr>
        <p:spPr>
          <a:xfrm>
            <a:off x="628650" y="910344"/>
            <a:ext cx="7886700" cy="942625"/>
          </a:xfrm>
        </p:spPr>
        <p:txBody>
          <a:bodyPr>
            <a:noAutofit/>
          </a:bodyPr>
          <a:lstStyle/>
          <a:p>
            <a:pPr algn="ctr"/>
            <a:r>
              <a:rPr lang="ru-RU" dirty="0">
                <a:latin typeface="+mn-lt"/>
              </a:rPr>
              <a:t>Лекция №</a:t>
            </a:r>
            <a:r>
              <a:rPr lang="en-US" dirty="0">
                <a:latin typeface="+mn-lt"/>
              </a:rPr>
              <a:t>7</a:t>
            </a:r>
            <a:r>
              <a:rPr lang="ru-RU" dirty="0">
                <a:latin typeface="+mn-lt"/>
              </a:rPr>
              <a:t>. </a:t>
            </a:r>
            <a:r>
              <a:rPr lang="ru-RU" dirty="0"/>
              <a:t>Ансамблевое обучение</a:t>
            </a:r>
            <a:endParaRPr lang="ru-RU" dirty="0">
              <a:latin typeface="+mn-lt"/>
            </a:endParaRPr>
          </a:p>
        </p:txBody>
      </p:sp>
      <p:sp>
        <p:nvSpPr>
          <p:cNvPr id="7" name="Номер слайда 6">
            <a:extLst>
              <a:ext uri="{FF2B5EF4-FFF2-40B4-BE49-F238E27FC236}">
                <a16:creationId xmlns:a16="http://schemas.microsoft.com/office/drawing/2014/main" id="{03F8E211-449D-C68C-8389-CD803EC9EDAA}"/>
              </a:ext>
            </a:extLst>
          </p:cNvPr>
          <p:cNvSpPr>
            <a:spLocks noGrp="1"/>
          </p:cNvSpPr>
          <p:nvPr>
            <p:ph type="sldNum" sz="quarter" idx="12"/>
          </p:nvPr>
        </p:nvSpPr>
        <p:spPr/>
        <p:txBody>
          <a:bodyPr/>
          <a:lstStyle/>
          <a:p>
            <a:pPr defTabSz="685783" rtl="0"/>
            <a:fld id="{81C5FB71-5E9C-41B5-9BB8-3F1EBEAEB16A}" type="slidenum">
              <a:rPr lang="ru-RU" kern="1200" smtClean="0">
                <a:solidFill>
                  <a:prstClr val="black">
                    <a:tint val="75000"/>
                  </a:prstClr>
                </a:solidFill>
                <a:latin typeface="Calibri" panose="020F0502020204030204"/>
                <a:ea typeface="+mn-ea"/>
                <a:cs typeface="+mn-cs"/>
              </a:rPr>
              <a:pPr defTabSz="685783" rtl="0"/>
              <a:t>2</a:t>
            </a:fld>
            <a:endParaRPr lang="ru-RU" kern="1200" dirty="0">
              <a:solidFill>
                <a:prstClr val="black">
                  <a:tint val="75000"/>
                </a:prstClr>
              </a:solidFill>
              <a:latin typeface="Calibri" panose="020F0502020204030204"/>
              <a:ea typeface="+mn-ea"/>
              <a:cs typeface="+mn-cs"/>
            </a:endParaRPr>
          </a:p>
        </p:txBody>
      </p:sp>
      <p:sp>
        <p:nvSpPr>
          <p:cNvPr id="4" name="Нижний колонтитул 3">
            <a:extLst>
              <a:ext uri="{FF2B5EF4-FFF2-40B4-BE49-F238E27FC236}">
                <a16:creationId xmlns:a16="http://schemas.microsoft.com/office/drawing/2014/main" id="{E8952643-8B4F-47D3-9D67-B26A3ECB68E7}"/>
              </a:ext>
            </a:extLst>
          </p:cNvPr>
          <p:cNvSpPr>
            <a:spLocks noGrp="1"/>
          </p:cNvSpPr>
          <p:nvPr>
            <p:ph type="ftr" sz="quarter" idx="11"/>
          </p:nvPr>
        </p:nvSpPr>
        <p:spPr/>
        <p:txBody>
          <a:bodyPr/>
          <a:lstStyle/>
          <a:p>
            <a:endParaRPr lang="ru-RU"/>
          </a:p>
        </p:txBody>
      </p:sp>
      <p:sp>
        <p:nvSpPr>
          <p:cNvPr id="8" name="Объект 7">
            <a:extLst>
              <a:ext uri="{FF2B5EF4-FFF2-40B4-BE49-F238E27FC236}">
                <a16:creationId xmlns:a16="http://schemas.microsoft.com/office/drawing/2014/main" id="{220B1964-8E5E-4D59-8C01-BF398FDDBA98}"/>
              </a:ext>
            </a:extLst>
          </p:cNvPr>
          <p:cNvSpPr>
            <a:spLocks noGrp="1"/>
          </p:cNvSpPr>
          <p:nvPr>
            <p:ph idx="1"/>
          </p:nvPr>
        </p:nvSpPr>
        <p:spPr>
          <a:xfrm>
            <a:off x="628650" y="2057400"/>
            <a:ext cx="7886700" cy="4119563"/>
          </a:xfrm>
        </p:spPr>
        <p:txBody>
          <a:bodyPr>
            <a:normAutofit/>
          </a:bodyPr>
          <a:lstStyle/>
          <a:p>
            <a:pPr marL="457200" indent="-457200">
              <a:buFont typeface="+mj-lt"/>
              <a:buAutoNum type="arabicPeriod"/>
            </a:pPr>
            <a:r>
              <a:rPr lang="ru-RU" sz="2400" dirty="0"/>
              <a:t>Ансамбль</a:t>
            </a:r>
          </a:p>
          <a:p>
            <a:pPr marL="457200" indent="-457200">
              <a:buFont typeface="+mj-lt"/>
              <a:buAutoNum type="arabicPeriod"/>
            </a:pPr>
            <a:r>
              <a:rPr lang="ru-RU" sz="2400" dirty="0"/>
              <a:t>Методы</a:t>
            </a:r>
          </a:p>
          <a:p>
            <a:pPr marL="457200" indent="-457200">
              <a:buFont typeface="+mj-lt"/>
              <a:buAutoNum type="arabicPeriod"/>
            </a:pPr>
            <a:r>
              <a:rPr lang="ru-RU" sz="2400" dirty="0" err="1"/>
              <a:t>Бэггинг</a:t>
            </a:r>
            <a:endParaRPr lang="ru-RU" sz="2400" dirty="0"/>
          </a:p>
          <a:p>
            <a:pPr marL="457200" indent="-457200">
              <a:buFont typeface="+mj-lt"/>
              <a:buAutoNum type="arabicPeriod"/>
            </a:pPr>
            <a:r>
              <a:rPr lang="ru-RU" sz="2400" dirty="0"/>
              <a:t>Случайные леса</a:t>
            </a:r>
          </a:p>
          <a:p>
            <a:pPr marL="457200" indent="-457200">
              <a:buFont typeface="+mj-lt"/>
              <a:buAutoNum type="arabicPeriod"/>
            </a:pPr>
            <a:r>
              <a:rPr lang="ru-RU" sz="2400" dirty="0" err="1"/>
              <a:t>Бустинг</a:t>
            </a:r>
            <a:endParaRPr lang="ru-RU" sz="2400" dirty="0"/>
          </a:p>
          <a:p>
            <a:pPr marL="457200" indent="-457200">
              <a:buFont typeface="+mj-lt"/>
              <a:buAutoNum type="arabicPeriod"/>
            </a:pPr>
            <a:r>
              <a:rPr lang="en-US" sz="2400" dirty="0"/>
              <a:t>AdaBoost</a:t>
            </a:r>
          </a:p>
          <a:p>
            <a:pPr marL="457200" indent="-457200">
              <a:buFont typeface="+mj-lt"/>
              <a:buAutoNum type="arabicPeriod"/>
            </a:pPr>
            <a:r>
              <a:rPr lang="en-US" sz="2400" dirty="0"/>
              <a:t>GBM</a:t>
            </a:r>
            <a:endParaRPr lang="ru-RU" sz="2400" dirty="0"/>
          </a:p>
          <a:p>
            <a:pPr marL="457200" indent="-457200">
              <a:buFont typeface="+mj-lt"/>
              <a:buAutoNum type="arabicPeriod"/>
            </a:pPr>
            <a:r>
              <a:rPr lang="en-US" sz="2400" dirty="0" err="1"/>
              <a:t>XGBoost</a:t>
            </a:r>
            <a:r>
              <a:rPr lang="en-US" sz="2400" dirty="0"/>
              <a:t>, </a:t>
            </a:r>
            <a:r>
              <a:rPr lang="en-US" sz="2400" dirty="0" err="1"/>
              <a:t>CatBoost</a:t>
            </a:r>
            <a:r>
              <a:rPr lang="en-US" sz="2400" dirty="0"/>
              <a:t>, </a:t>
            </a:r>
            <a:r>
              <a:rPr lang="en-US" sz="2400" dirty="0" err="1"/>
              <a:t>LigthGBM</a:t>
            </a:r>
            <a:endParaRPr lang="ru-RU" sz="2400" dirty="0"/>
          </a:p>
        </p:txBody>
      </p:sp>
    </p:spTree>
    <p:extLst>
      <p:ext uri="{BB962C8B-B14F-4D97-AF65-F5344CB8AC3E}">
        <p14:creationId xmlns:p14="http://schemas.microsoft.com/office/powerpoint/2010/main" val="299752855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18330-219D-4BF1-B196-26E222FDFEBF}"/>
              </a:ext>
            </a:extLst>
          </p:cNvPr>
          <p:cNvSpPr>
            <a:spLocks noGrp="1"/>
          </p:cNvSpPr>
          <p:nvPr>
            <p:ph type="title"/>
          </p:nvPr>
        </p:nvSpPr>
        <p:spPr>
          <a:xfrm>
            <a:off x="628650" y="70791"/>
            <a:ext cx="7886700" cy="610246"/>
          </a:xfrm>
        </p:spPr>
        <p:txBody>
          <a:bodyPr/>
          <a:lstStyle/>
          <a:p>
            <a:pPr algn="ctr"/>
            <a:r>
              <a:rPr lang="ru-RU" dirty="0"/>
              <a:t>Ансамбль</a:t>
            </a:r>
          </a:p>
        </p:txBody>
      </p:sp>
      <p:sp>
        <p:nvSpPr>
          <p:cNvPr id="3" name="Объект 2">
            <a:extLst>
              <a:ext uri="{FF2B5EF4-FFF2-40B4-BE49-F238E27FC236}">
                <a16:creationId xmlns:a16="http://schemas.microsoft.com/office/drawing/2014/main" id="{0C61C7A0-3405-470E-B873-5CE3EADDA579}"/>
              </a:ext>
            </a:extLst>
          </p:cNvPr>
          <p:cNvSpPr>
            <a:spLocks noGrp="1"/>
          </p:cNvSpPr>
          <p:nvPr>
            <p:ph idx="1"/>
          </p:nvPr>
        </p:nvSpPr>
        <p:spPr>
          <a:xfrm>
            <a:off x="628650" y="730226"/>
            <a:ext cx="7886700" cy="5446738"/>
          </a:xfrm>
        </p:spPr>
        <p:txBody>
          <a:bodyPr>
            <a:normAutofit/>
          </a:bodyPr>
          <a:lstStyle/>
          <a:p>
            <a:pPr marL="0" indent="0" algn="just">
              <a:buNone/>
            </a:pPr>
            <a:r>
              <a:rPr lang="ru-RU" sz="2400" b="1" dirty="0"/>
              <a:t>Ансамбль алгоритмов </a:t>
            </a:r>
            <a:r>
              <a:rPr lang="ru-RU" sz="2400" dirty="0"/>
              <a:t>(методов) — метод, который использует несколько обучающих алгоритмов с целью получения лучшей эффективности прогнозирования, чем можно было бы получить от каждого обучающего алгоритма по отдельности.</a:t>
            </a:r>
          </a:p>
        </p:txBody>
      </p:sp>
      <p:sp>
        <p:nvSpPr>
          <p:cNvPr id="4" name="Нижний колонтитул 3">
            <a:extLst>
              <a:ext uri="{FF2B5EF4-FFF2-40B4-BE49-F238E27FC236}">
                <a16:creationId xmlns:a16="http://schemas.microsoft.com/office/drawing/2014/main" id="{7E1812FE-4E9E-4840-9105-8394143CD7F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04B7EE3-ED2D-47E8-9D4F-E6E625BDD1E2}"/>
              </a:ext>
            </a:extLst>
          </p:cNvPr>
          <p:cNvSpPr>
            <a:spLocks noGrp="1"/>
          </p:cNvSpPr>
          <p:nvPr>
            <p:ph type="sldNum" sz="quarter" idx="12"/>
          </p:nvPr>
        </p:nvSpPr>
        <p:spPr/>
        <p:txBody>
          <a:bodyPr/>
          <a:lstStyle/>
          <a:p>
            <a:fld id="{81C5FB71-5E9C-41B5-9BB8-3F1EBEAEB16A}" type="slidenum">
              <a:rPr lang="ru-RU" smtClean="0"/>
              <a:t>3</a:t>
            </a:fld>
            <a:endParaRPr lang="ru-RU"/>
          </a:p>
        </p:txBody>
      </p:sp>
      <p:pic>
        <p:nvPicPr>
          <p:cNvPr id="6" name="Рисунок 5">
            <a:extLst>
              <a:ext uri="{FF2B5EF4-FFF2-40B4-BE49-F238E27FC236}">
                <a16:creationId xmlns:a16="http://schemas.microsoft.com/office/drawing/2014/main" id="{8782710C-0585-4851-925E-BCE26D5836A8}"/>
              </a:ext>
            </a:extLst>
          </p:cNvPr>
          <p:cNvPicPr>
            <a:picLocks noChangeAspect="1"/>
          </p:cNvPicPr>
          <p:nvPr/>
        </p:nvPicPr>
        <p:blipFill>
          <a:blip r:embed="rId3"/>
          <a:srcRect l="8651" b="11379"/>
          <a:stretch/>
        </p:blipFill>
        <p:spPr>
          <a:xfrm>
            <a:off x="628650" y="2514600"/>
            <a:ext cx="3721501" cy="3207200"/>
          </a:xfrm>
          <a:prstGeom prst="rect">
            <a:avLst/>
          </a:prstGeom>
        </p:spPr>
      </p:pic>
      <p:pic>
        <p:nvPicPr>
          <p:cNvPr id="11" name="Рисунок 10">
            <a:extLst>
              <a:ext uri="{FF2B5EF4-FFF2-40B4-BE49-F238E27FC236}">
                <a16:creationId xmlns:a16="http://schemas.microsoft.com/office/drawing/2014/main" id="{51BA120C-5924-4740-8FCD-66674938CC70}"/>
              </a:ext>
            </a:extLst>
          </p:cNvPr>
          <p:cNvPicPr>
            <a:picLocks noChangeAspect="1"/>
          </p:cNvPicPr>
          <p:nvPr/>
        </p:nvPicPr>
        <p:blipFill>
          <a:blip r:embed="rId4"/>
          <a:stretch>
            <a:fillRect/>
          </a:stretch>
        </p:blipFill>
        <p:spPr>
          <a:xfrm>
            <a:off x="4821538" y="2600032"/>
            <a:ext cx="3728370" cy="3207200"/>
          </a:xfrm>
          <a:prstGeom prst="rect">
            <a:avLst/>
          </a:prstGeom>
        </p:spPr>
      </p:pic>
      <p:sp>
        <p:nvSpPr>
          <p:cNvPr id="9" name="TextBox 8">
            <a:extLst>
              <a:ext uri="{FF2B5EF4-FFF2-40B4-BE49-F238E27FC236}">
                <a16:creationId xmlns:a16="http://schemas.microsoft.com/office/drawing/2014/main" id="{993E4572-AC12-5453-DD3F-ABCEBA8C182B}"/>
              </a:ext>
            </a:extLst>
          </p:cNvPr>
          <p:cNvSpPr txBox="1"/>
          <p:nvPr/>
        </p:nvSpPr>
        <p:spPr>
          <a:xfrm>
            <a:off x="46709" y="5851746"/>
            <a:ext cx="4885381" cy="954107"/>
          </a:xfrm>
          <a:prstGeom prst="rect">
            <a:avLst/>
          </a:prstGeom>
          <a:noFill/>
        </p:spPr>
        <p:txBody>
          <a:bodyPr wrap="square">
            <a:spAutoFit/>
          </a:bodyPr>
          <a:lstStyle/>
          <a:p>
            <a:pPr algn="ctr"/>
            <a:r>
              <a:rPr lang="ru-RU" sz="1400" dirty="0"/>
              <a:t>Вероятность правильного решения всего жюри (ординат) в зависимости от вероятности правильного решения одного эксперта (p) при разном количестве экспертов (M)</a:t>
            </a:r>
          </a:p>
        </p:txBody>
      </p:sp>
    </p:spTree>
    <p:extLst>
      <p:ext uri="{BB962C8B-B14F-4D97-AF65-F5344CB8AC3E}">
        <p14:creationId xmlns:p14="http://schemas.microsoft.com/office/powerpoint/2010/main" val="35439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FC8AEC-9B3C-4C63-84BE-DCDFCE689652}"/>
              </a:ext>
            </a:extLst>
          </p:cNvPr>
          <p:cNvSpPr>
            <a:spLocks noGrp="1"/>
          </p:cNvSpPr>
          <p:nvPr>
            <p:ph type="title"/>
          </p:nvPr>
        </p:nvSpPr>
        <p:spPr/>
        <p:txBody>
          <a:bodyPr/>
          <a:lstStyle/>
          <a:p>
            <a:pPr algn="ctr"/>
            <a:r>
              <a:rPr lang="ru-RU" dirty="0"/>
              <a:t>Ансамбли в машинном обучении</a:t>
            </a:r>
          </a:p>
        </p:txBody>
      </p:sp>
      <p:sp>
        <p:nvSpPr>
          <p:cNvPr id="3" name="Объект 2">
            <a:extLst>
              <a:ext uri="{FF2B5EF4-FFF2-40B4-BE49-F238E27FC236}">
                <a16:creationId xmlns:a16="http://schemas.microsoft.com/office/drawing/2014/main" id="{4D76063F-C221-44AA-83AB-F1D27F63E42F}"/>
              </a:ext>
            </a:extLst>
          </p:cNvPr>
          <p:cNvSpPr>
            <a:spLocks noGrp="1"/>
          </p:cNvSpPr>
          <p:nvPr>
            <p:ph idx="1"/>
          </p:nvPr>
        </p:nvSpPr>
        <p:spPr/>
        <p:txBody>
          <a:bodyPr>
            <a:normAutofit/>
          </a:bodyPr>
          <a:lstStyle/>
          <a:p>
            <a:pPr algn="just"/>
            <a:r>
              <a:rPr lang="ru-RU" sz="2400" dirty="0"/>
              <a:t>Необходимость решения задачи на маленьких </a:t>
            </a:r>
            <a:r>
              <a:rPr lang="ru-RU" sz="2400" dirty="0" err="1"/>
              <a:t>подвыборках</a:t>
            </a:r>
            <a:endParaRPr lang="ru-RU" sz="2400" dirty="0"/>
          </a:p>
          <a:p>
            <a:pPr algn="just"/>
            <a:r>
              <a:rPr lang="ru-RU" sz="2400" dirty="0"/>
              <a:t>Организация </a:t>
            </a:r>
            <a:r>
              <a:rPr lang="ru-RU" sz="2400" dirty="0" err="1"/>
              <a:t>подвыборок</a:t>
            </a:r>
            <a:r>
              <a:rPr lang="ru-RU" sz="2400" dirty="0"/>
              <a:t> по записям, а также иногда по набору признаков</a:t>
            </a:r>
          </a:p>
          <a:p>
            <a:pPr algn="just"/>
            <a:r>
              <a:rPr lang="ru-RU" sz="2400" dirty="0"/>
              <a:t>Обучение большого числа </a:t>
            </a:r>
            <a:r>
              <a:rPr lang="ru-RU" sz="2400" i="1" dirty="0"/>
              <a:t>нелинейных</a:t>
            </a:r>
            <a:r>
              <a:rPr lang="ru-RU" sz="2400" dirty="0"/>
              <a:t> моделей с низкой сложностью и слабой взаимной корреляцией</a:t>
            </a:r>
          </a:p>
          <a:p>
            <a:pPr algn="just"/>
            <a:r>
              <a:rPr lang="ru-RU" sz="2400" dirty="0"/>
              <a:t>Низкая сложность ограничивает модель от переобучения</a:t>
            </a:r>
          </a:p>
          <a:p>
            <a:pPr algn="just"/>
            <a:r>
              <a:rPr lang="ru-RU" sz="2400" dirty="0"/>
              <a:t>Качество слабых моделей невелико </a:t>
            </a:r>
          </a:p>
          <a:p>
            <a:pPr algn="just"/>
            <a:r>
              <a:rPr lang="ru-RU" sz="2400" dirty="0"/>
              <a:t>Объединение прогноза</a:t>
            </a:r>
          </a:p>
        </p:txBody>
      </p:sp>
      <p:sp>
        <p:nvSpPr>
          <p:cNvPr id="4" name="Нижний колонтитул 3">
            <a:extLst>
              <a:ext uri="{FF2B5EF4-FFF2-40B4-BE49-F238E27FC236}">
                <a16:creationId xmlns:a16="http://schemas.microsoft.com/office/drawing/2014/main" id="{F5D29A4F-21FA-4E67-A8F8-2475DCDF8F6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0ADEF17-20B8-4903-8A92-7F90C00684A9}"/>
              </a:ext>
            </a:extLst>
          </p:cNvPr>
          <p:cNvSpPr>
            <a:spLocks noGrp="1"/>
          </p:cNvSpPr>
          <p:nvPr>
            <p:ph type="sldNum" sz="quarter" idx="12"/>
          </p:nvPr>
        </p:nvSpPr>
        <p:spPr/>
        <p:txBody>
          <a:bodyPr/>
          <a:lstStyle/>
          <a:p>
            <a:fld id="{81C5FB71-5E9C-41B5-9BB8-3F1EBEAEB16A}" type="slidenum">
              <a:rPr lang="ru-RU" smtClean="0"/>
              <a:t>4</a:t>
            </a:fld>
            <a:endParaRPr lang="ru-RU"/>
          </a:p>
        </p:txBody>
      </p:sp>
    </p:spTree>
    <p:extLst>
      <p:ext uri="{BB962C8B-B14F-4D97-AF65-F5344CB8AC3E}">
        <p14:creationId xmlns:p14="http://schemas.microsoft.com/office/powerpoint/2010/main" val="220840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39C1F8-2E2D-4208-BB66-4FBFD1542C4B}"/>
              </a:ext>
            </a:extLst>
          </p:cNvPr>
          <p:cNvSpPr>
            <a:spLocks noGrp="1"/>
          </p:cNvSpPr>
          <p:nvPr>
            <p:ph type="title"/>
          </p:nvPr>
        </p:nvSpPr>
        <p:spPr/>
        <p:txBody>
          <a:bodyPr>
            <a:normAutofit/>
          </a:bodyPr>
          <a:lstStyle/>
          <a:p>
            <a:pPr algn="ctr"/>
            <a:r>
              <a:rPr lang="ru-RU" sz="3400" dirty="0"/>
              <a:t>Принципы объединения моделей</a:t>
            </a:r>
          </a:p>
        </p:txBody>
      </p:sp>
      <p:sp>
        <p:nvSpPr>
          <p:cNvPr id="4" name="Нижний колонтитул 3">
            <a:extLst>
              <a:ext uri="{FF2B5EF4-FFF2-40B4-BE49-F238E27FC236}">
                <a16:creationId xmlns:a16="http://schemas.microsoft.com/office/drawing/2014/main" id="{70444328-3104-4CB9-9D29-19B3121EFD8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1F1672C-5B86-4695-9096-3B3356DC6194}"/>
              </a:ext>
            </a:extLst>
          </p:cNvPr>
          <p:cNvSpPr>
            <a:spLocks noGrp="1"/>
          </p:cNvSpPr>
          <p:nvPr>
            <p:ph type="sldNum" sz="quarter" idx="12"/>
          </p:nvPr>
        </p:nvSpPr>
        <p:spPr/>
        <p:txBody>
          <a:bodyPr/>
          <a:lstStyle/>
          <a:p>
            <a:fld id="{81C5FB71-5E9C-41B5-9BB8-3F1EBEAEB16A}" type="slidenum">
              <a:rPr lang="ru-RU" smtClean="0"/>
              <a:t>5</a:t>
            </a:fld>
            <a:endParaRPr lang="ru-RU"/>
          </a:p>
        </p:txBody>
      </p:sp>
      <p:pic>
        <p:nvPicPr>
          <p:cNvPr id="7" name="Picture 2" descr="Picture background">
            <a:extLst>
              <a:ext uri="{FF2B5EF4-FFF2-40B4-BE49-F238E27FC236}">
                <a16:creationId xmlns:a16="http://schemas.microsoft.com/office/drawing/2014/main" id="{0FC4ADFB-251C-AC9E-7C07-96504F7AC8D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77624" y="1828800"/>
            <a:ext cx="8388751" cy="365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294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D6D1-0FB7-0C56-1831-60631F82016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327DD3-093A-5D5E-F451-12D20828F4FB}"/>
              </a:ext>
            </a:extLst>
          </p:cNvPr>
          <p:cNvSpPr>
            <a:spLocks noGrp="1"/>
          </p:cNvSpPr>
          <p:nvPr>
            <p:ph type="title"/>
          </p:nvPr>
        </p:nvSpPr>
        <p:spPr>
          <a:xfrm>
            <a:off x="628650" y="70791"/>
            <a:ext cx="7886700" cy="691209"/>
          </a:xfrm>
        </p:spPr>
        <p:txBody>
          <a:bodyPr>
            <a:normAutofit/>
          </a:bodyPr>
          <a:lstStyle/>
          <a:p>
            <a:pPr algn="ctr"/>
            <a:r>
              <a:rPr lang="ru-RU" sz="3400" dirty="0"/>
              <a:t>Типы ансамблевого обучения</a:t>
            </a:r>
          </a:p>
        </p:txBody>
      </p:sp>
      <p:sp>
        <p:nvSpPr>
          <p:cNvPr id="4" name="Нижний колонтитул 3">
            <a:extLst>
              <a:ext uri="{FF2B5EF4-FFF2-40B4-BE49-F238E27FC236}">
                <a16:creationId xmlns:a16="http://schemas.microsoft.com/office/drawing/2014/main" id="{B2DE5DF7-A6D7-2379-788B-DBFFF84E6AB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31E9ABF-ED92-13A5-9956-CA6D78FD2DCC}"/>
              </a:ext>
            </a:extLst>
          </p:cNvPr>
          <p:cNvSpPr>
            <a:spLocks noGrp="1"/>
          </p:cNvSpPr>
          <p:nvPr>
            <p:ph type="sldNum" sz="quarter" idx="12"/>
          </p:nvPr>
        </p:nvSpPr>
        <p:spPr/>
        <p:txBody>
          <a:bodyPr/>
          <a:lstStyle/>
          <a:p>
            <a:fld id="{81C5FB71-5E9C-41B5-9BB8-3F1EBEAEB16A}" type="slidenum">
              <a:rPr lang="ru-RU" smtClean="0"/>
              <a:t>6</a:t>
            </a:fld>
            <a:endParaRPr lang="ru-RU"/>
          </a:p>
        </p:txBody>
      </p:sp>
      <p:sp>
        <p:nvSpPr>
          <p:cNvPr id="3" name="Объект 2">
            <a:extLst>
              <a:ext uri="{FF2B5EF4-FFF2-40B4-BE49-F238E27FC236}">
                <a16:creationId xmlns:a16="http://schemas.microsoft.com/office/drawing/2014/main" id="{059D92E3-635A-48CE-B858-2AFAE9D66BB0}"/>
              </a:ext>
            </a:extLst>
          </p:cNvPr>
          <p:cNvSpPr>
            <a:spLocks noGrp="1"/>
          </p:cNvSpPr>
          <p:nvPr>
            <p:ph idx="1"/>
          </p:nvPr>
        </p:nvSpPr>
        <p:spPr>
          <a:xfrm>
            <a:off x="628650" y="990600"/>
            <a:ext cx="7886700" cy="5186363"/>
          </a:xfrm>
        </p:spPr>
        <p:txBody>
          <a:bodyPr>
            <a:normAutofit/>
          </a:bodyPr>
          <a:lstStyle/>
          <a:p>
            <a:pPr marL="0" indent="0" algn="l">
              <a:buNone/>
            </a:pPr>
            <a:r>
              <a:rPr lang="ru-RU" sz="2400" b="0" i="0" u="none" strike="noStrike" baseline="0" dirty="0">
                <a:latin typeface="PTSerif-Regular"/>
              </a:rPr>
              <a:t>Под </a:t>
            </a:r>
            <a:r>
              <a:rPr lang="ru-RU" sz="2400" b="1" i="0" u="none" strike="noStrike" baseline="0" dirty="0">
                <a:latin typeface="PTSerif-Bold"/>
              </a:rPr>
              <a:t>ансамблевым обучением </a:t>
            </a:r>
            <a:r>
              <a:rPr lang="ru-RU" sz="2400" b="0" i="0" u="none" strike="noStrike" baseline="0" dirty="0">
                <a:latin typeface="PTSerif-Regular"/>
              </a:rPr>
              <a:t>понимается обучение комбинации нескольких </a:t>
            </a:r>
            <a:r>
              <a:rPr lang="ru-RU" sz="2400" b="1" i="0" u="none" strike="noStrike" baseline="0" dirty="0">
                <a:latin typeface="PTSerif-Bold"/>
              </a:rPr>
              <a:t>базовых моделей</a:t>
            </a:r>
            <a:r>
              <a:rPr lang="ru-RU" sz="2400" b="0" i="0" u="none" strike="noStrike" baseline="0" dirty="0">
                <a:latin typeface="PTSerif-Regular"/>
              </a:rPr>
              <a:t>, каждая из которых показывает худшее качество, чем комбинация.</a:t>
            </a:r>
          </a:p>
          <a:p>
            <a:pPr marL="0" indent="0" algn="l">
              <a:buNone/>
            </a:pPr>
            <a:endParaRPr lang="ru-RU" sz="1800" dirty="0">
              <a:latin typeface="PTSerif-Regular"/>
            </a:endParaRPr>
          </a:p>
          <a:p>
            <a:pPr marL="0" indent="0" algn="l">
              <a:buNone/>
            </a:pPr>
            <a:endParaRPr lang="ru-RU" sz="2400" dirty="0"/>
          </a:p>
        </p:txBody>
      </p:sp>
      <p:pic>
        <p:nvPicPr>
          <p:cNvPr id="1026" name="Picture 2" descr="Picture background">
            <a:extLst>
              <a:ext uri="{FF2B5EF4-FFF2-40B4-BE49-F238E27FC236}">
                <a16:creationId xmlns:a16="http://schemas.microsoft.com/office/drawing/2014/main" id="{06B64819-C9A8-2B0C-5F2A-9B0D76232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076" y="2584560"/>
            <a:ext cx="5849848" cy="4225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990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8D86A2-4177-4CBD-896D-C6CCEB1879FE}"/>
              </a:ext>
            </a:extLst>
          </p:cNvPr>
          <p:cNvSpPr>
            <a:spLocks noGrp="1"/>
          </p:cNvSpPr>
          <p:nvPr>
            <p:ph type="title"/>
          </p:nvPr>
        </p:nvSpPr>
        <p:spPr/>
        <p:txBody>
          <a:bodyPr>
            <a:normAutofit/>
          </a:bodyPr>
          <a:lstStyle/>
          <a:p>
            <a:pPr algn="ctr"/>
            <a:r>
              <a:rPr lang="ru-RU" sz="3400" dirty="0" err="1"/>
              <a:t>Бэггинг</a:t>
            </a:r>
            <a:r>
              <a:rPr lang="ru-RU" sz="3400" dirty="0"/>
              <a:t> и </a:t>
            </a:r>
            <a:r>
              <a:rPr lang="ru-RU" sz="3400" dirty="0" err="1"/>
              <a:t>бустинг</a:t>
            </a:r>
            <a:endParaRPr lang="ru-RU" sz="3400" dirty="0"/>
          </a:p>
        </p:txBody>
      </p:sp>
      <p:sp>
        <p:nvSpPr>
          <p:cNvPr id="4" name="Нижний колонтитул 3">
            <a:extLst>
              <a:ext uri="{FF2B5EF4-FFF2-40B4-BE49-F238E27FC236}">
                <a16:creationId xmlns:a16="http://schemas.microsoft.com/office/drawing/2014/main" id="{F3061603-18E7-43AB-AD8D-FAD65BF8456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77CB554-6392-4765-8028-BD3092EC3EF9}"/>
              </a:ext>
            </a:extLst>
          </p:cNvPr>
          <p:cNvSpPr>
            <a:spLocks noGrp="1"/>
          </p:cNvSpPr>
          <p:nvPr>
            <p:ph type="sldNum" sz="quarter" idx="12"/>
          </p:nvPr>
        </p:nvSpPr>
        <p:spPr/>
        <p:txBody>
          <a:bodyPr/>
          <a:lstStyle/>
          <a:p>
            <a:fld id="{81C5FB71-5E9C-41B5-9BB8-3F1EBEAEB16A}" type="slidenum">
              <a:rPr lang="ru-RU" smtClean="0"/>
              <a:t>7</a:t>
            </a:fld>
            <a:endParaRPr lang="ru-RU"/>
          </a:p>
        </p:txBody>
      </p:sp>
      <p:pic>
        <p:nvPicPr>
          <p:cNvPr id="3074" name="Picture 2" descr="Picture background">
            <a:extLst>
              <a:ext uri="{FF2B5EF4-FFF2-40B4-BE49-F238E27FC236}">
                <a16:creationId xmlns:a16="http://schemas.microsoft.com/office/drawing/2014/main" id="{62C66519-1FCC-7706-C78F-0275E89E19F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28650" y="1549797"/>
            <a:ext cx="7886700" cy="443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900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98728C-89D2-47DD-8F3D-1F2E2E795B97}"/>
              </a:ext>
            </a:extLst>
          </p:cNvPr>
          <p:cNvSpPr>
            <a:spLocks noGrp="1"/>
          </p:cNvSpPr>
          <p:nvPr>
            <p:ph type="title"/>
          </p:nvPr>
        </p:nvSpPr>
        <p:spPr>
          <a:xfrm>
            <a:off x="628650" y="70791"/>
            <a:ext cx="7886700" cy="774141"/>
          </a:xfrm>
        </p:spPr>
        <p:txBody>
          <a:bodyPr>
            <a:normAutofit/>
          </a:bodyPr>
          <a:lstStyle/>
          <a:p>
            <a:pPr algn="ctr"/>
            <a:r>
              <a:rPr lang="ru-RU" sz="3400" dirty="0"/>
              <a:t>Смещение и разброс</a:t>
            </a:r>
          </a:p>
        </p:txBody>
      </p:sp>
      <p:sp>
        <p:nvSpPr>
          <p:cNvPr id="3" name="Объект 2">
            <a:extLst>
              <a:ext uri="{FF2B5EF4-FFF2-40B4-BE49-F238E27FC236}">
                <a16:creationId xmlns:a16="http://schemas.microsoft.com/office/drawing/2014/main" id="{715877E2-CA09-4FA9-A3E4-BFA9DB379683}"/>
              </a:ext>
            </a:extLst>
          </p:cNvPr>
          <p:cNvSpPr>
            <a:spLocks noGrp="1"/>
          </p:cNvSpPr>
          <p:nvPr>
            <p:ph idx="1"/>
          </p:nvPr>
        </p:nvSpPr>
        <p:spPr>
          <a:xfrm>
            <a:off x="628650" y="844932"/>
            <a:ext cx="7886700" cy="5332031"/>
          </a:xfrm>
        </p:spPr>
        <p:txBody>
          <a:bodyPr>
            <a:normAutofit/>
          </a:bodyPr>
          <a:lstStyle/>
          <a:p>
            <a:pPr marL="0" indent="0" algn="just">
              <a:buNone/>
            </a:pPr>
            <a:r>
              <a:rPr lang="ru-RU" sz="2400" b="0" i="0" dirty="0">
                <a:solidFill>
                  <a:srgbClr val="323232"/>
                </a:solidFill>
                <a:effectLst/>
              </a:rPr>
              <a:t>Предположим, мы решаем задачу регрессии с квадратичной функцией потерь. При использовании квадратичной функции потерь для оценки качества работы алгоритма a можно воспользоваться следующим функционалом:</a:t>
            </a:r>
          </a:p>
          <a:p>
            <a:pPr marL="0" indent="0" algn="just">
              <a:buNone/>
            </a:pPr>
            <a:endParaRPr lang="ru-RU" sz="2400" dirty="0"/>
          </a:p>
        </p:txBody>
      </p:sp>
      <p:sp>
        <p:nvSpPr>
          <p:cNvPr id="4" name="Нижний колонтитул 3">
            <a:extLst>
              <a:ext uri="{FF2B5EF4-FFF2-40B4-BE49-F238E27FC236}">
                <a16:creationId xmlns:a16="http://schemas.microsoft.com/office/drawing/2014/main" id="{59485E59-7829-4400-9F22-807B16E52E2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AD336C6-4E4F-47F1-8DA1-40CDAB9EC921}"/>
              </a:ext>
            </a:extLst>
          </p:cNvPr>
          <p:cNvSpPr>
            <a:spLocks noGrp="1"/>
          </p:cNvSpPr>
          <p:nvPr>
            <p:ph type="sldNum" sz="quarter" idx="12"/>
          </p:nvPr>
        </p:nvSpPr>
        <p:spPr/>
        <p:txBody>
          <a:bodyPr/>
          <a:lstStyle/>
          <a:p>
            <a:fld id="{81C5FB71-5E9C-41B5-9BB8-3F1EBEAEB16A}" type="slidenum">
              <a:rPr lang="ru-RU" smtClean="0"/>
              <a:t>8</a:t>
            </a:fld>
            <a:endParaRPr lang="ru-RU"/>
          </a:p>
        </p:txBody>
      </p:sp>
      <p:pic>
        <p:nvPicPr>
          <p:cNvPr id="7" name="Рисунок 6">
            <a:extLst>
              <a:ext uri="{FF2B5EF4-FFF2-40B4-BE49-F238E27FC236}">
                <a16:creationId xmlns:a16="http://schemas.microsoft.com/office/drawing/2014/main" id="{7D9BF24A-650F-45A4-88FF-51FD32861646}"/>
              </a:ext>
            </a:extLst>
          </p:cNvPr>
          <p:cNvPicPr>
            <a:picLocks noChangeAspect="1"/>
          </p:cNvPicPr>
          <p:nvPr/>
        </p:nvPicPr>
        <p:blipFill>
          <a:blip r:embed="rId2"/>
          <a:stretch>
            <a:fillRect/>
          </a:stretch>
        </p:blipFill>
        <p:spPr>
          <a:xfrm>
            <a:off x="762000" y="2743200"/>
            <a:ext cx="7886700" cy="3269868"/>
          </a:xfrm>
          <a:prstGeom prst="rect">
            <a:avLst/>
          </a:prstGeom>
        </p:spPr>
      </p:pic>
    </p:spTree>
    <p:extLst>
      <p:ext uri="{BB962C8B-B14F-4D97-AF65-F5344CB8AC3E}">
        <p14:creationId xmlns:p14="http://schemas.microsoft.com/office/powerpoint/2010/main" val="3244558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CB1967-2010-47F6-BEF9-9F55D8B84B14}"/>
              </a:ext>
            </a:extLst>
          </p:cNvPr>
          <p:cNvSpPr>
            <a:spLocks noGrp="1"/>
          </p:cNvSpPr>
          <p:nvPr>
            <p:ph type="title"/>
          </p:nvPr>
        </p:nvSpPr>
        <p:spPr>
          <a:xfrm>
            <a:off x="628650" y="70791"/>
            <a:ext cx="7886700" cy="784806"/>
          </a:xfrm>
        </p:spPr>
        <p:txBody>
          <a:bodyPr>
            <a:normAutofit/>
          </a:bodyPr>
          <a:lstStyle/>
          <a:p>
            <a:pPr algn="ctr"/>
            <a:r>
              <a:rPr lang="ru-RU" sz="3400" i="0" dirty="0">
                <a:solidFill>
                  <a:srgbClr val="323232"/>
                </a:solidFill>
                <a:effectLst/>
              </a:rPr>
              <a:t>Смещение и разброс</a:t>
            </a:r>
            <a:endParaRPr lang="ru-RU" sz="3400" dirty="0"/>
          </a:p>
        </p:txBody>
      </p:sp>
      <p:sp>
        <p:nvSpPr>
          <p:cNvPr id="3" name="Объект 2">
            <a:extLst>
              <a:ext uri="{FF2B5EF4-FFF2-40B4-BE49-F238E27FC236}">
                <a16:creationId xmlns:a16="http://schemas.microsoft.com/office/drawing/2014/main" id="{0A676141-A470-48BA-98A8-05A116424D73}"/>
              </a:ext>
            </a:extLst>
          </p:cNvPr>
          <p:cNvSpPr>
            <a:spLocks noGrp="1"/>
          </p:cNvSpPr>
          <p:nvPr>
            <p:ph idx="1"/>
          </p:nvPr>
        </p:nvSpPr>
        <p:spPr>
          <a:xfrm>
            <a:off x="628650" y="855598"/>
            <a:ext cx="7886700" cy="5500754"/>
          </a:xfrm>
        </p:spPr>
        <p:txBody>
          <a:bodyPr>
            <a:normAutofit lnSpcReduction="10000"/>
          </a:bodyPr>
          <a:lstStyle/>
          <a:p>
            <a:pPr marL="0" indent="0" algn="just">
              <a:buNone/>
            </a:pPr>
            <a:r>
              <a:rPr lang="ru-RU" sz="2400" b="0" i="0" dirty="0">
                <a:solidFill>
                  <a:srgbClr val="323232"/>
                </a:solidFill>
                <a:effectLst/>
              </a:rPr>
              <a:t>Существует представление Q(a) в виде трёх компонент:</a:t>
            </a:r>
            <a:endParaRPr lang="en-US" sz="2400" b="0" i="0" dirty="0">
              <a:solidFill>
                <a:srgbClr val="323232"/>
              </a:solidFill>
              <a:effectLst/>
            </a:endParaRPr>
          </a:p>
          <a:p>
            <a:pPr marL="0" indent="0" algn="just">
              <a:buNone/>
            </a:pPr>
            <a:endParaRPr lang="ru-RU" sz="2400" dirty="0">
              <a:solidFill>
                <a:srgbClr val="323232"/>
              </a:solidFill>
            </a:endParaRPr>
          </a:p>
          <a:p>
            <a:pPr marL="0" indent="0" algn="l">
              <a:buNone/>
            </a:pPr>
            <a:r>
              <a:rPr lang="ru-RU" sz="2400" dirty="0">
                <a:solidFill>
                  <a:srgbClr val="323232"/>
                </a:solidFill>
              </a:rPr>
              <a:t>где</a:t>
            </a:r>
            <a:endParaRPr lang="en-US" sz="2400" dirty="0">
              <a:solidFill>
                <a:srgbClr val="323232"/>
              </a:solidFill>
            </a:endParaRPr>
          </a:p>
          <a:p>
            <a:pPr marL="0" indent="0" algn="l">
              <a:buNone/>
            </a:pPr>
            <a:endParaRPr lang="ru-RU" sz="2400" b="0" i="0" dirty="0">
              <a:solidFill>
                <a:srgbClr val="323232"/>
              </a:solidFill>
              <a:effectLst/>
            </a:endParaRPr>
          </a:p>
          <a:p>
            <a:r>
              <a:rPr lang="ru-RU" sz="2400" b="0" i="0" dirty="0">
                <a:solidFill>
                  <a:srgbClr val="323232"/>
                </a:solidFill>
                <a:effectLst/>
              </a:rPr>
              <a:t>это смещение предсказания алгоритма в точке </a:t>
            </a:r>
            <a:r>
              <a:rPr lang="ru-RU" sz="2400" b="0" i="1" dirty="0">
                <a:solidFill>
                  <a:srgbClr val="323232"/>
                </a:solidFill>
                <a:effectLst/>
              </a:rPr>
              <a:t>x</a:t>
            </a:r>
            <a:r>
              <a:rPr lang="ru-RU" sz="2400" b="0" i="0" dirty="0">
                <a:solidFill>
                  <a:srgbClr val="323232"/>
                </a:solidFill>
                <a:effectLst/>
              </a:rPr>
              <a:t>, усреднённого по всем возможным обучающим выборкам, относительно истинной зависимости </a:t>
            </a:r>
            <a:r>
              <a:rPr lang="ru-RU" sz="2400" b="0" i="1" dirty="0">
                <a:solidFill>
                  <a:srgbClr val="323232"/>
                </a:solidFill>
                <a:effectLst/>
              </a:rPr>
              <a:t>f</a:t>
            </a:r>
            <a:r>
              <a:rPr lang="ru-RU" sz="2400" b="0" i="0" dirty="0">
                <a:solidFill>
                  <a:srgbClr val="323232"/>
                </a:solidFill>
                <a:effectLst/>
              </a:rPr>
              <a:t>,</a:t>
            </a:r>
            <a:endParaRPr lang="en-US" sz="2400" b="0" i="0" dirty="0">
              <a:solidFill>
                <a:srgbClr val="323232"/>
              </a:solidFill>
              <a:effectLst/>
            </a:endParaRPr>
          </a:p>
          <a:p>
            <a:endParaRPr lang="ru-RU" sz="2400" b="0" i="0" dirty="0">
              <a:solidFill>
                <a:srgbClr val="323232"/>
              </a:solidFill>
              <a:effectLst/>
            </a:endParaRPr>
          </a:p>
          <a:p>
            <a:pPr marL="0" indent="0">
              <a:buNone/>
            </a:pPr>
            <a:endParaRPr lang="ru-RU" sz="2400" dirty="0">
              <a:solidFill>
                <a:srgbClr val="323232"/>
              </a:solidFill>
            </a:endParaRPr>
          </a:p>
          <a:p>
            <a:r>
              <a:rPr lang="ru-RU" sz="2400" b="0" i="0" dirty="0">
                <a:solidFill>
                  <a:srgbClr val="323232"/>
                </a:solidFill>
                <a:effectLst/>
              </a:rPr>
              <a:t>это дисперсия (разброс) предсказаний алгоритма в зависимости от обучающей выборки X,</a:t>
            </a:r>
            <a:endParaRPr lang="en-US" sz="2400" b="0" i="0" dirty="0">
              <a:solidFill>
                <a:srgbClr val="323232"/>
              </a:solidFill>
              <a:effectLst/>
            </a:endParaRPr>
          </a:p>
          <a:p>
            <a:endParaRPr lang="ru-RU" sz="2400" b="0" i="0" dirty="0">
              <a:solidFill>
                <a:srgbClr val="323232"/>
              </a:solidFill>
              <a:effectLst/>
            </a:endParaRPr>
          </a:p>
          <a:p>
            <a:pPr marL="0" indent="0">
              <a:buNone/>
            </a:pPr>
            <a:endParaRPr lang="ru-RU" sz="2400" b="0" i="0" dirty="0">
              <a:solidFill>
                <a:srgbClr val="323232"/>
              </a:solidFill>
              <a:effectLst/>
            </a:endParaRPr>
          </a:p>
          <a:p>
            <a:r>
              <a:rPr lang="ru-RU" sz="2400" b="0" i="0" dirty="0">
                <a:solidFill>
                  <a:srgbClr val="323232"/>
                </a:solidFill>
                <a:effectLst/>
              </a:rPr>
              <a:t>это неустранимый шум в данных.</a:t>
            </a:r>
            <a:endParaRPr lang="ru-RU" sz="2400" dirty="0"/>
          </a:p>
        </p:txBody>
      </p:sp>
      <p:sp>
        <p:nvSpPr>
          <p:cNvPr id="4" name="Нижний колонтитул 3">
            <a:extLst>
              <a:ext uri="{FF2B5EF4-FFF2-40B4-BE49-F238E27FC236}">
                <a16:creationId xmlns:a16="http://schemas.microsoft.com/office/drawing/2014/main" id="{B7F73578-8837-49E1-895E-C15BABA18FE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492FA80-B1DA-4E5A-9969-82673B282CBB}"/>
              </a:ext>
            </a:extLst>
          </p:cNvPr>
          <p:cNvSpPr>
            <a:spLocks noGrp="1"/>
          </p:cNvSpPr>
          <p:nvPr>
            <p:ph type="sldNum" sz="quarter" idx="12"/>
          </p:nvPr>
        </p:nvSpPr>
        <p:spPr/>
        <p:txBody>
          <a:bodyPr/>
          <a:lstStyle/>
          <a:p>
            <a:fld id="{81C5FB71-5E9C-41B5-9BB8-3F1EBEAEB16A}" type="slidenum">
              <a:rPr lang="ru-RU" smtClean="0"/>
              <a:t>9</a:t>
            </a:fld>
            <a:endParaRPr lang="ru-RU"/>
          </a:p>
        </p:txBody>
      </p:sp>
      <p:pic>
        <p:nvPicPr>
          <p:cNvPr id="11" name="Рисунок 10">
            <a:extLst>
              <a:ext uri="{FF2B5EF4-FFF2-40B4-BE49-F238E27FC236}">
                <a16:creationId xmlns:a16="http://schemas.microsoft.com/office/drawing/2014/main" id="{615E6FDF-C3CF-4DEA-A6BE-8D0BB4058E02}"/>
              </a:ext>
            </a:extLst>
          </p:cNvPr>
          <p:cNvPicPr>
            <a:picLocks noChangeAspect="1"/>
          </p:cNvPicPr>
          <p:nvPr/>
        </p:nvPicPr>
        <p:blipFill>
          <a:blip r:embed="rId3"/>
          <a:stretch>
            <a:fillRect/>
          </a:stretch>
        </p:blipFill>
        <p:spPr>
          <a:xfrm>
            <a:off x="1820990" y="1305035"/>
            <a:ext cx="5677692" cy="413847"/>
          </a:xfrm>
          <a:prstGeom prst="rect">
            <a:avLst/>
          </a:prstGeom>
        </p:spPr>
      </p:pic>
      <p:pic>
        <p:nvPicPr>
          <p:cNvPr id="13" name="Рисунок 12">
            <a:extLst>
              <a:ext uri="{FF2B5EF4-FFF2-40B4-BE49-F238E27FC236}">
                <a16:creationId xmlns:a16="http://schemas.microsoft.com/office/drawing/2014/main" id="{946612E8-0D2C-4D61-A1E5-3BA0D1813375}"/>
              </a:ext>
            </a:extLst>
          </p:cNvPr>
          <p:cNvPicPr>
            <a:picLocks noChangeAspect="1"/>
          </p:cNvPicPr>
          <p:nvPr/>
        </p:nvPicPr>
        <p:blipFill>
          <a:blip r:embed="rId4"/>
          <a:stretch>
            <a:fillRect/>
          </a:stretch>
        </p:blipFill>
        <p:spPr>
          <a:xfrm>
            <a:off x="2274863" y="1978101"/>
            <a:ext cx="4594274" cy="454802"/>
          </a:xfrm>
          <a:prstGeom prst="rect">
            <a:avLst/>
          </a:prstGeom>
        </p:spPr>
      </p:pic>
      <p:pic>
        <p:nvPicPr>
          <p:cNvPr id="15" name="Рисунок 14">
            <a:extLst>
              <a:ext uri="{FF2B5EF4-FFF2-40B4-BE49-F238E27FC236}">
                <a16:creationId xmlns:a16="http://schemas.microsoft.com/office/drawing/2014/main" id="{755A73AD-F5F6-4474-B8C7-970AACB1DE6B}"/>
              </a:ext>
            </a:extLst>
          </p:cNvPr>
          <p:cNvPicPr>
            <a:picLocks noChangeAspect="1"/>
          </p:cNvPicPr>
          <p:nvPr/>
        </p:nvPicPr>
        <p:blipFill>
          <a:blip r:embed="rId5"/>
          <a:stretch>
            <a:fillRect/>
          </a:stretch>
        </p:blipFill>
        <p:spPr>
          <a:xfrm>
            <a:off x="1376985" y="3502184"/>
            <a:ext cx="6390030" cy="506581"/>
          </a:xfrm>
          <a:prstGeom prst="rect">
            <a:avLst/>
          </a:prstGeom>
        </p:spPr>
      </p:pic>
      <p:pic>
        <p:nvPicPr>
          <p:cNvPr id="17" name="Рисунок 16">
            <a:extLst>
              <a:ext uri="{FF2B5EF4-FFF2-40B4-BE49-F238E27FC236}">
                <a16:creationId xmlns:a16="http://schemas.microsoft.com/office/drawing/2014/main" id="{6E344B5F-9B9E-49FA-BD0E-5561946FA824}"/>
              </a:ext>
            </a:extLst>
          </p:cNvPr>
          <p:cNvPicPr>
            <a:picLocks noChangeAspect="1"/>
          </p:cNvPicPr>
          <p:nvPr/>
        </p:nvPicPr>
        <p:blipFill>
          <a:blip r:embed="rId6"/>
          <a:stretch>
            <a:fillRect/>
          </a:stretch>
        </p:blipFill>
        <p:spPr>
          <a:xfrm>
            <a:off x="2495260" y="5019589"/>
            <a:ext cx="4153480" cy="504895"/>
          </a:xfrm>
          <a:prstGeom prst="rect">
            <a:avLst/>
          </a:prstGeom>
        </p:spPr>
      </p:pic>
    </p:spTree>
    <p:extLst>
      <p:ext uri="{BB962C8B-B14F-4D97-AF65-F5344CB8AC3E}">
        <p14:creationId xmlns:p14="http://schemas.microsoft.com/office/powerpoint/2010/main" val="152633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40D5B0-291B-0E41-625E-AFF313F1C845}"/>
              </a:ext>
            </a:extLst>
          </p:cNvPr>
          <p:cNvSpPr>
            <a:spLocks noGrp="1"/>
          </p:cNvSpPr>
          <p:nvPr>
            <p:ph type="title"/>
          </p:nvPr>
        </p:nvSpPr>
        <p:spPr>
          <a:xfrm>
            <a:off x="628650" y="70791"/>
            <a:ext cx="7886700" cy="767409"/>
          </a:xfrm>
        </p:spPr>
        <p:txBody>
          <a:bodyPr/>
          <a:lstStyle/>
          <a:p>
            <a:pPr algn="ctr"/>
            <a:r>
              <a:rPr lang="ru-RU" sz="2800" i="0" dirty="0">
                <a:solidFill>
                  <a:srgbClr val="323232"/>
                </a:solidFill>
                <a:effectLst/>
              </a:rPr>
              <a:t>Смещение и разброс</a:t>
            </a:r>
            <a:endParaRPr lang="ru-RU" dirty="0"/>
          </a:p>
        </p:txBody>
      </p:sp>
      <p:sp>
        <p:nvSpPr>
          <p:cNvPr id="4" name="Нижний колонтитул 3">
            <a:extLst>
              <a:ext uri="{FF2B5EF4-FFF2-40B4-BE49-F238E27FC236}">
                <a16:creationId xmlns:a16="http://schemas.microsoft.com/office/drawing/2014/main" id="{34E80556-D1E1-718F-6682-A3560396AFA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B2CA6A5-B8F8-1EE4-85CF-300FCAEE0F13}"/>
              </a:ext>
            </a:extLst>
          </p:cNvPr>
          <p:cNvSpPr>
            <a:spLocks noGrp="1"/>
          </p:cNvSpPr>
          <p:nvPr>
            <p:ph type="sldNum" sz="quarter" idx="12"/>
          </p:nvPr>
        </p:nvSpPr>
        <p:spPr/>
        <p:txBody>
          <a:bodyPr/>
          <a:lstStyle/>
          <a:p>
            <a:fld id="{81C5FB71-5E9C-41B5-9BB8-3F1EBEAEB16A}" type="slidenum">
              <a:rPr lang="ru-RU" smtClean="0"/>
              <a:t>10</a:t>
            </a:fld>
            <a:endParaRPr lang="ru-RU"/>
          </a:p>
        </p:txBody>
      </p:sp>
      <p:pic>
        <p:nvPicPr>
          <p:cNvPr id="4098" name="Picture 2" descr="Picture background">
            <a:extLst>
              <a:ext uri="{FF2B5EF4-FFF2-40B4-BE49-F238E27FC236}">
                <a16:creationId xmlns:a16="http://schemas.microsoft.com/office/drawing/2014/main" id="{68E497F6-D90D-8BF4-82F1-12B4F10A29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1328187"/>
            <a:ext cx="7886700" cy="4434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297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02C185-AE6D-47CB-858F-9CC59C9545B3}"/>
              </a:ext>
            </a:extLst>
          </p:cNvPr>
          <p:cNvSpPr>
            <a:spLocks noGrp="1"/>
          </p:cNvSpPr>
          <p:nvPr>
            <p:ph type="title"/>
          </p:nvPr>
        </p:nvSpPr>
        <p:spPr>
          <a:xfrm>
            <a:off x="628650" y="70791"/>
            <a:ext cx="7886700" cy="767409"/>
          </a:xfrm>
        </p:spPr>
        <p:txBody>
          <a:bodyPr>
            <a:normAutofit/>
          </a:bodyPr>
          <a:lstStyle/>
          <a:p>
            <a:pPr algn="ctr"/>
            <a:r>
              <a:rPr lang="ru-RU" sz="3400" i="0" u="none" strike="noStrike" baseline="0" dirty="0">
                <a:solidFill>
                  <a:srgbClr val="000000"/>
                </a:solidFill>
              </a:rPr>
              <a:t>«Классический» алгоритм </a:t>
            </a:r>
            <a:r>
              <a:rPr lang="ru-RU" sz="3400" i="0" u="none" strike="noStrike" baseline="0" dirty="0" err="1">
                <a:solidFill>
                  <a:srgbClr val="000000"/>
                </a:solidFill>
              </a:rPr>
              <a:t>бэггинга</a:t>
            </a:r>
            <a:r>
              <a:rPr lang="ru-RU" sz="3400" i="0" u="none" strike="noStrike" baseline="0" dirty="0">
                <a:solidFill>
                  <a:srgbClr val="000000"/>
                </a:solidFill>
              </a:rPr>
              <a:t> </a:t>
            </a:r>
            <a:endParaRPr lang="ru-RU" sz="3400"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D80788C6-8000-4C85-B3B1-C969C7107B3C}"/>
                  </a:ext>
                </a:extLst>
              </p:cNvPr>
              <p:cNvSpPr>
                <a:spLocks noGrp="1"/>
              </p:cNvSpPr>
              <p:nvPr>
                <p:ph idx="1"/>
              </p:nvPr>
            </p:nvSpPr>
            <p:spPr>
              <a:xfrm>
                <a:off x="628650" y="838200"/>
                <a:ext cx="7886700" cy="5338763"/>
              </a:xfrm>
            </p:spPr>
            <p:txBody>
              <a:bodyPr/>
              <a:lstStyle/>
              <a:p>
                <a:pPr algn="just"/>
                <a:r>
                  <a:rPr lang="ru-RU" sz="2400" dirty="0"/>
                  <a:t>Исходная обучающая выборка – </a:t>
                </a:r>
                <a14:m>
                  <m:oMath xmlns:m="http://schemas.openxmlformats.org/officeDocument/2006/math">
                    <m:r>
                      <a:rPr lang="en-US" sz="2400" i="1" dirty="0" smtClean="0"/>
                      <m:t>𝑁</m:t>
                    </m:r>
                  </m:oMath>
                </a14:m>
                <a:r>
                  <a:rPr lang="en-US" sz="2400" dirty="0"/>
                  <a:t> </a:t>
                </a:r>
                <a:r>
                  <a:rPr lang="ru-RU" sz="2400" dirty="0"/>
                  <a:t>примеров</a:t>
                </a:r>
              </a:p>
              <a:p>
                <a:pPr algn="just"/>
                <a:r>
                  <a:rPr lang="ru-RU" sz="2400" dirty="0"/>
                  <a:t>Берем из нее </a:t>
                </a:r>
                <a14:m>
                  <m:oMath xmlns:m="http://schemas.openxmlformats.org/officeDocument/2006/math">
                    <m:r>
                      <a:rPr lang="en-US" sz="2400" i="1" dirty="0" smtClean="0"/>
                      <m:t>𝑛</m:t>
                    </m:r>
                    <m:r>
                      <a:rPr lang="en-US" sz="2400" b="0" i="1" dirty="0" smtClean="0"/>
                      <m:t>≤</m:t>
                    </m:r>
                    <m:r>
                      <a:rPr lang="en-US" sz="2400" b="0" i="1" dirty="0" smtClean="0"/>
                      <m:t>𝑁</m:t>
                    </m:r>
                  </m:oMath>
                </a14:m>
                <a:r>
                  <a:rPr lang="ru-RU" sz="2400" dirty="0"/>
                  <a:t> примеров равновероятно с возвращением, получим выборку </a:t>
                </a:r>
                <a14:m>
                  <m:oMath xmlns:m="http://schemas.openxmlformats.org/officeDocument/2006/math">
                    <m:sSub>
                      <m:sSubPr>
                        <m:ctrlPr>
                          <a:rPr lang="en-US" sz="2400" b="0" i="1" smtClean="0"/>
                        </m:ctrlPr>
                      </m:sSubPr>
                      <m:e>
                        <m:r>
                          <a:rPr lang="en-US" sz="2400" b="0" i="1" smtClean="0"/>
                          <m:t>𝑋</m:t>
                        </m:r>
                      </m:e>
                      <m:sub>
                        <m:r>
                          <a:rPr lang="en-US" sz="2400" b="0" i="1" smtClean="0"/>
                          <m:t>1</m:t>
                        </m:r>
                      </m:sub>
                    </m:sSub>
                  </m:oMath>
                </a14:m>
                <a:endParaRPr lang="ru-RU" sz="2400" dirty="0"/>
              </a:p>
              <a:p>
                <a:pPr algn="just"/>
                <a:r>
                  <a:rPr lang="ru-RU" sz="2400" dirty="0"/>
                  <a:t>Обучаем на выборке</a:t>
                </a:r>
                <a:r>
                  <a:rPr lang="en-US" sz="2400" dirty="0"/>
                  <a:t> </a:t>
                </a:r>
                <a14:m>
                  <m:oMath xmlns:m="http://schemas.openxmlformats.org/officeDocument/2006/math">
                    <m:sSub>
                      <m:sSubPr>
                        <m:ctrlPr>
                          <a:rPr lang="en-US" sz="2400" b="0" i="1" smtClean="0"/>
                        </m:ctrlPr>
                      </m:sSubPr>
                      <m:e>
                        <m:r>
                          <a:rPr lang="en-US" sz="2400" b="0" i="1" smtClean="0"/>
                          <m:t>𝑋</m:t>
                        </m:r>
                      </m:e>
                      <m:sub>
                        <m:r>
                          <a:rPr lang="en-US" sz="2400" b="0" i="1" smtClean="0"/>
                          <m:t>1</m:t>
                        </m:r>
                      </m:sub>
                    </m:sSub>
                  </m:oMath>
                </a14:m>
                <a:r>
                  <a:rPr lang="en-US" sz="2400" dirty="0"/>
                  <a:t> </a:t>
                </a:r>
                <a:r>
                  <a:rPr lang="ru-RU" sz="2400" dirty="0"/>
                  <a:t>модель </a:t>
                </a:r>
                <a14:m>
                  <m:oMath xmlns:m="http://schemas.openxmlformats.org/officeDocument/2006/math">
                    <m:sSub>
                      <m:sSubPr>
                        <m:ctrlPr>
                          <a:rPr lang="en-US" sz="2400" b="0" i="1" smtClean="0"/>
                        </m:ctrlPr>
                      </m:sSubPr>
                      <m:e>
                        <m:r>
                          <a:rPr lang="en-US" sz="2400" b="0" i="1" smtClean="0"/>
                          <m:t>𝑏</m:t>
                        </m:r>
                      </m:e>
                      <m:sub>
                        <m:r>
                          <a:rPr lang="en-US" sz="2400" b="0" i="1" smtClean="0"/>
                          <m:t>1</m:t>
                        </m:r>
                      </m:sub>
                    </m:sSub>
                    <m:d>
                      <m:dPr>
                        <m:ctrlPr>
                          <a:rPr lang="en-US" sz="2400" b="0" i="1" smtClean="0"/>
                        </m:ctrlPr>
                      </m:dPr>
                      <m:e>
                        <m:r>
                          <a:rPr lang="en-US" sz="2400" b="0" i="1" smtClean="0"/>
                          <m:t>𝑥</m:t>
                        </m:r>
                      </m:e>
                    </m:d>
                    <m:r>
                      <a:rPr lang="en-US" sz="2400" b="0" i="1" smtClean="0"/>
                      <m:t>=</m:t>
                    </m:r>
                    <m:r>
                      <a:rPr lang="en-US" sz="2400" b="0" i="1" smtClean="0"/>
                      <m:t>𝑏</m:t>
                    </m:r>
                    <m:r>
                      <a:rPr lang="en-US" sz="2400" b="0" i="1" smtClean="0"/>
                      <m:t>(</m:t>
                    </m:r>
                    <m:r>
                      <a:rPr lang="en-US" sz="2400" b="0" i="1" smtClean="0"/>
                      <m:t>𝑥</m:t>
                    </m:r>
                    <m:r>
                      <a:rPr lang="en-US" sz="2400" b="0" i="1" smtClean="0"/>
                      <m:t>, </m:t>
                    </m:r>
                    <m:sSub>
                      <m:sSubPr>
                        <m:ctrlPr>
                          <a:rPr lang="en-US" sz="2400" b="0" i="1" smtClean="0"/>
                        </m:ctrlPr>
                      </m:sSubPr>
                      <m:e>
                        <m:r>
                          <a:rPr lang="en-US" sz="2400" b="0" i="1" smtClean="0"/>
                          <m:t>𝑋</m:t>
                        </m:r>
                      </m:e>
                      <m:sub>
                        <m:r>
                          <a:rPr lang="en-US" sz="2400" b="0" i="1" smtClean="0"/>
                          <m:t>1</m:t>
                        </m:r>
                      </m:sub>
                    </m:sSub>
                    <m:r>
                      <a:rPr lang="en-US" sz="2400" b="0" i="1" smtClean="0"/>
                      <m:t>)</m:t>
                    </m:r>
                  </m:oMath>
                </a14:m>
                <a:endParaRPr lang="en-US" sz="2400" dirty="0"/>
              </a:p>
              <a:p>
                <a:pPr algn="just"/>
                <a:r>
                  <a:rPr lang="en-US" sz="2400" dirty="0">
                    <a:solidFill>
                      <a:srgbClr val="323232"/>
                    </a:solidFill>
                  </a:rPr>
                  <a:t>C</a:t>
                </a:r>
                <a:r>
                  <a:rPr lang="ru-RU" sz="2400" b="0" i="0" dirty="0">
                    <a:solidFill>
                      <a:srgbClr val="323232"/>
                    </a:solidFill>
                    <a:effectLst/>
                  </a:rPr>
                  <a:t>формируем вторую выборку </a:t>
                </a:r>
                <a14:m>
                  <m:oMath xmlns:m="http://schemas.openxmlformats.org/officeDocument/2006/math">
                    <m:sSub>
                      <m:sSubPr>
                        <m:ctrlPr>
                          <a:rPr lang="en-US" sz="2400" b="0" i="1" dirty="0" smtClean="0">
                            <a:solidFill>
                              <a:srgbClr val="323232"/>
                            </a:solidFill>
                            <a:effectLst/>
                          </a:rPr>
                        </m:ctrlPr>
                      </m:sSubPr>
                      <m:e>
                        <m:r>
                          <a:rPr lang="ru-RU" sz="2400" b="0" i="1" dirty="0" smtClean="0">
                            <a:solidFill>
                              <a:srgbClr val="323232"/>
                            </a:solidFill>
                            <a:effectLst/>
                          </a:rPr>
                          <m:t>𝑋</m:t>
                        </m:r>
                      </m:e>
                      <m:sub>
                        <m:r>
                          <a:rPr lang="ru-RU" sz="2400" b="0" i="1" dirty="0" smtClean="0">
                            <a:solidFill>
                              <a:srgbClr val="323232"/>
                            </a:solidFill>
                            <a:effectLst/>
                          </a:rPr>
                          <m:t>2</m:t>
                        </m:r>
                      </m:sub>
                    </m:sSub>
                  </m:oMath>
                </a14:m>
                <a:r>
                  <a:rPr lang="ru-RU" sz="2400" b="0" i="0" dirty="0">
                    <a:solidFill>
                      <a:srgbClr val="323232"/>
                    </a:solidFill>
                    <a:effectLst/>
                  </a:rPr>
                  <a:t> из </a:t>
                </a:r>
                <a14:m>
                  <m:oMath xmlns:m="http://schemas.openxmlformats.org/officeDocument/2006/math">
                    <m:r>
                      <a:rPr lang="ru-RU" sz="2400" b="0" i="1" dirty="0" smtClean="0">
                        <a:solidFill>
                          <a:srgbClr val="323232"/>
                        </a:solidFill>
                        <a:effectLst/>
                      </a:rPr>
                      <m:t>𝑛</m:t>
                    </m:r>
                  </m:oMath>
                </a14:m>
                <a:r>
                  <a:rPr lang="ru-RU" sz="2400" b="0" i="0" dirty="0">
                    <a:solidFill>
                      <a:srgbClr val="323232"/>
                    </a:solidFill>
                    <a:effectLst/>
                  </a:rPr>
                  <a:t> элементов с возвращением и с помощью того же алгоритма обучим на ней модель </a:t>
                </a:r>
                <a14:m>
                  <m:oMath xmlns:m="http://schemas.openxmlformats.org/officeDocument/2006/math">
                    <m:sSub>
                      <m:sSubPr>
                        <m:ctrlPr>
                          <a:rPr lang="en-US" sz="2400" b="0" i="1" dirty="0" smtClean="0">
                            <a:solidFill>
                              <a:srgbClr val="323232"/>
                            </a:solidFill>
                            <a:effectLst/>
                          </a:rPr>
                        </m:ctrlPr>
                      </m:sSubPr>
                      <m:e>
                        <m:r>
                          <a:rPr lang="ru-RU" sz="2400" b="0" i="1" dirty="0" smtClean="0">
                            <a:solidFill>
                              <a:srgbClr val="323232"/>
                            </a:solidFill>
                            <a:effectLst/>
                          </a:rPr>
                          <m:t>𝑏</m:t>
                        </m:r>
                      </m:e>
                      <m:sub>
                        <m:r>
                          <a:rPr lang="ru-RU" sz="2400" b="0" i="1" dirty="0" smtClean="0">
                            <a:solidFill>
                              <a:srgbClr val="323232"/>
                            </a:solidFill>
                            <a:effectLst/>
                          </a:rPr>
                          <m:t>2</m:t>
                        </m:r>
                      </m:sub>
                    </m:sSub>
                    <m:r>
                      <a:rPr lang="ru-RU" sz="2400" b="0" i="1" dirty="0" smtClean="0">
                        <a:solidFill>
                          <a:srgbClr val="323232"/>
                        </a:solidFill>
                        <a:effectLst/>
                      </a:rPr>
                      <m:t>(</m:t>
                    </m:r>
                    <m:r>
                      <a:rPr lang="ru-RU" sz="2400" b="0" i="1" dirty="0" smtClean="0">
                        <a:solidFill>
                          <a:srgbClr val="323232"/>
                        </a:solidFill>
                        <a:effectLst/>
                      </a:rPr>
                      <m:t>𝑥</m:t>
                    </m:r>
                    <m:r>
                      <a:rPr lang="ru-RU" sz="2400" b="0" i="1" dirty="0" smtClean="0">
                        <a:solidFill>
                          <a:srgbClr val="323232"/>
                        </a:solidFill>
                        <a:effectLst/>
                      </a:rPr>
                      <m:t>)=</m:t>
                    </m:r>
                    <m:r>
                      <a:rPr lang="ru-RU" sz="2400" b="0" i="1" dirty="0" smtClean="0">
                        <a:solidFill>
                          <a:srgbClr val="323232"/>
                        </a:solidFill>
                        <a:effectLst/>
                      </a:rPr>
                      <m:t>𝑏</m:t>
                    </m:r>
                    <m:r>
                      <a:rPr lang="ru-RU" sz="2400" b="0" i="1" dirty="0" smtClean="0">
                        <a:solidFill>
                          <a:srgbClr val="323232"/>
                        </a:solidFill>
                        <a:effectLst/>
                      </a:rPr>
                      <m:t>(</m:t>
                    </m:r>
                    <m:r>
                      <a:rPr lang="ru-RU" sz="2400" b="0" i="1" dirty="0" smtClean="0">
                        <a:solidFill>
                          <a:srgbClr val="323232"/>
                        </a:solidFill>
                        <a:effectLst/>
                      </a:rPr>
                      <m:t>𝑥</m:t>
                    </m:r>
                    <m:r>
                      <a:rPr lang="ru-RU" sz="2400" b="0" i="1" dirty="0" smtClean="0">
                        <a:solidFill>
                          <a:srgbClr val="323232"/>
                        </a:solidFill>
                        <a:effectLst/>
                      </a:rPr>
                      <m:t>,</m:t>
                    </m:r>
                    <m:sSub>
                      <m:sSubPr>
                        <m:ctrlPr>
                          <a:rPr lang="en-US" sz="2400" b="0" i="1" dirty="0" smtClean="0">
                            <a:solidFill>
                              <a:srgbClr val="323232"/>
                            </a:solidFill>
                            <a:effectLst/>
                          </a:rPr>
                        </m:ctrlPr>
                      </m:sSubPr>
                      <m:e>
                        <m:r>
                          <a:rPr lang="ru-RU" sz="2400" b="0" i="1" dirty="0" smtClean="0">
                            <a:solidFill>
                              <a:srgbClr val="323232"/>
                            </a:solidFill>
                            <a:effectLst/>
                          </a:rPr>
                          <m:t>𝑋</m:t>
                        </m:r>
                      </m:e>
                      <m:sub>
                        <m:r>
                          <a:rPr lang="ru-RU" sz="2400" b="0" i="1" dirty="0" smtClean="0">
                            <a:solidFill>
                              <a:srgbClr val="323232"/>
                            </a:solidFill>
                            <a:effectLst/>
                          </a:rPr>
                          <m:t>2</m:t>
                        </m:r>
                      </m:sub>
                    </m:sSub>
                    <m:r>
                      <a:rPr lang="ru-RU" sz="2400" b="0" i="1" dirty="0" smtClean="0">
                        <a:solidFill>
                          <a:srgbClr val="323232"/>
                        </a:solidFill>
                        <a:effectLst/>
                      </a:rPr>
                      <m:t>)</m:t>
                    </m:r>
                  </m:oMath>
                </a14:m>
                <a:endParaRPr lang="en-US" sz="2400" b="0" i="0" dirty="0">
                  <a:solidFill>
                    <a:srgbClr val="323232"/>
                  </a:solidFill>
                  <a:effectLst/>
                </a:endParaRPr>
              </a:p>
              <a:p>
                <a:pPr algn="just"/>
                <a:r>
                  <a:rPr lang="ru-RU" sz="2400" dirty="0">
                    <a:solidFill>
                      <a:srgbClr val="323232"/>
                    </a:solidFill>
                  </a:rPr>
                  <a:t>Строим </a:t>
                </a:r>
                <a14:m>
                  <m:oMath xmlns:m="http://schemas.openxmlformats.org/officeDocument/2006/math">
                    <m:r>
                      <a:rPr lang="en-US" sz="2400" b="0" i="1" smtClean="0">
                        <a:solidFill>
                          <a:srgbClr val="323232"/>
                        </a:solidFill>
                      </a:rPr>
                      <m:t>𝑘</m:t>
                    </m:r>
                  </m:oMath>
                </a14:m>
                <a:r>
                  <a:rPr lang="ru-RU" sz="2400" b="0" i="0" dirty="0">
                    <a:solidFill>
                      <a:srgbClr val="323232"/>
                    </a:solidFill>
                    <a:effectLst/>
                  </a:rPr>
                  <a:t> моделей</a:t>
                </a:r>
              </a:p>
              <a:p>
                <a:pPr algn="just"/>
                <a:r>
                  <a:rPr lang="ru-RU" sz="2400" dirty="0">
                    <a:solidFill>
                      <a:srgbClr val="323232"/>
                    </a:solidFill>
                  </a:rPr>
                  <a:t>Для получения предсказания </a:t>
                </a:r>
                <a:endParaRPr lang="en-US" sz="2400" dirty="0">
                  <a:solidFill>
                    <a:srgbClr val="323232"/>
                  </a:solidFill>
                </a:endParaRPr>
              </a:p>
              <a:p>
                <a:pPr marL="0" indent="0" algn="just">
                  <a:buNone/>
                </a:pPr>
                <a14:m>
                  <m:oMathPara xmlns:m="http://schemas.openxmlformats.org/officeDocument/2006/math">
                    <m:oMathParaPr>
                      <m:jc m:val="centerGroup"/>
                    </m:oMathParaPr>
                    <m:oMath xmlns:m="http://schemas.openxmlformats.org/officeDocument/2006/math">
                      <m:r>
                        <a:rPr lang="en-US" sz="2400" b="0" i="1" smtClean="0">
                          <a:solidFill>
                            <a:srgbClr val="323232"/>
                          </a:solidFill>
                        </a:rPr>
                        <m:t>𝑎</m:t>
                      </m:r>
                      <m:d>
                        <m:dPr>
                          <m:ctrlPr>
                            <a:rPr lang="en-US" sz="2400" b="0" i="1" smtClean="0">
                              <a:solidFill>
                                <a:srgbClr val="323232"/>
                              </a:solidFill>
                            </a:rPr>
                          </m:ctrlPr>
                        </m:dPr>
                        <m:e>
                          <m:r>
                            <a:rPr lang="en-US" sz="2400" b="0" i="1" smtClean="0">
                              <a:solidFill>
                                <a:srgbClr val="323232"/>
                              </a:solidFill>
                            </a:rPr>
                            <m:t>𝑥</m:t>
                          </m:r>
                        </m:e>
                      </m:d>
                      <m:r>
                        <a:rPr lang="en-US" sz="2400" b="0" i="1" smtClean="0">
                          <a:solidFill>
                            <a:srgbClr val="323232"/>
                          </a:solidFill>
                        </a:rPr>
                        <m:t>=</m:t>
                      </m:r>
                      <m:f>
                        <m:fPr>
                          <m:ctrlPr>
                            <a:rPr lang="en-US" sz="2400" i="1">
                              <a:solidFill>
                                <a:srgbClr val="323232"/>
                              </a:solidFill>
                              <a:latin typeface="Cambria Math" panose="02040503050406030204" pitchFamily="18" charset="0"/>
                            </a:rPr>
                          </m:ctrlPr>
                        </m:fPr>
                        <m:num>
                          <m:r>
                            <a:rPr lang="en-US" sz="2400" i="1">
                              <a:solidFill>
                                <a:srgbClr val="323232"/>
                              </a:solidFill>
                              <a:latin typeface="Cambria Math" panose="02040503050406030204" pitchFamily="18" charset="0"/>
                            </a:rPr>
                            <m:t>1</m:t>
                          </m:r>
                        </m:num>
                        <m:den>
                          <m:r>
                            <a:rPr lang="en-US" sz="2400" i="1">
                              <a:solidFill>
                                <a:srgbClr val="323232"/>
                              </a:solidFill>
                              <a:latin typeface="Cambria Math" panose="02040503050406030204" pitchFamily="18" charset="0"/>
                            </a:rPr>
                            <m:t>𝑘</m:t>
                          </m:r>
                        </m:den>
                      </m:f>
                      <m:r>
                        <a:rPr lang="en-US" sz="2400" b="0" i="1" smtClean="0">
                          <a:solidFill>
                            <a:srgbClr val="323232"/>
                          </a:solidFill>
                        </a:rPr>
                        <m:t>⋅</m:t>
                      </m:r>
                      <m:nary>
                        <m:naryPr>
                          <m:chr m:val="∑"/>
                          <m:ctrlPr>
                            <a:rPr lang="en-US" sz="2400" b="0" i="1" smtClean="0">
                              <a:solidFill>
                                <a:srgbClr val="323232"/>
                              </a:solidFill>
                            </a:rPr>
                          </m:ctrlPr>
                        </m:naryPr>
                        <m:sub>
                          <m:r>
                            <a:rPr lang="en-US" sz="2400" b="0" i="1" smtClean="0">
                              <a:solidFill>
                                <a:srgbClr val="323232"/>
                              </a:solidFill>
                            </a:rPr>
                            <m:t>𝑖</m:t>
                          </m:r>
                          <m:r>
                            <a:rPr lang="en-US" sz="2400" b="0" i="1" smtClean="0">
                              <a:solidFill>
                                <a:srgbClr val="323232"/>
                              </a:solidFill>
                            </a:rPr>
                            <m:t>=1</m:t>
                          </m:r>
                        </m:sub>
                        <m:sup>
                          <m:r>
                            <a:rPr lang="en-US" sz="2400" b="0" i="1" smtClean="0">
                              <a:solidFill>
                                <a:srgbClr val="323232"/>
                              </a:solidFill>
                            </a:rPr>
                            <m:t>𝑘</m:t>
                          </m:r>
                        </m:sup>
                        <m:e>
                          <m:sSub>
                            <m:sSubPr>
                              <m:ctrlPr>
                                <a:rPr lang="en-US" sz="2400" b="0" i="1" smtClean="0">
                                  <a:solidFill>
                                    <a:srgbClr val="323232"/>
                                  </a:solidFill>
                                </a:rPr>
                              </m:ctrlPr>
                            </m:sSubPr>
                            <m:e>
                              <m:r>
                                <a:rPr lang="en-US" sz="2400" b="0" i="1" smtClean="0">
                                  <a:solidFill>
                                    <a:srgbClr val="323232"/>
                                  </a:solidFill>
                                </a:rPr>
                                <m:t>𝑏</m:t>
                              </m:r>
                            </m:e>
                            <m:sub>
                              <m:r>
                                <a:rPr lang="en-US" sz="2400" b="0" i="1" smtClean="0">
                                  <a:solidFill>
                                    <a:srgbClr val="323232"/>
                                  </a:solidFill>
                                </a:rPr>
                                <m:t>𝑖</m:t>
                              </m:r>
                            </m:sub>
                          </m:sSub>
                          <m:r>
                            <a:rPr lang="en-US" sz="2400" b="0" i="1" smtClean="0">
                              <a:solidFill>
                                <a:srgbClr val="323232"/>
                              </a:solidFill>
                            </a:rPr>
                            <m:t>(</m:t>
                          </m:r>
                          <m:r>
                            <a:rPr lang="en-US" sz="2400" b="0" i="1" smtClean="0">
                              <a:solidFill>
                                <a:srgbClr val="323232"/>
                              </a:solidFill>
                            </a:rPr>
                            <m:t>𝑥</m:t>
                          </m:r>
                          <m:r>
                            <a:rPr lang="en-US" sz="2400" b="0" i="1" smtClean="0">
                              <a:solidFill>
                                <a:srgbClr val="323232"/>
                              </a:solidFill>
                            </a:rPr>
                            <m:t>, </m:t>
                          </m:r>
                          <m:sSub>
                            <m:sSubPr>
                              <m:ctrlPr>
                                <a:rPr lang="en-US" sz="2400" b="0" i="1" smtClean="0">
                                  <a:solidFill>
                                    <a:srgbClr val="323232"/>
                                  </a:solidFill>
                                </a:rPr>
                              </m:ctrlPr>
                            </m:sSubPr>
                            <m:e>
                              <m:r>
                                <a:rPr lang="en-US" sz="2400" b="0" i="1" smtClean="0">
                                  <a:solidFill>
                                    <a:srgbClr val="323232"/>
                                  </a:solidFill>
                                </a:rPr>
                                <m:t>𝑋</m:t>
                              </m:r>
                            </m:e>
                            <m:sub>
                              <m:r>
                                <a:rPr lang="en-US" sz="2400" b="0" i="1" smtClean="0">
                                  <a:solidFill>
                                    <a:srgbClr val="323232"/>
                                  </a:solidFill>
                                </a:rPr>
                                <m:t>𝑖</m:t>
                              </m:r>
                            </m:sub>
                          </m:sSub>
                          <m:r>
                            <a:rPr lang="en-US" sz="2400" b="0" i="1" smtClean="0">
                              <a:solidFill>
                                <a:srgbClr val="323232"/>
                              </a:solidFill>
                            </a:rPr>
                            <m:t>)</m:t>
                          </m:r>
                        </m:e>
                      </m:nary>
                    </m:oMath>
                  </m:oMathPara>
                </a14:m>
                <a:endParaRPr lang="en-US" sz="2400" b="0" i="0" dirty="0">
                  <a:solidFill>
                    <a:srgbClr val="323232"/>
                  </a:solidFill>
                  <a:effectLst/>
                </a:endParaRPr>
              </a:p>
              <a:p>
                <a:pPr algn="just"/>
                <a:r>
                  <a:rPr lang="ru-RU" b="0" i="0" dirty="0">
                    <a:solidFill>
                      <a:srgbClr val="323232"/>
                    </a:solidFill>
                    <a:effectLst/>
                  </a:rPr>
                  <a:t> </a:t>
                </a:r>
                <a:r>
                  <a:rPr lang="ru-RU" sz="2400" dirty="0">
                    <a:solidFill>
                      <a:srgbClr val="323232"/>
                    </a:solidFill>
                  </a:rPr>
                  <a:t>Получаем алгоритм, обученный над </a:t>
                </a:r>
                <a:r>
                  <a:rPr lang="ru-RU" sz="2400" dirty="0" err="1">
                    <a:solidFill>
                      <a:srgbClr val="323232"/>
                    </a:solidFill>
                  </a:rPr>
                  <a:t>бутстрэпом</a:t>
                </a:r>
                <a:endParaRPr lang="ru-RU" sz="2400" b="0" i="0" dirty="0">
                  <a:solidFill>
                    <a:srgbClr val="323232"/>
                  </a:solidFill>
                  <a:effectLst/>
                </a:endParaRPr>
              </a:p>
              <a:p>
                <a:pPr marL="0" indent="0" algn="just">
                  <a:buNone/>
                </a:pPr>
                <a:endParaRPr lang="ru-RU" dirty="0"/>
              </a:p>
            </p:txBody>
          </p:sp>
        </mc:Choice>
        <mc:Fallback>
          <p:sp>
            <p:nvSpPr>
              <p:cNvPr id="3" name="Объект 2">
                <a:extLst>
                  <a:ext uri="{FF2B5EF4-FFF2-40B4-BE49-F238E27FC236}">
                    <a16:creationId xmlns:a16="http://schemas.microsoft.com/office/drawing/2014/main" id="{D80788C6-8000-4C85-B3B1-C969C7107B3C}"/>
                  </a:ext>
                </a:extLst>
              </p:cNvPr>
              <p:cNvSpPr>
                <a:spLocks noGrp="1" noRot="1" noChangeAspect="1" noMove="1" noResize="1" noEditPoints="1" noAdjustHandles="1" noChangeArrowheads="1" noChangeShapeType="1" noTextEdit="1"/>
              </p:cNvSpPr>
              <p:nvPr>
                <p:ph idx="1"/>
              </p:nvPr>
            </p:nvSpPr>
            <p:spPr>
              <a:xfrm>
                <a:off x="628650" y="838200"/>
                <a:ext cx="7886700" cy="5338763"/>
              </a:xfrm>
              <a:blipFill>
                <a:blip r:embed="rId3"/>
                <a:stretch>
                  <a:fillRect l="-1005" t="-1600" r="-1236"/>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0486A3F9-08CA-4827-96F5-4516F74FCD8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D32E029-00EF-47F4-A005-58F0388F3432}"/>
              </a:ext>
            </a:extLst>
          </p:cNvPr>
          <p:cNvSpPr>
            <a:spLocks noGrp="1"/>
          </p:cNvSpPr>
          <p:nvPr>
            <p:ph type="sldNum" sz="quarter" idx="12"/>
          </p:nvPr>
        </p:nvSpPr>
        <p:spPr/>
        <p:txBody>
          <a:bodyPr/>
          <a:lstStyle/>
          <a:p>
            <a:fld id="{81C5FB71-5E9C-41B5-9BB8-3F1EBEAEB16A}" type="slidenum">
              <a:rPr lang="ru-RU" smtClean="0"/>
              <a:t>11</a:t>
            </a:fld>
            <a:endParaRPr lang="ru-RU"/>
          </a:p>
        </p:txBody>
      </p:sp>
    </p:spTree>
    <p:extLst>
      <p:ext uri="{BB962C8B-B14F-4D97-AF65-F5344CB8AC3E}">
        <p14:creationId xmlns:p14="http://schemas.microsoft.com/office/powerpoint/2010/main" val="1672049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098EB2-B920-B85E-FC91-1B28314F9578}"/>
              </a:ext>
            </a:extLst>
          </p:cNvPr>
          <p:cNvSpPr>
            <a:spLocks noGrp="1"/>
          </p:cNvSpPr>
          <p:nvPr>
            <p:ph type="title"/>
          </p:nvPr>
        </p:nvSpPr>
        <p:spPr>
          <a:xfrm>
            <a:off x="628650" y="70791"/>
            <a:ext cx="7886700" cy="767409"/>
          </a:xfrm>
        </p:spPr>
        <p:txBody>
          <a:bodyPr>
            <a:normAutofit/>
          </a:bodyPr>
          <a:lstStyle/>
          <a:p>
            <a:pPr algn="ctr"/>
            <a:r>
              <a:rPr lang="ru-RU" sz="3400" dirty="0"/>
              <a:t>Смещение модели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78DE38EC-03A8-B6E3-3E00-CD867988B97C}"/>
                  </a:ext>
                </a:extLst>
              </p:cNvPr>
              <p:cNvSpPr>
                <a:spLocks noGrp="1"/>
              </p:cNvSpPr>
              <p:nvPr>
                <p:ph idx="1"/>
              </p:nvPr>
            </p:nvSpPr>
            <p:spPr>
              <a:xfrm>
                <a:off x="628650" y="1066800"/>
                <a:ext cx="7886700" cy="5110163"/>
              </a:xfrm>
            </p:spPr>
            <p:txBody>
              <a:bodyPr>
                <a:normAutofit/>
              </a:bodyPr>
              <a:lstStyle/>
              <a:p>
                <a:pPr marL="0" indent="0">
                  <a:buNone/>
                </a:pPr>
                <a:r>
                  <a:rPr lang="ru-RU" sz="2400" dirty="0"/>
                  <a:t>Если мы будем строить среднее с помощью одной модели</a:t>
                </a:r>
                <a:r>
                  <a:rPr lang="en-US" sz="2400" dirty="0"/>
                  <a:t> </a:t>
                </a:r>
                <a14:m>
                  <m:oMath xmlns:m="http://schemas.openxmlformats.org/officeDocument/2006/math">
                    <m:r>
                      <a:rPr lang="en-US" sz="2400" b="0" i="1" smtClean="0">
                        <a:latin typeface="Cambria Math" panose="02040503050406030204" pitchFamily="18" charset="0"/>
                      </a:rPr>
                      <m:t>𝑏</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oMath>
                </a14:m>
                <a:r>
                  <a:rPr lang="ru-RU" sz="2400" dirty="0"/>
                  <a:t> на </a:t>
                </a:r>
                <a:r>
                  <a:rPr lang="ru-RU" sz="2400" dirty="0" err="1"/>
                  <a:t>бутстрапе</a:t>
                </a:r>
                <a:r>
                  <a:rPr lang="en-US" sz="2400"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oMath>
                </a14:m>
                <a:r>
                  <a:rPr lang="en-US" sz="2400" b="0" dirty="0"/>
                  <a:t>:</a:t>
                </a:r>
                <a:endParaRPr lang="ru-RU" sz="2400" b="0" dirty="0"/>
              </a:p>
              <a:p>
                <a:pPr marL="0" indent="0">
                  <a:buNone/>
                </a:pPr>
                <a:endParaRPr lang="en-US" sz="2400"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𝑏𝑖𝑎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𝑋</m:t>
                          </m:r>
                        </m:sub>
                      </m:sSub>
                      <m:r>
                        <a:rPr lang="en-US" b="0" i="1" smtClean="0">
                          <a:latin typeface="Cambria Math" panose="02040503050406030204" pitchFamily="18" charset="0"/>
                        </a:rPr>
                        <m:t>𝑎</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𝑋</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𝑋</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solidFill>
                                    <a:srgbClr val="323232"/>
                                  </a:solidFill>
                                  <a:latin typeface="Cambria Math" panose="02040503050406030204" pitchFamily="18" charset="0"/>
                                </a:rPr>
                              </m:ctrlPr>
                            </m:fPr>
                            <m:num>
                              <m:r>
                                <a:rPr lang="en-US" i="1">
                                  <a:solidFill>
                                    <a:srgbClr val="323232"/>
                                  </a:solidFill>
                                  <a:latin typeface="Cambria Math" panose="02040503050406030204" pitchFamily="18" charset="0"/>
                                </a:rPr>
                                <m:t>1</m:t>
                              </m:r>
                            </m:num>
                            <m:den>
                              <m:r>
                                <a:rPr lang="en-US" i="1">
                                  <a:solidFill>
                                    <a:srgbClr val="323232"/>
                                  </a:solidFill>
                                  <a:latin typeface="Cambria Math" panose="02040503050406030204" pitchFamily="18" charset="0"/>
                                </a:rPr>
                                <m:t>𝑘</m:t>
                              </m:r>
                            </m:den>
                          </m:f>
                          <m:r>
                            <a:rPr lang="en-US" i="1">
                              <a:solidFill>
                                <a:srgbClr val="323232"/>
                              </a:solidFill>
                              <a:latin typeface="Cambria Math" panose="02040503050406030204" pitchFamily="18" charset="0"/>
                            </a:rPr>
                            <m:t>⋅</m:t>
                          </m:r>
                          <m:nary>
                            <m:naryPr>
                              <m:chr m:val="∑"/>
                              <m:ctrlPr>
                                <a:rPr lang="en-US" i="1">
                                  <a:solidFill>
                                    <a:srgbClr val="323232"/>
                                  </a:solidFill>
                                  <a:latin typeface="Cambria Math" panose="02040503050406030204" pitchFamily="18" charset="0"/>
                                </a:rPr>
                              </m:ctrlPr>
                            </m:naryPr>
                            <m:sub>
                              <m:r>
                                <a:rPr lang="en-US" i="1">
                                  <a:solidFill>
                                    <a:srgbClr val="323232"/>
                                  </a:solidFill>
                                  <a:latin typeface="Cambria Math" panose="02040503050406030204" pitchFamily="18" charset="0"/>
                                </a:rPr>
                                <m:t>𝑖</m:t>
                              </m:r>
                              <m:r>
                                <a:rPr lang="en-US" i="1">
                                  <a:solidFill>
                                    <a:srgbClr val="323232"/>
                                  </a:solidFill>
                                  <a:latin typeface="Cambria Math" panose="02040503050406030204" pitchFamily="18" charset="0"/>
                                </a:rPr>
                                <m:t>=1</m:t>
                              </m:r>
                            </m:sub>
                            <m:sup>
                              <m:r>
                                <a:rPr lang="en-US" i="1">
                                  <a:solidFill>
                                    <a:srgbClr val="323232"/>
                                  </a:solidFill>
                                  <a:latin typeface="Cambria Math" panose="02040503050406030204" pitchFamily="18" charset="0"/>
                                </a:rPr>
                                <m:t>𝑘</m:t>
                              </m:r>
                            </m:sup>
                            <m:e>
                              <m:r>
                                <a:rPr lang="en-US" b="0" i="1" smtClean="0">
                                  <a:solidFill>
                                    <a:srgbClr val="323232"/>
                                  </a:solidFill>
                                  <a:latin typeface="Cambria Math" panose="02040503050406030204" pitchFamily="18" charset="0"/>
                                </a:rPr>
                                <m:t>𝑏</m:t>
                              </m:r>
                              <m:d>
                                <m:dPr>
                                  <m:ctrlPr>
                                    <a:rPr lang="en-US" i="1">
                                      <a:solidFill>
                                        <a:srgbClr val="323232"/>
                                      </a:solidFill>
                                      <a:latin typeface="Cambria Math" panose="02040503050406030204" pitchFamily="18" charset="0"/>
                                    </a:rPr>
                                  </m:ctrlPr>
                                </m:dPr>
                                <m:e>
                                  <m:r>
                                    <a:rPr lang="en-US" i="1">
                                      <a:solidFill>
                                        <a:srgbClr val="323232"/>
                                      </a:solidFill>
                                      <a:latin typeface="Cambria Math" panose="02040503050406030204" pitchFamily="18" charset="0"/>
                                    </a:rPr>
                                    <m:t>𝑥</m:t>
                                  </m:r>
                                  <m:r>
                                    <a:rPr lang="en-US" i="1">
                                      <a:solidFill>
                                        <a:srgbClr val="323232"/>
                                      </a:solidFill>
                                      <a:latin typeface="Cambria Math" panose="02040503050406030204" pitchFamily="18" charset="0"/>
                                    </a:rPr>
                                    <m:t>, </m:t>
                                  </m:r>
                                  <m:sSub>
                                    <m:sSubPr>
                                      <m:ctrlPr>
                                        <a:rPr lang="en-US" i="1">
                                          <a:solidFill>
                                            <a:srgbClr val="323232"/>
                                          </a:solidFill>
                                          <a:latin typeface="Cambria Math" panose="02040503050406030204" pitchFamily="18" charset="0"/>
                                        </a:rPr>
                                      </m:ctrlPr>
                                    </m:sSubPr>
                                    <m:e>
                                      <m:r>
                                        <a:rPr lang="en-US" i="1">
                                          <a:solidFill>
                                            <a:srgbClr val="323232"/>
                                          </a:solidFill>
                                          <a:latin typeface="Cambria Math" panose="02040503050406030204" pitchFamily="18" charset="0"/>
                                        </a:rPr>
                                        <m:t>𝑋</m:t>
                                      </m:r>
                                    </m:e>
                                    <m:sub>
                                      <m:r>
                                        <a:rPr lang="en-US" i="1">
                                          <a:solidFill>
                                            <a:srgbClr val="323232"/>
                                          </a:solidFill>
                                          <a:latin typeface="Cambria Math" panose="02040503050406030204" pitchFamily="18" charset="0"/>
                                        </a:rPr>
                                        <m:t>𝑖</m:t>
                                      </m:r>
                                    </m:sub>
                                  </m:sSub>
                                </m:e>
                              </m:d>
                            </m:e>
                          </m:nary>
                        </m:e>
                      </m:d>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𝑘</m:t>
                          </m:r>
                        </m:den>
                      </m:f>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𝑘</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𝑋</m:t>
                              </m:r>
                            </m:sub>
                          </m:sSub>
                        </m:e>
                      </m:nary>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𝑏</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𝑋</m:t>
                              </m:r>
                            </m:e>
                          </m:d>
                        </m:e>
                      </m:d>
                      <m:r>
                        <a:rPr lang="en-US" b="0" i="0"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𝑋</m:t>
                          </m:r>
                        </m:sub>
                      </m:sSub>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𝑋</m:t>
                              </m:r>
                            </m:e>
                          </m:d>
                        </m:e>
                      </m:d>
                      <m:r>
                        <a:rPr lang="ru-RU"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𝑏𝑖𝑎</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𝑋</m:t>
                          </m:r>
                        </m:sub>
                      </m:sSub>
                      <m:r>
                        <a:rPr lang="en-US" b="0" i="1" smtClean="0">
                          <a:latin typeface="Cambria Math" panose="02040503050406030204" pitchFamily="18" charset="0"/>
                        </a:rPr>
                        <m:t>𝑏</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𝑋</m:t>
                          </m:r>
                        </m:e>
                      </m:d>
                    </m:oMath>
                  </m:oMathPara>
                </a14:m>
                <a:endParaRPr lang="en-US" dirty="0"/>
              </a:p>
              <a:p>
                <a:pPr marL="0" indent="0">
                  <a:buNone/>
                </a:pPr>
                <a:endParaRPr lang="ru-RU" sz="2400" dirty="0"/>
              </a:p>
              <a:p>
                <a:pPr marL="0" indent="0">
                  <a:buNone/>
                </a:pPr>
                <a:r>
                  <a:rPr lang="ru-RU" sz="2400" dirty="0"/>
                  <a:t>Смещение </a:t>
                </a:r>
                <a:r>
                  <a:rPr lang="ru-RU" sz="2400" dirty="0" err="1"/>
                  <a:t>бутстрапа</a:t>
                </a:r>
                <a:r>
                  <a:rPr lang="ru-RU" sz="2400" dirty="0"/>
                  <a:t> одной модели равно ее собственному смещению на исходной выборке</a:t>
                </a:r>
                <a:endParaRPr lang="en-US" sz="2400" dirty="0"/>
              </a:p>
            </p:txBody>
          </p:sp>
        </mc:Choice>
        <mc:Fallback>
          <p:sp>
            <p:nvSpPr>
              <p:cNvPr id="3" name="Объект 2">
                <a:extLst>
                  <a:ext uri="{FF2B5EF4-FFF2-40B4-BE49-F238E27FC236}">
                    <a16:creationId xmlns:a16="http://schemas.microsoft.com/office/drawing/2014/main" id="{78DE38EC-03A8-B6E3-3E00-CD867988B97C}"/>
                  </a:ext>
                </a:extLst>
              </p:cNvPr>
              <p:cNvSpPr>
                <a:spLocks noGrp="1" noRot="1" noChangeAspect="1" noMove="1" noResize="1" noEditPoints="1" noAdjustHandles="1" noChangeArrowheads="1" noChangeShapeType="1" noTextEdit="1"/>
              </p:cNvSpPr>
              <p:nvPr>
                <p:ph idx="1"/>
              </p:nvPr>
            </p:nvSpPr>
            <p:spPr>
              <a:xfrm>
                <a:off x="628650" y="1066800"/>
                <a:ext cx="7886700" cy="5110163"/>
              </a:xfrm>
              <a:blipFill>
                <a:blip r:embed="rId3"/>
                <a:stretch>
                  <a:fillRect l="-1159" t="-1671" r="-464"/>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C2D43CBD-F9BB-78AB-4B29-983B70E7172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232CD45-A1BA-6D6E-A7FC-6EB8076B75B9}"/>
              </a:ext>
            </a:extLst>
          </p:cNvPr>
          <p:cNvSpPr>
            <a:spLocks noGrp="1"/>
          </p:cNvSpPr>
          <p:nvPr>
            <p:ph type="sldNum" sz="quarter" idx="12"/>
          </p:nvPr>
        </p:nvSpPr>
        <p:spPr/>
        <p:txBody>
          <a:bodyPr/>
          <a:lstStyle/>
          <a:p>
            <a:fld id="{81C5FB71-5E9C-41B5-9BB8-3F1EBEAEB16A}" type="slidenum">
              <a:rPr lang="ru-RU" smtClean="0"/>
              <a:t>12</a:t>
            </a:fld>
            <a:endParaRPr lang="ru-RU"/>
          </a:p>
        </p:txBody>
      </p:sp>
    </p:spTree>
    <p:extLst>
      <p:ext uri="{BB962C8B-B14F-4D97-AF65-F5344CB8AC3E}">
        <p14:creationId xmlns:p14="http://schemas.microsoft.com/office/powerpoint/2010/main" val="360079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B6F49-97FA-EA09-86C7-94E9C3C307F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617DB1-6BDF-A52F-FD14-9AC47CEB1600}"/>
              </a:ext>
            </a:extLst>
          </p:cNvPr>
          <p:cNvSpPr>
            <a:spLocks noGrp="1"/>
          </p:cNvSpPr>
          <p:nvPr>
            <p:ph type="title"/>
          </p:nvPr>
        </p:nvSpPr>
        <p:spPr>
          <a:xfrm>
            <a:off x="628650" y="70791"/>
            <a:ext cx="7886700" cy="767409"/>
          </a:xfrm>
        </p:spPr>
        <p:txBody>
          <a:bodyPr>
            <a:normAutofit/>
          </a:bodyPr>
          <a:lstStyle/>
          <a:p>
            <a:pPr algn="ctr"/>
            <a:r>
              <a:rPr lang="ru-RU" sz="3400" dirty="0"/>
              <a:t>Разброс модели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AFCF134E-BFFD-1285-82BF-1087C467A5A2}"/>
                  </a:ext>
                </a:extLst>
              </p:cNvPr>
              <p:cNvSpPr>
                <a:spLocks noGrp="1"/>
              </p:cNvSpPr>
              <p:nvPr>
                <p:ph idx="1"/>
              </p:nvPr>
            </p:nvSpPr>
            <p:spPr>
              <a:xfrm>
                <a:off x="628650" y="1066800"/>
                <a:ext cx="7886700" cy="5110163"/>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sSub>
                        <m:sSubPr>
                          <m:ctrlPr>
                            <a:rPr lang="ru-RU" sz="2400" b="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𝕍</m:t>
                          </m:r>
                        </m:e>
                        <m:sub>
                          <m:r>
                            <a:rPr lang="en-US" sz="2400" b="0" i="1" smtClean="0">
                              <a:latin typeface="Cambria Math" panose="02040503050406030204" pitchFamily="18" charset="0"/>
                              <a:ea typeface="Cambria Math" panose="02040503050406030204" pitchFamily="18" charset="0"/>
                            </a:rPr>
                            <m:t>𝑋</m:t>
                          </m:r>
                        </m:sub>
                      </m:sSub>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e>
                          </m:d>
                        </m:e>
                      </m:d>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𝔼</m:t>
                          </m:r>
                        </m:e>
                        <m:sub>
                          <m:r>
                            <a:rPr lang="en-US" sz="2400" b="0" i="1" smtClean="0">
                              <a:latin typeface="Cambria Math" panose="02040503050406030204" pitchFamily="18" charset="0"/>
                              <a:ea typeface="Cambria Math" panose="02040503050406030204" pitchFamily="18" charset="0"/>
                            </a:rPr>
                            <m:t>𝑋</m:t>
                          </m:r>
                        </m:sub>
                      </m:sSub>
                      <m:sSup>
                        <m:sSupPr>
                          <m:ctrlPr>
                            <a:rPr lang="en-US" sz="2400" b="0" i="1" smtClean="0">
                              <a:latin typeface="Cambria Math" panose="02040503050406030204" pitchFamily="18" charset="0"/>
                              <a:ea typeface="Cambria Math" panose="02040503050406030204" pitchFamily="18" charset="0"/>
                            </a:rPr>
                          </m:ctrlPr>
                        </m:sSupPr>
                        <m:e>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e>
                              </m:d>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𝔼</m:t>
                                  </m:r>
                                </m:e>
                                <m:sub>
                                  <m:r>
                                    <a:rPr lang="en-US" sz="2400" b="0" i="1" smtClean="0">
                                      <a:latin typeface="Cambria Math" panose="02040503050406030204" pitchFamily="18" charset="0"/>
                                      <a:ea typeface="Cambria Math" panose="02040503050406030204" pitchFamily="18" charset="0"/>
                                    </a:rPr>
                                    <m:t>𝑋</m:t>
                                  </m:r>
                                </m:sub>
                              </m:sSub>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e>
                                  </m:d>
                                </m:e>
                              </m:d>
                            </m:e>
                          </m:d>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oMath>
                  </m:oMathPara>
                </a14:m>
                <a:endParaRPr lang="en-US" sz="2400" b="0" dirty="0">
                  <a:ea typeface="Cambria Math" panose="02040503050406030204" pitchFamily="18" charset="0"/>
                </a:endParaRPr>
              </a:p>
              <a:p>
                <a:pPr marL="0" indent="0">
                  <a:buNone/>
                </a:pP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sSup>
                        <m:sSupPr>
                          <m:ctrlPr>
                            <a:rPr lang="en-US" sz="2400" i="1">
                              <a:latin typeface="Cambria Math" panose="02040503050406030204" pitchFamily="18" charset="0"/>
                              <a:ea typeface="Cambria Math" panose="02040503050406030204" pitchFamily="18" charset="0"/>
                            </a:rPr>
                          </m:ctrlPr>
                        </m:sSupPr>
                        <m:e>
                          <m:d>
                            <m:dPr>
                              <m:begChr m:val="["/>
                              <m:endChr m:val="]"/>
                              <m:ctrlPr>
                                <a:rPr lang="en-US" sz="2400" i="1">
                                  <a:latin typeface="Cambria Math" panose="02040503050406030204" pitchFamily="18" charset="0"/>
                                  <a:ea typeface="Cambria Math" panose="02040503050406030204" pitchFamily="18" charset="0"/>
                                </a:rPr>
                              </m:ctrlPr>
                            </m:dPr>
                            <m:e>
                              <m:f>
                                <m:fPr>
                                  <m:ctrlPr>
                                    <a:rPr lang="en-US" sz="2400" i="1">
                                      <a:solidFill>
                                        <a:srgbClr val="323232"/>
                                      </a:solidFill>
                                      <a:latin typeface="Cambria Math" panose="02040503050406030204" pitchFamily="18" charset="0"/>
                                    </a:rPr>
                                  </m:ctrlPr>
                                </m:fPr>
                                <m:num>
                                  <m:r>
                                    <a:rPr lang="en-US" sz="2400" i="1">
                                      <a:solidFill>
                                        <a:srgbClr val="323232"/>
                                      </a:solidFill>
                                      <a:latin typeface="Cambria Math" panose="02040503050406030204" pitchFamily="18" charset="0"/>
                                    </a:rPr>
                                    <m:t>1</m:t>
                                  </m:r>
                                </m:num>
                                <m:den>
                                  <m:r>
                                    <a:rPr lang="en-US" sz="2400" i="1">
                                      <a:solidFill>
                                        <a:srgbClr val="323232"/>
                                      </a:solidFill>
                                      <a:latin typeface="Cambria Math" panose="02040503050406030204" pitchFamily="18" charset="0"/>
                                    </a:rPr>
                                    <m:t>𝑘</m:t>
                                  </m:r>
                                </m:den>
                              </m:f>
                              <m:r>
                                <a:rPr lang="en-US" sz="2400" i="1">
                                  <a:solidFill>
                                    <a:srgbClr val="323232"/>
                                  </a:solidFill>
                                  <a:latin typeface="Cambria Math" panose="02040503050406030204" pitchFamily="18" charset="0"/>
                                </a:rPr>
                                <m:t>⋅</m:t>
                              </m:r>
                              <m:nary>
                                <m:naryPr>
                                  <m:chr m:val="∑"/>
                                  <m:ctrlPr>
                                    <a:rPr lang="en-US" sz="2400" i="1">
                                      <a:solidFill>
                                        <a:srgbClr val="323232"/>
                                      </a:solidFill>
                                      <a:latin typeface="Cambria Math" panose="02040503050406030204" pitchFamily="18" charset="0"/>
                                    </a:rPr>
                                  </m:ctrlPr>
                                </m:naryPr>
                                <m:sub>
                                  <m:r>
                                    <a:rPr lang="en-US" sz="2400" i="1">
                                      <a:solidFill>
                                        <a:srgbClr val="323232"/>
                                      </a:solidFill>
                                      <a:latin typeface="Cambria Math" panose="02040503050406030204" pitchFamily="18" charset="0"/>
                                    </a:rPr>
                                    <m:t>𝑖</m:t>
                                  </m:r>
                                  <m:r>
                                    <a:rPr lang="en-US" sz="2400" i="1">
                                      <a:solidFill>
                                        <a:srgbClr val="323232"/>
                                      </a:solidFill>
                                      <a:latin typeface="Cambria Math" panose="02040503050406030204" pitchFamily="18" charset="0"/>
                                    </a:rPr>
                                    <m:t>=1</m:t>
                                  </m:r>
                                </m:sub>
                                <m:sup>
                                  <m:r>
                                    <a:rPr lang="en-US" sz="2400" i="1">
                                      <a:solidFill>
                                        <a:srgbClr val="323232"/>
                                      </a:solidFill>
                                      <a:latin typeface="Cambria Math" panose="02040503050406030204" pitchFamily="18" charset="0"/>
                                    </a:rPr>
                                    <m:t>𝑘</m:t>
                                  </m:r>
                                </m:sup>
                                <m:e>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e>
                              </m:nary>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d>
                                <m:dPr>
                                  <m:begChr m:val="["/>
                                  <m:endChr m:val="]"/>
                                  <m:ctrlPr>
                                    <a:rPr lang="en-US" sz="2400" i="1">
                                      <a:latin typeface="Cambria Math" panose="02040503050406030204" pitchFamily="18" charset="0"/>
                                      <a:ea typeface="Cambria Math" panose="02040503050406030204" pitchFamily="18" charset="0"/>
                                    </a:rPr>
                                  </m:ctrlPr>
                                </m:dPr>
                                <m:e>
                                  <m:f>
                                    <m:fPr>
                                      <m:ctrlPr>
                                        <a:rPr lang="en-US" sz="2400" i="1">
                                          <a:solidFill>
                                            <a:srgbClr val="323232"/>
                                          </a:solidFill>
                                          <a:latin typeface="Cambria Math" panose="02040503050406030204" pitchFamily="18" charset="0"/>
                                        </a:rPr>
                                      </m:ctrlPr>
                                    </m:fPr>
                                    <m:num>
                                      <m:r>
                                        <a:rPr lang="en-US" sz="2400" i="1">
                                          <a:solidFill>
                                            <a:srgbClr val="323232"/>
                                          </a:solidFill>
                                          <a:latin typeface="Cambria Math" panose="02040503050406030204" pitchFamily="18" charset="0"/>
                                        </a:rPr>
                                        <m:t>1</m:t>
                                      </m:r>
                                    </m:num>
                                    <m:den>
                                      <m:r>
                                        <a:rPr lang="en-US" sz="2400" i="1">
                                          <a:solidFill>
                                            <a:srgbClr val="323232"/>
                                          </a:solidFill>
                                          <a:latin typeface="Cambria Math" panose="02040503050406030204" pitchFamily="18" charset="0"/>
                                        </a:rPr>
                                        <m:t>𝑘</m:t>
                                      </m:r>
                                    </m:den>
                                  </m:f>
                                  <m:r>
                                    <a:rPr lang="en-US" sz="2400" i="1">
                                      <a:solidFill>
                                        <a:srgbClr val="323232"/>
                                      </a:solidFill>
                                      <a:latin typeface="Cambria Math" panose="02040503050406030204" pitchFamily="18" charset="0"/>
                                    </a:rPr>
                                    <m:t>⋅</m:t>
                                  </m:r>
                                  <m:nary>
                                    <m:naryPr>
                                      <m:chr m:val="∑"/>
                                      <m:ctrlPr>
                                        <a:rPr lang="en-US" sz="2400" i="1">
                                          <a:solidFill>
                                            <a:srgbClr val="323232"/>
                                          </a:solidFill>
                                          <a:latin typeface="Cambria Math" panose="02040503050406030204" pitchFamily="18" charset="0"/>
                                        </a:rPr>
                                      </m:ctrlPr>
                                    </m:naryPr>
                                    <m:sub>
                                      <m:r>
                                        <a:rPr lang="en-US" sz="2400" i="1">
                                          <a:solidFill>
                                            <a:srgbClr val="323232"/>
                                          </a:solidFill>
                                          <a:latin typeface="Cambria Math" panose="02040503050406030204" pitchFamily="18" charset="0"/>
                                        </a:rPr>
                                        <m:t>𝑖</m:t>
                                      </m:r>
                                      <m:r>
                                        <a:rPr lang="en-US" sz="2400" i="1">
                                          <a:solidFill>
                                            <a:srgbClr val="323232"/>
                                          </a:solidFill>
                                          <a:latin typeface="Cambria Math" panose="02040503050406030204" pitchFamily="18" charset="0"/>
                                        </a:rPr>
                                        <m:t>=1</m:t>
                                      </m:r>
                                    </m:sub>
                                    <m:sup>
                                      <m:r>
                                        <a:rPr lang="en-US" sz="2400" i="1">
                                          <a:solidFill>
                                            <a:srgbClr val="323232"/>
                                          </a:solidFill>
                                          <a:latin typeface="Cambria Math" panose="02040503050406030204" pitchFamily="18" charset="0"/>
                                        </a:rPr>
                                        <m:t>𝑘</m:t>
                                      </m:r>
                                    </m:sup>
                                    <m:e>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e>
                                  </m:nary>
                                </m:e>
                              </m:d>
                            </m:e>
                          </m:d>
                        </m:e>
                        <m:sup>
                          <m:r>
                            <a:rPr lang="en-US" sz="2400" i="1">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oMath>
                  </m:oMathPara>
                </a14:m>
                <a:endParaRPr lang="en-US" sz="2400" dirty="0"/>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sSup>
                        <m:sSupPr>
                          <m:ctrlPr>
                            <a:rPr lang="en-US" sz="2400" i="1">
                              <a:latin typeface="Cambria Math" panose="02040503050406030204" pitchFamily="18" charset="0"/>
                              <a:ea typeface="Cambria Math" panose="02040503050406030204" pitchFamily="18" charset="0"/>
                            </a:rPr>
                          </m:ctrlPr>
                        </m:sSupPr>
                        <m:e>
                          <m:d>
                            <m:dPr>
                              <m:begChr m:val="["/>
                              <m:endChr m:val="]"/>
                              <m:ctrlPr>
                                <a:rPr lang="en-US" sz="2400" i="1">
                                  <a:latin typeface="Cambria Math" panose="02040503050406030204" pitchFamily="18" charset="0"/>
                                  <a:ea typeface="Cambria Math" panose="02040503050406030204" pitchFamily="18" charset="0"/>
                                </a:rPr>
                              </m:ctrlPr>
                            </m:dPr>
                            <m:e>
                              <m:nary>
                                <m:naryPr>
                                  <m:chr m:val="∑"/>
                                  <m:ctrlPr>
                                    <a:rPr lang="en-US" sz="2400" i="1">
                                      <a:solidFill>
                                        <a:srgbClr val="323232"/>
                                      </a:solidFill>
                                      <a:latin typeface="Cambria Math" panose="02040503050406030204" pitchFamily="18" charset="0"/>
                                    </a:rPr>
                                  </m:ctrlPr>
                                </m:naryPr>
                                <m:sub>
                                  <m:r>
                                    <a:rPr lang="en-US" sz="2400" i="1">
                                      <a:solidFill>
                                        <a:srgbClr val="323232"/>
                                      </a:solidFill>
                                      <a:latin typeface="Cambria Math" panose="02040503050406030204" pitchFamily="18" charset="0"/>
                                    </a:rPr>
                                    <m:t>𝑖</m:t>
                                  </m:r>
                                  <m:r>
                                    <a:rPr lang="en-US" sz="2400" i="1">
                                      <a:solidFill>
                                        <a:srgbClr val="323232"/>
                                      </a:solidFill>
                                      <a:latin typeface="Cambria Math" panose="02040503050406030204" pitchFamily="18" charset="0"/>
                                    </a:rPr>
                                    <m:t>=1</m:t>
                                  </m:r>
                                </m:sub>
                                <m:sup>
                                  <m:r>
                                    <a:rPr lang="en-US" sz="2400" i="1">
                                      <a:solidFill>
                                        <a:srgbClr val="323232"/>
                                      </a:solidFill>
                                      <a:latin typeface="Cambria Math" panose="02040503050406030204" pitchFamily="18" charset="0"/>
                                    </a:rPr>
                                    <m:t>𝑘</m:t>
                                  </m:r>
                                </m:sup>
                                <m:e>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e>
                              </m:nary>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d>
                                <m:dPr>
                                  <m:begChr m:val="["/>
                                  <m:endChr m:val="]"/>
                                  <m:ctrlPr>
                                    <a:rPr lang="en-US" sz="2400" i="1">
                                      <a:latin typeface="Cambria Math" panose="02040503050406030204" pitchFamily="18" charset="0"/>
                                      <a:ea typeface="Cambria Math" panose="02040503050406030204" pitchFamily="18" charset="0"/>
                                    </a:rPr>
                                  </m:ctrlPr>
                                </m:dPr>
                                <m:e>
                                  <m:nary>
                                    <m:naryPr>
                                      <m:chr m:val="∑"/>
                                      <m:ctrlPr>
                                        <a:rPr lang="en-US" sz="2400" i="1">
                                          <a:solidFill>
                                            <a:srgbClr val="323232"/>
                                          </a:solidFill>
                                          <a:latin typeface="Cambria Math" panose="02040503050406030204" pitchFamily="18" charset="0"/>
                                        </a:rPr>
                                      </m:ctrlPr>
                                    </m:naryPr>
                                    <m:sub>
                                      <m:r>
                                        <a:rPr lang="en-US" sz="2400" i="1">
                                          <a:solidFill>
                                            <a:srgbClr val="323232"/>
                                          </a:solidFill>
                                          <a:latin typeface="Cambria Math" panose="02040503050406030204" pitchFamily="18" charset="0"/>
                                        </a:rPr>
                                        <m:t>𝑖</m:t>
                                      </m:r>
                                      <m:r>
                                        <a:rPr lang="en-US" sz="2400" i="1">
                                          <a:solidFill>
                                            <a:srgbClr val="323232"/>
                                          </a:solidFill>
                                          <a:latin typeface="Cambria Math" panose="02040503050406030204" pitchFamily="18" charset="0"/>
                                        </a:rPr>
                                        <m:t>=1</m:t>
                                      </m:r>
                                    </m:sub>
                                    <m:sup>
                                      <m:r>
                                        <a:rPr lang="en-US" sz="2400" i="1">
                                          <a:solidFill>
                                            <a:srgbClr val="323232"/>
                                          </a:solidFill>
                                          <a:latin typeface="Cambria Math" panose="02040503050406030204" pitchFamily="18" charset="0"/>
                                        </a:rPr>
                                        <m:t>𝑘</m:t>
                                      </m:r>
                                    </m:sup>
                                    <m:e>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e>
                                  </m:nary>
                                </m:e>
                              </m:d>
                            </m:e>
                          </m:d>
                        </m:e>
                        <m:sup>
                          <m:r>
                            <a:rPr lang="en-US" sz="2400" i="1">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rPr>
                        <m:t>=</m:t>
                      </m:r>
                    </m:oMath>
                  </m:oMathPara>
                </a14:m>
                <a:endParaRPr lang="en-US" sz="2400" dirty="0"/>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r>
                        <a:rPr lang="ru-RU"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ru-RU"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sSup>
                        <m:sSupPr>
                          <m:ctrlPr>
                            <a:rPr lang="en-US" sz="2400" i="1">
                              <a:latin typeface="Cambria Math" panose="02040503050406030204" pitchFamily="18" charset="0"/>
                              <a:ea typeface="Cambria Math" panose="02040503050406030204" pitchFamily="18" charset="0"/>
                            </a:rPr>
                          </m:ctrlPr>
                        </m:sSupPr>
                        <m:e>
                          <m:d>
                            <m:dPr>
                              <m:begChr m:val="["/>
                              <m:endChr m:val="]"/>
                              <m:ctrlPr>
                                <a:rPr lang="en-US" sz="2400" i="1">
                                  <a:latin typeface="Cambria Math" panose="02040503050406030204" pitchFamily="18" charset="0"/>
                                  <a:ea typeface="Cambria Math" panose="02040503050406030204" pitchFamily="18" charset="0"/>
                                </a:rPr>
                              </m:ctrlPr>
                            </m:dPr>
                            <m:e>
                              <m:nary>
                                <m:naryPr>
                                  <m:chr m:val="∑"/>
                                  <m:ctrlPr>
                                    <a:rPr lang="en-US" sz="2400" i="1">
                                      <a:solidFill>
                                        <a:srgbClr val="323232"/>
                                      </a:solidFill>
                                      <a:latin typeface="Cambria Math" panose="02040503050406030204" pitchFamily="18" charset="0"/>
                                    </a:rPr>
                                  </m:ctrlPr>
                                </m:naryPr>
                                <m:sub>
                                  <m:r>
                                    <a:rPr lang="en-US" sz="2400" i="1">
                                      <a:solidFill>
                                        <a:srgbClr val="323232"/>
                                      </a:solidFill>
                                      <a:latin typeface="Cambria Math" panose="02040503050406030204" pitchFamily="18" charset="0"/>
                                    </a:rPr>
                                    <m:t>𝑖</m:t>
                                  </m:r>
                                  <m:r>
                                    <a:rPr lang="en-US" sz="2400" i="1">
                                      <a:solidFill>
                                        <a:srgbClr val="323232"/>
                                      </a:solidFill>
                                      <a:latin typeface="Cambria Math" panose="02040503050406030204" pitchFamily="18" charset="0"/>
                                    </a:rPr>
                                    <m:t>=1</m:t>
                                  </m:r>
                                </m:sub>
                                <m:sup>
                                  <m:r>
                                    <a:rPr lang="en-US" sz="2400" i="1">
                                      <a:solidFill>
                                        <a:srgbClr val="323232"/>
                                      </a:solidFill>
                                      <a:latin typeface="Cambria Math" panose="02040503050406030204" pitchFamily="18" charset="0"/>
                                    </a:rPr>
                                    <m:t>𝑘</m:t>
                                  </m:r>
                                </m:sup>
                                <m:e>
                                  <m:r>
                                    <a:rPr lang="en-US" sz="2400" b="0" i="1" smtClean="0">
                                      <a:solidFill>
                                        <a:srgbClr val="323232"/>
                                      </a:solidFill>
                                      <a:latin typeface="Cambria Math" panose="02040503050406030204" pitchFamily="18" charset="0"/>
                                    </a:rPr>
                                    <m:t>(</m:t>
                                  </m:r>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r>
                                    <a:rPr lang="en-US" sz="2400" b="0" i="1" smtClean="0">
                                      <a:solidFill>
                                        <a:srgbClr val="323232"/>
                                      </a:solidFill>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r>
                                    <a:rPr lang="en-US" sz="2400" b="0" i="1" smtClean="0">
                                      <a:latin typeface="Cambria Math" panose="02040503050406030204" pitchFamily="18" charset="0"/>
                                      <a:ea typeface="Cambria Math" panose="02040503050406030204" pitchFamily="18" charset="0"/>
                                    </a:rPr>
                                    <m:t>[</m:t>
                                  </m:r>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r>
                                    <a:rPr lang="en-US" sz="2400" b="0" i="1" smtClean="0">
                                      <a:latin typeface="Cambria Math" panose="02040503050406030204" pitchFamily="18" charset="0"/>
                                      <a:ea typeface="Cambria Math" panose="02040503050406030204" pitchFamily="18" charset="0"/>
                                    </a:rPr>
                                    <m:t>]</m:t>
                                  </m:r>
                                  <m:r>
                                    <a:rPr lang="en-US" sz="2400" b="0" i="1" smtClean="0">
                                      <a:solidFill>
                                        <a:srgbClr val="323232"/>
                                      </a:solidFill>
                                      <a:latin typeface="Cambria Math" panose="02040503050406030204" pitchFamily="18" charset="0"/>
                                    </a:rPr>
                                    <m:t>)</m:t>
                                  </m:r>
                                </m:e>
                              </m:nary>
                            </m:e>
                          </m:d>
                        </m:e>
                        <m:sup>
                          <m:r>
                            <a:rPr lang="en-US" sz="2400" i="1">
                              <a:latin typeface="Cambria Math" panose="02040503050406030204" pitchFamily="18" charset="0"/>
                              <a:ea typeface="Cambria Math" panose="02040503050406030204" pitchFamily="18" charset="0"/>
                            </a:rPr>
                            <m:t>2</m:t>
                          </m:r>
                        </m:sup>
                      </m:sSup>
                      <m:r>
                        <a:rPr lang="ru-RU" sz="2400" b="0" i="1" smtClean="0">
                          <a:latin typeface="Cambria Math" panose="02040503050406030204" pitchFamily="18" charset="0"/>
                        </a:rPr>
                        <m:t>=</m:t>
                      </m:r>
                    </m:oMath>
                  </m:oMathPara>
                </a14:m>
                <a:endParaRPr lang="en-US" sz="2400" dirty="0"/>
              </a:p>
            </p:txBody>
          </p:sp>
        </mc:Choice>
        <mc:Fallback>
          <p:sp>
            <p:nvSpPr>
              <p:cNvPr id="3" name="Объект 2">
                <a:extLst>
                  <a:ext uri="{FF2B5EF4-FFF2-40B4-BE49-F238E27FC236}">
                    <a16:creationId xmlns:a16="http://schemas.microsoft.com/office/drawing/2014/main" id="{AFCF134E-BFFD-1285-82BF-1087C467A5A2}"/>
                  </a:ext>
                </a:extLst>
              </p:cNvPr>
              <p:cNvSpPr>
                <a:spLocks noGrp="1" noRot="1" noChangeAspect="1" noMove="1" noResize="1" noEditPoints="1" noAdjustHandles="1" noChangeArrowheads="1" noChangeShapeType="1" noTextEdit="1"/>
              </p:cNvSpPr>
              <p:nvPr>
                <p:ph idx="1"/>
              </p:nvPr>
            </p:nvSpPr>
            <p:spPr>
              <a:xfrm>
                <a:off x="628650" y="1066800"/>
                <a:ext cx="7886700" cy="5110163"/>
              </a:xfrm>
              <a:blipFill>
                <a:blip r:embed="rId3"/>
                <a:stretch>
                  <a:fillRect/>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40E3C241-F091-866D-BE11-99DD2A9A741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5CF0662-58AE-BE40-D7EE-37CE5ADEC892}"/>
              </a:ext>
            </a:extLst>
          </p:cNvPr>
          <p:cNvSpPr>
            <a:spLocks noGrp="1"/>
          </p:cNvSpPr>
          <p:nvPr>
            <p:ph type="sldNum" sz="quarter" idx="12"/>
          </p:nvPr>
        </p:nvSpPr>
        <p:spPr/>
        <p:txBody>
          <a:bodyPr/>
          <a:lstStyle/>
          <a:p>
            <a:fld id="{81C5FB71-5E9C-41B5-9BB8-3F1EBEAEB16A}" type="slidenum">
              <a:rPr lang="ru-RU" smtClean="0"/>
              <a:t>13</a:t>
            </a:fld>
            <a:endParaRPr lang="ru-RU"/>
          </a:p>
        </p:txBody>
      </p:sp>
    </p:spTree>
    <p:extLst>
      <p:ext uri="{BB962C8B-B14F-4D97-AF65-F5344CB8AC3E}">
        <p14:creationId xmlns:p14="http://schemas.microsoft.com/office/powerpoint/2010/main" val="3169512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2747A-4509-7770-9F61-76119A7759B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164100-F57C-EA3B-8EA6-1379FB7B80FC}"/>
              </a:ext>
            </a:extLst>
          </p:cNvPr>
          <p:cNvSpPr>
            <a:spLocks noGrp="1"/>
          </p:cNvSpPr>
          <p:nvPr>
            <p:ph type="title"/>
          </p:nvPr>
        </p:nvSpPr>
        <p:spPr>
          <a:xfrm>
            <a:off x="628650" y="70791"/>
            <a:ext cx="7886700" cy="767409"/>
          </a:xfrm>
        </p:spPr>
        <p:txBody>
          <a:bodyPr>
            <a:normAutofit/>
          </a:bodyPr>
          <a:lstStyle/>
          <a:p>
            <a:pPr algn="ctr"/>
            <a:r>
              <a:rPr lang="ru-RU" sz="3400" dirty="0"/>
              <a:t>Разброс модели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B18BA4A9-EB00-3703-457A-0989BFB2E364}"/>
                  </a:ext>
                </a:extLst>
              </p:cNvPr>
              <p:cNvSpPr>
                <a:spLocks noGrp="1"/>
              </p:cNvSpPr>
              <p:nvPr>
                <p:ph idx="1"/>
              </p:nvPr>
            </p:nvSpPr>
            <p:spPr>
              <a:xfrm>
                <a:off x="628650" y="1066800"/>
                <a:ext cx="7886700" cy="5110163"/>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r>
                        <a:rPr lang="ru-RU"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ru-RU"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sSup>
                        <m:sSupPr>
                          <m:ctrlPr>
                            <a:rPr lang="en-US" sz="2400" i="1">
                              <a:latin typeface="Cambria Math" panose="02040503050406030204" pitchFamily="18" charset="0"/>
                              <a:ea typeface="Cambria Math" panose="02040503050406030204" pitchFamily="18" charset="0"/>
                            </a:rPr>
                          </m:ctrlPr>
                        </m:sSupPr>
                        <m:e>
                          <m:d>
                            <m:dPr>
                              <m:begChr m:val="["/>
                              <m:endChr m:val="]"/>
                              <m:ctrlPr>
                                <a:rPr lang="en-US" sz="2400" i="1">
                                  <a:latin typeface="Cambria Math" panose="02040503050406030204" pitchFamily="18" charset="0"/>
                                  <a:ea typeface="Cambria Math" panose="02040503050406030204" pitchFamily="18" charset="0"/>
                                </a:rPr>
                              </m:ctrlPr>
                            </m:dPr>
                            <m:e>
                              <m:nary>
                                <m:naryPr>
                                  <m:chr m:val="∑"/>
                                  <m:ctrlPr>
                                    <a:rPr lang="en-US" sz="2400" i="1">
                                      <a:solidFill>
                                        <a:srgbClr val="323232"/>
                                      </a:solidFill>
                                      <a:latin typeface="Cambria Math" panose="02040503050406030204" pitchFamily="18" charset="0"/>
                                    </a:rPr>
                                  </m:ctrlPr>
                                </m:naryPr>
                                <m:sub>
                                  <m:r>
                                    <a:rPr lang="en-US" sz="2400" i="1">
                                      <a:solidFill>
                                        <a:srgbClr val="323232"/>
                                      </a:solidFill>
                                      <a:latin typeface="Cambria Math" panose="02040503050406030204" pitchFamily="18" charset="0"/>
                                    </a:rPr>
                                    <m:t>𝑖</m:t>
                                  </m:r>
                                  <m:r>
                                    <a:rPr lang="en-US" sz="2400" i="1">
                                      <a:solidFill>
                                        <a:srgbClr val="323232"/>
                                      </a:solidFill>
                                      <a:latin typeface="Cambria Math" panose="02040503050406030204" pitchFamily="18" charset="0"/>
                                    </a:rPr>
                                    <m:t>=1</m:t>
                                  </m:r>
                                </m:sub>
                                <m:sup>
                                  <m:r>
                                    <a:rPr lang="en-US" sz="2400" i="1">
                                      <a:solidFill>
                                        <a:srgbClr val="323232"/>
                                      </a:solidFill>
                                      <a:latin typeface="Cambria Math" panose="02040503050406030204" pitchFamily="18" charset="0"/>
                                    </a:rPr>
                                    <m:t>𝑘</m:t>
                                  </m:r>
                                </m:sup>
                                <m:e>
                                  <m:r>
                                    <a:rPr lang="en-US" sz="2400" b="0" i="1" smtClean="0">
                                      <a:solidFill>
                                        <a:srgbClr val="323232"/>
                                      </a:solidFill>
                                      <a:latin typeface="Cambria Math" panose="02040503050406030204" pitchFamily="18" charset="0"/>
                                    </a:rPr>
                                    <m:t>(</m:t>
                                  </m:r>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r>
                                    <a:rPr lang="en-US" sz="2400" b="0" i="1" smtClean="0">
                                      <a:solidFill>
                                        <a:srgbClr val="323232"/>
                                      </a:solidFill>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r>
                                    <a:rPr lang="en-US" sz="2400" b="0" i="1" smtClean="0">
                                      <a:latin typeface="Cambria Math" panose="02040503050406030204" pitchFamily="18" charset="0"/>
                                      <a:ea typeface="Cambria Math" panose="02040503050406030204" pitchFamily="18" charset="0"/>
                                    </a:rPr>
                                    <m:t>[</m:t>
                                  </m:r>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r>
                                    <a:rPr lang="en-US" sz="2400" b="0" i="1" smtClean="0">
                                      <a:latin typeface="Cambria Math" panose="02040503050406030204" pitchFamily="18" charset="0"/>
                                      <a:ea typeface="Cambria Math" panose="02040503050406030204" pitchFamily="18" charset="0"/>
                                    </a:rPr>
                                    <m:t>]</m:t>
                                  </m:r>
                                  <m:r>
                                    <a:rPr lang="en-US" sz="2400" b="0" i="1" smtClean="0">
                                      <a:solidFill>
                                        <a:srgbClr val="323232"/>
                                      </a:solidFill>
                                      <a:latin typeface="Cambria Math" panose="02040503050406030204" pitchFamily="18" charset="0"/>
                                    </a:rPr>
                                    <m:t>)</m:t>
                                  </m:r>
                                </m:e>
                              </m:nary>
                            </m:e>
                          </m:d>
                        </m:e>
                        <m:sup>
                          <m:r>
                            <a:rPr lang="en-US" sz="2400" i="1">
                              <a:latin typeface="Cambria Math" panose="02040503050406030204" pitchFamily="18" charset="0"/>
                              <a:ea typeface="Cambria Math" panose="02040503050406030204" pitchFamily="18" charset="0"/>
                            </a:rPr>
                            <m:t>2</m:t>
                          </m:r>
                        </m:sup>
                      </m:sSup>
                      <m:r>
                        <a:rPr lang="ru-RU" sz="2400" b="0" i="1" smtClean="0">
                          <a:latin typeface="Cambria Math" panose="02040503050406030204" pitchFamily="18" charset="0"/>
                        </a:rPr>
                        <m:t>=</m:t>
                      </m:r>
                    </m:oMath>
                  </m:oMathPara>
                </a14:m>
                <a:endParaRPr lang="en-US" sz="2400" b="0" dirty="0"/>
              </a:p>
              <a:p>
                <a:pPr marL="0" indent="0">
                  <a:buNone/>
                </a:pPr>
                <a:endParaRPr lang="en-US" sz="2400" b="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nary>
                        <m:naryPr>
                          <m:chr m:val="∑"/>
                          <m:ctrlPr>
                            <a:rPr lang="en-US" sz="2400" b="0" i="1" smtClean="0">
                              <a:latin typeface="Cambria Math" panose="02040503050406030204" pitchFamily="18" charset="0"/>
                            </a:rPr>
                          </m:ctrlPr>
                        </m:naryPr>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𝑘</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sSup>
                            <m:sSupPr>
                              <m:ctrlPr>
                                <a:rPr lang="en-US" sz="2400" b="0" i="1" smtClean="0">
                                  <a:solidFill>
                                    <a:srgbClr val="323232"/>
                                  </a:solidFill>
                                  <a:latin typeface="Cambria Math" panose="02040503050406030204" pitchFamily="18" charset="0"/>
                                  <a:ea typeface="Cambria Math" panose="02040503050406030204" pitchFamily="18" charset="0"/>
                                </a:rPr>
                              </m:ctrlPr>
                            </m:sSupPr>
                            <m:e>
                              <m:d>
                                <m:dPr>
                                  <m:begChr m:val="["/>
                                  <m:endChr m:val="]"/>
                                  <m:ctrlPr>
                                    <a:rPr lang="en-US" sz="2400" b="0" i="1" smtClean="0">
                                      <a:solidFill>
                                        <a:srgbClr val="323232"/>
                                      </a:solidFill>
                                      <a:latin typeface="Cambria Math" panose="02040503050406030204" pitchFamily="18" charset="0"/>
                                      <a:ea typeface="Cambria Math" panose="02040503050406030204" pitchFamily="18" charset="0"/>
                                    </a:rPr>
                                  </m:ctrlPr>
                                </m:dPr>
                                <m:e>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r>
                                    <a:rPr lang="en-US" sz="2400" i="1">
                                      <a:solidFill>
                                        <a:srgbClr val="323232"/>
                                      </a:solidFill>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𝑋</m:t>
                                      </m:r>
                                    </m:sub>
                                  </m:sSub>
                                  <m:d>
                                    <m:dPr>
                                      <m:begChr m:val="["/>
                                      <m:endChr m:val="]"/>
                                      <m:ctrlPr>
                                        <a:rPr lang="en-US" sz="2400" i="1">
                                          <a:latin typeface="Cambria Math" panose="02040503050406030204" pitchFamily="18" charset="0"/>
                                          <a:ea typeface="Cambria Math" panose="02040503050406030204" pitchFamily="18" charset="0"/>
                                        </a:rPr>
                                      </m:ctrlPr>
                                    </m:dPr>
                                    <m:e>
                                      <m:r>
                                        <a:rPr lang="en-US" sz="2400" i="1">
                                          <a:solidFill>
                                            <a:srgbClr val="323232"/>
                                          </a:solidFill>
                                          <a:latin typeface="Cambria Math" panose="02040503050406030204" pitchFamily="18" charset="0"/>
                                        </a:rPr>
                                        <m:t>𝑏</m:t>
                                      </m:r>
                                      <m:d>
                                        <m:dPr>
                                          <m:ctrlPr>
                                            <a:rPr lang="en-US" sz="2400" i="1">
                                              <a:solidFill>
                                                <a:srgbClr val="323232"/>
                                              </a:solidFill>
                                              <a:latin typeface="Cambria Math" panose="02040503050406030204" pitchFamily="18" charset="0"/>
                                            </a:rPr>
                                          </m:ctrlPr>
                                        </m:dPr>
                                        <m:e>
                                          <m:r>
                                            <a:rPr lang="en-US" sz="2400" i="1">
                                              <a:solidFill>
                                                <a:srgbClr val="323232"/>
                                              </a:solidFill>
                                              <a:latin typeface="Cambria Math" panose="02040503050406030204" pitchFamily="18" charset="0"/>
                                            </a:rPr>
                                            <m:t>𝑥</m:t>
                                          </m:r>
                                          <m:r>
                                            <a:rPr lang="en-US" sz="2400" i="1">
                                              <a:solidFill>
                                                <a:srgbClr val="323232"/>
                                              </a:solidFill>
                                              <a:latin typeface="Cambria Math" panose="02040503050406030204" pitchFamily="18" charset="0"/>
                                            </a:rPr>
                                            <m:t>, </m:t>
                                          </m:r>
                                          <m:sSub>
                                            <m:sSubPr>
                                              <m:ctrlPr>
                                                <a:rPr lang="en-US" sz="2400" i="1">
                                                  <a:solidFill>
                                                    <a:srgbClr val="323232"/>
                                                  </a:solidFill>
                                                  <a:latin typeface="Cambria Math" panose="02040503050406030204" pitchFamily="18" charset="0"/>
                                                </a:rPr>
                                              </m:ctrlPr>
                                            </m:sSubPr>
                                            <m:e>
                                              <m:r>
                                                <a:rPr lang="en-US" sz="2400" i="1">
                                                  <a:solidFill>
                                                    <a:srgbClr val="323232"/>
                                                  </a:solidFill>
                                                  <a:latin typeface="Cambria Math" panose="02040503050406030204" pitchFamily="18" charset="0"/>
                                                </a:rPr>
                                                <m:t>𝑋</m:t>
                                              </m:r>
                                            </m:e>
                                            <m:sub>
                                              <m:r>
                                                <a:rPr lang="en-US" sz="2400" i="1">
                                                  <a:solidFill>
                                                    <a:srgbClr val="323232"/>
                                                  </a:solidFill>
                                                  <a:latin typeface="Cambria Math" panose="02040503050406030204" pitchFamily="18" charset="0"/>
                                                </a:rPr>
                                                <m:t>𝑖</m:t>
                                              </m:r>
                                            </m:sub>
                                          </m:sSub>
                                        </m:e>
                                      </m:d>
                                    </m:e>
                                  </m:d>
                                </m:e>
                              </m:d>
                            </m:e>
                            <m:sup>
                              <m:r>
                                <a:rPr lang="en-US" sz="2400" b="0" i="1" smtClean="0">
                                  <a:latin typeface="Cambria Math" panose="02040503050406030204" pitchFamily="18" charset="0"/>
                                  <a:ea typeface="Cambria Math" panose="02040503050406030204" pitchFamily="18" charset="0"/>
                                </a:rPr>
                                <m:t>2</m:t>
                              </m:r>
                            </m:sup>
                          </m:sSup>
                        </m:e>
                      </m:nary>
                      <m:r>
                        <a:rPr lang="en-US" sz="2400" b="0" i="1" smtClean="0">
                          <a:latin typeface="Cambria Math" panose="02040503050406030204" pitchFamily="18" charset="0"/>
                        </a:rPr>
                        <m:t>+</m:t>
                      </m:r>
                    </m:oMath>
                  </m:oMathPara>
                </a14:m>
                <a:endParaRPr lang="en-US" sz="2400" b="0" i="1" dirty="0">
                  <a:latin typeface="Cambria Math" panose="02040503050406030204" pitchFamily="18" charset="0"/>
                </a:endParaRPr>
              </a:p>
              <a:p>
                <a:pPr marL="0" indent="0">
                  <a:buNone/>
                </a:pP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nary>
                        <m:naryPr>
                          <m:chr m:val="∑"/>
                          <m:supHide m:val="on"/>
                          <m:ctrlPr>
                            <a:rPr lang="en-US" sz="2400" b="0" i="1" smtClean="0">
                              <a:latin typeface="Cambria Math" panose="02040503050406030204" pitchFamily="18" charset="0"/>
                            </a:rPr>
                          </m:ctrlPr>
                        </m:naryPr>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sub>
                        <m:sup/>
                        <m:e>
                          <m:r>
                            <a:rPr lang="en-US" sz="2400" b="0" i="1" smtClean="0">
                              <a:latin typeface="Cambria Math" panose="02040503050406030204" pitchFamily="18" charset="0"/>
                            </a:rPr>
                            <m:t>𝑐𝑜𝑣</m:t>
                          </m:r>
                          <m:r>
                            <a:rPr lang="en-US" sz="2400" b="0" i="1" smtClean="0">
                              <a:latin typeface="Cambria Math" panose="02040503050406030204" pitchFamily="18" charset="0"/>
                            </a:rPr>
                            <m:t>(</m:t>
                          </m:r>
                          <m:r>
                            <a:rPr lang="en-US" sz="2400" b="0" i="1" smtClean="0">
                              <a:latin typeface="Cambria Math" panose="02040503050406030204" pitchFamily="18" charset="0"/>
                            </a:rPr>
                            <m:t>𝑏</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sub>
                              </m:sSub>
                            </m:e>
                          </m:d>
                          <m:r>
                            <a:rPr lang="en-US" sz="2400" i="1">
                              <a:latin typeface="Cambria Math" panose="02040503050406030204" pitchFamily="18" charset="0"/>
                            </a:rPr>
                            <m:t>,</m:t>
                          </m:r>
                          <m:r>
                            <a:rPr lang="en-US" sz="2400" i="1">
                              <a:latin typeface="Cambria Math" panose="02040503050406030204" pitchFamily="18" charset="0"/>
                            </a:rPr>
                            <m:t>𝑏</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b="0" i="1" smtClean="0">
                                          <a:latin typeface="Cambria Math" panose="02040503050406030204" pitchFamily="18" charset="0"/>
                                        </a:rPr>
                                        <m:t>2</m:t>
                                      </m:r>
                                    </m:sub>
                                  </m:sSub>
                                </m:sub>
                              </m:sSub>
                            </m:e>
                          </m:d>
                          <m:r>
                            <a:rPr lang="en-US" sz="2400" b="0" i="1" smtClean="0">
                              <a:latin typeface="Cambria Math" panose="02040503050406030204" pitchFamily="18" charset="0"/>
                            </a:rPr>
                            <m:t>)</m:t>
                          </m:r>
                        </m:e>
                      </m:nary>
                      <m:r>
                        <a:rPr lang="en-US" sz="2400" b="0" i="1" smtClean="0">
                          <a:latin typeface="Cambria Math" panose="02040503050406030204" pitchFamily="18" charset="0"/>
                        </a:rPr>
                        <m:t>=</m:t>
                      </m:r>
                    </m:oMath>
                  </m:oMathPara>
                </a14:m>
                <a:endParaRPr lang="en-US" sz="2400" b="0" dirty="0"/>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nary>
                        <m:naryPr>
                          <m:chr m:val="∑"/>
                          <m:ctrlPr>
                            <a:rPr lang="en-US" sz="2400" b="0" i="1" smtClean="0">
                              <a:latin typeface="Cambria Math" panose="02040503050406030204" pitchFamily="18" charset="0"/>
                            </a:rPr>
                          </m:ctrlPr>
                        </m:naryPr>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𝑘</m:t>
                          </m:r>
                        </m:sup>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𝕍</m:t>
                              </m:r>
                            </m:e>
                            <m:sub>
                              <m:r>
                                <a:rPr lang="en-US" sz="2400" b="0" i="1" smtClean="0">
                                  <a:latin typeface="Cambria Math" panose="02040503050406030204" pitchFamily="18" charset="0"/>
                                  <a:ea typeface="Cambria Math" panose="02040503050406030204" pitchFamily="18" charset="0"/>
                                </a:rPr>
                                <m:t>𝑋</m:t>
                              </m:r>
                            </m:sub>
                          </m:sSub>
                          <m:r>
                            <a:rPr lang="en-US" sz="2400" b="0" i="1" smtClean="0">
                              <a:latin typeface="Cambria Math" panose="02040503050406030204" pitchFamily="18" charset="0"/>
                              <a:ea typeface="Cambria Math" panose="02040503050406030204" pitchFamily="18" charset="0"/>
                            </a:rPr>
                            <m:t>𝑏</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𝑋</m:t>
                              </m:r>
                            </m:e>
                            <m:sub>
                              <m:r>
                                <a:rPr lang="en-US" sz="2400" b="0" i="1" smtClean="0">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e>
                      </m:nary>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sSup>
                            <m:sSupPr>
                              <m:ctrlPr>
                                <a:rPr lang="en-US" sz="2400" i="1">
                                  <a:latin typeface="Cambria Math" panose="02040503050406030204" pitchFamily="18" charset="0"/>
                                </a:rPr>
                              </m:ctrlPr>
                            </m:sSupPr>
                            <m:e>
                              <m:r>
                                <a:rPr lang="en-US" sz="2400" i="1">
                                  <a:latin typeface="Cambria Math" panose="02040503050406030204" pitchFamily="18" charset="0"/>
                                </a:rPr>
                                <m:t>𝑘</m:t>
                              </m:r>
                            </m:e>
                            <m:sup>
                              <m:r>
                                <a:rPr lang="en-US" sz="2400" i="1">
                                  <a:latin typeface="Cambria Math" panose="02040503050406030204" pitchFamily="18" charset="0"/>
                                </a:rPr>
                                <m:t>2</m:t>
                              </m:r>
                            </m:sup>
                          </m:sSup>
                        </m:den>
                      </m:f>
                      <m:nary>
                        <m:naryPr>
                          <m:chr m:val="∑"/>
                          <m:supHide m:val="on"/>
                          <m:ctrlPr>
                            <a:rPr lang="en-US" sz="2400" i="1">
                              <a:latin typeface="Cambria Math" panose="02040503050406030204" pitchFamily="18" charset="0"/>
                            </a:rPr>
                          </m:ctrlPr>
                        </m:naryPr>
                        <m:sub>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2</m:t>
                              </m:r>
                            </m:sub>
                          </m:sSub>
                        </m:sub>
                        <m:sup/>
                        <m:e>
                          <m:r>
                            <a:rPr lang="en-US" sz="2400" i="1">
                              <a:latin typeface="Cambria Math" panose="02040503050406030204" pitchFamily="18" charset="0"/>
                            </a:rPr>
                            <m:t>𝑐𝑜𝑣</m:t>
                          </m:r>
                          <m:r>
                            <a:rPr lang="en-US" sz="2400" i="1">
                              <a:latin typeface="Cambria Math" panose="02040503050406030204" pitchFamily="18" charset="0"/>
                            </a:rPr>
                            <m:t>(</m:t>
                          </m:r>
                          <m:r>
                            <a:rPr lang="en-US" sz="2400" i="1">
                              <a:latin typeface="Cambria Math" panose="02040503050406030204" pitchFamily="18" charset="0"/>
                            </a:rPr>
                            <m:t>𝑏</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1</m:t>
                                      </m:r>
                                    </m:sub>
                                  </m:sSub>
                                </m:sub>
                              </m:sSub>
                            </m:e>
                          </m:d>
                          <m:r>
                            <a:rPr lang="en-US" sz="2400" i="1">
                              <a:latin typeface="Cambria Math" panose="02040503050406030204" pitchFamily="18" charset="0"/>
                            </a:rPr>
                            <m:t>,</m:t>
                          </m:r>
                          <m:r>
                            <a:rPr lang="en-US" sz="2400" i="1">
                              <a:latin typeface="Cambria Math" panose="02040503050406030204" pitchFamily="18" charset="0"/>
                            </a:rPr>
                            <m:t>𝑏</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2</m:t>
                                      </m:r>
                                    </m:sub>
                                  </m:sSub>
                                </m:sub>
                              </m:sSub>
                            </m:e>
                          </m:d>
                          <m:r>
                            <a:rPr lang="en-US" sz="2400" i="1">
                              <a:latin typeface="Cambria Math" panose="02040503050406030204" pitchFamily="18" charset="0"/>
                            </a:rPr>
                            <m:t>)</m:t>
                          </m:r>
                        </m:e>
                      </m:nary>
                    </m:oMath>
                  </m:oMathPara>
                </a14:m>
                <a:endParaRPr lang="en-US" sz="2400" dirty="0"/>
              </a:p>
            </p:txBody>
          </p:sp>
        </mc:Choice>
        <mc:Fallback>
          <p:sp>
            <p:nvSpPr>
              <p:cNvPr id="3" name="Объект 2">
                <a:extLst>
                  <a:ext uri="{FF2B5EF4-FFF2-40B4-BE49-F238E27FC236}">
                    <a16:creationId xmlns:a16="http://schemas.microsoft.com/office/drawing/2014/main" id="{B18BA4A9-EB00-3703-457A-0989BFB2E364}"/>
                  </a:ext>
                </a:extLst>
              </p:cNvPr>
              <p:cNvSpPr>
                <a:spLocks noGrp="1" noRot="1" noChangeAspect="1" noMove="1" noResize="1" noEditPoints="1" noAdjustHandles="1" noChangeArrowheads="1" noChangeShapeType="1" noTextEdit="1"/>
              </p:cNvSpPr>
              <p:nvPr>
                <p:ph idx="1"/>
              </p:nvPr>
            </p:nvSpPr>
            <p:spPr>
              <a:xfrm>
                <a:off x="628650" y="1066800"/>
                <a:ext cx="7886700" cy="5110163"/>
              </a:xfrm>
              <a:blipFill>
                <a:blip r:embed="rId3"/>
                <a:stretch>
                  <a:fillRect t="-119"/>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AC67432B-0EAF-17BA-2D4C-C43DCE2A3A8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0A82688-B417-0CED-0BE6-8EB116B2965A}"/>
              </a:ext>
            </a:extLst>
          </p:cNvPr>
          <p:cNvSpPr>
            <a:spLocks noGrp="1"/>
          </p:cNvSpPr>
          <p:nvPr>
            <p:ph type="sldNum" sz="quarter" idx="12"/>
          </p:nvPr>
        </p:nvSpPr>
        <p:spPr/>
        <p:txBody>
          <a:bodyPr/>
          <a:lstStyle/>
          <a:p>
            <a:fld id="{81C5FB71-5E9C-41B5-9BB8-3F1EBEAEB16A}" type="slidenum">
              <a:rPr lang="ru-RU" smtClean="0"/>
              <a:t>14</a:t>
            </a:fld>
            <a:endParaRPr lang="ru-RU"/>
          </a:p>
        </p:txBody>
      </p:sp>
    </p:spTree>
    <p:extLst>
      <p:ext uri="{BB962C8B-B14F-4D97-AF65-F5344CB8AC3E}">
        <p14:creationId xmlns:p14="http://schemas.microsoft.com/office/powerpoint/2010/main" val="2497202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26C0C-EFE3-CF40-87AB-6C311935C4B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1C5EE4-150A-4C42-6E0E-35606CD84B45}"/>
              </a:ext>
            </a:extLst>
          </p:cNvPr>
          <p:cNvSpPr>
            <a:spLocks noGrp="1"/>
          </p:cNvSpPr>
          <p:nvPr>
            <p:ph type="title"/>
          </p:nvPr>
        </p:nvSpPr>
        <p:spPr>
          <a:xfrm>
            <a:off x="628650" y="70791"/>
            <a:ext cx="7886700" cy="767409"/>
          </a:xfrm>
        </p:spPr>
        <p:txBody>
          <a:bodyPr>
            <a:normAutofit/>
          </a:bodyPr>
          <a:lstStyle/>
          <a:p>
            <a:pPr algn="ctr"/>
            <a:r>
              <a:rPr lang="ru-RU" sz="3400" dirty="0"/>
              <a:t>Разброс модели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15D92DFC-8BED-82DB-BFE0-DFAB29123913}"/>
                  </a:ext>
                </a:extLst>
              </p:cNvPr>
              <p:cNvSpPr>
                <a:spLocks noGrp="1"/>
              </p:cNvSpPr>
              <p:nvPr>
                <p:ph idx="1"/>
              </p:nvPr>
            </p:nvSpPr>
            <p:spPr>
              <a:xfrm>
                <a:off x="628650" y="1066800"/>
                <a:ext cx="7886700" cy="5110163"/>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den>
                      </m:f>
                      <m:nary>
                        <m:naryPr>
                          <m:chr m:val="∑"/>
                          <m:ctrlPr>
                            <a:rPr lang="en-US" sz="2400" b="0" i="1" smtClean="0">
                              <a:latin typeface="Cambria Math" panose="02040503050406030204" pitchFamily="18" charset="0"/>
                            </a:rPr>
                          </m:ctrlPr>
                        </m:naryPr>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𝑘</m:t>
                          </m:r>
                        </m:sup>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𝕍</m:t>
                              </m:r>
                            </m:e>
                            <m:sub>
                              <m:r>
                                <a:rPr lang="en-US" sz="2400" b="0" i="1" smtClean="0">
                                  <a:latin typeface="Cambria Math" panose="02040503050406030204" pitchFamily="18" charset="0"/>
                                  <a:ea typeface="Cambria Math" panose="02040503050406030204" pitchFamily="18" charset="0"/>
                                </a:rPr>
                                <m:t>𝑋</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𝑏</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𝑋</m:t>
                                  </m:r>
                                </m:e>
                                <m:sub>
                                  <m:r>
                                    <a:rPr lang="en-US" sz="2400" b="0" i="1" smtClean="0">
                                      <a:latin typeface="Cambria Math" panose="02040503050406030204" pitchFamily="18" charset="0"/>
                                      <a:ea typeface="Cambria Math" panose="02040503050406030204" pitchFamily="18" charset="0"/>
                                    </a:rPr>
                                    <m:t>𝑖</m:t>
                                  </m:r>
                                </m:sub>
                              </m:sSub>
                            </m:e>
                          </m:d>
                          <m:r>
                            <a:rPr lang="en-US" sz="2400" b="0" i="1" smtClean="0">
                              <a:latin typeface="Cambria Math" panose="02040503050406030204" pitchFamily="18" charset="0"/>
                              <a:ea typeface="Cambria Math" panose="02040503050406030204" pitchFamily="18" charset="0"/>
                            </a:rPr>
                            <m:t>]</m:t>
                          </m:r>
                        </m:e>
                      </m:nary>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sSup>
                            <m:sSupPr>
                              <m:ctrlPr>
                                <a:rPr lang="en-US" sz="2400" i="1">
                                  <a:latin typeface="Cambria Math" panose="02040503050406030204" pitchFamily="18" charset="0"/>
                                </a:rPr>
                              </m:ctrlPr>
                            </m:sSupPr>
                            <m:e>
                              <m:r>
                                <a:rPr lang="en-US" sz="2400" i="1">
                                  <a:latin typeface="Cambria Math" panose="02040503050406030204" pitchFamily="18" charset="0"/>
                                </a:rPr>
                                <m:t>𝑘</m:t>
                              </m:r>
                            </m:e>
                            <m:sup>
                              <m:r>
                                <a:rPr lang="en-US" sz="2400" i="1">
                                  <a:latin typeface="Cambria Math" panose="02040503050406030204" pitchFamily="18" charset="0"/>
                                </a:rPr>
                                <m:t>2</m:t>
                              </m:r>
                            </m:sup>
                          </m:sSup>
                        </m:den>
                      </m:f>
                      <m:nary>
                        <m:naryPr>
                          <m:chr m:val="∑"/>
                          <m:supHide m:val="on"/>
                          <m:ctrlPr>
                            <a:rPr lang="en-US" sz="2400" i="1">
                              <a:latin typeface="Cambria Math" panose="02040503050406030204" pitchFamily="18" charset="0"/>
                            </a:rPr>
                          </m:ctrlPr>
                        </m:naryPr>
                        <m:sub>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2</m:t>
                              </m:r>
                            </m:sub>
                          </m:sSub>
                        </m:sub>
                        <m:sup/>
                        <m:e>
                          <m:r>
                            <a:rPr lang="en-US" sz="2400" i="1">
                              <a:latin typeface="Cambria Math" panose="02040503050406030204" pitchFamily="18" charset="0"/>
                            </a:rPr>
                            <m:t>𝑐𝑜𝑣</m:t>
                          </m:r>
                          <m:r>
                            <a:rPr lang="en-US" sz="2400" i="1">
                              <a:latin typeface="Cambria Math" panose="02040503050406030204" pitchFamily="18" charset="0"/>
                            </a:rPr>
                            <m:t>(</m:t>
                          </m:r>
                          <m:r>
                            <a:rPr lang="en-US" sz="2400" i="1">
                              <a:latin typeface="Cambria Math" panose="02040503050406030204" pitchFamily="18" charset="0"/>
                            </a:rPr>
                            <m:t>𝑏</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1</m:t>
                                      </m:r>
                                    </m:sub>
                                  </m:sSub>
                                </m:sub>
                              </m:sSub>
                            </m:e>
                          </m:d>
                          <m:r>
                            <a:rPr lang="en-US" sz="2400" i="1">
                              <a:latin typeface="Cambria Math" panose="02040503050406030204" pitchFamily="18" charset="0"/>
                            </a:rPr>
                            <m:t>,</m:t>
                          </m:r>
                          <m:r>
                            <a:rPr lang="en-US" sz="2400" i="1">
                              <a:latin typeface="Cambria Math" panose="02040503050406030204" pitchFamily="18" charset="0"/>
                            </a:rPr>
                            <m:t>𝑏</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2</m:t>
                                      </m:r>
                                    </m:sub>
                                  </m:sSub>
                                </m:sub>
                              </m:sSub>
                            </m:e>
                          </m:d>
                          <m:r>
                            <a:rPr lang="en-US" sz="2400" i="1">
                              <a:latin typeface="Cambria Math" panose="02040503050406030204" pitchFamily="18" charset="0"/>
                            </a:rPr>
                            <m:t>)</m:t>
                          </m:r>
                        </m:e>
                      </m:nary>
                    </m:oMath>
                  </m:oMathPara>
                </a14:m>
                <a:endParaRPr lang="en-US" sz="2400" b="0" dirty="0"/>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𝕍</m:t>
                          </m:r>
                        </m:e>
                        <m:sub>
                          <m:r>
                            <a:rPr lang="en-US" sz="2400" i="1">
                              <a:latin typeface="Cambria Math" panose="02040503050406030204" pitchFamily="18" charset="0"/>
                              <a:ea typeface="Cambria Math" panose="02040503050406030204" pitchFamily="18" charset="0"/>
                            </a:rPr>
                            <m:t>𝑋</m:t>
                          </m:r>
                        </m:sub>
                      </m:sSub>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𝑎</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e>
                          </m:d>
                        </m:e>
                      </m:d>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𝑘</m:t>
                              </m:r>
                            </m:e>
                            <m:sup>
                              <m:r>
                                <a:rPr lang="en-US" sz="2400" b="0" i="1" smtClean="0">
                                  <a:latin typeface="Cambria Math" panose="02040503050406030204" pitchFamily="18" charset="0"/>
                                  <a:ea typeface="Cambria Math" panose="02040503050406030204" pitchFamily="18" charset="0"/>
                                </a:rPr>
                                <m:t>2</m:t>
                              </m:r>
                            </m:sup>
                          </m:sSup>
                        </m:den>
                      </m:f>
                      <m:nary>
                        <m:naryPr>
                          <m:chr m:val="∑"/>
                          <m:ctrlPr>
                            <a:rPr lang="en-US" sz="2400" b="0" i="1" smtClean="0">
                              <a:latin typeface="Cambria Math" panose="02040503050406030204" pitchFamily="18" charset="0"/>
                              <a:ea typeface="Cambria Math" panose="02040503050406030204" pitchFamily="18" charset="0"/>
                            </a:rPr>
                          </m:ctrlPr>
                        </m:naryPr>
                        <m:sub>
                          <m: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=1</m:t>
                          </m:r>
                        </m:sub>
                        <m:sup>
                          <m:r>
                            <a:rPr lang="en-US" sz="2400" b="0" i="1" smtClean="0">
                              <a:latin typeface="Cambria Math" panose="02040503050406030204" pitchFamily="18" charset="0"/>
                              <a:ea typeface="Cambria Math" panose="02040503050406030204" pitchFamily="18" charset="0"/>
                            </a:rPr>
                            <m:t>𝑘</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𝕍</m:t>
                              </m:r>
                            </m:e>
                            <m:sub>
                              <m:r>
                                <a:rPr lang="en-US" sz="2400" i="1">
                                  <a:latin typeface="Cambria Math" panose="02040503050406030204" pitchFamily="18" charset="0"/>
                                  <a:ea typeface="Cambria Math" panose="02040503050406030204" pitchFamily="18" charset="0"/>
                                </a:rPr>
                                <m:t>𝑋</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𝑋</m:t>
                                  </m:r>
                                </m:e>
                                <m:sub>
                                  <m:r>
                                    <a:rPr lang="en-US" sz="2400" i="1">
                                      <a:latin typeface="Cambria Math" panose="02040503050406030204" pitchFamily="18" charset="0"/>
                                      <a:ea typeface="Cambria Math" panose="02040503050406030204" pitchFamily="18" charset="0"/>
                                    </a:rPr>
                                    <m:t>𝑖</m:t>
                                  </m:r>
                                </m:sub>
                              </m:sSub>
                            </m:e>
                          </m:d>
                          <m:r>
                            <a:rPr lang="en-US" sz="2400" i="1">
                              <a:latin typeface="Cambria Math" panose="02040503050406030204" pitchFamily="18" charset="0"/>
                              <a:ea typeface="Cambria Math" panose="02040503050406030204" pitchFamily="18" charset="0"/>
                            </a:rPr>
                            <m:t>]</m:t>
                          </m:r>
                        </m:e>
                      </m:nary>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𝑘</m:t>
                              </m:r>
                            </m:e>
                            <m:sup>
                              <m:r>
                                <a:rPr lang="en-US" sz="2400" i="1">
                                  <a:latin typeface="Cambria Math" panose="02040503050406030204" pitchFamily="18" charset="0"/>
                                  <a:ea typeface="Cambria Math" panose="02040503050406030204" pitchFamily="18" charset="0"/>
                                </a:rPr>
                                <m:t>2</m:t>
                              </m:r>
                            </m:sup>
                          </m:sSup>
                        </m:den>
                      </m:f>
                      <m:nary>
                        <m:naryPr>
                          <m:chr m:val="∑"/>
                          <m:ctrlPr>
                            <a:rPr lang="en-US" sz="2400" i="1">
                              <a:latin typeface="Cambria Math" panose="02040503050406030204" pitchFamily="18" charset="0"/>
                              <a:ea typeface="Cambria Math" panose="02040503050406030204" pitchFamily="18" charset="0"/>
                            </a:rPr>
                          </m:ctrlPr>
                        </m:naryPr>
                        <m:sub>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=1</m:t>
                          </m:r>
                        </m:sub>
                        <m:sup>
                          <m:r>
                            <a:rPr lang="en-US" sz="2400" i="1">
                              <a:latin typeface="Cambria Math" panose="02040503050406030204" pitchFamily="18" charset="0"/>
                              <a:ea typeface="Cambria Math" panose="02040503050406030204" pitchFamily="18" charset="0"/>
                            </a:rPr>
                            <m:t>𝑘</m:t>
                          </m:r>
                        </m:sup>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𝕍</m:t>
                              </m:r>
                            </m:e>
                            <m:sub>
                              <m:r>
                                <a:rPr lang="en-US" sz="2400" i="1">
                                  <a:latin typeface="Cambria Math" panose="02040503050406030204" pitchFamily="18" charset="0"/>
                                  <a:ea typeface="Cambria Math" panose="02040503050406030204" pitchFamily="18" charset="0"/>
                                </a:rPr>
                                <m:t>𝑋</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r>
                                <a:rPr lang="en-US" sz="2400" i="1" smtClean="0">
                                  <a:latin typeface="Cambria Math" panose="02040503050406030204" pitchFamily="18" charset="0"/>
                                  <a:ea typeface="Cambria Math" panose="02040503050406030204" pitchFamily="18" charset="0"/>
                                </a:rPr>
                                <m:t> </m:t>
                              </m:r>
                            </m:e>
                          </m:d>
                          <m:r>
                            <a:rPr lang="en-US" sz="2400" i="1">
                              <a:latin typeface="Cambria Math" panose="02040503050406030204" pitchFamily="18" charset="0"/>
                              <a:ea typeface="Cambria Math" panose="02040503050406030204" pitchFamily="18" charset="0"/>
                            </a:rPr>
                            <m:t>]</m:t>
                          </m:r>
                        </m:e>
                      </m:nary>
                    </m:oMath>
                  </m:oMathPara>
                </a14:m>
                <a:endParaRPr lang="en-US" sz="2400" b="0" dirty="0">
                  <a:ea typeface="Cambria Math" panose="02040503050406030204" pitchFamily="18" charset="0"/>
                </a:endParaRP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𝕍</m:t>
                          </m:r>
                        </m:e>
                        <m:sub>
                          <m:r>
                            <a:rPr lang="en-US" sz="2400" i="1">
                              <a:latin typeface="Cambria Math" panose="02040503050406030204" pitchFamily="18" charset="0"/>
                              <a:ea typeface="Cambria Math" panose="02040503050406030204" pitchFamily="18" charset="0"/>
                            </a:rPr>
                            <m:t>𝑋</m:t>
                          </m:r>
                        </m:sub>
                      </m:sSub>
                      <m:d>
                        <m:dPr>
                          <m:begChr m:val="["/>
                          <m:endChr m:val="]"/>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𝑎</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𝑋</m:t>
                              </m:r>
                            </m:e>
                          </m:d>
                        </m:e>
                      </m:d>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𝑘</m:t>
                          </m:r>
                        </m:den>
                      </m:f>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𝕍</m:t>
                          </m:r>
                        </m:e>
                        <m:sub>
                          <m:r>
                            <a:rPr lang="en-US" sz="2400" i="1">
                              <a:latin typeface="Cambria Math" panose="02040503050406030204" pitchFamily="18" charset="0"/>
                              <a:ea typeface="Cambria Math" panose="02040503050406030204" pitchFamily="18" charset="0"/>
                            </a:rPr>
                            <m:t>𝑋</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𝑋</m:t>
                          </m:r>
                          <m:r>
                            <a:rPr lang="en-US" sz="2400" i="1">
                              <a:latin typeface="Cambria Math" panose="02040503050406030204" pitchFamily="18" charset="0"/>
                              <a:ea typeface="Cambria Math" panose="02040503050406030204" pitchFamily="18" charset="0"/>
                            </a:rPr>
                            <m:t> </m:t>
                          </m:r>
                        </m:e>
                      </m:d>
                      <m:r>
                        <a:rPr lang="en-US" sz="2400" i="1">
                          <a:latin typeface="Cambria Math" panose="02040503050406030204" pitchFamily="18" charset="0"/>
                          <a:ea typeface="Cambria Math" panose="02040503050406030204" pitchFamily="18" charset="0"/>
                        </a:rPr>
                        <m:t>]</m:t>
                      </m:r>
                    </m:oMath>
                  </m:oMathPara>
                </a14:m>
                <a:endParaRPr lang="en-US" sz="2400" dirty="0"/>
              </a:p>
              <a:p>
                <a:pPr marL="0" indent="0">
                  <a:buNone/>
                </a:pPr>
                <a:endParaRPr lang="en-US" sz="2400" dirty="0"/>
              </a:p>
              <a:p>
                <a:pPr marL="0" indent="0">
                  <a:buNone/>
                </a:pPr>
                <a:r>
                  <a:rPr lang="ru-RU" sz="2400" b="0" i="0" dirty="0">
                    <a:solidFill>
                      <a:srgbClr val="323232"/>
                    </a:solidFill>
                    <a:effectLst/>
                  </a:rPr>
                  <a:t>Получилось, что в этом случае дисперсия композиции в k раз меньше дисперсии отдельного алгоритма.</a:t>
                </a:r>
                <a:endParaRPr lang="en-US" sz="2400" dirty="0"/>
              </a:p>
            </p:txBody>
          </p:sp>
        </mc:Choice>
        <mc:Fallback>
          <p:sp>
            <p:nvSpPr>
              <p:cNvPr id="3" name="Объект 2">
                <a:extLst>
                  <a:ext uri="{FF2B5EF4-FFF2-40B4-BE49-F238E27FC236}">
                    <a16:creationId xmlns:a16="http://schemas.microsoft.com/office/drawing/2014/main" id="{15D92DFC-8BED-82DB-BFE0-DFAB29123913}"/>
                  </a:ext>
                </a:extLst>
              </p:cNvPr>
              <p:cNvSpPr>
                <a:spLocks noGrp="1" noRot="1" noChangeAspect="1" noMove="1" noResize="1" noEditPoints="1" noAdjustHandles="1" noChangeArrowheads="1" noChangeShapeType="1" noTextEdit="1"/>
              </p:cNvSpPr>
              <p:nvPr>
                <p:ph idx="1"/>
              </p:nvPr>
            </p:nvSpPr>
            <p:spPr>
              <a:xfrm>
                <a:off x="628650" y="1066800"/>
                <a:ext cx="7886700" cy="5110163"/>
              </a:xfrm>
              <a:blipFill>
                <a:blip r:embed="rId3"/>
                <a:stretch>
                  <a:fillRect l="-1159"/>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5F31E5CA-9FBF-7A93-4BCF-9601C519A1C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FA24236-2EFA-C14A-F9FB-FAC4A573CAC5}"/>
              </a:ext>
            </a:extLst>
          </p:cNvPr>
          <p:cNvSpPr>
            <a:spLocks noGrp="1"/>
          </p:cNvSpPr>
          <p:nvPr>
            <p:ph type="sldNum" sz="quarter" idx="12"/>
          </p:nvPr>
        </p:nvSpPr>
        <p:spPr/>
        <p:txBody>
          <a:bodyPr/>
          <a:lstStyle/>
          <a:p>
            <a:fld id="{81C5FB71-5E9C-41B5-9BB8-3F1EBEAEB16A}" type="slidenum">
              <a:rPr lang="ru-RU" smtClean="0"/>
              <a:t>15</a:t>
            </a:fld>
            <a:endParaRPr lang="ru-RU"/>
          </a:p>
        </p:txBody>
      </p:sp>
    </p:spTree>
    <p:extLst>
      <p:ext uri="{BB962C8B-B14F-4D97-AF65-F5344CB8AC3E}">
        <p14:creationId xmlns:p14="http://schemas.microsoft.com/office/powerpoint/2010/main" val="1166561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B7A08B-032F-8356-9492-651E37A86B90}"/>
              </a:ext>
            </a:extLst>
          </p:cNvPr>
          <p:cNvSpPr>
            <a:spLocks noGrp="1"/>
          </p:cNvSpPr>
          <p:nvPr>
            <p:ph type="title"/>
          </p:nvPr>
        </p:nvSpPr>
        <p:spPr/>
        <p:txBody>
          <a:bodyPr>
            <a:normAutofit/>
          </a:bodyPr>
          <a:lstStyle/>
          <a:p>
            <a:pPr algn="ctr"/>
            <a:r>
              <a:rPr lang="ru-RU" sz="3400" dirty="0" err="1"/>
              <a:t>Бэггинг</a:t>
            </a:r>
            <a:r>
              <a:rPr lang="ru-RU" sz="3400" dirty="0"/>
              <a:t> над решающими деревьями</a:t>
            </a:r>
          </a:p>
        </p:txBody>
      </p:sp>
      <p:sp>
        <p:nvSpPr>
          <p:cNvPr id="3" name="Объект 2">
            <a:extLst>
              <a:ext uri="{FF2B5EF4-FFF2-40B4-BE49-F238E27FC236}">
                <a16:creationId xmlns:a16="http://schemas.microsoft.com/office/drawing/2014/main" id="{0E45A175-E412-3DFD-983B-8433F425508B}"/>
              </a:ext>
            </a:extLst>
          </p:cNvPr>
          <p:cNvSpPr>
            <a:spLocks noGrp="1"/>
          </p:cNvSpPr>
          <p:nvPr>
            <p:ph idx="1"/>
          </p:nvPr>
        </p:nvSpPr>
        <p:spPr/>
        <p:txBody>
          <a:bodyPr/>
          <a:lstStyle/>
          <a:p>
            <a:endParaRPr lang="ru-RU" dirty="0"/>
          </a:p>
        </p:txBody>
      </p:sp>
      <p:sp>
        <p:nvSpPr>
          <p:cNvPr id="4" name="Нижний колонтитул 3">
            <a:extLst>
              <a:ext uri="{FF2B5EF4-FFF2-40B4-BE49-F238E27FC236}">
                <a16:creationId xmlns:a16="http://schemas.microsoft.com/office/drawing/2014/main" id="{7550D503-3326-0872-913C-39EF3446D5C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DC5BE8D-85BA-127D-742B-5FE036D9E825}"/>
              </a:ext>
            </a:extLst>
          </p:cNvPr>
          <p:cNvSpPr>
            <a:spLocks noGrp="1"/>
          </p:cNvSpPr>
          <p:nvPr>
            <p:ph type="sldNum" sz="quarter" idx="12"/>
          </p:nvPr>
        </p:nvSpPr>
        <p:spPr/>
        <p:txBody>
          <a:bodyPr/>
          <a:lstStyle/>
          <a:p>
            <a:fld id="{81C5FB71-5E9C-41B5-9BB8-3F1EBEAEB16A}" type="slidenum">
              <a:rPr lang="ru-RU" smtClean="0"/>
              <a:t>16</a:t>
            </a:fld>
            <a:endParaRPr lang="ru-RU"/>
          </a:p>
        </p:txBody>
      </p:sp>
      <p:pic>
        <p:nvPicPr>
          <p:cNvPr id="8" name="Рисунок 7">
            <a:extLst>
              <a:ext uri="{FF2B5EF4-FFF2-40B4-BE49-F238E27FC236}">
                <a16:creationId xmlns:a16="http://schemas.microsoft.com/office/drawing/2014/main" id="{4B0C6483-B049-AE79-F05F-EF90246272AA}"/>
              </a:ext>
            </a:extLst>
          </p:cNvPr>
          <p:cNvPicPr>
            <a:picLocks noChangeAspect="1"/>
          </p:cNvPicPr>
          <p:nvPr/>
        </p:nvPicPr>
        <p:blipFill>
          <a:blip r:embed="rId2"/>
          <a:stretch>
            <a:fillRect/>
          </a:stretch>
        </p:blipFill>
        <p:spPr>
          <a:xfrm>
            <a:off x="2286000" y="870899"/>
            <a:ext cx="4572000" cy="2896973"/>
          </a:xfrm>
          <a:prstGeom prst="rect">
            <a:avLst/>
          </a:prstGeom>
        </p:spPr>
      </p:pic>
      <p:pic>
        <p:nvPicPr>
          <p:cNvPr id="10" name="Рисунок 9">
            <a:extLst>
              <a:ext uri="{FF2B5EF4-FFF2-40B4-BE49-F238E27FC236}">
                <a16:creationId xmlns:a16="http://schemas.microsoft.com/office/drawing/2014/main" id="{D0501A3A-B00E-7548-78EF-4814599EE5AC}"/>
              </a:ext>
            </a:extLst>
          </p:cNvPr>
          <p:cNvPicPr>
            <a:picLocks noChangeAspect="1"/>
          </p:cNvPicPr>
          <p:nvPr/>
        </p:nvPicPr>
        <p:blipFill>
          <a:blip r:embed="rId3"/>
          <a:stretch>
            <a:fillRect/>
          </a:stretch>
        </p:blipFill>
        <p:spPr>
          <a:xfrm>
            <a:off x="1143000" y="3759879"/>
            <a:ext cx="7190874" cy="2989671"/>
          </a:xfrm>
          <a:prstGeom prst="rect">
            <a:avLst/>
          </a:prstGeom>
        </p:spPr>
      </p:pic>
    </p:spTree>
    <p:extLst>
      <p:ext uri="{BB962C8B-B14F-4D97-AF65-F5344CB8AC3E}">
        <p14:creationId xmlns:p14="http://schemas.microsoft.com/office/powerpoint/2010/main" val="3404894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BD74BB-0A73-4D84-86E1-779FC3012FA5}"/>
              </a:ext>
            </a:extLst>
          </p:cNvPr>
          <p:cNvSpPr>
            <a:spLocks noGrp="1"/>
          </p:cNvSpPr>
          <p:nvPr>
            <p:ph type="title"/>
          </p:nvPr>
        </p:nvSpPr>
        <p:spPr>
          <a:xfrm>
            <a:off x="628650" y="70791"/>
            <a:ext cx="7886700" cy="610246"/>
          </a:xfrm>
        </p:spPr>
        <p:txBody>
          <a:bodyPr>
            <a:normAutofit/>
          </a:bodyPr>
          <a:lstStyle/>
          <a:p>
            <a:pPr algn="ctr"/>
            <a:r>
              <a:rPr lang="ru-RU" sz="3400" dirty="0"/>
              <a:t>Способы </a:t>
            </a:r>
            <a:r>
              <a:rPr lang="ru-RU" sz="3400" dirty="0" err="1"/>
              <a:t>ансамблирования</a:t>
            </a:r>
            <a:endParaRPr lang="ru-RU" sz="3400" dirty="0"/>
          </a:p>
        </p:txBody>
      </p:sp>
      <p:sp>
        <p:nvSpPr>
          <p:cNvPr id="3" name="Объект 2">
            <a:extLst>
              <a:ext uri="{FF2B5EF4-FFF2-40B4-BE49-F238E27FC236}">
                <a16:creationId xmlns:a16="http://schemas.microsoft.com/office/drawing/2014/main" id="{F8440EDF-6177-4078-9486-4B67A206620C}"/>
              </a:ext>
            </a:extLst>
          </p:cNvPr>
          <p:cNvSpPr>
            <a:spLocks noGrp="1"/>
          </p:cNvSpPr>
          <p:nvPr>
            <p:ph idx="1"/>
          </p:nvPr>
        </p:nvSpPr>
        <p:spPr>
          <a:xfrm>
            <a:off x="628650" y="1143000"/>
            <a:ext cx="7886700" cy="5033963"/>
          </a:xfrm>
        </p:spPr>
        <p:txBody>
          <a:bodyPr>
            <a:noAutofit/>
          </a:bodyPr>
          <a:lstStyle/>
          <a:p>
            <a:pPr algn="l"/>
            <a:r>
              <a:rPr lang="ru-RU" sz="2400" b="1" i="0" u="none" strike="noStrike" baseline="0" dirty="0"/>
              <a:t>Усреднение </a:t>
            </a:r>
            <a:r>
              <a:rPr lang="ru-RU" sz="2400" b="0" i="0" u="none" strike="noStrike" baseline="0" dirty="0"/>
              <a:t>работает для регрессии, а также тех моделей классификации, которые возвращают оценки. Заключается оно в применении всех базовых моделей к входу </a:t>
            </a:r>
            <a:r>
              <a:rPr lang="ru-RU" sz="2400" b="1" i="0" u="none" strike="noStrike" baseline="0" dirty="0"/>
              <a:t>x </a:t>
            </a:r>
            <a:r>
              <a:rPr lang="ru-RU" sz="2400" b="0" i="0" u="none" strike="noStrike" baseline="0" dirty="0"/>
              <a:t>с последующим усреднением предсказаний. </a:t>
            </a:r>
          </a:p>
          <a:p>
            <a:pPr algn="l"/>
            <a:r>
              <a:rPr lang="ru-RU" sz="2400" b="1" i="0" u="none" strike="noStrike" baseline="0" dirty="0"/>
              <a:t>Голосование </a:t>
            </a:r>
            <a:r>
              <a:rPr lang="ru-RU" sz="2400" b="0" i="0" u="none" strike="noStrike" baseline="0" dirty="0"/>
              <a:t>работает для моделей классификации. Оно заключается в применении всех базовых моделей к входу </a:t>
            </a:r>
            <a:r>
              <a:rPr lang="ru-RU" sz="2400" b="1" i="0" u="none" strike="noStrike" baseline="0" dirty="0"/>
              <a:t>x </a:t>
            </a:r>
            <a:r>
              <a:rPr lang="ru-RU" sz="2400" b="0" i="0" u="none" strike="noStrike" baseline="0" dirty="0"/>
              <a:t>с последующим возвратом класса, за который отдано большинство голосов. </a:t>
            </a:r>
          </a:p>
          <a:p>
            <a:pPr algn="l"/>
            <a:r>
              <a:rPr lang="ru-RU" sz="2400" b="1" i="0" u="none" strike="noStrike" baseline="0" dirty="0" err="1"/>
              <a:t>Штабелирование</a:t>
            </a:r>
            <a:r>
              <a:rPr lang="ru-RU" sz="2400" b="1" i="0" u="none" strike="noStrike" baseline="0" dirty="0"/>
              <a:t> </a:t>
            </a:r>
            <a:r>
              <a:rPr lang="ru-RU" sz="2400" b="0" i="0" u="none" strike="noStrike" baseline="0" dirty="0"/>
              <a:t>– метод ансамблевого обучения, при котором сильная модель обучается путем подачи ей на вход выходов более слабых моделей.</a:t>
            </a:r>
          </a:p>
        </p:txBody>
      </p:sp>
      <p:sp>
        <p:nvSpPr>
          <p:cNvPr id="4" name="Нижний колонтитул 3">
            <a:extLst>
              <a:ext uri="{FF2B5EF4-FFF2-40B4-BE49-F238E27FC236}">
                <a16:creationId xmlns:a16="http://schemas.microsoft.com/office/drawing/2014/main" id="{98F22CB5-E7F5-47FB-B021-69722A4C0F7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0961E9F0-2270-4824-9029-FBE51E90095E}"/>
              </a:ext>
            </a:extLst>
          </p:cNvPr>
          <p:cNvSpPr>
            <a:spLocks noGrp="1"/>
          </p:cNvSpPr>
          <p:nvPr>
            <p:ph type="sldNum" sz="quarter" idx="12"/>
          </p:nvPr>
        </p:nvSpPr>
        <p:spPr/>
        <p:txBody>
          <a:bodyPr/>
          <a:lstStyle/>
          <a:p>
            <a:fld id="{81C5FB71-5E9C-41B5-9BB8-3F1EBEAEB16A}" type="slidenum">
              <a:rPr lang="ru-RU" smtClean="0"/>
              <a:t>17</a:t>
            </a:fld>
            <a:endParaRPr lang="ru-RU"/>
          </a:p>
        </p:txBody>
      </p:sp>
    </p:spTree>
    <p:extLst>
      <p:ext uri="{BB962C8B-B14F-4D97-AF65-F5344CB8AC3E}">
        <p14:creationId xmlns:p14="http://schemas.microsoft.com/office/powerpoint/2010/main" val="1831971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B51B82-F4D8-44EA-9BD8-0E5E1D1A24F5}"/>
              </a:ext>
            </a:extLst>
          </p:cNvPr>
          <p:cNvSpPr>
            <a:spLocks noGrp="1"/>
          </p:cNvSpPr>
          <p:nvPr>
            <p:ph type="title"/>
          </p:nvPr>
        </p:nvSpPr>
        <p:spPr/>
        <p:txBody>
          <a:bodyPr/>
          <a:lstStyle/>
          <a:p>
            <a:pPr algn="ctr"/>
            <a:r>
              <a:rPr lang="ru-RU" dirty="0"/>
              <a:t>Случайный лес</a:t>
            </a:r>
            <a:br>
              <a:rPr lang="ru-RU" dirty="0"/>
            </a:br>
            <a:r>
              <a:rPr lang="ru-RU" dirty="0"/>
              <a:t>(</a:t>
            </a:r>
            <a:r>
              <a:rPr lang="en-US" b="0" i="0" dirty="0">
                <a:solidFill>
                  <a:srgbClr val="323232"/>
                </a:solidFill>
                <a:effectLst/>
                <a:latin typeface="__CoFoSans_66cdd1"/>
              </a:rPr>
              <a:t>Random Forest</a:t>
            </a:r>
            <a:r>
              <a:rPr lang="ru-RU" b="0" i="0" dirty="0">
                <a:solidFill>
                  <a:srgbClr val="323232"/>
                </a:solidFill>
                <a:effectLst/>
                <a:latin typeface="__CoFoSans_66cdd1"/>
              </a:rPr>
              <a:t>)</a:t>
            </a:r>
            <a:endParaRPr lang="ru-RU" dirty="0"/>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974977F2-C5E9-4AF0-8A95-D14492BBC8D0}"/>
                  </a:ext>
                </a:extLst>
              </p:cNvPr>
              <p:cNvSpPr>
                <a:spLocks noGrp="1"/>
              </p:cNvSpPr>
              <p:nvPr>
                <p:ph idx="1"/>
              </p:nvPr>
            </p:nvSpPr>
            <p:spPr>
              <a:xfrm>
                <a:off x="628650" y="1295400"/>
                <a:ext cx="7886700" cy="4881563"/>
              </a:xfrm>
            </p:spPr>
            <p:txBody>
              <a:bodyPr>
                <a:noAutofit/>
              </a:bodyPr>
              <a:lstStyle/>
              <a:p>
                <a:pPr marL="0" indent="0" algn="l">
                  <a:buNone/>
                </a:pPr>
                <a:r>
                  <a:rPr lang="ru-RU" sz="2400" dirty="0"/>
                  <a:t>Для построения i-го дерева:</a:t>
                </a:r>
              </a:p>
              <a:p>
                <a:pPr marL="800100" lvl="1" indent="-342900"/>
                <a:r>
                  <a:rPr lang="ru-RU" sz="2400" dirty="0"/>
                  <a:t>Из обучающей выборки X выбирается с возвращением случайная </a:t>
                </a:r>
                <a:r>
                  <a:rPr lang="ru-RU" sz="2400" dirty="0" err="1"/>
                  <a:t>подвыборка</a:t>
                </a:r>
                <a:r>
                  <a:rPr lang="ru-RU" sz="2400" dirty="0"/>
                  <a:t> </a:t>
                </a:r>
                <a14:m>
                  <m:oMath xmlns:m="http://schemas.openxmlformats.org/officeDocument/2006/math">
                    <m:sSub>
                      <m:sSubPr>
                        <m:ctrlPr>
                          <a:rPr lang="ru-RU" sz="2400" b="0" i="1" dirty="0" smtClean="0">
                            <a:latin typeface="Cambria Math" panose="02040503050406030204" pitchFamily="18" charset="0"/>
                          </a:rPr>
                        </m:ctrlPr>
                      </m:sSubPr>
                      <m:e>
                        <m:r>
                          <a:rPr lang="ru-RU" sz="2400" i="1" dirty="0" smtClean="0">
                            <a:latin typeface="Cambria Math" panose="02040503050406030204" pitchFamily="18" charset="0"/>
                          </a:rPr>
                          <m:t>𝑋</m:t>
                        </m:r>
                      </m:e>
                      <m:sub>
                        <m:r>
                          <a:rPr lang="ru-RU" sz="2400" i="1" dirty="0" smtClean="0">
                            <a:latin typeface="Cambria Math" panose="02040503050406030204" pitchFamily="18" charset="0"/>
                          </a:rPr>
                          <m:t>𝑖</m:t>
                        </m:r>
                      </m:sub>
                    </m:sSub>
                  </m:oMath>
                </a14:m>
                <a:r>
                  <a:rPr lang="ru-RU" sz="2400" dirty="0"/>
                  <a:t> того же размера, что и X.</a:t>
                </a:r>
              </a:p>
              <a:p>
                <a:pPr marL="800100" lvl="1" indent="-342900"/>
                <a:r>
                  <a:rPr lang="ru-RU" sz="2400" dirty="0"/>
                  <a:t>В процессе обучения каждого дерева в каждой вершине случайно выбираются </a:t>
                </a:r>
                <a14:m>
                  <m:oMath xmlns:m="http://schemas.openxmlformats.org/officeDocument/2006/math">
                    <m:r>
                      <m:rPr>
                        <m:sty m:val="p"/>
                      </m:rPr>
                      <a:rPr lang="en-US" sz="2400" b="0" i="0" dirty="0" smtClean="0">
                        <a:latin typeface="Cambria Math" panose="02040503050406030204" pitchFamily="18" charset="0"/>
                      </a:rPr>
                      <m:t>m</m:t>
                    </m:r>
                    <m:r>
                      <a:rPr lang="ru-RU" sz="2400" i="1" dirty="0" smtClean="0">
                        <a:latin typeface="Cambria Math" panose="02040503050406030204" pitchFamily="18" charset="0"/>
                      </a:rPr>
                      <m:t>&lt;</m:t>
                    </m:r>
                    <m:r>
                      <a:rPr lang="en-US" sz="2400" b="0" i="1" dirty="0" smtClean="0">
                        <a:latin typeface="Cambria Math" panose="02040503050406030204" pitchFamily="18" charset="0"/>
                      </a:rPr>
                      <m:t>𝑀</m:t>
                    </m:r>
                  </m:oMath>
                </a14:m>
                <a:r>
                  <a:rPr lang="ru-RU" sz="2400" dirty="0"/>
                  <a:t> признаков, где </a:t>
                </a:r>
                <a14:m>
                  <m:oMath xmlns:m="http://schemas.openxmlformats.org/officeDocument/2006/math">
                    <m:r>
                      <a:rPr lang="en-US" sz="2400" b="0" i="1" smtClean="0">
                        <a:latin typeface="Cambria Math" panose="02040503050406030204" pitchFamily="18" charset="0"/>
                      </a:rPr>
                      <m:t>𝑀</m:t>
                    </m:r>
                  </m:oMath>
                </a14:m>
                <a:r>
                  <a:rPr lang="ru-RU" sz="2400" dirty="0"/>
                  <a:t> — полное число признаков (метод случайных подпространств), и среди них ищется оптимальный сплит. Такой приём как раз позволяет управлять степенью </a:t>
                </a:r>
                <a:r>
                  <a:rPr lang="ru-RU" sz="2400" dirty="0" err="1"/>
                  <a:t>скоррелированности</a:t>
                </a:r>
                <a:r>
                  <a:rPr lang="ru-RU" sz="2400" dirty="0"/>
                  <a:t> базовых алгоритмов.</a:t>
                </a:r>
              </a:p>
              <a:p>
                <a:pPr marL="0" indent="0" algn="l">
                  <a:buNone/>
                </a:pPr>
                <a:r>
                  <a:rPr lang="ru-RU" sz="2400" dirty="0"/>
                  <a:t>Чтобы получить предсказание ансамбля на тестовом объекте, усредняем отдельные ответы деревьев (для регрессии) или берём самый популярный класс (для классификации)..</a:t>
                </a:r>
              </a:p>
              <a:p>
                <a:pPr marL="0" indent="0" algn="just">
                  <a:buNone/>
                </a:pPr>
                <a:endParaRPr lang="ru-RU" sz="2000" dirty="0"/>
              </a:p>
            </p:txBody>
          </p:sp>
        </mc:Choice>
        <mc:Fallback>
          <p:sp>
            <p:nvSpPr>
              <p:cNvPr id="3" name="Объект 2">
                <a:extLst>
                  <a:ext uri="{FF2B5EF4-FFF2-40B4-BE49-F238E27FC236}">
                    <a16:creationId xmlns:a16="http://schemas.microsoft.com/office/drawing/2014/main" id="{974977F2-C5E9-4AF0-8A95-D14492BBC8D0}"/>
                  </a:ext>
                </a:extLst>
              </p:cNvPr>
              <p:cNvSpPr>
                <a:spLocks noGrp="1" noRot="1" noChangeAspect="1" noMove="1" noResize="1" noEditPoints="1" noAdjustHandles="1" noChangeArrowheads="1" noChangeShapeType="1" noTextEdit="1"/>
              </p:cNvSpPr>
              <p:nvPr>
                <p:ph idx="1"/>
              </p:nvPr>
            </p:nvSpPr>
            <p:spPr>
              <a:xfrm>
                <a:off x="628650" y="1295400"/>
                <a:ext cx="7886700" cy="4881563"/>
              </a:xfrm>
              <a:blipFill>
                <a:blip r:embed="rId3"/>
                <a:stretch>
                  <a:fillRect l="-1159" t="-1750" r="-309" b="-3250"/>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2C416390-1B40-4A4C-A5C6-EC7A7400FD5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8CD09F1-0DC8-4A5B-B9A8-658A063F074B}"/>
              </a:ext>
            </a:extLst>
          </p:cNvPr>
          <p:cNvSpPr>
            <a:spLocks noGrp="1"/>
          </p:cNvSpPr>
          <p:nvPr>
            <p:ph type="sldNum" sz="quarter" idx="12"/>
          </p:nvPr>
        </p:nvSpPr>
        <p:spPr/>
        <p:txBody>
          <a:bodyPr/>
          <a:lstStyle/>
          <a:p>
            <a:fld id="{81C5FB71-5E9C-41B5-9BB8-3F1EBEAEB16A}" type="slidenum">
              <a:rPr lang="ru-RU" smtClean="0"/>
              <a:t>18</a:t>
            </a:fld>
            <a:endParaRPr lang="ru-RU"/>
          </a:p>
        </p:txBody>
      </p:sp>
    </p:spTree>
    <p:extLst>
      <p:ext uri="{BB962C8B-B14F-4D97-AF65-F5344CB8AC3E}">
        <p14:creationId xmlns:p14="http://schemas.microsoft.com/office/powerpoint/2010/main" val="3093561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422A95-3882-80D2-B7A0-2011E77B83E2}"/>
              </a:ext>
            </a:extLst>
          </p:cNvPr>
          <p:cNvSpPr>
            <a:spLocks noGrp="1"/>
          </p:cNvSpPr>
          <p:nvPr>
            <p:ph type="title"/>
          </p:nvPr>
        </p:nvSpPr>
        <p:spPr/>
        <p:txBody>
          <a:bodyPr/>
          <a:lstStyle/>
          <a:p>
            <a:pPr algn="ctr"/>
            <a:r>
              <a:rPr lang="ru-RU" dirty="0"/>
              <a:t>Случайный лес</a:t>
            </a:r>
            <a:br>
              <a:rPr lang="ru-RU" dirty="0"/>
            </a:br>
            <a:r>
              <a:rPr lang="ru-RU" dirty="0"/>
              <a:t>(</a:t>
            </a:r>
            <a:r>
              <a:rPr lang="en-US" b="0" i="0" dirty="0">
                <a:solidFill>
                  <a:srgbClr val="323232"/>
                </a:solidFill>
                <a:effectLst/>
                <a:latin typeface="__CoFoSans_66cdd1"/>
              </a:rPr>
              <a:t>Random Forest</a:t>
            </a:r>
            <a:r>
              <a:rPr lang="ru-RU" b="0" i="0" dirty="0">
                <a:solidFill>
                  <a:srgbClr val="323232"/>
                </a:solidFill>
                <a:effectLst/>
                <a:latin typeface="__CoFoSans_66cdd1"/>
              </a:rPr>
              <a:t>)</a:t>
            </a:r>
            <a:endParaRPr lang="ru-RU" dirty="0"/>
          </a:p>
        </p:txBody>
      </p:sp>
      <p:sp>
        <p:nvSpPr>
          <p:cNvPr id="4" name="Нижний колонтитул 3">
            <a:extLst>
              <a:ext uri="{FF2B5EF4-FFF2-40B4-BE49-F238E27FC236}">
                <a16:creationId xmlns:a16="http://schemas.microsoft.com/office/drawing/2014/main" id="{9CB9915F-12EC-8833-A90B-190560F26F7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4C816CC-2389-17A7-5753-DD4F2862AC82}"/>
              </a:ext>
            </a:extLst>
          </p:cNvPr>
          <p:cNvSpPr>
            <a:spLocks noGrp="1"/>
          </p:cNvSpPr>
          <p:nvPr>
            <p:ph type="sldNum" sz="quarter" idx="12"/>
          </p:nvPr>
        </p:nvSpPr>
        <p:spPr/>
        <p:txBody>
          <a:bodyPr/>
          <a:lstStyle/>
          <a:p>
            <a:fld id="{81C5FB71-5E9C-41B5-9BB8-3F1EBEAEB16A}" type="slidenum">
              <a:rPr lang="ru-RU" smtClean="0"/>
              <a:t>19</a:t>
            </a:fld>
            <a:endParaRPr lang="ru-RU"/>
          </a:p>
        </p:txBody>
      </p:sp>
      <p:pic>
        <p:nvPicPr>
          <p:cNvPr id="6146" name="Picture 2" descr="Picture background">
            <a:extLst>
              <a:ext uri="{FF2B5EF4-FFF2-40B4-BE49-F238E27FC236}">
                <a16:creationId xmlns:a16="http://schemas.microsoft.com/office/drawing/2014/main" id="{EC577AC7-578C-5A89-A480-A15ED850EFD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1564655"/>
            <a:ext cx="7886700" cy="4406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019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7805A5-D576-4AA7-985C-106AA49D9742}"/>
              </a:ext>
            </a:extLst>
          </p:cNvPr>
          <p:cNvSpPr>
            <a:spLocks noGrp="1"/>
          </p:cNvSpPr>
          <p:nvPr>
            <p:ph type="title"/>
          </p:nvPr>
        </p:nvSpPr>
        <p:spPr>
          <a:xfrm>
            <a:off x="628650" y="70791"/>
            <a:ext cx="7886700" cy="691209"/>
          </a:xfrm>
        </p:spPr>
        <p:txBody>
          <a:bodyPr>
            <a:normAutofit/>
          </a:bodyPr>
          <a:lstStyle/>
          <a:p>
            <a:pPr algn="ctr"/>
            <a:r>
              <a:rPr lang="ru-RU" dirty="0"/>
              <a:t>Глубина</a:t>
            </a:r>
            <a:r>
              <a:rPr lang="en-US" dirty="0"/>
              <a:t> </a:t>
            </a:r>
            <a:r>
              <a:rPr lang="ru-RU" dirty="0"/>
              <a:t>и признаки деревьев </a:t>
            </a:r>
            <a:r>
              <a:rPr lang="en-US" dirty="0"/>
              <a:t>Random Forest</a:t>
            </a:r>
            <a:endParaRPr lang="ru-RU" dirty="0"/>
          </a:p>
        </p:txBody>
      </p:sp>
      <p:sp>
        <p:nvSpPr>
          <p:cNvPr id="3" name="Объект 2">
            <a:extLst>
              <a:ext uri="{FF2B5EF4-FFF2-40B4-BE49-F238E27FC236}">
                <a16:creationId xmlns:a16="http://schemas.microsoft.com/office/drawing/2014/main" id="{0620C6AD-0796-4678-8AF1-3E1D590BADE4}"/>
              </a:ext>
            </a:extLst>
          </p:cNvPr>
          <p:cNvSpPr>
            <a:spLocks noGrp="1"/>
          </p:cNvSpPr>
          <p:nvPr>
            <p:ph idx="1"/>
          </p:nvPr>
        </p:nvSpPr>
        <p:spPr>
          <a:xfrm>
            <a:off x="628650" y="914400"/>
            <a:ext cx="7886700" cy="5715000"/>
          </a:xfrm>
        </p:spPr>
        <p:txBody>
          <a:bodyPr>
            <a:normAutofit fontScale="92500"/>
          </a:bodyPr>
          <a:lstStyle/>
          <a:p>
            <a:pPr algn="just"/>
            <a:r>
              <a:rPr lang="ru-RU" sz="2400" dirty="0"/>
              <a:t>Ошибка модели (на которую мы можем повлиять) состоит из смещения и разброса. Разброс мы уменьшаем с помощью процедуры </a:t>
            </a:r>
            <a:r>
              <a:rPr lang="ru-RU" sz="2400" dirty="0" err="1"/>
              <a:t>бэггинга</a:t>
            </a:r>
            <a:r>
              <a:rPr lang="ru-RU" sz="2400" dirty="0"/>
              <a:t>. </a:t>
            </a:r>
            <a:r>
              <a:rPr lang="en-US" sz="2400" b="1" i="1" dirty="0"/>
              <a:t>C</a:t>
            </a:r>
            <a:r>
              <a:rPr lang="ru-RU" sz="2400" b="1" i="1" dirty="0" err="1"/>
              <a:t>мещение</a:t>
            </a:r>
            <a:r>
              <a:rPr lang="ru-RU" sz="2400" b="1" i="1" dirty="0"/>
              <a:t> должно быть небольшим у самих деревьев, из которых строится ансамбль.</a:t>
            </a:r>
          </a:p>
          <a:p>
            <a:pPr algn="just"/>
            <a:r>
              <a:rPr lang="ru-RU" sz="2400" dirty="0"/>
              <a:t>Неглубокие деревья – высокое смещение, в случае ансамбля низкий разброс. Вывод: </a:t>
            </a:r>
            <a:r>
              <a:rPr lang="ru-RU" sz="2400" b="1" i="1" dirty="0"/>
              <a:t>нужно обучать глубокие деревья для получения низкого смещения на подвыборке </a:t>
            </a:r>
            <a:r>
              <a:rPr lang="ru-RU" sz="2400" b="1" i="1" dirty="0" err="1"/>
              <a:t>бэггинга</a:t>
            </a:r>
            <a:endParaRPr lang="ru-RU" sz="2400" b="1" i="1" dirty="0"/>
          </a:p>
          <a:p>
            <a:pPr algn="just"/>
            <a:r>
              <a:rPr lang="ru-RU" sz="2400" dirty="0"/>
              <a:t>Предсказание на тестовом объекте в среднем будет близко к истине (высокая дисперсия, низкое смещение).</a:t>
            </a:r>
          </a:p>
          <a:p>
            <a:pPr algn="just"/>
            <a:r>
              <a:rPr lang="ru-RU" sz="2400" dirty="0"/>
              <a:t>Чем больше признаков, тем больше корреляция между деревьями и тем меньше чувствуется эффект от </a:t>
            </a:r>
            <a:r>
              <a:rPr lang="ru-RU" sz="2400" dirty="0" err="1"/>
              <a:t>ансамблирования</a:t>
            </a:r>
            <a:r>
              <a:rPr lang="ru-RU" sz="2400" dirty="0"/>
              <a:t>. Чем меньше признаков, тем слабее сами деревья.</a:t>
            </a:r>
          </a:p>
          <a:p>
            <a:pPr algn="just"/>
            <a:r>
              <a:rPr lang="ru-RU" sz="2400" b="1" i="0" dirty="0">
                <a:solidFill>
                  <a:srgbClr val="323232"/>
                </a:solidFill>
                <a:effectLst/>
                <a:latin typeface="__CoFoSans_66cdd1"/>
              </a:rPr>
              <a:t>Практическая рекомендация</a:t>
            </a:r>
            <a:r>
              <a:rPr lang="ru-RU" sz="2400" b="0" i="0" dirty="0">
                <a:solidFill>
                  <a:srgbClr val="323232"/>
                </a:solidFill>
                <a:effectLst/>
                <a:latin typeface="__CoFoSans_66cdd1"/>
              </a:rPr>
              <a:t> — брать корень из числа всех признаков для классификации и треть признаков для регрессии.</a:t>
            </a:r>
          </a:p>
        </p:txBody>
      </p:sp>
      <p:sp>
        <p:nvSpPr>
          <p:cNvPr id="4" name="Нижний колонтитул 3">
            <a:extLst>
              <a:ext uri="{FF2B5EF4-FFF2-40B4-BE49-F238E27FC236}">
                <a16:creationId xmlns:a16="http://schemas.microsoft.com/office/drawing/2014/main" id="{38DA114E-8221-4547-B5AD-92981E3D451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56814F9-EA05-4B1A-A38D-EA0F4496BDE2}"/>
              </a:ext>
            </a:extLst>
          </p:cNvPr>
          <p:cNvSpPr>
            <a:spLocks noGrp="1"/>
          </p:cNvSpPr>
          <p:nvPr>
            <p:ph type="sldNum" sz="quarter" idx="12"/>
          </p:nvPr>
        </p:nvSpPr>
        <p:spPr/>
        <p:txBody>
          <a:bodyPr/>
          <a:lstStyle/>
          <a:p>
            <a:fld id="{81C5FB71-5E9C-41B5-9BB8-3F1EBEAEB16A}" type="slidenum">
              <a:rPr lang="ru-RU" smtClean="0"/>
              <a:t>20</a:t>
            </a:fld>
            <a:endParaRPr lang="ru-RU"/>
          </a:p>
        </p:txBody>
      </p:sp>
    </p:spTree>
    <p:extLst>
      <p:ext uri="{BB962C8B-B14F-4D97-AF65-F5344CB8AC3E}">
        <p14:creationId xmlns:p14="http://schemas.microsoft.com/office/powerpoint/2010/main" val="1909571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2EBBBB-CDE8-4ED7-A3B7-374947271A1A}"/>
              </a:ext>
            </a:extLst>
          </p:cNvPr>
          <p:cNvSpPr>
            <a:spLocks noGrp="1"/>
          </p:cNvSpPr>
          <p:nvPr>
            <p:ph type="title"/>
          </p:nvPr>
        </p:nvSpPr>
        <p:spPr/>
        <p:txBody>
          <a:bodyPr/>
          <a:lstStyle/>
          <a:p>
            <a:r>
              <a:rPr lang="ru-RU" dirty="0"/>
              <a:t>Сколько должно быть деревьев в случайном лесе?</a:t>
            </a:r>
          </a:p>
        </p:txBody>
      </p:sp>
      <p:sp>
        <p:nvSpPr>
          <p:cNvPr id="3" name="Объект 2">
            <a:extLst>
              <a:ext uri="{FF2B5EF4-FFF2-40B4-BE49-F238E27FC236}">
                <a16:creationId xmlns:a16="http://schemas.microsoft.com/office/drawing/2014/main" id="{A6C542BC-BC75-4AFC-8738-896BA1B5D1F7}"/>
              </a:ext>
            </a:extLst>
          </p:cNvPr>
          <p:cNvSpPr>
            <a:spLocks noGrp="1"/>
          </p:cNvSpPr>
          <p:nvPr>
            <p:ph idx="1"/>
          </p:nvPr>
        </p:nvSpPr>
        <p:spPr/>
        <p:txBody>
          <a:bodyPr>
            <a:normAutofit/>
          </a:bodyPr>
          <a:lstStyle/>
          <a:p>
            <a:pPr marL="0" indent="0" algn="ctr">
              <a:buNone/>
            </a:pPr>
            <a:r>
              <a:rPr lang="ru-RU" sz="2400" dirty="0"/>
              <a:t>Выбор количества деревьев происходит на этапе кросс-валидации </a:t>
            </a:r>
            <a:r>
              <a:rPr lang="ru-RU" sz="2400" dirty="0" err="1"/>
              <a:t>гиперпараметров</a:t>
            </a:r>
            <a:r>
              <a:rPr lang="ru-RU" sz="2400" dirty="0"/>
              <a:t> </a:t>
            </a:r>
          </a:p>
        </p:txBody>
      </p:sp>
      <p:sp>
        <p:nvSpPr>
          <p:cNvPr id="4" name="Нижний колонтитул 3">
            <a:extLst>
              <a:ext uri="{FF2B5EF4-FFF2-40B4-BE49-F238E27FC236}">
                <a16:creationId xmlns:a16="http://schemas.microsoft.com/office/drawing/2014/main" id="{F534D746-F0ED-4A94-BF1D-FB9D3B7426C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6455957-0B19-4706-BC9A-F9ABFAFC2384}"/>
              </a:ext>
            </a:extLst>
          </p:cNvPr>
          <p:cNvSpPr>
            <a:spLocks noGrp="1"/>
          </p:cNvSpPr>
          <p:nvPr>
            <p:ph type="sldNum" sz="quarter" idx="12"/>
          </p:nvPr>
        </p:nvSpPr>
        <p:spPr/>
        <p:txBody>
          <a:bodyPr/>
          <a:lstStyle/>
          <a:p>
            <a:fld id="{81C5FB71-5E9C-41B5-9BB8-3F1EBEAEB16A}" type="slidenum">
              <a:rPr lang="ru-RU" smtClean="0"/>
              <a:t>21</a:t>
            </a:fld>
            <a:endParaRPr lang="ru-RU"/>
          </a:p>
        </p:txBody>
      </p:sp>
      <p:pic>
        <p:nvPicPr>
          <p:cNvPr id="7172" name="Picture 4" descr="Picture background">
            <a:extLst>
              <a:ext uri="{FF2B5EF4-FFF2-40B4-BE49-F238E27FC236}">
                <a16:creationId xmlns:a16="http://schemas.microsoft.com/office/drawing/2014/main" id="{1692D9D5-B459-296F-8ACA-9871898B4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75" y="2595505"/>
            <a:ext cx="779145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530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3ED508-3EA4-468F-94C4-2B7BA9D6C554}"/>
              </a:ext>
            </a:extLst>
          </p:cNvPr>
          <p:cNvSpPr>
            <a:spLocks noGrp="1"/>
          </p:cNvSpPr>
          <p:nvPr>
            <p:ph type="title"/>
          </p:nvPr>
        </p:nvSpPr>
        <p:spPr>
          <a:xfrm>
            <a:off x="628650" y="70791"/>
            <a:ext cx="7886700" cy="767409"/>
          </a:xfrm>
        </p:spPr>
        <p:txBody>
          <a:bodyPr>
            <a:normAutofit/>
          </a:bodyPr>
          <a:lstStyle/>
          <a:p>
            <a:pPr algn="ctr"/>
            <a:r>
              <a:rPr lang="ru-RU" sz="3400" dirty="0" err="1"/>
              <a:t>Бустинг</a:t>
            </a:r>
            <a:endParaRPr lang="ru-RU" sz="3400" dirty="0"/>
          </a:p>
        </p:txBody>
      </p:sp>
      <p:sp>
        <p:nvSpPr>
          <p:cNvPr id="3" name="Объект 2">
            <a:extLst>
              <a:ext uri="{FF2B5EF4-FFF2-40B4-BE49-F238E27FC236}">
                <a16:creationId xmlns:a16="http://schemas.microsoft.com/office/drawing/2014/main" id="{1CE62C3F-A113-4BF2-9FE7-32BB1E793076}"/>
              </a:ext>
            </a:extLst>
          </p:cNvPr>
          <p:cNvSpPr>
            <a:spLocks noGrp="1"/>
          </p:cNvSpPr>
          <p:nvPr>
            <p:ph idx="1"/>
          </p:nvPr>
        </p:nvSpPr>
        <p:spPr>
          <a:xfrm>
            <a:off x="628650" y="990600"/>
            <a:ext cx="7886700" cy="5186363"/>
          </a:xfrm>
        </p:spPr>
        <p:txBody>
          <a:bodyPr>
            <a:normAutofit lnSpcReduction="10000"/>
          </a:bodyPr>
          <a:lstStyle/>
          <a:p>
            <a:pPr algn="just"/>
            <a:r>
              <a:rPr lang="ru-RU" sz="2400" b="1" dirty="0" err="1"/>
              <a:t>Бустинг</a:t>
            </a:r>
            <a:r>
              <a:rPr lang="ru-RU" sz="2400" b="1" dirty="0"/>
              <a:t> </a:t>
            </a:r>
            <a:r>
              <a:rPr lang="ru-RU" sz="2400" dirty="0"/>
              <a:t>(англ. </a:t>
            </a:r>
            <a:r>
              <a:rPr lang="ru-RU" sz="2400" dirty="0" err="1"/>
              <a:t>boosting</a:t>
            </a:r>
            <a:r>
              <a:rPr lang="ru-RU" sz="2400" dirty="0"/>
              <a:t>) — мета-алгоритм машинного обучения.</a:t>
            </a:r>
            <a:endParaRPr lang="en-US" sz="2400" dirty="0"/>
          </a:p>
          <a:p>
            <a:pPr algn="just"/>
            <a:r>
              <a:rPr lang="ru-RU" sz="2400" dirty="0"/>
              <a:t>Основной идеей </a:t>
            </a:r>
            <a:r>
              <a:rPr lang="ru-RU" sz="2400" dirty="0" err="1"/>
              <a:t>бустинга</a:t>
            </a:r>
            <a:r>
              <a:rPr lang="ru-RU" sz="2400" dirty="0"/>
              <a:t> является комбинирование слабых функций, которые строятся в ходе итеративного процесса, где на каждом шаге новая модель обучается с использованием данных об ошибках предыдущих. </a:t>
            </a:r>
            <a:endParaRPr lang="en-US" sz="2400" dirty="0"/>
          </a:p>
          <a:p>
            <a:pPr algn="just"/>
            <a:r>
              <a:rPr lang="ru-RU" sz="2400" dirty="0"/>
              <a:t>Сильный обучающий алгоритм является классификатором, хорошо коррелирующим с верной классификацией, в отличие от слабого. </a:t>
            </a:r>
            <a:endParaRPr lang="en-US" sz="2400" dirty="0"/>
          </a:p>
          <a:p>
            <a:pPr algn="just"/>
            <a:r>
              <a:rPr lang="ru-RU" sz="2400" dirty="0" err="1"/>
              <a:t>Бустинг</a:t>
            </a:r>
            <a:r>
              <a:rPr lang="ru-RU" sz="2400" dirty="0"/>
              <a:t> представляет собой композицию алгоритмов, в которых ошибки отдельных алгоритмов взаимно компенсируются.</a:t>
            </a:r>
          </a:p>
          <a:p>
            <a:pPr algn="just"/>
            <a:r>
              <a:rPr lang="ru-RU" sz="2400" dirty="0"/>
              <a:t>Одним из недостатков </a:t>
            </a:r>
            <a:r>
              <a:rPr lang="ru-RU" sz="2400" dirty="0" err="1"/>
              <a:t>бустинга</a:t>
            </a:r>
            <a:r>
              <a:rPr lang="ru-RU" sz="2400" dirty="0"/>
              <a:t> является то, что он может приводить к построению громоздких композиций, состоящих из сотен алгоритмов.</a:t>
            </a:r>
            <a:r>
              <a:rPr lang="ru-RU" b="0" i="0" dirty="0">
                <a:effectLst/>
                <a:latin typeface="Arial" panose="020B0604020202020204" pitchFamily="34" charset="0"/>
              </a:rPr>
              <a:t> </a:t>
            </a:r>
            <a:endParaRPr lang="ru-RU" dirty="0"/>
          </a:p>
        </p:txBody>
      </p:sp>
      <p:sp>
        <p:nvSpPr>
          <p:cNvPr id="4" name="Нижний колонтитул 3">
            <a:extLst>
              <a:ext uri="{FF2B5EF4-FFF2-40B4-BE49-F238E27FC236}">
                <a16:creationId xmlns:a16="http://schemas.microsoft.com/office/drawing/2014/main" id="{A73C2808-2FD8-41C8-9C8A-F9526FDBFDD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5280EEE-EB63-41EC-B862-AE21F64719DF}"/>
              </a:ext>
            </a:extLst>
          </p:cNvPr>
          <p:cNvSpPr>
            <a:spLocks noGrp="1"/>
          </p:cNvSpPr>
          <p:nvPr>
            <p:ph type="sldNum" sz="quarter" idx="12"/>
          </p:nvPr>
        </p:nvSpPr>
        <p:spPr/>
        <p:txBody>
          <a:bodyPr/>
          <a:lstStyle/>
          <a:p>
            <a:fld id="{81C5FB71-5E9C-41B5-9BB8-3F1EBEAEB16A}" type="slidenum">
              <a:rPr lang="ru-RU" smtClean="0"/>
              <a:t>22</a:t>
            </a:fld>
            <a:endParaRPr lang="ru-RU"/>
          </a:p>
        </p:txBody>
      </p:sp>
    </p:spTree>
    <p:extLst>
      <p:ext uri="{BB962C8B-B14F-4D97-AF65-F5344CB8AC3E}">
        <p14:creationId xmlns:p14="http://schemas.microsoft.com/office/powerpoint/2010/main" val="3706624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4E4A9-4FD5-FB6C-637D-5E230E455ED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78310-04A5-86F4-43B8-576FB3515FBC}"/>
              </a:ext>
            </a:extLst>
          </p:cNvPr>
          <p:cNvSpPr>
            <a:spLocks noGrp="1"/>
          </p:cNvSpPr>
          <p:nvPr>
            <p:ph type="title"/>
          </p:nvPr>
        </p:nvSpPr>
        <p:spPr>
          <a:xfrm>
            <a:off x="628650" y="70791"/>
            <a:ext cx="7886700" cy="767409"/>
          </a:xfrm>
        </p:spPr>
        <p:txBody>
          <a:bodyPr>
            <a:normAutofit/>
          </a:bodyPr>
          <a:lstStyle/>
          <a:p>
            <a:pPr algn="ctr"/>
            <a:r>
              <a:rPr lang="ru-RU" sz="3400" dirty="0" err="1"/>
              <a:t>Бустинг</a:t>
            </a:r>
            <a:endParaRPr lang="ru-RU" sz="3400" dirty="0"/>
          </a:p>
        </p:txBody>
      </p:sp>
      <p:sp>
        <p:nvSpPr>
          <p:cNvPr id="4" name="Нижний колонтитул 3">
            <a:extLst>
              <a:ext uri="{FF2B5EF4-FFF2-40B4-BE49-F238E27FC236}">
                <a16:creationId xmlns:a16="http://schemas.microsoft.com/office/drawing/2014/main" id="{12D5BB51-6215-C388-8145-90FD6A722B5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088B6E8-22F0-35B7-5E12-316D56B9A6AC}"/>
              </a:ext>
            </a:extLst>
          </p:cNvPr>
          <p:cNvSpPr>
            <a:spLocks noGrp="1"/>
          </p:cNvSpPr>
          <p:nvPr>
            <p:ph type="sldNum" sz="quarter" idx="12"/>
          </p:nvPr>
        </p:nvSpPr>
        <p:spPr/>
        <p:txBody>
          <a:bodyPr/>
          <a:lstStyle/>
          <a:p>
            <a:fld id="{81C5FB71-5E9C-41B5-9BB8-3F1EBEAEB16A}" type="slidenum">
              <a:rPr lang="ru-RU" smtClean="0"/>
              <a:t>23</a:t>
            </a:fld>
            <a:endParaRPr lang="ru-RU"/>
          </a:p>
        </p:txBody>
      </p:sp>
      <p:pic>
        <p:nvPicPr>
          <p:cNvPr id="8194" name="Picture 2" descr="Picture background">
            <a:extLst>
              <a:ext uri="{FF2B5EF4-FFF2-40B4-BE49-F238E27FC236}">
                <a16:creationId xmlns:a16="http://schemas.microsoft.com/office/drawing/2014/main" id="{9C7588AA-96A0-CF83-2733-6D0F6FB3996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28650" y="1365647"/>
            <a:ext cx="7886700" cy="443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1948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879D3B-E1B5-4B18-B604-C3097C963FFF}"/>
              </a:ext>
            </a:extLst>
          </p:cNvPr>
          <p:cNvSpPr>
            <a:spLocks noGrp="1"/>
          </p:cNvSpPr>
          <p:nvPr>
            <p:ph type="title"/>
          </p:nvPr>
        </p:nvSpPr>
        <p:spPr>
          <a:xfrm>
            <a:off x="628650" y="70791"/>
            <a:ext cx="7886700" cy="843609"/>
          </a:xfrm>
        </p:spPr>
        <p:txBody>
          <a:bodyPr>
            <a:normAutofit fontScale="90000"/>
          </a:bodyPr>
          <a:lstStyle/>
          <a:p>
            <a:pPr algn="ctr"/>
            <a:r>
              <a:rPr lang="ru-RU" sz="2800" dirty="0"/>
              <a:t>Адаптивный </a:t>
            </a:r>
            <a:r>
              <a:rPr lang="ru-RU" sz="2800" dirty="0" err="1"/>
              <a:t>бустинг</a:t>
            </a:r>
            <a:br>
              <a:rPr lang="ru-RU" sz="2800" dirty="0"/>
            </a:br>
            <a:r>
              <a:rPr lang="ru-RU" b="0" i="0" dirty="0" err="1">
                <a:effectLst/>
                <a:latin typeface="Arial" panose="020B0604020202020204" pitchFamily="34" charset="0"/>
              </a:rPr>
              <a:t>AdaBoost</a:t>
            </a:r>
            <a:endParaRPr lang="ru-RU" dirty="0"/>
          </a:p>
        </p:txBody>
      </p:sp>
      <p:sp>
        <p:nvSpPr>
          <p:cNvPr id="3" name="Объект 2">
            <a:extLst>
              <a:ext uri="{FF2B5EF4-FFF2-40B4-BE49-F238E27FC236}">
                <a16:creationId xmlns:a16="http://schemas.microsoft.com/office/drawing/2014/main" id="{0E3EDA25-46D6-417A-AEE1-2799193674E0}"/>
              </a:ext>
            </a:extLst>
          </p:cNvPr>
          <p:cNvSpPr>
            <a:spLocks noGrp="1"/>
          </p:cNvSpPr>
          <p:nvPr>
            <p:ph idx="1"/>
          </p:nvPr>
        </p:nvSpPr>
        <p:spPr>
          <a:xfrm>
            <a:off x="628650" y="1143000"/>
            <a:ext cx="7886700" cy="5033963"/>
          </a:xfrm>
        </p:spPr>
        <p:txBody>
          <a:bodyPr>
            <a:normAutofit/>
          </a:bodyPr>
          <a:lstStyle/>
          <a:p>
            <a:pPr marL="0" indent="0" algn="just">
              <a:buNone/>
            </a:pPr>
            <a:r>
              <a:rPr lang="ru-RU" sz="2400" dirty="0"/>
              <a:t>Алгоритм работает путём итеративного обучения слабых учеников (обычно простых моделей, таких как пни решений) на выборке, корректируя веса неправильно классифицированных экземпляров на каждой итерации. Окончательная модель представляет собой взвешенную сумму слабых учеников, при этом более высокие веса присваиваются более точным</a:t>
            </a:r>
          </a:p>
          <a:p>
            <a:pPr algn="just"/>
            <a:r>
              <a:rPr lang="ru-RU" sz="2400" dirty="0"/>
              <a:t>Преимущество в обработке несбалансированных данных</a:t>
            </a:r>
          </a:p>
          <a:p>
            <a:pPr algn="just"/>
            <a:r>
              <a:rPr lang="ru-RU" sz="2400" dirty="0"/>
              <a:t>Интерпретируемость лучше по сравнению с лесом</a:t>
            </a:r>
          </a:p>
          <a:p>
            <a:pPr algn="just"/>
            <a:r>
              <a:rPr lang="ru-RU" sz="2400" dirty="0"/>
              <a:t>Лучшая точность по сравнению с базовой моделью</a:t>
            </a:r>
          </a:p>
          <a:p>
            <a:pPr algn="just"/>
            <a:r>
              <a:rPr lang="ru-RU" sz="2400" dirty="0"/>
              <a:t>Устойчивость к переобучению</a:t>
            </a:r>
          </a:p>
          <a:p>
            <a:pPr marL="0" indent="0" algn="just">
              <a:buNone/>
            </a:pPr>
            <a:r>
              <a:rPr lang="ru-RU" sz="2400" b="1" i="1" dirty="0"/>
              <a:t>Чувствительность к шуму и выбросам за счет увеличения веса редких классов и записей</a:t>
            </a:r>
            <a:endParaRPr lang="en-US" sz="2400" b="1" i="1" dirty="0"/>
          </a:p>
        </p:txBody>
      </p:sp>
      <p:sp>
        <p:nvSpPr>
          <p:cNvPr id="4" name="Нижний колонтитул 3">
            <a:extLst>
              <a:ext uri="{FF2B5EF4-FFF2-40B4-BE49-F238E27FC236}">
                <a16:creationId xmlns:a16="http://schemas.microsoft.com/office/drawing/2014/main" id="{E47BF34E-9148-421A-834C-F9734C8B36A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47BF497-22BD-42F6-90C0-55D94C054B17}"/>
              </a:ext>
            </a:extLst>
          </p:cNvPr>
          <p:cNvSpPr>
            <a:spLocks noGrp="1"/>
          </p:cNvSpPr>
          <p:nvPr>
            <p:ph type="sldNum" sz="quarter" idx="12"/>
          </p:nvPr>
        </p:nvSpPr>
        <p:spPr/>
        <p:txBody>
          <a:bodyPr/>
          <a:lstStyle/>
          <a:p>
            <a:fld id="{81C5FB71-5E9C-41B5-9BB8-3F1EBEAEB16A}" type="slidenum">
              <a:rPr lang="ru-RU" smtClean="0"/>
              <a:t>24</a:t>
            </a:fld>
            <a:endParaRPr lang="ru-RU"/>
          </a:p>
        </p:txBody>
      </p:sp>
    </p:spTree>
    <p:extLst>
      <p:ext uri="{BB962C8B-B14F-4D97-AF65-F5344CB8AC3E}">
        <p14:creationId xmlns:p14="http://schemas.microsoft.com/office/powerpoint/2010/main" val="3745716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0119F8-D740-4754-8CD9-5D0B10DE2EA6}"/>
              </a:ext>
            </a:extLst>
          </p:cNvPr>
          <p:cNvSpPr>
            <a:spLocks noGrp="1"/>
          </p:cNvSpPr>
          <p:nvPr>
            <p:ph type="title"/>
          </p:nvPr>
        </p:nvSpPr>
        <p:spPr/>
        <p:txBody>
          <a:bodyPr>
            <a:normAutofit/>
          </a:bodyPr>
          <a:lstStyle/>
          <a:p>
            <a:pPr algn="ctr"/>
            <a:r>
              <a:rPr lang="ru-RU" sz="2000" dirty="0"/>
              <a:t>Принцип работы адаптивного </a:t>
            </a:r>
            <a:r>
              <a:rPr lang="ru-RU" sz="2000" dirty="0" err="1"/>
              <a:t>бустинга</a:t>
            </a:r>
            <a:r>
              <a:rPr lang="ru-RU" sz="2000" dirty="0"/>
              <a:t> для классификации</a:t>
            </a:r>
          </a:p>
        </p:txBody>
      </p:sp>
      <p:sp>
        <p:nvSpPr>
          <p:cNvPr id="4" name="Нижний колонтитул 3">
            <a:extLst>
              <a:ext uri="{FF2B5EF4-FFF2-40B4-BE49-F238E27FC236}">
                <a16:creationId xmlns:a16="http://schemas.microsoft.com/office/drawing/2014/main" id="{DB77C76A-2131-4B06-951E-1F80B317722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0F0302C-937B-45FC-8323-E0F3551D52D7}"/>
              </a:ext>
            </a:extLst>
          </p:cNvPr>
          <p:cNvSpPr>
            <a:spLocks noGrp="1"/>
          </p:cNvSpPr>
          <p:nvPr>
            <p:ph type="sldNum" sz="quarter" idx="12"/>
          </p:nvPr>
        </p:nvSpPr>
        <p:spPr/>
        <p:txBody>
          <a:bodyPr/>
          <a:lstStyle/>
          <a:p>
            <a:fld id="{81C5FB71-5E9C-41B5-9BB8-3F1EBEAEB16A}" type="slidenum">
              <a:rPr lang="ru-RU" smtClean="0"/>
              <a:t>25</a:t>
            </a:fld>
            <a:endParaRPr lang="ru-RU"/>
          </a:p>
        </p:txBody>
      </p:sp>
      <p:pic>
        <p:nvPicPr>
          <p:cNvPr id="2050" name="Picture 2">
            <a:extLst>
              <a:ext uri="{FF2B5EF4-FFF2-40B4-BE49-F238E27FC236}">
                <a16:creationId xmlns:a16="http://schemas.microsoft.com/office/drawing/2014/main" id="{23D18475-DB42-420B-AAF1-F2E1BB9796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6165" y="1371600"/>
            <a:ext cx="8571670" cy="4438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918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53BD50-0E5C-4E66-B608-1A52D61576C3}"/>
              </a:ext>
            </a:extLst>
          </p:cNvPr>
          <p:cNvSpPr>
            <a:spLocks noGrp="1"/>
          </p:cNvSpPr>
          <p:nvPr>
            <p:ph type="title"/>
          </p:nvPr>
        </p:nvSpPr>
        <p:spPr>
          <a:xfrm>
            <a:off x="628650" y="70791"/>
            <a:ext cx="7886700" cy="767409"/>
          </a:xfrm>
        </p:spPr>
        <p:txBody>
          <a:bodyPr>
            <a:noAutofit/>
          </a:bodyPr>
          <a:lstStyle/>
          <a:p>
            <a:pPr algn="ctr"/>
            <a:r>
              <a:rPr lang="ru-RU" sz="3400" dirty="0" err="1"/>
              <a:t>Класссификация</a:t>
            </a:r>
            <a:r>
              <a:rPr lang="ru-RU" sz="3400" dirty="0"/>
              <a:t> пнями</a:t>
            </a:r>
          </a:p>
        </p:txBody>
      </p:sp>
      <p:sp>
        <p:nvSpPr>
          <p:cNvPr id="4" name="Нижний колонтитул 3">
            <a:extLst>
              <a:ext uri="{FF2B5EF4-FFF2-40B4-BE49-F238E27FC236}">
                <a16:creationId xmlns:a16="http://schemas.microsoft.com/office/drawing/2014/main" id="{65E5C9B3-EAD0-46D4-A219-593C06B8E4F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4807D7F-A688-4050-AD45-07B9BC53550C}"/>
              </a:ext>
            </a:extLst>
          </p:cNvPr>
          <p:cNvSpPr>
            <a:spLocks noGrp="1"/>
          </p:cNvSpPr>
          <p:nvPr>
            <p:ph type="sldNum" sz="quarter" idx="12"/>
          </p:nvPr>
        </p:nvSpPr>
        <p:spPr/>
        <p:txBody>
          <a:bodyPr/>
          <a:lstStyle/>
          <a:p>
            <a:fld id="{81C5FB71-5E9C-41B5-9BB8-3F1EBEAEB16A}" type="slidenum">
              <a:rPr lang="ru-RU" smtClean="0"/>
              <a:t>26</a:t>
            </a:fld>
            <a:endParaRPr lang="ru-RU"/>
          </a:p>
        </p:txBody>
      </p:sp>
      <p:pic>
        <p:nvPicPr>
          <p:cNvPr id="4098" name="Picture 2">
            <a:extLst>
              <a:ext uri="{FF2B5EF4-FFF2-40B4-BE49-F238E27FC236}">
                <a16:creationId xmlns:a16="http://schemas.microsoft.com/office/drawing/2014/main" id="{C3312BEB-B43E-4EE4-9074-E26053F4FEDB}"/>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10247" y="2963338"/>
            <a:ext cx="3862578" cy="3862578"/>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31E9B3FF-DEB9-40FC-A619-249D33886CEC}"/>
              </a:ext>
            </a:extLst>
          </p:cNvPr>
          <p:cNvPicPr>
            <a:picLocks noChangeAspect="1"/>
          </p:cNvPicPr>
          <p:nvPr/>
        </p:nvPicPr>
        <p:blipFill>
          <a:blip r:embed="rId3"/>
          <a:stretch>
            <a:fillRect/>
          </a:stretch>
        </p:blipFill>
        <p:spPr>
          <a:xfrm>
            <a:off x="4960239" y="3051710"/>
            <a:ext cx="3862578" cy="3440109"/>
          </a:xfrm>
          <a:prstGeom prst="rect">
            <a:avLst/>
          </a:prstGeom>
        </p:spPr>
      </p:pic>
      <p:sp>
        <p:nvSpPr>
          <p:cNvPr id="13" name="TextBox 12">
            <a:extLst>
              <a:ext uri="{FF2B5EF4-FFF2-40B4-BE49-F238E27FC236}">
                <a16:creationId xmlns:a16="http://schemas.microsoft.com/office/drawing/2014/main" id="{D356DBD9-A3A4-48D4-BDD6-9EEBF7C2A565}"/>
              </a:ext>
            </a:extLst>
          </p:cNvPr>
          <p:cNvSpPr txBox="1"/>
          <p:nvPr/>
        </p:nvSpPr>
        <p:spPr>
          <a:xfrm>
            <a:off x="628651" y="1129347"/>
            <a:ext cx="7886700" cy="1631216"/>
          </a:xfrm>
          <a:prstGeom prst="rect">
            <a:avLst/>
          </a:prstGeom>
          <a:noFill/>
        </p:spPr>
        <p:txBody>
          <a:bodyPr wrap="square">
            <a:spAutoFit/>
          </a:bodyPr>
          <a:lstStyle/>
          <a:p>
            <a:pPr algn="just"/>
            <a:r>
              <a:rPr lang="ru-RU" sz="2000" dirty="0">
                <a:latin typeface="+mn-lt"/>
              </a:rPr>
              <a:t>Размер точки соответствует полученному ей весу за ошибочное предсказание. И мы видим, как на каждой итерации эти веса растут — пни не могут в одиночку справиться с такой задачей. Однако, когда мы произведем взвешенное голосование ранее построенных пней, мы получим искомое нами разделение.</a:t>
            </a:r>
          </a:p>
        </p:txBody>
      </p:sp>
    </p:spTree>
    <p:extLst>
      <p:ext uri="{BB962C8B-B14F-4D97-AF65-F5344CB8AC3E}">
        <p14:creationId xmlns:p14="http://schemas.microsoft.com/office/powerpoint/2010/main" val="836936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4D0B41-70B2-4A5D-80D1-F54CAC6DEBDD}"/>
              </a:ext>
            </a:extLst>
          </p:cNvPr>
          <p:cNvSpPr>
            <a:spLocks noGrp="1"/>
          </p:cNvSpPr>
          <p:nvPr>
            <p:ph type="title"/>
          </p:nvPr>
        </p:nvSpPr>
        <p:spPr>
          <a:xfrm>
            <a:off x="628650" y="70791"/>
            <a:ext cx="7886700" cy="814435"/>
          </a:xfrm>
        </p:spPr>
        <p:txBody>
          <a:bodyPr>
            <a:normAutofit/>
          </a:bodyPr>
          <a:lstStyle/>
          <a:p>
            <a:pPr algn="ctr"/>
            <a:r>
              <a:rPr lang="ru-RU" sz="3400" dirty="0" err="1"/>
              <a:t>Бустинг</a:t>
            </a:r>
            <a:endParaRPr lang="ru-RU" sz="3400" dirty="0"/>
          </a:p>
        </p:txBody>
      </p:sp>
      <p:sp>
        <p:nvSpPr>
          <p:cNvPr id="4" name="Нижний колонтитул 3">
            <a:extLst>
              <a:ext uri="{FF2B5EF4-FFF2-40B4-BE49-F238E27FC236}">
                <a16:creationId xmlns:a16="http://schemas.microsoft.com/office/drawing/2014/main" id="{E444B3D5-26F1-4365-A1A0-62ECC68159C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463C38F-EC14-4087-A035-EF1F455D7018}"/>
              </a:ext>
            </a:extLst>
          </p:cNvPr>
          <p:cNvSpPr>
            <a:spLocks noGrp="1"/>
          </p:cNvSpPr>
          <p:nvPr>
            <p:ph type="sldNum" sz="quarter" idx="12"/>
          </p:nvPr>
        </p:nvSpPr>
        <p:spPr/>
        <p:txBody>
          <a:bodyPr/>
          <a:lstStyle/>
          <a:p>
            <a:fld id="{81C5FB71-5E9C-41B5-9BB8-3F1EBEAEB16A}" type="slidenum">
              <a:rPr lang="ru-RU" smtClean="0"/>
              <a:t>27</a:t>
            </a:fld>
            <a:endParaRPr lang="ru-RU"/>
          </a:p>
        </p:txBody>
      </p:sp>
      <p:pic>
        <p:nvPicPr>
          <p:cNvPr id="1026" name="Picture 2">
            <a:extLst>
              <a:ext uri="{FF2B5EF4-FFF2-40B4-BE49-F238E27FC236}">
                <a16:creationId xmlns:a16="http://schemas.microsoft.com/office/drawing/2014/main" id="{C27781F8-5D84-466B-8193-D5CBCB13FD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77" y="885226"/>
            <a:ext cx="9060123" cy="41240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AAA7529-D727-46D6-B396-8E4B367B5051}"/>
              </a:ext>
            </a:extLst>
          </p:cNvPr>
          <p:cNvSpPr txBox="1"/>
          <p:nvPr/>
        </p:nvSpPr>
        <p:spPr>
          <a:xfrm>
            <a:off x="422938" y="5094688"/>
            <a:ext cx="8382000" cy="1200329"/>
          </a:xfrm>
          <a:prstGeom prst="rect">
            <a:avLst/>
          </a:prstGeom>
          <a:noFill/>
        </p:spPr>
        <p:txBody>
          <a:bodyPr wrap="square">
            <a:spAutoFit/>
          </a:bodyPr>
          <a:lstStyle/>
          <a:p>
            <a:pPr algn="ctr"/>
            <a:r>
              <a:rPr lang="ru-RU" sz="2400" b="0" i="1" dirty="0">
                <a:solidFill>
                  <a:srgbClr val="7C8A9A"/>
                </a:solidFill>
                <a:effectLst/>
                <a:latin typeface="+mn-lt"/>
              </a:rPr>
              <a:t>Каждая следующая модель обучается на ошибках предыдущей, так можно сильно повысить точность прогнозов</a:t>
            </a:r>
            <a:endParaRPr lang="ru-RU" sz="2400" dirty="0">
              <a:latin typeface="+mn-lt"/>
            </a:endParaRPr>
          </a:p>
        </p:txBody>
      </p:sp>
    </p:spTree>
    <p:extLst>
      <p:ext uri="{BB962C8B-B14F-4D97-AF65-F5344CB8AC3E}">
        <p14:creationId xmlns:p14="http://schemas.microsoft.com/office/powerpoint/2010/main" val="3364530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CCB5C3-4407-403B-B8BB-2C45ECF77C46}"/>
              </a:ext>
            </a:extLst>
          </p:cNvPr>
          <p:cNvSpPr>
            <a:spLocks noGrp="1"/>
          </p:cNvSpPr>
          <p:nvPr>
            <p:ph type="title"/>
          </p:nvPr>
        </p:nvSpPr>
        <p:spPr>
          <a:xfrm>
            <a:off x="628650" y="70791"/>
            <a:ext cx="7886700" cy="767409"/>
          </a:xfrm>
        </p:spPr>
        <p:txBody>
          <a:bodyPr>
            <a:normAutofit/>
          </a:bodyPr>
          <a:lstStyle/>
          <a:p>
            <a:pPr algn="ctr"/>
            <a:r>
              <a:rPr lang="ru-RU" sz="2400" dirty="0"/>
              <a:t>Принцип работы адаптивного </a:t>
            </a:r>
            <a:r>
              <a:rPr lang="ru-RU" sz="2400" dirty="0" err="1"/>
              <a:t>бустинга</a:t>
            </a:r>
            <a:r>
              <a:rPr lang="ru-RU" sz="2400" dirty="0"/>
              <a:t> для классификации</a:t>
            </a:r>
          </a:p>
        </p:txBody>
      </p:sp>
      <p:sp>
        <p:nvSpPr>
          <p:cNvPr id="3" name="Объект 2">
            <a:extLst>
              <a:ext uri="{FF2B5EF4-FFF2-40B4-BE49-F238E27FC236}">
                <a16:creationId xmlns:a16="http://schemas.microsoft.com/office/drawing/2014/main" id="{36F1CBE7-EE3B-48F7-B59F-8CBC63176850}"/>
              </a:ext>
            </a:extLst>
          </p:cNvPr>
          <p:cNvSpPr>
            <a:spLocks noGrp="1"/>
          </p:cNvSpPr>
          <p:nvPr>
            <p:ph idx="1"/>
          </p:nvPr>
        </p:nvSpPr>
        <p:spPr>
          <a:xfrm>
            <a:off x="628650" y="990600"/>
            <a:ext cx="7886700" cy="5365751"/>
          </a:xfrm>
        </p:spPr>
        <p:txBody>
          <a:bodyPr>
            <a:normAutofit fontScale="92500" lnSpcReduction="10000"/>
          </a:bodyPr>
          <a:lstStyle/>
          <a:p>
            <a:pPr marL="0" indent="0">
              <a:buNone/>
            </a:pPr>
            <a:r>
              <a:rPr lang="ru-RU" dirty="0"/>
              <a:t>Алгоритм строится следующим образом:</a:t>
            </a:r>
          </a:p>
          <a:p>
            <a:pPr marL="457200" indent="-457200">
              <a:buFont typeface="+mj-lt"/>
              <a:buAutoNum type="arabicPeriod"/>
            </a:pPr>
            <a:r>
              <a:rPr lang="ru-RU" dirty="0"/>
              <a:t>Каждому значению </a:t>
            </a:r>
            <a:r>
              <a:rPr lang="ru-RU" dirty="0" err="1"/>
              <a:t>y_train</a:t>
            </a:r>
            <a:r>
              <a:rPr lang="ru-RU" dirty="0"/>
              <a:t> присваивается одинаковый вес.</a:t>
            </a:r>
          </a:p>
          <a:p>
            <a:pPr marL="457200" indent="-457200">
              <a:buFont typeface="+mj-lt"/>
              <a:buAutoNum type="arabicPeriod"/>
            </a:pPr>
            <a:r>
              <a:rPr lang="ru-RU" dirty="0"/>
              <a:t>Пень глубиной 1 обучается на </a:t>
            </a:r>
            <a:r>
              <a:rPr lang="ru-RU" dirty="0" err="1"/>
              <a:t>X_train</a:t>
            </a:r>
            <a:r>
              <a:rPr lang="ru-RU" dirty="0"/>
              <a:t> и вычисляется доля неверных прогнозов, на основе которой рассчитывается взвешенная частота ошибки.</a:t>
            </a:r>
          </a:p>
          <a:p>
            <a:pPr marL="457200" indent="-457200">
              <a:buFont typeface="+mj-lt"/>
              <a:buAutoNum type="arabicPeriod"/>
            </a:pPr>
            <a:r>
              <a:rPr lang="ru-RU" dirty="0"/>
              <a:t>На основе взвешенной частоты ошибки рассчитывается вес пня.</a:t>
            </a:r>
          </a:p>
          <a:p>
            <a:pPr marL="457200" indent="-457200">
              <a:buFont typeface="+mj-lt"/>
              <a:buAutoNum type="arabicPeriod"/>
            </a:pPr>
            <a:r>
              <a:rPr lang="ru-RU" dirty="0"/>
              <a:t>Для неверных прогнозов обновляются (увеличиваются) и нормализуются веса с учётом веса пня.</a:t>
            </a:r>
          </a:p>
          <a:p>
            <a:pPr marL="457200" indent="-457200">
              <a:buFont typeface="+mj-lt"/>
              <a:buAutoNum type="arabicPeriod"/>
            </a:pPr>
            <a:r>
              <a:rPr lang="ru-RU" dirty="0"/>
              <a:t>Следующий пень обучается на </a:t>
            </a:r>
            <a:r>
              <a:rPr lang="ru-RU" dirty="0" err="1"/>
              <a:t>X_train</a:t>
            </a:r>
            <a:r>
              <a:rPr lang="ru-RU" dirty="0"/>
              <a:t> с учётом обновлённых весов: строится новая выборка того же размера, в которой чаще будут встречаться неправильно классифицированные образцы (те, у которых больше веса).</a:t>
            </a:r>
          </a:p>
          <a:p>
            <a:pPr marL="457200" indent="-457200">
              <a:buFont typeface="+mj-lt"/>
              <a:buAutoNum type="arabicPeriod"/>
            </a:pPr>
            <a:r>
              <a:rPr lang="ru-RU" dirty="0"/>
              <a:t>Шаги 2-5 повторяются для каждого пня.</a:t>
            </a:r>
          </a:p>
          <a:p>
            <a:pPr marL="457200" indent="-457200">
              <a:buFont typeface="+mj-lt"/>
              <a:buAutoNum type="arabicPeriod"/>
            </a:pPr>
            <a:r>
              <a:rPr lang="ru-RU" dirty="0"/>
              <a:t>Каждый обученный пень делает прогноз 1 образца </a:t>
            </a:r>
            <a:r>
              <a:rPr lang="ru-RU" dirty="0" err="1"/>
              <a:t>X_test</a:t>
            </a:r>
            <a:r>
              <a:rPr lang="ru-RU" dirty="0"/>
              <a:t>.</a:t>
            </a:r>
          </a:p>
          <a:p>
            <a:pPr marL="457200" indent="-457200">
              <a:buFont typeface="+mj-lt"/>
              <a:buAutoNum type="arabicPeriod"/>
            </a:pPr>
            <a:r>
              <a:rPr lang="ru-RU" dirty="0"/>
              <a:t>Далее для каждого предсказанного класса суммируются веса пней.</a:t>
            </a:r>
          </a:p>
          <a:p>
            <a:pPr marL="457200" indent="-457200">
              <a:buFont typeface="+mj-lt"/>
              <a:buAutoNum type="arabicPeriod"/>
            </a:pPr>
            <a:r>
              <a:rPr lang="ru-RU" dirty="0"/>
              <a:t>Класс с максимальной суммой весов и будет конечным прогнозом.</a:t>
            </a:r>
          </a:p>
          <a:p>
            <a:pPr marL="457200" indent="-457200">
              <a:buFont typeface="+mj-lt"/>
              <a:buAutoNum type="arabicPeriod"/>
            </a:pPr>
            <a:r>
              <a:rPr lang="ru-RU" dirty="0"/>
              <a:t>Данная процедура повторяется для всех образцов в тестовом наборе данных.</a:t>
            </a:r>
          </a:p>
        </p:txBody>
      </p:sp>
      <p:sp>
        <p:nvSpPr>
          <p:cNvPr id="4" name="Нижний колонтитул 3">
            <a:extLst>
              <a:ext uri="{FF2B5EF4-FFF2-40B4-BE49-F238E27FC236}">
                <a16:creationId xmlns:a16="http://schemas.microsoft.com/office/drawing/2014/main" id="{558B5BD8-8A7C-4E6C-AC75-F2F3F8B47BD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89CD2A1-6B92-42B1-A885-F75A07323566}"/>
              </a:ext>
            </a:extLst>
          </p:cNvPr>
          <p:cNvSpPr>
            <a:spLocks noGrp="1"/>
          </p:cNvSpPr>
          <p:nvPr>
            <p:ph type="sldNum" sz="quarter" idx="12"/>
          </p:nvPr>
        </p:nvSpPr>
        <p:spPr/>
        <p:txBody>
          <a:bodyPr/>
          <a:lstStyle/>
          <a:p>
            <a:fld id="{81C5FB71-5E9C-41B5-9BB8-3F1EBEAEB16A}" type="slidenum">
              <a:rPr lang="ru-RU" smtClean="0"/>
              <a:t>28</a:t>
            </a:fld>
            <a:endParaRPr lang="ru-RU"/>
          </a:p>
        </p:txBody>
      </p:sp>
    </p:spTree>
    <p:extLst>
      <p:ext uri="{BB962C8B-B14F-4D97-AF65-F5344CB8AC3E}">
        <p14:creationId xmlns:p14="http://schemas.microsoft.com/office/powerpoint/2010/main" val="3294581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CF0F77-D36D-4407-A689-CBB97DE4A86F}"/>
              </a:ext>
            </a:extLst>
          </p:cNvPr>
          <p:cNvSpPr>
            <a:spLocks noGrp="1"/>
          </p:cNvSpPr>
          <p:nvPr>
            <p:ph type="title"/>
          </p:nvPr>
        </p:nvSpPr>
        <p:spPr>
          <a:xfrm>
            <a:off x="628650" y="70791"/>
            <a:ext cx="7886700" cy="816621"/>
          </a:xfrm>
        </p:spPr>
        <p:txBody>
          <a:bodyPr>
            <a:normAutofit/>
          </a:bodyPr>
          <a:lstStyle/>
          <a:p>
            <a:pPr algn="ctr"/>
            <a:r>
              <a:rPr lang="ru-RU" sz="2400" dirty="0"/>
              <a:t>Принцип работы адаптивного </a:t>
            </a:r>
            <a:r>
              <a:rPr lang="ru-RU" sz="2400" dirty="0" err="1"/>
              <a:t>бустинга</a:t>
            </a:r>
            <a:r>
              <a:rPr lang="ru-RU" sz="2400" dirty="0"/>
              <a:t> для регрессии</a:t>
            </a:r>
          </a:p>
        </p:txBody>
      </p:sp>
      <p:sp>
        <p:nvSpPr>
          <p:cNvPr id="3" name="Объект 2">
            <a:extLst>
              <a:ext uri="{FF2B5EF4-FFF2-40B4-BE49-F238E27FC236}">
                <a16:creationId xmlns:a16="http://schemas.microsoft.com/office/drawing/2014/main" id="{2570686F-AD90-44FB-831F-5278CC12C500}"/>
              </a:ext>
            </a:extLst>
          </p:cNvPr>
          <p:cNvSpPr>
            <a:spLocks noGrp="1"/>
          </p:cNvSpPr>
          <p:nvPr>
            <p:ph idx="1"/>
          </p:nvPr>
        </p:nvSpPr>
        <p:spPr>
          <a:xfrm>
            <a:off x="628650" y="1066800"/>
            <a:ext cx="7886700" cy="5181600"/>
          </a:xfrm>
        </p:spPr>
        <p:txBody>
          <a:bodyPr>
            <a:normAutofit fontScale="92500" lnSpcReduction="20000"/>
          </a:bodyPr>
          <a:lstStyle/>
          <a:p>
            <a:pPr marL="0" indent="0">
              <a:buNone/>
            </a:pPr>
            <a:r>
              <a:rPr lang="ru-RU" dirty="0"/>
              <a:t>Алгоритм строится следующим образом:</a:t>
            </a:r>
          </a:p>
          <a:p>
            <a:pPr marL="457200" indent="-457200">
              <a:buFont typeface="+mj-lt"/>
              <a:buAutoNum type="arabicPeriod"/>
            </a:pPr>
            <a:r>
              <a:rPr lang="ru-RU" dirty="0"/>
              <a:t>Каждому значению </a:t>
            </a:r>
            <a:r>
              <a:rPr lang="ru-RU" dirty="0" err="1"/>
              <a:t>y_train</a:t>
            </a:r>
            <a:r>
              <a:rPr lang="ru-RU" dirty="0"/>
              <a:t> присваивается одинаковый вес.</a:t>
            </a:r>
          </a:p>
          <a:p>
            <a:pPr marL="457200" indent="-457200">
              <a:buFont typeface="+mj-lt"/>
              <a:buAutoNum type="arabicPeriod"/>
            </a:pPr>
            <a:r>
              <a:rPr lang="ru-RU" dirty="0"/>
              <a:t>Пень глубиной 3 обучается на </a:t>
            </a:r>
            <a:r>
              <a:rPr lang="ru-RU" dirty="0" err="1"/>
              <a:t>X_train</a:t>
            </a:r>
            <a:r>
              <a:rPr lang="ru-RU" dirty="0"/>
              <a:t> и вычисляется абсолютная ошибка для каждого спрогнозированного образца.</a:t>
            </a:r>
          </a:p>
          <a:p>
            <a:pPr marL="457200" indent="-457200">
              <a:buFont typeface="+mj-lt"/>
              <a:buAutoNum type="arabicPeriod"/>
            </a:pPr>
            <a:r>
              <a:rPr lang="ru-RU" dirty="0"/>
              <a:t>После рассчитываются скорректированные ошибки для образов и пня, а также коэффициент β на их основе.</a:t>
            </a:r>
          </a:p>
          <a:p>
            <a:pPr marL="457200" indent="-457200">
              <a:buFont typeface="+mj-lt"/>
              <a:buAutoNum type="arabicPeriod"/>
            </a:pPr>
            <a:r>
              <a:rPr lang="ru-RU" dirty="0"/>
              <a:t>На основе коэффициента β находится вес пня.</a:t>
            </a:r>
          </a:p>
          <a:p>
            <a:pPr marL="457200" indent="-457200">
              <a:buFont typeface="+mj-lt"/>
              <a:buAutoNum type="arabicPeriod"/>
            </a:pPr>
            <a:r>
              <a:rPr lang="ru-RU" dirty="0"/>
              <a:t>Далее для всех образцов обновляются и нормализуются веса с учётом веса пня.</a:t>
            </a:r>
          </a:p>
          <a:p>
            <a:pPr marL="457200" indent="-457200">
              <a:buFont typeface="+mj-lt"/>
              <a:buAutoNum type="arabicPeriod"/>
            </a:pPr>
            <a:r>
              <a:rPr lang="ru-RU" dirty="0"/>
              <a:t>Следующий пень обучается на </a:t>
            </a:r>
            <a:r>
              <a:rPr lang="ru-RU" dirty="0" err="1"/>
              <a:t>X_train</a:t>
            </a:r>
            <a:r>
              <a:rPr lang="ru-RU" dirty="0"/>
              <a:t> с учётом обновлённых весов: строится новая выборка того же размера, в которой чаще будут встречаться образцы с большими весами.</a:t>
            </a:r>
          </a:p>
          <a:p>
            <a:pPr marL="457200" indent="-457200">
              <a:buFont typeface="+mj-lt"/>
              <a:buAutoNum type="arabicPeriod"/>
            </a:pPr>
            <a:r>
              <a:rPr lang="ru-RU" dirty="0"/>
              <a:t>Шаги 2-6 повторяются для каждого пня.</a:t>
            </a:r>
          </a:p>
          <a:p>
            <a:pPr marL="457200" indent="-457200">
              <a:buFont typeface="+mj-lt"/>
              <a:buAutoNum type="arabicPeriod"/>
            </a:pPr>
            <a:r>
              <a:rPr lang="ru-RU" dirty="0"/>
              <a:t>Производится прогноз всех образцов </a:t>
            </a:r>
            <a:r>
              <a:rPr lang="ru-RU" dirty="0" err="1"/>
              <a:t>X_test</a:t>
            </a:r>
            <a:r>
              <a:rPr lang="ru-RU" dirty="0"/>
              <a:t> на каждом обученном пне.</a:t>
            </a:r>
          </a:p>
          <a:p>
            <a:pPr marL="457200" indent="-457200">
              <a:buFont typeface="+mj-lt"/>
              <a:buAutoNum type="arabicPeriod"/>
            </a:pPr>
            <a:r>
              <a:rPr lang="ru-RU" dirty="0"/>
              <a:t>Производится поиск индекса медианного прогноза для каждого образца.</a:t>
            </a:r>
          </a:p>
          <a:p>
            <a:pPr marL="457200" indent="-457200">
              <a:buFont typeface="+mj-lt"/>
              <a:buAutoNum type="arabicPeriod"/>
            </a:pPr>
            <a:r>
              <a:rPr lang="ru-RU" dirty="0"/>
              <a:t>Прогнозы из шага 8 на основе индексов медианного прогноза для каждого образца и будут конечными прогнозами.</a:t>
            </a:r>
          </a:p>
        </p:txBody>
      </p:sp>
      <p:sp>
        <p:nvSpPr>
          <p:cNvPr id="4" name="Нижний колонтитул 3">
            <a:extLst>
              <a:ext uri="{FF2B5EF4-FFF2-40B4-BE49-F238E27FC236}">
                <a16:creationId xmlns:a16="http://schemas.microsoft.com/office/drawing/2014/main" id="{C3BD762C-E97D-40AD-9B22-AADD5D527EE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CD2511B-78C7-4EE6-A08A-EA0064715105}"/>
              </a:ext>
            </a:extLst>
          </p:cNvPr>
          <p:cNvSpPr>
            <a:spLocks noGrp="1"/>
          </p:cNvSpPr>
          <p:nvPr>
            <p:ph type="sldNum" sz="quarter" idx="12"/>
          </p:nvPr>
        </p:nvSpPr>
        <p:spPr/>
        <p:txBody>
          <a:bodyPr/>
          <a:lstStyle/>
          <a:p>
            <a:fld id="{81C5FB71-5E9C-41B5-9BB8-3F1EBEAEB16A}" type="slidenum">
              <a:rPr lang="ru-RU" smtClean="0"/>
              <a:t>29</a:t>
            </a:fld>
            <a:endParaRPr lang="ru-RU"/>
          </a:p>
        </p:txBody>
      </p:sp>
    </p:spTree>
    <p:extLst>
      <p:ext uri="{BB962C8B-B14F-4D97-AF65-F5344CB8AC3E}">
        <p14:creationId xmlns:p14="http://schemas.microsoft.com/office/powerpoint/2010/main" val="3234454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D3A90D-62EA-49C1-AF13-F4A0DEA7D5D9}"/>
              </a:ext>
            </a:extLst>
          </p:cNvPr>
          <p:cNvSpPr>
            <a:spLocks noGrp="1"/>
          </p:cNvSpPr>
          <p:nvPr>
            <p:ph type="title"/>
          </p:nvPr>
        </p:nvSpPr>
        <p:spPr>
          <a:xfrm>
            <a:off x="628650" y="181875"/>
            <a:ext cx="7886700" cy="645745"/>
          </a:xfrm>
        </p:spPr>
        <p:txBody>
          <a:bodyPr>
            <a:noAutofit/>
          </a:bodyPr>
          <a:lstStyle/>
          <a:p>
            <a:pPr algn="ctr"/>
            <a:r>
              <a:rPr lang="ru-RU" sz="3000" dirty="0"/>
              <a:t>Пример реализации </a:t>
            </a:r>
            <a:r>
              <a:rPr lang="ru-RU" sz="3000" dirty="0" err="1"/>
              <a:t>AdaBoost</a:t>
            </a:r>
            <a:r>
              <a:rPr lang="en-US" sz="3000" dirty="0"/>
              <a:t> </a:t>
            </a:r>
            <a:br>
              <a:rPr lang="ru-RU" sz="3000" dirty="0"/>
            </a:br>
            <a:r>
              <a:rPr lang="ru-RU" sz="3000" dirty="0"/>
              <a:t>в модуле </a:t>
            </a:r>
            <a:r>
              <a:rPr lang="en-US" sz="3000" dirty="0"/>
              <a:t> </a:t>
            </a:r>
            <a:r>
              <a:rPr lang="en-US" sz="3000" dirty="0" err="1"/>
              <a:t>sklearn.ensemble</a:t>
            </a:r>
            <a:endParaRPr lang="ru-RU" sz="3000" dirty="0"/>
          </a:p>
        </p:txBody>
      </p:sp>
      <p:sp>
        <p:nvSpPr>
          <p:cNvPr id="4" name="Нижний колонтитул 3">
            <a:extLst>
              <a:ext uri="{FF2B5EF4-FFF2-40B4-BE49-F238E27FC236}">
                <a16:creationId xmlns:a16="http://schemas.microsoft.com/office/drawing/2014/main" id="{C49672C7-4E5C-483F-90F8-2BA23066C5B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305031A-74D4-45E2-89C6-187A8A5C606E}"/>
              </a:ext>
            </a:extLst>
          </p:cNvPr>
          <p:cNvSpPr>
            <a:spLocks noGrp="1"/>
          </p:cNvSpPr>
          <p:nvPr>
            <p:ph type="sldNum" sz="quarter" idx="12"/>
          </p:nvPr>
        </p:nvSpPr>
        <p:spPr/>
        <p:txBody>
          <a:bodyPr/>
          <a:lstStyle/>
          <a:p>
            <a:fld id="{81C5FB71-5E9C-41B5-9BB8-3F1EBEAEB16A}" type="slidenum">
              <a:rPr lang="ru-RU" smtClean="0"/>
              <a:t>30</a:t>
            </a:fld>
            <a:endParaRPr lang="ru-RU"/>
          </a:p>
        </p:txBody>
      </p:sp>
      <p:pic>
        <p:nvPicPr>
          <p:cNvPr id="19" name="Объект 18">
            <a:extLst>
              <a:ext uri="{FF2B5EF4-FFF2-40B4-BE49-F238E27FC236}">
                <a16:creationId xmlns:a16="http://schemas.microsoft.com/office/drawing/2014/main" id="{E72E1F6B-98F6-4E64-803B-87D3DCA583DD}"/>
              </a:ext>
            </a:extLst>
          </p:cNvPr>
          <p:cNvPicPr>
            <a:picLocks noGrp="1" noChangeAspect="1"/>
          </p:cNvPicPr>
          <p:nvPr>
            <p:ph idx="1"/>
          </p:nvPr>
        </p:nvPicPr>
        <p:blipFill>
          <a:blip r:embed="rId3"/>
          <a:stretch>
            <a:fillRect/>
          </a:stretch>
        </p:blipFill>
        <p:spPr>
          <a:xfrm>
            <a:off x="628650" y="2455282"/>
            <a:ext cx="7886700" cy="3901069"/>
          </a:xfrm>
        </p:spPr>
      </p:pic>
      <p:sp>
        <p:nvSpPr>
          <p:cNvPr id="21" name="TextBox 20">
            <a:extLst>
              <a:ext uri="{FF2B5EF4-FFF2-40B4-BE49-F238E27FC236}">
                <a16:creationId xmlns:a16="http://schemas.microsoft.com/office/drawing/2014/main" id="{BEB1E9D9-9FC2-4B45-81AD-3D1F97B1259A}"/>
              </a:ext>
            </a:extLst>
          </p:cNvPr>
          <p:cNvSpPr txBox="1"/>
          <p:nvPr/>
        </p:nvSpPr>
        <p:spPr>
          <a:xfrm>
            <a:off x="628650" y="1138369"/>
            <a:ext cx="7886700" cy="1200329"/>
          </a:xfrm>
          <a:prstGeom prst="rect">
            <a:avLst/>
          </a:prstGeom>
          <a:noFill/>
        </p:spPr>
        <p:txBody>
          <a:bodyPr wrap="square">
            <a:spAutoFit/>
          </a:bodyPr>
          <a:lstStyle/>
          <a:p>
            <a:pPr algn="just"/>
            <a:r>
              <a:rPr lang="ru-RU" dirty="0"/>
              <a:t>Модуль </a:t>
            </a:r>
            <a:r>
              <a:rPr lang="ru-RU" dirty="0" err="1"/>
              <a:t>sklearn.ensemble</a:t>
            </a:r>
            <a:r>
              <a:rPr lang="en-US" dirty="0"/>
              <a:t> </a:t>
            </a:r>
            <a:r>
              <a:rPr lang="ru-RU" dirty="0"/>
              <a:t>включает в себя популярный алгоритм повышения производительности </a:t>
            </a:r>
            <a:r>
              <a:rPr lang="ru-RU" dirty="0" err="1"/>
              <a:t>AdaBoost</a:t>
            </a:r>
            <a:r>
              <a:rPr lang="ru-RU" dirty="0"/>
              <a:t>, представленный в 1995 году </a:t>
            </a:r>
            <a:r>
              <a:rPr lang="ru-RU" b="0" i="0" dirty="0" err="1">
                <a:effectLst/>
                <a:latin typeface="Arial" panose="020B0604020202020204" pitchFamily="34" charset="0"/>
              </a:rPr>
              <a:t>Йоавом</a:t>
            </a:r>
            <a:r>
              <a:rPr lang="ru-RU" b="0" i="0" dirty="0">
                <a:effectLst/>
                <a:latin typeface="Arial" panose="020B0604020202020204" pitchFamily="34" charset="0"/>
              </a:rPr>
              <a:t> </a:t>
            </a:r>
            <a:r>
              <a:rPr lang="ru-RU" b="0" i="0" dirty="0" err="1">
                <a:effectLst/>
                <a:latin typeface="Arial" panose="020B0604020202020204" pitchFamily="34" charset="0"/>
              </a:rPr>
              <a:t>Фройндом</a:t>
            </a:r>
            <a:r>
              <a:rPr lang="ru-RU" b="0" i="0" dirty="0">
                <a:effectLst/>
                <a:latin typeface="Arial" panose="020B0604020202020204" pitchFamily="34" charset="0"/>
              </a:rPr>
              <a:t> и Робертом Шапире</a:t>
            </a:r>
            <a:r>
              <a:rPr lang="en-US" dirty="0">
                <a:latin typeface="Arial" panose="020B0604020202020204" pitchFamily="34" charset="0"/>
              </a:rPr>
              <a:t>.</a:t>
            </a:r>
            <a:endParaRPr lang="ru-RU" dirty="0">
              <a:latin typeface="Arial" panose="020B0604020202020204" pitchFamily="34" charset="0"/>
            </a:endParaRPr>
          </a:p>
          <a:p>
            <a:r>
              <a:rPr lang="en-US" dirty="0"/>
              <a:t>(</a:t>
            </a:r>
            <a:r>
              <a:rPr lang="en-US" sz="1200" dirty="0">
                <a:hlinkClick r:id="rId4"/>
              </a:rPr>
              <a:t>https://scikit-learn.org/stable/modules/ensemble.html#adaboost</a:t>
            </a:r>
            <a:r>
              <a:rPr lang="en-US" dirty="0"/>
              <a:t>)</a:t>
            </a:r>
            <a:endParaRPr lang="ru-RU" dirty="0"/>
          </a:p>
        </p:txBody>
      </p:sp>
    </p:spTree>
    <p:extLst>
      <p:ext uri="{BB962C8B-B14F-4D97-AF65-F5344CB8AC3E}">
        <p14:creationId xmlns:p14="http://schemas.microsoft.com/office/powerpoint/2010/main" val="4223859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A01B95-CC20-4790-9191-EC489221332D}"/>
              </a:ext>
            </a:extLst>
          </p:cNvPr>
          <p:cNvSpPr>
            <a:spLocks noGrp="1"/>
          </p:cNvSpPr>
          <p:nvPr>
            <p:ph type="title"/>
          </p:nvPr>
        </p:nvSpPr>
        <p:spPr/>
        <p:txBody>
          <a:bodyPr/>
          <a:lstStyle/>
          <a:p>
            <a:pPr algn="ctr"/>
            <a:r>
              <a:rPr lang="ru-RU" dirty="0"/>
              <a:t>Версия </a:t>
            </a:r>
            <a:r>
              <a:rPr lang="ru-RU" dirty="0" err="1"/>
              <a:t>AdaBoost</a:t>
            </a:r>
            <a:r>
              <a:rPr lang="ru-RU" dirty="0"/>
              <a:t> для </a:t>
            </a:r>
            <a:r>
              <a:rPr lang="ru-RU" dirty="0" err="1"/>
              <a:t>многоклассовой</a:t>
            </a:r>
            <a:r>
              <a:rPr lang="ru-RU" dirty="0"/>
              <a:t> классификации и регрессии</a:t>
            </a:r>
          </a:p>
        </p:txBody>
      </p:sp>
      <p:sp>
        <p:nvSpPr>
          <p:cNvPr id="3" name="Объект 2">
            <a:extLst>
              <a:ext uri="{FF2B5EF4-FFF2-40B4-BE49-F238E27FC236}">
                <a16:creationId xmlns:a16="http://schemas.microsoft.com/office/drawing/2014/main" id="{88AAABEB-16A1-4797-9684-BBF1FD71BA79}"/>
              </a:ext>
            </a:extLst>
          </p:cNvPr>
          <p:cNvSpPr>
            <a:spLocks noGrp="1"/>
          </p:cNvSpPr>
          <p:nvPr>
            <p:ph idx="1"/>
          </p:nvPr>
        </p:nvSpPr>
        <p:spPr/>
        <p:txBody>
          <a:bodyPr>
            <a:normAutofit fontScale="92500" lnSpcReduction="10000"/>
          </a:bodyPr>
          <a:lstStyle/>
          <a:p>
            <a:pPr marL="0" indent="0" algn="just">
              <a:buNone/>
            </a:pPr>
            <a:r>
              <a:rPr lang="ru-RU" sz="2400" dirty="0"/>
              <a:t>Алгоритм </a:t>
            </a:r>
            <a:r>
              <a:rPr lang="ru-RU" sz="2400" dirty="0" err="1"/>
              <a:t>многоклассовой</a:t>
            </a:r>
            <a:r>
              <a:rPr lang="ru-RU" sz="2400" dirty="0"/>
              <a:t> классификации </a:t>
            </a:r>
            <a:r>
              <a:rPr lang="ru-RU" sz="2400" dirty="0" err="1"/>
              <a:t>AdaBoostClassifier</a:t>
            </a:r>
            <a:r>
              <a:rPr lang="en-US" sz="2400" dirty="0"/>
              <a:t> </a:t>
            </a:r>
            <a:r>
              <a:rPr lang="ru-RU" sz="2400" dirty="0"/>
              <a:t>реализует </a:t>
            </a:r>
            <a:r>
              <a:rPr lang="ru-RU" sz="2400" dirty="0" err="1"/>
              <a:t>AdaBoost.SAMME</a:t>
            </a:r>
            <a:r>
              <a:rPr lang="ru-RU" sz="2400" dirty="0"/>
              <a:t> (</a:t>
            </a:r>
            <a:r>
              <a:rPr lang="ru-RU" sz="2400" dirty="0" err="1"/>
              <a:t>Stagewise</a:t>
            </a:r>
            <a:r>
              <a:rPr lang="ru-RU" sz="2400" dirty="0"/>
              <a:t> </a:t>
            </a:r>
            <a:r>
              <a:rPr lang="ru-RU" sz="2400" dirty="0" err="1"/>
              <a:t>Additive</a:t>
            </a:r>
            <a:r>
              <a:rPr lang="ru-RU" sz="2400" dirty="0"/>
              <a:t> </a:t>
            </a:r>
            <a:r>
              <a:rPr lang="ru-RU" sz="2400" dirty="0" err="1"/>
              <a:t>Modeling</a:t>
            </a:r>
            <a:r>
              <a:rPr lang="ru-RU" sz="2400" dirty="0"/>
              <a:t> </a:t>
            </a:r>
            <a:r>
              <a:rPr lang="ru-RU" sz="2400" dirty="0" err="1"/>
              <a:t>using</a:t>
            </a:r>
            <a:r>
              <a:rPr lang="ru-RU" sz="2400" dirty="0"/>
              <a:t> а </a:t>
            </a:r>
            <a:r>
              <a:rPr lang="ru-RU" sz="2400" dirty="0" err="1"/>
              <a:t>Multiclass</a:t>
            </a:r>
            <a:r>
              <a:rPr lang="ru-RU" sz="2400" dirty="0"/>
              <a:t> </a:t>
            </a:r>
            <a:r>
              <a:rPr lang="ru-RU" sz="2400" dirty="0" err="1"/>
              <a:t>Exponential</a:t>
            </a:r>
            <a:r>
              <a:rPr lang="ru-RU" sz="2400" dirty="0"/>
              <a:t> </a:t>
            </a:r>
            <a:r>
              <a:rPr lang="ru-RU" sz="2400" dirty="0" err="1"/>
              <a:t>loss</a:t>
            </a:r>
            <a:r>
              <a:rPr lang="ru-RU" sz="2400" dirty="0"/>
              <a:t> </a:t>
            </a:r>
            <a:r>
              <a:rPr lang="ru-RU" sz="2400" dirty="0" err="1"/>
              <a:t>function</a:t>
            </a:r>
            <a:r>
              <a:rPr lang="ru-RU" sz="2400" dirty="0"/>
              <a:t>) — версия </a:t>
            </a:r>
            <a:r>
              <a:rPr lang="ru-RU" sz="2400" dirty="0" err="1"/>
              <a:t>AdaBoost</a:t>
            </a:r>
            <a:r>
              <a:rPr lang="ru-RU" sz="2400" dirty="0"/>
              <a:t> для </a:t>
            </a:r>
            <a:r>
              <a:rPr lang="ru-RU" sz="2400" dirty="0" err="1"/>
              <a:t>многоклассовой</a:t>
            </a:r>
            <a:r>
              <a:rPr lang="ru-RU" sz="2400" dirty="0"/>
              <a:t> классификации. Если же базовые модели оценивают вероятности классов, то такая версия называется SAMME.R, где R (Real) — вещественный и, в целом, обладает более высокой точностью.</a:t>
            </a:r>
          </a:p>
          <a:p>
            <a:pPr marL="0" indent="0" algn="just">
              <a:buNone/>
            </a:pPr>
            <a:r>
              <a:rPr lang="ru-RU" sz="2400" dirty="0"/>
              <a:t>В случае регрессии</a:t>
            </a:r>
            <a:r>
              <a:rPr lang="en-US" sz="2400" dirty="0"/>
              <a:t> </a:t>
            </a:r>
            <a:r>
              <a:rPr lang="en-US" sz="2400" dirty="0" err="1"/>
              <a:t>AdaBoostRegressor</a:t>
            </a:r>
            <a:r>
              <a:rPr lang="en-US" sz="2400" dirty="0"/>
              <a:t> </a:t>
            </a:r>
            <a:r>
              <a:rPr lang="ru-RU" sz="2400" dirty="0"/>
              <a:t>реализует алгоритм AdaBoost.R2 работает похожим образом за исключением некоторых особенностей: для оценки качества прогнозов пней используется абсолютная ошибка, а конечный прогноз выполняется с помощью взвешенной медианы, суть которой заключается в присвоении весов отсортированным элементам списка и выборе того, чья кумулятивная сумма больше половины от общей.</a:t>
            </a:r>
          </a:p>
          <a:p>
            <a:pPr marL="0" indent="0">
              <a:buNone/>
            </a:pPr>
            <a:r>
              <a:rPr lang="en-US" sz="1400" dirty="0"/>
              <a:t>(</a:t>
            </a:r>
            <a:r>
              <a:rPr lang="en-US" sz="1400" dirty="0">
                <a:hlinkClick r:id="rId2"/>
              </a:rPr>
              <a:t>https://scikit-learn.org/stable/modules/generated/sklearn.ensemble.AdaBoostClassifier.html#adaboostclassifier</a:t>
            </a:r>
            <a:endParaRPr lang="ru-RU" sz="1400" dirty="0"/>
          </a:p>
          <a:p>
            <a:pPr marL="0" indent="0">
              <a:buNone/>
            </a:pPr>
            <a:r>
              <a:rPr lang="en-US" sz="1400" dirty="0">
                <a:hlinkClick r:id="rId3"/>
              </a:rPr>
              <a:t>https://scikit-learn.org/stable/modules/generated/sklearn.ensemble.AdaBoostRegressor.html#adaboostregressor</a:t>
            </a:r>
            <a:r>
              <a:rPr lang="en-US" sz="1400" dirty="0"/>
              <a:t>)</a:t>
            </a:r>
            <a:endParaRPr lang="ru-RU" sz="1400" dirty="0"/>
          </a:p>
          <a:p>
            <a:pPr marL="0" indent="0" algn="just">
              <a:buNone/>
            </a:pPr>
            <a:endParaRPr lang="ru-RU" dirty="0"/>
          </a:p>
        </p:txBody>
      </p:sp>
      <p:sp>
        <p:nvSpPr>
          <p:cNvPr id="4" name="Нижний колонтитул 3">
            <a:extLst>
              <a:ext uri="{FF2B5EF4-FFF2-40B4-BE49-F238E27FC236}">
                <a16:creationId xmlns:a16="http://schemas.microsoft.com/office/drawing/2014/main" id="{99DC0B51-6ED6-42D5-A73D-7470FACB100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C367B24-498E-4109-9EB0-08E038E7C0A7}"/>
              </a:ext>
            </a:extLst>
          </p:cNvPr>
          <p:cNvSpPr>
            <a:spLocks noGrp="1"/>
          </p:cNvSpPr>
          <p:nvPr>
            <p:ph type="sldNum" sz="quarter" idx="12"/>
          </p:nvPr>
        </p:nvSpPr>
        <p:spPr/>
        <p:txBody>
          <a:bodyPr/>
          <a:lstStyle/>
          <a:p>
            <a:fld id="{81C5FB71-5E9C-41B5-9BB8-3F1EBEAEB16A}" type="slidenum">
              <a:rPr lang="ru-RU" smtClean="0"/>
              <a:t>31</a:t>
            </a:fld>
            <a:endParaRPr lang="ru-RU"/>
          </a:p>
        </p:txBody>
      </p:sp>
    </p:spTree>
    <p:extLst>
      <p:ext uri="{BB962C8B-B14F-4D97-AF65-F5344CB8AC3E}">
        <p14:creationId xmlns:p14="http://schemas.microsoft.com/office/powerpoint/2010/main" val="1951675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549FCD-5AA5-4E9E-936B-5BADAC8F923A}"/>
              </a:ext>
            </a:extLst>
          </p:cNvPr>
          <p:cNvSpPr>
            <a:spLocks noGrp="1"/>
          </p:cNvSpPr>
          <p:nvPr>
            <p:ph type="title"/>
          </p:nvPr>
        </p:nvSpPr>
        <p:spPr/>
        <p:txBody>
          <a:bodyPr/>
          <a:lstStyle/>
          <a:p>
            <a:pPr algn="ctr"/>
            <a:r>
              <a:rPr lang="ru-RU" dirty="0"/>
              <a:t>Модификации адаптивного </a:t>
            </a:r>
            <a:r>
              <a:rPr lang="ru-RU" dirty="0" err="1"/>
              <a:t>бустинга</a:t>
            </a:r>
            <a:endParaRPr lang="ru-RU" dirty="0"/>
          </a:p>
        </p:txBody>
      </p:sp>
      <p:sp>
        <p:nvSpPr>
          <p:cNvPr id="3" name="Объект 2">
            <a:extLst>
              <a:ext uri="{FF2B5EF4-FFF2-40B4-BE49-F238E27FC236}">
                <a16:creationId xmlns:a16="http://schemas.microsoft.com/office/drawing/2014/main" id="{7ED94443-9291-401B-841F-5F637FFD8161}"/>
              </a:ext>
            </a:extLst>
          </p:cNvPr>
          <p:cNvSpPr>
            <a:spLocks noGrp="1"/>
          </p:cNvSpPr>
          <p:nvPr>
            <p:ph idx="1"/>
          </p:nvPr>
        </p:nvSpPr>
        <p:spPr/>
        <p:txBody>
          <a:bodyPr>
            <a:normAutofit/>
          </a:bodyPr>
          <a:lstStyle/>
          <a:p>
            <a:pPr marL="0" indent="0" algn="just">
              <a:buNone/>
            </a:pPr>
            <a:r>
              <a:rPr lang="ru-RU" dirty="0"/>
              <a:t>Поскольку при работе с зашумленными данными обобщающая способность </a:t>
            </a:r>
            <a:r>
              <a:rPr lang="ru-RU" dirty="0" err="1"/>
              <a:t>AdaBoost</a:t>
            </a:r>
            <a:r>
              <a:rPr lang="ru-RU" dirty="0"/>
              <a:t> может заметно снизиться, были разработаны другие, более стабильные модификации. Среди наиболее интересных можно выделить следующие:</a:t>
            </a:r>
          </a:p>
          <a:p>
            <a:pPr marL="0" indent="0" algn="just">
              <a:buNone/>
            </a:pPr>
            <a:r>
              <a:rPr lang="ru-RU" b="1" dirty="0"/>
              <a:t>L2-Boost </a:t>
            </a:r>
            <a:r>
              <a:rPr lang="ru-RU" dirty="0"/>
              <a:t>— модификация, которая использует L2-регуляризацию для функции потерь для штрафов менее важных признаков, что делает его более подходящим вариантом в задачах регрессии;</a:t>
            </a:r>
          </a:p>
          <a:p>
            <a:pPr marL="0" indent="0" algn="just">
              <a:buNone/>
            </a:pPr>
            <a:r>
              <a:rPr lang="ru-RU" b="1" dirty="0" err="1"/>
              <a:t>LogitBoost</a:t>
            </a:r>
            <a:r>
              <a:rPr lang="ru-RU" b="1" dirty="0"/>
              <a:t> </a:t>
            </a:r>
            <a:r>
              <a:rPr lang="ru-RU" dirty="0"/>
              <a:t>— улучшение, которое применяется в задачах классификации на основе кросс-энтропийной функции потерь, что ускоряет обучение и в ряде случаев делает алгоритм более устойчивым;</a:t>
            </a:r>
          </a:p>
          <a:p>
            <a:pPr marL="0" indent="0" algn="just">
              <a:buNone/>
            </a:pPr>
            <a:r>
              <a:rPr lang="ru-RU" b="1" dirty="0" err="1"/>
              <a:t>BrownBoost</a:t>
            </a:r>
            <a:r>
              <a:rPr lang="ru-RU" dirty="0"/>
              <a:t> — более продвинутая модификация, в основе которой лежит использование лимита на обучение по данным с неверными прогнозами, то есть модель старается штрафовать сильнее трудно классифицируемые объекты.</a:t>
            </a:r>
          </a:p>
        </p:txBody>
      </p:sp>
      <p:sp>
        <p:nvSpPr>
          <p:cNvPr id="4" name="Нижний колонтитул 3">
            <a:extLst>
              <a:ext uri="{FF2B5EF4-FFF2-40B4-BE49-F238E27FC236}">
                <a16:creationId xmlns:a16="http://schemas.microsoft.com/office/drawing/2014/main" id="{86A26B7B-4421-4848-A5AE-95D56CFFF6A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C65EB9A-E555-4FAE-B9B4-F7DD4E0B433A}"/>
              </a:ext>
            </a:extLst>
          </p:cNvPr>
          <p:cNvSpPr>
            <a:spLocks noGrp="1"/>
          </p:cNvSpPr>
          <p:nvPr>
            <p:ph type="sldNum" sz="quarter" idx="12"/>
          </p:nvPr>
        </p:nvSpPr>
        <p:spPr/>
        <p:txBody>
          <a:bodyPr/>
          <a:lstStyle/>
          <a:p>
            <a:fld id="{81C5FB71-5E9C-41B5-9BB8-3F1EBEAEB16A}" type="slidenum">
              <a:rPr lang="ru-RU" smtClean="0"/>
              <a:t>32</a:t>
            </a:fld>
            <a:endParaRPr lang="ru-RU"/>
          </a:p>
        </p:txBody>
      </p:sp>
    </p:spTree>
    <p:extLst>
      <p:ext uri="{BB962C8B-B14F-4D97-AF65-F5344CB8AC3E}">
        <p14:creationId xmlns:p14="http://schemas.microsoft.com/office/powerpoint/2010/main" val="811177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879D3B-E1B5-4B18-B604-C3097C963FFF}"/>
              </a:ext>
            </a:extLst>
          </p:cNvPr>
          <p:cNvSpPr>
            <a:spLocks noGrp="1"/>
          </p:cNvSpPr>
          <p:nvPr>
            <p:ph type="title"/>
          </p:nvPr>
        </p:nvSpPr>
        <p:spPr>
          <a:xfrm>
            <a:off x="628650" y="70791"/>
            <a:ext cx="7886700" cy="767409"/>
          </a:xfrm>
        </p:spPr>
        <p:txBody>
          <a:bodyPr/>
          <a:lstStyle/>
          <a:p>
            <a:pPr algn="ctr"/>
            <a:r>
              <a:rPr lang="ru-RU" i="0" dirty="0" err="1">
                <a:effectLst/>
                <a:latin typeface="Arial" panose="020B0604020202020204" pitchFamily="34" charset="0"/>
              </a:rPr>
              <a:t>AdaBoost</a:t>
            </a:r>
            <a:r>
              <a:rPr lang="ru-RU" i="0" dirty="0">
                <a:effectLst/>
                <a:latin typeface="Arial" panose="020B0604020202020204" pitchFamily="34" charset="0"/>
              </a:rPr>
              <a:t>  </a:t>
            </a:r>
            <a:r>
              <a:rPr lang="en-US" i="0" dirty="0">
                <a:effectLst/>
                <a:latin typeface="Arial" panose="020B0604020202020204" pitchFamily="34" charset="0"/>
              </a:rPr>
              <a:t> </a:t>
            </a:r>
            <a:r>
              <a:rPr lang="ru-RU" i="0" dirty="0">
                <a:effectLst/>
                <a:latin typeface="Arial" panose="020B0604020202020204" pitchFamily="34" charset="0"/>
                <a:sym typeface="Wingdings" panose="05000000000000000000" pitchFamily="2" charset="2"/>
              </a:rPr>
              <a:t></a:t>
            </a:r>
            <a:r>
              <a:rPr lang="en-US" i="0" dirty="0">
                <a:effectLst/>
                <a:latin typeface="Arial" panose="020B0604020202020204" pitchFamily="34" charset="0"/>
                <a:sym typeface="Wingdings" panose="05000000000000000000" pitchFamily="2" charset="2"/>
              </a:rPr>
              <a:t>  </a:t>
            </a:r>
            <a:r>
              <a:rPr lang="ru-RU" dirty="0">
                <a:solidFill>
                  <a:srgbClr val="222222"/>
                </a:solidFill>
                <a:latin typeface="Arial" panose="020B0604020202020204" pitchFamily="34" charset="0"/>
              </a:rPr>
              <a:t>GBM</a:t>
            </a:r>
            <a:endParaRPr lang="ru-RU" dirty="0"/>
          </a:p>
        </p:txBody>
      </p:sp>
      <p:sp>
        <p:nvSpPr>
          <p:cNvPr id="3" name="Объект 2">
            <a:extLst>
              <a:ext uri="{FF2B5EF4-FFF2-40B4-BE49-F238E27FC236}">
                <a16:creationId xmlns:a16="http://schemas.microsoft.com/office/drawing/2014/main" id="{0E3EDA25-46D6-417A-AEE1-2799193674E0}"/>
              </a:ext>
            </a:extLst>
          </p:cNvPr>
          <p:cNvSpPr>
            <a:spLocks noGrp="1"/>
          </p:cNvSpPr>
          <p:nvPr>
            <p:ph idx="1"/>
          </p:nvPr>
        </p:nvSpPr>
        <p:spPr>
          <a:xfrm>
            <a:off x="628650" y="990600"/>
            <a:ext cx="7886700" cy="5186363"/>
          </a:xfrm>
        </p:spPr>
        <p:txBody>
          <a:bodyPr>
            <a:normAutofit/>
          </a:bodyPr>
          <a:lstStyle/>
          <a:p>
            <a:pPr marL="0" indent="0" algn="just">
              <a:buNone/>
            </a:pPr>
            <a:r>
              <a:rPr lang="ru-RU" sz="2400" dirty="0"/>
              <a:t>Вместо обучения на основе увеличения весов неправильно классифицированных или предсказанных значений пришло время для алгоритмов на базе общего обучения минимизации функции потерь.</a:t>
            </a:r>
            <a:endParaRPr lang="en-US" sz="2400" dirty="0"/>
          </a:p>
          <a:p>
            <a:pPr marL="0" indent="0" algn="just">
              <a:buNone/>
            </a:pPr>
            <a:r>
              <a:rPr lang="ru-RU" sz="2400" b="1" dirty="0" err="1"/>
              <a:t>Gradient</a:t>
            </a:r>
            <a:r>
              <a:rPr lang="ru-RU" sz="2400" b="1" dirty="0"/>
              <a:t> </a:t>
            </a:r>
            <a:r>
              <a:rPr lang="ru-RU" sz="2400" b="1" dirty="0" err="1"/>
              <a:t>Boosting</a:t>
            </a:r>
            <a:r>
              <a:rPr lang="ru-RU" sz="2400" b="1" dirty="0"/>
              <a:t> Machine </a:t>
            </a:r>
            <a:r>
              <a:rPr lang="ru-RU" sz="2400" dirty="0"/>
              <a:t>(GBM) — это метод машинного обучения, который строит модель прогнозирования в виде ансамбля слабых моделей предсказания, обычно деревьев решений. </a:t>
            </a:r>
            <a:endParaRPr lang="en-US" sz="2400" dirty="0"/>
          </a:p>
          <a:p>
            <a:pPr marL="0" indent="0" algn="just">
              <a:buNone/>
            </a:pPr>
            <a:r>
              <a:rPr lang="ru-RU" sz="2400" dirty="0"/>
              <a:t>Метод предполагает последовательное обучение этих слабых моделей, при этом каждая фокусируется на ошибках предыдущих, чтобы исправить их.</a:t>
            </a:r>
            <a:endParaRPr lang="en-US" sz="2400" dirty="0"/>
          </a:p>
          <a:p>
            <a:pPr marL="0" indent="0" algn="just">
              <a:buNone/>
            </a:pPr>
            <a:endParaRPr lang="ru-RU" sz="2400" dirty="0"/>
          </a:p>
        </p:txBody>
      </p:sp>
      <p:sp>
        <p:nvSpPr>
          <p:cNvPr id="4" name="Нижний колонтитул 3">
            <a:extLst>
              <a:ext uri="{FF2B5EF4-FFF2-40B4-BE49-F238E27FC236}">
                <a16:creationId xmlns:a16="http://schemas.microsoft.com/office/drawing/2014/main" id="{E47BF34E-9148-421A-834C-F9734C8B36A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47BF497-22BD-42F6-90C0-55D94C054B17}"/>
              </a:ext>
            </a:extLst>
          </p:cNvPr>
          <p:cNvSpPr>
            <a:spLocks noGrp="1"/>
          </p:cNvSpPr>
          <p:nvPr>
            <p:ph type="sldNum" sz="quarter" idx="12"/>
          </p:nvPr>
        </p:nvSpPr>
        <p:spPr/>
        <p:txBody>
          <a:bodyPr/>
          <a:lstStyle/>
          <a:p>
            <a:fld id="{81C5FB71-5E9C-41B5-9BB8-3F1EBEAEB16A}" type="slidenum">
              <a:rPr lang="ru-RU" smtClean="0"/>
              <a:t>33</a:t>
            </a:fld>
            <a:endParaRPr lang="ru-RU"/>
          </a:p>
        </p:txBody>
      </p:sp>
    </p:spTree>
    <p:extLst>
      <p:ext uri="{BB962C8B-B14F-4D97-AF65-F5344CB8AC3E}">
        <p14:creationId xmlns:p14="http://schemas.microsoft.com/office/powerpoint/2010/main" val="2072909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461387-4DCD-4A73-A07E-8F63A299D3A0}"/>
              </a:ext>
            </a:extLst>
          </p:cNvPr>
          <p:cNvSpPr>
            <a:spLocks noGrp="1"/>
          </p:cNvSpPr>
          <p:nvPr>
            <p:ph type="title"/>
          </p:nvPr>
        </p:nvSpPr>
        <p:spPr/>
        <p:txBody>
          <a:bodyPr/>
          <a:lstStyle/>
          <a:p>
            <a:pPr algn="ctr"/>
            <a:r>
              <a:rPr lang="ru-RU" dirty="0"/>
              <a:t>История становления </a:t>
            </a:r>
            <a:r>
              <a:rPr lang="en-US" dirty="0"/>
              <a:t>GBM</a:t>
            </a:r>
            <a:endParaRPr lang="ru-RU" dirty="0"/>
          </a:p>
        </p:txBody>
      </p:sp>
      <p:sp>
        <p:nvSpPr>
          <p:cNvPr id="3" name="Объект 2">
            <a:extLst>
              <a:ext uri="{FF2B5EF4-FFF2-40B4-BE49-F238E27FC236}">
                <a16:creationId xmlns:a16="http://schemas.microsoft.com/office/drawing/2014/main" id="{D5421CD2-05DD-4B8A-91B5-6D156F051363}"/>
              </a:ext>
            </a:extLst>
          </p:cNvPr>
          <p:cNvSpPr>
            <a:spLocks noGrp="1"/>
          </p:cNvSpPr>
          <p:nvPr>
            <p:ph idx="1"/>
          </p:nvPr>
        </p:nvSpPr>
        <p:spPr/>
        <p:txBody>
          <a:bodyPr/>
          <a:lstStyle/>
          <a:p>
            <a:pPr algn="just">
              <a:buFontTx/>
              <a:buChar char="-"/>
            </a:pPr>
            <a:r>
              <a:rPr lang="ru-RU" dirty="0"/>
              <a:t>Проблемы </a:t>
            </a:r>
            <a:r>
              <a:rPr lang="en-US" dirty="0" err="1"/>
              <a:t>Adaboost</a:t>
            </a:r>
            <a:r>
              <a:rPr lang="en-US" dirty="0"/>
              <a:t> </a:t>
            </a:r>
            <a:r>
              <a:rPr lang="ru-RU" dirty="0"/>
              <a:t>по мощности и проблем с выбросами</a:t>
            </a:r>
          </a:p>
          <a:p>
            <a:pPr algn="just">
              <a:buFontTx/>
              <a:buChar char="-"/>
            </a:pPr>
            <a:r>
              <a:rPr lang="ru-RU" dirty="0" err="1">
                <a:solidFill>
                  <a:srgbClr val="222222"/>
                </a:solidFill>
              </a:rPr>
              <a:t>Jerome</a:t>
            </a:r>
            <a:r>
              <a:rPr lang="ru-RU" dirty="0">
                <a:solidFill>
                  <a:srgbClr val="222222"/>
                </a:solidFill>
              </a:rPr>
              <a:t> </a:t>
            </a:r>
            <a:r>
              <a:rPr lang="ru-RU" dirty="0" err="1">
                <a:solidFill>
                  <a:srgbClr val="222222"/>
                </a:solidFill>
              </a:rPr>
              <a:t>Friedman</a:t>
            </a:r>
            <a:r>
              <a:rPr lang="ru-RU" dirty="0">
                <a:solidFill>
                  <a:srgbClr val="222222"/>
                </a:solidFill>
              </a:rPr>
              <a:t> положил </a:t>
            </a:r>
            <a:r>
              <a:rPr lang="ru-RU" dirty="0"/>
              <a:t>статистическую базу исследований в области </a:t>
            </a:r>
            <a:r>
              <a:rPr lang="ru-RU" dirty="0" err="1"/>
              <a:t>бустинга</a:t>
            </a:r>
            <a:r>
              <a:rPr lang="ru-RU" dirty="0"/>
              <a:t> -</a:t>
            </a:r>
            <a:r>
              <a:rPr lang="en-US" dirty="0"/>
              <a:t>&gt; </a:t>
            </a:r>
            <a:r>
              <a:rPr lang="ru-RU" dirty="0"/>
              <a:t>методология </a:t>
            </a:r>
            <a:r>
              <a:rPr lang="ru-RU" dirty="0" err="1"/>
              <a:t>ансамблирования</a:t>
            </a:r>
            <a:endParaRPr lang="ru-RU" dirty="0"/>
          </a:p>
          <a:p>
            <a:pPr algn="just">
              <a:buFontTx/>
              <a:buChar char="-"/>
            </a:pPr>
            <a:r>
              <a:rPr lang="ru-RU" dirty="0">
                <a:solidFill>
                  <a:srgbClr val="333333"/>
                </a:solidFill>
                <a:latin typeface="-apple-system"/>
              </a:rPr>
              <a:t>П</a:t>
            </a:r>
            <a:r>
              <a:rPr lang="ru-RU" b="0" i="0" dirty="0">
                <a:solidFill>
                  <a:srgbClr val="333333"/>
                </a:solidFill>
                <a:effectLst/>
                <a:latin typeface="-apple-system"/>
              </a:rPr>
              <a:t>ри построении следующей простой модели, она строится не просто на </a:t>
            </a:r>
            <a:r>
              <a:rPr lang="ru-RU" b="0" i="0" dirty="0" err="1">
                <a:solidFill>
                  <a:srgbClr val="333333"/>
                </a:solidFill>
                <a:effectLst/>
                <a:latin typeface="-apple-system"/>
              </a:rPr>
              <a:t>перевзвешенных</a:t>
            </a:r>
            <a:r>
              <a:rPr lang="ru-RU" b="0" i="0" dirty="0">
                <a:solidFill>
                  <a:srgbClr val="333333"/>
                </a:solidFill>
                <a:effectLst/>
                <a:latin typeface="-apple-system"/>
              </a:rPr>
              <a:t> наблюдениях, а так, чтобы лучшим образом приближать общий градиент целевой функции</a:t>
            </a:r>
          </a:p>
          <a:p>
            <a:pPr algn="just">
              <a:buFontTx/>
              <a:buChar char="-"/>
            </a:pPr>
            <a:r>
              <a:rPr lang="ru-RU" dirty="0">
                <a:solidFill>
                  <a:srgbClr val="333333"/>
                </a:solidFill>
                <a:latin typeface="-apple-system"/>
              </a:rPr>
              <a:t>Появление </a:t>
            </a:r>
            <a:r>
              <a:rPr lang="en-US" dirty="0" err="1">
                <a:solidFill>
                  <a:srgbClr val="333333"/>
                </a:solidFill>
                <a:latin typeface="-apple-system"/>
              </a:rPr>
              <a:t>GLMBosst</a:t>
            </a:r>
            <a:r>
              <a:rPr lang="en-US" dirty="0">
                <a:solidFill>
                  <a:srgbClr val="333333"/>
                </a:solidFill>
                <a:latin typeface="-apple-system"/>
              </a:rPr>
              <a:t>, </a:t>
            </a:r>
            <a:r>
              <a:rPr lang="en-US" dirty="0" err="1">
                <a:solidFill>
                  <a:srgbClr val="333333"/>
                </a:solidFill>
                <a:latin typeface="-apple-system"/>
              </a:rPr>
              <a:t>GAMBosst</a:t>
            </a:r>
            <a:r>
              <a:rPr lang="en-US" dirty="0">
                <a:solidFill>
                  <a:srgbClr val="333333"/>
                </a:solidFill>
                <a:latin typeface="-apple-system"/>
              </a:rPr>
              <a:t>, </a:t>
            </a:r>
            <a:r>
              <a:rPr lang="en-US" dirty="0" err="1">
                <a:solidFill>
                  <a:srgbClr val="333333"/>
                </a:solidFill>
                <a:latin typeface="-apple-system"/>
              </a:rPr>
              <a:t>CoxBoost</a:t>
            </a:r>
            <a:r>
              <a:rPr lang="en-US" dirty="0">
                <a:solidFill>
                  <a:srgbClr val="333333"/>
                </a:solidFill>
                <a:latin typeface="-apple-system"/>
              </a:rPr>
              <a:t>, </a:t>
            </a:r>
            <a:r>
              <a:rPr lang="en-US" dirty="0" err="1">
                <a:solidFill>
                  <a:srgbClr val="333333"/>
                </a:solidFill>
                <a:latin typeface="-apple-system"/>
              </a:rPr>
              <a:t>RankBoost</a:t>
            </a:r>
            <a:r>
              <a:rPr lang="en-US" dirty="0">
                <a:solidFill>
                  <a:srgbClr val="333333"/>
                </a:solidFill>
                <a:latin typeface="-apple-system"/>
              </a:rPr>
              <a:t>, </a:t>
            </a:r>
            <a:r>
              <a:rPr lang="en-US" dirty="0" err="1">
                <a:solidFill>
                  <a:srgbClr val="333333"/>
                </a:solidFill>
                <a:latin typeface="-apple-system"/>
              </a:rPr>
              <a:t>LambdaMART</a:t>
            </a:r>
            <a:endParaRPr lang="en-US" dirty="0">
              <a:solidFill>
                <a:srgbClr val="333333"/>
              </a:solidFill>
              <a:latin typeface="-apple-system"/>
            </a:endParaRPr>
          </a:p>
          <a:p>
            <a:pPr algn="just">
              <a:buFontTx/>
              <a:buChar char="-"/>
            </a:pPr>
            <a:r>
              <a:rPr lang="ru-RU" dirty="0">
                <a:solidFill>
                  <a:srgbClr val="333333"/>
                </a:solidFill>
                <a:latin typeface="-apple-system"/>
              </a:rPr>
              <a:t>Появление </a:t>
            </a:r>
            <a:r>
              <a:rPr lang="en-US" dirty="0">
                <a:solidFill>
                  <a:srgbClr val="333333"/>
                </a:solidFill>
                <a:latin typeface="-apple-system"/>
              </a:rPr>
              <a:t>GBDT, GBRT, MART, GBM</a:t>
            </a:r>
          </a:p>
          <a:p>
            <a:pPr algn="just">
              <a:buFontTx/>
              <a:buChar char="-"/>
            </a:pPr>
            <a:r>
              <a:rPr lang="en-US" dirty="0">
                <a:solidFill>
                  <a:srgbClr val="333333"/>
                </a:solidFill>
                <a:latin typeface="-apple-system"/>
              </a:rPr>
              <a:t>SOTA </a:t>
            </a:r>
            <a:r>
              <a:rPr lang="ru-RU" dirty="0">
                <a:solidFill>
                  <a:srgbClr val="333333"/>
                </a:solidFill>
                <a:latin typeface="-apple-system"/>
              </a:rPr>
              <a:t>модели на </a:t>
            </a:r>
            <a:r>
              <a:rPr lang="en-US" dirty="0">
                <a:solidFill>
                  <a:srgbClr val="333333"/>
                </a:solidFill>
                <a:latin typeface="-apple-system"/>
              </a:rPr>
              <a:t>Kaggle </a:t>
            </a:r>
            <a:r>
              <a:rPr lang="ru-RU" dirty="0">
                <a:solidFill>
                  <a:srgbClr val="333333"/>
                </a:solidFill>
                <a:latin typeface="-apple-system"/>
              </a:rPr>
              <a:t>–</a:t>
            </a:r>
            <a:r>
              <a:rPr lang="en-US" dirty="0">
                <a:solidFill>
                  <a:srgbClr val="333333"/>
                </a:solidFill>
                <a:latin typeface="-apple-system"/>
              </a:rPr>
              <a:t>&gt; </a:t>
            </a:r>
            <a:r>
              <a:rPr lang="en-US" dirty="0" err="1">
                <a:solidFill>
                  <a:srgbClr val="333333"/>
                </a:solidFill>
                <a:latin typeface="-apple-system"/>
              </a:rPr>
              <a:t>XGBoost</a:t>
            </a:r>
            <a:r>
              <a:rPr lang="en-US" dirty="0">
                <a:solidFill>
                  <a:srgbClr val="333333"/>
                </a:solidFill>
                <a:latin typeface="-apple-system"/>
              </a:rPr>
              <a:t>, </a:t>
            </a:r>
            <a:r>
              <a:rPr lang="en-US" dirty="0" err="1">
                <a:solidFill>
                  <a:srgbClr val="333333"/>
                </a:solidFill>
                <a:latin typeface="-apple-system"/>
              </a:rPr>
              <a:t>LightGBM</a:t>
            </a:r>
            <a:r>
              <a:rPr lang="en-US" dirty="0">
                <a:solidFill>
                  <a:srgbClr val="333333"/>
                </a:solidFill>
                <a:latin typeface="-apple-system"/>
              </a:rPr>
              <a:t>, </a:t>
            </a:r>
            <a:r>
              <a:rPr lang="en-US" dirty="0" err="1">
                <a:solidFill>
                  <a:srgbClr val="333333"/>
                </a:solidFill>
                <a:latin typeface="-apple-system"/>
              </a:rPr>
              <a:t>CatBoost</a:t>
            </a:r>
            <a:endParaRPr lang="en-US" dirty="0">
              <a:solidFill>
                <a:srgbClr val="333333"/>
              </a:solidFill>
              <a:latin typeface="-apple-system"/>
            </a:endParaRPr>
          </a:p>
          <a:p>
            <a:pPr algn="just">
              <a:buFontTx/>
              <a:buChar char="-"/>
            </a:pPr>
            <a:r>
              <a:rPr lang="ru-RU" dirty="0">
                <a:solidFill>
                  <a:srgbClr val="333333"/>
                </a:solidFill>
                <a:latin typeface="-apple-system"/>
              </a:rPr>
              <a:t>Применение градиентного </a:t>
            </a:r>
            <a:r>
              <a:rPr lang="ru-RU" dirty="0" err="1">
                <a:solidFill>
                  <a:srgbClr val="333333"/>
                </a:solidFill>
                <a:latin typeface="-apple-system"/>
              </a:rPr>
              <a:t>бустинга</a:t>
            </a:r>
            <a:r>
              <a:rPr lang="ru-RU" dirty="0">
                <a:solidFill>
                  <a:srgbClr val="333333"/>
                </a:solidFill>
                <a:latin typeface="-apple-system"/>
              </a:rPr>
              <a:t> во всех задачах для решения классического </a:t>
            </a:r>
            <a:r>
              <a:rPr lang="en-US" dirty="0">
                <a:solidFill>
                  <a:srgbClr val="333333"/>
                </a:solidFill>
                <a:latin typeface="-apple-system"/>
              </a:rPr>
              <a:t>ML </a:t>
            </a:r>
            <a:r>
              <a:rPr lang="ru-RU" dirty="0">
                <a:solidFill>
                  <a:srgbClr val="333333"/>
                </a:solidFill>
                <a:latin typeface="-apple-system"/>
              </a:rPr>
              <a:t>без интерпретации с высоким качеством</a:t>
            </a:r>
            <a:endParaRPr lang="ru-RU" dirty="0"/>
          </a:p>
          <a:p>
            <a:pPr algn="just">
              <a:buFontTx/>
              <a:buChar char="-"/>
            </a:pPr>
            <a:endParaRPr lang="ru-RU" dirty="0"/>
          </a:p>
          <a:p>
            <a:pPr algn="just">
              <a:buFontTx/>
              <a:buChar char="-"/>
            </a:pPr>
            <a:endParaRPr lang="ru-RU" dirty="0"/>
          </a:p>
        </p:txBody>
      </p:sp>
      <p:sp>
        <p:nvSpPr>
          <p:cNvPr id="4" name="Нижний колонтитул 3">
            <a:extLst>
              <a:ext uri="{FF2B5EF4-FFF2-40B4-BE49-F238E27FC236}">
                <a16:creationId xmlns:a16="http://schemas.microsoft.com/office/drawing/2014/main" id="{86F37A55-0472-417E-B955-78AF9168ED5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D748B2A-8F17-4157-B762-7450A275791D}"/>
              </a:ext>
            </a:extLst>
          </p:cNvPr>
          <p:cNvSpPr>
            <a:spLocks noGrp="1"/>
          </p:cNvSpPr>
          <p:nvPr>
            <p:ph type="sldNum" sz="quarter" idx="12"/>
          </p:nvPr>
        </p:nvSpPr>
        <p:spPr/>
        <p:txBody>
          <a:bodyPr/>
          <a:lstStyle/>
          <a:p>
            <a:fld id="{81C5FB71-5E9C-41B5-9BB8-3F1EBEAEB16A}" type="slidenum">
              <a:rPr lang="ru-RU" smtClean="0"/>
              <a:t>34</a:t>
            </a:fld>
            <a:endParaRPr lang="ru-RU"/>
          </a:p>
        </p:txBody>
      </p:sp>
    </p:spTree>
    <p:extLst>
      <p:ext uri="{BB962C8B-B14F-4D97-AF65-F5344CB8AC3E}">
        <p14:creationId xmlns:p14="http://schemas.microsoft.com/office/powerpoint/2010/main" val="12253230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686203-DA48-4831-8A9F-990A38908822}"/>
              </a:ext>
            </a:extLst>
          </p:cNvPr>
          <p:cNvSpPr>
            <a:spLocks noGrp="1"/>
          </p:cNvSpPr>
          <p:nvPr>
            <p:ph type="title"/>
          </p:nvPr>
        </p:nvSpPr>
        <p:spPr>
          <a:xfrm>
            <a:off x="628650" y="70791"/>
            <a:ext cx="7886700" cy="762646"/>
          </a:xfrm>
        </p:spPr>
        <p:txBody>
          <a:bodyPr/>
          <a:lstStyle/>
          <a:p>
            <a:pPr algn="ctr"/>
            <a:r>
              <a:rPr lang="ru-RU" dirty="0"/>
              <a:t>Классический </a:t>
            </a:r>
            <a:r>
              <a:rPr lang="en-US" dirty="0"/>
              <a:t>GBM </a:t>
            </a:r>
            <a:r>
              <a:rPr lang="ru-RU" dirty="0"/>
              <a:t>алгоритм </a:t>
            </a:r>
            <a:r>
              <a:rPr lang="en-US" dirty="0"/>
              <a:t>Friedman-</a:t>
            </a:r>
            <a:r>
              <a:rPr lang="ru-RU" dirty="0"/>
              <a:t>а</a:t>
            </a:r>
          </a:p>
        </p:txBody>
      </p:sp>
      <p:sp>
        <p:nvSpPr>
          <p:cNvPr id="3" name="Объект 2">
            <a:extLst>
              <a:ext uri="{FF2B5EF4-FFF2-40B4-BE49-F238E27FC236}">
                <a16:creationId xmlns:a16="http://schemas.microsoft.com/office/drawing/2014/main" id="{3040C13C-1F3F-4B1F-985C-322F2988923A}"/>
              </a:ext>
            </a:extLst>
          </p:cNvPr>
          <p:cNvSpPr>
            <a:spLocks noGrp="1"/>
          </p:cNvSpPr>
          <p:nvPr>
            <p:ph idx="1"/>
          </p:nvPr>
        </p:nvSpPr>
        <p:spPr>
          <a:xfrm>
            <a:off x="628650" y="914400"/>
            <a:ext cx="7886700" cy="5262563"/>
          </a:xfrm>
        </p:spPr>
        <p:txBody>
          <a:bodyPr/>
          <a:lstStyle/>
          <a:p>
            <a:pPr marL="0" indent="0">
              <a:buNone/>
            </a:pPr>
            <a:r>
              <a:rPr lang="ru-RU" dirty="0"/>
              <a:t>GBM алгоритм, предложенный </a:t>
            </a:r>
            <a:r>
              <a:rPr lang="ru-RU" dirty="0" err="1"/>
              <a:t>Jerome</a:t>
            </a:r>
            <a:r>
              <a:rPr lang="ru-RU" dirty="0"/>
              <a:t> </a:t>
            </a:r>
            <a:r>
              <a:rPr lang="ru-RU" dirty="0" err="1"/>
              <a:t>Friedman</a:t>
            </a:r>
            <a:r>
              <a:rPr lang="ru-RU" dirty="0"/>
              <a:t> в 1999 году. Мы все так же решаем общую задачу обучения с учителем. На вход алгоритма нужно собрать несколько составляющих:</a:t>
            </a:r>
          </a:p>
          <a:p>
            <a:pPr marL="0" indent="0">
              <a:buNone/>
            </a:pPr>
            <a:endParaRPr lang="ru-RU" dirty="0"/>
          </a:p>
        </p:txBody>
      </p:sp>
      <p:sp>
        <p:nvSpPr>
          <p:cNvPr id="4" name="Нижний колонтитул 3">
            <a:extLst>
              <a:ext uri="{FF2B5EF4-FFF2-40B4-BE49-F238E27FC236}">
                <a16:creationId xmlns:a16="http://schemas.microsoft.com/office/drawing/2014/main" id="{1D6091C6-8203-46F2-916F-6B70A994CC0C}"/>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554C5FE-F3A3-4A1B-9B95-270D679B7ACF}"/>
              </a:ext>
            </a:extLst>
          </p:cNvPr>
          <p:cNvSpPr>
            <a:spLocks noGrp="1"/>
          </p:cNvSpPr>
          <p:nvPr>
            <p:ph type="sldNum" sz="quarter" idx="12"/>
          </p:nvPr>
        </p:nvSpPr>
        <p:spPr/>
        <p:txBody>
          <a:bodyPr/>
          <a:lstStyle/>
          <a:p>
            <a:fld id="{81C5FB71-5E9C-41B5-9BB8-3F1EBEAEB16A}" type="slidenum">
              <a:rPr lang="ru-RU" smtClean="0"/>
              <a:t>35</a:t>
            </a:fld>
            <a:endParaRPr lang="ru-RU"/>
          </a:p>
        </p:txBody>
      </p:sp>
      <p:pic>
        <p:nvPicPr>
          <p:cNvPr id="32" name="Рисунок 31">
            <a:extLst>
              <a:ext uri="{FF2B5EF4-FFF2-40B4-BE49-F238E27FC236}">
                <a16:creationId xmlns:a16="http://schemas.microsoft.com/office/drawing/2014/main" id="{1A2436BF-ECA8-4897-94E8-94EF04F348AE}"/>
              </a:ext>
            </a:extLst>
          </p:cNvPr>
          <p:cNvPicPr>
            <a:picLocks noChangeAspect="1"/>
          </p:cNvPicPr>
          <p:nvPr/>
        </p:nvPicPr>
        <p:blipFill>
          <a:blip r:embed="rId2"/>
          <a:stretch>
            <a:fillRect/>
          </a:stretch>
        </p:blipFill>
        <p:spPr>
          <a:xfrm>
            <a:off x="172235" y="2362200"/>
            <a:ext cx="8898552" cy="3662363"/>
          </a:xfrm>
          <a:prstGeom prst="rect">
            <a:avLst/>
          </a:prstGeom>
        </p:spPr>
      </p:pic>
    </p:spTree>
    <p:extLst>
      <p:ext uri="{BB962C8B-B14F-4D97-AF65-F5344CB8AC3E}">
        <p14:creationId xmlns:p14="http://schemas.microsoft.com/office/powerpoint/2010/main" val="1338486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Объект 6">
            <a:extLst>
              <a:ext uri="{FF2B5EF4-FFF2-40B4-BE49-F238E27FC236}">
                <a16:creationId xmlns:a16="http://schemas.microsoft.com/office/drawing/2014/main" id="{E4EE8AE4-F4A6-4EE1-9E67-72AFD127D9E6}"/>
              </a:ext>
            </a:extLst>
          </p:cNvPr>
          <p:cNvPicPr>
            <a:picLocks noGrp="1" noChangeAspect="1"/>
          </p:cNvPicPr>
          <p:nvPr>
            <p:ph idx="1"/>
          </p:nvPr>
        </p:nvPicPr>
        <p:blipFill>
          <a:blip r:embed="rId2"/>
          <a:stretch>
            <a:fillRect/>
          </a:stretch>
        </p:blipFill>
        <p:spPr>
          <a:xfrm>
            <a:off x="685800" y="0"/>
            <a:ext cx="8305800" cy="6807285"/>
          </a:xfrm>
        </p:spPr>
      </p:pic>
      <p:sp>
        <p:nvSpPr>
          <p:cNvPr id="4" name="Нижний колонтитул 3">
            <a:extLst>
              <a:ext uri="{FF2B5EF4-FFF2-40B4-BE49-F238E27FC236}">
                <a16:creationId xmlns:a16="http://schemas.microsoft.com/office/drawing/2014/main" id="{776841FD-B130-4FD2-AD47-7BAFCC5AEF0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A6D666B-D3FC-4CC6-B21F-53A395D2B21D}"/>
              </a:ext>
            </a:extLst>
          </p:cNvPr>
          <p:cNvSpPr>
            <a:spLocks noGrp="1"/>
          </p:cNvSpPr>
          <p:nvPr>
            <p:ph type="sldNum" sz="quarter" idx="12"/>
          </p:nvPr>
        </p:nvSpPr>
        <p:spPr/>
        <p:txBody>
          <a:bodyPr/>
          <a:lstStyle/>
          <a:p>
            <a:fld id="{81C5FB71-5E9C-41B5-9BB8-3F1EBEAEB16A}" type="slidenum">
              <a:rPr lang="ru-RU" smtClean="0"/>
              <a:t>36</a:t>
            </a:fld>
            <a:endParaRPr lang="ru-RU"/>
          </a:p>
        </p:txBody>
      </p:sp>
    </p:spTree>
    <p:extLst>
      <p:ext uri="{BB962C8B-B14F-4D97-AF65-F5344CB8AC3E}">
        <p14:creationId xmlns:p14="http://schemas.microsoft.com/office/powerpoint/2010/main" val="4052611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CA4C83-C7EE-42CD-9037-A8A4CF7B351C}"/>
              </a:ext>
            </a:extLst>
          </p:cNvPr>
          <p:cNvSpPr>
            <a:spLocks noGrp="1"/>
          </p:cNvSpPr>
          <p:nvPr>
            <p:ph type="title"/>
          </p:nvPr>
        </p:nvSpPr>
        <p:spPr>
          <a:xfrm>
            <a:off x="628650" y="70791"/>
            <a:ext cx="7886700" cy="767409"/>
          </a:xfrm>
        </p:spPr>
        <p:txBody>
          <a:bodyPr>
            <a:normAutofit/>
          </a:bodyPr>
          <a:lstStyle/>
          <a:p>
            <a:pPr algn="ctr"/>
            <a:r>
              <a:rPr lang="ru-RU" sz="2400" dirty="0"/>
              <a:t>Принцип работы градиентного </a:t>
            </a:r>
            <a:r>
              <a:rPr lang="ru-RU" sz="2400" dirty="0" err="1"/>
              <a:t>бустинга</a:t>
            </a:r>
            <a:r>
              <a:rPr lang="ru-RU" sz="2400" dirty="0"/>
              <a:t> для регрессии</a:t>
            </a:r>
          </a:p>
        </p:txBody>
      </p:sp>
      <p:sp>
        <p:nvSpPr>
          <p:cNvPr id="3" name="Объект 2">
            <a:extLst>
              <a:ext uri="{FF2B5EF4-FFF2-40B4-BE49-F238E27FC236}">
                <a16:creationId xmlns:a16="http://schemas.microsoft.com/office/drawing/2014/main" id="{9FE8E0A8-150E-4E0F-99B0-2603B2964931}"/>
              </a:ext>
            </a:extLst>
          </p:cNvPr>
          <p:cNvSpPr>
            <a:spLocks noGrp="1"/>
          </p:cNvSpPr>
          <p:nvPr>
            <p:ph idx="1"/>
          </p:nvPr>
        </p:nvSpPr>
        <p:spPr>
          <a:xfrm>
            <a:off x="628650" y="914400"/>
            <a:ext cx="7886700" cy="5807076"/>
          </a:xfrm>
        </p:spPr>
        <p:txBody>
          <a:bodyPr>
            <a:normAutofit/>
          </a:bodyPr>
          <a:lstStyle/>
          <a:p>
            <a:pPr marL="0" indent="0">
              <a:buNone/>
            </a:pPr>
            <a:r>
              <a:rPr lang="ru-RU" sz="2400" dirty="0"/>
              <a:t>Алгоритм строится следующим образом:</a:t>
            </a:r>
          </a:p>
          <a:p>
            <a:pPr marL="457200" indent="-457200">
              <a:buFont typeface="+mj-lt"/>
              <a:buAutoNum type="arabicPeriod"/>
            </a:pPr>
            <a:r>
              <a:rPr lang="ru-RU" sz="2400" dirty="0"/>
              <a:t>Первоначальному прогнозу присваивается среднее значение </a:t>
            </a:r>
            <a:r>
              <a:rPr lang="ru-RU" sz="2400" dirty="0" err="1"/>
              <a:t>y_train</a:t>
            </a:r>
            <a:r>
              <a:rPr lang="ru-RU" sz="2400" dirty="0"/>
              <a:t> для всех образцов;</a:t>
            </a:r>
          </a:p>
          <a:p>
            <a:pPr marL="457200" indent="-457200">
              <a:buFont typeface="+mj-lt"/>
              <a:buAutoNum type="arabicPeriod"/>
            </a:pPr>
            <a:r>
              <a:rPr lang="ru-RU" sz="2400" dirty="0"/>
              <a:t>Рассчитываются остатки модели на основе антиградиента функции потерь;</a:t>
            </a:r>
          </a:p>
          <a:p>
            <a:pPr marL="457200" indent="-457200">
              <a:buFont typeface="+mj-lt"/>
              <a:buAutoNum type="arabicPeriod"/>
            </a:pPr>
            <a:r>
              <a:rPr lang="ru-RU" sz="2400" dirty="0"/>
              <a:t>Регрессионное дерево обучается на </a:t>
            </a:r>
            <a:r>
              <a:rPr lang="ru-RU" sz="2400" dirty="0" err="1"/>
              <a:t>X_train</a:t>
            </a:r>
            <a:r>
              <a:rPr lang="ru-RU" sz="2400" dirty="0"/>
              <a:t> и остатках, далее делается прогноз на </a:t>
            </a:r>
            <a:r>
              <a:rPr lang="ru-RU" sz="2400" dirty="0" err="1"/>
              <a:t>X_train</a:t>
            </a:r>
            <a:r>
              <a:rPr lang="ru-RU" sz="2400" dirty="0"/>
              <a:t>;</a:t>
            </a:r>
          </a:p>
          <a:p>
            <a:pPr marL="457200" indent="-457200">
              <a:buFont typeface="+mj-lt"/>
              <a:buAutoNum type="arabicPeriod"/>
            </a:pPr>
            <a:r>
              <a:rPr lang="ru-RU" sz="2400" dirty="0"/>
              <a:t>Полученный прогноз добавляется к первоначальному и шаги 2-4 повторяются для каждого дерева;</a:t>
            </a:r>
          </a:p>
          <a:p>
            <a:pPr marL="457200" indent="-457200">
              <a:buFont typeface="+mj-lt"/>
              <a:buAutoNum type="arabicPeriod"/>
            </a:pPr>
            <a:r>
              <a:rPr lang="ru-RU" sz="2400" dirty="0"/>
              <a:t>После обучения всех моделей снова создаётся первоначальный прогноз из шага 1;</a:t>
            </a:r>
          </a:p>
          <a:p>
            <a:pPr marL="457200" indent="-457200">
              <a:buFont typeface="+mj-lt"/>
              <a:buAutoNum type="arabicPeriod"/>
            </a:pPr>
            <a:r>
              <a:rPr lang="ru-RU" sz="2400" dirty="0"/>
              <a:t>Далее делаются прогнозы для </a:t>
            </a:r>
            <a:r>
              <a:rPr lang="ru-RU" sz="2400" dirty="0" err="1"/>
              <a:t>X_test</a:t>
            </a:r>
            <a:r>
              <a:rPr lang="ru-RU" sz="2400" dirty="0"/>
              <a:t> на обученных деревьях и добавляются к первоначальному;</a:t>
            </a:r>
          </a:p>
          <a:p>
            <a:pPr marL="457200" indent="-457200">
              <a:buFont typeface="+mj-lt"/>
              <a:buAutoNum type="arabicPeriod"/>
            </a:pPr>
            <a:r>
              <a:rPr lang="ru-RU" sz="2400" dirty="0"/>
              <a:t>Полученная сумма и будет конечным прогнозом.</a:t>
            </a:r>
          </a:p>
        </p:txBody>
      </p:sp>
      <p:sp>
        <p:nvSpPr>
          <p:cNvPr id="4" name="Нижний колонтитул 3">
            <a:extLst>
              <a:ext uri="{FF2B5EF4-FFF2-40B4-BE49-F238E27FC236}">
                <a16:creationId xmlns:a16="http://schemas.microsoft.com/office/drawing/2014/main" id="{90046EE6-CB6D-4070-9048-0B300DCF6E6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6CEF964-0253-4F83-919A-97F4152E1849}"/>
              </a:ext>
            </a:extLst>
          </p:cNvPr>
          <p:cNvSpPr>
            <a:spLocks noGrp="1"/>
          </p:cNvSpPr>
          <p:nvPr>
            <p:ph type="sldNum" sz="quarter" idx="12"/>
          </p:nvPr>
        </p:nvSpPr>
        <p:spPr/>
        <p:txBody>
          <a:bodyPr/>
          <a:lstStyle/>
          <a:p>
            <a:fld id="{81C5FB71-5E9C-41B5-9BB8-3F1EBEAEB16A}" type="slidenum">
              <a:rPr lang="ru-RU" smtClean="0"/>
              <a:t>37</a:t>
            </a:fld>
            <a:endParaRPr lang="ru-RU"/>
          </a:p>
        </p:txBody>
      </p:sp>
    </p:spTree>
    <p:extLst>
      <p:ext uri="{BB962C8B-B14F-4D97-AF65-F5344CB8AC3E}">
        <p14:creationId xmlns:p14="http://schemas.microsoft.com/office/powerpoint/2010/main" val="3917168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A13186-2FAF-4ECF-8D91-E8743D966EE8}"/>
              </a:ext>
            </a:extLst>
          </p:cNvPr>
          <p:cNvSpPr>
            <a:spLocks noGrp="1"/>
          </p:cNvSpPr>
          <p:nvPr>
            <p:ph type="title"/>
          </p:nvPr>
        </p:nvSpPr>
        <p:spPr>
          <a:xfrm>
            <a:off x="628650" y="70791"/>
            <a:ext cx="7886700" cy="740421"/>
          </a:xfrm>
        </p:spPr>
        <p:txBody>
          <a:bodyPr/>
          <a:lstStyle/>
          <a:p>
            <a:pPr algn="ctr"/>
            <a:r>
              <a:rPr lang="ru-RU" dirty="0"/>
              <a:t>Пример </a:t>
            </a:r>
            <a:r>
              <a:rPr lang="en-US" dirty="0" err="1"/>
              <a:t>GradientBoostingRegressor</a:t>
            </a:r>
            <a:endParaRPr lang="ru-RU" dirty="0"/>
          </a:p>
        </p:txBody>
      </p:sp>
      <p:sp>
        <p:nvSpPr>
          <p:cNvPr id="3" name="Объект 2">
            <a:extLst>
              <a:ext uri="{FF2B5EF4-FFF2-40B4-BE49-F238E27FC236}">
                <a16:creationId xmlns:a16="http://schemas.microsoft.com/office/drawing/2014/main" id="{F20DA5CA-1D2A-47B4-B9AF-067ECC5EAD71}"/>
              </a:ext>
            </a:extLst>
          </p:cNvPr>
          <p:cNvSpPr>
            <a:spLocks noGrp="1"/>
          </p:cNvSpPr>
          <p:nvPr>
            <p:ph idx="1"/>
          </p:nvPr>
        </p:nvSpPr>
        <p:spPr>
          <a:xfrm>
            <a:off x="628650" y="990600"/>
            <a:ext cx="7886700" cy="5186363"/>
          </a:xfrm>
        </p:spPr>
        <p:txBody>
          <a:bodyPr/>
          <a:lstStyle/>
          <a:p>
            <a:pPr marL="0" indent="0" algn="just">
              <a:buNone/>
            </a:pPr>
            <a:r>
              <a:rPr lang="ru-RU" b="0" i="0" dirty="0">
                <a:solidFill>
                  <a:srgbClr val="222832"/>
                </a:solidFill>
                <a:effectLst/>
                <a:latin typeface="-apple-system"/>
              </a:rPr>
              <a:t>Этот регрессор строит аддитивную модель в прямом поэтапном режиме; он позволяет оптимизировать произвольные дифференцируемые функции потерь. На каждом этапе регрессионное дерево подгоняется под отрицательный градиент заданной функции потерь.</a:t>
            </a:r>
            <a:endParaRPr lang="ru-RU" dirty="0"/>
          </a:p>
        </p:txBody>
      </p:sp>
      <p:sp>
        <p:nvSpPr>
          <p:cNvPr id="4" name="Нижний колонтитул 3">
            <a:extLst>
              <a:ext uri="{FF2B5EF4-FFF2-40B4-BE49-F238E27FC236}">
                <a16:creationId xmlns:a16="http://schemas.microsoft.com/office/drawing/2014/main" id="{698BE5E7-E9F6-4626-A3A6-A74C3B49EED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D8FBA05-93D7-4779-81FF-6065BE4CEAB8}"/>
              </a:ext>
            </a:extLst>
          </p:cNvPr>
          <p:cNvSpPr>
            <a:spLocks noGrp="1"/>
          </p:cNvSpPr>
          <p:nvPr>
            <p:ph type="sldNum" sz="quarter" idx="12"/>
          </p:nvPr>
        </p:nvSpPr>
        <p:spPr/>
        <p:txBody>
          <a:bodyPr/>
          <a:lstStyle/>
          <a:p>
            <a:fld id="{81C5FB71-5E9C-41B5-9BB8-3F1EBEAEB16A}" type="slidenum">
              <a:rPr lang="ru-RU" smtClean="0"/>
              <a:t>38</a:t>
            </a:fld>
            <a:endParaRPr lang="ru-RU"/>
          </a:p>
        </p:txBody>
      </p:sp>
      <p:pic>
        <p:nvPicPr>
          <p:cNvPr id="7" name="Рисунок 6">
            <a:extLst>
              <a:ext uri="{FF2B5EF4-FFF2-40B4-BE49-F238E27FC236}">
                <a16:creationId xmlns:a16="http://schemas.microsoft.com/office/drawing/2014/main" id="{047A0C04-CB5F-4D9B-BC18-4967A4D32ADF}"/>
              </a:ext>
            </a:extLst>
          </p:cNvPr>
          <p:cNvPicPr>
            <a:picLocks noChangeAspect="1"/>
          </p:cNvPicPr>
          <p:nvPr/>
        </p:nvPicPr>
        <p:blipFill>
          <a:blip r:embed="rId2"/>
          <a:stretch>
            <a:fillRect/>
          </a:stretch>
        </p:blipFill>
        <p:spPr>
          <a:xfrm>
            <a:off x="1547390" y="2561059"/>
            <a:ext cx="6049219" cy="3810532"/>
          </a:xfrm>
          <a:prstGeom prst="rect">
            <a:avLst/>
          </a:prstGeom>
        </p:spPr>
      </p:pic>
    </p:spTree>
    <p:extLst>
      <p:ext uri="{BB962C8B-B14F-4D97-AF65-F5344CB8AC3E}">
        <p14:creationId xmlns:p14="http://schemas.microsoft.com/office/powerpoint/2010/main" val="1440286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3DF00E-FAF5-49BA-B417-E42912D5756F}"/>
              </a:ext>
            </a:extLst>
          </p:cNvPr>
          <p:cNvSpPr>
            <a:spLocks noGrp="1"/>
          </p:cNvSpPr>
          <p:nvPr>
            <p:ph type="title"/>
          </p:nvPr>
        </p:nvSpPr>
        <p:spPr>
          <a:xfrm>
            <a:off x="628650" y="70791"/>
            <a:ext cx="7886700" cy="751533"/>
          </a:xfrm>
        </p:spPr>
        <p:txBody>
          <a:bodyPr>
            <a:normAutofit/>
          </a:bodyPr>
          <a:lstStyle/>
          <a:p>
            <a:pPr algn="ctr"/>
            <a:r>
              <a:rPr lang="ru-RU" sz="2000" dirty="0"/>
              <a:t>Принцип работы градиентного </a:t>
            </a:r>
            <a:r>
              <a:rPr lang="ru-RU" sz="2000" dirty="0" err="1"/>
              <a:t>бустинга</a:t>
            </a:r>
            <a:r>
              <a:rPr lang="ru-RU" sz="2000" dirty="0"/>
              <a:t> для классификации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C229000B-1290-4DEA-A0F9-CD030A55985E}"/>
                  </a:ext>
                </a:extLst>
              </p:cNvPr>
              <p:cNvSpPr>
                <a:spLocks noGrp="1"/>
              </p:cNvSpPr>
              <p:nvPr>
                <p:ph idx="1"/>
              </p:nvPr>
            </p:nvSpPr>
            <p:spPr>
              <a:xfrm>
                <a:off x="628650" y="990600"/>
                <a:ext cx="7981950" cy="5730876"/>
              </a:xfrm>
            </p:spPr>
            <p:txBody>
              <a:bodyPr>
                <a:normAutofit/>
              </a:bodyPr>
              <a:lstStyle/>
              <a:p>
                <a:pPr marL="0" indent="0" algn="just">
                  <a:buNone/>
                </a:pPr>
                <a:r>
                  <a:rPr lang="ru-RU" sz="2400" dirty="0"/>
                  <a:t>В случае классификации: к каждому уникальному классу необходимо применить </a:t>
                </a:r>
                <a:r>
                  <a:rPr lang="ru-RU" sz="2400" dirty="0" err="1"/>
                  <a:t>one-hot</a:t>
                </a:r>
                <a:r>
                  <a:rPr lang="ru-RU" sz="2400" dirty="0"/>
                  <a:t> </a:t>
                </a:r>
                <a:r>
                  <a:rPr lang="ru-RU" sz="2400" dirty="0" err="1"/>
                  <a:t>encoding</a:t>
                </a:r>
                <a:r>
                  <a:rPr lang="ru-RU" sz="2400" dirty="0"/>
                  <a:t> и перевести в вероятности с помощью </a:t>
                </a:r>
                <a:r>
                  <a:rPr lang="ru-RU" sz="2400" dirty="0" err="1"/>
                  <a:t>softmax</a:t>
                </a:r>
                <a:r>
                  <a:rPr lang="ru-RU" sz="2400" dirty="0"/>
                  <a:t>-функции, а к прогнозам деревьев добавить коэффициент </a:t>
                </a:r>
                <a14:m>
                  <m:oMath xmlns:m="http://schemas.openxmlformats.org/officeDocument/2006/math">
                    <m:r>
                      <m:rPr>
                        <m:sty m:val="p"/>
                      </m:rPr>
                      <a:rPr lang="ru-RU" sz="2400" i="1">
                        <a:latin typeface="Cambria Math" panose="02040503050406030204" pitchFamily="18" charset="0"/>
                      </a:rPr>
                      <m:t>γ</m:t>
                    </m:r>
                  </m:oMath>
                </a14:m>
                <a:r>
                  <a:rPr lang="ru-RU" sz="2400" dirty="0"/>
                  <a:t>, который регулирует степень вклада каждого нового дерева в общую модель для снижения переобучения. </a:t>
                </a:r>
                <a:endParaRPr lang="en-US" sz="2400" dirty="0"/>
              </a:p>
              <a:p>
                <a:pPr marL="0" indent="0" algn="just">
                  <a:buNone/>
                </a:pPr>
                <a:endParaRPr lang="en-US" sz="2400" dirty="0"/>
              </a:p>
            </p:txBody>
          </p:sp>
        </mc:Choice>
        <mc:Fallback>
          <p:sp>
            <p:nvSpPr>
              <p:cNvPr id="3" name="Объект 2">
                <a:extLst>
                  <a:ext uri="{FF2B5EF4-FFF2-40B4-BE49-F238E27FC236}">
                    <a16:creationId xmlns:a16="http://schemas.microsoft.com/office/drawing/2014/main" id="{C229000B-1290-4DEA-A0F9-CD030A55985E}"/>
                  </a:ext>
                </a:extLst>
              </p:cNvPr>
              <p:cNvSpPr>
                <a:spLocks noGrp="1" noRot="1" noChangeAspect="1" noMove="1" noResize="1" noEditPoints="1" noAdjustHandles="1" noChangeArrowheads="1" noChangeShapeType="1" noTextEdit="1"/>
              </p:cNvSpPr>
              <p:nvPr>
                <p:ph idx="1"/>
              </p:nvPr>
            </p:nvSpPr>
            <p:spPr>
              <a:xfrm>
                <a:off x="628650" y="990600"/>
                <a:ext cx="7981950" cy="5730876"/>
              </a:xfrm>
              <a:blipFill>
                <a:blip r:embed="rId2"/>
                <a:stretch>
                  <a:fillRect l="-1145" t="-1489" r="-1145"/>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965FE8EB-BBCA-43C5-AF4C-A8DF61771DF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991750A-0398-437D-867D-2058FFEA8BE3}"/>
              </a:ext>
            </a:extLst>
          </p:cNvPr>
          <p:cNvSpPr>
            <a:spLocks noGrp="1"/>
          </p:cNvSpPr>
          <p:nvPr>
            <p:ph type="sldNum" sz="quarter" idx="12"/>
          </p:nvPr>
        </p:nvSpPr>
        <p:spPr/>
        <p:txBody>
          <a:bodyPr/>
          <a:lstStyle/>
          <a:p>
            <a:fld id="{81C5FB71-5E9C-41B5-9BB8-3F1EBEAEB16A}" type="slidenum">
              <a:rPr lang="ru-RU" smtClean="0"/>
              <a:t>39</a:t>
            </a:fld>
            <a:endParaRPr lang="ru-RU"/>
          </a:p>
        </p:txBody>
      </p:sp>
      <p:pic>
        <p:nvPicPr>
          <p:cNvPr id="9218" name="Picture 2" descr="Picture background">
            <a:extLst>
              <a:ext uri="{FF2B5EF4-FFF2-40B4-BE49-F238E27FC236}">
                <a16:creationId xmlns:a16="http://schemas.microsoft.com/office/drawing/2014/main" id="{53004469-121A-DF03-EE3C-03FB98503B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131543"/>
            <a:ext cx="7334250" cy="3407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7416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ACB2C-16F0-75A4-8AAA-644AF8B1221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A3DBE9-20E5-89EF-DCE4-00A8B7F47953}"/>
              </a:ext>
            </a:extLst>
          </p:cNvPr>
          <p:cNvSpPr>
            <a:spLocks noGrp="1"/>
          </p:cNvSpPr>
          <p:nvPr>
            <p:ph type="title"/>
          </p:nvPr>
        </p:nvSpPr>
        <p:spPr>
          <a:xfrm>
            <a:off x="628650" y="70791"/>
            <a:ext cx="7886700" cy="751533"/>
          </a:xfrm>
        </p:spPr>
        <p:txBody>
          <a:bodyPr>
            <a:normAutofit/>
          </a:bodyPr>
          <a:lstStyle/>
          <a:p>
            <a:pPr algn="ctr"/>
            <a:r>
              <a:rPr lang="ru-RU" sz="2000" dirty="0"/>
              <a:t>Принцип работы градиентного </a:t>
            </a:r>
            <a:r>
              <a:rPr lang="ru-RU" sz="2000" dirty="0" err="1"/>
              <a:t>бустинга</a:t>
            </a:r>
            <a:r>
              <a:rPr lang="ru-RU" sz="2000" dirty="0"/>
              <a:t> для классификации</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5510AB65-279B-DAEC-3C96-59861A2BD30B}"/>
                  </a:ext>
                </a:extLst>
              </p:cNvPr>
              <p:cNvSpPr>
                <a:spLocks noGrp="1"/>
              </p:cNvSpPr>
              <p:nvPr>
                <p:ph idx="1"/>
              </p:nvPr>
            </p:nvSpPr>
            <p:spPr>
              <a:xfrm>
                <a:off x="628650" y="822324"/>
                <a:ext cx="7981950" cy="5899152"/>
              </a:xfrm>
            </p:spPr>
            <p:txBody>
              <a:bodyPr>
                <a:normAutofit fontScale="92500" lnSpcReduction="10000"/>
              </a:bodyPr>
              <a:lstStyle/>
              <a:p>
                <a:pPr marL="0" indent="0" algn="just">
                  <a:buNone/>
                </a:pPr>
                <a:r>
                  <a:rPr lang="ru-RU" dirty="0"/>
                  <a:t>Алгоритм строится следующим образом:</a:t>
                </a:r>
              </a:p>
              <a:p>
                <a:pPr marL="457200" indent="-457200" algn="just">
                  <a:buFont typeface="+mj-lt"/>
                  <a:buAutoNum type="arabicPeriod"/>
                </a:pPr>
                <a:r>
                  <a:rPr lang="ru-RU" dirty="0"/>
                  <a:t>Для </a:t>
                </a:r>
                <a:r>
                  <a:rPr lang="ru-RU" dirty="0" err="1"/>
                  <a:t>y_train</a:t>
                </a:r>
                <a:r>
                  <a:rPr lang="ru-RU" dirty="0"/>
                  <a:t> применяется </a:t>
                </a:r>
                <a:r>
                  <a:rPr lang="ru-RU" dirty="0" err="1"/>
                  <a:t>one-hot</a:t>
                </a:r>
                <a:r>
                  <a:rPr lang="ru-RU" dirty="0"/>
                  <a:t> </a:t>
                </a:r>
                <a:r>
                  <a:rPr lang="ru-RU" dirty="0" err="1"/>
                  <a:t>encoding</a:t>
                </a:r>
                <a:r>
                  <a:rPr lang="ru-RU" dirty="0"/>
                  <a:t> и первоначальному прогнозу </a:t>
                </a:r>
                <a:r>
                  <a:rPr lang="ru-RU" dirty="0" err="1"/>
                  <a:t>приcваиваются</a:t>
                </a:r>
                <a:r>
                  <a:rPr lang="ru-RU" dirty="0"/>
                  <a:t> значения 0 для каждого класса.</a:t>
                </a:r>
              </a:p>
              <a:p>
                <a:pPr marL="457200" indent="-457200" algn="just">
                  <a:buFont typeface="+mj-lt"/>
                  <a:buAutoNum type="arabicPeriod"/>
                </a:pPr>
                <a:r>
                  <a:rPr lang="ru-RU" dirty="0"/>
                  <a:t>Прогнозы преобразуются в вероятности с помощью </a:t>
                </a:r>
                <a:r>
                  <a:rPr lang="ru-RU" dirty="0" err="1"/>
                  <a:t>softmax</a:t>
                </a:r>
                <a:r>
                  <a:rPr lang="ru-RU" dirty="0"/>
                  <a:t>-функции.</a:t>
                </a:r>
              </a:p>
              <a:p>
                <a:pPr marL="457200" indent="-457200" algn="just">
                  <a:buFont typeface="+mj-lt"/>
                  <a:buAutoNum type="arabicPeriod"/>
                </a:pPr>
                <a:r>
                  <a:rPr lang="ru-RU" dirty="0"/>
                  <a:t>Рассчитываются остатки модели на основе антиградиента функции потерь и вероятностей.</a:t>
                </a:r>
              </a:p>
              <a:p>
                <a:pPr marL="457200" indent="-457200" algn="just">
                  <a:buFont typeface="+mj-lt"/>
                  <a:buAutoNum type="arabicPeriod"/>
                </a:pPr>
                <a:r>
                  <a:rPr lang="ru-RU" dirty="0"/>
                  <a:t>Регрессионное дерево обучается на </a:t>
                </a:r>
                <a:r>
                  <a:rPr lang="ru-RU" dirty="0" err="1"/>
                  <a:t>X_train</a:t>
                </a:r>
                <a:r>
                  <a:rPr lang="ru-RU" dirty="0"/>
                  <a:t> и остатках, далее делается прогноз на </a:t>
                </a:r>
                <a:r>
                  <a:rPr lang="ru-RU" dirty="0" err="1"/>
                  <a:t>X_train</a:t>
                </a:r>
                <a:r>
                  <a:rPr lang="ru-RU" dirty="0"/>
                  <a:t>.</a:t>
                </a:r>
              </a:p>
              <a:p>
                <a:pPr marL="457200" indent="-457200" algn="just">
                  <a:buFont typeface="+mj-lt"/>
                  <a:buAutoNum type="arabicPeriod"/>
                </a:pPr>
                <a:r>
                  <a:rPr lang="ru-RU" dirty="0"/>
                  <a:t>Для каждого листа в дереве рассчитываются коэффициенты </a:t>
                </a:r>
                <a14:m>
                  <m:oMath xmlns:m="http://schemas.openxmlformats.org/officeDocument/2006/math">
                    <m:r>
                      <m:rPr>
                        <m:sty m:val="p"/>
                      </m:rPr>
                      <a:rPr lang="ru-RU" i="1">
                        <a:latin typeface="Cambria Math" panose="02040503050406030204" pitchFamily="18" charset="0"/>
                      </a:rPr>
                      <m:t>γ</m:t>
                    </m:r>
                  </m:oMath>
                </a14:m>
                <a:r>
                  <a:rPr lang="ru-RU" dirty="0"/>
                  <a:t> на основе остатков, взятых по позициям наблюдений, попавших в определённый в листовой узел.</a:t>
                </a:r>
              </a:p>
              <a:p>
                <a:pPr marL="457200" indent="-457200" algn="just">
                  <a:buFont typeface="+mj-lt"/>
                  <a:buAutoNum type="arabicPeriod"/>
                </a:pPr>
                <a:r>
                  <a:rPr lang="ru-RU" dirty="0"/>
                  <a:t>Полученные прогнозы для каждого класса и сумма коэффициентов </a:t>
                </a:r>
                <a14:m>
                  <m:oMath xmlns:m="http://schemas.openxmlformats.org/officeDocument/2006/math">
                    <m:r>
                      <m:rPr>
                        <m:sty m:val="p"/>
                      </m:rPr>
                      <a:rPr lang="ru-RU" i="1">
                        <a:latin typeface="Cambria Math" panose="02040503050406030204" pitchFamily="18" charset="0"/>
                      </a:rPr>
                      <m:t>γ</m:t>
                    </m:r>
                  </m:oMath>
                </a14:m>
                <a:r>
                  <a:rPr lang="ru-RU" dirty="0"/>
                  <a:t> добавляются к первоначальным.</a:t>
                </a:r>
              </a:p>
              <a:p>
                <a:pPr marL="457200" indent="-457200" algn="just">
                  <a:buFont typeface="+mj-lt"/>
                  <a:buAutoNum type="arabicPeriod"/>
                </a:pPr>
                <a:r>
                  <a:rPr lang="ru-RU" dirty="0"/>
                  <a:t>Шаги 2-6 повторяются для каждого дерева в каждом классе.</a:t>
                </a:r>
              </a:p>
              <a:p>
                <a:pPr marL="457200" indent="-457200" algn="just">
                  <a:buFont typeface="+mj-lt"/>
                  <a:buAutoNum type="arabicPeriod"/>
                </a:pPr>
                <a:r>
                  <a:rPr lang="ru-RU" dirty="0"/>
                  <a:t>После обучения всех моделей создаётся первоначальный прогноз из шага 1.</a:t>
                </a:r>
              </a:p>
              <a:p>
                <a:pPr marL="457200" indent="-457200" algn="just">
                  <a:buFont typeface="+mj-lt"/>
                  <a:buAutoNum type="arabicPeriod"/>
                </a:pPr>
                <a:r>
                  <a:rPr lang="ru-RU" dirty="0"/>
                  <a:t>Далее делаются прогнозы для </a:t>
                </a:r>
                <a:r>
                  <a:rPr lang="ru-RU" dirty="0" err="1"/>
                  <a:t>X_test</a:t>
                </a:r>
                <a:r>
                  <a:rPr lang="ru-RU" dirty="0"/>
                  <a:t> на обученных деревьях по каждому классу и добавляются к первоначальным.</a:t>
                </a:r>
              </a:p>
              <a:p>
                <a:pPr marL="457200" indent="-457200" algn="just">
                  <a:buFont typeface="+mj-lt"/>
                  <a:buAutoNum type="arabicPeriod"/>
                </a:pPr>
                <a:r>
                  <a:rPr lang="ru-RU" dirty="0"/>
                  <a:t>Классы с максимальной суммой и будут конечным прогнозом.</a:t>
                </a:r>
              </a:p>
            </p:txBody>
          </p:sp>
        </mc:Choice>
        <mc:Fallback>
          <p:sp>
            <p:nvSpPr>
              <p:cNvPr id="3" name="Объект 2">
                <a:extLst>
                  <a:ext uri="{FF2B5EF4-FFF2-40B4-BE49-F238E27FC236}">
                    <a16:creationId xmlns:a16="http://schemas.microsoft.com/office/drawing/2014/main" id="{5510AB65-279B-DAEC-3C96-59861A2BD30B}"/>
                  </a:ext>
                </a:extLst>
              </p:cNvPr>
              <p:cNvSpPr>
                <a:spLocks noGrp="1" noRot="1" noChangeAspect="1" noMove="1" noResize="1" noEditPoints="1" noAdjustHandles="1" noChangeArrowheads="1" noChangeShapeType="1" noTextEdit="1"/>
              </p:cNvSpPr>
              <p:nvPr>
                <p:ph idx="1"/>
              </p:nvPr>
            </p:nvSpPr>
            <p:spPr>
              <a:xfrm>
                <a:off x="628650" y="822324"/>
                <a:ext cx="7981950" cy="5899152"/>
              </a:xfrm>
              <a:blipFill>
                <a:blip r:embed="rId2"/>
                <a:stretch>
                  <a:fillRect l="-763" t="-1343" r="-687"/>
                </a:stretch>
              </a:blipFill>
            </p:spPr>
            <p:txBody>
              <a:bodyPr/>
              <a:lstStyle/>
              <a:p>
                <a:r>
                  <a:rPr lang="ru-RU">
                    <a:noFill/>
                  </a:rPr>
                  <a:t> </a:t>
                </a:r>
              </a:p>
            </p:txBody>
          </p:sp>
        </mc:Fallback>
      </mc:AlternateContent>
      <p:sp>
        <p:nvSpPr>
          <p:cNvPr id="4" name="Нижний колонтитул 3">
            <a:extLst>
              <a:ext uri="{FF2B5EF4-FFF2-40B4-BE49-F238E27FC236}">
                <a16:creationId xmlns:a16="http://schemas.microsoft.com/office/drawing/2014/main" id="{C60D1B15-89E0-51D5-8D07-74488EE88B6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DCF1867-0E9D-A345-18F5-9418363FEA27}"/>
              </a:ext>
            </a:extLst>
          </p:cNvPr>
          <p:cNvSpPr>
            <a:spLocks noGrp="1"/>
          </p:cNvSpPr>
          <p:nvPr>
            <p:ph type="sldNum" sz="quarter" idx="12"/>
          </p:nvPr>
        </p:nvSpPr>
        <p:spPr/>
        <p:txBody>
          <a:bodyPr/>
          <a:lstStyle/>
          <a:p>
            <a:fld id="{81C5FB71-5E9C-41B5-9BB8-3F1EBEAEB16A}" type="slidenum">
              <a:rPr lang="ru-RU" smtClean="0"/>
              <a:t>40</a:t>
            </a:fld>
            <a:endParaRPr lang="ru-RU"/>
          </a:p>
        </p:txBody>
      </p:sp>
    </p:spTree>
    <p:extLst>
      <p:ext uri="{BB962C8B-B14F-4D97-AF65-F5344CB8AC3E}">
        <p14:creationId xmlns:p14="http://schemas.microsoft.com/office/powerpoint/2010/main" val="41393371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A5FF22-0BAB-429C-8722-A35553BB8001}"/>
              </a:ext>
            </a:extLst>
          </p:cNvPr>
          <p:cNvSpPr>
            <a:spLocks noGrp="1"/>
          </p:cNvSpPr>
          <p:nvPr>
            <p:ph type="title"/>
          </p:nvPr>
        </p:nvSpPr>
        <p:spPr>
          <a:xfrm>
            <a:off x="628650" y="70791"/>
            <a:ext cx="7886700" cy="691209"/>
          </a:xfrm>
        </p:spPr>
        <p:txBody>
          <a:bodyPr/>
          <a:lstStyle/>
          <a:p>
            <a:pPr algn="ctr"/>
            <a:r>
              <a:rPr lang="ru-RU" dirty="0"/>
              <a:t>Пример </a:t>
            </a:r>
            <a:r>
              <a:rPr lang="en-US" dirty="0" err="1"/>
              <a:t>GradientBoostingClassifier</a:t>
            </a:r>
            <a:endParaRPr lang="ru-RU" dirty="0"/>
          </a:p>
        </p:txBody>
      </p:sp>
      <p:pic>
        <p:nvPicPr>
          <p:cNvPr id="7" name="Объект 6">
            <a:extLst>
              <a:ext uri="{FF2B5EF4-FFF2-40B4-BE49-F238E27FC236}">
                <a16:creationId xmlns:a16="http://schemas.microsoft.com/office/drawing/2014/main" id="{CC19F2BD-3CEF-4024-B5D7-5363EF807D79}"/>
              </a:ext>
            </a:extLst>
          </p:cNvPr>
          <p:cNvPicPr>
            <a:picLocks noGrp="1" noChangeAspect="1"/>
          </p:cNvPicPr>
          <p:nvPr>
            <p:ph idx="1"/>
          </p:nvPr>
        </p:nvPicPr>
        <p:blipFill>
          <a:blip r:embed="rId2"/>
          <a:stretch>
            <a:fillRect/>
          </a:stretch>
        </p:blipFill>
        <p:spPr>
          <a:xfrm>
            <a:off x="818626" y="3210411"/>
            <a:ext cx="7506748" cy="3343742"/>
          </a:xfrm>
        </p:spPr>
      </p:pic>
      <p:sp>
        <p:nvSpPr>
          <p:cNvPr id="4" name="Нижний колонтитул 3">
            <a:extLst>
              <a:ext uri="{FF2B5EF4-FFF2-40B4-BE49-F238E27FC236}">
                <a16:creationId xmlns:a16="http://schemas.microsoft.com/office/drawing/2014/main" id="{1850C975-60A6-44BB-BE5F-7519471C147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BE3D6E8-4FF2-4886-8837-4DDFF21D8D13}"/>
              </a:ext>
            </a:extLst>
          </p:cNvPr>
          <p:cNvSpPr>
            <a:spLocks noGrp="1"/>
          </p:cNvSpPr>
          <p:nvPr>
            <p:ph type="sldNum" sz="quarter" idx="12"/>
          </p:nvPr>
        </p:nvSpPr>
        <p:spPr/>
        <p:txBody>
          <a:bodyPr/>
          <a:lstStyle/>
          <a:p>
            <a:fld id="{81C5FB71-5E9C-41B5-9BB8-3F1EBEAEB16A}" type="slidenum">
              <a:rPr lang="ru-RU" smtClean="0"/>
              <a:t>41</a:t>
            </a:fld>
            <a:endParaRPr lang="ru-RU"/>
          </a:p>
        </p:txBody>
      </p:sp>
      <p:sp>
        <p:nvSpPr>
          <p:cNvPr id="9" name="TextBox 8">
            <a:extLst>
              <a:ext uri="{FF2B5EF4-FFF2-40B4-BE49-F238E27FC236}">
                <a16:creationId xmlns:a16="http://schemas.microsoft.com/office/drawing/2014/main" id="{45B63699-EB2A-48C9-90EA-E1D22CF4AC82}"/>
              </a:ext>
            </a:extLst>
          </p:cNvPr>
          <p:cNvSpPr txBox="1"/>
          <p:nvPr/>
        </p:nvSpPr>
        <p:spPr>
          <a:xfrm>
            <a:off x="533400" y="878210"/>
            <a:ext cx="8286750" cy="2215991"/>
          </a:xfrm>
          <a:prstGeom prst="rect">
            <a:avLst/>
          </a:prstGeom>
          <a:noFill/>
        </p:spPr>
        <p:txBody>
          <a:bodyPr wrap="square">
            <a:spAutoFit/>
          </a:bodyPr>
          <a:lstStyle/>
          <a:p>
            <a:pPr algn="just"/>
            <a:r>
              <a:rPr lang="ru-RU" dirty="0"/>
              <a:t>Алгоритм работы градиентного </a:t>
            </a:r>
            <a:r>
              <a:rPr lang="ru-RU" dirty="0" err="1"/>
              <a:t>бустинга</a:t>
            </a:r>
            <a:r>
              <a:rPr lang="ru-RU" dirty="0"/>
              <a:t> позволяет оптимизировать произвольные дифференцируемые функции потерь. На каждом этапе </a:t>
            </a:r>
            <a:r>
              <a:rPr lang="ru-RU" dirty="0" err="1"/>
              <a:t>n_classes_деревья</a:t>
            </a:r>
            <a:r>
              <a:rPr lang="ru-RU" dirty="0"/>
              <a:t> регрессии подгоняются под отрицательный градиент функции потерь, например, бинарную или </a:t>
            </a:r>
            <a:r>
              <a:rPr lang="ru-RU" dirty="0" err="1"/>
              <a:t>многоклассовую</a:t>
            </a:r>
            <a:r>
              <a:rPr lang="ru-RU" dirty="0"/>
              <a:t> кросс-энтропию.</a:t>
            </a:r>
          </a:p>
          <a:p>
            <a:pPr algn="just"/>
            <a:r>
              <a:rPr lang="ru-RU" dirty="0"/>
              <a:t>Двоичная классификация является особым случаем, когда индуцируется только одно дерево регрессии.</a:t>
            </a:r>
          </a:p>
          <a:p>
            <a:pPr algn="just"/>
            <a:r>
              <a:rPr lang="ru-RU" sz="1200" dirty="0">
                <a:latin typeface="+mn-lt"/>
              </a:rPr>
              <a:t>(</a:t>
            </a:r>
            <a:r>
              <a:rPr lang="en-US" sz="1200" dirty="0">
                <a:latin typeface="+mn-lt"/>
                <a:hlinkClick r:id="rId3"/>
              </a:rPr>
              <a:t>https://scikit-learn.org/stable/modules/generated/sklearn.ensemble.AdaBoostRegressor.html#adaboostregressor</a:t>
            </a:r>
            <a:r>
              <a:rPr lang="ru-RU" sz="1200" dirty="0">
                <a:latin typeface="+mn-lt"/>
              </a:rPr>
              <a:t>)</a:t>
            </a:r>
          </a:p>
        </p:txBody>
      </p:sp>
    </p:spTree>
    <p:extLst>
      <p:ext uri="{BB962C8B-B14F-4D97-AF65-F5344CB8AC3E}">
        <p14:creationId xmlns:p14="http://schemas.microsoft.com/office/powerpoint/2010/main" val="3300692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E7FD24-F110-4655-B952-1D20C203E7A1}"/>
              </a:ext>
            </a:extLst>
          </p:cNvPr>
          <p:cNvSpPr>
            <a:spLocks noGrp="1"/>
          </p:cNvSpPr>
          <p:nvPr>
            <p:ph type="title"/>
          </p:nvPr>
        </p:nvSpPr>
        <p:spPr>
          <a:xfrm>
            <a:off x="628650" y="136524"/>
            <a:ext cx="7886700" cy="843609"/>
          </a:xfrm>
        </p:spPr>
        <p:txBody>
          <a:bodyPr>
            <a:noAutofit/>
          </a:bodyPr>
          <a:lstStyle/>
          <a:p>
            <a:pPr algn="ctr"/>
            <a:r>
              <a:rPr lang="ru-RU" sz="3400" dirty="0"/>
              <a:t>Преимущества и недостатки градиентного </a:t>
            </a:r>
            <a:r>
              <a:rPr lang="ru-RU" sz="3400" dirty="0" err="1"/>
              <a:t>бустинга</a:t>
            </a:r>
            <a:r>
              <a:rPr lang="ru-RU" sz="3400" dirty="0"/>
              <a:t> (GBM)</a:t>
            </a:r>
          </a:p>
        </p:txBody>
      </p:sp>
      <p:sp>
        <p:nvSpPr>
          <p:cNvPr id="3" name="Объект 2">
            <a:extLst>
              <a:ext uri="{FF2B5EF4-FFF2-40B4-BE49-F238E27FC236}">
                <a16:creationId xmlns:a16="http://schemas.microsoft.com/office/drawing/2014/main" id="{E7C4E0EE-1D46-4EBB-91B9-ADE91ED0CD35}"/>
              </a:ext>
            </a:extLst>
          </p:cNvPr>
          <p:cNvSpPr>
            <a:spLocks noGrp="1"/>
          </p:cNvSpPr>
          <p:nvPr>
            <p:ph idx="1"/>
          </p:nvPr>
        </p:nvSpPr>
        <p:spPr>
          <a:xfrm>
            <a:off x="628650" y="1219200"/>
            <a:ext cx="7886700" cy="4957763"/>
          </a:xfrm>
        </p:spPr>
        <p:txBody>
          <a:bodyPr>
            <a:normAutofit/>
          </a:bodyPr>
          <a:lstStyle/>
          <a:p>
            <a:pPr marL="0" indent="0">
              <a:buNone/>
            </a:pPr>
            <a:r>
              <a:rPr lang="ru-RU" sz="2400" b="1" dirty="0"/>
              <a:t>Преимущества:</a:t>
            </a:r>
          </a:p>
          <a:p>
            <a:r>
              <a:rPr lang="ru-RU" sz="2400" dirty="0"/>
              <a:t>высокая точность;</a:t>
            </a:r>
          </a:p>
          <a:p>
            <a:r>
              <a:rPr lang="ru-RU" sz="2400" dirty="0"/>
              <a:t>хорошо работает с неоднородными данными;</a:t>
            </a:r>
          </a:p>
          <a:p>
            <a:r>
              <a:rPr lang="ru-RU" sz="2400" dirty="0"/>
              <a:t>лежит в основе других модификаций градиентного </a:t>
            </a:r>
            <a:r>
              <a:rPr lang="ru-RU" sz="2400" dirty="0" err="1"/>
              <a:t>бустинга</a:t>
            </a:r>
            <a:r>
              <a:rPr lang="ru-RU" sz="2400" dirty="0"/>
              <a:t>.</a:t>
            </a:r>
          </a:p>
          <a:p>
            <a:pPr marL="0" indent="0">
              <a:buNone/>
            </a:pPr>
            <a:endParaRPr lang="ru-RU" sz="2400" dirty="0"/>
          </a:p>
          <a:p>
            <a:pPr marL="0" indent="0">
              <a:buNone/>
            </a:pPr>
            <a:r>
              <a:rPr lang="ru-RU" sz="2400" b="1" dirty="0"/>
              <a:t>Недостатки:</a:t>
            </a:r>
          </a:p>
          <a:p>
            <a:r>
              <a:rPr lang="ru-RU" sz="2400" dirty="0"/>
              <a:t>низкая скорость обучения при работе с большими датасетами;</a:t>
            </a:r>
          </a:p>
          <a:p>
            <a:r>
              <a:rPr lang="ru-RU" sz="2400" dirty="0"/>
              <a:t>возможность переобучения из-за плохой предобработки данных.</a:t>
            </a:r>
          </a:p>
        </p:txBody>
      </p:sp>
      <p:sp>
        <p:nvSpPr>
          <p:cNvPr id="4" name="Нижний колонтитул 3">
            <a:extLst>
              <a:ext uri="{FF2B5EF4-FFF2-40B4-BE49-F238E27FC236}">
                <a16:creationId xmlns:a16="http://schemas.microsoft.com/office/drawing/2014/main" id="{15A2D94B-2072-4021-8D5B-BA009C794FD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0FE115F-70C7-4A4F-B4A3-910557890B7D}"/>
              </a:ext>
            </a:extLst>
          </p:cNvPr>
          <p:cNvSpPr>
            <a:spLocks noGrp="1"/>
          </p:cNvSpPr>
          <p:nvPr>
            <p:ph type="sldNum" sz="quarter" idx="12"/>
          </p:nvPr>
        </p:nvSpPr>
        <p:spPr/>
        <p:txBody>
          <a:bodyPr/>
          <a:lstStyle/>
          <a:p>
            <a:fld id="{81C5FB71-5E9C-41B5-9BB8-3F1EBEAEB16A}" type="slidenum">
              <a:rPr lang="ru-RU" smtClean="0"/>
              <a:t>42</a:t>
            </a:fld>
            <a:endParaRPr lang="ru-RU"/>
          </a:p>
        </p:txBody>
      </p:sp>
    </p:spTree>
    <p:extLst>
      <p:ext uri="{BB962C8B-B14F-4D97-AF65-F5344CB8AC3E}">
        <p14:creationId xmlns:p14="http://schemas.microsoft.com/office/powerpoint/2010/main" val="4271961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F0219A-ED2C-4D51-A2E6-AB6B899364A0}"/>
              </a:ext>
            </a:extLst>
          </p:cNvPr>
          <p:cNvSpPr>
            <a:spLocks noGrp="1"/>
          </p:cNvSpPr>
          <p:nvPr>
            <p:ph type="title"/>
          </p:nvPr>
        </p:nvSpPr>
        <p:spPr>
          <a:xfrm>
            <a:off x="628650" y="70791"/>
            <a:ext cx="7886700" cy="767409"/>
          </a:xfrm>
        </p:spPr>
        <p:txBody>
          <a:bodyPr>
            <a:normAutofit/>
          </a:bodyPr>
          <a:lstStyle/>
          <a:p>
            <a:pPr algn="ctr"/>
            <a:r>
              <a:rPr lang="en-US" sz="3400" dirty="0" err="1"/>
              <a:t>BoostingRegressor</a:t>
            </a:r>
            <a:endParaRPr lang="ru-RU" sz="3400" dirty="0"/>
          </a:p>
        </p:txBody>
      </p:sp>
      <p:sp>
        <p:nvSpPr>
          <p:cNvPr id="4" name="Нижний колонтитул 3">
            <a:extLst>
              <a:ext uri="{FF2B5EF4-FFF2-40B4-BE49-F238E27FC236}">
                <a16:creationId xmlns:a16="http://schemas.microsoft.com/office/drawing/2014/main" id="{BD18A16D-A191-4FCF-B4EE-1E63CAD637D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A9A79CF-2EDB-4DAE-8881-E3CEA1E2D075}"/>
              </a:ext>
            </a:extLst>
          </p:cNvPr>
          <p:cNvSpPr>
            <a:spLocks noGrp="1"/>
          </p:cNvSpPr>
          <p:nvPr>
            <p:ph type="sldNum" sz="quarter" idx="12"/>
          </p:nvPr>
        </p:nvSpPr>
        <p:spPr/>
        <p:txBody>
          <a:bodyPr/>
          <a:lstStyle/>
          <a:p>
            <a:fld id="{81C5FB71-5E9C-41B5-9BB8-3F1EBEAEB16A}" type="slidenum">
              <a:rPr lang="ru-RU" smtClean="0"/>
              <a:t>43</a:t>
            </a:fld>
            <a:endParaRPr lang="ru-RU"/>
          </a:p>
        </p:txBody>
      </p:sp>
      <p:pic>
        <p:nvPicPr>
          <p:cNvPr id="6" name="Picture 2" descr="Picture background">
            <a:extLst>
              <a:ext uri="{FF2B5EF4-FFF2-40B4-BE49-F238E27FC236}">
                <a16:creationId xmlns:a16="http://schemas.microsoft.com/office/drawing/2014/main" id="{CCB9E460-5D42-77F5-E67D-A489E8CD5F4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219835"/>
            <a:ext cx="8305800" cy="4983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300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57EBE-2A67-8057-6EFE-BCD2F47E589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5C8DC2-8E1D-C4AC-BF15-44E662931849}"/>
              </a:ext>
            </a:extLst>
          </p:cNvPr>
          <p:cNvSpPr>
            <a:spLocks noGrp="1"/>
          </p:cNvSpPr>
          <p:nvPr>
            <p:ph type="title"/>
          </p:nvPr>
        </p:nvSpPr>
        <p:spPr>
          <a:xfrm>
            <a:off x="628650" y="70791"/>
            <a:ext cx="7886700" cy="767409"/>
          </a:xfrm>
        </p:spPr>
        <p:txBody>
          <a:bodyPr>
            <a:normAutofit/>
          </a:bodyPr>
          <a:lstStyle/>
          <a:p>
            <a:pPr algn="ctr"/>
            <a:r>
              <a:rPr lang="ru-RU" sz="2400" dirty="0"/>
              <a:t>Эволюция алгоритмов, использующих деревья поиска решений</a:t>
            </a:r>
          </a:p>
        </p:txBody>
      </p:sp>
      <p:sp>
        <p:nvSpPr>
          <p:cNvPr id="4" name="Нижний колонтитул 3">
            <a:extLst>
              <a:ext uri="{FF2B5EF4-FFF2-40B4-BE49-F238E27FC236}">
                <a16:creationId xmlns:a16="http://schemas.microsoft.com/office/drawing/2014/main" id="{4EC187B8-4C9F-6D09-09A1-1444515C157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E963FB4-6B01-4DD0-FFD7-0EAF54FA66B4}"/>
              </a:ext>
            </a:extLst>
          </p:cNvPr>
          <p:cNvSpPr>
            <a:spLocks noGrp="1"/>
          </p:cNvSpPr>
          <p:nvPr>
            <p:ph type="sldNum" sz="quarter" idx="12"/>
          </p:nvPr>
        </p:nvSpPr>
        <p:spPr/>
        <p:txBody>
          <a:bodyPr/>
          <a:lstStyle/>
          <a:p>
            <a:fld id="{81C5FB71-5E9C-41B5-9BB8-3F1EBEAEB16A}" type="slidenum">
              <a:rPr lang="ru-RU" smtClean="0"/>
              <a:t>44</a:t>
            </a:fld>
            <a:endParaRPr lang="ru-RU"/>
          </a:p>
        </p:txBody>
      </p:sp>
      <p:pic>
        <p:nvPicPr>
          <p:cNvPr id="6" name="Объект 5">
            <a:extLst>
              <a:ext uri="{FF2B5EF4-FFF2-40B4-BE49-F238E27FC236}">
                <a16:creationId xmlns:a16="http://schemas.microsoft.com/office/drawing/2014/main" id="{8C398B61-77E2-A826-31CE-BD1D748CCD83}"/>
              </a:ext>
            </a:extLst>
          </p:cNvPr>
          <p:cNvPicPr>
            <a:picLocks noGrp="1" noChangeAspect="1"/>
          </p:cNvPicPr>
          <p:nvPr>
            <p:ph idx="1"/>
          </p:nvPr>
        </p:nvPicPr>
        <p:blipFill>
          <a:blip r:embed="rId3"/>
          <a:srcRect l="2767" t="24638" r="4368" b="22826"/>
          <a:stretch/>
        </p:blipFill>
        <p:spPr>
          <a:xfrm>
            <a:off x="152400" y="2095500"/>
            <a:ext cx="8839200" cy="2667000"/>
          </a:xfrm>
          <a:prstGeom prst="rect">
            <a:avLst/>
          </a:prstGeom>
        </p:spPr>
      </p:pic>
      <p:sp>
        <p:nvSpPr>
          <p:cNvPr id="3" name="TextBox 2">
            <a:extLst>
              <a:ext uri="{FF2B5EF4-FFF2-40B4-BE49-F238E27FC236}">
                <a16:creationId xmlns:a16="http://schemas.microsoft.com/office/drawing/2014/main" id="{8FC0789A-D71C-C96C-A42A-CABD82646B75}"/>
              </a:ext>
            </a:extLst>
          </p:cNvPr>
          <p:cNvSpPr txBox="1"/>
          <p:nvPr/>
        </p:nvSpPr>
        <p:spPr>
          <a:xfrm>
            <a:off x="0" y="4800117"/>
            <a:ext cx="2215671" cy="1169551"/>
          </a:xfrm>
          <a:prstGeom prst="rect">
            <a:avLst/>
          </a:prstGeom>
          <a:noFill/>
        </p:spPr>
        <p:txBody>
          <a:bodyPr wrap="none" rtlCol="0">
            <a:spAutoFit/>
          </a:bodyPr>
          <a:lstStyle/>
          <a:p>
            <a:pPr algn="ctr"/>
            <a:r>
              <a:rPr lang="ru-RU" sz="1400" dirty="0"/>
              <a:t>Графическое </a:t>
            </a:r>
            <a:br>
              <a:rPr lang="ru-RU" sz="1400" dirty="0"/>
            </a:br>
            <a:r>
              <a:rPr lang="ru-RU" sz="1400" dirty="0"/>
              <a:t>представление </a:t>
            </a:r>
            <a:br>
              <a:rPr lang="ru-RU" sz="1400" dirty="0"/>
            </a:br>
            <a:r>
              <a:rPr lang="ru-RU" sz="1400" dirty="0"/>
              <a:t>возможных решений на </a:t>
            </a:r>
            <a:br>
              <a:rPr lang="ru-RU" sz="1400" dirty="0"/>
            </a:br>
            <a:r>
              <a:rPr lang="ru-RU" sz="1400" dirty="0"/>
              <a:t>основе условных </a:t>
            </a:r>
            <a:br>
              <a:rPr lang="ru-RU" sz="1400" dirty="0"/>
            </a:br>
            <a:r>
              <a:rPr lang="ru-RU" sz="1400" dirty="0"/>
              <a:t>выражений </a:t>
            </a:r>
          </a:p>
        </p:txBody>
      </p:sp>
      <p:sp>
        <p:nvSpPr>
          <p:cNvPr id="7" name="TextBox 6">
            <a:extLst>
              <a:ext uri="{FF2B5EF4-FFF2-40B4-BE49-F238E27FC236}">
                <a16:creationId xmlns:a16="http://schemas.microsoft.com/office/drawing/2014/main" id="{1883E52E-EC6E-50EF-C116-9A15B0F63220}"/>
              </a:ext>
            </a:extLst>
          </p:cNvPr>
          <p:cNvSpPr txBox="1"/>
          <p:nvPr/>
        </p:nvSpPr>
        <p:spPr>
          <a:xfrm>
            <a:off x="1317844" y="931557"/>
            <a:ext cx="2170787" cy="1169551"/>
          </a:xfrm>
          <a:prstGeom prst="rect">
            <a:avLst/>
          </a:prstGeom>
          <a:noFill/>
        </p:spPr>
        <p:txBody>
          <a:bodyPr wrap="none" rtlCol="0">
            <a:spAutoFit/>
          </a:bodyPr>
          <a:lstStyle/>
          <a:p>
            <a:pPr algn="ctr"/>
            <a:r>
              <a:rPr lang="ru-RU" sz="1400" dirty="0"/>
              <a:t>Агрегация алгоритмов </a:t>
            </a:r>
            <a:br>
              <a:rPr lang="ru-RU" sz="1400" dirty="0"/>
            </a:br>
            <a:r>
              <a:rPr lang="ru-RU" sz="1400" dirty="0"/>
              <a:t>машинного обучения</a:t>
            </a:r>
            <a:br>
              <a:rPr lang="ru-RU" sz="1400" dirty="0"/>
            </a:br>
            <a:r>
              <a:rPr lang="ru-RU" sz="1400" dirty="0"/>
              <a:t>на основе голосования</a:t>
            </a:r>
            <a:br>
              <a:rPr lang="ru-RU" sz="1400" dirty="0"/>
            </a:br>
            <a:r>
              <a:rPr lang="ru-RU" sz="1400" dirty="0"/>
              <a:t>предсказательных </a:t>
            </a:r>
            <a:br>
              <a:rPr lang="ru-RU" sz="1400" dirty="0"/>
            </a:br>
            <a:r>
              <a:rPr lang="ru-RU" sz="1400" dirty="0"/>
              <a:t>алгоритмов </a:t>
            </a:r>
          </a:p>
        </p:txBody>
      </p:sp>
      <p:sp>
        <p:nvSpPr>
          <p:cNvPr id="8" name="TextBox 7">
            <a:extLst>
              <a:ext uri="{FF2B5EF4-FFF2-40B4-BE49-F238E27FC236}">
                <a16:creationId xmlns:a16="http://schemas.microsoft.com/office/drawing/2014/main" id="{1252D392-1EDC-621C-9A28-633924D9FB41}"/>
              </a:ext>
            </a:extLst>
          </p:cNvPr>
          <p:cNvSpPr txBox="1"/>
          <p:nvPr/>
        </p:nvSpPr>
        <p:spPr>
          <a:xfrm>
            <a:off x="2403237" y="4911695"/>
            <a:ext cx="2619627" cy="954107"/>
          </a:xfrm>
          <a:prstGeom prst="rect">
            <a:avLst/>
          </a:prstGeom>
          <a:noFill/>
        </p:spPr>
        <p:txBody>
          <a:bodyPr wrap="none" rtlCol="0">
            <a:spAutoFit/>
          </a:bodyPr>
          <a:lstStyle/>
          <a:p>
            <a:pPr algn="ctr"/>
            <a:r>
              <a:rPr lang="ru-RU" sz="1400" dirty="0"/>
              <a:t>Основанный на </a:t>
            </a:r>
            <a:r>
              <a:rPr lang="ru-RU" sz="1400" dirty="0" err="1"/>
              <a:t>бэггинге</a:t>
            </a:r>
            <a:br>
              <a:rPr lang="ru-RU" sz="1400" dirty="0"/>
            </a:br>
            <a:r>
              <a:rPr lang="ru-RU" sz="1400" dirty="0"/>
              <a:t>мета-алгоритм предсказания</a:t>
            </a:r>
            <a:br>
              <a:rPr lang="ru-RU" sz="1400" dirty="0"/>
            </a:br>
            <a:r>
              <a:rPr lang="ru-RU" sz="1400" dirty="0"/>
              <a:t>на базе обученных деревьев</a:t>
            </a:r>
            <a:br>
              <a:rPr lang="ru-RU" sz="1400" dirty="0"/>
            </a:br>
            <a:r>
              <a:rPr lang="ru-RU" sz="1400" dirty="0"/>
              <a:t>решений на </a:t>
            </a:r>
            <a:r>
              <a:rPr lang="ru-RU" sz="1400" dirty="0" err="1"/>
              <a:t>подвыборках</a:t>
            </a:r>
            <a:endParaRPr lang="ru-RU" sz="1400" dirty="0"/>
          </a:p>
        </p:txBody>
      </p:sp>
      <p:sp>
        <p:nvSpPr>
          <p:cNvPr id="9" name="TextBox 8">
            <a:extLst>
              <a:ext uri="{FF2B5EF4-FFF2-40B4-BE49-F238E27FC236}">
                <a16:creationId xmlns:a16="http://schemas.microsoft.com/office/drawing/2014/main" id="{9431673D-7AFD-EC17-67FE-631E366BD03F}"/>
              </a:ext>
            </a:extLst>
          </p:cNvPr>
          <p:cNvSpPr txBox="1"/>
          <p:nvPr/>
        </p:nvSpPr>
        <p:spPr>
          <a:xfrm>
            <a:off x="3962400" y="932846"/>
            <a:ext cx="2395206" cy="954107"/>
          </a:xfrm>
          <a:prstGeom prst="rect">
            <a:avLst/>
          </a:prstGeom>
          <a:noFill/>
        </p:spPr>
        <p:txBody>
          <a:bodyPr wrap="none" rtlCol="0">
            <a:spAutoFit/>
          </a:bodyPr>
          <a:lstStyle/>
          <a:p>
            <a:pPr algn="ctr"/>
            <a:r>
              <a:rPr lang="ru-RU" sz="1400" dirty="0"/>
              <a:t>Поэтапное построение </a:t>
            </a:r>
            <a:br>
              <a:rPr lang="ru-RU" sz="1400" dirty="0"/>
            </a:br>
            <a:r>
              <a:rPr lang="ru-RU" sz="1400" dirty="0"/>
              <a:t>моделей на основе </a:t>
            </a:r>
            <a:br>
              <a:rPr lang="ru-RU" sz="1400" dirty="0"/>
            </a:br>
            <a:r>
              <a:rPr lang="ru-RU" sz="1400" dirty="0"/>
              <a:t>минимизации ошибок</a:t>
            </a:r>
            <a:br>
              <a:rPr lang="ru-RU" sz="1400" dirty="0"/>
            </a:br>
            <a:r>
              <a:rPr lang="ru-RU" sz="1400" dirty="0"/>
              <a:t>прошлых слабых моделей</a:t>
            </a:r>
          </a:p>
        </p:txBody>
      </p:sp>
      <p:sp>
        <p:nvSpPr>
          <p:cNvPr id="10" name="TextBox 9">
            <a:extLst>
              <a:ext uri="{FF2B5EF4-FFF2-40B4-BE49-F238E27FC236}">
                <a16:creationId xmlns:a16="http://schemas.microsoft.com/office/drawing/2014/main" id="{FE2AB386-51F2-E2EC-1B10-32495AE383A5}"/>
              </a:ext>
            </a:extLst>
          </p:cNvPr>
          <p:cNvSpPr txBox="1"/>
          <p:nvPr/>
        </p:nvSpPr>
        <p:spPr>
          <a:xfrm>
            <a:off x="5331613" y="4911695"/>
            <a:ext cx="2400016" cy="1169551"/>
          </a:xfrm>
          <a:prstGeom prst="rect">
            <a:avLst/>
          </a:prstGeom>
          <a:noFill/>
        </p:spPr>
        <p:txBody>
          <a:bodyPr wrap="none" rtlCol="0">
            <a:spAutoFit/>
          </a:bodyPr>
          <a:lstStyle/>
          <a:p>
            <a:pPr algn="ctr"/>
            <a:r>
              <a:rPr lang="ru-RU" sz="1400" dirty="0"/>
              <a:t>Градиентный спуск </a:t>
            </a:r>
            <a:br>
              <a:rPr lang="ru-RU" sz="1400" dirty="0"/>
            </a:br>
            <a:r>
              <a:rPr lang="ru-RU" sz="1400" dirty="0"/>
              <a:t>для минимизации ошибок </a:t>
            </a:r>
            <a:br>
              <a:rPr lang="ru-RU" sz="1400" dirty="0"/>
            </a:br>
            <a:r>
              <a:rPr lang="ru-RU" sz="1400" dirty="0"/>
              <a:t>большого ансамбля </a:t>
            </a:r>
            <a:br>
              <a:rPr lang="ru-RU" sz="1400" dirty="0"/>
            </a:br>
            <a:r>
              <a:rPr lang="ru-RU" sz="1400" dirty="0"/>
              <a:t>последовательных </a:t>
            </a:r>
            <a:br>
              <a:rPr lang="ru-RU" sz="1400" dirty="0"/>
            </a:br>
            <a:r>
              <a:rPr lang="ru-RU" sz="1400" dirty="0"/>
              <a:t>слабых моделей</a:t>
            </a:r>
          </a:p>
        </p:txBody>
      </p:sp>
      <p:sp>
        <p:nvSpPr>
          <p:cNvPr id="11" name="TextBox 10">
            <a:extLst>
              <a:ext uri="{FF2B5EF4-FFF2-40B4-BE49-F238E27FC236}">
                <a16:creationId xmlns:a16="http://schemas.microsoft.com/office/drawing/2014/main" id="{49B08B35-AFB9-1F9D-8131-626E942F697E}"/>
              </a:ext>
            </a:extLst>
          </p:cNvPr>
          <p:cNvSpPr txBox="1"/>
          <p:nvPr/>
        </p:nvSpPr>
        <p:spPr>
          <a:xfrm>
            <a:off x="6618475" y="821031"/>
            <a:ext cx="2610009" cy="1384995"/>
          </a:xfrm>
          <a:prstGeom prst="rect">
            <a:avLst/>
          </a:prstGeom>
          <a:noFill/>
        </p:spPr>
        <p:txBody>
          <a:bodyPr wrap="none" rtlCol="0">
            <a:spAutoFit/>
          </a:bodyPr>
          <a:lstStyle/>
          <a:p>
            <a:pPr algn="ctr"/>
            <a:r>
              <a:rPr lang="ru-RU" sz="1400" dirty="0"/>
              <a:t>Оптимизированный </a:t>
            </a:r>
            <a:br>
              <a:rPr lang="ru-RU" sz="1400" dirty="0"/>
            </a:br>
            <a:r>
              <a:rPr lang="ru-RU" sz="1400" dirty="0"/>
              <a:t>мета-алгоритм обучения с </a:t>
            </a:r>
            <a:br>
              <a:rPr lang="ru-RU" sz="1400" dirty="0"/>
            </a:br>
            <a:r>
              <a:rPr lang="ru-RU" sz="1400" dirty="0" err="1"/>
              <a:t>параллелизацией</a:t>
            </a:r>
            <a:r>
              <a:rPr lang="ru-RU" sz="1400" dirty="0"/>
              <a:t> обучения, </a:t>
            </a:r>
            <a:br>
              <a:rPr lang="ru-RU" sz="1400" dirty="0"/>
            </a:br>
            <a:r>
              <a:rPr lang="ru-RU" sz="1400" dirty="0"/>
              <a:t>обрезкой деревьев, </a:t>
            </a:r>
            <a:br>
              <a:rPr lang="ru-RU" sz="1400" dirty="0"/>
            </a:br>
            <a:r>
              <a:rPr lang="ru-RU" sz="1400" dirty="0"/>
              <a:t>обработкой пропусков и </a:t>
            </a:r>
            <a:br>
              <a:rPr lang="ru-RU" sz="1400" dirty="0"/>
            </a:br>
            <a:r>
              <a:rPr lang="ru-RU" sz="1400" dirty="0"/>
              <a:t>регуляризацией весов</a:t>
            </a:r>
          </a:p>
        </p:txBody>
      </p:sp>
    </p:spTree>
    <p:extLst>
      <p:ext uri="{BB962C8B-B14F-4D97-AF65-F5344CB8AC3E}">
        <p14:creationId xmlns:p14="http://schemas.microsoft.com/office/powerpoint/2010/main" val="1014190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1C19F2-090C-45E1-BA51-8873D520EA0A}"/>
              </a:ext>
            </a:extLst>
          </p:cNvPr>
          <p:cNvSpPr>
            <a:spLocks noGrp="1"/>
          </p:cNvSpPr>
          <p:nvPr>
            <p:ph type="title"/>
          </p:nvPr>
        </p:nvSpPr>
        <p:spPr/>
        <p:txBody>
          <a:bodyPr/>
          <a:lstStyle/>
          <a:p>
            <a:pPr algn="ctr"/>
            <a:r>
              <a:rPr lang="ru-RU" dirty="0"/>
              <a:t>Пример работы </a:t>
            </a:r>
            <a:r>
              <a:rPr lang="ru-RU" sz="2800" dirty="0"/>
              <a:t>алгоритмов, использующих деревья поиска решений</a:t>
            </a:r>
            <a:endParaRPr lang="ru-RU" dirty="0"/>
          </a:p>
        </p:txBody>
      </p:sp>
      <p:sp>
        <p:nvSpPr>
          <p:cNvPr id="3" name="Объект 2">
            <a:extLst>
              <a:ext uri="{FF2B5EF4-FFF2-40B4-BE49-F238E27FC236}">
                <a16:creationId xmlns:a16="http://schemas.microsoft.com/office/drawing/2014/main" id="{61781F37-2DB5-4F46-A01E-11BC0855CCCE}"/>
              </a:ext>
            </a:extLst>
          </p:cNvPr>
          <p:cNvSpPr>
            <a:spLocks noGrp="1"/>
          </p:cNvSpPr>
          <p:nvPr>
            <p:ph idx="1"/>
          </p:nvPr>
        </p:nvSpPr>
        <p:spPr>
          <a:xfrm>
            <a:off x="628650" y="1066800"/>
            <a:ext cx="7886700" cy="5654676"/>
          </a:xfrm>
        </p:spPr>
        <p:txBody>
          <a:bodyPr>
            <a:normAutofit fontScale="77500" lnSpcReduction="20000"/>
          </a:bodyPr>
          <a:lstStyle/>
          <a:p>
            <a:pPr marL="0" indent="0">
              <a:lnSpc>
                <a:spcPct val="120000"/>
              </a:lnSpc>
              <a:spcBef>
                <a:spcPts val="0"/>
              </a:spcBef>
              <a:buNone/>
            </a:pPr>
            <a:r>
              <a:rPr lang="ru-RU" dirty="0"/>
              <a:t>Представьте, что вы специалист по подбору персонала и собеседуете нескольких отличных кандидатов. Каждый шаг эволюции алгоритмов, основанных на деревьях, может быть представлен как версия хода собеседования.</a:t>
            </a:r>
          </a:p>
          <a:p>
            <a:pPr marL="457200" lvl="0" indent="-457200">
              <a:lnSpc>
                <a:spcPct val="120000"/>
              </a:lnSpc>
              <a:spcBef>
                <a:spcPts val="0"/>
              </a:spcBef>
              <a:buFont typeface="+mj-lt"/>
              <a:buAutoNum type="arabicPeriod"/>
              <a:tabLst>
                <a:tab pos="457200" algn="l"/>
              </a:tabLst>
            </a:pPr>
            <a:r>
              <a:rPr lang="ru-RU" b="1" dirty="0"/>
              <a:t>Дерево принятия решений –</a:t>
            </a:r>
            <a:r>
              <a:rPr lang="ru-RU" dirty="0"/>
              <a:t> каждый специалист по подбору персонала при собеседовании кандидата ориентируется по своему списку критериев: образование, опыт работы, успешность прохождения собеседования.</a:t>
            </a:r>
          </a:p>
          <a:p>
            <a:pPr marL="457200" lvl="0" indent="-457200">
              <a:lnSpc>
                <a:spcPct val="120000"/>
              </a:lnSpc>
              <a:spcBef>
                <a:spcPts val="0"/>
              </a:spcBef>
              <a:buFont typeface="+mj-lt"/>
              <a:buAutoNum type="arabicPeriod"/>
              <a:tabLst>
                <a:tab pos="457200" algn="l"/>
              </a:tabLst>
            </a:pPr>
            <a:r>
              <a:rPr lang="ru-RU" b="1" dirty="0" err="1"/>
              <a:t>Бэггинг</a:t>
            </a:r>
            <a:r>
              <a:rPr lang="ru-RU" b="1" dirty="0"/>
              <a:t> –</a:t>
            </a:r>
            <a:r>
              <a:rPr lang="ru-RU" dirty="0"/>
              <a:t> вместо одного специалиста по подбору персонала теперь за каждым кандидатом наблюдают несколько, и каждый имеет возможность проголосовать. Этот алгоритм при принятии окончательного решения учитывает все высказанные мнения.</a:t>
            </a:r>
          </a:p>
          <a:p>
            <a:pPr marL="457200" lvl="0" indent="-457200">
              <a:lnSpc>
                <a:spcPct val="120000"/>
              </a:lnSpc>
              <a:spcBef>
                <a:spcPts val="0"/>
              </a:spcBef>
              <a:buFont typeface="+mj-lt"/>
              <a:buAutoNum type="arabicPeriod"/>
              <a:tabLst>
                <a:tab pos="457200" algn="l"/>
              </a:tabLst>
            </a:pPr>
            <a:r>
              <a:rPr lang="ru-RU" b="1" dirty="0"/>
              <a:t>Случайный лес –</a:t>
            </a:r>
            <a:r>
              <a:rPr lang="ru-RU" dirty="0"/>
              <a:t> выбирает случайные признаки. То есть, каждый специалист по подбору персонала может проверить знания кандидата лишь в какой-то одной случайно выбранной области.</a:t>
            </a:r>
          </a:p>
          <a:p>
            <a:pPr marL="457200" lvl="0" indent="-457200">
              <a:lnSpc>
                <a:spcPct val="120000"/>
              </a:lnSpc>
              <a:spcBef>
                <a:spcPts val="0"/>
              </a:spcBef>
              <a:buFont typeface="+mj-lt"/>
              <a:buAutoNum type="arabicPeriod"/>
              <a:tabLst>
                <a:tab pos="457200" algn="l"/>
              </a:tabLst>
            </a:pPr>
            <a:r>
              <a:rPr lang="ru-RU" b="1" dirty="0" err="1"/>
              <a:t>Бустинг</a:t>
            </a:r>
            <a:r>
              <a:rPr lang="ru-RU" dirty="0"/>
              <a:t> – каждый специалист по подбору персонала основывается на оценке кандидата предыдущим специалистом. Это ускоряет процесс собеседования, так как не подходящие кандидаты сразу же отсеиваются.</a:t>
            </a:r>
          </a:p>
          <a:p>
            <a:pPr marL="457200" lvl="0" indent="-457200">
              <a:lnSpc>
                <a:spcPct val="120000"/>
              </a:lnSpc>
              <a:spcBef>
                <a:spcPts val="0"/>
              </a:spcBef>
              <a:buFont typeface="+mj-lt"/>
              <a:buAutoNum type="arabicPeriod"/>
              <a:tabLst>
                <a:tab pos="457200" algn="l"/>
              </a:tabLst>
            </a:pPr>
            <a:r>
              <a:rPr lang="ru-RU" b="1" dirty="0"/>
              <a:t>Градиентный </a:t>
            </a:r>
            <a:r>
              <a:rPr lang="ru-RU" b="1" dirty="0" err="1"/>
              <a:t>бустинг</a:t>
            </a:r>
            <a:r>
              <a:rPr lang="ru-RU" dirty="0"/>
              <a:t> – ошибка минимизируется алгоритмом градиентного спуска. То есть, наименее квалифицированные кандидаты отсеиваются как можно раньше.</a:t>
            </a:r>
          </a:p>
          <a:p>
            <a:pPr marL="457200" lvl="0" indent="-457200">
              <a:lnSpc>
                <a:spcPct val="120000"/>
              </a:lnSpc>
              <a:spcBef>
                <a:spcPts val="0"/>
              </a:spcBef>
              <a:buFont typeface="+mj-lt"/>
              <a:buAutoNum type="arabicPeriod"/>
              <a:tabLst>
                <a:tab pos="457200" algn="l"/>
              </a:tabLst>
            </a:pPr>
            <a:r>
              <a:rPr lang="ru-RU" b="1" dirty="0" err="1"/>
              <a:t>XGBoost</a:t>
            </a:r>
            <a:r>
              <a:rPr lang="ru-RU" dirty="0"/>
              <a:t> – идеальная комбинация оптимизации ПО и железа для получения точных результатов за короткое время с минимальным использованием вычислительных ресурсов.</a:t>
            </a:r>
          </a:p>
        </p:txBody>
      </p:sp>
      <p:sp>
        <p:nvSpPr>
          <p:cNvPr id="4" name="Нижний колонтитул 3">
            <a:extLst>
              <a:ext uri="{FF2B5EF4-FFF2-40B4-BE49-F238E27FC236}">
                <a16:creationId xmlns:a16="http://schemas.microsoft.com/office/drawing/2014/main" id="{BE44F4BB-5C32-4A12-ACE8-B55AE6E3FB8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6BD40DB-6404-4F65-9DEE-E24942931664}"/>
              </a:ext>
            </a:extLst>
          </p:cNvPr>
          <p:cNvSpPr>
            <a:spLocks noGrp="1"/>
          </p:cNvSpPr>
          <p:nvPr>
            <p:ph type="sldNum" sz="quarter" idx="12"/>
          </p:nvPr>
        </p:nvSpPr>
        <p:spPr/>
        <p:txBody>
          <a:bodyPr/>
          <a:lstStyle/>
          <a:p>
            <a:fld id="{81C5FB71-5E9C-41B5-9BB8-3F1EBEAEB16A}" type="slidenum">
              <a:rPr lang="ru-RU" smtClean="0"/>
              <a:t>45</a:t>
            </a:fld>
            <a:endParaRPr lang="ru-RU"/>
          </a:p>
        </p:txBody>
      </p:sp>
    </p:spTree>
    <p:extLst>
      <p:ext uri="{BB962C8B-B14F-4D97-AF65-F5344CB8AC3E}">
        <p14:creationId xmlns:p14="http://schemas.microsoft.com/office/powerpoint/2010/main" val="29749900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966BB2-921E-4B2C-B192-9B44B89C67AB}"/>
              </a:ext>
            </a:extLst>
          </p:cNvPr>
          <p:cNvSpPr>
            <a:spLocks noGrp="1"/>
          </p:cNvSpPr>
          <p:nvPr>
            <p:ph type="title"/>
          </p:nvPr>
        </p:nvSpPr>
        <p:spPr/>
        <p:txBody>
          <a:bodyPr/>
          <a:lstStyle/>
          <a:p>
            <a:pPr algn="ctr"/>
            <a:r>
              <a:rPr lang="en-US" dirty="0" err="1"/>
              <a:t>XGBoost</a:t>
            </a:r>
            <a:endParaRPr lang="ru-RU" dirty="0"/>
          </a:p>
        </p:txBody>
      </p:sp>
      <p:sp>
        <p:nvSpPr>
          <p:cNvPr id="3" name="Объект 2">
            <a:extLst>
              <a:ext uri="{FF2B5EF4-FFF2-40B4-BE49-F238E27FC236}">
                <a16:creationId xmlns:a16="http://schemas.microsoft.com/office/drawing/2014/main" id="{64A3FA38-88EC-4F92-9E87-D1A71F80C7CC}"/>
              </a:ext>
            </a:extLst>
          </p:cNvPr>
          <p:cNvSpPr>
            <a:spLocks noGrp="1"/>
          </p:cNvSpPr>
          <p:nvPr>
            <p:ph idx="1"/>
          </p:nvPr>
        </p:nvSpPr>
        <p:spPr>
          <a:xfrm>
            <a:off x="628650" y="990600"/>
            <a:ext cx="7886700" cy="5182089"/>
          </a:xfrm>
        </p:spPr>
        <p:txBody>
          <a:bodyPr>
            <a:normAutofit lnSpcReduction="10000"/>
          </a:bodyPr>
          <a:lstStyle/>
          <a:p>
            <a:pPr marL="0" indent="0" algn="just">
              <a:buNone/>
            </a:pPr>
            <a:r>
              <a:rPr lang="ru-RU" sz="2400" b="1" dirty="0" err="1"/>
              <a:t>XGBoost</a:t>
            </a:r>
            <a:r>
              <a:rPr lang="ru-RU" sz="2400" b="1" dirty="0"/>
              <a:t> </a:t>
            </a:r>
            <a:r>
              <a:rPr lang="ru-RU" sz="2400" dirty="0"/>
              <a:t>— это оптимизированная распределенная библиотека градиентного </a:t>
            </a:r>
            <a:r>
              <a:rPr lang="ru-RU" sz="2400" dirty="0" err="1"/>
              <a:t>бустинга</a:t>
            </a:r>
            <a:r>
              <a:rPr lang="ru-RU" sz="2400" dirty="0"/>
              <a:t>, разработанная для обеспечения высокой эффективности, гибкости и переносимости. </a:t>
            </a:r>
          </a:p>
          <a:p>
            <a:pPr marL="0" indent="0" algn="just">
              <a:buNone/>
            </a:pPr>
            <a:r>
              <a:rPr lang="ru-RU" sz="2400" dirty="0"/>
              <a:t>Она реализует алгоритмы машинного обучения в рамках фреймворка градиентного </a:t>
            </a:r>
            <a:r>
              <a:rPr lang="ru-RU" sz="2400" dirty="0" err="1"/>
              <a:t>бустинга</a:t>
            </a:r>
            <a:r>
              <a:rPr lang="ru-RU" sz="2400" dirty="0"/>
              <a:t>. </a:t>
            </a:r>
            <a:r>
              <a:rPr lang="ru-RU" sz="2400" dirty="0" err="1"/>
              <a:t>XGBoost</a:t>
            </a:r>
            <a:r>
              <a:rPr lang="ru-RU" sz="2400" dirty="0"/>
              <a:t> обеспечивает параллельный древовидный </a:t>
            </a:r>
            <a:r>
              <a:rPr lang="ru-RU" sz="2400" dirty="0" err="1"/>
              <a:t>бустинг</a:t>
            </a:r>
            <a:r>
              <a:rPr lang="ru-RU" sz="2400" dirty="0"/>
              <a:t> (также известный как GBDT, GBM).</a:t>
            </a:r>
          </a:p>
          <a:p>
            <a:pPr marL="0" indent="0" algn="just">
              <a:buNone/>
            </a:pPr>
            <a:r>
              <a:rPr lang="ru-RU" sz="2400" dirty="0"/>
              <a:t>Код библиотеки </a:t>
            </a:r>
            <a:r>
              <a:rPr lang="ru-RU" sz="2400" dirty="0" err="1"/>
              <a:t>XGBoost</a:t>
            </a:r>
            <a:r>
              <a:rPr lang="ru-RU" sz="2400" dirty="0"/>
              <a:t> работает в основных распределенных средах (</a:t>
            </a:r>
            <a:r>
              <a:rPr lang="ru-RU" sz="2400" dirty="0" err="1"/>
              <a:t>Kubernetes</a:t>
            </a:r>
            <a:r>
              <a:rPr lang="ru-RU" sz="2400" dirty="0"/>
              <a:t>, </a:t>
            </a:r>
            <a:r>
              <a:rPr lang="ru-RU" sz="2400" dirty="0" err="1"/>
              <a:t>Hadoop</a:t>
            </a:r>
            <a:r>
              <a:rPr lang="ru-RU" sz="2400" dirty="0"/>
              <a:t>, SGE, </a:t>
            </a:r>
            <a:r>
              <a:rPr lang="ru-RU" sz="2400" dirty="0" err="1"/>
              <a:t>Dask</a:t>
            </a:r>
            <a:r>
              <a:rPr lang="ru-RU" sz="2400" dirty="0"/>
              <a:t>, Spark, </a:t>
            </a:r>
            <a:r>
              <a:rPr lang="ru-RU" sz="2400" dirty="0" err="1"/>
              <a:t>PySpark</a:t>
            </a:r>
            <a:r>
              <a:rPr lang="ru-RU" sz="2400" dirty="0"/>
              <a:t>).</a:t>
            </a:r>
          </a:p>
          <a:p>
            <a:pPr marL="0" indent="0" algn="just">
              <a:buNone/>
            </a:pPr>
            <a:r>
              <a:rPr lang="ru-RU" sz="2400" b="1" dirty="0" err="1"/>
              <a:t>XGBoost</a:t>
            </a:r>
            <a:r>
              <a:rPr lang="ru-RU" sz="2400" dirty="0"/>
              <a:t> — улучшение фреймворка GBM через :</a:t>
            </a:r>
          </a:p>
          <a:p>
            <a:pPr marL="457200" indent="-457200">
              <a:buAutoNum type="arabicPeriod"/>
            </a:pPr>
            <a:r>
              <a:rPr lang="ru-RU" sz="2400" dirty="0"/>
              <a:t>системную оптимизацию</a:t>
            </a:r>
            <a:r>
              <a:rPr lang="en-US" sz="2400" dirty="0"/>
              <a:t>,</a:t>
            </a:r>
            <a:endParaRPr lang="ru-RU" sz="2400" dirty="0"/>
          </a:p>
          <a:p>
            <a:pPr marL="457200" indent="-457200">
              <a:buAutoNum type="arabicPeriod"/>
            </a:pPr>
            <a:r>
              <a:rPr lang="ru-RU" sz="2400" dirty="0"/>
              <a:t>усовершенствование алгоритма.</a:t>
            </a:r>
          </a:p>
          <a:p>
            <a:pPr marL="0" indent="0" algn="just">
              <a:buNone/>
            </a:pPr>
            <a:endParaRPr lang="ru-RU" dirty="0"/>
          </a:p>
        </p:txBody>
      </p:sp>
      <p:sp>
        <p:nvSpPr>
          <p:cNvPr id="4" name="Нижний колонтитул 3">
            <a:extLst>
              <a:ext uri="{FF2B5EF4-FFF2-40B4-BE49-F238E27FC236}">
                <a16:creationId xmlns:a16="http://schemas.microsoft.com/office/drawing/2014/main" id="{E9CFD1E9-BD34-4EFB-8221-F0F2534CA26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A862991-A6AC-4D7D-B5EE-1D572DA96BA2}"/>
              </a:ext>
            </a:extLst>
          </p:cNvPr>
          <p:cNvSpPr>
            <a:spLocks noGrp="1"/>
          </p:cNvSpPr>
          <p:nvPr>
            <p:ph type="sldNum" sz="quarter" idx="12"/>
          </p:nvPr>
        </p:nvSpPr>
        <p:spPr/>
        <p:txBody>
          <a:bodyPr/>
          <a:lstStyle/>
          <a:p>
            <a:fld id="{81C5FB71-5E9C-41B5-9BB8-3F1EBEAEB16A}" type="slidenum">
              <a:rPr lang="ru-RU" smtClean="0"/>
              <a:t>46</a:t>
            </a:fld>
            <a:endParaRPr lang="ru-RU"/>
          </a:p>
        </p:txBody>
      </p:sp>
    </p:spTree>
    <p:extLst>
      <p:ext uri="{BB962C8B-B14F-4D97-AF65-F5344CB8AC3E}">
        <p14:creationId xmlns:p14="http://schemas.microsoft.com/office/powerpoint/2010/main" val="13764045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1F6C26-1291-40E8-84BB-CF6D54124260}"/>
              </a:ext>
            </a:extLst>
          </p:cNvPr>
          <p:cNvSpPr>
            <a:spLocks noGrp="1"/>
          </p:cNvSpPr>
          <p:nvPr>
            <p:ph type="title"/>
          </p:nvPr>
        </p:nvSpPr>
        <p:spPr>
          <a:xfrm>
            <a:off x="628650" y="70791"/>
            <a:ext cx="7886700" cy="691209"/>
          </a:xfrm>
        </p:spPr>
        <p:txBody>
          <a:bodyPr>
            <a:normAutofit/>
          </a:bodyPr>
          <a:lstStyle/>
          <a:p>
            <a:pPr algn="ctr"/>
            <a:r>
              <a:rPr lang="en-US" sz="3400" dirty="0" err="1"/>
              <a:t>XGBoost</a:t>
            </a:r>
            <a:endParaRPr lang="ru-RU" sz="3400" dirty="0"/>
          </a:p>
        </p:txBody>
      </p:sp>
      <p:sp>
        <p:nvSpPr>
          <p:cNvPr id="6" name="Объект 5">
            <a:extLst>
              <a:ext uri="{FF2B5EF4-FFF2-40B4-BE49-F238E27FC236}">
                <a16:creationId xmlns:a16="http://schemas.microsoft.com/office/drawing/2014/main" id="{58286575-0FAE-6BEC-8B97-AAB9DBA8D18D}"/>
              </a:ext>
            </a:extLst>
          </p:cNvPr>
          <p:cNvSpPr>
            <a:spLocks noGrp="1"/>
          </p:cNvSpPr>
          <p:nvPr>
            <p:ph idx="1"/>
          </p:nvPr>
        </p:nvSpPr>
        <p:spPr>
          <a:xfrm>
            <a:off x="628650" y="990600"/>
            <a:ext cx="7886700" cy="5186363"/>
          </a:xfrm>
        </p:spPr>
        <p:txBody>
          <a:bodyPr/>
          <a:lstStyle/>
          <a:p>
            <a:pPr marL="0" indent="0">
              <a:buNone/>
            </a:pPr>
            <a:r>
              <a:rPr lang="ru-RU" b="1" dirty="0" err="1"/>
              <a:t>Параллелизация</a:t>
            </a:r>
            <a:r>
              <a:rPr lang="ru-RU" b="1" dirty="0"/>
              <a:t> </a:t>
            </a:r>
            <a:r>
              <a:rPr lang="ru-RU" dirty="0"/>
              <a:t>– внешний цикл перечисляет листья деревьев, внутренний цикл вычисляет признаки. Распараллеливание возникает внутри построения одного дерева.</a:t>
            </a:r>
          </a:p>
          <a:p>
            <a:pPr marL="0" indent="0">
              <a:buNone/>
            </a:pPr>
            <a:r>
              <a:rPr lang="ru-RU" b="1" dirty="0"/>
              <a:t>Отсечение ветвей дерева </a:t>
            </a:r>
            <a:r>
              <a:rPr lang="ru-RU" dirty="0"/>
              <a:t>– используется </a:t>
            </a:r>
            <a:r>
              <a:rPr lang="en-US" dirty="0" err="1"/>
              <a:t>max_depth</a:t>
            </a:r>
            <a:r>
              <a:rPr lang="en-US" dirty="0"/>
              <a:t> </a:t>
            </a:r>
            <a:r>
              <a:rPr lang="ru-RU" dirty="0"/>
              <a:t>для строгого отсечения листьев без </a:t>
            </a:r>
            <a:r>
              <a:rPr lang="ru-RU" dirty="0" err="1"/>
              <a:t>просчитывания</a:t>
            </a:r>
            <a:r>
              <a:rPr lang="ru-RU" dirty="0"/>
              <a:t> порога разделения выборки.</a:t>
            </a:r>
          </a:p>
          <a:p>
            <a:pPr marL="0" indent="0">
              <a:buNone/>
            </a:pPr>
            <a:r>
              <a:rPr lang="ru-RU" b="1" dirty="0"/>
              <a:t>Регуляризация </a:t>
            </a:r>
            <a:r>
              <a:rPr lang="ru-RU" dirty="0"/>
              <a:t>– штрафует сложные модели, используя как регуляризацию LASSO (L1), так и </a:t>
            </a:r>
            <a:r>
              <a:rPr lang="ru-RU" dirty="0" err="1"/>
              <a:t>Ridge</a:t>
            </a:r>
            <a:r>
              <a:rPr lang="ru-RU" dirty="0"/>
              <a:t>-регуляризацию (L2), для того, чтобы избежать переобучения.</a:t>
            </a:r>
          </a:p>
          <a:p>
            <a:pPr marL="0" indent="0">
              <a:buNone/>
            </a:pPr>
            <a:r>
              <a:rPr lang="ru-RU" b="1" dirty="0"/>
              <a:t>Кросс-валидация</a:t>
            </a:r>
            <a:r>
              <a:rPr lang="ru-RU" dirty="0"/>
              <a:t> – используется встроенный метод кросс-валидации на каждой итерации. То есть, нам не нужно отдельно программировать этот поиск и определять количество итераций </a:t>
            </a:r>
            <a:r>
              <a:rPr lang="ru-RU" dirty="0" err="1"/>
              <a:t>бустинга</a:t>
            </a:r>
            <a:r>
              <a:rPr lang="ru-RU" dirty="0"/>
              <a:t> для каждого запуска.</a:t>
            </a:r>
          </a:p>
          <a:p>
            <a:pPr marL="0" indent="0">
              <a:buNone/>
            </a:pPr>
            <a:r>
              <a:rPr lang="ru-RU" b="1" dirty="0"/>
              <a:t>Метод взвешенных квантилей </a:t>
            </a:r>
            <a:r>
              <a:rPr lang="ru-RU" dirty="0"/>
              <a:t>- используется для того, чтобы наиболее эффективно находить оптимальные точки разделения в случае работы со взвешенным датасетом</a:t>
            </a:r>
          </a:p>
          <a:p>
            <a:pPr marL="0" indent="0">
              <a:buNone/>
            </a:pPr>
            <a:endParaRPr lang="ru-RU" dirty="0"/>
          </a:p>
        </p:txBody>
      </p:sp>
      <p:sp>
        <p:nvSpPr>
          <p:cNvPr id="4" name="Нижний колонтитул 3">
            <a:extLst>
              <a:ext uri="{FF2B5EF4-FFF2-40B4-BE49-F238E27FC236}">
                <a16:creationId xmlns:a16="http://schemas.microsoft.com/office/drawing/2014/main" id="{551A3E79-BD63-4C70-8E09-5EF9BDBD958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FD106DA-6002-4B5B-B6BB-A1FF067ECB4C}"/>
              </a:ext>
            </a:extLst>
          </p:cNvPr>
          <p:cNvSpPr>
            <a:spLocks noGrp="1"/>
          </p:cNvSpPr>
          <p:nvPr>
            <p:ph type="sldNum" sz="quarter" idx="12"/>
          </p:nvPr>
        </p:nvSpPr>
        <p:spPr/>
        <p:txBody>
          <a:bodyPr/>
          <a:lstStyle/>
          <a:p>
            <a:fld id="{81C5FB71-5E9C-41B5-9BB8-3F1EBEAEB16A}" type="slidenum">
              <a:rPr lang="ru-RU" smtClean="0"/>
              <a:t>47</a:t>
            </a:fld>
            <a:endParaRPr lang="ru-RU"/>
          </a:p>
        </p:txBody>
      </p:sp>
    </p:spTree>
    <p:extLst>
      <p:ext uri="{BB962C8B-B14F-4D97-AF65-F5344CB8AC3E}">
        <p14:creationId xmlns:p14="http://schemas.microsoft.com/office/powerpoint/2010/main" val="22420305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3D3F98-2ED6-4F26-B1CC-DC2EB2CD7897}"/>
              </a:ext>
            </a:extLst>
          </p:cNvPr>
          <p:cNvSpPr>
            <a:spLocks noGrp="1"/>
          </p:cNvSpPr>
          <p:nvPr>
            <p:ph type="title"/>
          </p:nvPr>
        </p:nvSpPr>
        <p:spPr>
          <a:xfrm>
            <a:off x="628650" y="70791"/>
            <a:ext cx="7886700" cy="843608"/>
          </a:xfrm>
        </p:spPr>
        <p:txBody>
          <a:bodyPr>
            <a:normAutofit/>
          </a:bodyPr>
          <a:lstStyle/>
          <a:p>
            <a:pPr algn="ctr"/>
            <a:r>
              <a:rPr lang="ru-RU" sz="3400" dirty="0"/>
              <a:t>Пример работы алгоритма </a:t>
            </a:r>
            <a:r>
              <a:rPr lang="en-US" sz="3400" dirty="0" err="1"/>
              <a:t>XGBoost</a:t>
            </a:r>
            <a:endParaRPr lang="ru-RU" sz="3400" dirty="0"/>
          </a:p>
        </p:txBody>
      </p:sp>
      <p:sp>
        <p:nvSpPr>
          <p:cNvPr id="4" name="Нижний колонтитул 3">
            <a:extLst>
              <a:ext uri="{FF2B5EF4-FFF2-40B4-BE49-F238E27FC236}">
                <a16:creationId xmlns:a16="http://schemas.microsoft.com/office/drawing/2014/main" id="{5467DE61-5631-4FBC-BA0E-67C4674B745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40AAD4F-E34D-4860-BB40-AFD27FEADF25}"/>
              </a:ext>
            </a:extLst>
          </p:cNvPr>
          <p:cNvSpPr>
            <a:spLocks noGrp="1"/>
          </p:cNvSpPr>
          <p:nvPr>
            <p:ph type="sldNum" sz="quarter" idx="12"/>
          </p:nvPr>
        </p:nvSpPr>
        <p:spPr/>
        <p:txBody>
          <a:bodyPr/>
          <a:lstStyle/>
          <a:p>
            <a:fld id="{81C5FB71-5E9C-41B5-9BB8-3F1EBEAEB16A}" type="slidenum">
              <a:rPr lang="ru-RU" smtClean="0"/>
              <a:t>48</a:t>
            </a:fld>
            <a:endParaRPr lang="ru-RU"/>
          </a:p>
        </p:txBody>
      </p:sp>
      <p:pic>
        <p:nvPicPr>
          <p:cNvPr id="7" name="Объект 6">
            <a:extLst>
              <a:ext uri="{FF2B5EF4-FFF2-40B4-BE49-F238E27FC236}">
                <a16:creationId xmlns:a16="http://schemas.microsoft.com/office/drawing/2014/main" id="{E1D925A2-83BD-4207-9D1C-4122F7FC41CF}"/>
              </a:ext>
            </a:extLst>
          </p:cNvPr>
          <p:cNvPicPr>
            <a:picLocks noGrp="1" noChangeAspect="1"/>
          </p:cNvPicPr>
          <p:nvPr>
            <p:ph idx="1"/>
          </p:nvPr>
        </p:nvPicPr>
        <p:blipFill>
          <a:blip r:embed="rId3"/>
          <a:stretch>
            <a:fillRect/>
          </a:stretch>
        </p:blipFill>
        <p:spPr>
          <a:xfrm>
            <a:off x="533400" y="1273969"/>
            <a:ext cx="8077200" cy="4543425"/>
          </a:xfrm>
          <a:prstGeom prst="rect">
            <a:avLst/>
          </a:prstGeom>
        </p:spPr>
      </p:pic>
    </p:spTree>
    <p:extLst>
      <p:ext uri="{BB962C8B-B14F-4D97-AF65-F5344CB8AC3E}">
        <p14:creationId xmlns:p14="http://schemas.microsoft.com/office/powerpoint/2010/main" val="2073291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8AA56E-18E5-4952-841C-D52646CB04BB}"/>
              </a:ext>
            </a:extLst>
          </p:cNvPr>
          <p:cNvSpPr>
            <a:spLocks noGrp="1"/>
          </p:cNvSpPr>
          <p:nvPr>
            <p:ph type="title"/>
          </p:nvPr>
        </p:nvSpPr>
        <p:spPr>
          <a:xfrm>
            <a:off x="628650" y="70791"/>
            <a:ext cx="7886700" cy="740421"/>
          </a:xfrm>
        </p:spPr>
        <p:txBody>
          <a:bodyPr/>
          <a:lstStyle/>
          <a:p>
            <a:pPr algn="ctr"/>
            <a:r>
              <a:rPr lang="ru-RU" dirty="0" err="1"/>
              <a:t>CatBoost</a:t>
            </a:r>
            <a:endParaRPr lang="ru-RU" dirty="0"/>
          </a:p>
        </p:txBody>
      </p:sp>
      <p:sp>
        <p:nvSpPr>
          <p:cNvPr id="3" name="Объект 2">
            <a:extLst>
              <a:ext uri="{FF2B5EF4-FFF2-40B4-BE49-F238E27FC236}">
                <a16:creationId xmlns:a16="http://schemas.microsoft.com/office/drawing/2014/main" id="{70C11E56-E099-4CF0-B893-5B5C75914645}"/>
              </a:ext>
            </a:extLst>
          </p:cNvPr>
          <p:cNvSpPr>
            <a:spLocks noGrp="1"/>
          </p:cNvSpPr>
          <p:nvPr>
            <p:ph idx="1"/>
          </p:nvPr>
        </p:nvSpPr>
        <p:spPr>
          <a:xfrm>
            <a:off x="628650" y="811212"/>
            <a:ext cx="7886700" cy="5365751"/>
          </a:xfrm>
        </p:spPr>
        <p:txBody>
          <a:bodyPr>
            <a:normAutofit/>
          </a:bodyPr>
          <a:lstStyle/>
          <a:p>
            <a:pPr marL="0" indent="0" algn="just">
              <a:buNone/>
            </a:pPr>
            <a:r>
              <a:rPr lang="ru-RU" sz="2400" b="1" dirty="0" err="1"/>
              <a:t>CatBoost</a:t>
            </a:r>
            <a:r>
              <a:rPr lang="ru-RU" sz="2400" b="1" dirty="0"/>
              <a:t> </a:t>
            </a:r>
            <a:r>
              <a:rPr lang="ru-RU" sz="2400" dirty="0"/>
              <a:t>– высокопроизводительная библиотека с открытым исходным кодом для градиентного </a:t>
            </a:r>
            <a:r>
              <a:rPr lang="ru-RU" sz="2400" dirty="0" err="1"/>
              <a:t>бустинга</a:t>
            </a:r>
            <a:r>
              <a:rPr lang="ru-RU" sz="2400" dirty="0"/>
              <a:t> на деревьях решений. Она внедряется в Яндексе для решения задач ранжирования, предсказания и построения рекомендаций. </a:t>
            </a:r>
          </a:p>
          <a:p>
            <a:pPr marL="0" indent="0" algn="just">
              <a:buNone/>
            </a:pPr>
            <a:r>
              <a:rPr lang="ru-RU" sz="2400" dirty="0"/>
              <a:t>Главное преимущество – одинаково хорошо работает «из коробки» как с числовыми признаками, так и с категориальными.</a:t>
            </a:r>
          </a:p>
          <a:p>
            <a:pPr marL="0" indent="0" algn="just">
              <a:buNone/>
            </a:pPr>
            <a:r>
              <a:rPr lang="ru-RU" sz="2400" dirty="0"/>
              <a:t>С ее помощью можно эффективно обучать модели на разнородных данных, в том числе таких, которые трудно представить в виде чисел (например, категории товаров). </a:t>
            </a:r>
          </a:p>
        </p:txBody>
      </p:sp>
      <p:sp>
        <p:nvSpPr>
          <p:cNvPr id="4" name="Нижний колонтитул 3">
            <a:extLst>
              <a:ext uri="{FF2B5EF4-FFF2-40B4-BE49-F238E27FC236}">
                <a16:creationId xmlns:a16="http://schemas.microsoft.com/office/drawing/2014/main" id="{5507AA47-BBAB-4C41-A420-14575798455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8C2F8DF-A624-471F-9BE1-0E44D37240E4}"/>
              </a:ext>
            </a:extLst>
          </p:cNvPr>
          <p:cNvSpPr>
            <a:spLocks noGrp="1"/>
          </p:cNvSpPr>
          <p:nvPr>
            <p:ph type="sldNum" sz="quarter" idx="12"/>
          </p:nvPr>
        </p:nvSpPr>
        <p:spPr/>
        <p:txBody>
          <a:bodyPr/>
          <a:lstStyle/>
          <a:p>
            <a:fld id="{81C5FB71-5E9C-41B5-9BB8-3F1EBEAEB16A}" type="slidenum">
              <a:rPr lang="ru-RU" smtClean="0"/>
              <a:t>49</a:t>
            </a:fld>
            <a:endParaRPr lang="ru-RU"/>
          </a:p>
        </p:txBody>
      </p:sp>
    </p:spTree>
    <p:extLst>
      <p:ext uri="{BB962C8B-B14F-4D97-AF65-F5344CB8AC3E}">
        <p14:creationId xmlns:p14="http://schemas.microsoft.com/office/powerpoint/2010/main" val="4157851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A257E1-0DD9-4EA5-8590-A3450E46EF60}"/>
              </a:ext>
            </a:extLst>
          </p:cNvPr>
          <p:cNvSpPr>
            <a:spLocks noGrp="1"/>
          </p:cNvSpPr>
          <p:nvPr>
            <p:ph type="title"/>
          </p:nvPr>
        </p:nvSpPr>
        <p:spPr>
          <a:xfrm>
            <a:off x="628650" y="70791"/>
            <a:ext cx="7886700" cy="767409"/>
          </a:xfrm>
        </p:spPr>
        <p:txBody>
          <a:bodyPr/>
          <a:lstStyle/>
          <a:p>
            <a:pPr marL="0" indent="0" algn="ctr">
              <a:buNone/>
            </a:pPr>
            <a:r>
              <a:rPr lang="ru-RU" b="1" i="0" dirty="0" err="1">
                <a:solidFill>
                  <a:srgbClr val="333333"/>
                </a:solidFill>
                <a:effectLst/>
                <a:latin typeface="Fira Sans" panose="020B0503050000020004" pitchFamily="34" charset="0"/>
              </a:rPr>
              <a:t>Ordered</a:t>
            </a:r>
            <a:r>
              <a:rPr lang="ru-RU" b="1" i="0" dirty="0">
                <a:solidFill>
                  <a:srgbClr val="333333"/>
                </a:solidFill>
                <a:effectLst/>
                <a:latin typeface="Fira Sans" panose="020B0503050000020004" pitchFamily="34" charset="0"/>
              </a:rPr>
              <a:t> </a:t>
            </a:r>
            <a:r>
              <a:rPr lang="ru-RU" b="1" i="0" dirty="0" err="1">
                <a:solidFill>
                  <a:srgbClr val="333333"/>
                </a:solidFill>
                <a:effectLst/>
                <a:latin typeface="Fira Sans" panose="020B0503050000020004" pitchFamily="34" charset="0"/>
              </a:rPr>
              <a:t>target</a:t>
            </a:r>
            <a:r>
              <a:rPr lang="ru-RU" b="1" i="0" dirty="0">
                <a:solidFill>
                  <a:srgbClr val="333333"/>
                </a:solidFill>
                <a:effectLst/>
                <a:latin typeface="Fira Sans" panose="020B0503050000020004" pitchFamily="34" charset="0"/>
              </a:rPr>
              <a:t> (</a:t>
            </a:r>
            <a:r>
              <a:rPr lang="ru-RU" b="1" i="0" dirty="0" err="1">
                <a:solidFill>
                  <a:srgbClr val="333333"/>
                </a:solidFill>
                <a:effectLst/>
                <a:latin typeface="Fira Sans" panose="020B0503050000020004" pitchFamily="34" charset="0"/>
              </a:rPr>
              <a:t>CatBoost</a:t>
            </a:r>
            <a:r>
              <a:rPr lang="ru-RU" b="1" i="0" dirty="0">
                <a:solidFill>
                  <a:srgbClr val="333333"/>
                </a:solidFill>
                <a:effectLst/>
                <a:latin typeface="Fira Sans" panose="020B0503050000020004" pitchFamily="34" charset="0"/>
              </a:rPr>
              <a:t>) </a:t>
            </a:r>
            <a:r>
              <a:rPr lang="ru-RU" b="1" i="0" dirty="0" err="1">
                <a:solidFill>
                  <a:srgbClr val="333333"/>
                </a:solidFill>
                <a:effectLst/>
                <a:latin typeface="Fira Sans" panose="020B0503050000020004" pitchFamily="34" charset="0"/>
              </a:rPr>
              <a:t>encoding</a:t>
            </a:r>
            <a:endParaRPr lang="ru-RU" b="1" i="0" dirty="0">
              <a:solidFill>
                <a:srgbClr val="333333"/>
              </a:solidFill>
              <a:effectLst/>
              <a:latin typeface="Fira Sans" panose="020B0503050000020004" pitchFamily="34" charset="0"/>
            </a:endParaRPr>
          </a:p>
        </p:txBody>
      </p:sp>
      <p:sp>
        <p:nvSpPr>
          <p:cNvPr id="3" name="Объект 2">
            <a:extLst>
              <a:ext uri="{FF2B5EF4-FFF2-40B4-BE49-F238E27FC236}">
                <a16:creationId xmlns:a16="http://schemas.microsoft.com/office/drawing/2014/main" id="{5A9873C4-4503-4C93-9B93-82F9079CAF7B}"/>
              </a:ext>
            </a:extLst>
          </p:cNvPr>
          <p:cNvSpPr>
            <a:spLocks noGrp="1"/>
          </p:cNvSpPr>
          <p:nvPr>
            <p:ph idx="1"/>
          </p:nvPr>
        </p:nvSpPr>
        <p:spPr>
          <a:xfrm>
            <a:off x="628650" y="990600"/>
            <a:ext cx="7886700" cy="5486400"/>
          </a:xfrm>
        </p:spPr>
        <p:txBody>
          <a:bodyPr>
            <a:normAutofit/>
          </a:bodyPr>
          <a:lstStyle/>
          <a:p>
            <a:pPr algn="l">
              <a:buFont typeface="Arial" panose="020B0604020202020204" pitchFamily="34" charset="0"/>
              <a:buChar char="•"/>
            </a:pPr>
            <a:r>
              <a:rPr lang="ru-RU" b="1" i="0" dirty="0" err="1">
                <a:solidFill>
                  <a:srgbClr val="333333"/>
                </a:solidFill>
                <a:effectLst/>
                <a:latin typeface="-apple-system"/>
              </a:rPr>
              <a:t>one-hot</a:t>
            </a:r>
            <a:r>
              <a:rPr lang="ru-RU" b="1" i="0" dirty="0">
                <a:solidFill>
                  <a:srgbClr val="333333"/>
                </a:solidFill>
                <a:effectLst/>
                <a:latin typeface="-apple-system"/>
              </a:rPr>
              <a:t> </a:t>
            </a:r>
            <a:r>
              <a:rPr lang="ru-RU" b="1" i="0" dirty="0" err="1">
                <a:solidFill>
                  <a:srgbClr val="333333"/>
                </a:solidFill>
                <a:effectLst/>
                <a:latin typeface="-apple-system"/>
              </a:rPr>
              <a:t>encoding</a:t>
            </a:r>
            <a:r>
              <a:rPr lang="ru-RU" b="1" i="0" dirty="0">
                <a:solidFill>
                  <a:srgbClr val="333333"/>
                </a:solidFill>
                <a:effectLst/>
                <a:latin typeface="-apple-system"/>
              </a:rPr>
              <a:t> </a:t>
            </a:r>
            <a:r>
              <a:rPr lang="ru-RU" b="0" i="0" dirty="0">
                <a:solidFill>
                  <a:srgbClr val="333333"/>
                </a:solidFill>
                <a:effectLst/>
                <a:latin typeface="-apple-system"/>
              </a:rPr>
              <a:t>(хорошо работает лишь в том случае, когда в признаках содержится небольшое количество значений);</a:t>
            </a:r>
          </a:p>
          <a:p>
            <a:pPr algn="l">
              <a:buFont typeface="Arial" panose="020B0604020202020204" pitchFamily="34" charset="0"/>
              <a:buChar char="•"/>
            </a:pPr>
            <a:r>
              <a:rPr lang="ru-RU" b="1" i="0" dirty="0" err="1">
                <a:solidFill>
                  <a:srgbClr val="333333"/>
                </a:solidFill>
                <a:effectLst/>
                <a:latin typeface="-apple-system"/>
              </a:rPr>
              <a:t>feature</a:t>
            </a:r>
            <a:r>
              <a:rPr lang="ru-RU" b="1" i="0" dirty="0">
                <a:solidFill>
                  <a:srgbClr val="333333"/>
                </a:solidFill>
                <a:effectLst/>
                <a:latin typeface="-apple-system"/>
              </a:rPr>
              <a:t> </a:t>
            </a:r>
            <a:r>
              <a:rPr lang="ru-RU" b="1" i="0" dirty="0" err="1">
                <a:solidFill>
                  <a:srgbClr val="333333"/>
                </a:solidFill>
                <a:effectLst/>
                <a:latin typeface="-apple-system"/>
              </a:rPr>
              <a:t>hashing</a:t>
            </a:r>
            <a:r>
              <a:rPr lang="ru-RU" b="0" i="0" dirty="0">
                <a:solidFill>
                  <a:srgbClr val="333333"/>
                </a:solidFill>
                <a:effectLst/>
                <a:latin typeface="-apple-system"/>
              </a:rPr>
              <a:t> исходные данные преобразуются в уникальную последовательность символов (хэш-значения), которые разбиваются на группы (корзины) и обрабатываются параллельно с последующим применением </a:t>
            </a:r>
            <a:r>
              <a:rPr lang="ru-RU" b="0" i="0" dirty="0" err="1">
                <a:solidFill>
                  <a:srgbClr val="333333"/>
                </a:solidFill>
                <a:effectLst/>
                <a:latin typeface="-apple-system"/>
              </a:rPr>
              <a:t>target</a:t>
            </a:r>
            <a:r>
              <a:rPr lang="ru-RU" b="0" i="0" dirty="0">
                <a:solidFill>
                  <a:srgbClr val="333333"/>
                </a:solidFill>
                <a:effectLst/>
                <a:latin typeface="-apple-system"/>
              </a:rPr>
              <a:t> или </a:t>
            </a:r>
            <a:r>
              <a:rPr lang="ru-RU" b="0" i="0" dirty="0" err="1">
                <a:solidFill>
                  <a:srgbClr val="333333"/>
                </a:solidFill>
                <a:effectLst/>
                <a:latin typeface="-apple-system"/>
              </a:rPr>
              <a:t>one-hot</a:t>
            </a:r>
            <a:r>
              <a:rPr lang="ru-RU" b="0" i="0" dirty="0">
                <a:solidFill>
                  <a:srgbClr val="333333"/>
                </a:solidFill>
                <a:effectLst/>
                <a:latin typeface="-apple-system"/>
              </a:rPr>
              <a:t> </a:t>
            </a:r>
            <a:r>
              <a:rPr lang="ru-RU" b="0" i="0" dirty="0" err="1">
                <a:solidFill>
                  <a:srgbClr val="333333"/>
                </a:solidFill>
                <a:effectLst/>
                <a:latin typeface="-apple-system"/>
              </a:rPr>
              <a:t>encoding</a:t>
            </a:r>
            <a:r>
              <a:rPr lang="ru-RU" b="0" i="0" dirty="0">
                <a:solidFill>
                  <a:srgbClr val="333333"/>
                </a:solidFill>
                <a:effectLst/>
                <a:latin typeface="-apple-system"/>
              </a:rPr>
              <a:t>);</a:t>
            </a:r>
          </a:p>
          <a:p>
            <a:pPr algn="l">
              <a:buFont typeface="Arial" panose="020B0604020202020204" pitchFamily="34" charset="0"/>
              <a:buChar char="•"/>
            </a:pPr>
            <a:r>
              <a:rPr lang="ru-RU" b="1" i="0" dirty="0" err="1">
                <a:solidFill>
                  <a:srgbClr val="333333"/>
                </a:solidFill>
                <a:effectLst/>
                <a:latin typeface="-apple-system"/>
              </a:rPr>
              <a:t>mean</a:t>
            </a:r>
            <a:r>
              <a:rPr lang="ru-RU" b="1" i="0" dirty="0">
                <a:solidFill>
                  <a:srgbClr val="333333"/>
                </a:solidFill>
                <a:effectLst/>
                <a:latin typeface="-apple-system"/>
              </a:rPr>
              <a:t> </a:t>
            </a:r>
            <a:r>
              <a:rPr lang="ru-RU" b="1" i="0" dirty="0" err="1">
                <a:solidFill>
                  <a:srgbClr val="333333"/>
                </a:solidFill>
                <a:effectLst/>
                <a:latin typeface="-apple-system"/>
              </a:rPr>
              <a:t>target</a:t>
            </a:r>
            <a:r>
              <a:rPr lang="ru-RU" b="1" i="0" dirty="0">
                <a:solidFill>
                  <a:srgbClr val="333333"/>
                </a:solidFill>
                <a:effectLst/>
                <a:latin typeface="-apple-system"/>
              </a:rPr>
              <a:t> </a:t>
            </a:r>
            <a:r>
              <a:rPr lang="ru-RU" b="1" i="0" dirty="0" err="1">
                <a:solidFill>
                  <a:srgbClr val="333333"/>
                </a:solidFill>
                <a:effectLst/>
                <a:latin typeface="-apple-system"/>
              </a:rPr>
              <a:t>encoding</a:t>
            </a:r>
            <a:r>
              <a:rPr lang="ru-RU" b="1" i="0" dirty="0">
                <a:solidFill>
                  <a:srgbClr val="333333"/>
                </a:solidFill>
                <a:effectLst/>
                <a:latin typeface="-apple-system"/>
              </a:rPr>
              <a:t> </a:t>
            </a:r>
            <a:r>
              <a:rPr lang="ru-RU" b="0" i="0" dirty="0">
                <a:solidFill>
                  <a:srgbClr val="333333"/>
                </a:solidFill>
                <a:effectLst/>
                <a:latin typeface="-apple-system"/>
              </a:rPr>
              <a:t>(рассчитывается новое значение для текущего категориального признака как среднее значение целевой переменной по </a:t>
            </a:r>
            <a:r>
              <a:rPr lang="ru-RU" b="0" i="0" dirty="0" err="1">
                <a:solidFill>
                  <a:srgbClr val="333333"/>
                </a:solidFill>
                <a:effectLst/>
                <a:latin typeface="-apple-system"/>
              </a:rPr>
              <a:t>датасету</a:t>
            </a:r>
            <a:r>
              <a:rPr lang="ru-RU" b="0" i="0" dirty="0">
                <a:solidFill>
                  <a:srgbClr val="333333"/>
                </a:solidFill>
                <a:effectLst/>
                <a:latin typeface="-apple-system"/>
              </a:rPr>
              <a:t>);</a:t>
            </a:r>
          </a:p>
          <a:p>
            <a:pPr algn="l">
              <a:buFont typeface="Arial" panose="020B0604020202020204" pitchFamily="34" charset="0"/>
              <a:buChar char="•"/>
            </a:pPr>
            <a:r>
              <a:rPr lang="ru-RU" b="1" i="0" dirty="0" err="1">
                <a:solidFill>
                  <a:srgbClr val="333333"/>
                </a:solidFill>
                <a:effectLst/>
                <a:latin typeface="-apple-system"/>
              </a:rPr>
              <a:t>leave-one-out</a:t>
            </a:r>
            <a:r>
              <a:rPr lang="ru-RU" b="1" i="0" dirty="0">
                <a:solidFill>
                  <a:srgbClr val="333333"/>
                </a:solidFill>
                <a:effectLst/>
                <a:latin typeface="-apple-system"/>
              </a:rPr>
              <a:t> </a:t>
            </a:r>
            <a:r>
              <a:rPr lang="ru-RU" b="0" i="0" dirty="0">
                <a:solidFill>
                  <a:srgbClr val="333333"/>
                </a:solidFill>
                <a:effectLst/>
                <a:latin typeface="-apple-system"/>
              </a:rPr>
              <a:t>(рассчитывается среднее значение целевой переменной по всем объектам кроме текущего);</a:t>
            </a:r>
          </a:p>
          <a:p>
            <a:pPr algn="l">
              <a:buFont typeface="Arial" panose="020B0604020202020204" pitchFamily="34" charset="0"/>
              <a:buChar char="•"/>
            </a:pPr>
            <a:r>
              <a:rPr lang="ru-RU" b="1" i="0" dirty="0" err="1">
                <a:solidFill>
                  <a:srgbClr val="333333"/>
                </a:solidFill>
                <a:effectLst/>
                <a:latin typeface="-apple-system"/>
              </a:rPr>
              <a:t>leave-bucket-out</a:t>
            </a:r>
            <a:r>
              <a:rPr lang="ru-RU" b="0" i="0" dirty="0">
                <a:solidFill>
                  <a:srgbClr val="333333"/>
                </a:solidFill>
                <a:effectLst/>
                <a:latin typeface="-apple-system"/>
              </a:rPr>
              <a:t> (рассчитывается среднее значение целевой переменной на одной части данных и применяется для оставшихся других);</a:t>
            </a:r>
          </a:p>
          <a:p>
            <a:pPr marL="0" indent="0">
              <a:buNone/>
            </a:pPr>
            <a:endParaRPr lang="ru-RU" dirty="0"/>
          </a:p>
        </p:txBody>
      </p:sp>
      <p:sp>
        <p:nvSpPr>
          <p:cNvPr id="4" name="Нижний колонтитул 3">
            <a:extLst>
              <a:ext uri="{FF2B5EF4-FFF2-40B4-BE49-F238E27FC236}">
                <a16:creationId xmlns:a16="http://schemas.microsoft.com/office/drawing/2014/main" id="{23FBB4DD-6272-4814-BFC7-64E5842D9CA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36C8240F-CA52-4BD1-8EF1-6ED2AC606B1F}"/>
              </a:ext>
            </a:extLst>
          </p:cNvPr>
          <p:cNvSpPr>
            <a:spLocks noGrp="1"/>
          </p:cNvSpPr>
          <p:nvPr>
            <p:ph type="sldNum" sz="quarter" idx="12"/>
          </p:nvPr>
        </p:nvSpPr>
        <p:spPr/>
        <p:txBody>
          <a:bodyPr/>
          <a:lstStyle/>
          <a:p>
            <a:fld id="{81C5FB71-5E9C-41B5-9BB8-3F1EBEAEB16A}" type="slidenum">
              <a:rPr lang="ru-RU" smtClean="0"/>
              <a:t>50</a:t>
            </a:fld>
            <a:endParaRPr lang="ru-RU"/>
          </a:p>
        </p:txBody>
      </p:sp>
    </p:spTree>
    <p:extLst>
      <p:ext uri="{BB962C8B-B14F-4D97-AF65-F5344CB8AC3E}">
        <p14:creationId xmlns:p14="http://schemas.microsoft.com/office/powerpoint/2010/main" val="1484118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EF7760-A88C-8655-3E20-105F04F9DFCA}"/>
              </a:ext>
            </a:extLst>
          </p:cNvPr>
          <p:cNvSpPr>
            <a:spLocks noGrp="1"/>
          </p:cNvSpPr>
          <p:nvPr>
            <p:ph type="title"/>
          </p:nvPr>
        </p:nvSpPr>
        <p:spPr/>
        <p:txBody>
          <a:bodyPr>
            <a:normAutofit/>
          </a:bodyPr>
          <a:lstStyle/>
          <a:p>
            <a:pPr algn="ctr"/>
            <a:r>
              <a:rPr lang="en-US" sz="3400" dirty="0"/>
              <a:t>Mean target encoding</a:t>
            </a:r>
            <a:endParaRPr lang="ru-RU" sz="3400" dirty="0"/>
          </a:p>
        </p:txBody>
      </p:sp>
      <p:sp>
        <p:nvSpPr>
          <p:cNvPr id="4" name="Нижний колонтитул 3">
            <a:extLst>
              <a:ext uri="{FF2B5EF4-FFF2-40B4-BE49-F238E27FC236}">
                <a16:creationId xmlns:a16="http://schemas.microsoft.com/office/drawing/2014/main" id="{80ECBD0A-3D23-CF04-0599-889DAA1DDE7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FBF493E-273C-098E-05A1-EEDE84C3A490}"/>
              </a:ext>
            </a:extLst>
          </p:cNvPr>
          <p:cNvSpPr>
            <a:spLocks noGrp="1"/>
          </p:cNvSpPr>
          <p:nvPr>
            <p:ph type="sldNum" sz="quarter" idx="12"/>
          </p:nvPr>
        </p:nvSpPr>
        <p:spPr/>
        <p:txBody>
          <a:bodyPr/>
          <a:lstStyle/>
          <a:p>
            <a:fld id="{81C5FB71-5E9C-41B5-9BB8-3F1EBEAEB16A}" type="slidenum">
              <a:rPr lang="ru-RU" smtClean="0"/>
              <a:t>51</a:t>
            </a:fld>
            <a:endParaRPr lang="ru-RU"/>
          </a:p>
        </p:txBody>
      </p:sp>
      <p:pic>
        <p:nvPicPr>
          <p:cNvPr id="11266" name="Picture 2" descr="Picture background">
            <a:extLst>
              <a:ext uri="{FF2B5EF4-FFF2-40B4-BE49-F238E27FC236}">
                <a16:creationId xmlns:a16="http://schemas.microsoft.com/office/drawing/2014/main" id="{CDCA6AD5-ECFB-21C4-B6B2-D17007C048B1}"/>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9725" b="12980"/>
          <a:stretch/>
        </p:blipFill>
        <p:spPr bwMode="auto">
          <a:xfrm>
            <a:off x="102870" y="1676400"/>
            <a:ext cx="8938260" cy="388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9465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3290F-CE5D-4AF3-B0B5-121E169D3B98}"/>
              </a:ext>
            </a:extLst>
          </p:cNvPr>
          <p:cNvSpPr>
            <a:spLocks noGrp="1"/>
          </p:cNvSpPr>
          <p:nvPr>
            <p:ph type="title"/>
          </p:nvPr>
        </p:nvSpPr>
        <p:spPr>
          <a:xfrm>
            <a:off x="628650" y="70790"/>
            <a:ext cx="7886700" cy="1529409"/>
          </a:xfrm>
        </p:spPr>
        <p:txBody>
          <a:bodyPr>
            <a:noAutofit/>
          </a:bodyPr>
          <a:lstStyle/>
          <a:p>
            <a:r>
              <a:rPr lang="ru-RU" sz="1600" dirty="0"/>
              <a:t>Показатели Качества </a:t>
            </a:r>
            <a:r>
              <a:rPr lang="ru-RU" sz="1600" dirty="0" err="1"/>
              <a:t>CatBoost</a:t>
            </a:r>
            <a:br>
              <a:rPr lang="ru-RU" sz="1600" dirty="0"/>
            </a:br>
            <a:r>
              <a:rPr lang="ru-RU" sz="1600" b="0" i="0" dirty="0">
                <a:solidFill>
                  <a:srgbClr val="9B9B9B"/>
                </a:solidFill>
                <a:effectLst/>
                <a:latin typeface="YS Text"/>
              </a:rPr>
              <a:t>Цифры в этой таблице представляют собой значения логарифмического отклонения (чем меньше, тем лучше) для режима классификации.</a:t>
            </a:r>
            <a:br>
              <a:rPr lang="ru-RU" sz="1600" b="0" i="0" dirty="0">
                <a:solidFill>
                  <a:srgbClr val="9B9B9B"/>
                </a:solidFill>
                <a:effectLst/>
                <a:latin typeface="YS Text"/>
              </a:rPr>
            </a:br>
            <a:r>
              <a:rPr lang="ru-RU" sz="1600" b="0" i="0" dirty="0">
                <a:solidFill>
                  <a:srgbClr val="9B9B9B"/>
                </a:solidFill>
                <a:effectLst/>
                <a:latin typeface="YS Text"/>
              </a:rPr>
              <a:t>Процент — это метрическая разница, измеренная относительно настроенных результатов </a:t>
            </a:r>
            <a:r>
              <a:rPr lang="ru-RU" sz="1600" b="0" i="0" dirty="0" err="1">
                <a:solidFill>
                  <a:srgbClr val="9B9B9B"/>
                </a:solidFill>
                <a:effectLst/>
                <a:latin typeface="YS Text"/>
              </a:rPr>
              <a:t>CatBoost</a:t>
            </a:r>
            <a:r>
              <a:rPr lang="ru-RU" sz="1600" b="0" i="0" dirty="0">
                <a:solidFill>
                  <a:srgbClr val="9B9B9B"/>
                </a:solidFill>
                <a:effectLst/>
                <a:latin typeface="YS Text"/>
              </a:rPr>
              <a:t> (</a:t>
            </a:r>
            <a:r>
              <a:rPr lang="en-US" sz="1600" b="0" i="0" dirty="0">
                <a:solidFill>
                  <a:srgbClr val="9B9B9B"/>
                </a:solidFill>
                <a:effectLst/>
                <a:latin typeface="YS Text"/>
              </a:rPr>
              <a:t>https://catboost.ai/#benchmark</a:t>
            </a:r>
            <a:r>
              <a:rPr lang="ru-RU" sz="1600" b="0" i="0" dirty="0">
                <a:solidFill>
                  <a:srgbClr val="9B9B9B"/>
                </a:solidFill>
                <a:effectLst/>
                <a:latin typeface="YS Text"/>
              </a:rPr>
              <a:t>).</a:t>
            </a:r>
            <a:br>
              <a:rPr lang="ru-RU" sz="1600" b="0" i="0" dirty="0">
                <a:solidFill>
                  <a:srgbClr val="9B9B9B"/>
                </a:solidFill>
                <a:effectLst/>
                <a:latin typeface="YS Text"/>
              </a:rPr>
            </a:br>
            <a:endParaRPr lang="ru-RU" sz="1600" dirty="0"/>
          </a:p>
        </p:txBody>
      </p:sp>
      <p:pic>
        <p:nvPicPr>
          <p:cNvPr id="7" name="Объект 6">
            <a:extLst>
              <a:ext uri="{FF2B5EF4-FFF2-40B4-BE49-F238E27FC236}">
                <a16:creationId xmlns:a16="http://schemas.microsoft.com/office/drawing/2014/main" id="{2EF32203-E480-4103-81FE-A2EB1EE43BB4}"/>
              </a:ext>
            </a:extLst>
          </p:cNvPr>
          <p:cNvPicPr>
            <a:picLocks noGrp="1" noChangeAspect="1"/>
          </p:cNvPicPr>
          <p:nvPr>
            <p:ph idx="1"/>
          </p:nvPr>
        </p:nvPicPr>
        <p:blipFill>
          <a:blip r:embed="rId2"/>
          <a:stretch>
            <a:fillRect/>
          </a:stretch>
        </p:blipFill>
        <p:spPr>
          <a:xfrm>
            <a:off x="1744402" y="1358900"/>
            <a:ext cx="5655195" cy="5362576"/>
          </a:xfrm>
        </p:spPr>
      </p:pic>
      <p:sp>
        <p:nvSpPr>
          <p:cNvPr id="4" name="Нижний колонтитул 3">
            <a:extLst>
              <a:ext uri="{FF2B5EF4-FFF2-40B4-BE49-F238E27FC236}">
                <a16:creationId xmlns:a16="http://schemas.microsoft.com/office/drawing/2014/main" id="{63F3E869-EF72-4909-BE33-206E18F2370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BEB3007-3060-4DE7-BC0E-C11C8AEA9CA0}"/>
              </a:ext>
            </a:extLst>
          </p:cNvPr>
          <p:cNvSpPr>
            <a:spLocks noGrp="1"/>
          </p:cNvSpPr>
          <p:nvPr>
            <p:ph type="sldNum" sz="quarter" idx="12"/>
          </p:nvPr>
        </p:nvSpPr>
        <p:spPr/>
        <p:txBody>
          <a:bodyPr/>
          <a:lstStyle/>
          <a:p>
            <a:fld id="{81C5FB71-5E9C-41B5-9BB8-3F1EBEAEB16A}" type="slidenum">
              <a:rPr lang="ru-RU" smtClean="0"/>
              <a:t>52</a:t>
            </a:fld>
            <a:endParaRPr lang="ru-RU"/>
          </a:p>
        </p:txBody>
      </p:sp>
    </p:spTree>
    <p:extLst>
      <p:ext uri="{BB962C8B-B14F-4D97-AF65-F5344CB8AC3E}">
        <p14:creationId xmlns:p14="http://schemas.microsoft.com/office/powerpoint/2010/main" val="19605033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6B4A05-48D4-4E52-8581-AC96B3376CD4}"/>
              </a:ext>
            </a:extLst>
          </p:cNvPr>
          <p:cNvSpPr>
            <a:spLocks noGrp="1"/>
          </p:cNvSpPr>
          <p:nvPr>
            <p:ph type="title"/>
          </p:nvPr>
        </p:nvSpPr>
        <p:spPr/>
        <p:txBody>
          <a:bodyPr>
            <a:normAutofit/>
          </a:bodyPr>
          <a:lstStyle/>
          <a:p>
            <a:r>
              <a:rPr lang="ru-RU" dirty="0"/>
              <a:t>Показатели Скорость обучения </a:t>
            </a:r>
            <a:r>
              <a:rPr lang="ru-RU" sz="2800" dirty="0" err="1"/>
              <a:t>CatBoost</a:t>
            </a:r>
            <a:endParaRPr lang="ru-RU" dirty="0"/>
          </a:p>
        </p:txBody>
      </p:sp>
      <p:pic>
        <p:nvPicPr>
          <p:cNvPr id="7" name="Объект 6">
            <a:extLst>
              <a:ext uri="{FF2B5EF4-FFF2-40B4-BE49-F238E27FC236}">
                <a16:creationId xmlns:a16="http://schemas.microsoft.com/office/drawing/2014/main" id="{254B5658-A5A8-4532-9610-EBFD828C9026}"/>
              </a:ext>
            </a:extLst>
          </p:cNvPr>
          <p:cNvPicPr>
            <a:picLocks noGrp="1" noChangeAspect="1"/>
          </p:cNvPicPr>
          <p:nvPr>
            <p:ph idx="1"/>
          </p:nvPr>
        </p:nvPicPr>
        <p:blipFill>
          <a:blip r:embed="rId2"/>
          <a:stretch>
            <a:fillRect/>
          </a:stretch>
        </p:blipFill>
        <p:spPr>
          <a:xfrm>
            <a:off x="1054599" y="920477"/>
            <a:ext cx="6587159" cy="2767343"/>
          </a:xfrm>
        </p:spPr>
      </p:pic>
      <p:sp>
        <p:nvSpPr>
          <p:cNvPr id="4" name="Нижний колонтитул 3">
            <a:extLst>
              <a:ext uri="{FF2B5EF4-FFF2-40B4-BE49-F238E27FC236}">
                <a16:creationId xmlns:a16="http://schemas.microsoft.com/office/drawing/2014/main" id="{14A553F8-0D77-41A7-B277-21F3C84C836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A2DD530-58B0-4DD8-A07E-82332933A5C0}"/>
              </a:ext>
            </a:extLst>
          </p:cNvPr>
          <p:cNvSpPr>
            <a:spLocks noGrp="1"/>
          </p:cNvSpPr>
          <p:nvPr>
            <p:ph type="sldNum" sz="quarter" idx="12"/>
          </p:nvPr>
        </p:nvSpPr>
        <p:spPr/>
        <p:txBody>
          <a:bodyPr/>
          <a:lstStyle/>
          <a:p>
            <a:fld id="{81C5FB71-5E9C-41B5-9BB8-3F1EBEAEB16A}" type="slidenum">
              <a:rPr lang="ru-RU" smtClean="0"/>
              <a:t>53</a:t>
            </a:fld>
            <a:endParaRPr lang="ru-RU"/>
          </a:p>
        </p:txBody>
      </p:sp>
      <p:pic>
        <p:nvPicPr>
          <p:cNvPr id="9" name="Рисунок 8">
            <a:extLst>
              <a:ext uri="{FF2B5EF4-FFF2-40B4-BE49-F238E27FC236}">
                <a16:creationId xmlns:a16="http://schemas.microsoft.com/office/drawing/2014/main" id="{E8BB3FB2-EB5B-4B93-AB96-477B828AF145}"/>
              </a:ext>
            </a:extLst>
          </p:cNvPr>
          <p:cNvPicPr>
            <a:picLocks noChangeAspect="1"/>
          </p:cNvPicPr>
          <p:nvPr/>
        </p:nvPicPr>
        <p:blipFill>
          <a:blip r:embed="rId3"/>
          <a:stretch>
            <a:fillRect/>
          </a:stretch>
        </p:blipFill>
        <p:spPr>
          <a:xfrm>
            <a:off x="1054599" y="4012181"/>
            <a:ext cx="6587159" cy="2709295"/>
          </a:xfrm>
          <a:prstGeom prst="rect">
            <a:avLst/>
          </a:prstGeom>
        </p:spPr>
      </p:pic>
    </p:spTree>
    <p:extLst>
      <p:ext uri="{BB962C8B-B14F-4D97-AF65-F5344CB8AC3E}">
        <p14:creationId xmlns:p14="http://schemas.microsoft.com/office/powerpoint/2010/main" val="24138189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16433A-5982-4100-ADE7-A064F1C63ECC}"/>
              </a:ext>
            </a:extLst>
          </p:cNvPr>
          <p:cNvSpPr>
            <a:spLocks noGrp="1"/>
          </p:cNvSpPr>
          <p:nvPr>
            <p:ph type="title"/>
          </p:nvPr>
        </p:nvSpPr>
        <p:spPr/>
        <p:txBody>
          <a:bodyPr>
            <a:normAutofit/>
          </a:bodyPr>
          <a:lstStyle/>
          <a:p>
            <a:pPr algn="ctr"/>
            <a:r>
              <a:rPr lang="ru-RU" dirty="0"/>
              <a:t>Установка и пример использования </a:t>
            </a:r>
            <a:r>
              <a:rPr lang="en-US" dirty="0" err="1"/>
              <a:t>CatBoost</a:t>
            </a:r>
            <a:endParaRPr lang="ru-RU" dirty="0"/>
          </a:p>
        </p:txBody>
      </p:sp>
      <p:sp>
        <p:nvSpPr>
          <p:cNvPr id="3" name="Объект 2">
            <a:extLst>
              <a:ext uri="{FF2B5EF4-FFF2-40B4-BE49-F238E27FC236}">
                <a16:creationId xmlns:a16="http://schemas.microsoft.com/office/drawing/2014/main" id="{90C83AFB-6EE6-497F-A096-C72EE3481FC0}"/>
              </a:ext>
            </a:extLst>
          </p:cNvPr>
          <p:cNvSpPr>
            <a:spLocks noGrp="1"/>
          </p:cNvSpPr>
          <p:nvPr>
            <p:ph idx="1"/>
          </p:nvPr>
        </p:nvSpPr>
        <p:spPr/>
        <p:txBody>
          <a:bodyPr/>
          <a:lstStyle/>
          <a:p>
            <a:pPr marL="0" indent="0">
              <a:buNone/>
            </a:pPr>
            <a:r>
              <a:rPr lang="ru-RU" dirty="0"/>
              <a:t>Установка </a:t>
            </a:r>
            <a:r>
              <a:rPr lang="ru-RU" dirty="0" err="1"/>
              <a:t>CatBoost</a:t>
            </a:r>
            <a:r>
              <a:rPr lang="ru-RU" dirty="0"/>
              <a:t> достаточно проста и может быть выполнена через пакетный менеджер Python — </a:t>
            </a:r>
            <a:r>
              <a:rPr lang="ru-RU" dirty="0" err="1"/>
              <a:t>pip</a:t>
            </a:r>
            <a:r>
              <a:rPr lang="ru-RU" dirty="0"/>
              <a:t>. </a:t>
            </a:r>
          </a:p>
          <a:p>
            <a:pPr marL="0" indent="0">
              <a:buNone/>
            </a:pPr>
            <a:endParaRPr lang="ru-RU" dirty="0">
              <a:latin typeface="Consolas" panose="020B0609020204030204" pitchFamily="49" charset="0"/>
            </a:endParaRPr>
          </a:p>
          <a:p>
            <a:pPr marL="0" indent="0">
              <a:buNone/>
            </a:pPr>
            <a:endParaRPr lang="ru-RU" sz="1600" b="0" i="0" dirty="0">
              <a:effectLst/>
            </a:endParaRPr>
          </a:p>
          <a:p>
            <a:pPr marL="0" indent="0">
              <a:buNone/>
            </a:pPr>
            <a:endParaRPr lang="ru-RU" sz="1600" dirty="0"/>
          </a:p>
        </p:txBody>
      </p:sp>
      <p:sp>
        <p:nvSpPr>
          <p:cNvPr id="4" name="Нижний колонтитул 3">
            <a:extLst>
              <a:ext uri="{FF2B5EF4-FFF2-40B4-BE49-F238E27FC236}">
                <a16:creationId xmlns:a16="http://schemas.microsoft.com/office/drawing/2014/main" id="{CF7C0A4E-D7EB-4B62-8B2B-447927B5B87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F2DBD03-A826-49AE-B437-57CDF18067BE}"/>
              </a:ext>
            </a:extLst>
          </p:cNvPr>
          <p:cNvSpPr>
            <a:spLocks noGrp="1"/>
          </p:cNvSpPr>
          <p:nvPr>
            <p:ph type="sldNum" sz="quarter" idx="12"/>
          </p:nvPr>
        </p:nvSpPr>
        <p:spPr/>
        <p:txBody>
          <a:bodyPr/>
          <a:lstStyle/>
          <a:p>
            <a:fld id="{81C5FB71-5E9C-41B5-9BB8-3F1EBEAEB16A}" type="slidenum">
              <a:rPr lang="ru-RU" smtClean="0"/>
              <a:t>54</a:t>
            </a:fld>
            <a:endParaRPr lang="ru-RU"/>
          </a:p>
        </p:txBody>
      </p:sp>
      <p:pic>
        <p:nvPicPr>
          <p:cNvPr id="7" name="Рисунок 6">
            <a:extLst>
              <a:ext uri="{FF2B5EF4-FFF2-40B4-BE49-F238E27FC236}">
                <a16:creationId xmlns:a16="http://schemas.microsoft.com/office/drawing/2014/main" id="{E5C677C9-13D0-4922-92FF-31045384664D}"/>
              </a:ext>
            </a:extLst>
          </p:cNvPr>
          <p:cNvPicPr>
            <a:picLocks noChangeAspect="1"/>
          </p:cNvPicPr>
          <p:nvPr/>
        </p:nvPicPr>
        <p:blipFill>
          <a:blip r:embed="rId2"/>
          <a:stretch>
            <a:fillRect/>
          </a:stretch>
        </p:blipFill>
        <p:spPr>
          <a:xfrm>
            <a:off x="826534" y="2071278"/>
            <a:ext cx="7490931" cy="432689"/>
          </a:xfrm>
          <a:prstGeom prst="rect">
            <a:avLst/>
          </a:prstGeom>
        </p:spPr>
      </p:pic>
      <p:pic>
        <p:nvPicPr>
          <p:cNvPr id="13" name="Рисунок 12">
            <a:extLst>
              <a:ext uri="{FF2B5EF4-FFF2-40B4-BE49-F238E27FC236}">
                <a16:creationId xmlns:a16="http://schemas.microsoft.com/office/drawing/2014/main" id="{3021298A-626B-4776-BE52-A3CA1FC66032}"/>
              </a:ext>
            </a:extLst>
          </p:cNvPr>
          <p:cNvPicPr>
            <a:picLocks noChangeAspect="1"/>
          </p:cNvPicPr>
          <p:nvPr/>
        </p:nvPicPr>
        <p:blipFill>
          <a:blip r:embed="rId3"/>
          <a:stretch>
            <a:fillRect/>
          </a:stretch>
        </p:blipFill>
        <p:spPr>
          <a:xfrm>
            <a:off x="826535" y="2694052"/>
            <a:ext cx="7490930" cy="3749972"/>
          </a:xfrm>
          <a:prstGeom prst="rect">
            <a:avLst/>
          </a:prstGeom>
        </p:spPr>
      </p:pic>
    </p:spTree>
    <p:extLst>
      <p:ext uri="{BB962C8B-B14F-4D97-AF65-F5344CB8AC3E}">
        <p14:creationId xmlns:p14="http://schemas.microsoft.com/office/powerpoint/2010/main" val="12488706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13E15B-6E66-4D0D-B017-FFBBA9CAF2D3}"/>
              </a:ext>
            </a:extLst>
          </p:cNvPr>
          <p:cNvSpPr>
            <a:spLocks noGrp="1"/>
          </p:cNvSpPr>
          <p:nvPr>
            <p:ph type="title"/>
          </p:nvPr>
        </p:nvSpPr>
        <p:spPr/>
        <p:txBody>
          <a:bodyPr/>
          <a:lstStyle/>
          <a:p>
            <a:pPr algn="ctr"/>
            <a:r>
              <a:rPr lang="ru-RU" dirty="0"/>
              <a:t>Преимущества и недостатки </a:t>
            </a:r>
            <a:r>
              <a:rPr lang="en-US" dirty="0" err="1"/>
              <a:t>CatBoost</a:t>
            </a:r>
            <a:endParaRPr lang="ru-RU" dirty="0"/>
          </a:p>
        </p:txBody>
      </p:sp>
      <p:sp>
        <p:nvSpPr>
          <p:cNvPr id="3" name="Объект 2">
            <a:extLst>
              <a:ext uri="{FF2B5EF4-FFF2-40B4-BE49-F238E27FC236}">
                <a16:creationId xmlns:a16="http://schemas.microsoft.com/office/drawing/2014/main" id="{52A6B49D-6012-4799-B849-7CD8EA63BFA2}"/>
              </a:ext>
            </a:extLst>
          </p:cNvPr>
          <p:cNvSpPr>
            <a:spLocks noGrp="1"/>
          </p:cNvSpPr>
          <p:nvPr>
            <p:ph idx="1"/>
          </p:nvPr>
        </p:nvSpPr>
        <p:spPr/>
        <p:txBody>
          <a:bodyPr>
            <a:normAutofit/>
          </a:bodyPr>
          <a:lstStyle/>
          <a:p>
            <a:pPr marL="0" indent="0" algn="l">
              <a:buNone/>
            </a:pPr>
            <a:r>
              <a:rPr lang="ru-RU" sz="2400" b="0" i="1" u="sng" dirty="0">
                <a:solidFill>
                  <a:srgbClr val="333333"/>
                </a:solidFill>
                <a:effectLst/>
              </a:rPr>
              <a:t>Преимущества</a:t>
            </a:r>
            <a:r>
              <a:rPr lang="ru-RU" sz="2400" b="0" i="0" dirty="0">
                <a:solidFill>
                  <a:srgbClr val="333333"/>
                </a:solidFill>
                <a:effectLst/>
              </a:rPr>
              <a:t>:</a:t>
            </a:r>
          </a:p>
          <a:p>
            <a:pPr algn="l">
              <a:buFont typeface="Arial" panose="020B0604020202020204" pitchFamily="34" charset="0"/>
              <a:buChar char="•"/>
            </a:pPr>
            <a:r>
              <a:rPr lang="ru-RU" sz="2400" b="0" i="0" dirty="0">
                <a:solidFill>
                  <a:srgbClr val="333333"/>
                </a:solidFill>
                <a:effectLst/>
              </a:rPr>
              <a:t>высокая точность и скорость обучения в большинстве случаев;</a:t>
            </a:r>
          </a:p>
          <a:p>
            <a:pPr algn="l">
              <a:buFont typeface="Arial" panose="020B0604020202020204" pitchFamily="34" charset="0"/>
              <a:buChar char="•"/>
            </a:pPr>
            <a:r>
              <a:rPr lang="ru-RU" sz="2400" b="0" i="0" dirty="0">
                <a:solidFill>
                  <a:srgbClr val="333333"/>
                </a:solidFill>
                <a:effectLst/>
              </a:rPr>
              <a:t>возможность работы с категориальными признаками;</a:t>
            </a:r>
          </a:p>
          <a:p>
            <a:pPr algn="l">
              <a:buFont typeface="Arial" panose="020B0604020202020204" pitchFamily="34" charset="0"/>
              <a:buChar char="•"/>
            </a:pPr>
            <a:r>
              <a:rPr lang="ru-RU" sz="2400" b="0" i="0" dirty="0">
                <a:solidFill>
                  <a:srgbClr val="333333"/>
                </a:solidFill>
                <a:effectLst/>
              </a:rPr>
              <a:t>большое количество </a:t>
            </a:r>
            <a:r>
              <a:rPr lang="ru-RU" sz="2400" b="0" i="0" dirty="0" err="1">
                <a:solidFill>
                  <a:srgbClr val="333333"/>
                </a:solidFill>
                <a:effectLst/>
              </a:rPr>
              <a:t>гиперпараметров</a:t>
            </a:r>
            <a:r>
              <a:rPr lang="ru-RU" sz="2400" b="0" i="0" dirty="0">
                <a:solidFill>
                  <a:srgbClr val="333333"/>
                </a:solidFill>
                <a:effectLst/>
              </a:rPr>
              <a:t> для настройки алгоритма;</a:t>
            </a:r>
          </a:p>
          <a:p>
            <a:pPr algn="l">
              <a:buFont typeface="Arial" panose="020B0604020202020204" pitchFamily="34" charset="0"/>
              <a:buChar char="•"/>
            </a:pPr>
            <a:r>
              <a:rPr lang="ru-RU" sz="2400" b="0" i="0" dirty="0">
                <a:solidFill>
                  <a:srgbClr val="333333"/>
                </a:solidFill>
                <a:effectLst/>
              </a:rPr>
              <a:t>применяется для многих задач.</a:t>
            </a:r>
          </a:p>
          <a:p>
            <a:pPr marL="0" indent="0" algn="l">
              <a:buNone/>
            </a:pPr>
            <a:r>
              <a:rPr lang="ru-RU" sz="2400" b="0" i="1" u="sng" dirty="0">
                <a:solidFill>
                  <a:srgbClr val="333333"/>
                </a:solidFill>
                <a:effectLst/>
              </a:rPr>
              <a:t>Недостатки</a:t>
            </a:r>
            <a:r>
              <a:rPr lang="ru-RU" sz="2400" b="0" i="0" dirty="0">
                <a:solidFill>
                  <a:srgbClr val="333333"/>
                </a:solidFill>
                <a:effectLst/>
              </a:rPr>
              <a:t>:</a:t>
            </a:r>
          </a:p>
          <a:p>
            <a:pPr algn="l">
              <a:buFont typeface="Arial" panose="020B0604020202020204" pitchFamily="34" charset="0"/>
              <a:buChar char="•"/>
            </a:pPr>
            <a:r>
              <a:rPr lang="ru-RU" sz="2400" b="0" i="0" dirty="0">
                <a:solidFill>
                  <a:srgbClr val="333333"/>
                </a:solidFill>
                <a:effectLst/>
              </a:rPr>
              <a:t>нестабильная работа с несбалансированными данными;</a:t>
            </a:r>
          </a:p>
          <a:p>
            <a:pPr algn="l">
              <a:buFont typeface="Arial" panose="020B0604020202020204" pitchFamily="34" charset="0"/>
              <a:buChar char="•"/>
            </a:pPr>
            <a:r>
              <a:rPr lang="ru-RU" sz="2400" b="0" i="0" dirty="0">
                <a:solidFill>
                  <a:srgbClr val="333333"/>
                </a:solidFill>
                <a:effectLst/>
              </a:rPr>
              <a:t>сложность в конфигурации из-за большого количества </a:t>
            </a:r>
            <a:r>
              <a:rPr lang="ru-RU" sz="2400" b="0" i="0" dirty="0" err="1">
                <a:solidFill>
                  <a:srgbClr val="333333"/>
                </a:solidFill>
                <a:effectLst/>
              </a:rPr>
              <a:t>гиперпараметров</a:t>
            </a:r>
            <a:r>
              <a:rPr lang="en-US" sz="2400" b="0" i="0" dirty="0">
                <a:solidFill>
                  <a:srgbClr val="333333"/>
                </a:solidFill>
                <a:effectLst/>
              </a:rPr>
              <a:t>.</a:t>
            </a:r>
            <a:endParaRPr lang="ru-RU" sz="2400" dirty="0"/>
          </a:p>
        </p:txBody>
      </p:sp>
      <p:sp>
        <p:nvSpPr>
          <p:cNvPr id="4" name="Нижний колонтитул 3">
            <a:extLst>
              <a:ext uri="{FF2B5EF4-FFF2-40B4-BE49-F238E27FC236}">
                <a16:creationId xmlns:a16="http://schemas.microsoft.com/office/drawing/2014/main" id="{2A108811-873E-4B86-86A0-743F9A6C3F1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1A51CAE-ACEB-4B79-85D2-0ACADB93B868}"/>
              </a:ext>
            </a:extLst>
          </p:cNvPr>
          <p:cNvSpPr>
            <a:spLocks noGrp="1"/>
          </p:cNvSpPr>
          <p:nvPr>
            <p:ph type="sldNum" sz="quarter" idx="12"/>
          </p:nvPr>
        </p:nvSpPr>
        <p:spPr/>
        <p:txBody>
          <a:bodyPr/>
          <a:lstStyle/>
          <a:p>
            <a:fld id="{81C5FB71-5E9C-41B5-9BB8-3F1EBEAEB16A}" type="slidenum">
              <a:rPr lang="ru-RU" smtClean="0"/>
              <a:t>55</a:t>
            </a:fld>
            <a:endParaRPr lang="ru-RU"/>
          </a:p>
        </p:txBody>
      </p:sp>
    </p:spTree>
    <p:extLst>
      <p:ext uri="{BB962C8B-B14F-4D97-AF65-F5344CB8AC3E}">
        <p14:creationId xmlns:p14="http://schemas.microsoft.com/office/powerpoint/2010/main" val="33758796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ED7ECE-8D17-4B7D-B20E-1032E16674F9}"/>
              </a:ext>
            </a:extLst>
          </p:cNvPr>
          <p:cNvSpPr>
            <a:spLocks noGrp="1"/>
          </p:cNvSpPr>
          <p:nvPr>
            <p:ph type="title"/>
          </p:nvPr>
        </p:nvSpPr>
        <p:spPr/>
        <p:txBody>
          <a:bodyPr/>
          <a:lstStyle/>
          <a:p>
            <a:pPr algn="ctr"/>
            <a:r>
              <a:rPr lang="en-US" dirty="0" err="1"/>
              <a:t>LightGBM</a:t>
            </a:r>
            <a:endParaRPr lang="ru-RU" dirty="0"/>
          </a:p>
        </p:txBody>
      </p:sp>
      <p:sp>
        <p:nvSpPr>
          <p:cNvPr id="3" name="Объект 2">
            <a:extLst>
              <a:ext uri="{FF2B5EF4-FFF2-40B4-BE49-F238E27FC236}">
                <a16:creationId xmlns:a16="http://schemas.microsoft.com/office/drawing/2014/main" id="{BAE046FD-761D-45B4-B172-87079FC27D90}"/>
              </a:ext>
            </a:extLst>
          </p:cNvPr>
          <p:cNvSpPr>
            <a:spLocks noGrp="1"/>
          </p:cNvSpPr>
          <p:nvPr>
            <p:ph idx="1"/>
          </p:nvPr>
        </p:nvSpPr>
        <p:spPr/>
        <p:txBody>
          <a:bodyPr/>
          <a:lstStyle/>
          <a:p>
            <a:r>
              <a:rPr lang="ru-RU" b="1" dirty="0"/>
              <a:t>Light </a:t>
            </a:r>
            <a:r>
              <a:rPr lang="ru-RU" b="1" dirty="0" err="1"/>
              <a:t>Gradient</a:t>
            </a:r>
            <a:r>
              <a:rPr lang="ru-RU" b="1" dirty="0"/>
              <a:t> </a:t>
            </a:r>
            <a:r>
              <a:rPr lang="ru-RU" b="1" dirty="0" err="1"/>
              <a:t>Boosted</a:t>
            </a:r>
            <a:r>
              <a:rPr lang="ru-RU" b="1" dirty="0"/>
              <a:t> Machine </a:t>
            </a:r>
            <a:r>
              <a:rPr lang="ru-RU" dirty="0"/>
              <a:t>(далее — </a:t>
            </a:r>
            <a:r>
              <a:rPr lang="ru-RU" dirty="0" err="1"/>
              <a:t>LightGBM</a:t>
            </a:r>
            <a:r>
              <a:rPr lang="ru-RU" dirty="0"/>
              <a:t>), библиотека с открытым исходным кодом, которая предоставляет эффективную и действенную реализацию алгоритма градиентного </a:t>
            </a:r>
            <a:r>
              <a:rPr lang="ru-RU" dirty="0" err="1"/>
              <a:t>бустинга</a:t>
            </a:r>
            <a:r>
              <a:rPr lang="ru-RU" dirty="0"/>
              <a:t>. </a:t>
            </a:r>
            <a:endParaRPr lang="en-US" dirty="0"/>
          </a:p>
          <a:p>
            <a:r>
              <a:rPr lang="ru-RU" b="1" i="0" dirty="0">
                <a:solidFill>
                  <a:srgbClr val="333333"/>
                </a:solidFill>
                <a:effectLst/>
                <a:latin typeface="-apple-system"/>
              </a:rPr>
              <a:t>Градиентная односторонняя выборка </a:t>
            </a:r>
            <a:r>
              <a:rPr lang="ru-RU" b="0" i="0" dirty="0">
                <a:solidFill>
                  <a:srgbClr val="333333"/>
                </a:solidFill>
                <a:effectLst/>
                <a:latin typeface="-apple-system"/>
              </a:rPr>
              <a:t>(GOSS) является модификацией градиентного </a:t>
            </a:r>
            <a:r>
              <a:rPr lang="ru-RU" b="0" i="0" dirty="0" err="1">
                <a:solidFill>
                  <a:srgbClr val="333333"/>
                </a:solidFill>
                <a:effectLst/>
                <a:latin typeface="-apple-system"/>
              </a:rPr>
              <a:t>бустинга</a:t>
            </a:r>
            <a:r>
              <a:rPr lang="ru-RU" b="0" i="0" dirty="0">
                <a:solidFill>
                  <a:srgbClr val="333333"/>
                </a:solidFill>
                <a:effectLst/>
                <a:latin typeface="-apple-system"/>
              </a:rPr>
              <a:t>, который фокусирует внимание на тех учебных примерах, которые приводят к большему градиенту, в свою очередь, ускоряя обучение и уменьшая вычислительную сложность метода.</a:t>
            </a:r>
            <a:endParaRPr lang="en-US" b="0" i="0" dirty="0">
              <a:solidFill>
                <a:srgbClr val="333333"/>
              </a:solidFill>
              <a:effectLst/>
              <a:latin typeface="-apple-system"/>
            </a:endParaRPr>
          </a:p>
          <a:p>
            <a:r>
              <a:rPr lang="ru-RU" b="1" i="0" dirty="0" err="1">
                <a:solidFill>
                  <a:srgbClr val="333333"/>
                </a:solidFill>
                <a:effectLst/>
                <a:latin typeface="-apple-system"/>
              </a:rPr>
              <a:t>Exclusive</a:t>
            </a:r>
            <a:r>
              <a:rPr lang="ru-RU" b="1" i="0" dirty="0">
                <a:solidFill>
                  <a:srgbClr val="333333"/>
                </a:solidFill>
                <a:effectLst/>
                <a:latin typeface="-apple-system"/>
              </a:rPr>
              <a:t> </a:t>
            </a:r>
            <a:r>
              <a:rPr lang="ru-RU" b="1" i="0" dirty="0" err="1">
                <a:solidFill>
                  <a:srgbClr val="333333"/>
                </a:solidFill>
                <a:effectLst/>
                <a:latin typeface="-apple-system"/>
              </a:rPr>
              <a:t>Feature</a:t>
            </a:r>
            <a:r>
              <a:rPr lang="ru-RU" b="1" i="0" dirty="0">
                <a:solidFill>
                  <a:srgbClr val="333333"/>
                </a:solidFill>
                <a:effectLst/>
                <a:latin typeface="-apple-system"/>
              </a:rPr>
              <a:t> </a:t>
            </a:r>
            <a:r>
              <a:rPr lang="ru-RU" b="1" i="0" dirty="0" err="1">
                <a:solidFill>
                  <a:srgbClr val="333333"/>
                </a:solidFill>
                <a:effectLst/>
                <a:latin typeface="-apple-system"/>
              </a:rPr>
              <a:t>Bundling</a:t>
            </a:r>
            <a:r>
              <a:rPr lang="ru-RU" b="1" i="0" dirty="0">
                <a:solidFill>
                  <a:srgbClr val="333333"/>
                </a:solidFill>
                <a:effectLst/>
                <a:latin typeface="-apple-system"/>
              </a:rPr>
              <a:t> </a:t>
            </a:r>
            <a:r>
              <a:rPr lang="ru-RU" b="0" i="0" dirty="0">
                <a:solidFill>
                  <a:srgbClr val="333333"/>
                </a:solidFill>
                <a:effectLst/>
                <a:latin typeface="-apple-system"/>
              </a:rPr>
              <a:t>(объединение взаимоисключающих признаков), или EFB, — это подход объединения разрежённых (в основном нулевых) взаимоисключающих признаков, таких как категориальные переменные входных данных, закодированные унитарным кодированием.</a:t>
            </a:r>
            <a:br>
              <a:rPr lang="ru-RU" dirty="0"/>
            </a:br>
            <a:endParaRPr lang="ru-RU" dirty="0"/>
          </a:p>
        </p:txBody>
      </p:sp>
      <p:sp>
        <p:nvSpPr>
          <p:cNvPr id="4" name="Нижний колонтитул 3">
            <a:extLst>
              <a:ext uri="{FF2B5EF4-FFF2-40B4-BE49-F238E27FC236}">
                <a16:creationId xmlns:a16="http://schemas.microsoft.com/office/drawing/2014/main" id="{3978C044-CFD7-41B8-BEE5-95447A4A3E2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BDAD909-D043-45A4-A535-3AC70CDFC119}"/>
              </a:ext>
            </a:extLst>
          </p:cNvPr>
          <p:cNvSpPr>
            <a:spLocks noGrp="1"/>
          </p:cNvSpPr>
          <p:nvPr>
            <p:ph type="sldNum" sz="quarter" idx="12"/>
          </p:nvPr>
        </p:nvSpPr>
        <p:spPr/>
        <p:txBody>
          <a:bodyPr/>
          <a:lstStyle/>
          <a:p>
            <a:fld id="{81C5FB71-5E9C-41B5-9BB8-3F1EBEAEB16A}" type="slidenum">
              <a:rPr lang="ru-RU" smtClean="0"/>
              <a:t>56</a:t>
            </a:fld>
            <a:endParaRPr lang="ru-RU"/>
          </a:p>
        </p:txBody>
      </p:sp>
    </p:spTree>
    <p:extLst>
      <p:ext uri="{BB962C8B-B14F-4D97-AF65-F5344CB8AC3E}">
        <p14:creationId xmlns:p14="http://schemas.microsoft.com/office/powerpoint/2010/main" val="30341243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7A9A18-460D-0B27-6234-02F949109FD2}"/>
              </a:ext>
            </a:extLst>
          </p:cNvPr>
          <p:cNvSpPr>
            <a:spLocks noGrp="1"/>
          </p:cNvSpPr>
          <p:nvPr>
            <p:ph type="title"/>
          </p:nvPr>
        </p:nvSpPr>
        <p:spPr>
          <a:xfrm>
            <a:off x="628650" y="70791"/>
            <a:ext cx="7886700" cy="767409"/>
          </a:xfrm>
        </p:spPr>
        <p:txBody>
          <a:bodyPr>
            <a:normAutofit/>
          </a:bodyPr>
          <a:lstStyle/>
          <a:p>
            <a:pPr algn="ctr"/>
            <a:r>
              <a:rPr lang="en-US" sz="3400" dirty="0" err="1"/>
              <a:t>LightGBM</a:t>
            </a:r>
            <a:endParaRPr lang="ru-RU" sz="3400" dirty="0"/>
          </a:p>
        </p:txBody>
      </p:sp>
      <p:sp>
        <p:nvSpPr>
          <p:cNvPr id="4" name="Нижний колонтитул 3">
            <a:extLst>
              <a:ext uri="{FF2B5EF4-FFF2-40B4-BE49-F238E27FC236}">
                <a16:creationId xmlns:a16="http://schemas.microsoft.com/office/drawing/2014/main" id="{F334BD78-5972-1B03-AEE8-C1C77FCF241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A0BD7C5-7954-C2BE-FC5A-E0DFB64E5C8E}"/>
              </a:ext>
            </a:extLst>
          </p:cNvPr>
          <p:cNvSpPr>
            <a:spLocks noGrp="1"/>
          </p:cNvSpPr>
          <p:nvPr>
            <p:ph type="sldNum" sz="quarter" idx="12"/>
          </p:nvPr>
        </p:nvSpPr>
        <p:spPr/>
        <p:txBody>
          <a:bodyPr/>
          <a:lstStyle/>
          <a:p>
            <a:fld id="{81C5FB71-5E9C-41B5-9BB8-3F1EBEAEB16A}" type="slidenum">
              <a:rPr lang="ru-RU" smtClean="0"/>
              <a:t>57</a:t>
            </a:fld>
            <a:endParaRPr lang="ru-RU"/>
          </a:p>
        </p:txBody>
      </p:sp>
      <p:pic>
        <p:nvPicPr>
          <p:cNvPr id="13316" name="Picture 4" descr="Picture background">
            <a:extLst>
              <a:ext uri="{FF2B5EF4-FFF2-40B4-BE49-F238E27FC236}">
                <a16:creationId xmlns:a16="http://schemas.microsoft.com/office/drawing/2014/main" id="{504D49F4-F8BC-A23E-3ECD-DC7954F8C1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70" y="1728800"/>
            <a:ext cx="9055659" cy="3400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3911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592839-559E-4339-BC1D-D1F2697297D7}"/>
              </a:ext>
            </a:extLst>
          </p:cNvPr>
          <p:cNvSpPr>
            <a:spLocks noGrp="1"/>
          </p:cNvSpPr>
          <p:nvPr>
            <p:ph type="title"/>
          </p:nvPr>
        </p:nvSpPr>
        <p:spPr/>
        <p:txBody>
          <a:bodyPr/>
          <a:lstStyle/>
          <a:p>
            <a:pPr algn="ctr"/>
            <a:r>
              <a:rPr lang="en-US" dirty="0"/>
              <a:t>Scikit-Learn API </a:t>
            </a:r>
            <a:r>
              <a:rPr lang="ru-RU" dirty="0"/>
              <a:t>для </a:t>
            </a:r>
            <a:r>
              <a:rPr lang="en-US" dirty="0" err="1"/>
              <a:t>LightGBM</a:t>
            </a:r>
            <a:endParaRPr lang="ru-RU" dirty="0"/>
          </a:p>
        </p:txBody>
      </p:sp>
      <p:sp>
        <p:nvSpPr>
          <p:cNvPr id="3" name="Объект 2">
            <a:extLst>
              <a:ext uri="{FF2B5EF4-FFF2-40B4-BE49-F238E27FC236}">
                <a16:creationId xmlns:a16="http://schemas.microsoft.com/office/drawing/2014/main" id="{C81F18BF-38FF-48EC-850A-796A7B8E9BD7}"/>
              </a:ext>
            </a:extLst>
          </p:cNvPr>
          <p:cNvSpPr>
            <a:spLocks noGrp="1"/>
          </p:cNvSpPr>
          <p:nvPr>
            <p:ph idx="1"/>
          </p:nvPr>
        </p:nvSpPr>
        <p:spPr/>
        <p:txBody>
          <a:bodyPr>
            <a:normAutofit/>
          </a:bodyPr>
          <a:lstStyle/>
          <a:p>
            <a:pPr marL="0" indent="0">
              <a:buNone/>
            </a:pPr>
            <a:r>
              <a:rPr lang="ru-RU" b="0" i="0" dirty="0" err="1">
                <a:solidFill>
                  <a:srgbClr val="333333"/>
                </a:solidFill>
                <a:effectLst/>
                <a:latin typeface="-apple-system"/>
              </a:rPr>
              <a:t>LightGBM</a:t>
            </a:r>
            <a:r>
              <a:rPr lang="ru-RU" b="0" i="0" dirty="0">
                <a:solidFill>
                  <a:srgbClr val="333333"/>
                </a:solidFill>
                <a:effectLst/>
                <a:latin typeface="-apple-system"/>
              </a:rPr>
              <a:t> может устанавливаться как автономная библиотека, а модель </a:t>
            </a:r>
            <a:r>
              <a:rPr lang="ru-RU" b="0" i="0" dirty="0" err="1">
                <a:solidFill>
                  <a:srgbClr val="333333"/>
                </a:solidFill>
                <a:effectLst/>
                <a:latin typeface="-apple-system"/>
              </a:rPr>
              <a:t>LightGBM</a:t>
            </a:r>
            <a:r>
              <a:rPr lang="ru-RU" b="0" i="0" dirty="0">
                <a:solidFill>
                  <a:srgbClr val="333333"/>
                </a:solidFill>
                <a:effectLst/>
                <a:latin typeface="-apple-system"/>
              </a:rPr>
              <a:t> может разрабатываться с помощью API </a:t>
            </a:r>
            <a:r>
              <a:rPr lang="ru-RU" b="0" i="0" dirty="0" err="1">
                <a:solidFill>
                  <a:srgbClr val="333333"/>
                </a:solidFill>
                <a:effectLst/>
                <a:latin typeface="-apple-system"/>
              </a:rPr>
              <a:t>scikit-learn</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Первый шаг — установка библиотеки </a:t>
            </a:r>
            <a:r>
              <a:rPr lang="ru-RU" b="0" i="0" dirty="0" err="1">
                <a:solidFill>
                  <a:srgbClr val="333333"/>
                </a:solidFill>
                <a:effectLst/>
                <a:latin typeface="-apple-system"/>
              </a:rPr>
              <a:t>LightGBM</a:t>
            </a:r>
            <a:r>
              <a:rPr lang="ru-RU" b="0" i="0" dirty="0">
                <a:solidFill>
                  <a:srgbClr val="333333"/>
                </a:solidFill>
                <a:effectLst/>
                <a:latin typeface="-apple-system"/>
              </a:rPr>
              <a:t>. На большинстве платформ её можно выполнить с помощью менеджера пакетов </a:t>
            </a:r>
            <a:r>
              <a:rPr lang="ru-RU" b="0" i="0" dirty="0" err="1">
                <a:solidFill>
                  <a:srgbClr val="333333"/>
                </a:solidFill>
                <a:effectLst/>
                <a:latin typeface="-apple-system"/>
              </a:rPr>
              <a:t>pip</a:t>
            </a:r>
            <a:r>
              <a:rPr lang="ru-RU" b="0" i="0" dirty="0">
                <a:solidFill>
                  <a:srgbClr val="333333"/>
                </a:solidFill>
                <a:effectLst/>
                <a:latin typeface="-apple-system"/>
              </a:rPr>
              <a:t>,  например:</a:t>
            </a:r>
          </a:p>
          <a:p>
            <a:pPr marL="0" indent="0">
              <a:buNone/>
            </a:pPr>
            <a:endParaRPr lang="ru-RU" dirty="0"/>
          </a:p>
          <a:p>
            <a:pPr marL="0" indent="0">
              <a:buNone/>
            </a:pPr>
            <a:endParaRPr lang="en-US" b="0" i="0" dirty="0">
              <a:solidFill>
                <a:srgbClr val="333333"/>
              </a:solidFill>
              <a:effectLst/>
              <a:latin typeface="-apple-system"/>
            </a:endParaRPr>
          </a:p>
          <a:p>
            <a:pPr marL="0" indent="0">
              <a:buNone/>
            </a:pPr>
            <a:r>
              <a:rPr lang="ru-RU" b="0" i="0" dirty="0">
                <a:solidFill>
                  <a:srgbClr val="333333"/>
                </a:solidFill>
                <a:effectLst/>
                <a:latin typeface="-apple-system"/>
              </a:rPr>
              <a:t>Проверить установку и версию можно так:</a:t>
            </a:r>
            <a:endParaRPr lang="en-US" b="0" i="0" dirty="0">
              <a:solidFill>
                <a:srgbClr val="333333"/>
              </a:solidFill>
              <a:effectLst/>
              <a:latin typeface="-apple-system"/>
            </a:endParaRPr>
          </a:p>
          <a:p>
            <a:pPr marL="0" indent="0">
              <a:buNone/>
            </a:pPr>
            <a:endParaRPr lang="ru-RU" b="0" i="0" dirty="0">
              <a:solidFill>
                <a:srgbClr val="333333"/>
              </a:solidFill>
              <a:effectLst/>
              <a:latin typeface="-apple-system"/>
            </a:endParaRPr>
          </a:p>
          <a:p>
            <a:pPr marL="0" indent="0">
              <a:buNone/>
            </a:pPr>
            <a:endParaRPr lang="ru-RU" b="0" i="0" dirty="0">
              <a:solidFill>
                <a:srgbClr val="333333"/>
              </a:solidFill>
              <a:effectLst/>
              <a:latin typeface="-apple-system"/>
            </a:endParaRPr>
          </a:p>
        </p:txBody>
      </p:sp>
      <p:sp>
        <p:nvSpPr>
          <p:cNvPr id="4" name="Нижний колонтитул 3">
            <a:extLst>
              <a:ext uri="{FF2B5EF4-FFF2-40B4-BE49-F238E27FC236}">
                <a16:creationId xmlns:a16="http://schemas.microsoft.com/office/drawing/2014/main" id="{5C32C0CC-ED46-428E-8393-ADCB075EE543}"/>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EDD182B-A116-419B-9759-7DD0ECDC15C6}"/>
              </a:ext>
            </a:extLst>
          </p:cNvPr>
          <p:cNvSpPr>
            <a:spLocks noGrp="1"/>
          </p:cNvSpPr>
          <p:nvPr>
            <p:ph type="sldNum" sz="quarter" idx="12"/>
          </p:nvPr>
        </p:nvSpPr>
        <p:spPr/>
        <p:txBody>
          <a:bodyPr/>
          <a:lstStyle/>
          <a:p>
            <a:fld id="{81C5FB71-5E9C-41B5-9BB8-3F1EBEAEB16A}" type="slidenum">
              <a:rPr lang="ru-RU" smtClean="0"/>
              <a:t>58</a:t>
            </a:fld>
            <a:endParaRPr lang="ru-RU"/>
          </a:p>
        </p:txBody>
      </p:sp>
      <p:pic>
        <p:nvPicPr>
          <p:cNvPr id="10" name="Рисунок 9">
            <a:extLst>
              <a:ext uri="{FF2B5EF4-FFF2-40B4-BE49-F238E27FC236}">
                <a16:creationId xmlns:a16="http://schemas.microsoft.com/office/drawing/2014/main" id="{8A4A3C80-457E-4A6C-9F42-2D2CA5982729}"/>
              </a:ext>
            </a:extLst>
          </p:cNvPr>
          <p:cNvPicPr>
            <a:picLocks noChangeAspect="1"/>
          </p:cNvPicPr>
          <p:nvPr/>
        </p:nvPicPr>
        <p:blipFill>
          <a:blip r:embed="rId3"/>
          <a:stretch>
            <a:fillRect/>
          </a:stretch>
        </p:blipFill>
        <p:spPr>
          <a:xfrm>
            <a:off x="774700" y="3515899"/>
            <a:ext cx="6401693" cy="771633"/>
          </a:xfrm>
          <a:prstGeom prst="rect">
            <a:avLst/>
          </a:prstGeom>
        </p:spPr>
      </p:pic>
      <p:pic>
        <p:nvPicPr>
          <p:cNvPr id="12" name="Рисунок 11">
            <a:extLst>
              <a:ext uri="{FF2B5EF4-FFF2-40B4-BE49-F238E27FC236}">
                <a16:creationId xmlns:a16="http://schemas.microsoft.com/office/drawing/2014/main" id="{811846B7-AF82-489E-B0E3-9DBC34D8A2FD}"/>
              </a:ext>
            </a:extLst>
          </p:cNvPr>
          <p:cNvPicPr>
            <a:picLocks noChangeAspect="1"/>
          </p:cNvPicPr>
          <p:nvPr/>
        </p:nvPicPr>
        <p:blipFill>
          <a:blip r:embed="rId4"/>
          <a:stretch>
            <a:fillRect/>
          </a:stretch>
        </p:blipFill>
        <p:spPr>
          <a:xfrm>
            <a:off x="812805" y="4880006"/>
            <a:ext cx="6363588" cy="1238423"/>
          </a:xfrm>
          <a:prstGeom prst="rect">
            <a:avLst/>
          </a:prstGeom>
        </p:spPr>
      </p:pic>
    </p:spTree>
    <p:extLst>
      <p:ext uri="{BB962C8B-B14F-4D97-AF65-F5344CB8AC3E}">
        <p14:creationId xmlns:p14="http://schemas.microsoft.com/office/powerpoint/2010/main" val="25293940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F15991-4A9B-46FB-B075-CF0A5A4DB692}"/>
              </a:ext>
            </a:extLst>
          </p:cNvPr>
          <p:cNvSpPr>
            <a:spLocks noGrp="1"/>
          </p:cNvSpPr>
          <p:nvPr>
            <p:ph type="title"/>
          </p:nvPr>
        </p:nvSpPr>
        <p:spPr/>
        <p:txBody>
          <a:bodyPr/>
          <a:lstStyle/>
          <a:p>
            <a:pPr algn="ctr"/>
            <a:r>
              <a:rPr lang="ru-RU" dirty="0"/>
              <a:t>Ансамбль </a:t>
            </a:r>
            <a:r>
              <a:rPr lang="en-US" dirty="0" err="1"/>
              <a:t>LightGBM</a:t>
            </a:r>
            <a:r>
              <a:rPr lang="en-US" dirty="0"/>
              <a:t> </a:t>
            </a:r>
            <a:r>
              <a:rPr lang="ru-RU" dirty="0"/>
              <a:t>для классификации</a:t>
            </a:r>
          </a:p>
        </p:txBody>
      </p:sp>
      <p:sp>
        <p:nvSpPr>
          <p:cNvPr id="3" name="Объект 2">
            <a:extLst>
              <a:ext uri="{FF2B5EF4-FFF2-40B4-BE49-F238E27FC236}">
                <a16:creationId xmlns:a16="http://schemas.microsoft.com/office/drawing/2014/main" id="{1E1CAEB9-1D6C-408E-9147-A4AAD216A063}"/>
              </a:ext>
            </a:extLst>
          </p:cNvPr>
          <p:cNvSpPr>
            <a:spLocks noGrp="1"/>
          </p:cNvSpPr>
          <p:nvPr>
            <p:ph idx="1"/>
          </p:nvPr>
        </p:nvSpPr>
        <p:spPr/>
        <p:txBody>
          <a:bodyPr>
            <a:normAutofit fontScale="92500" lnSpcReduction="10000"/>
          </a:bodyPr>
          <a:lstStyle/>
          <a:p>
            <a:pPr marL="0" indent="0" algn="just">
              <a:buNone/>
            </a:pPr>
            <a:r>
              <a:rPr lang="ru-RU" b="0" i="0" dirty="0">
                <a:solidFill>
                  <a:srgbClr val="333333"/>
                </a:solidFill>
                <a:effectLst/>
                <a:latin typeface="-apple-system"/>
              </a:rPr>
              <a:t>В этом разделе рассмотрим применение </a:t>
            </a:r>
            <a:r>
              <a:rPr lang="ru-RU" b="0" i="0" dirty="0" err="1">
                <a:solidFill>
                  <a:srgbClr val="333333"/>
                </a:solidFill>
                <a:effectLst/>
                <a:latin typeface="-apple-system"/>
              </a:rPr>
              <a:t>LightGBM</a:t>
            </a:r>
            <a:r>
              <a:rPr lang="ru-RU" b="0" i="0" dirty="0">
                <a:solidFill>
                  <a:srgbClr val="333333"/>
                </a:solidFill>
                <a:effectLst/>
                <a:latin typeface="-apple-system"/>
              </a:rPr>
              <a:t> для задачи классификации. Во-первых, мы можем использовать функцию </a:t>
            </a:r>
            <a:r>
              <a:rPr lang="ru-RU" b="0" i="0" u="none" strike="noStrike" dirty="0">
                <a:effectLst/>
                <a:latin typeface="-apple-system"/>
              </a:rPr>
              <a:t>make_classification()</a:t>
            </a:r>
            <a:r>
              <a:rPr lang="ru-RU" b="0" i="0" dirty="0">
                <a:solidFill>
                  <a:srgbClr val="333333"/>
                </a:solidFill>
                <a:effectLst/>
                <a:latin typeface="-apple-system"/>
              </a:rPr>
              <a:t> создать синтетическую задачу бинарной классификации с 1000 примерами и 20 входными признаками.</a:t>
            </a:r>
            <a:endParaRPr lang="en-US" b="0" i="0" dirty="0">
              <a:solidFill>
                <a:srgbClr val="333333"/>
              </a:solidFill>
              <a:effectLst/>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endParaRPr lang="en-US" dirty="0">
              <a:solidFill>
                <a:srgbClr val="333333"/>
              </a:solidFill>
              <a:latin typeface="-apple-system"/>
            </a:endParaRPr>
          </a:p>
          <a:p>
            <a:pPr marL="0" indent="0" algn="just">
              <a:buNone/>
            </a:pPr>
            <a:r>
              <a:rPr lang="ru-RU" dirty="0">
                <a:solidFill>
                  <a:srgbClr val="333333"/>
                </a:solidFill>
                <a:latin typeface="-apple-system"/>
              </a:rPr>
              <a:t>Затем мы можем оценить алгоритм </a:t>
            </a:r>
            <a:r>
              <a:rPr lang="ru-RU" dirty="0" err="1">
                <a:solidFill>
                  <a:srgbClr val="333333"/>
                </a:solidFill>
                <a:latin typeface="-apple-system"/>
              </a:rPr>
              <a:t>LightGBM</a:t>
            </a:r>
            <a:r>
              <a:rPr lang="ru-RU" dirty="0">
                <a:solidFill>
                  <a:srgbClr val="333333"/>
                </a:solidFill>
                <a:latin typeface="-apple-system"/>
              </a:rPr>
              <a:t> на этом наборе данных. Мы будем оценивать модель с помощью повторной стратифицированной k-кратной кросс-валидации с тремя повторами и k, равным 10. Мы сообщим среднее и стандартное отклонения точности модели по всем повторениям и сгибам.</a:t>
            </a:r>
            <a:endParaRPr lang="ru-RU" dirty="0"/>
          </a:p>
        </p:txBody>
      </p:sp>
      <p:sp>
        <p:nvSpPr>
          <p:cNvPr id="4" name="Нижний колонтитул 3">
            <a:extLst>
              <a:ext uri="{FF2B5EF4-FFF2-40B4-BE49-F238E27FC236}">
                <a16:creationId xmlns:a16="http://schemas.microsoft.com/office/drawing/2014/main" id="{4CEC9AEC-5AAF-4991-94F3-C124E59697D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55278639-066F-47AF-A934-1B2A4C88918E}"/>
              </a:ext>
            </a:extLst>
          </p:cNvPr>
          <p:cNvSpPr>
            <a:spLocks noGrp="1"/>
          </p:cNvSpPr>
          <p:nvPr>
            <p:ph type="sldNum" sz="quarter" idx="12"/>
          </p:nvPr>
        </p:nvSpPr>
        <p:spPr/>
        <p:txBody>
          <a:bodyPr/>
          <a:lstStyle/>
          <a:p>
            <a:fld id="{81C5FB71-5E9C-41B5-9BB8-3F1EBEAEB16A}" type="slidenum">
              <a:rPr lang="ru-RU" smtClean="0"/>
              <a:t>59</a:t>
            </a:fld>
            <a:endParaRPr lang="ru-RU"/>
          </a:p>
        </p:txBody>
      </p:sp>
      <p:pic>
        <p:nvPicPr>
          <p:cNvPr id="7" name="Рисунок 6">
            <a:extLst>
              <a:ext uri="{FF2B5EF4-FFF2-40B4-BE49-F238E27FC236}">
                <a16:creationId xmlns:a16="http://schemas.microsoft.com/office/drawing/2014/main" id="{7DAF38D4-3FB0-47EF-94C5-EE0AE76D5F54}"/>
              </a:ext>
            </a:extLst>
          </p:cNvPr>
          <p:cNvPicPr>
            <a:picLocks noChangeAspect="1"/>
          </p:cNvPicPr>
          <p:nvPr/>
        </p:nvPicPr>
        <p:blipFill>
          <a:blip r:embed="rId3"/>
          <a:stretch>
            <a:fillRect/>
          </a:stretch>
        </p:blipFill>
        <p:spPr>
          <a:xfrm>
            <a:off x="1356864" y="2438400"/>
            <a:ext cx="6430272" cy="2295845"/>
          </a:xfrm>
          <a:prstGeom prst="rect">
            <a:avLst/>
          </a:prstGeom>
        </p:spPr>
      </p:pic>
    </p:spTree>
    <p:extLst>
      <p:ext uri="{BB962C8B-B14F-4D97-AF65-F5344CB8AC3E}">
        <p14:creationId xmlns:p14="http://schemas.microsoft.com/office/powerpoint/2010/main" val="29040147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396AC4-94E7-493D-9CF7-4D57A3C8F79B}"/>
              </a:ext>
            </a:extLst>
          </p:cNvPr>
          <p:cNvSpPr>
            <a:spLocks noGrp="1"/>
          </p:cNvSpPr>
          <p:nvPr>
            <p:ph type="title"/>
          </p:nvPr>
        </p:nvSpPr>
        <p:spPr/>
        <p:txBody>
          <a:bodyPr/>
          <a:lstStyle/>
          <a:p>
            <a:pPr algn="ctr"/>
            <a:r>
              <a:rPr lang="ru-RU" dirty="0"/>
              <a:t>Ансамбль </a:t>
            </a:r>
            <a:r>
              <a:rPr lang="en-US" dirty="0" err="1"/>
              <a:t>LightGBM</a:t>
            </a:r>
            <a:r>
              <a:rPr lang="en-US" dirty="0"/>
              <a:t> </a:t>
            </a:r>
            <a:r>
              <a:rPr lang="ru-RU" dirty="0"/>
              <a:t>для классификации</a:t>
            </a:r>
          </a:p>
        </p:txBody>
      </p:sp>
      <p:pic>
        <p:nvPicPr>
          <p:cNvPr id="9" name="Объект 8">
            <a:extLst>
              <a:ext uri="{FF2B5EF4-FFF2-40B4-BE49-F238E27FC236}">
                <a16:creationId xmlns:a16="http://schemas.microsoft.com/office/drawing/2014/main" id="{953153A5-B3FE-450A-9A9F-ADD9622D45FB}"/>
              </a:ext>
            </a:extLst>
          </p:cNvPr>
          <p:cNvPicPr>
            <a:picLocks noGrp="1" noChangeAspect="1"/>
          </p:cNvPicPr>
          <p:nvPr>
            <p:ph idx="1"/>
          </p:nvPr>
        </p:nvPicPr>
        <p:blipFill>
          <a:blip r:embed="rId3"/>
          <a:stretch>
            <a:fillRect/>
          </a:stretch>
        </p:blipFill>
        <p:spPr>
          <a:xfrm>
            <a:off x="528637" y="1169988"/>
            <a:ext cx="8086726" cy="5186363"/>
          </a:xfrm>
        </p:spPr>
      </p:pic>
      <p:sp>
        <p:nvSpPr>
          <p:cNvPr id="4" name="Нижний колонтитул 3">
            <a:extLst>
              <a:ext uri="{FF2B5EF4-FFF2-40B4-BE49-F238E27FC236}">
                <a16:creationId xmlns:a16="http://schemas.microsoft.com/office/drawing/2014/main" id="{32D1A94A-7E12-42CE-997E-63D03134CBE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FEB649C-50FB-4FB9-9400-C80484DC3726}"/>
              </a:ext>
            </a:extLst>
          </p:cNvPr>
          <p:cNvSpPr>
            <a:spLocks noGrp="1"/>
          </p:cNvSpPr>
          <p:nvPr>
            <p:ph type="sldNum" sz="quarter" idx="12"/>
          </p:nvPr>
        </p:nvSpPr>
        <p:spPr/>
        <p:txBody>
          <a:bodyPr/>
          <a:lstStyle/>
          <a:p>
            <a:fld id="{81C5FB71-5E9C-41B5-9BB8-3F1EBEAEB16A}" type="slidenum">
              <a:rPr lang="ru-RU" smtClean="0"/>
              <a:t>60</a:t>
            </a:fld>
            <a:endParaRPr lang="ru-RU"/>
          </a:p>
        </p:txBody>
      </p:sp>
    </p:spTree>
    <p:extLst>
      <p:ext uri="{BB962C8B-B14F-4D97-AF65-F5344CB8AC3E}">
        <p14:creationId xmlns:p14="http://schemas.microsoft.com/office/powerpoint/2010/main" val="8731954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ED669C-B8D7-4900-8A76-85ED1FF88130}"/>
              </a:ext>
            </a:extLst>
          </p:cNvPr>
          <p:cNvSpPr>
            <a:spLocks noGrp="1"/>
          </p:cNvSpPr>
          <p:nvPr>
            <p:ph type="title"/>
          </p:nvPr>
        </p:nvSpPr>
        <p:spPr/>
        <p:txBody>
          <a:bodyPr/>
          <a:lstStyle/>
          <a:p>
            <a:pPr algn="ctr"/>
            <a:r>
              <a:rPr lang="ru-RU" dirty="0"/>
              <a:t>Ансамбль </a:t>
            </a:r>
            <a:r>
              <a:rPr lang="en-US" dirty="0" err="1"/>
              <a:t>LightGBM</a:t>
            </a:r>
            <a:r>
              <a:rPr lang="en-US" dirty="0"/>
              <a:t> </a:t>
            </a:r>
            <a:r>
              <a:rPr lang="ru-RU" dirty="0"/>
              <a:t>для регрессии</a:t>
            </a:r>
          </a:p>
        </p:txBody>
      </p:sp>
      <p:sp>
        <p:nvSpPr>
          <p:cNvPr id="3" name="Объект 2">
            <a:extLst>
              <a:ext uri="{FF2B5EF4-FFF2-40B4-BE49-F238E27FC236}">
                <a16:creationId xmlns:a16="http://schemas.microsoft.com/office/drawing/2014/main" id="{14086DBF-20BF-42D4-8D41-984AD178C45E}"/>
              </a:ext>
            </a:extLst>
          </p:cNvPr>
          <p:cNvSpPr>
            <a:spLocks noGrp="1"/>
          </p:cNvSpPr>
          <p:nvPr>
            <p:ph idx="1"/>
          </p:nvPr>
        </p:nvSpPr>
        <p:spPr/>
        <p:txBody>
          <a:bodyPr/>
          <a:lstStyle/>
          <a:p>
            <a:pPr marL="0" indent="0">
              <a:buNone/>
            </a:pPr>
            <a:r>
              <a:rPr lang="ru-RU" dirty="0">
                <a:solidFill>
                  <a:srgbClr val="333333"/>
                </a:solidFill>
                <a:latin typeface="-apple-system"/>
              </a:rPr>
              <a:t>Используем </a:t>
            </a:r>
            <a:r>
              <a:rPr lang="ru-RU" b="0" i="0" dirty="0">
                <a:solidFill>
                  <a:srgbClr val="333333"/>
                </a:solidFill>
                <a:effectLst/>
                <a:latin typeface="-apple-system"/>
              </a:rPr>
              <a:t>функцию </a:t>
            </a:r>
            <a:r>
              <a:rPr lang="ru-RU" b="0" i="0" u="none" strike="noStrike" dirty="0" err="1">
                <a:effectLst/>
                <a:latin typeface="-apple-system"/>
                <a:hlinkClick r:id="rId2"/>
              </a:rPr>
              <a:t>make_regression</a:t>
            </a:r>
            <a:r>
              <a:rPr lang="ru-RU" b="0" i="0" u="none" strike="noStrike" dirty="0">
                <a:effectLst/>
                <a:latin typeface="-apple-system"/>
                <a:hlinkClick r:id="rId2"/>
              </a:rPr>
              <a:t>()</a:t>
            </a:r>
            <a:r>
              <a:rPr lang="ru-RU" b="0" i="0" u="none" strike="noStrike" dirty="0">
                <a:effectLst/>
                <a:latin typeface="-apple-system"/>
              </a:rPr>
              <a:t> для </a:t>
            </a:r>
            <a:br>
              <a:rPr lang="ru-RU" dirty="0"/>
            </a:br>
            <a:r>
              <a:rPr lang="ru-RU" b="0" i="0" dirty="0">
                <a:solidFill>
                  <a:srgbClr val="333333"/>
                </a:solidFill>
                <a:effectLst/>
                <a:latin typeface="-apple-system"/>
              </a:rPr>
              <a:t>создания задачи синтетической регрессии с 1000 примерами и 20 входными объектами. </a:t>
            </a:r>
          </a:p>
          <a:p>
            <a:pPr marL="0" indent="0">
              <a:buNone/>
            </a:pPr>
            <a:endParaRPr lang="ru-RU" dirty="0"/>
          </a:p>
        </p:txBody>
      </p:sp>
      <p:sp>
        <p:nvSpPr>
          <p:cNvPr id="4" name="Нижний колонтитул 3">
            <a:extLst>
              <a:ext uri="{FF2B5EF4-FFF2-40B4-BE49-F238E27FC236}">
                <a16:creationId xmlns:a16="http://schemas.microsoft.com/office/drawing/2014/main" id="{86DF8CCD-0710-4207-8DDA-F7D05F27B6A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8727BDE4-73F3-4140-B317-7F32EE54AC0B}"/>
              </a:ext>
            </a:extLst>
          </p:cNvPr>
          <p:cNvSpPr>
            <a:spLocks noGrp="1"/>
          </p:cNvSpPr>
          <p:nvPr>
            <p:ph type="sldNum" sz="quarter" idx="12"/>
          </p:nvPr>
        </p:nvSpPr>
        <p:spPr/>
        <p:txBody>
          <a:bodyPr/>
          <a:lstStyle/>
          <a:p>
            <a:fld id="{81C5FB71-5E9C-41B5-9BB8-3F1EBEAEB16A}" type="slidenum">
              <a:rPr lang="ru-RU" smtClean="0"/>
              <a:t>61</a:t>
            </a:fld>
            <a:endParaRPr lang="ru-RU"/>
          </a:p>
        </p:txBody>
      </p:sp>
      <p:pic>
        <p:nvPicPr>
          <p:cNvPr id="7" name="Рисунок 6">
            <a:extLst>
              <a:ext uri="{FF2B5EF4-FFF2-40B4-BE49-F238E27FC236}">
                <a16:creationId xmlns:a16="http://schemas.microsoft.com/office/drawing/2014/main" id="{66D9246F-620D-48F0-A176-EB43A54CD8C0}"/>
              </a:ext>
            </a:extLst>
          </p:cNvPr>
          <p:cNvPicPr>
            <a:picLocks noChangeAspect="1"/>
          </p:cNvPicPr>
          <p:nvPr/>
        </p:nvPicPr>
        <p:blipFill>
          <a:blip r:embed="rId3"/>
          <a:stretch>
            <a:fillRect/>
          </a:stretch>
        </p:blipFill>
        <p:spPr>
          <a:xfrm>
            <a:off x="795055" y="2674779"/>
            <a:ext cx="7434545" cy="2151645"/>
          </a:xfrm>
          <a:prstGeom prst="rect">
            <a:avLst/>
          </a:prstGeom>
        </p:spPr>
      </p:pic>
    </p:spTree>
    <p:extLst>
      <p:ext uri="{BB962C8B-B14F-4D97-AF65-F5344CB8AC3E}">
        <p14:creationId xmlns:p14="http://schemas.microsoft.com/office/powerpoint/2010/main" val="33772314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8F7991-9FF1-48E7-92BF-BCA73EE0C8E8}"/>
              </a:ext>
            </a:extLst>
          </p:cNvPr>
          <p:cNvSpPr>
            <a:spLocks noGrp="1"/>
          </p:cNvSpPr>
          <p:nvPr>
            <p:ph type="title"/>
          </p:nvPr>
        </p:nvSpPr>
        <p:spPr>
          <a:xfrm>
            <a:off x="628650" y="70791"/>
            <a:ext cx="7886700" cy="722119"/>
          </a:xfrm>
        </p:spPr>
        <p:txBody>
          <a:bodyPr/>
          <a:lstStyle/>
          <a:p>
            <a:pPr algn="ctr"/>
            <a:r>
              <a:rPr lang="ru-RU" dirty="0"/>
              <a:t>Ансамбль </a:t>
            </a:r>
            <a:r>
              <a:rPr lang="en-US" dirty="0" err="1"/>
              <a:t>LightGBM</a:t>
            </a:r>
            <a:r>
              <a:rPr lang="en-US" dirty="0"/>
              <a:t> </a:t>
            </a:r>
            <a:r>
              <a:rPr lang="ru-RU" dirty="0"/>
              <a:t>для регрессии</a:t>
            </a:r>
          </a:p>
        </p:txBody>
      </p:sp>
      <p:pic>
        <p:nvPicPr>
          <p:cNvPr id="7" name="Объект 6">
            <a:extLst>
              <a:ext uri="{FF2B5EF4-FFF2-40B4-BE49-F238E27FC236}">
                <a16:creationId xmlns:a16="http://schemas.microsoft.com/office/drawing/2014/main" id="{D4736F6F-1BE1-43F1-ABB7-14B09A190B5B}"/>
              </a:ext>
            </a:extLst>
          </p:cNvPr>
          <p:cNvPicPr>
            <a:picLocks noGrp="1" noChangeAspect="1"/>
          </p:cNvPicPr>
          <p:nvPr>
            <p:ph idx="1"/>
          </p:nvPr>
        </p:nvPicPr>
        <p:blipFill>
          <a:blip r:embed="rId3"/>
          <a:stretch>
            <a:fillRect/>
          </a:stretch>
        </p:blipFill>
        <p:spPr>
          <a:xfrm>
            <a:off x="1219200" y="792911"/>
            <a:ext cx="6269906" cy="5563439"/>
          </a:xfrm>
        </p:spPr>
      </p:pic>
      <p:sp>
        <p:nvSpPr>
          <p:cNvPr id="4" name="Нижний колонтитул 3">
            <a:extLst>
              <a:ext uri="{FF2B5EF4-FFF2-40B4-BE49-F238E27FC236}">
                <a16:creationId xmlns:a16="http://schemas.microsoft.com/office/drawing/2014/main" id="{368DEF7D-FA49-477F-92C4-BDA35B5DCA1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93DEAAA-5612-4B0C-A368-BFABEA9D7229}"/>
              </a:ext>
            </a:extLst>
          </p:cNvPr>
          <p:cNvSpPr>
            <a:spLocks noGrp="1"/>
          </p:cNvSpPr>
          <p:nvPr>
            <p:ph type="sldNum" sz="quarter" idx="12"/>
          </p:nvPr>
        </p:nvSpPr>
        <p:spPr/>
        <p:txBody>
          <a:bodyPr/>
          <a:lstStyle/>
          <a:p>
            <a:fld id="{81C5FB71-5E9C-41B5-9BB8-3F1EBEAEB16A}" type="slidenum">
              <a:rPr lang="ru-RU" smtClean="0"/>
              <a:t>62</a:t>
            </a:fld>
            <a:endParaRPr lang="ru-RU"/>
          </a:p>
        </p:txBody>
      </p:sp>
    </p:spTree>
    <p:extLst>
      <p:ext uri="{BB962C8B-B14F-4D97-AF65-F5344CB8AC3E}">
        <p14:creationId xmlns:p14="http://schemas.microsoft.com/office/powerpoint/2010/main" val="17976001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BDFF42-D236-4290-92D9-2697AB5C9B68}"/>
              </a:ext>
            </a:extLst>
          </p:cNvPr>
          <p:cNvSpPr>
            <a:spLocks noGrp="1"/>
          </p:cNvSpPr>
          <p:nvPr>
            <p:ph type="title"/>
          </p:nvPr>
        </p:nvSpPr>
        <p:spPr/>
        <p:txBody>
          <a:bodyPr/>
          <a:lstStyle/>
          <a:p>
            <a:pPr algn="ctr"/>
            <a:r>
              <a:rPr lang="ru-RU" dirty="0"/>
              <a:t>Какой алгоритм машинного обучения использовать?</a:t>
            </a:r>
          </a:p>
        </p:txBody>
      </p:sp>
      <p:sp>
        <p:nvSpPr>
          <p:cNvPr id="4" name="Нижний колонтитул 3">
            <a:extLst>
              <a:ext uri="{FF2B5EF4-FFF2-40B4-BE49-F238E27FC236}">
                <a16:creationId xmlns:a16="http://schemas.microsoft.com/office/drawing/2014/main" id="{1D9A511B-0D1F-4245-A641-B139726B999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9650AE8-2F19-48FF-861C-E1AF9898F6D3}"/>
              </a:ext>
            </a:extLst>
          </p:cNvPr>
          <p:cNvSpPr>
            <a:spLocks noGrp="1"/>
          </p:cNvSpPr>
          <p:nvPr>
            <p:ph type="sldNum" sz="quarter" idx="12"/>
          </p:nvPr>
        </p:nvSpPr>
        <p:spPr/>
        <p:txBody>
          <a:bodyPr/>
          <a:lstStyle/>
          <a:p>
            <a:fld id="{81C5FB71-5E9C-41B5-9BB8-3F1EBEAEB16A}" type="slidenum">
              <a:rPr lang="ru-RU" smtClean="0"/>
              <a:t>63</a:t>
            </a:fld>
            <a:endParaRPr lang="ru-RU"/>
          </a:p>
        </p:txBody>
      </p:sp>
      <p:pic>
        <p:nvPicPr>
          <p:cNvPr id="14340" name="Picture 4" descr="XGBoost, LightGBM или CatBoost - какой алгоритм бустинга следует использовать?, изображение №3">
            <a:extLst>
              <a:ext uri="{FF2B5EF4-FFF2-40B4-BE49-F238E27FC236}">
                <a16:creationId xmlns:a16="http://schemas.microsoft.com/office/drawing/2014/main" id="{43B99F7C-D0F9-E6B2-1D03-8F07807AA4F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05432" y="2057400"/>
            <a:ext cx="4309418" cy="3107906"/>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XGBoost, LightGBM или CatBoost - какой алгоритм бустинга следует использовать?, изображение №4">
            <a:extLst>
              <a:ext uri="{FF2B5EF4-FFF2-40B4-BE49-F238E27FC236}">
                <a16:creationId xmlns:a16="http://schemas.microsoft.com/office/drawing/2014/main" id="{81F771BB-5A60-7A8D-071D-1D7A98659FD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13110" y="2536791"/>
            <a:ext cx="4472384" cy="1939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7826790"/>
      </p:ext>
    </p:extLst>
  </p:cSld>
  <p:clrMapOvr>
    <a:masterClrMapping/>
  </p:clrMapOvr>
</p:sld>
</file>

<file path=ppt/theme/theme1.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24511</TotalTime>
  <Words>7988</Words>
  <Application>Microsoft Office PowerPoint</Application>
  <PresentationFormat>Экран (4:3)</PresentationFormat>
  <Paragraphs>538</Paragraphs>
  <Slides>63</Slides>
  <Notes>33</Notes>
  <HiddenSlides>0</HiddenSlides>
  <MMClips>0</MMClips>
  <ScaleCrop>false</ScaleCrop>
  <HeadingPairs>
    <vt:vector size="6" baseType="variant">
      <vt:variant>
        <vt:lpstr>Использованные шрифты</vt:lpstr>
      </vt:variant>
      <vt:variant>
        <vt:i4>16</vt:i4>
      </vt:variant>
      <vt:variant>
        <vt:lpstr>Тема</vt:lpstr>
      </vt:variant>
      <vt:variant>
        <vt:i4>1</vt:i4>
      </vt:variant>
      <vt:variant>
        <vt:lpstr>Заголовки слайдов</vt:lpstr>
      </vt:variant>
      <vt:variant>
        <vt:i4>63</vt:i4>
      </vt:variant>
    </vt:vector>
  </HeadingPairs>
  <TitlesOfParts>
    <vt:vector size="80" baseType="lpstr">
      <vt:lpstr>__CoFoSans_66cdd1</vt:lpstr>
      <vt:lpstr>-apple-system</vt:lpstr>
      <vt:lpstr>Arial</vt:lpstr>
      <vt:lpstr>Calibri</vt:lpstr>
      <vt:lpstr>Cambria Math</vt:lpstr>
      <vt:lpstr>Consolas</vt:lpstr>
      <vt:lpstr>Courier New</vt:lpstr>
      <vt:lpstr>Fira Sans</vt:lpstr>
      <vt:lpstr>KaTeX_Main</vt:lpstr>
      <vt:lpstr>KaTeX_Math</vt:lpstr>
      <vt:lpstr>Linux Libertine</vt:lpstr>
      <vt:lpstr>PetersburgC</vt:lpstr>
      <vt:lpstr>PTSerif-Bold</vt:lpstr>
      <vt:lpstr>PTSerif-Regular</vt:lpstr>
      <vt:lpstr>Times New Roman</vt:lpstr>
      <vt:lpstr>YS Text</vt:lpstr>
      <vt:lpstr>Специальное оформление</vt:lpstr>
      <vt:lpstr>Презентация PowerPoint</vt:lpstr>
      <vt:lpstr>Лекция №7. Ансамблевое обучение</vt:lpstr>
      <vt:lpstr>Ансамбль</vt:lpstr>
      <vt:lpstr>Ансамбли в машинном обучении</vt:lpstr>
      <vt:lpstr>Принципы объединения моделей</vt:lpstr>
      <vt:lpstr>Типы ансамблевого обучения</vt:lpstr>
      <vt:lpstr>Бэггинг и бустинг</vt:lpstr>
      <vt:lpstr>Смещение и разброс</vt:lpstr>
      <vt:lpstr>Смещение и разброс</vt:lpstr>
      <vt:lpstr>Смещение и разброс</vt:lpstr>
      <vt:lpstr>«Классический» алгоритм бэггинга </vt:lpstr>
      <vt:lpstr>Смещение модели</vt:lpstr>
      <vt:lpstr>Разброс модели</vt:lpstr>
      <vt:lpstr>Разброс модели</vt:lpstr>
      <vt:lpstr>Разброс модели</vt:lpstr>
      <vt:lpstr>Бэггинг над решающими деревьями</vt:lpstr>
      <vt:lpstr>Способы ансамблирования</vt:lpstr>
      <vt:lpstr>Случайный лес (Random Forest)</vt:lpstr>
      <vt:lpstr>Случайный лес (Random Forest)</vt:lpstr>
      <vt:lpstr>Глубина и признаки деревьев Random Forest</vt:lpstr>
      <vt:lpstr>Сколько должно быть деревьев в случайном лесе?</vt:lpstr>
      <vt:lpstr>Бустинг</vt:lpstr>
      <vt:lpstr>Бустинг</vt:lpstr>
      <vt:lpstr>Адаптивный бустинг AdaBoost</vt:lpstr>
      <vt:lpstr>Принцип работы адаптивного бустинга для классификации</vt:lpstr>
      <vt:lpstr>Класссификация пнями</vt:lpstr>
      <vt:lpstr>Бустинг</vt:lpstr>
      <vt:lpstr>Принцип работы адаптивного бустинга для классификации</vt:lpstr>
      <vt:lpstr>Принцип работы адаптивного бустинга для регрессии</vt:lpstr>
      <vt:lpstr>Пример реализации AdaBoost  в модуле  sklearn.ensemble</vt:lpstr>
      <vt:lpstr>Версия AdaBoost для многоклассовой классификации и регрессии</vt:lpstr>
      <vt:lpstr>Модификации адаптивного бустинга</vt:lpstr>
      <vt:lpstr>AdaBoost     GBM</vt:lpstr>
      <vt:lpstr>История становления GBM</vt:lpstr>
      <vt:lpstr>Классический GBM алгоритм Friedman-а</vt:lpstr>
      <vt:lpstr>Презентация PowerPoint</vt:lpstr>
      <vt:lpstr>Принцип работы градиентного бустинга для регрессии</vt:lpstr>
      <vt:lpstr>Пример GradientBoostingRegressor</vt:lpstr>
      <vt:lpstr>Принцип работы градиентного бустинга для классификации</vt:lpstr>
      <vt:lpstr>Принцип работы градиентного бустинга для классификации</vt:lpstr>
      <vt:lpstr>Пример GradientBoostingClassifier</vt:lpstr>
      <vt:lpstr>Преимущества и недостатки градиентного бустинга (GBM)</vt:lpstr>
      <vt:lpstr>BoostingRegressor</vt:lpstr>
      <vt:lpstr>Эволюция алгоритмов, использующих деревья поиска решений</vt:lpstr>
      <vt:lpstr>Пример работы алгоритмов, использующих деревья поиска решений</vt:lpstr>
      <vt:lpstr>XGBoost</vt:lpstr>
      <vt:lpstr>XGBoost</vt:lpstr>
      <vt:lpstr>Пример работы алгоритма XGBoost</vt:lpstr>
      <vt:lpstr>CatBoost</vt:lpstr>
      <vt:lpstr>Ordered target (CatBoost) encoding</vt:lpstr>
      <vt:lpstr>Mean target encoding</vt:lpstr>
      <vt:lpstr>Показатели Качества CatBoost Цифры в этой таблице представляют собой значения логарифмического отклонения (чем меньше, тем лучше) для режима классификации. Процент — это метрическая разница, измеренная относительно настроенных результатов CatBoost (https://catboost.ai/#benchmark). </vt:lpstr>
      <vt:lpstr>Показатели Скорость обучения CatBoost</vt:lpstr>
      <vt:lpstr>Установка и пример использования CatBoost</vt:lpstr>
      <vt:lpstr>Преимущества и недостатки CatBoost</vt:lpstr>
      <vt:lpstr>LightGBM</vt:lpstr>
      <vt:lpstr>LightGBM</vt:lpstr>
      <vt:lpstr>Scikit-Learn API для LightGBM</vt:lpstr>
      <vt:lpstr>Ансамбль LightGBM для классификации</vt:lpstr>
      <vt:lpstr>Ансамбль LightGBM для классификации</vt:lpstr>
      <vt:lpstr>Ансамбль LightGBM для регрессии</vt:lpstr>
      <vt:lpstr>Ансамбль LightGBM для регрессии</vt:lpstr>
      <vt:lpstr>Какой алгоритм машинного обучения использовать?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Mikhail Bocharov</dc:creator>
  <cp:lastModifiedBy>Иван Юрченков</cp:lastModifiedBy>
  <cp:revision>787</cp:revision>
  <dcterms:created xsi:type="dcterms:W3CDTF">2024-10-12T05:17:42Z</dcterms:created>
  <dcterms:modified xsi:type="dcterms:W3CDTF">2024-11-26T12:06:17Z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2024-10-12T00:00:00Z</vt:filetime>
  </property>
  <property fmtid="{D5CDD505-2E9C-101B-9397-08002B2CF9AE}" pid="3" name="Producer">
    <vt:lpwstr>3-Heights(TM) PDF Security Shell 4.8.25.2 (http://www.pdf-tools.com)</vt:lpwstr>
  </property>
</Properties>
</file>