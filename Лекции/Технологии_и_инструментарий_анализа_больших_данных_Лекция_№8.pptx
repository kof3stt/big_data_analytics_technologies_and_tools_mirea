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66" r:id="rId1"/>
  </p:sldMasterIdLst>
  <p:notesMasterIdLst>
    <p:notesMasterId r:id="rId70"/>
  </p:notesMasterIdLst>
  <p:sldIdLst>
    <p:sldId id="313" r:id="rId2"/>
    <p:sldId id="312" r:id="rId3"/>
    <p:sldId id="388" r:id="rId4"/>
    <p:sldId id="389" r:id="rId5"/>
    <p:sldId id="383" r:id="rId6"/>
    <p:sldId id="319" r:id="rId7"/>
    <p:sldId id="320" r:id="rId8"/>
    <p:sldId id="321" r:id="rId9"/>
    <p:sldId id="373" r:id="rId10"/>
    <p:sldId id="372" r:id="rId11"/>
    <p:sldId id="387" r:id="rId12"/>
    <p:sldId id="391" r:id="rId13"/>
    <p:sldId id="393" r:id="rId14"/>
    <p:sldId id="322" r:id="rId15"/>
    <p:sldId id="324" r:id="rId16"/>
    <p:sldId id="390" r:id="rId17"/>
    <p:sldId id="394" r:id="rId18"/>
    <p:sldId id="326" r:id="rId19"/>
    <p:sldId id="392" r:id="rId20"/>
    <p:sldId id="395" r:id="rId21"/>
    <p:sldId id="374" r:id="rId22"/>
    <p:sldId id="375" r:id="rId23"/>
    <p:sldId id="376" r:id="rId24"/>
    <p:sldId id="377" r:id="rId25"/>
    <p:sldId id="378" r:id="rId26"/>
    <p:sldId id="379" r:id="rId27"/>
    <p:sldId id="380" r:id="rId28"/>
    <p:sldId id="381" r:id="rId29"/>
    <p:sldId id="327" r:id="rId30"/>
    <p:sldId id="328" r:id="rId31"/>
    <p:sldId id="384" r:id="rId32"/>
    <p:sldId id="385" r:id="rId33"/>
    <p:sldId id="386" r:id="rId34"/>
    <p:sldId id="329" r:id="rId35"/>
    <p:sldId id="331" r:id="rId36"/>
    <p:sldId id="339" r:id="rId37"/>
    <p:sldId id="364" r:id="rId38"/>
    <p:sldId id="366" r:id="rId39"/>
    <p:sldId id="367" r:id="rId40"/>
    <p:sldId id="368" r:id="rId41"/>
    <p:sldId id="334" r:id="rId42"/>
    <p:sldId id="335" r:id="rId43"/>
    <p:sldId id="336" r:id="rId44"/>
    <p:sldId id="340" r:id="rId45"/>
    <p:sldId id="341" r:id="rId46"/>
    <p:sldId id="342" r:id="rId47"/>
    <p:sldId id="343" r:id="rId48"/>
    <p:sldId id="344" r:id="rId49"/>
    <p:sldId id="345" r:id="rId50"/>
    <p:sldId id="346" r:id="rId51"/>
    <p:sldId id="349" r:id="rId52"/>
    <p:sldId id="348" r:id="rId53"/>
    <p:sldId id="350" r:id="rId54"/>
    <p:sldId id="351" r:id="rId55"/>
    <p:sldId id="352" r:id="rId56"/>
    <p:sldId id="353" r:id="rId57"/>
    <p:sldId id="347" r:id="rId58"/>
    <p:sldId id="354" r:id="rId59"/>
    <p:sldId id="355" r:id="rId60"/>
    <p:sldId id="356" r:id="rId61"/>
    <p:sldId id="357" r:id="rId62"/>
    <p:sldId id="358" r:id="rId63"/>
    <p:sldId id="359" r:id="rId64"/>
    <p:sldId id="360" r:id="rId65"/>
    <p:sldId id="361" r:id="rId66"/>
    <p:sldId id="362" r:id="rId67"/>
    <p:sldId id="363" r:id="rId68"/>
    <p:sldId id="337" r:id="rId69"/>
  </p:sldIdLst>
  <p:sldSz cx="9144000" cy="6858000" type="screen4x3"/>
  <p:notesSz cx="9144000" cy="6858000"/>
  <p:defaultTextStyle>
    <a:defPPr>
      <a:defRPr kern="0"/>
    </a:defPPr>
  </p:defaultTextStyle>
  <p:extLst>
    <p:ext uri="{521415D9-36F7-43E2-AB2F-B90AF26B5E84}">
      <p14:sectionLst xmlns:p14="http://schemas.microsoft.com/office/powerpoint/2010/main">
        <p14:section name="Введение в анализ ассоциативных правил" id="{2E521712-8874-4BC2-BBFE-B523B4F3C52E}">
          <p14:sldIdLst>
            <p14:sldId id="313"/>
            <p14:sldId id="312"/>
            <p14:sldId id="388"/>
            <p14:sldId id="389"/>
            <p14:sldId id="383"/>
            <p14:sldId id="319"/>
            <p14:sldId id="320"/>
            <p14:sldId id="321"/>
            <p14:sldId id="373"/>
            <p14:sldId id="372"/>
            <p14:sldId id="387"/>
            <p14:sldId id="391"/>
            <p14:sldId id="393"/>
            <p14:sldId id="322"/>
            <p14:sldId id="324"/>
            <p14:sldId id="390"/>
            <p14:sldId id="394"/>
            <p14:sldId id="326"/>
            <p14:sldId id="392"/>
            <p14:sldId id="395"/>
            <p14:sldId id="374"/>
            <p14:sldId id="375"/>
            <p14:sldId id="376"/>
            <p14:sldId id="377"/>
            <p14:sldId id="378"/>
            <p14:sldId id="379"/>
            <p14:sldId id="380"/>
            <p14:sldId id="381"/>
            <p14:sldId id="327"/>
            <p14:sldId id="328"/>
            <p14:sldId id="384"/>
            <p14:sldId id="385"/>
            <p14:sldId id="386"/>
            <p14:sldId id="329"/>
            <p14:sldId id="331"/>
            <p14:sldId id="339"/>
            <p14:sldId id="364"/>
            <p14:sldId id="366"/>
            <p14:sldId id="367"/>
            <p14:sldId id="368"/>
            <p14:sldId id="334"/>
            <p14:sldId id="335"/>
            <p14:sldId id="336"/>
            <p14:sldId id="340"/>
            <p14:sldId id="341"/>
            <p14:sldId id="342"/>
            <p14:sldId id="343"/>
            <p14:sldId id="344"/>
            <p14:sldId id="345"/>
            <p14:sldId id="346"/>
            <p14:sldId id="349"/>
            <p14:sldId id="348"/>
            <p14:sldId id="350"/>
            <p14:sldId id="351"/>
            <p14:sldId id="352"/>
            <p14:sldId id="353"/>
            <p14:sldId id="347"/>
            <p14:sldId id="354"/>
            <p14:sldId id="355"/>
            <p14:sldId id="356"/>
            <p14:sldId id="357"/>
            <p14:sldId id="358"/>
            <p14:sldId id="359"/>
            <p14:sldId id="360"/>
            <p14:sldId id="361"/>
            <p14:sldId id="362"/>
            <p14:sldId id="363"/>
            <p14:sldId id="337"/>
          </p14:sldIdLst>
        </p14:section>
        <p14:section name="Раздел без заголовка" id="{53D6FC12-7FEB-4B7D-80CD-29FE6B93962C}">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khail Bocharov" initials="MB" lastIdx="2" clrIdx="0">
    <p:extLst>
      <p:ext uri="{19B8F6BF-5375-455C-9EA6-DF929625EA0E}">
        <p15:presenceInfo xmlns:p15="http://schemas.microsoft.com/office/powerpoint/2012/main" userId="7adb6a7eedeb765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Светлый стиль 3 — акцент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47" autoAdjust="0"/>
    <p:restoredTop sz="72422" autoAdjust="0"/>
  </p:normalViewPr>
  <p:slideViewPr>
    <p:cSldViewPr>
      <p:cViewPr varScale="1">
        <p:scale>
          <a:sx n="64" d="100"/>
          <a:sy n="64" d="100"/>
        </p:scale>
        <p:origin x="1603" y="67"/>
      </p:cViewPr>
      <p:guideLst>
        <p:guide orient="horz" pos="2880"/>
        <p:guide pos="2160"/>
      </p:guideLst>
    </p:cSldViewPr>
  </p:slideViewPr>
  <p:notesTextViewPr>
    <p:cViewPr>
      <p:scale>
        <a:sx n="100" d="100"/>
        <a:sy n="100" d="100"/>
      </p:scale>
      <p:origin x="0" y="0"/>
    </p:cViewPr>
  </p:notesTextViewPr>
  <p:notesViewPr>
    <p:cSldViewPr>
      <p:cViewPr varScale="1">
        <p:scale>
          <a:sx n="100" d="100"/>
          <a:sy n="100" d="100"/>
        </p:scale>
        <p:origin x="1404"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D00738-B096-4FCC-8BFC-70EF26DDC615}" type="doc">
      <dgm:prSet loTypeId="urn:microsoft.com/office/officeart/2005/8/layout/radial1" loCatId="relationship" qsTypeId="urn:microsoft.com/office/officeart/2005/8/quickstyle/simple1" qsCatId="simple" csTypeId="urn:microsoft.com/office/officeart/2005/8/colors/accent0_3" csCatId="mainScheme" phldr="1"/>
      <dgm:spPr/>
      <dgm:t>
        <a:bodyPr/>
        <a:lstStyle/>
        <a:p>
          <a:endParaRPr lang="ru-RU"/>
        </a:p>
      </dgm:t>
    </dgm:pt>
    <dgm:pt modelId="{D815E448-EF36-401D-9E2B-13CFDE973C6C}">
      <dgm:prSet custT="1"/>
      <dgm:spPr/>
      <dgm:t>
        <a:bodyPr/>
        <a:lstStyle/>
        <a:p>
          <a:r>
            <a:rPr lang="ru-RU" sz="1600" b="1"/>
            <a:t>Анализ ассоциативных правил</a:t>
          </a:r>
          <a:endParaRPr lang="ru-RU" sz="1600"/>
        </a:p>
      </dgm:t>
    </dgm:pt>
    <dgm:pt modelId="{C781F4AE-D1C4-4605-8EB0-2625D38475CB}" type="parTrans" cxnId="{BF39B94C-432B-4811-AF3C-0CF144937BD7}">
      <dgm:prSet/>
      <dgm:spPr/>
      <dgm:t>
        <a:bodyPr/>
        <a:lstStyle/>
        <a:p>
          <a:endParaRPr lang="ru-RU"/>
        </a:p>
      </dgm:t>
    </dgm:pt>
    <dgm:pt modelId="{E130A9F1-61C1-4CC7-BC78-2EF0303DC0C4}" type="sibTrans" cxnId="{BF39B94C-432B-4811-AF3C-0CF144937BD7}">
      <dgm:prSet/>
      <dgm:spPr/>
      <dgm:t>
        <a:bodyPr/>
        <a:lstStyle/>
        <a:p>
          <a:endParaRPr lang="ru-RU"/>
        </a:p>
      </dgm:t>
    </dgm:pt>
    <dgm:pt modelId="{8BC6580A-692A-4A20-A7D0-8E7033D44754}">
      <dgm:prSet custT="1"/>
      <dgm:spPr/>
      <dgm:t>
        <a:bodyPr/>
        <a:lstStyle/>
        <a:p>
          <a:r>
            <a:rPr lang="ru-RU" sz="1800" dirty="0"/>
            <a:t>Прогнозирование спроса</a:t>
          </a:r>
        </a:p>
      </dgm:t>
    </dgm:pt>
    <dgm:pt modelId="{87E6D85F-E494-4A2B-8882-281790217604}" type="parTrans" cxnId="{98AA1C4C-E989-4CC1-8680-939DD9AC68EA}">
      <dgm:prSet custT="1"/>
      <dgm:spPr/>
      <dgm:t>
        <a:bodyPr/>
        <a:lstStyle/>
        <a:p>
          <a:endParaRPr lang="ru-RU" sz="1400"/>
        </a:p>
      </dgm:t>
    </dgm:pt>
    <dgm:pt modelId="{03C7091D-9A30-4A04-8082-728F3034951B}" type="sibTrans" cxnId="{98AA1C4C-E989-4CC1-8680-939DD9AC68EA}">
      <dgm:prSet/>
      <dgm:spPr/>
      <dgm:t>
        <a:bodyPr/>
        <a:lstStyle/>
        <a:p>
          <a:endParaRPr lang="ru-RU"/>
        </a:p>
      </dgm:t>
    </dgm:pt>
    <dgm:pt modelId="{91B9B8F5-9757-4200-8A0D-9A63B6AD1B76}">
      <dgm:prSet custT="1"/>
      <dgm:spPr>
        <a:solidFill>
          <a:schemeClr val="accent1">
            <a:lumMod val="75000"/>
          </a:schemeClr>
        </a:solidFill>
        <a:ln>
          <a:solidFill>
            <a:schemeClr val="tx1"/>
          </a:solidFill>
        </a:ln>
      </dgm:spPr>
      <dgm:t>
        <a:bodyPr/>
        <a:lstStyle/>
        <a:p>
          <a:r>
            <a:rPr lang="ru-RU" sz="1600" i="0" dirty="0"/>
            <a:t>Маркетинг</a:t>
          </a:r>
          <a:endParaRPr lang="ru-RU" sz="1600" dirty="0"/>
        </a:p>
      </dgm:t>
    </dgm:pt>
    <dgm:pt modelId="{E2EF0203-3973-4D30-BE72-860D39706174}" type="parTrans" cxnId="{C2F0A69D-53BF-4F67-B609-54EEA1B9516F}">
      <dgm:prSet custT="1"/>
      <dgm:spPr/>
      <dgm:t>
        <a:bodyPr/>
        <a:lstStyle/>
        <a:p>
          <a:endParaRPr lang="ru-RU" sz="1400"/>
        </a:p>
      </dgm:t>
    </dgm:pt>
    <dgm:pt modelId="{783321C8-43AA-4470-BC8A-4A5792D7AF00}" type="sibTrans" cxnId="{C2F0A69D-53BF-4F67-B609-54EEA1B9516F}">
      <dgm:prSet/>
      <dgm:spPr/>
      <dgm:t>
        <a:bodyPr/>
        <a:lstStyle/>
        <a:p>
          <a:endParaRPr lang="ru-RU"/>
        </a:p>
      </dgm:t>
    </dgm:pt>
    <dgm:pt modelId="{7CB7E012-42F0-466D-9711-63CA6DEDC21D}">
      <dgm:prSet custT="1"/>
      <dgm:spPr>
        <a:solidFill>
          <a:schemeClr val="accent1">
            <a:lumMod val="75000"/>
          </a:schemeClr>
        </a:solidFill>
        <a:ln>
          <a:solidFill>
            <a:schemeClr val="tx1">
              <a:lumMod val="95000"/>
              <a:lumOff val="5000"/>
            </a:schemeClr>
          </a:solidFill>
        </a:ln>
      </dgm:spPr>
      <dgm:t>
        <a:bodyPr/>
        <a:lstStyle/>
        <a:p>
          <a:r>
            <a:rPr lang="ru-RU" sz="1600" i="0" dirty="0"/>
            <a:t>Розничная торговля</a:t>
          </a:r>
          <a:endParaRPr lang="ru-RU" sz="1600" dirty="0"/>
        </a:p>
      </dgm:t>
    </dgm:pt>
    <dgm:pt modelId="{3F126A2F-2FD7-4F6D-A2CB-651FD892A946}" type="parTrans" cxnId="{19CBEC20-982F-4B8C-B417-440E0BDBAA7A}">
      <dgm:prSet custT="1"/>
      <dgm:spPr/>
      <dgm:t>
        <a:bodyPr/>
        <a:lstStyle/>
        <a:p>
          <a:endParaRPr lang="ru-RU" sz="1400"/>
        </a:p>
      </dgm:t>
    </dgm:pt>
    <dgm:pt modelId="{9DD2DF6D-65FE-4032-B7C2-F71EF9258EAF}" type="sibTrans" cxnId="{19CBEC20-982F-4B8C-B417-440E0BDBAA7A}">
      <dgm:prSet/>
      <dgm:spPr/>
      <dgm:t>
        <a:bodyPr/>
        <a:lstStyle/>
        <a:p>
          <a:endParaRPr lang="ru-RU"/>
        </a:p>
      </dgm:t>
    </dgm:pt>
    <dgm:pt modelId="{55E219C7-C0C4-44EB-8284-C252EEEEA7F3}">
      <dgm:prSet custT="1"/>
      <dgm:spPr/>
      <dgm:t>
        <a:bodyPr/>
        <a:lstStyle/>
        <a:p>
          <a:r>
            <a:rPr lang="ru-RU" sz="1800" i="0"/>
            <a:t>Перекрестные продажи</a:t>
          </a:r>
          <a:endParaRPr lang="ru-RU" sz="1800"/>
        </a:p>
      </dgm:t>
    </dgm:pt>
    <dgm:pt modelId="{DD8C5AAD-295C-4F02-BE02-F4B38A510465}" type="parTrans" cxnId="{F28A6EDB-84EA-4F54-AFEF-D0FD75538B17}">
      <dgm:prSet custT="1"/>
      <dgm:spPr/>
      <dgm:t>
        <a:bodyPr/>
        <a:lstStyle/>
        <a:p>
          <a:endParaRPr lang="ru-RU" sz="1400"/>
        </a:p>
      </dgm:t>
    </dgm:pt>
    <dgm:pt modelId="{CF1AAB69-0BB1-4BCF-921F-5BA09E191C34}" type="sibTrans" cxnId="{F28A6EDB-84EA-4F54-AFEF-D0FD75538B17}">
      <dgm:prSet/>
      <dgm:spPr/>
      <dgm:t>
        <a:bodyPr/>
        <a:lstStyle/>
        <a:p>
          <a:endParaRPr lang="ru-RU"/>
        </a:p>
      </dgm:t>
    </dgm:pt>
    <dgm:pt modelId="{A99DBE57-7211-4117-9D49-8A2DD6E2C913}">
      <dgm:prSet custT="1"/>
      <dgm:spPr/>
      <dgm:t>
        <a:bodyPr/>
        <a:lstStyle/>
        <a:p>
          <a:r>
            <a:rPr lang="ru-RU" sz="1800" i="0"/>
            <a:t>Анализ </a:t>
          </a:r>
          <a:r>
            <a:rPr lang="en-US" sz="1800" i="0"/>
            <a:t>Web-</a:t>
          </a:r>
          <a:r>
            <a:rPr lang="ru-RU" sz="1800" i="0"/>
            <a:t>логов</a:t>
          </a:r>
          <a:endParaRPr lang="ru-RU" sz="1800"/>
        </a:p>
      </dgm:t>
    </dgm:pt>
    <dgm:pt modelId="{4BDB7A25-E6C4-4E7E-9ADB-FB5C6CE8E96A}" type="parTrans" cxnId="{1B8731CF-0F3A-409C-BA43-C38DC6CD27D8}">
      <dgm:prSet custT="1"/>
      <dgm:spPr/>
      <dgm:t>
        <a:bodyPr/>
        <a:lstStyle/>
        <a:p>
          <a:endParaRPr lang="ru-RU" sz="1400"/>
        </a:p>
      </dgm:t>
    </dgm:pt>
    <dgm:pt modelId="{D51D0F68-ECA6-4FF3-9323-7B88F9E888F3}" type="sibTrans" cxnId="{1B8731CF-0F3A-409C-BA43-C38DC6CD27D8}">
      <dgm:prSet/>
      <dgm:spPr/>
      <dgm:t>
        <a:bodyPr/>
        <a:lstStyle/>
        <a:p>
          <a:endParaRPr lang="ru-RU"/>
        </a:p>
      </dgm:t>
    </dgm:pt>
    <dgm:pt modelId="{9FA2338B-FDAF-464D-AB8E-64AFD85CF758}">
      <dgm:prSet custT="1"/>
      <dgm:spPr/>
      <dgm:t>
        <a:bodyPr/>
        <a:lstStyle/>
        <a:p>
          <a:r>
            <a:rPr lang="ru-RU" sz="1400" i="0" dirty="0"/>
            <a:t>Управление товарными запасами</a:t>
          </a:r>
          <a:endParaRPr lang="ru-RU" sz="1400" dirty="0"/>
        </a:p>
      </dgm:t>
    </dgm:pt>
    <dgm:pt modelId="{0877DAAB-874F-442C-AD82-1E65CEA7178A}" type="parTrans" cxnId="{A3503C48-27A1-4D67-9CD1-03BEC55EE452}">
      <dgm:prSet custT="1"/>
      <dgm:spPr/>
      <dgm:t>
        <a:bodyPr/>
        <a:lstStyle/>
        <a:p>
          <a:endParaRPr lang="ru-RU" sz="1400"/>
        </a:p>
      </dgm:t>
    </dgm:pt>
    <dgm:pt modelId="{29E9D7BE-91A0-47CF-BC46-45C07A1DA336}" type="sibTrans" cxnId="{A3503C48-27A1-4D67-9CD1-03BEC55EE452}">
      <dgm:prSet/>
      <dgm:spPr/>
      <dgm:t>
        <a:bodyPr/>
        <a:lstStyle/>
        <a:p>
          <a:endParaRPr lang="ru-RU"/>
        </a:p>
      </dgm:t>
    </dgm:pt>
    <dgm:pt modelId="{6F9C2327-83BF-4409-81C9-FAD25E7B41D4}">
      <dgm:prSet custT="1"/>
      <dgm:spPr/>
      <dgm:t>
        <a:bodyPr/>
        <a:lstStyle/>
        <a:p>
          <a:r>
            <a:rPr lang="ru-RU" sz="1400" i="0"/>
            <a:t>Сегментация клиентов и выявление общих характеристик</a:t>
          </a:r>
          <a:endParaRPr lang="ru-RU" sz="1400"/>
        </a:p>
      </dgm:t>
    </dgm:pt>
    <dgm:pt modelId="{C3D72595-6ED7-47DD-A955-920F1BE9E6E5}" type="parTrans" cxnId="{4C55A37E-5F25-4813-84C1-14995462FE1C}">
      <dgm:prSet custT="1"/>
      <dgm:spPr/>
      <dgm:t>
        <a:bodyPr/>
        <a:lstStyle/>
        <a:p>
          <a:endParaRPr lang="ru-RU" sz="1400"/>
        </a:p>
      </dgm:t>
    </dgm:pt>
    <dgm:pt modelId="{D172FAA3-7A40-4018-AEEE-B20FA29C21C0}" type="sibTrans" cxnId="{4C55A37E-5F25-4813-84C1-14995462FE1C}">
      <dgm:prSet/>
      <dgm:spPr/>
      <dgm:t>
        <a:bodyPr/>
        <a:lstStyle/>
        <a:p>
          <a:endParaRPr lang="ru-RU"/>
        </a:p>
      </dgm:t>
    </dgm:pt>
    <dgm:pt modelId="{8E4CFD4A-F2F7-424D-BAB2-7B7CA9E6FDA6}" type="pres">
      <dgm:prSet presAssocID="{28D00738-B096-4FCC-8BFC-70EF26DDC615}" presName="cycle" presStyleCnt="0">
        <dgm:presLayoutVars>
          <dgm:chMax val="1"/>
          <dgm:dir/>
          <dgm:animLvl val="ctr"/>
          <dgm:resizeHandles val="exact"/>
        </dgm:presLayoutVars>
      </dgm:prSet>
      <dgm:spPr/>
    </dgm:pt>
    <dgm:pt modelId="{B533265B-5C1F-462B-BCB5-70AD24A94B1B}" type="pres">
      <dgm:prSet presAssocID="{D815E448-EF36-401D-9E2B-13CFDE973C6C}" presName="centerShape" presStyleLbl="node0" presStyleIdx="0" presStyleCnt="1"/>
      <dgm:spPr/>
    </dgm:pt>
    <dgm:pt modelId="{13072E1D-BDD6-4D16-881C-9FB5BB0E499C}" type="pres">
      <dgm:prSet presAssocID="{87E6D85F-E494-4A2B-8882-281790217604}" presName="Name9" presStyleLbl="parChTrans1D2" presStyleIdx="0" presStyleCnt="7"/>
      <dgm:spPr/>
    </dgm:pt>
    <dgm:pt modelId="{7453F6C7-8908-4E0D-B825-24EA438DE8A2}" type="pres">
      <dgm:prSet presAssocID="{87E6D85F-E494-4A2B-8882-281790217604}" presName="connTx" presStyleLbl="parChTrans1D2" presStyleIdx="0" presStyleCnt="7"/>
      <dgm:spPr/>
    </dgm:pt>
    <dgm:pt modelId="{AF811A64-9EA4-4855-B7C2-5BF5622F5D77}" type="pres">
      <dgm:prSet presAssocID="{8BC6580A-692A-4A20-A7D0-8E7033D44754}" presName="node" presStyleLbl="node1" presStyleIdx="0" presStyleCnt="7" custRadScaleRad="93204">
        <dgm:presLayoutVars>
          <dgm:bulletEnabled val="1"/>
        </dgm:presLayoutVars>
      </dgm:prSet>
      <dgm:spPr/>
    </dgm:pt>
    <dgm:pt modelId="{1938DC40-F982-49E4-9893-163870093D41}" type="pres">
      <dgm:prSet presAssocID="{E2EF0203-3973-4D30-BE72-860D39706174}" presName="Name9" presStyleLbl="parChTrans1D2" presStyleIdx="1" presStyleCnt="7"/>
      <dgm:spPr/>
    </dgm:pt>
    <dgm:pt modelId="{2A33E214-FE66-44BB-BE8A-301D277ADC5D}" type="pres">
      <dgm:prSet presAssocID="{E2EF0203-3973-4D30-BE72-860D39706174}" presName="connTx" presStyleLbl="parChTrans1D2" presStyleIdx="1" presStyleCnt="7"/>
      <dgm:spPr/>
    </dgm:pt>
    <dgm:pt modelId="{D4750525-9CCA-4312-BD85-86947485DACA}" type="pres">
      <dgm:prSet presAssocID="{91B9B8F5-9757-4200-8A0D-9A63B6AD1B76}" presName="node" presStyleLbl="node1" presStyleIdx="1" presStyleCnt="7" custRadScaleRad="91444" custRadScaleInc="8574">
        <dgm:presLayoutVars>
          <dgm:bulletEnabled val="1"/>
        </dgm:presLayoutVars>
      </dgm:prSet>
      <dgm:spPr/>
    </dgm:pt>
    <dgm:pt modelId="{FEFD675B-8756-4360-94F6-81944F00C06C}" type="pres">
      <dgm:prSet presAssocID="{3F126A2F-2FD7-4F6D-A2CB-651FD892A946}" presName="Name9" presStyleLbl="parChTrans1D2" presStyleIdx="2" presStyleCnt="7"/>
      <dgm:spPr/>
    </dgm:pt>
    <dgm:pt modelId="{374CA71D-F0DD-4778-A45E-1537EF3EAAE4}" type="pres">
      <dgm:prSet presAssocID="{3F126A2F-2FD7-4F6D-A2CB-651FD892A946}" presName="connTx" presStyleLbl="parChTrans1D2" presStyleIdx="2" presStyleCnt="7"/>
      <dgm:spPr/>
    </dgm:pt>
    <dgm:pt modelId="{567EFDC4-1855-4002-B94E-405BDDA0634F}" type="pres">
      <dgm:prSet presAssocID="{7CB7E012-42F0-466D-9711-63CA6DEDC21D}" presName="node" presStyleLbl="node1" presStyleIdx="2" presStyleCnt="7" custRadScaleRad="89951" custRadScaleInc="-1280">
        <dgm:presLayoutVars>
          <dgm:bulletEnabled val="1"/>
        </dgm:presLayoutVars>
      </dgm:prSet>
      <dgm:spPr/>
    </dgm:pt>
    <dgm:pt modelId="{8F4DC158-B360-46D2-B6BF-275B9DD8956A}" type="pres">
      <dgm:prSet presAssocID="{DD8C5AAD-295C-4F02-BE02-F4B38A510465}" presName="Name9" presStyleLbl="parChTrans1D2" presStyleIdx="3" presStyleCnt="7"/>
      <dgm:spPr/>
    </dgm:pt>
    <dgm:pt modelId="{59AE6B1E-62C4-48BD-95EB-71B75E002F6B}" type="pres">
      <dgm:prSet presAssocID="{DD8C5AAD-295C-4F02-BE02-F4B38A510465}" presName="connTx" presStyleLbl="parChTrans1D2" presStyleIdx="3" presStyleCnt="7"/>
      <dgm:spPr/>
    </dgm:pt>
    <dgm:pt modelId="{497B6B3E-F155-4DC8-AABF-300FA342C146}" type="pres">
      <dgm:prSet presAssocID="{55E219C7-C0C4-44EB-8284-C252EEEEA7F3}" presName="node" presStyleLbl="node1" presStyleIdx="3" presStyleCnt="7" custRadScaleRad="93173" custRadScaleInc="-3499">
        <dgm:presLayoutVars>
          <dgm:bulletEnabled val="1"/>
        </dgm:presLayoutVars>
      </dgm:prSet>
      <dgm:spPr/>
    </dgm:pt>
    <dgm:pt modelId="{F73BE175-9FEC-476C-95FE-34A2C9EC61C7}" type="pres">
      <dgm:prSet presAssocID="{4BDB7A25-E6C4-4E7E-9ADB-FB5C6CE8E96A}" presName="Name9" presStyleLbl="parChTrans1D2" presStyleIdx="4" presStyleCnt="7"/>
      <dgm:spPr/>
    </dgm:pt>
    <dgm:pt modelId="{2757B709-7BFD-4CBF-8AC1-E1957DB5D79B}" type="pres">
      <dgm:prSet presAssocID="{4BDB7A25-E6C4-4E7E-9ADB-FB5C6CE8E96A}" presName="connTx" presStyleLbl="parChTrans1D2" presStyleIdx="4" presStyleCnt="7"/>
      <dgm:spPr/>
    </dgm:pt>
    <dgm:pt modelId="{A9279B1A-7E62-4767-9422-9713B8F39E17}" type="pres">
      <dgm:prSet presAssocID="{A99DBE57-7211-4117-9D49-8A2DD6E2C913}" presName="node" presStyleLbl="node1" presStyleIdx="4" presStyleCnt="7" custRadScaleRad="93573" custRadScaleInc="5385">
        <dgm:presLayoutVars>
          <dgm:bulletEnabled val="1"/>
        </dgm:presLayoutVars>
      </dgm:prSet>
      <dgm:spPr/>
    </dgm:pt>
    <dgm:pt modelId="{ED340DCB-7FAA-42F0-A800-6140280F34E4}" type="pres">
      <dgm:prSet presAssocID="{0877DAAB-874F-442C-AD82-1E65CEA7178A}" presName="Name9" presStyleLbl="parChTrans1D2" presStyleIdx="5" presStyleCnt="7"/>
      <dgm:spPr/>
    </dgm:pt>
    <dgm:pt modelId="{E41F9E67-D5C9-4A5C-90CA-D46E569295A2}" type="pres">
      <dgm:prSet presAssocID="{0877DAAB-874F-442C-AD82-1E65CEA7178A}" presName="connTx" presStyleLbl="parChTrans1D2" presStyleIdx="5" presStyleCnt="7"/>
      <dgm:spPr/>
    </dgm:pt>
    <dgm:pt modelId="{D48199FC-01A8-4755-B892-D460C4C5D199}" type="pres">
      <dgm:prSet presAssocID="{9FA2338B-FDAF-464D-AB8E-64AFD85CF758}" presName="node" presStyleLbl="node1" presStyleIdx="5" presStyleCnt="7" custRadScaleRad="94425" custRadScaleInc="1965">
        <dgm:presLayoutVars>
          <dgm:bulletEnabled val="1"/>
        </dgm:presLayoutVars>
      </dgm:prSet>
      <dgm:spPr/>
    </dgm:pt>
    <dgm:pt modelId="{CB92F223-B93C-49AC-8C18-B4B357404A82}" type="pres">
      <dgm:prSet presAssocID="{C3D72595-6ED7-47DD-A955-920F1BE9E6E5}" presName="Name9" presStyleLbl="parChTrans1D2" presStyleIdx="6" presStyleCnt="7"/>
      <dgm:spPr/>
    </dgm:pt>
    <dgm:pt modelId="{0078DC6B-38E5-4FE5-9CEE-7F8C1E03272D}" type="pres">
      <dgm:prSet presAssocID="{C3D72595-6ED7-47DD-A955-920F1BE9E6E5}" presName="connTx" presStyleLbl="parChTrans1D2" presStyleIdx="6" presStyleCnt="7"/>
      <dgm:spPr/>
    </dgm:pt>
    <dgm:pt modelId="{50B3300D-8143-44D9-AABA-AD3AAED3D0D6}" type="pres">
      <dgm:prSet presAssocID="{6F9C2327-83BF-4409-81C9-FAD25E7B41D4}" presName="node" presStyleLbl="node1" presStyleIdx="6" presStyleCnt="7" custRadScaleRad="94472" custRadScaleInc="10602">
        <dgm:presLayoutVars>
          <dgm:bulletEnabled val="1"/>
        </dgm:presLayoutVars>
      </dgm:prSet>
      <dgm:spPr/>
    </dgm:pt>
  </dgm:ptLst>
  <dgm:cxnLst>
    <dgm:cxn modelId="{48475502-5999-4436-88E3-CAF91D523731}" type="presOf" srcId="{6F9C2327-83BF-4409-81C9-FAD25E7B41D4}" destId="{50B3300D-8143-44D9-AABA-AD3AAED3D0D6}" srcOrd="0" destOrd="0" presId="urn:microsoft.com/office/officeart/2005/8/layout/radial1"/>
    <dgm:cxn modelId="{AA56A108-DC86-4793-9DC7-9152652BB48A}" type="presOf" srcId="{7CB7E012-42F0-466D-9711-63CA6DEDC21D}" destId="{567EFDC4-1855-4002-B94E-405BDDA0634F}" srcOrd="0" destOrd="0" presId="urn:microsoft.com/office/officeart/2005/8/layout/radial1"/>
    <dgm:cxn modelId="{7E63890B-CB27-4665-9C7E-0DD03CDF357B}" type="presOf" srcId="{4BDB7A25-E6C4-4E7E-9ADB-FB5C6CE8E96A}" destId="{2757B709-7BFD-4CBF-8AC1-E1957DB5D79B}" srcOrd="1" destOrd="0" presId="urn:microsoft.com/office/officeart/2005/8/layout/radial1"/>
    <dgm:cxn modelId="{53B93312-AD25-43D4-A9B2-5902E8B5D01D}" type="presOf" srcId="{E2EF0203-3973-4D30-BE72-860D39706174}" destId="{2A33E214-FE66-44BB-BE8A-301D277ADC5D}" srcOrd="1" destOrd="0" presId="urn:microsoft.com/office/officeart/2005/8/layout/radial1"/>
    <dgm:cxn modelId="{1791D613-254B-4A09-BC23-F934AC9BCAE2}" type="presOf" srcId="{91B9B8F5-9757-4200-8A0D-9A63B6AD1B76}" destId="{D4750525-9CCA-4312-BD85-86947485DACA}" srcOrd="0" destOrd="0" presId="urn:microsoft.com/office/officeart/2005/8/layout/radial1"/>
    <dgm:cxn modelId="{8EEE761A-F53A-4967-9578-651D566FE249}" type="presOf" srcId="{C3D72595-6ED7-47DD-A955-920F1BE9E6E5}" destId="{CB92F223-B93C-49AC-8C18-B4B357404A82}" srcOrd="0" destOrd="0" presId="urn:microsoft.com/office/officeart/2005/8/layout/radial1"/>
    <dgm:cxn modelId="{B5680F1F-E16D-4198-9B67-EAA5D364826F}" type="presOf" srcId="{DD8C5AAD-295C-4F02-BE02-F4B38A510465}" destId="{59AE6B1E-62C4-48BD-95EB-71B75E002F6B}" srcOrd="1" destOrd="0" presId="urn:microsoft.com/office/officeart/2005/8/layout/radial1"/>
    <dgm:cxn modelId="{19CBEC20-982F-4B8C-B417-440E0BDBAA7A}" srcId="{D815E448-EF36-401D-9E2B-13CFDE973C6C}" destId="{7CB7E012-42F0-466D-9711-63CA6DEDC21D}" srcOrd="2" destOrd="0" parTransId="{3F126A2F-2FD7-4F6D-A2CB-651FD892A946}" sibTransId="{9DD2DF6D-65FE-4032-B7C2-F71EF9258EAF}"/>
    <dgm:cxn modelId="{98F7EA25-8E31-463A-A8FD-F10735637B4E}" type="presOf" srcId="{8BC6580A-692A-4A20-A7D0-8E7033D44754}" destId="{AF811A64-9EA4-4855-B7C2-5BF5622F5D77}" srcOrd="0" destOrd="0" presId="urn:microsoft.com/office/officeart/2005/8/layout/radial1"/>
    <dgm:cxn modelId="{BBEA0A60-ACD1-4865-ADD2-9C14CBA5C639}" type="presOf" srcId="{28D00738-B096-4FCC-8BFC-70EF26DDC615}" destId="{8E4CFD4A-F2F7-424D-BAB2-7B7CA9E6FDA6}" srcOrd="0" destOrd="0" presId="urn:microsoft.com/office/officeart/2005/8/layout/radial1"/>
    <dgm:cxn modelId="{A3503C48-27A1-4D67-9CD1-03BEC55EE452}" srcId="{D815E448-EF36-401D-9E2B-13CFDE973C6C}" destId="{9FA2338B-FDAF-464D-AB8E-64AFD85CF758}" srcOrd="5" destOrd="0" parTransId="{0877DAAB-874F-442C-AD82-1E65CEA7178A}" sibTransId="{29E9D7BE-91A0-47CF-BC46-45C07A1DA336}"/>
    <dgm:cxn modelId="{98AA1C4C-E989-4CC1-8680-939DD9AC68EA}" srcId="{D815E448-EF36-401D-9E2B-13CFDE973C6C}" destId="{8BC6580A-692A-4A20-A7D0-8E7033D44754}" srcOrd="0" destOrd="0" parTransId="{87E6D85F-E494-4A2B-8882-281790217604}" sibTransId="{03C7091D-9A30-4A04-8082-728F3034951B}"/>
    <dgm:cxn modelId="{BF39B94C-432B-4811-AF3C-0CF144937BD7}" srcId="{28D00738-B096-4FCC-8BFC-70EF26DDC615}" destId="{D815E448-EF36-401D-9E2B-13CFDE973C6C}" srcOrd="0" destOrd="0" parTransId="{C781F4AE-D1C4-4605-8EB0-2625D38475CB}" sibTransId="{E130A9F1-61C1-4CC7-BC78-2EF0303DC0C4}"/>
    <dgm:cxn modelId="{AC9A356D-13A1-4816-9FB8-82EE0BE85FD5}" type="presOf" srcId="{DD8C5AAD-295C-4F02-BE02-F4B38A510465}" destId="{8F4DC158-B360-46D2-B6BF-275B9DD8956A}" srcOrd="0" destOrd="0" presId="urn:microsoft.com/office/officeart/2005/8/layout/radial1"/>
    <dgm:cxn modelId="{4C55A37E-5F25-4813-84C1-14995462FE1C}" srcId="{D815E448-EF36-401D-9E2B-13CFDE973C6C}" destId="{6F9C2327-83BF-4409-81C9-FAD25E7B41D4}" srcOrd="6" destOrd="0" parTransId="{C3D72595-6ED7-47DD-A955-920F1BE9E6E5}" sibTransId="{D172FAA3-7A40-4018-AEEE-B20FA29C21C0}"/>
    <dgm:cxn modelId="{FCEE9F83-B0B7-40E0-B553-D75C7F58B7BB}" type="presOf" srcId="{C3D72595-6ED7-47DD-A955-920F1BE9E6E5}" destId="{0078DC6B-38E5-4FE5-9CEE-7F8C1E03272D}" srcOrd="1" destOrd="0" presId="urn:microsoft.com/office/officeart/2005/8/layout/radial1"/>
    <dgm:cxn modelId="{AFF28597-A872-464D-AD66-BA13667B93F8}" type="presOf" srcId="{0877DAAB-874F-442C-AD82-1E65CEA7178A}" destId="{ED340DCB-7FAA-42F0-A800-6140280F34E4}" srcOrd="0" destOrd="0" presId="urn:microsoft.com/office/officeart/2005/8/layout/radial1"/>
    <dgm:cxn modelId="{C2F0A69D-53BF-4F67-B609-54EEA1B9516F}" srcId="{D815E448-EF36-401D-9E2B-13CFDE973C6C}" destId="{91B9B8F5-9757-4200-8A0D-9A63B6AD1B76}" srcOrd="1" destOrd="0" parTransId="{E2EF0203-3973-4D30-BE72-860D39706174}" sibTransId="{783321C8-43AA-4470-BC8A-4A5792D7AF00}"/>
    <dgm:cxn modelId="{60F4B89E-85B4-4642-B5D0-CBC068834F16}" type="presOf" srcId="{9FA2338B-FDAF-464D-AB8E-64AFD85CF758}" destId="{D48199FC-01A8-4755-B892-D460C4C5D199}" srcOrd="0" destOrd="0" presId="urn:microsoft.com/office/officeart/2005/8/layout/radial1"/>
    <dgm:cxn modelId="{7F37E6AE-0B01-45D6-8C3C-CFC997CEC56E}" type="presOf" srcId="{D815E448-EF36-401D-9E2B-13CFDE973C6C}" destId="{B533265B-5C1F-462B-BCB5-70AD24A94B1B}" srcOrd="0" destOrd="0" presId="urn:microsoft.com/office/officeart/2005/8/layout/radial1"/>
    <dgm:cxn modelId="{5D8750AF-9DEA-4C9B-A4C4-A0111168ABA2}" type="presOf" srcId="{4BDB7A25-E6C4-4E7E-9ADB-FB5C6CE8E96A}" destId="{F73BE175-9FEC-476C-95FE-34A2C9EC61C7}" srcOrd="0" destOrd="0" presId="urn:microsoft.com/office/officeart/2005/8/layout/radial1"/>
    <dgm:cxn modelId="{664A47B2-3D87-414D-BE71-C45FEB29709B}" type="presOf" srcId="{0877DAAB-874F-442C-AD82-1E65CEA7178A}" destId="{E41F9E67-D5C9-4A5C-90CA-D46E569295A2}" srcOrd="1" destOrd="0" presId="urn:microsoft.com/office/officeart/2005/8/layout/radial1"/>
    <dgm:cxn modelId="{939CABB2-1DD1-482D-BF4D-B83B9EB5028B}" type="presOf" srcId="{87E6D85F-E494-4A2B-8882-281790217604}" destId="{7453F6C7-8908-4E0D-B825-24EA438DE8A2}" srcOrd="1" destOrd="0" presId="urn:microsoft.com/office/officeart/2005/8/layout/radial1"/>
    <dgm:cxn modelId="{FB1C3DC8-EEB3-4DBA-9A40-C72A62F05294}" type="presOf" srcId="{3F126A2F-2FD7-4F6D-A2CB-651FD892A946}" destId="{374CA71D-F0DD-4778-A45E-1537EF3EAAE4}" srcOrd="1" destOrd="0" presId="urn:microsoft.com/office/officeart/2005/8/layout/radial1"/>
    <dgm:cxn modelId="{1B8731CF-0F3A-409C-BA43-C38DC6CD27D8}" srcId="{D815E448-EF36-401D-9E2B-13CFDE973C6C}" destId="{A99DBE57-7211-4117-9D49-8A2DD6E2C913}" srcOrd="4" destOrd="0" parTransId="{4BDB7A25-E6C4-4E7E-9ADB-FB5C6CE8E96A}" sibTransId="{D51D0F68-ECA6-4FF3-9323-7B88F9E888F3}"/>
    <dgm:cxn modelId="{F28A6EDB-84EA-4F54-AFEF-D0FD75538B17}" srcId="{D815E448-EF36-401D-9E2B-13CFDE973C6C}" destId="{55E219C7-C0C4-44EB-8284-C252EEEEA7F3}" srcOrd="3" destOrd="0" parTransId="{DD8C5AAD-295C-4F02-BE02-F4B38A510465}" sibTransId="{CF1AAB69-0BB1-4BCF-921F-5BA09E191C34}"/>
    <dgm:cxn modelId="{7E9E40E4-DAAF-424C-9926-6DF8810DFD4A}" type="presOf" srcId="{E2EF0203-3973-4D30-BE72-860D39706174}" destId="{1938DC40-F982-49E4-9893-163870093D41}" srcOrd="0" destOrd="0" presId="urn:microsoft.com/office/officeart/2005/8/layout/radial1"/>
    <dgm:cxn modelId="{F39B6FE4-BD14-4245-94D7-D36AE9D07E8A}" type="presOf" srcId="{A99DBE57-7211-4117-9D49-8A2DD6E2C913}" destId="{A9279B1A-7E62-4767-9422-9713B8F39E17}" srcOrd="0" destOrd="0" presId="urn:microsoft.com/office/officeart/2005/8/layout/radial1"/>
    <dgm:cxn modelId="{81CEF8E7-1954-4125-9408-B5999DEC76DF}" type="presOf" srcId="{87E6D85F-E494-4A2B-8882-281790217604}" destId="{13072E1D-BDD6-4D16-881C-9FB5BB0E499C}" srcOrd="0" destOrd="0" presId="urn:microsoft.com/office/officeart/2005/8/layout/radial1"/>
    <dgm:cxn modelId="{228B89F3-EECA-410D-BA5C-6F1C7017781B}" type="presOf" srcId="{3F126A2F-2FD7-4F6D-A2CB-651FD892A946}" destId="{FEFD675B-8756-4360-94F6-81944F00C06C}" srcOrd="0" destOrd="0" presId="urn:microsoft.com/office/officeart/2005/8/layout/radial1"/>
    <dgm:cxn modelId="{2FBD2AF4-9541-42B3-8985-ECA57FEECCAA}" type="presOf" srcId="{55E219C7-C0C4-44EB-8284-C252EEEEA7F3}" destId="{497B6B3E-F155-4DC8-AABF-300FA342C146}" srcOrd="0" destOrd="0" presId="urn:microsoft.com/office/officeart/2005/8/layout/radial1"/>
    <dgm:cxn modelId="{22B04666-D9E8-4272-80A5-E72378DA16E9}" type="presParOf" srcId="{8E4CFD4A-F2F7-424D-BAB2-7B7CA9E6FDA6}" destId="{B533265B-5C1F-462B-BCB5-70AD24A94B1B}" srcOrd="0" destOrd="0" presId="urn:microsoft.com/office/officeart/2005/8/layout/radial1"/>
    <dgm:cxn modelId="{33710094-A8FA-4ED2-886D-C08EBE422E4E}" type="presParOf" srcId="{8E4CFD4A-F2F7-424D-BAB2-7B7CA9E6FDA6}" destId="{13072E1D-BDD6-4D16-881C-9FB5BB0E499C}" srcOrd="1" destOrd="0" presId="urn:microsoft.com/office/officeart/2005/8/layout/radial1"/>
    <dgm:cxn modelId="{595510EE-27F1-48CB-B5EE-CA3A5114397A}" type="presParOf" srcId="{13072E1D-BDD6-4D16-881C-9FB5BB0E499C}" destId="{7453F6C7-8908-4E0D-B825-24EA438DE8A2}" srcOrd="0" destOrd="0" presId="urn:microsoft.com/office/officeart/2005/8/layout/radial1"/>
    <dgm:cxn modelId="{9A18EC8B-7432-4A70-A0A0-8466D59CE131}" type="presParOf" srcId="{8E4CFD4A-F2F7-424D-BAB2-7B7CA9E6FDA6}" destId="{AF811A64-9EA4-4855-B7C2-5BF5622F5D77}" srcOrd="2" destOrd="0" presId="urn:microsoft.com/office/officeart/2005/8/layout/radial1"/>
    <dgm:cxn modelId="{CF4CF94D-1E3D-4FF9-9C19-B49639C5939A}" type="presParOf" srcId="{8E4CFD4A-F2F7-424D-BAB2-7B7CA9E6FDA6}" destId="{1938DC40-F982-49E4-9893-163870093D41}" srcOrd="3" destOrd="0" presId="urn:microsoft.com/office/officeart/2005/8/layout/radial1"/>
    <dgm:cxn modelId="{6C49AB6E-0B71-4ACA-A225-C9D150F0E226}" type="presParOf" srcId="{1938DC40-F982-49E4-9893-163870093D41}" destId="{2A33E214-FE66-44BB-BE8A-301D277ADC5D}" srcOrd="0" destOrd="0" presId="urn:microsoft.com/office/officeart/2005/8/layout/radial1"/>
    <dgm:cxn modelId="{C580D717-3E29-4DB0-A952-0AFF9F8CF04E}" type="presParOf" srcId="{8E4CFD4A-F2F7-424D-BAB2-7B7CA9E6FDA6}" destId="{D4750525-9CCA-4312-BD85-86947485DACA}" srcOrd="4" destOrd="0" presId="urn:microsoft.com/office/officeart/2005/8/layout/radial1"/>
    <dgm:cxn modelId="{6EEAF147-1CAD-491D-81D3-3DF1C7299B2E}" type="presParOf" srcId="{8E4CFD4A-F2F7-424D-BAB2-7B7CA9E6FDA6}" destId="{FEFD675B-8756-4360-94F6-81944F00C06C}" srcOrd="5" destOrd="0" presId="urn:microsoft.com/office/officeart/2005/8/layout/radial1"/>
    <dgm:cxn modelId="{E69233C3-9317-47BC-B6E2-D2ECE5099E72}" type="presParOf" srcId="{FEFD675B-8756-4360-94F6-81944F00C06C}" destId="{374CA71D-F0DD-4778-A45E-1537EF3EAAE4}" srcOrd="0" destOrd="0" presId="urn:microsoft.com/office/officeart/2005/8/layout/radial1"/>
    <dgm:cxn modelId="{2278EEF8-398D-4338-9420-E5687FAEE146}" type="presParOf" srcId="{8E4CFD4A-F2F7-424D-BAB2-7B7CA9E6FDA6}" destId="{567EFDC4-1855-4002-B94E-405BDDA0634F}" srcOrd="6" destOrd="0" presId="urn:microsoft.com/office/officeart/2005/8/layout/radial1"/>
    <dgm:cxn modelId="{60AEC8D0-57EB-4F2E-B6BE-DF32603AFB68}" type="presParOf" srcId="{8E4CFD4A-F2F7-424D-BAB2-7B7CA9E6FDA6}" destId="{8F4DC158-B360-46D2-B6BF-275B9DD8956A}" srcOrd="7" destOrd="0" presId="urn:microsoft.com/office/officeart/2005/8/layout/radial1"/>
    <dgm:cxn modelId="{090D9688-AB84-4576-820C-D53EF97A5B94}" type="presParOf" srcId="{8F4DC158-B360-46D2-B6BF-275B9DD8956A}" destId="{59AE6B1E-62C4-48BD-95EB-71B75E002F6B}" srcOrd="0" destOrd="0" presId="urn:microsoft.com/office/officeart/2005/8/layout/radial1"/>
    <dgm:cxn modelId="{6344429C-6A4F-4C70-AFB5-3E4C978EEB86}" type="presParOf" srcId="{8E4CFD4A-F2F7-424D-BAB2-7B7CA9E6FDA6}" destId="{497B6B3E-F155-4DC8-AABF-300FA342C146}" srcOrd="8" destOrd="0" presId="urn:microsoft.com/office/officeart/2005/8/layout/radial1"/>
    <dgm:cxn modelId="{B1E49813-D4B2-4138-9909-9571566A5A67}" type="presParOf" srcId="{8E4CFD4A-F2F7-424D-BAB2-7B7CA9E6FDA6}" destId="{F73BE175-9FEC-476C-95FE-34A2C9EC61C7}" srcOrd="9" destOrd="0" presId="urn:microsoft.com/office/officeart/2005/8/layout/radial1"/>
    <dgm:cxn modelId="{40259DCD-A1DA-4CCD-BEE7-39B34E898F26}" type="presParOf" srcId="{F73BE175-9FEC-476C-95FE-34A2C9EC61C7}" destId="{2757B709-7BFD-4CBF-8AC1-E1957DB5D79B}" srcOrd="0" destOrd="0" presId="urn:microsoft.com/office/officeart/2005/8/layout/radial1"/>
    <dgm:cxn modelId="{7178A5D1-DFE5-4670-AD7D-528691DED483}" type="presParOf" srcId="{8E4CFD4A-F2F7-424D-BAB2-7B7CA9E6FDA6}" destId="{A9279B1A-7E62-4767-9422-9713B8F39E17}" srcOrd="10" destOrd="0" presId="urn:microsoft.com/office/officeart/2005/8/layout/radial1"/>
    <dgm:cxn modelId="{1F692A73-6B85-4C13-BD6B-2854825AC086}" type="presParOf" srcId="{8E4CFD4A-F2F7-424D-BAB2-7B7CA9E6FDA6}" destId="{ED340DCB-7FAA-42F0-A800-6140280F34E4}" srcOrd="11" destOrd="0" presId="urn:microsoft.com/office/officeart/2005/8/layout/radial1"/>
    <dgm:cxn modelId="{534A3131-F039-4569-BE6D-4033B9E51F58}" type="presParOf" srcId="{ED340DCB-7FAA-42F0-A800-6140280F34E4}" destId="{E41F9E67-D5C9-4A5C-90CA-D46E569295A2}" srcOrd="0" destOrd="0" presId="urn:microsoft.com/office/officeart/2005/8/layout/radial1"/>
    <dgm:cxn modelId="{424021D7-6B03-477A-BDD7-E357754B64A2}" type="presParOf" srcId="{8E4CFD4A-F2F7-424D-BAB2-7B7CA9E6FDA6}" destId="{D48199FC-01A8-4755-B892-D460C4C5D199}" srcOrd="12" destOrd="0" presId="urn:microsoft.com/office/officeart/2005/8/layout/radial1"/>
    <dgm:cxn modelId="{02867E58-842A-4428-9571-2CB5BB511AF3}" type="presParOf" srcId="{8E4CFD4A-F2F7-424D-BAB2-7B7CA9E6FDA6}" destId="{CB92F223-B93C-49AC-8C18-B4B357404A82}" srcOrd="13" destOrd="0" presId="urn:microsoft.com/office/officeart/2005/8/layout/radial1"/>
    <dgm:cxn modelId="{F172BE1F-8579-4575-AD92-C5A2E068122E}" type="presParOf" srcId="{CB92F223-B93C-49AC-8C18-B4B357404A82}" destId="{0078DC6B-38E5-4FE5-9CEE-7F8C1E03272D}" srcOrd="0" destOrd="0" presId="urn:microsoft.com/office/officeart/2005/8/layout/radial1"/>
    <dgm:cxn modelId="{8CD03F4B-2CA2-468A-86A4-279DE2966886}" type="presParOf" srcId="{8E4CFD4A-F2F7-424D-BAB2-7B7CA9E6FDA6}" destId="{50B3300D-8143-44D9-AABA-AD3AAED3D0D6}" srcOrd="14"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33265B-5C1F-462B-BCB5-70AD24A94B1B}">
      <dsp:nvSpPr>
        <dsp:cNvPr id="0" name=""/>
        <dsp:cNvSpPr/>
      </dsp:nvSpPr>
      <dsp:spPr>
        <a:xfrm>
          <a:off x="2092165" y="2178315"/>
          <a:ext cx="1416369" cy="1416369"/>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ru-RU" sz="1600" b="1" kern="1200"/>
            <a:t>Анализ ассоциативных правил</a:t>
          </a:r>
          <a:endParaRPr lang="ru-RU" sz="1600" kern="1200"/>
        </a:p>
      </dsp:txBody>
      <dsp:txXfrm>
        <a:off x="2299587" y="2385737"/>
        <a:ext cx="1001525" cy="1001525"/>
      </dsp:txXfrm>
    </dsp:sp>
    <dsp:sp modelId="{13072E1D-BDD6-4D16-881C-9FB5BB0E499C}">
      <dsp:nvSpPr>
        <dsp:cNvPr id="0" name=""/>
        <dsp:cNvSpPr/>
      </dsp:nvSpPr>
      <dsp:spPr>
        <a:xfrm rot="16200000">
          <a:off x="2518435" y="1873640"/>
          <a:ext cx="563829" cy="45520"/>
        </a:xfrm>
        <a:custGeom>
          <a:avLst/>
          <a:gdLst/>
          <a:ahLst/>
          <a:cxnLst/>
          <a:rect l="0" t="0" r="0" b="0"/>
          <a:pathLst>
            <a:path>
              <a:moveTo>
                <a:pt x="0" y="22760"/>
              </a:moveTo>
              <a:lnTo>
                <a:pt x="563829" y="2276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ru-RU" sz="1400" kern="1200"/>
        </a:p>
      </dsp:txBody>
      <dsp:txXfrm>
        <a:off x="2786254" y="1882304"/>
        <a:ext cx="28191" cy="28191"/>
      </dsp:txXfrm>
    </dsp:sp>
    <dsp:sp modelId="{AF811A64-9EA4-4855-B7C2-5BF5622F5D77}">
      <dsp:nvSpPr>
        <dsp:cNvPr id="0" name=""/>
        <dsp:cNvSpPr/>
      </dsp:nvSpPr>
      <dsp:spPr>
        <a:xfrm>
          <a:off x="2092165" y="198116"/>
          <a:ext cx="1416369" cy="1416369"/>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ru-RU" sz="1800" kern="1200" dirty="0"/>
            <a:t>Прогнозирование спроса</a:t>
          </a:r>
        </a:p>
      </dsp:txBody>
      <dsp:txXfrm>
        <a:off x="2299587" y="405538"/>
        <a:ext cx="1001525" cy="1001525"/>
      </dsp:txXfrm>
    </dsp:sp>
    <dsp:sp modelId="{1938DC40-F982-49E4-9893-163870093D41}">
      <dsp:nvSpPr>
        <dsp:cNvPr id="0" name=""/>
        <dsp:cNvSpPr/>
      </dsp:nvSpPr>
      <dsp:spPr>
        <a:xfrm rot="19417999">
          <a:off x="3319343" y="2287745"/>
          <a:ext cx="526436" cy="45520"/>
        </a:xfrm>
        <a:custGeom>
          <a:avLst/>
          <a:gdLst/>
          <a:ahLst/>
          <a:cxnLst/>
          <a:rect l="0" t="0" r="0" b="0"/>
          <a:pathLst>
            <a:path>
              <a:moveTo>
                <a:pt x="0" y="22760"/>
              </a:moveTo>
              <a:lnTo>
                <a:pt x="526436" y="2276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ru-RU" sz="1400" kern="1200"/>
        </a:p>
      </dsp:txBody>
      <dsp:txXfrm>
        <a:off x="3569400" y="2297344"/>
        <a:ext cx="26321" cy="26321"/>
      </dsp:txXfrm>
    </dsp:sp>
    <dsp:sp modelId="{D4750525-9CCA-4312-BD85-86947485DACA}">
      <dsp:nvSpPr>
        <dsp:cNvPr id="0" name=""/>
        <dsp:cNvSpPr/>
      </dsp:nvSpPr>
      <dsp:spPr>
        <a:xfrm>
          <a:off x="3656588" y="1026326"/>
          <a:ext cx="1416369" cy="1416369"/>
        </a:xfrm>
        <a:prstGeom prst="ellipse">
          <a:avLst/>
        </a:prstGeom>
        <a:solidFill>
          <a:schemeClr val="accent1">
            <a:lumMod val="75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ru-RU" sz="1600" i="0" kern="1200" dirty="0"/>
            <a:t>Маркетинг</a:t>
          </a:r>
          <a:endParaRPr lang="ru-RU" sz="1600" kern="1200" dirty="0"/>
        </a:p>
      </dsp:txBody>
      <dsp:txXfrm>
        <a:off x="3864010" y="1233748"/>
        <a:ext cx="1001525" cy="1001525"/>
      </dsp:txXfrm>
    </dsp:sp>
    <dsp:sp modelId="{FEFD675B-8756-4360-94F6-81944F00C06C}">
      <dsp:nvSpPr>
        <dsp:cNvPr id="0" name=""/>
        <dsp:cNvSpPr/>
      </dsp:nvSpPr>
      <dsp:spPr>
        <a:xfrm rot="751680">
          <a:off x="3485783" y="3071013"/>
          <a:ext cx="494716" cy="45520"/>
        </a:xfrm>
        <a:custGeom>
          <a:avLst/>
          <a:gdLst/>
          <a:ahLst/>
          <a:cxnLst/>
          <a:rect l="0" t="0" r="0" b="0"/>
          <a:pathLst>
            <a:path>
              <a:moveTo>
                <a:pt x="0" y="22760"/>
              </a:moveTo>
              <a:lnTo>
                <a:pt x="494716" y="2276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ru-RU" sz="1400" kern="1200"/>
        </a:p>
      </dsp:txBody>
      <dsp:txXfrm>
        <a:off x="3720773" y="3081405"/>
        <a:ext cx="24735" cy="24735"/>
      </dsp:txXfrm>
    </dsp:sp>
    <dsp:sp modelId="{567EFDC4-1855-4002-B94E-405BDDA0634F}">
      <dsp:nvSpPr>
        <dsp:cNvPr id="0" name=""/>
        <dsp:cNvSpPr/>
      </dsp:nvSpPr>
      <dsp:spPr>
        <a:xfrm>
          <a:off x="3957748" y="2592861"/>
          <a:ext cx="1416369" cy="1416369"/>
        </a:xfrm>
        <a:prstGeom prst="ellipse">
          <a:avLst/>
        </a:prstGeom>
        <a:solidFill>
          <a:schemeClr val="accent1">
            <a:lumMod val="75000"/>
          </a:schemeClr>
        </a:solidFill>
        <a:ln w="12700" cap="flat" cmpd="sng" algn="ctr">
          <a:solidFill>
            <a:schemeClr val="tx1">
              <a:lumMod val="95000"/>
              <a:lumOff val="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ru-RU" sz="1600" i="0" kern="1200" dirty="0"/>
            <a:t>Розничная торговля</a:t>
          </a:r>
          <a:endParaRPr lang="ru-RU" sz="1600" kern="1200" dirty="0"/>
        </a:p>
      </dsp:txBody>
      <dsp:txXfrm>
        <a:off x="4165170" y="2800283"/>
        <a:ext cx="1001525" cy="1001525"/>
      </dsp:txXfrm>
    </dsp:sp>
    <dsp:sp modelId="{8F4DC158-B360-46D2-B6BF-275B9DD8956A}">
      <dsp:nvSpPr>
        <dsp:cNvPr id="0" name=""/>
        <dsp:cNvSpPr/>
      </dsp:nvSpPr>
      <dsp:spPr>
        <a:xfrm rot="3803158">
          <a:off x="2962159" y="3748638"/>
          <a:ext cx="563170" cy="45520"/>
        </a:xfrm>
        <a:custGeom>
          <a:avLst/>
          <a:gdLst/>
          <a:ahLst/>
          <a:cxnLst/>
          <a:rect l="0" t="0" r="0" b="0"/>
          <a:pathLst>
            <a:path>
              <a:moveTo>
                <a:pt x="0" y="22760"/>
              </a:moveTo>
              <a:lnTo>
                <a:pt x="563170" y="2276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ru-RU" sz="1400" kern="1200"/>
        </a:p>
      </dsp:txBody>
      <dsp:txXfrm>
        <a:off x="3229666" y="3757319"/>
        <a:ext cx="28158" cy="28158"/>
      </dsp:txXfrm>
    </dsp:sp>
    <dsp:sp modelId="{497B6B3E-F155-4DC8-AABF-300FA342C146}">
      <dsp:nvSpPr>
        <dsp:cNvPr id="0" name=""/>
        <dsp:cNvSpPr/>
      </dsp:nvSpPr>
      <dsp:spPr>
        <a:xfrm>
          <a:off x="2978955" y="3948112"/>
          <a:ext cx="1416369" cy="1416369"/>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ru-RU" sz="1800" i="0" kern="1200"/>
            <a:t>Перекрестные продажи</a:t>
          </a:r>
          <a:endParaRPr lang="ru-RU" sz="1800" kern="1200"/>
        </a:p>
      </dsp:txBody>
      <dsp:txXfrm>
        <a:off x="3186377" y="4155534"/>
        <a:ext cx="1001525" cy="1001525"/>
      </dsp:txXfrm>
    </dsp:sp>
    <dsp:sp modelId="{F73BE175-9FEC-476C-95FE-34A2C9EC61C7}">
      <dsp:nvSpPr>
        <dsp:cNvPr id="0" name=""/>
        <dsp:cNvSpPr/>
      </dsp:nvSpPr>
      <dsp:spPr>
        <a:xfrm rot="7025940">
          <a:off x="2061710" y="3748636"/>
          <a:ext cx="571669" cy="45520"/>
        </a:xfrm>
        <a:custGeom>
          <a:avLst/>
          <a:gdLst/>
          <a:ahLst/>
          <a:cxnLst/>
          <a:rect l="0" t="0" r="0" b="0"/>
          <a:pathLst>
            <a:path>
              <a:moveTo>
                <a:pt x="0" y="22760"/>
              </a:moveTo>
              <a:lnTo>
                <a:pt x="571669" y="2276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ru-RU" sz="1400" kern="1200"/>
        </a:p>
      </dsp:txBody>
      <dsp:txXfrm rot="10800000">
        <a:off x="2333253" y="3757105"/>
        <a:ext cx="28583" cy="28583"/>
      </dsp:txXfrm>
    </dsp:sp>
    <dsp:sp modelId="{A9279B1A-7E62-4767-9422-9713B8F39E17}">
      <dsp:nvSpPr>
        <dsp:cNvPr id="0" name=""/>
        <dsp:cNvSpPr/>
      </dsp:nvSpPr>
      <dsp:spPr>
        <a:xfrm>
          <a:off x="1186555" y="3948108"/>
          <a:ext cx="1416369" cy="1416369"/>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ru-RU" sz="1800" i="0" kern="1200"/>
            <a:t>Анализ </a:t>
          </a:r>
          <a:r>
            <a:rPr lang="en-US" sz="1800" i="0" kern="1200"/>
            <a:t>Web-</a:t>
          </a:r>
          <a:r>
            <a:rPr lang="ru-RU" sz="1800" i="0" kern="1200"/>
            <a:t>логов</a:t>
          </a:r>
          <a:endParaRPr lang="ru-RU" sz="1800" kern="1200"/>
        </a:p>
      </dsp:txBody>
      <dsp:txXfrm>
        <a:off x="1393977" y="4155530"/>
        <a:ext cx="1001525" cy="1001525"/>
      </dsp:txXfrm>
    </dsp:sp>
    <dsp:sp modelId="{ED340DCB-7FAA-42F0-A800-6140280F34E4}">
      <dsp:nvSpPr>
        <dsp:cNvPr id="0" name=""/>
        <dsp:cNvSpPr/>
      </dsp:nvSpPr>
      <dsp:spPr>
        <a:xfrm rot="10058889">
          <a:off x="1525613" y="3078311"/>
          <a:ext cx="589770" cy="45520"/>
        </a:xfrm>
        <a:custGeom>
          <a:avLst/>
          <a:gdLst/>
          <a:ahLst/>
          <a:cxnLst/>
          <a:rect l="0" t="0" r="0" b="0"/>
          <a:pathLst>
            <a:path>
              <a:moveTo>
                <a:pt x="0" y="22760"/>
              </a:moveTo>
              <a:lnTo>
                <a:pt x="589770" y="2276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ru-RU" sz="1400" kern="1200"/>
        </a:p>
      </dsp:txBody>
      <dsp:txXfrm rot="10800000">
        <a:off x="1805754" y="3086327"/>
        <a:ext cx="29488" cy="29488"/>
      </dsp:txXfrm>
    </dsp:sp>
    <dsp:sp modelId="{D48199FC-01A8-4755-B892-D460C4C5D199}">
      <dsp:nvSpPr>
        <dsp:cNvPr id="0" name=""/>
        <dsp:cNvSpPr/>
      </dsp:nvSpPr>
      <dsp:spPr>
        <a:xfrm>
          <a:off x="132462" y="2607457"/>
          <a:ext cx="1416369" cy="1416369"/>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ru-RU" sz="1400" i="0" kern="1200" dirty="0"/>
            <a:t>Управление товарными запасами</a:t>
          </a:r>
          <a:endParaRPr lang="ru-RU" sz="1400" kern="1200" dirty="0"/>
        </a:p>
      </dsp:txBody>
      <dsp:txXfrm>
        <a:off x="339884" y="2814879"/>
        <a:ext cx="1001525" cy="1001525"/>
      </dsp:txXfrm>
    </dsp:sp>
    <dsp:sp modelId="{CB92F223-B93C-49AC-8C18-B4B357404A82}">
      <dsp:nvSpPr>
        <dsp:cNvPr id="0" name=""/>
        <dsp:cNvSpPr/>
      </dsp:nvSpPr>
      <dsp:spPr>
        <a:xfrm rot="13277859">
          <a:off x="1750992" y="2201413"/>
          <a:ext cx="590769" cy="45520"/>
        </a:xfrm>
        <a:custGeom>
          <a:avLst/>
          <a:gdLst/>
          <a:ahLst/>
          <a:cxnLst/>
          <a:rect l="0" t="0" r="0" b="0"/>
          <a:pathLst>
            <a:path>
              <a:moveTo>
                <a:pt x="0" y="22760"/>
              </a:moveTo>
              <a:lnTo>
                <a:pt x="590769" y="2276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ru-RU" sz="1400" kern="1200"/>
        </a:p>
      </dsp:txBody>
      <dsp:txXfrm rot="10800000">
        <a:off x="2031607" y="2209404"/>
        <a:ext cx="29538" cy="29538"/>
      </dsp:txXfrm>
    </dsp:sp>
    <dsp:sp modelId="{50B3300D-8143-44D9-AABA-AD3AAED3D0D6}">
      <dsp:nvSpPr>
        <dsp:cNvPr id="0" name=""/>
        <dsp:cNvSpPr/>
      </dsp:nvSpPr>
      <dsp:spPr>
        <a:xfrm>
          <a:off x="584219" y="853661"/>
          <a:ext cx="1416369" cy="1416369"/>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ru-RU" sz="1400" i="0" kern="1200"/>
            <a:t>Сегментация клиентов и выявление общих характеристик</a:t>
          </a:r>
          <a:endParaRPr lang="ru-RU" sz="1400" kern="1200"/>
        </a:p>
      </dsp:txBody>
      <dsp:txXfrm>
        <a:off x="791641" y="1061083"/>
        <a:ext cx="1001525" cy="1001525"/>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884D3DCB-A1F6-4D77-B944-BA104682E2A1}" type="datetimeFigureOut">
              <a:rPr lang="ru-RU" smtClean="0"/>
              <a:t>18.12.2024</a:t>
            </a:fld>
            <a:endParaRPr lang="ru-RU"/>
          </a:p>
        </p:txBody>
      </p:sp>
      <p:sp>
        <p:nvSpPr>
          <p:cNvPr id="4" name="Образ слайда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DECB8B1E-725D-4009-AE77-F13A2082C589}" type="slidenum">
              <a:rPr lang="ru-RU" smtClean="0"/>
              <a:t>‹#›</a:t>
            </a:fld>
            <a:endParaRPr lang="ru-RU"/>
          </a:p>
        </p:txBody>
      </p:sp>
    </p:spTree>
    <p:extLst>
      <p:ext uri="{BB962C8B-B14F-4D97-AF65-F5344CB8AC3E}">
        <p14:creationId xmlns:p14="http://schemas.microsoft.com/office/powerpoint/2010/main" val="3827504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ru.wikipedia.org/wiki/%D0%9F%D0%BE%D0%B8%D1%81%D0%BA_%D0%B2_%D1%88%D0%B8%D1%80%D0%B8%D0%BD%D1%83"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F4ECBE7-4487-4615-A10C-5FECAADA1E8C}" type="slidenum">
              <a:rPr lang="ru-RU" smtClean="0"/>
              <a:t>1</a:t>
            </a:fld>
            <a:endParaRPr lang="ru-RU"/>
          </a:p>
        </p:txBody>
      </p:sp>
    </p:spTree>
    <p:extLst>
      <p:ext uri="{BB962C8B-B14F-4D97-AF65-F5344CB8AC3E}">
        <p14:creationId xmlns:p14="http://schemas.microsoft.com/office/powerpoint/2010/main" val="3966575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DF4ECBE7-4487-4615-A10C-5FECAADA1E8C}" type="slidenum">
              <a:rPr kumimoji="0" lang="ru-R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2</a:t>
            </a:fld>
            <a:endParaRPr kumimoji="0" lang="ru-R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173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lnSpc>
                <a:spcPts val="1800"/>
              </a:lnSpc>
              <a:spcAft>
                <a:spcPts val="600"/>
              </a:spcAft>
            </a:pPr>
            <a:r>
              <a:rPr lang="ru-RU" b="1" i="0" dirty="0">
                <a:effectLst/>
                <a:latin typeface="YS Text"/>
              </a:rPr>
              <a:t>Цель анализа ассоциативных правил</a:t>
            </a:r>
          </a:p>
          <a:p>
            <a:pPr algn="l">
              <a:spcAft>
                <a:spcPts val="1200"/>
              </a:spcAft>
            </a:pPr>
            <a:r>
              <a:rPr lang="ru-RU" b="0" i="0" dirty="0">
                <a:effectLst/>
                <a:latin typeface="YS Text"/>
              </a:rPr>
              <a:t>Целью анализа ассоциативных правил является установление зависимостей между связанными событиями или элементами в наборе данных. Это позволяет выявить закономерности и сделать выводы о том, какие наборы элементов (или событий) часто встречаются вместе в транзакциях. Например, если анализ показывает, что в 75% транзакций, где присутствует хлеб, также присутствует молоко, это указывает на сильную зависимость между этими двумя товарами.</a:t>
            </a:r>
          </a:p>
          <a:p>
            <a:pPr algn="l">
              <a:lnSpc>
                <a:spcPts val="1800"/>
              </a:lnSpc>
              <a:spcAft>
                <a:spcPts val="600"/>
              </a:spcAft>
            </a:pPr>
            <a:r>
              <a:rPr lang="ru-RU" b="1" i="0" dirty="0">
                <a:effectLst/>
                <a:latin typeface="YS Text"/>
              </a:rPr>
              <a:t>Задачи анализа ассоциативных правил</a:t>
            </a:r>
          </a:p>
          <a:p>
            <a:pPr algn="l">
              <a:spcBef>
                <a:spcPts val="900"/>
              </a:spcBef>
              <a:spcAft>
                <a:spcPts val="1200"/>
              </a:spcAft>
              <a:buFont typeface="+mj-lt"/>
              <a:buAutoNum type="arabicPeriod"/>
            </a:pPr>
            <a:r>
              <a:rPr lang="ru-RU" b="1" i="0" dirty="0">
                <a:effectLst/>
                <a:latin typeface="YS Text"/>
              </a:rPr>
              <a:t>Определение часто встречающихся наборов элементов</a:t>
            </a:r>
            <a:r>
              <a:rPr lang="ru-RU" b="0" i="0" dirty="0">
                <a:effectLst/>
                <a:latin typeface="YS Text"/>
              </a:rPr>
              <a:t>:</a:t>
            </a:r>
          </a:p>
          <a:p>
            <a:pPr marL="457200" lvl="1" indent="0" algn="l">
              <a:spcBef>
                <a:spcPts val="900"/>
              </a:spcBef>
              <a:spcAft>
                <a:spcPts val="900"/>
              </a:spcAft>
              <a:buFont typeface="+mj-lt"/>
              <a:buNone/>
            </a:pPr>
            <a:r>
              <a:rPr lang="ru-RU" b="0" i="0" dirty="0">
                <a:effectLst/>
                <a:latin typeface="YS Text"/>
              </a:rPr>
              <a:t>Нахождение всех наборов элементов, которые удовлетворяют минимальному порогу поддержки (</a:t>
            </a:r>
            <a:r>
              <a:rPr lang="ru-RU" b="0" i="0" dirty="0" err="1">
                <a:effectLst/>
                <a:latin typeface="YS Text"/>
              </a:rPr>
              <a:t>support</a:t>
            </a:r>
            <a:r>
              <a:rPr lang="ru-RU" b="0" i="0" dirty="0">
                <a:effectLst/>
                <a:latin typeface="YS Text"/>
              </a:rPr>
              <a:t> </a:t>
            </a:r>
            <a:r>
              <a:rPr lang="ru-RU" b="0" i="0" dirty="0" err="1">
                <a:effectLst/>
                <a:latin typeface="YS Text"/>
              </a:rPr>
              <a:t>threshold</a:t>
            </a:r>
            <a:r>
              <a:rPr lang="ru-RU" b="0" i="0" dirty="0">
                <a:effectLst/>
                <a:latin typeface="YS Text"/>
              </a:rPr>
              <a:t>). Эти наборы называются часто встречающимися.</a:t>
            </a:r>
          </a:p>
          <a:p>
            <a:pPr algn="l">
              <a:spcBef>
                <a:spcPts val="900"/>
              </a:spcBef>
              <a:spcAft>
                <a:spcPts val="1200"/>
              </a:spcAft>
              <a:buFont typeface="+mj-lt"/>
              <a:buAutoNum type="arabicPeriod"/>
            </a:pPr>
            <a:r>
              <a:rPr lang="ru-RU" b="1" i="0" dirty="0">
                <a:effectLst/>
                <a:latin typeface="YS Text"/>
              </a:rPr>
              <a:t>Генерация ассоциативных правил</a:t>
            </a:r>
            <a:r>
              <a:rPr lang="ru-RU" b="0" i="0" dirty="0">
                <a:effectLst/>
                <a:latin typeface="YS Text"/>
              </a:rPr>
              <a:t>:</a:t>
            </a:r>
          </a:p>
          <a:p>
            <a:pPr marL="457200" lvl="1" indent="0" algn="l">
              <a:spcBef>
                <a:spcPts val="900"/>
              </a:spcBef>
              <a:spcAft>
                <a:spcPts val="900"/>
              </a:spcAft>
              <a:buFont typeface="+mj-lt"/>
              <a:buNone/>
            </a:pPr>
            <a:r>
              <a:rPr lang="ru-RU" b="0" i="0" dirty="0">
                <a:effectLst/>
                <a:latin typeface="YS Text"/>
              </a:rPr>
              <a:t>Извлечение правил из часто встречающихся наборов элементов с учетом минимальной достоверности (</a:t>
            </a:r>
            <a:r>
              <a:rPr lang="ru-RU" b="0" i="0" dirty="0" err="1">
                <a:effectLst/>
                <a:latin typeface="YS Text"/>
              </a:rPr>
              <a:t>confidence</a:t>
            </a:r>
            <a:r>
              <a:rPr lang="ru-RU" b="0" i="0" dirty="0">
                <a:effectLst/>
                <a:latin typeface="YS Text"/>
              </a:rPr>
              <a:t> </a:t>
            </a:r>
            <a:r>
              <a:rPr lang="ru-RU" b="0" i="0" dirty="0" err="1">
                <a:effectLst/>
                <a:latin typeface="YS Text"/>
              </a:rPr>
              <a:t>threshold</a:t>
            </a:r>
            <a:r>
              <a:rPr lang="ru-RU" b="0" i="0" dirty="0">
                <a:effectLst/>
                <a:latin typeface="YS Text"/>
              </a:rPr>
              <a:t>). Правила должны удовлетворять заданным пороговым значениям поддержки и достоверности.</a:t>
            </a:r>
          </a:p>
          <a:p>
            <a:pPr algn="l">
              <a:spcBef>
                <a:spcPts val="900"/>
              </a:spcBef>
              <a:spcAft>
                <a:spcPts val="1200"/>
              </a:spcAft>
              <a:buFont typeface="+mj-lt"/>
              <a:buAutoNum type="arabicPeriod"/>
            </a:pPr>
            <a:r>
              <a:rPr lang="ru-RU" b="1" i="0" dirty="0">
                <a:effectLst/>
                <a:latin typeface="YS Text"/>
              </a:rPr>
              <a:t>Оценка достоверности правил</a:t>
            </a:r>
            <a:r>
              <a:rPr lang="ru-RU" b="0" i="0" dirty="0">
                <a:effectLst/>
                <a:latin typeface="YS Text"/>
              </a:rPr>
              <a:t>:</a:t>
            </a:r>
          </a:p>
          <a:p>
            <a:pPr marL="457200" lvl="1" indent="0" algn="l">
              <a:spcBef>
                <a:spcPts val="900"/>
              </a:spcBef>
              <a:spcAft>
                <a:spcPts val="900"/>
              </a:spcAft>
              <a:buFont typeface="+mj-lt"/>
              <a:buNone/>
            </a:pPr>
            <a:r>
              <a:rPr lang="ru-RU" b="0" i="0" dirty="0">
                <a:effectLst/>
                <a:latin typeface="YS Text"/>
              </a:rPr>
              <a:t>Расчет метрики достоверности (</a:t>
            </a:r>
            <a:r>
              <a:rPr lang="ru-RU" b="0" i="0" dirty="0" err="1">
                <a:effectLst/>
                <a:latin typeface="YS Text"/>
              </a:rPr>
              <a:t>confidence</a:t>
            </a:r>
            <a:r>
              <a:rPr lang="ru-RU" b="0" i="0" dirty="0">
                <a:effectLst/>
                <a:latin typeface="YS Text"/>
              </a:rPr>
              <a:t>) для каждого правила, чтобы определить вероятность наступления следствия при наличии условия.</a:t>
            </a:r>
          </a:p>
          <a:p>
            <a:pPr algn="l">
              <a:spcBef>
                <a:spcPts val="900"/>
              </a:spcBef>
              <a:spcAft>
                <a:spcPts val="1200"/>
              </a:spcAft>
              <a:buFont typeface="+mj-lt"/>
              <a:buAutoNum type="arabicPeriod"/>
            </a:pPr>
            <a:r>
              <a:rPr lang="ru-RU" b="1" i="0" dirty="0">
                <a:effectLst/>
                <a:latin typeface="YS Text"/>
              </a:rPr>
              <a:t>Фильтрация и отбор значимых правил</a:t>
            </a:r>
            <a:r>
              <a:rPr lang="ru-RU" b="0" i="0" dirty="0">
                <a:effectLst/>
                <a:latin typeface="YS Text"/>
              </a:rPr>
              <a:t>:</a:t>
            </a:r>
          </a:p>
          <a:p>
            <a:pPr marL="457200" lvl="1" indent="0" algn="l">
              <a:spcBef>
                <a:spcPts val="900"/>
              </a:spcBef>
              <a:spcAft>
                <a:spcPts val="900"/>
              </a:spcAft>
              <a:buFont typeface="+mj-lt"/>
              <a:buNone/>
            </a:pPr>
            <a:r>
              <a:rPr lang="ru-RU" b="0" i="0" dirty="0">
                <a:effectLst/>
                <a:latin typeface="YS Text"/>
              </a:rPr>
              <a:t>Исключение правил, которые не удовлетворяют заданным минимальным значениям поддержки и достоверности. Это помогает уменьшить количество правил и сосредоточиться на наиболее значимых.</a:t>
            </a:r>
          </a:p>
          <a:p>
            <a:pPr algn="l">
              <a:spcBef>
                <a:spcPts val="900"/>
              </a:spcBef>
              <a:spcAft>
                <a:spcPts val="1200"/>
              </a:spcAft>
              <a:buFont typeface="+mj-lt"/>
              <a:buAutoNum type="arabicPeriod"/>
            </a:pPr>
            <a:r>
              <a:rPr lang="ru-RU" b="1" i="0" dirty="0">
                <a:effectLst/>
                <a:latin typeface="YS Text"/>
              </a:rPr>
              <a:t>Применение полученных правил</a:t>
            </a:r>
            <a:r>
              <a:rPr lang="ru-RU" b="0" i="0" dirty="0">
                <a:effectLst/>
                <a:latin typeface="YS Text"/>
              </a:rPr>
              <a:t>:</a:t>
            </a:r>
          </a:p>
          <a:p>
            <a:pPr marL="457200" lvl="1" indent="0" algn="l">
              <a:spcBef>
                <a:spcPts val="900"/>
              </a:spcBef>
              <a:spcAft>
                <a:spcPts val="900"/>
              </a:spcAft>
              <a:buFont typeface="+mj-lt"/>
              <a:buNone/>
            </a:pPr>
            <a:r>
              <a:rPr lang="ru-RU" b="0" i="0" dirty="0">
                <a:effectLst/>
                <a:latin typeface="YS Text"/>
              </a:rPr>
              <a:t>Использование выявленных правил для принятия решений в различных областях, таких как маркетинг, управление товарными запасами, оптимизация бизнес-процессов и т.д.</a:t>
            </a:r>
          </a:p>
        </p:txBody>
      </p:sp>
      <p:sp>
        <p:nvSpPr>
          <p:cNvPr id="4" name="Номер слайда 3"/>
          <p:cNvSpPr>
            <a:spLocks noGrp="1"/>
          </p:cNvSpPr>
          <p:nvPr>
            <p:ph type="sldNum" sz="quarter" idx="5"/>
          </p:nvPr>
        </p:nvSpPr>
        <p:spPr/>
        <p:txBody>
          <a:bodyPr/>
          <a:lstStyle/>
          <a:p>
            <a:fld id="{DECB8B1E-725D-4009-AE77-F13A2082C589}" type="slidenum">
              <a:rPr lang="ru-RU" smtClean="0"/>
              <a:t>3</a:t>
            </a:fld>
            <a:endParaRPr lang="ru-RU"/>
          </a:p>
        </p:txBody>
      </p:sp>
    </p:spTree>
    <p:extLst>
      <p:ext uri="{BB962C8B-B14F-4D97-AF65-F5344CB8AC3E}">
        <p14:creationId xmlns:p14="http://schemas.microsoft.com/office/powerpoint/2010/main" val="2808818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spcAft>
                <a:spcPts val="1200"/>
              </a:spcAft>
            </a:pPr>
            <a:br>
              <a:rPr lang="ru-RU" b="0" i="0" dirty="0">
                <a:effectLst/>
                <a:latin typeface="YS Text"/>
              </a:rPr>
            </a:br>
            <a:r>
              <a:rPr lang="ru-RU" b="0" i="0" dirty="0">
                <a:effectLst/>
                <a:latin typeface="YS Text"/>
              </a:rPr>
              <a:t>Анализ ассоциативных правил находит широкое применение в различных областях благодаря своей способности выявлять скрытые зависимости и закономерности в данных. Вот несколько ключевых областей применения:</a:t>
            </a:r>
          </a:p>
          <a:p>
            <a:pPr algn="l">
              <a:spcBef>
                <a:spcPts val="900"/>
              </a:spcBef>
              <a:spcAft>
                <a:spcPts val="1200"/>
              </a:spcAft>
              <a:buFont typeface="+mj-lt"/>
              <a:buAutoNum type="arabicPeriod"/>
            </a:pPr>
            <a:r>
              <a:rPr lang="ru-RU" b="1" i="0" dirty="0">
                <a:effectLst/>
                <a:latin typeface="YS Text"/>
              </a:rPr>
              <a:t>Розничная торговля</a:t>
            </a:r>
            <a:r>
              <a:rPr lang="ru-RU" b="0" i="0" dirty="0">
                <a:effectLst/>
                <a:latin typeface="YS Text"/>
              </a:rPr>
              <a:t>:</a:t>
            </a:r>
          </a:p>
          <a:p>
            <a:pPr marL="457200" lvl="1" indent="0" algn="l">
              <a:spcBef>
                <a:spcPts val="900"/>
              </a:spcBef>
              <a:spcAft>
                <a:spcPts val="900"/>
              </a:spcAft>
              <a:buFont typeface="+mj-lt"/>
              <a:buNone/>
            </a:pPr>
            <a:r>
              <a:rPr lang="ru-RU" b="1" i="0" dirty="0">
                <a:effectLst/>
                <a:latin typeface="YS Text"/>
              </a:rPr>
              <a:t>Определение товаров для совместного продвижения</a:t>
            </a:r>
            <a:r>
              <a:rPr lang="ru-RU" b="0" i="0" dirty="0">
                <a:effectLst/>
                <a:latin typeface="YS Text"/>
              </a:rPr>
              <a:t>: Анализ помогает выявить, какие товары часто покупаются вместе. Например, если анализ показывает, что покупатели, покупающие молоко, часто покупают также хлеб, можно продвигать эти товары совместно для увеличения продаж.</a:t>
            </a:r>
          </a:p>
          <a:p>
            <a:pPr marL="457200" lvl="1" indent="0" algn="l">
              <a:spcBef>
                <a:spcPts val="900"/>
              </a:spcBef>
              <a:spcAft>
                <a:spcPts val="900"/>
              </a:spcAft>
              <a:buFont typeface="+mj-lt"/>
              <a:buNone/>
            </a:pPr>
            <a:r>
              <a:rPr lang="ru-RU" b="1" i="0" dirty="0">
                <a:effectLst/>
                <a:latin typeface="YS Text"/>
              </a:rPr>
              <a:t>Выбор местоположения товара</a:t>
            </a:r>
            <a:r>
              <a:rPr lang="ru-RU" b="0" i="0" dirty="0">
                <a:effectLst/>
                <a:latin typeface="YS Text"/>
              </a:rPr>
              <a:t>: Размещение товаров в магазине на основе их ассоциативных правил может увеличить продажи. Например, размещение чипсов и газировки рядом друг с другом.</a:t>
            </a:r>
          </a:p>
          <a:p>
            <a:pPr marL="457200" lvl="1" indent="0" algn="l">
              <a:spcBef>
                <a:spcPts val="900"/>
              </a:spcBef>
              <a:spcAft>
                <a:spcPts val="900"/>
              </a:spcAft>
              <a:buFont typeface="+mj-lt"/>
              <a:buNone/>
            </a:pPr>
            <a:r>
              <a:rPr lang="ru-RU" b="1" i="0" dirty="0">
                <a:effectLst/>
                <a:latin typeface="YS Text"/>
              </a:rPr>
              <a:t>Анализ потребительской корзины</a:t>
            </a:r>
            <a:r>
              <a:rPr lang="ru-RU" b="0" i="0" dirty="0">
                <a:effectLst/>
                <a:latin typeface="YS Text"/>
              </a:rPr>
              <a:t>: Понимание того, какие товары чаще всего встречаются в одной корзине, помогает оптимизировать ассортимент и улучшить покупательский опыт.</a:t>
            </a:r>
          </a:p>
          <a:p>
            <a:pPr algn="l">
              <a:spcBef>
                <a:spcPts val="900"/>
              </a:spcBef>
              <a:spcAft>
                <a:spcPts val="1200"/>
              </a:spcAft>
              <a:buFont typeface="+mj-lt"/>
              <a:buAutoNum type="arabicPeriod"/>
            </a:pPr>
            <a:r>
              <a:rPr lang="ru-RU" b="1" i="0" dirty="0">
                <a:effectLst/>
                <a:latin typeface="YS Text"/>
              </a:rPr>
              <a:t>Маркетинг</a:t>
            </a:r>
            <a:r>
              <a:rPr lang="ru-RU" b="0" i="0" dirty="0">
                <a:effectLst/>
                <a:latin typeface="YS Text"/>
              </a:rPr>
              <a:t>:</a:t>
            </a:r>
          </a:p>
          <a:p>
            <a:pPr marL="457200" lvl="1" indent="0" algn="l">
              <a:spcBef>
                <a:spcPts val="900"/>
              </a:spcBef>
              <a:spcAft>
                <a:spcPts val="900"/>
              </a:spcAft>
              <a:buFont typeface="+mj-lt"/>
              <a:buNone/>
            </a:pPr>
            <a:r>
              <a:rPr lang="ru-RU" b="1" i="0" dirty="0">
                <a:effectLst/>
                <a:latin typeface="YS Text"/>
              </a:rPr>
              <a:t>Поиск рыночных сегментов и тенденций</a:t>
            </a:r>
            <a:r>
              <a:rPr lang="ru-RU" b="0" i="0" dirty="0">
                <a:effectLst/>
                <a:latin typeface="YS Text"/>
              </a:rPr>
              <a:t>: Анализ ассоциативных правил помогает выявить группы покупателей с похожими предпочтениями и поведением. Это позволяет более точно нацеливать маркетинговые кампании.</a:t>
            </a:r>
          </a:p>
          <a:p>
            <a:pPr marL="457200" lvl="1" indent="0" algn="l">
              <a:spcBef>
                <a:spcPts val="900"/>
              </a:spcBef>
              <a:spcAft>
                <a:spcPts val="900"/>
              </a:spcAft>
              <a:buFont typeface="+mj-lt"/>
              <a:buNone/>
            </a:pPr>
            <a:r>
              <a:rPr lang="ru-RU" b="1" i="0" dirty="0">
                <a:effectLst/>
                <a:latin typeface="YS Text"/>
              </a:rPr>
              <a:t>Сегментация клиентов</a:t>
            </a:r>
            <a:r>
              <a:rPr lang="ru-RU" b="0" i="0" dirty="0">
                <a:effectLst/>
                <a:latin typeface="YS Text"/>
              </a:rPr>
              <a:t>: Выявление общих характеристик клиентов компании и формирование групп покупателей с похожими потребностями.</a:t>
            </a:r>
          </a:p>
          <a:p>
            <a:pPr marL="457200" lvl="1" indent="0" algn="l">
              <a:spcBef>
                <a:spcPts val="900"/>
              </a:spcBef>
              <a:spcAft>
                <a:spcPts val="900"/>
              </a:spcAft>
              <a:buFont typeface="+mj-lt"/>
              <a:buNone/>
            </a:pPr>
            <a:r>
              <a:rPr lang="ru-RU" b="1" i="0" dirty="0">
                <a:effectLst/>
                <a:latin typeface="YS Text"/>
              </a:rPr>
              <a:t>Оформление каталогов и анализ сбытовых кампаний</a:t>
            </a:r>
            <a:r>
              <a:rPr lang="ru-RU" b="0" i="0" dirty="0">
                <a:effectLst/>
                <a:latin typeface="YS Text"/>
              </a:rPr>
              <a:t>: Понимание, какие товары чаще всего покупаются вместе, помогает создавать более эффективные каталоги и рекламные материалы.</a:t>
            </a:r>
          </a:p>
          <a:p>
            <a:pPr algn="l">
              <a:spcBef>
                <a:spcPts val="900"/>
              </a:spcBef>
              <a:spcAft>
                <a:spcPts val="1200"/>
              </a:spcAft>
              <a:buFont typeface="+mj-lt"/>
              <a:buAutoNum type="arabicPeriod"/>
            </a:pPr>
            <a:r>
              <a:rPr lang="ru-RU" b="1" i="0" dirty="0">
                <a:effectLst/>
                <a:latin typeface="YS Text"/>
              </a:rPr>
              <a:t>Прогнозирование спроса</a:t>
            </a:r>
            <a:r>
              <a:rPr lang="ru-RU" b="0" i="0" dirty="0">
                <a:effectLst/>
                <a:latin typeface="YS Text"/>
              </a:rPr>
              <a:t>:</a:t>
            </a:r>
          </a:p>
          <a:p>
            <a:pPr marL="457200" lvl="1" indent="0" algn="l">
              <a:spcBef>
                <a:spcPts val="900"/>
              </a:spcBef>
              <a:spcAft>
                <a:spcPts val="900"/>
              </a:spcAft>
              <a:buFont typeface="+mj-lt"/>
              <a:buNone/>
            </a:pPr>
            <a:r>
              <a:rPr lang="ru-RU" b="0" i="0" dirty="0">
                <a:effectLst/>
                <a:latin typeface="YS Text"/>
              </a:rPr>
              <a:t>Анализ ассоциативных правил позволяет предсказывать будущий спрос на товары на основе исторических данных. Например, если анализ показывает, что спрос на пиво возрастает летом, можно заранее увеличить запасы.</a:t>
            </a:r>
          </a:p>
          <a:p>
            <a:pPr algn="l">
              <a:spcBef>
                <a:spcPts val="900"/>
              </a:spcBef>
              <a:spcAft>
                <a:spcPts val="1200"/>
              </a:spcAft>
              <a:buFont typeface="+mj-lt"/>
              <a:buAutoNum type="arabicPeriod"/>
            </a:pPr>
            <a:r>
              <a:rPr lang="ru-RU" b="1" i="0" dirty="0">
                <a:effectLst/>
                <a:latin typeface="YS Text"/>
              </a:rPr>
              <a:t>Перекрестные продажи</a:t>
            </a:r>
            <a:r>
              <a:rPr lang="ru-RU" b="0" i="0" dirty="0">
                <a:effectLst/>
                <a:latin typeface="YS Text"/>
              </a:rPr>
              <a:t>:</a:t>
            </a:r>
          </a:p>
          <a:p>
            <a:pPr marL="457200" lvl="1" indent="0" algn="l">
              <a:spcBef>
                <a:spcPts val="900"/>
              </a:spcBef>
              <a:spcAft>
                <a:spcPts val="900"/>
              </a:spcAft>
              <a:buFont typeface="+mj-lt"/>
              <a:buNone/>
            </a:pPr>
            <a:r>
              <a:rPr lang="ru-RU" b="0" i="0" dirty="0">
                <a:effectLst/>
                <a:latin typeface="YS Text"/>
              </a:rPr>
              <a:t>Если известно, что клиенты приобрели продукты A, Б и В, анализ помогает предсказать, какие дополнительные продукты (например, продукт Г) они вероятнее всего купят. Это позволяет предлагать перекрестные продажи и увеличивать средний чек.</a:t>
            </a:r>
          </a:p>
          <a:p>
            <a:pPr algn="l">
              <a:spcBef>
                <a:spcPts val="900"/>
              </a:spcBef>
              <a:spcAft>
                <a:spcPts val="1200"/>
              </a:spcAft>
              <a:buFont typeface="+mj-lt"/>
              <a:buAutoNum type="arabicPeriod"/>
            </a:pPr>
            <a:r>
              <a:rPr lang="ru-RU" b="1" i="0" dirty="0">
                <a:effectLst/>
                <a:latin typeface="YS Text"/>
              </a:rPr>
              <a:t>Анализ Web-логов</a:t>
            </a:r>
            <a:r>
              <a:rPr lang="ru-RU" b="0" i="0" dirty="0">
                <a:effectLst/>
                <a:latin typeface="YS Text"/>
              </a:rPr>
              <a:t>:</a:t>
            </a:r>
          </a:p>
          <a:p>
            <a:pPr marL="457200" lvl="1" indent="0" algn="l">
              <a:spcBef>
                <a:spcPts val="900"/>
              </a:spcBef>
              <a:spcAft>
                <a:spcPts val="900"/>
              </a:spcAft>
              <a:buFont typeface="+mj-lt"/>
              <a:buNone/>
            </a:pPr>
            <a:r>
              <a:rPr lang="ru-RU" b="0" i="0" dirty="0">
                <a:effectLst/>
                <a:latin typeface="YS Text"/>
              </a:rPr>
              <a:t>Анализ данных о посещениях веб-сайтов помогает понять, какие страницы или товары чаще всего просматриваются вместе. Это позволяет улучшить структуру сайта и предложить пользователям более релевантные рекомендации.</a:t>
            </a:r>
          </a:p>
          <a:p>
            <a:pPr algn="l">
              <a:spcBef>
                <a:spcPts val="900"/>
              </a:spcBef>
              <a:spcAft>
                <a:spcPts val="1200"/>
              </a:spcAft>
              <a:buFont typeface="+mj-lt"/>
              <a:buAutoNum type="arabicPeriod"/>
            </a:pPr>
            <a:r>
              <a:rPr lang="ru-RU" b="1" i="0" dirty="0">
                <a:effectLst/>
                <a:latin typeface="YS Text"/>
              </a:rPr>
              <a:t>Управление товарными запасами</a:t>
            </a:r>
            <a:r>
              <a:rPr lang="ru-RU" b="0" i="0" dirty="0">
                <a:effectLst/>
                <a:latin typeface="YS Text"/>
              </a:rPr>
              <a:t>:</a:t>
            </a:r>
          </a:p>
          <a:p>
            <a:pPr marL="457200" lvl="1" indent="0" algn="l">
              <a:spcBef>
                <a:spcPts val="900"/>
              </a:spcBef>
              <a:spcAft>
                <a:spcPts val="900"/>
              </a:spcAft>
              <a:buFont typeface="+mj-lt"/>
              <a:buNone/>
            </a:pPr>
            <a:r>
              <a:rPr lang="ru-RU" b="0" i="0" dirty="0">
                <a:effectLst/>
                <a:latin typeface="YS Text"/>
              </a:rPr>
              <a:t>Оптимизация складских запасов на основе ассоциативных правил помогает уменьшить издержки на хранение и улучшить обслуживание клиентов. Например, если анализ показывает, что чипсы и газировка часто покупаются вместе, можно синхронизировать поставки этих товаров.</a:t>
            </a:r>
          </a:p>
          <a:p>
            <a:pPr algn="l">
              <a:spcBef>
                <a:spcPts val="900"/>
              </a:spcBef>
              <a:spcAft>
                <a:spcPts val="1200"/>
              </a:spcAft>
              <a:buFont typeface="+mj-lt"/>
              <a:buAutoNum type="arabicPeriod"/>
            </a:pPr>
            <a:r>
              <a:rPr lang="ru-RU" b="1" i="0" dirty="0">
                <a:effectLst/>
                <a:latin typeface="YS Text"/>
              </a:rPr>
              <a:t>Сегментация клиентов и выявление общих характеристик</a:t>
            </a:r>
            <a:r>
              <a:rPr lang="ru-RU" b="0" i="0" dirty="0">
                <a:effectLst/>
                <a:latin typeface="YS Text"/>
              </a:rPr>
              <a:t>:</a:t>
            </a:r>
          </a:p>
          <a:p>
            <a:pPr marL="457200" lvl="1" indent="0" algn="l">
              <a:spcBef>
                <a:spcPts val="900"/>
              </a:spcBef>
              <a:spcAft>
                <a:spcPts val="900"/>
              </a:spcAft>
              <a:buFont typeface="+mj-lt"/>
              <a:buNone/>
            </a:pPr>
            <a:r>
              <a:rPr lang="ru-RU" b="0" i="0" dirty="0">
                <a:effectLst/>
                <a:latin typeface="YS Text"/>
              </a:rPr>
              <a:t>Анализ помогает выявить общие характеристики клиентов компании, такие как демографические данные, предпочтения и покупательское поведение. Это позволяет лучше понимать потребности клиентов и предлагать им более персонализированные услуги.</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4</a:t>
            </a:fld>
            <a:endParaRPr lang="ru-RU"/>
          </a:p>
        </p:txBody>
      </p:sp>
    </p:spTree>
    <p:extLst>
      <p:ext uri="{BB962C8B-B14F-4D97-AF65-F5344CB8AC3E}">
        <p14:creationId xmlns:p14="http://schemas.microsoft.com/office/powerpoint/2010/main" val="33050301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dirty="0"/>
              <a:t>Внушительные объемы современных баз данных вызвали устойчивый спрос на новые масштабируемые алгоритмы анализа данных. Одним из популярных методов обнаружения знаний стали алгоритмы поиска ассоциативных правил.</a:t>
            </a:r>
          </a:p>
          <a:p>
            <a:pPr marL="0" indent="0">
              <a:buNone/>
            </a:pPr>
            <a:endParaRPr lang="ru-RU" dirty="0"/>
          </a:p>
          <a:p>
            <a:pPr marL="0" indent="0" algn="just">
              <a:buNone/>
            </a:pPr>
            <a:r>
              <a:rPr lang="ru-RU" dirty="0"/>
              <a:t>Ассоциативные правила позволяют находить закономерности между связанными событиями. Примером такого правила служит утверждение, что покупатель, приобретающий «Хлеб», приобретет и «Молоко» с вероятностью 75%. Первый алгоритм поиска ассоциативных правил был разработан в 1993 году сотрудниками исследовательского центра IBM </a:t>
            </a:r>
            <a:r>
              <a:rPr lang="ru-RU" dirty="0" err="1"/>
              <a:t>Almaden</a:t>
            </a:r>
            <a:r>
              <a:rPr lang="ru-RU" dirty="0"/>
              <a:t> и назывался AIS. С этой пионерской работы возрос интерес к ассоциативным правилам. На середину 90-х годов прошлого века пришелся пик исследовательских работ в этой области, и с тех пор каждый год появлялось по несколько алгоритмов.</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Впервые задача поиска ассоциативных правил была предложена для нахождения типичных шаблонов покупок, совершаемых в супермаркетах, поэтому иногда ее еще называют </a:t>
            </a:r>
            <a:r>
              <a:rPr lang="ru-RU" b="1" dirty="0"/>
              <a:t>анализом рыночной корзины (</a:t>
            </a:r>
            <a:r>
              <a:rPr lang="ru-RU" b="1" dirty="0" err="1"/>
              <a:t>market</a:t>
            </a:r>
            <a:r>
              <a:rPr lang="ru-RU" b="1" dirty="0"/>
              <a:t> </a:t>
            </a:r>
            <a:r>
              <a:rPr lang="ru-RU" b="1" dirty="0" err="1"/>
              <a:t>basket</a:t>
            </a:r>
            <a:r>
              <a:rPr lang="ru-RU" b="1" dirty="0"/>
              <a:t> </a:t>
            </a:r>
            <a:r>
              <a:rPr lang="ru-RU" b="1" dirty="0" err="1"/>
              <a:t>analysis</a:t>
            </a:r>
            <a:r>
              <a:rPr lang="ru-RU" b="1" dirty="0"/>
              <a:t>)</a:t>
            </a:r>
            <a:r>
              <a:rPr lang="ru-RU" dirty="0"/>
              <a:t>.</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5</a:t>
            </a:fld>
            <a:endParaRPr lang="ru-RU"/>
          </a:p>
        </p:txBody>
      </p:sp>
    </p:spTree>
    <p:extLst>
      <p:ext uri="{BB962C8B-B14F-4D97-AF65-F5344CB8AC3E}">
        <p14:creationId xmlns:p14="http://schemas.microsoft.com/office/powerpoint/2010/main" val="2675082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dirty="0"/>
              <a:t>Впервые </a:t>
            </a:r>
            <a:r>
              <a:rPr lang="ru-RU" b="1" dirty="0"/>
              <a:t>задача поиска ассоциативных правил </a:t>
            </a:r>
            <a:r>
              <a:rPr lang="ru-RU" dirty="0"/>
              <a:t>(</a:t>
            </a:r>
            <a:r>
              <a:rPr lang="ru-RU" b="1" dirty="0" err="1"/>
              <a:t>association</a:t>
            </a:r>
            <a:r>
              <a:rPr lang="ru-RU" b="1" dirty="0"/>
              <a:t> </a:t>
            </a:r>
            <a:r>
              <a:rPr lang="ru-RU" b="1" dirty="0" err="1"/>
              <a:t>rule</a:t>
            </a:r>
            <a:r>
              <a:rPr lang="ru-RU" b="1" dirty="0"/>
              <a:t> </a:t>
            </a:r>
            <a:r>
              <a:rPr lang="ru-RU" b="1" dirty="0" err="1"/>
              <a:t>mining</a:t>
            </a:r>
            <a:r>
              <a:rPr lang="ru-RU" dirty="0"/>
              <a:t>) была предложена для нахождения типичных шаблонов покупок, совершаемых в супермаркетах, поэтому иногда ее еще называют </a:t>
            </a:r>
            <a:r>
              <a:rPr lang="ru-RU" b="1" dirty="0"/>
              <a:t>анализом рыночной корзины (</a:t>
            </a:r>
            <a:r>
              <a:rPr lang="ru-RU" b="1" dirty="0" err="1"/>
              <a:t>market</a:t>
            </a:r>
            <a:r>
              <a:rPr lang="ru-RU" b="1" dirty="0"/>
              <a:t> </a:t>
            </a:r>
            <a:r>
              <a:rPr lang="ru-RU" b="1" dirty="0" err="1"/>
              <a:t>basket</a:t>
            </a:r>
            <a:r>
              <a:rPr lang="ru-RU" b="1" dirty="0"/>
              <a:t> </a:t>
            </a:r>
            <a:r>
              <a:rPr lang="ru-RU" b="1" dirty="0" err="1"/>
              <a:t>analysis</a:t>
            </a:r>
            <a:r>
              <a:rPr lang="ru-RU" b="1" dirty="0"/>
              <a:t>)</a:t>
            </a:r>
            <a:r>
              <a:rPr lang="ru-RU" dirty="0"/>
              <a:t>.</a:t>
            </a:r>
          </a:p>
          <a:p>
            <a:pPr marL="0" indent="0" algn="just">
              <a:buNone/>
            </a:pPr>
            <a:r>
              <a:rPr lang="ru-RU" b="1" dirty="0"/>
              <a:t>Рыночная корзина </a:t>
            </a:r>
            <a:r>
              <a:rPr lang="ru-RU" dirty="0"/>
              <a:t>- это набор товаров, приобретенных покупателем в рамках одной отдельно взятой транзакции.</a:t>
            </a:r>
          </a:p>
          <a:p>
            <a:pPr marL="0" indent="0" algn="just">
              <a:buNone/>
            </a:pPr>
            <a:r>
              <a:rPr lang="ru-RU" dirty="0"/>
              <a:t>Транзакции являются достаточно характерными операциями, ими, например, могут описываться результаты посещений различных магазинов.</a:t>
            </a:r>
          </a:p>
          <a:p>
            <a:pPr marL="0" indent="0" algn="just">
              <a:buNone/>
            </a:pPr>
            <a:r>
              <a:rPr lang="ru-RU" b="1" dirty="0"/>
              <a:t>Транзакция</a:t>
            </a:r>
            <a:r>
              <a:rPr lang="ru-RU" dirty="0"/>
              <a:t> - это множество событий, которые произошли одновременно.</a:t>
            </a:r>
          </a:p>
          <a:p>
            <a:pPr marL="0" indent="0" algn="just">
              <a:buNone/>
            </a:pPr>
            <a:r>
              <a:rPr lang="ru-RU" dirty="0"/>
              <a:t>Регистрируя все бизнес-операции в течение всего времени своей деятельности, торговые компании накапливают огромные собрания транзакций. Каждая такая транзакция представляет собой набор товаров, купленных покупателем за один визит.</a:t>
            </a:r>
          </a:p>
          <a:p>
            <a:pPr marL="0" indent="0" algn="just">
              <a:buNone/>
            </a:pPr>
            <a:r>
              <a:rPr lang="ru-RU" dirty="0"/>
              <a:t>Полученные в результате анализа шаблоны включают перечень товаров и число транзакций, которые содержат данные наборы.</a:t>
            </a:r>
          </a:p>
          <a:p>
            <a:pPr marL="0" indent="0" algn="just">
              <a:buNone/>
            </a:pPr>
            <a:r>
              <a:rPr lang="ru-RU" b="1" dirty="0"/>
              <a:t>Транзакционная или операционная база данных (</a:t>
            </a:r>
            <a:r>
              <a:rPr lang="ru-RU" b="1" dirty="0" err="1"/>
              <a:t>Transaction</a:t>
            </a:r>
            <a:r>
              <a:rPr lang="ru-RU" b="1" dirty="0"/>
              <a:t> </a:t>
            </a:r>
            <a:r>
              <a:rPr lang="ru-RU" b="1" dirty="0" err="1"/>
              <a:t>database</a:t>
            </a:r>
            <a:r>
              <a:rPr lang="ru-RU" b="1" dirty="0"/>
              <a:t>) </a:t>
            </a:r>
            <a:r>
              <a:rPr lang="ru-RU" dirty="0"/>
              <a:t>представляет собой двумерную таблицу, которая состоит из номера транзакции (TID) и перечня покупок, приобретенных во время этой транзакции.</a:t>
            </a:r>
          </a:p>
          <a:p>
            <a:pPr marL="0" indent="0" algn="just">
              <a:buNone/>
            </a:pPr>
            <a:r>
              <a:rPr lang="ru-RU" b="1" dirty="0"/>
              <a:t>TID</a:t>
            </a:r>
            <a:r>
              <a:rPr lang="ru-RU" dirty="0"/>
              <a:t> - уникальный идентификатор, определяющий каждую сделку или транзакцию.</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6</a:t>
            </a:fld>
            <a:endParaRPr lang="ru-RU"/>
          </a:p>
        </p:txBody>
      </p:sp>
    </p:spTree>
    <p:extLst>
      <p:ext uri="{BB962C8B-B14F-4D97-AF65-F5344CB8AC3E}">
        <p14:creationId xmlns:p14="http://schemas.microsoft.com/office/powerpoint/2010/main" val="783506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000000"/>
                </a:solidFill>
                <a:effectLst/>
                <a:latin typeface="Times New Roman" panose="02020603050405020304" pitchFamily="18" charset="0"/>
              </a:rPr>
              <a:t>Алгоритм </a:t>
            </a:r>
            <a:r>
              <a:rPr lang="ru-RU" b="0" i="0" dirty="0" err="1">
                <a:solidFill>
                  <a:srgbClr val="000000"/>
                </a:solidFill>
                <a:effectLst/>
                <a:latin typeface="Times New Roman" panose="02020603050405020304" pitchFamily="18" charset="0"/>
              </a:rPr>
              <a:t>Apriori</a:t>
            </a:r>
            <a:r>
              <a:rPr lang="ru-RU" b="0" i="0" dirty="0">
                <a:solidFill>
                  <a:srgbClr val="000000"/>
                </a:solidFill>
                <a:effectLst/>
                <a:latin typeface="Times New Roman" panose="02020603050405020304" pitchFamily="18" charset="0"/>
              </a:rPr>
              <a:t> был разработан для извлечения частых множеств признаков из данных о покупках, которые обычно являются разреженными и слабо коррелированными. </a:t>
            </a:r>
            <a:endParaRPr lang="en-US" b="0" i="0" dirty="0">
              <a:solidFill>
                <a:srgbClr val="000000"/>
              </a:solidFill>
              <a:effectLst/>
              <a:latin typeface="Times New Roman" panose="02020603050405020304" pitchFamily="18" charset="0"/>
            </a:endParaRPr>
          </a:p>
          <a:p>
            <a:r>
              <a:rPr lang="ru-RU" b="0" i="0" dirty="0">
                <a:solidFill>
                  <a:srgbClr val="000000"/>
                </a:solidFill>
                <a:effectLst/>
                <a:latin typeface="Times New Roman" panose="02020603050405020304" pitchFamily="18" charset="0"/>
              </a:rPr>
              <a:t>Для таких данных число частых множеств признаков невелико, и алгоритм работает очень хорошо. </a:t>
            </a:r>
            <a:endParaRPr lang="en-US" b="0" i="0" dirty="0">
              <a:solidFill>
                <a:srgbClr val="000000"/>
              </a:solidFill>
              <a:effectLst/>
              <a:latin typeface="Times New Roman" panose="02020603050405020304" pitchFamily="18" charset="0"/>
            </a:endParaRPr>
          </a:p>
          <a:p>
            <a:r>
              <a:rPr lang="ru-RU" b="0" i="0" dirty="0">
                <a:solidFill>
                  <a:srgbClr val="000000"/>
                </a:solidFill>
                <a:effectLst/>
                <a:latin typeface="Times New Roman" panose="02020603050405020304" pitchFamily="18" charset="0"/>
              </a:rPr>
              <a:t>Позднее, когда возникла необходимость поиска частых множеств признаков в плотных, сильно коррелированных данных, оказалось, что </a:t>
            </a:r>
            <a:r>
              <a:rPr lang="ru-RU" b="0" i="0" dirty="0" err="1">
                <a:solidFill>
                  <a:srgbClr val="000000"/>
                </a:solidFill>
                <a:effectLst/>
                <a:latin typeface="Times New Roman" panose="02020603050405020304" pitchFamily="18" charset="0"/>
              </a:rPr>
              <a:t>Apriori</a:t>
            </a:r>
            <a:r>
              <a:rPr lang="ru-RU" b="0" i="0" dirty="0">
                <a:solidFill>
                  <a:srgbClr val="000000"/>
                </a:solidFill>
                <a:effectLst/>
                <a:latin typeface="Times New Roman" panose="02020603050405020304" pitchFamily="18" charset="0"/>
              </a:rPr>
              <a:t> неэффективно работает на таких массивах. </a:t>
            </a:r>
            <a:endParaRPr lang="en-US" b="0" i="0" dirty="0">
              <a:solidFill>
                <a:srgbClr val="000000"/>
              </a:solidFill>
              <a:effectLst/>
              <a:latin typeface="Times New Roman" panose="02020603050405020304" pitchFamily="18" charset="0"/>
            </a:endParaRPr>
          </a:p>
          <a:p>
            <a:r>
              <a:rPr lang="ru-RU" b="0" i="0" dirty="0">
                <a:solidFill>
                  <a:srgbClr val="000000"/>
                </a:solidFill>
                <a:effectLst/>
                <a:latin typeface="Times New Roman" panose="02020603050405020304" pitchFamily="18" charset="0"/>
              </a:rPr>
              <a:t>Как следствие, для решения проблемы были предложены различные варианты оптимизации и расширения исходного алгоритма (например, </a:t>
            </a:r>
            <a:r>
              <a:rPr lang="ru-RU" b="0" i="0" dirty="0" err="1">
                <a:solidFill>
                  <a:srgbClr val="000000"/>
                </a:solidFill>
                <a:effectLst/>
                <a:latin typeface="Times New Roman" panose="02020603050405020304" pitchFamily="18" charset="0"/>
              </a:rPr>
              <a:t>Apriori-Close</a:t>
            </a:r>
            <a:r>
              <a:rPr lang="ru-RU" b="0" i="0" dirty="0">
                <a:solidFill>
                  <a:srgbClr val="000000"/>
                </a:solidFill>
                <a:effectLst/>
                <a:latin typeface="Times New Roman" panose="02020603050405020304" pitchFamily="18" charset="0"/>
              </a:rPr>
              <a:t>, </a:t>
            </a:r>
            <a:r>
              <a:rPr lang="ru-RU" b="0" i="0" dirty="0" err="1">
                <a:solidFill>
                  <a:srgbClr val="000000"/>
                </a:solidFill>
                <a:effectLst/>
                <a:latin typeface="Times New Roman" panose="02020603050405020304" pitchFamily="18" charset="0"/>
              </a:rPr>
              <a:t>Pascal</a:t>
            </a:r>
            <a:r>
              <a:rPr lang="ru-RU" b="0" i="0" dirty="0">
                <a:solidFill>
                  <a:srgbClr val="000000"/>
                </a:solidFill>
                <a:effectLst/>
                <a:latin typeface="Times New Roman" panose="02020603050405020304" pitchFamily="18" charset="0"/>
              </a:rPr>
              <a:t>, </a:t>
            </a:r>
            <a:r>
              <a:rPr lang="ru-RU" b="0" i="0" dirty="0" err="1">
                <a:solidFill>
                  <a:srgbClr val="000000"/>
                </a:solidFill>
                <a:effectLst/>
                <a:latin typeface="Times New Roman" panose="02020603050405020304" pitchFamily="18" charset="0"/>
              </a:rPr>
              <a:t>Zart</a:t>
            </a:r>
            <a:r>
              <a:rPr lang="ru-RU" b="0" i="0" dirty="0">
                <a:solidFill>
                  <a:srgbClr val="000000"/>
                </a:solidFill>
                <a:effectLst/>
                <a:latin typeface="Times New Roman" panose="02020603050405020304" pitchFamily="18" charset="0"/>
              </a:rPr>
              <a:t>).</a:t>
            </a:r>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31</a:t>
            </a:fld>
            <a:endParaRPr lang="ru-RU"/>
          </a:p>
        </p:txBody>
      </p:sp>
    </p:spTree>
    <p:extLst>
      <p:ext uri="{BB962C8B-B14F-4D97-AF65-F5344CB8AC3E}">
        <p14:creationId xmlns:p14="http://schemas.microsoft.com/office/powerpoint/2010/main" val="39356021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32</a:t>
            </a:fld>
            <a:endParaRPr lang="ru-RU"/>
          </a:p>
        </p:txBody>
      </p:sp>
    </p:spTree>
    <p:extLst>
      <p:ext uri="{BB962C8B-B14F-4D97-AF65-F5344CB8AC3E}">
        <p14:creationId xmlns:p14="http://schemas.microsoft.com/office/powerpoint/2010/main" val="3367318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333333"/>
                </a:solidFill>
                <a:effectLst/>
                <a:latin typeface="-apple-system"/>
              </a:rPr>
              <a:t>Таким образом, </a:t>
            </a:r>
            <a:r>
              <a:rPr lang="ru-RU" b="0" i="0" dirty="0" err="1">
                <a:solidFill>
                  <a:srgbClr val="333333"/>
                </a:solidFill>
                <a:effectLst/>
                <a:latin typeface="-apple-system"/>
              </a:rPr>
              <a:t>Apriori</a:t>
            </a:r>
            <a:r>
              <a:rPr lang="ru-RU" b="0" i="0" dirty="0">
                <a:solidFill>
                  <a:srgbClr val="333333"/>
                </a:solidFill>
                <a:effectLst/>
                <a:latin typeface="-apple-system"/>
              </a:rPr>
              <a:t> сначала ищет все единичные (содержащие 1 элемент) </a:t>
            </a:r>
            <a:r>
              <a:rPr lang="ru-RU" b="0" i="0" dirty="0" err="1">
                <a:solidFill>
                  <a:srgbClr val="333333"/>
                </a:solidFill>
                <a:effectLst/>
                <a:latin typeface="-apple-system"/>
              </a:rPr>
              <a:t>itemsets</a:t>
            </a:r>
            <a:r>
              <a:rPr lang="ru-RU" b="0" i="0" dirty="0">
                <a:solidFill>
                  <a:srgbClr val="333333"/>
                </a:solidFill>
                <a:effectLst/>
                <a:latin typeface="-apple-system"/>
              </a:rPr>
              <a:t>, удовлетворяющие заданному пользователем </a:t>
            </a:r>
            <a:r>
              <a:rPr lang="ru-RU" b="0" i="0" dirty="0" err="1">
                <a:solidFill>
                  <a:srgbClr val="333333"/>
                </a:solidFill>
                <a:effectLst/>
                <a:latin typeface="-apple-system"/>
              </a:rPr>
              <a:t>supp</a:t>
            </a:r>
            <a:r>
              <a:rPr lang="ru-RU" b="0" i="0" dirty="0">
                <a:solidFill>
                  <a:srgbClr val="333333"/>
                </a:solidFill>
                <a:effectLst/>
                <a:latin typeface="-apple-system"/>
              </a:rPr>
              <a:t>, затем составляет из них пары по принципу иерархической монотонности, т.е. если  встречается часто и встречается часто, то и  встречается часто.</a:t>
            </a:r>
            <a:endParaRPr lang="en-US" b="0" i="0" dirty="0">
              <a:solidFill>
                <a:srgbClr val="333333"/>
              </a:solidFill>
              <a:effectLst/>
              <a:latin typeface="-apple-system"/>
            </a:endParaRPr>
          </a:p>
          <a:p>
            <a:endParaRPr lang="en-US" b="0" i="0" dirty="0">
              <a:solidFill>
                <a:srgbClr val="333333"/>
              </a:solidFill>
              <a:effectLst/>
              <a:latin typeface="-apple-system"/>
            </a:endParaRPr>
          </a:p>
          <a:p>
            <a:r>
              <a:rPr lang="ru-RU" b="0" i="0" dirty="0">
                <a:solidFill>
                  <a:srgbClr val="333333"/>
                </a:solidFill>
                <a:effectLst/>
                <a:latin typeface="-apple-system"/>
              </a:rPr>
              <a:t>Явным минусом такого подхода является то, что необходимо «просканировать» весь датасет, посчитать все </a:t>
            </a:r>
            <a:r>
              <a:rPr lang="ru-RU" b="0" i="0" dirty="0" err="1">
                <a:solidFill>
                  <a:srgbClr val="333333"/>
                </a:solidFill>
                <a:effectLst/>
                <a:latin typeface="-apple-system"/>
              </a:rPr>
              <a:t>supp</a:t>
            </a:r>
            <a:r>
              <a:rPr lang="ru-RU" b="0" i="0" dirty="0">
                <a:solidFill>
                  <a:srgbClr val="333333"/>
                </a:solidFill>
                <a:effectLst/>
                <a:latin typeface="-apple-system"/>
              </a:rPr>
              <a:t> на всех уровнях </a:t>
            </a:r>
            <a:r>
              <a:rPr lang="ru-RU" b="0" i="0" dirty="0" err="1">
                <a:solidFill>
                  <a:srgbClr val="333333"/>
                </a:solidFill>
                <a:effectLst/>
                <a:latin typeface="-apple-system"/>
              </a:rPr>
              <a:t>breadth-first</a:t>
            </a:r>
            <a:r>
              <a:rPr lang="ru-RU" b="0" i="0" dirty="0">
                <a:solidFill>
                  <a:srgbClr val="333333"/>
                </a:solidFill>
                <a:effectLst/>
                <a:latin typeface="-apple-system"/>
              </a:rPr>
              <a:t> </a:t>
            </a:r>
            <a:r>
              <a:rPr lang="ru-RU" b="0" i="0" dirty="0" err="1">
                <a:solidFill>
                  <a:srgbClr val="333333"/>
                </a:solidFill>
                <a:effectLst/>
                <a:latin typeface="-apple-system"/>
              </a:rPr>
              <a:t>search</a:t>
            </a:r>
            <a:r>
              <a:rPr lang="ru-RU" b="0" i="0" dirty="0">
                <a:solidFill>
                  <a:srgbClr val="333333"/>
                </a:solidFill>
                <a:effectLst/>
                <a:latin typeface="-apple-system"/>
              </a:rPr>
              <a:t> (</a:t>
            </a:r>
            <a:r>
              <a:rPr lang="ru-RU" b="0" i="0" u="none" strike="noStrike" dirty="0">
                <a:effectLst/>
                <a:latin typeface="-apple-system"/>
                <a:hlinkClick r:id="rId3"/>
              </a:rPr>
              <a:t>поиск в ширину</a:t>
            </a:r>
            <a:r>
              <a:rPr lang="ru-RU" b="0" i="0" dirty="0">
                <a:solidFill>
                  <a:srgbClr val="333333"/>
                </a:solidFill>
                <a:effectLst/>
                <a:latin typeface="-apple-system"/>
              </a:rPr>
              <a:t>)</a:t>
            </a:r>
            <a:br>
              <a:rPr lang="ru-RU" dirty="0"/>
            </a:br>
            <a:r>
              <a:rPr lang="ru-RU" b="0" i="0" dirty="0">
                <a:solidFill>
                  <a:srgbClr val="333333"/>
                </a:solidFill>
                <a:effectLst/>
                <a:latin typeface="-apple-system"/>
              </a:rPr>
              <a:t>Это также может подъесть RAM на больших датасетах, хотя алгоритм в плане скорости все равно намного эффективнее </a:t>
            </a:r>
            <a:r>
              <a:rPr lang="ru-RU" b="0" i="0" dirty="0" err="1">
                <a:solidFill>
                  <a:srgbClr val="333333"/>
                </a:solidFill>
                <a:effectLst/>
                <a:latin typeface="-apple-system"/>
              </a:rPr>
              <a:t>брутфорса</a:t>
            </a:r>
            <a:r>
              <a:rPr lang="ru-RU" b="0" i="0" dirty="0">
                <a:solidFill>
                  <a:srgbClr val="333333"/>
                </a:solidFill>
                <a:effectLst/>
                <a:latin typeface="-apple-system"/>
              </a:rPr>
              <a:t>.</a:t>
            </a:r>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33</a:t>
            </a:fld>
            <a:endParaRPr lang="ru-RU"/>
          </a:p>
        </p:txBody>
      </p:sp>
    </p:spTree>
    <p:extLst>
      <p:ext uri="{BB962C8B-B14F-4D97-AF65-F5344CB8AC3E}">
        <p14:creationId xmlns:p14="http://schemas.microsoft.com/office/powerpoint/2010/main" val="2841484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b="0" i="0" dirty="0">
                <a:solidFill>
                  <a:srgbClr val="000000"/>
                </a:solidFill>
                <a:effectLst/>
                <a:latin typeface="lucida grande"/>
              </a:rPr>
              <a:t>На первом этапе происходит формирование одноэлементных кандидатов. Далее </a:t>
            </a:r>
            <a:r>
              <a:rPr lang="ru-RU" b="0" i="1" dirty="0">
                <a:solidFill>
                  <a:srgbClr val="000000"/>
                </a:solidFill>
                <a:effectLst/>
                <a:latin typeface="lucida grande"/>
              </a:rPr>
              <a:t>алгоритм</a:t>
            </a:r>
            <a:r>
              <a:rPr lang="ru-RU" b="0" i="0" dirty="0">
                <a:solidFill>
                  <a:srgbClr val="000000"/>
                </a:solidFill>
                <a:effectLst/>
                <a:latin typeface="lucida grande"/>
              </a:rPr>
              <a:t> подсчитывает </a:t>
            </a:r>
            <a:r>
              <a:rPr lang="ru-RU" b="0" i="1" dirty="0">
                <a:solidFill>
                  <a:srgbClr val="000000"/>
                </a:solidFill>
                <a:effectLst/>
                <a:latin typeface="lucida grande"/>
              </a:rPr>
              <a:t>поддержку</a:t>
            </a:r>
            <a:r>
              <a:rPr lang="ru-RU" b="0" i="0" dirty="0">
                <a:solidFill>
                  <a:srgbClr val="000000"/>
                </a:solidFill>
                <a:effectLst/>
                <a:latin typeface="lucida grande"/>
              </a:rPr>
              <a:t> одноэлементных наборов. Наборы с уровнем </a:t>
            </a:r>
            <a:r>
              <a:rPr lang="ru-RU" b="0" i="1" dirty="0">
                <a:solidFill>
                  <a:srgbClr val="000000"/>
                </a:solidFill>
                <a:effectLst/>
                <a:latin typeface="lucida grande"/>
              </a:rPr>
              <a:t>поддержки</a:t>
            </a:r>
            <a:r>
              <a:rPr lang="ru-RU" b="0" i="0" dirty="0">
                <a:solidFill>
                  <a:srgbClr val="000000"/>
                </a:solidFill>
                <a:effectLst/>
                <a:latin typeface="lucida grande"/>
              </a:rPr>
              <a:t> меньше установленного, то есть 3, отсекаются. В нашем примере это наборы e и f, которые имеют </a:t>
            </a:r>
            <a:r>
              <a:rPr lang="ru-RU" b="0" i="1" dirty="0">
                <a:solidFill>
                  <a:srgbClr val="000000"/>
                </a:solidFill>
                <a:effectLst/>
                <a:latin typeface="lucida grande"/>
              </a:rPr>
              <a:t>поддержку</a:t>
            </a:r>
            <a:r>
              <a:rPr lang="ru-RU" b="0" i="0" dirty="0">
                <a:solidFill>
                  <a:srgbClr val="000000"/>
                </a:solidFill>
                <a:effectLst/>
                <a:latin typeface="lucida grande"/>
              </a:rPr>
              <a:t>, равную 1. Оставшиеся наборы товаров считаются часто встречающимися одноэлементными наборами товаров: это наборы a, b, c, d.</a:t>
            </a:r>
          </a:p>
          <a:p>
            <a:pPr marL="0" indent="0" algn="just">
              <a:buNone/>
            </a:pPr>
            <a:r>
              <a:rPr lang="ru-RU" b="0" i="0" dirty="0">
                <a:solidFill>
                  <a:srgbClr val="000000"/>
                </a:solidFill>
                <a:effectLst/>
                <a:latin typeface="lucida grande"/>
              </a:rPr>
              <a:t>Далее происходит формирование двухэлементных кандидатов, подсчет их </a:t>
            </a:r>
            <a:r>
              <a:rPr lang="ru-RU" b="0" i="1" dirty="0">
                <a:solidFill>
                  <a:srgbClr val="000000"/>
                </a:solidFill>
                <a:effectLst/>
                <a:latin typeface="lucida grande"/>
              </a:rPr>
              <a:t>поддержки</a:t>
            </a:r>
            <a:r>
              <a:rPr lang="ru-RU" b="0" i="0" dirty="0">
                <a:solidFill>
                  <a:srgbClr val="000000"/>
                </a:solidFill>
                <a:effectLst/>
                <a:latin typeface="lucida grande"/>
              </a:rPr>
              <a:t> и </a:t>
            </a:r>
            <a:r>
              <a:rPr lang="ru-RU" b="0" i="1" dirty="0">
                <a:solidFill>
                  <a:srgbClr val="000000"/>
                </a:solidFill>
                <a:effectLst/>
                <a:latin typeface="lucida grande"/>
              </a:rPr>
              <a:t>отсечение</a:t>
            </a:r>
            <a:r>
              <a:rPr lang="ru-RU" b="0" i="0" dirty="0">
                <a:solidFill>
                  <a:srgbClr val="000000"/>
                </a:solidFill>
                <a:effectLst/>
                <a:latin typeface="lucida grande"/>
              </a:rPr>
              <a:t> наборов с уровнем </a:t>
            </a:r>
            <a:r>
              <a:rPr lang="ru-RU" b="0" i="1" dirty="0">
                <a:solidFill>
                  <a:srgbClr val="000000"/>
                </a:solidFill>
                <a:effectLst/>
                <a:latin typeface="lucida grande"/>
              </a:rPr>
              <a:t>поддержки</a:t>
            </a:r>
            <a:r>
              <a:rPr lang="ru-RU" b="0" i="0" dirty="0">
                <a:solidFill>
                  <a:srgbClr val="000000"/>
                </a:solidFill>
                <a:effectLst/>
                <a:latin typeface="lucida grande"/>
              </a:rPr>
              <a:t>, меньшим 3. Оставшиеся двухэлементные наборы товаров, считающиеся часто встречающимися двухэлементными наборами </a:t>
            </a:r>
            <a:r>
              <a:rPr lang="ru-RU" b="0" i="0" dirty="0" err="1">
                <a:solidFill>
                  <a:srgbClr val="000000"/>
                </a:solidFill>
                <a:effectLst/>
                <a:latin typeface="lucida grande"/>
              </a:rPr>
              <a:t>ab</a:t>
            </a:r>
            <a:r>
              <a:rPr lang="ru-RU" b="0" i="0" dirty="0">
                <a:solidFill>
                  <a:srgbClr val="000000"/>
                </a:solidFill>
                <a:effectLst/>
                <a:latin typeface="lucida grande"/>
              </a:rPr>
              <a:t>, </a:t>
            </a:r>
            <a:r>
              <a:rPr lang="ru-RU" b="0" i="0" dirty="0" err="1">
                <a:solidFill>
                  <a:srgbClr val="000000"/>
                </a:solidFill>
                <a:effectLst/>
                <a:latin typeface="lucida grande"/>
              </a:rPr>
              <a:t>ac</a:t>
            </a:r>
            <a:r>
              <a:rPr lang="ru-RU" b="0" i="0" dirty="0">
                <a:solidFill>
                  <a:srgbClr val="000000"/>
                </a:solidFill>
                <a:effectLst/>
                <a:latin typeface="lucida grande"/>
              </a:rPr>
              <a:t>, </a:t>
            </a:r>
            <a:r>
              <a:rPr lang="ru-RU" b="0" i="0" dirty="0" err="1">
                <a:solidFill>
                  <a:srgbClr val="000000"/>
                </a:solidFill>
                <a:effectLst/>
                <a:latin typeface="lucida grande"/>
              </a:rPr>
              <a:t>bd</a:t>
            </a:r>
            <a:r>
              <a:rPr lang="ru-RU" b="0" i="0" dirty="0">
                <a:solidFill>
                  <a:srgbClr val="000000"/>
                </a:solidFill>
                <a:effectLst/>
                <a:latin typeface="lucida grande"/>
              </a:rPr>
              <a:t>, принимают участие в дальнейшей работе алгоритма.</a:t>
            </a:r>
          </a:p>
          <a:p>
            <a:pPr marL="0" indent="0" algn="just">
              <a:buNone/>
            </a:pPr>
            <a:r>
              <a:rPr lang="ru-RU" b="0" i="0" dirty="0">
                <a:solidFill>
                  <a:srgbClr val="000000"/>
                </a:solidFill>
                <a:effectLst/>
                <a:latin typeface="lucida grande"/>
              </a:rPr>
              <a:t>Если смотреть на работу алгоритма прямолинейно, на последнем этапе </a:t>
            </a:r>
            <a:r>
              <a:rPr lang="ru-RU" b="0" i="1" dirty="0">
                <a:solidFill>
                  <a:srgbClr val="000000"/>
                </a:solidFill>
                <a:effectLst/>
                <a:latin typeface="lucida grande"/>
              </a:rPr>
              <a:t>алгоритм</a:t>
            </a:r>
            <a:r>
              <a:rPr lang="ru-RU" b="0" i="0" dirty="0">
                <a:solidFill>
                  <a:srgbClr val="000000"/>
                </a:solidFill>
                <a:effectLst/>
                <a:latin typeface="lucida grande"/>
              </a:rPr>
              <a:t> формирует трехэлементные наборы товаров: </a:t>
            </a:r>
            <a:r>
              <a:rPr lang="ru-RU" b="0" i="0" dirty="0" err="1">
                <a:solidFill>
                  <a:srgbClr val="000000"/>
                </a:solidFill>
                <a:effectLst/>
                <a:latin typeface="lucida grande"/>
              </a:rPr>
              <a:t>abc</a:t>
            </a:r>
            <a:r>
              <a:rPr lang="ru-RU" b="0" i="0" dirty="0">
                <a:solidFill>
                  <a:srgbClr val="000000"/>
                </a:solidFill>
                <a:effectLst/>
                <a:latin typeface="lucida grande"/>
              </a:rPr>
              <a:t>, </a:t>
            </a:r>
            <a:r>
              <a:rPr lang="ru-RU" b="0" i="0" dirty="0" err="1">
                <a:solidFill>
                  <a:srgbClr val="000000"/>
                </a:solidFill>
                <a:effectLst/>
                <a:latin typeface="lucida grande"/>
              </a:rPr>
              <a:t>abd</a:t>
            </a:r>
            <a:r>
              <a:rPr lang="ru-RU" b="0" i="0" dirty="0">
                <a:solidFill>
                  <a:srgbClr val="000000"/>
                </a:solidFill>
                <a:effectLst/>
                <a:latin typeface="lucida grande"/>
              </a:rPr>
              <a:t>, </a:t>
            </a:r>
            <a:r>
              <a:rPr lang="ru-RU" b="0" i="1" dirty="0" err="1">
                <a:solidFill>
                  <a:srgbClr val="000000"/>
                </a:solidFill>
                <a:effectLst/>
                <a:latin typeface="lucida grande"/>
              </a:rPr>
              <a:t>bcd</a:t>
            </a:r>
            <a:r>
              <a:rPr lang="ru-RU" b="0" i="0" dirty="0">
                <a:solidFill>
                  <a:srgbClr val="000000"/>
                </a:solidFill>
                <a:effectLst/>
                <a:latin typeface="lucida grande"/>
              </a:rPr>
              <a:t>, </a:t>
            </a:r>
            <a:r>
              <a:rPr lang="ru-RU" b="0" i="1" dirty="0" err="1">
                <a:solidFill>
                  <a:srgbClr val="000000"/>
                </a:solidFill>
                <a:effectLst/>
                <a:latin typeface="lucida grande"/>
              </a:rPr>
              <a:t>acd</a:t>
            </a:r>
            <a:r>
              <a:rPr lang="ru-RU" b="0" i="0" dirty="0">
                <a:solidFill>
                  <a:srgbClr val="000000"/>
                </a:solidFill>
                <a:effectLst/>
                <a:latin typeface="lucida grande"/>
              </a:rPr>
              <a:t>, подсчитывает их </a:t>
            </a:r>
            <a:r>
              <a:rPr lang="ru-RU" b="0" i="1" dirty="0">
                <a:solidFill>
                  <a:srgbClr val="000000"/>
                </a:solidFill>
                <a:effectLst/>
                <a:latin typeface="lucida grande"/>
              </a:rPr>
              <a:t>поддержку</a:t>
            </a:r>
            <a:r>
              <a:rPr lang="ru-RU" b="0" i="0" dirty="0">
                <a:solidFill>
                  <a:srgbClr val="000000"/>
                </a:solidFill>
                <a:effectLst/>
                <a:latin typeface="lucida grande"/>
              </a:rPr>
              <a:t> и отсекает наборы с уровнем </a:t>
            </a:r>
            <a:r>
              <a:rPr lang="ru-RU" b="0" i="1" dirty="0">
                <a:solidFill>
                  <a:srgbClr val="000000"/>
                </a:solidFill>
                <a:effectLst/>
                <a:latin typeface="lucida grande"/>
              </a:rPr>
              <a:t>поддержки</a:t>
            </a:r>
            <a:r>
              <a:rPr lang="ru-RU" b="0" i="0" dirty="0">
                <a:solidFill>
                  <a:srgbClr val="000000"/>
                </a:solidFill>
                <a:effectLst/>
                <a:latin typeface="lucida grande"/>
              </a:rPr>
              <a:t>, меньшим 3. Набор товаров </a:t>
            </a:r>
            <a:r>
              <a:rPr lang="ru-RU" b="0" i="0" dirty="0" err="1">
                <a:solidFill>
                  <a:srgbClr val="000000"/>
                </a:solidFill>
                <a:effectLst/>
                <a:latin typeface="lucida grande"/>
              </a:rPr>
              <a:t>abc</a:t>
            </a:r>
            <a:r>
              <a:rPr lang="ru-RU" b="0" i="0" dirty="0">
                <a:solidFill>
                  <a:srgbClr val="000000"/>
                </a:solidFill>
                <a:effectLst/>
                <a:latin typeface="lucida grande"/>
              </a:rPr>
              <a:t> может быть назван часто встречающимся.</a:t>
            </a:r>
          </a:p>
          <a:p>
            <a:pPr marL="0" indent="0">
              <a:buNone/>
            </a:pPr>
            <a:endParaRPr lang="en-US" dirty="0"/>
          </a:p>
          <a:p>
            <a:pPr marL="0" indent="0" algn="just">
              <a:buNone/>
            </a:pPr>
            <a:r>
              <a:rPr lang="ru-RU" b="0" i="0" dirty="0">
                <a:solidFill>
                  <a:srgbClr val="000000"/>
                </a:solidFill>
                <a:effectLst/>
                <a:latin typeface="lucida grande"/>
              </a:rPr>
              <a:t>Однако </a:t>
            </a:r>
            <a:r>
              <a:rPr lang="ru-RU" b="0" i="1" dirty="0">
                <a:solidFill>
                  <a:srgbClr val="000000"/>
                </a:solidFill>
                <a:effectLst/>
                <a:latin typeface="lucida grande"/>
              </a:rPr>
              <a:t>алгоритм</a:t>
            </a:r>
            <a:r>
              <a:rPr lang="ru-RU" b="0" i="0" dirty="0">
                <a:solidFill>
                  <a:srgbClr val="000000"/>
                </a:solidFill>
                <a:effectLst/>
                <a:latin typeface="lucida grande"/>
              </a:rPr>
              <a:t> </a:t>
            </a:r>
            <a:r>
              <a:rPr lang="ru-RU" b="0" i="0" dirty="0" err="1">
                <a:solidFill>
                  <a:srgbClr val="000000"/>
                </a:solidFill>
                <a:effectLst/>
                <a:latin typeface="lucida grande"/>
              </a:rPr>
              <a:t>Apriori</a:t>
            </a:r>
            <a:r>
              <a:rPr lang="ru-RU" b="0" i="0" dirty="0">
                <a:solidFill>
                  <a:srgbClr val="000000"/>
                </a:solidFill>
                <a:effectLst/>
                <a:latin typeface="lucida grande"/>
              </a:rPr>
              <a:t> уменьшает количество кандидатов, отсекая - априори - тех, которые заведомо не могут стать часто встречающимися, на основе информации об отсеченных кандидатах на предыдущих этапах работы алгоритма.</a:t>
            </a:r>
          </a:p>
          <a:p>
            <a:pPr marL="0" indent="0" algn="just">
              <a:buNone/>
            </a:pPr>
            <a:r>
              <a:rPr lang="ru-RU" b="0" i="1" dirty="0">
                <a:solidFill>
                  <a:srgbClr val="000000"/>
                </a:solidFill>
                <a:effectLst/>
                <a:latin typeface="lucida grande"/>
              </a:rPr>
              <a:t>Отсечение</a:t>
            </a:r>
            <a:r>
              <a:rPr lang="ru-RU" b="0" i="0" dirty="0">
                <a:solidFill>
                  <a:srgbClr val="000000"/>
                </a:solidFill>
                <a:effectLst/>
                <a:latin typeface="lucida grande"/>
              </a:rPr>
              <a:t> кандидатов происходит на основе предположения о том, что у часто встречающегося набора товаров все подмножества должны быть часто встречающимися. Если в наборе находится </a:t>
            </a:r>
            <a:r>
              <a:rPr lang="ru-RU" b="0" i="1" dirty="0">
                <a:solidFill>
                  <a:srgbClr val="000000"/>
                </a:solidFill>
                <a:effectLst/>
                <a:latin typeface="lucida grande"/>
              </a:rPr>
              <a:t>подмножество</a:t>
            </a:r>
            <a:r>
              <a:rPr lang="ru-RU" b="0" i="0" dirty="0">
                <a:solidFill>
                  <a:srgbClr val="000000"/>
                </a:solidFill>
                <a:effectLst/>
                <a:latin typeface="lucida grande"/>
              </a:rPr>
              <a:t>, которое на предыдущем этапе было определено как нечасто встречающееся, этот кандидат уже не включается в формирование и подсчет кандидатов.</a:t>
            </a:r>
          </a:p>
          <a:p>
            <a:pPr marL="0" indent="0" algn="just">
              <a:buNone/>
            </a:pPr>
            <a:r>
              <a:rPr lang="ru-RU" b="0" i="0" dirty="0">
                <a:solidFill>
                  <a:srgbClr val="000000"/>
                </a:solidFill>
                <a:effectLst/>
                <a:latin typeface="lucida grande"/>
              </a:rPr>
              <a:t>Так наборы товаров </a:t>
            </a:r>
            <a:r>
              <a:rPr lang="ru-RU" b="0" i="0" dirty="0" err="1">
                <a:solidFill>
                  <a:srgbClr val="000000"/>
                </a:solidFill>
                <a:effectLst/>
                <a:latin typeface="lucida grande"/>
              </a:rPr>
              <a:t>ad</a:t>
            </a:r>
            <a:r>
              <a:rPr lang="ru-RU" b="0" i="0" dirty="0">
                <a:solidFill>
                  <a:srgbClr val="000000"/>
                </a:solidFill>
                <a:effectLst/>
                <a:latin typeface="lucida grande"/>
              </a:rPr>
              <a:t>, </a:t>
            </a:r>
            <a:r>
              <a:rPr lang="ru-RU" b="0" i="0" dirty="0" err="1">
                <a:solidFill>
                  <a:srgbClr val="000000"/>
                </a:solidFill>
                <a:effectLst/>
                <a:latin typeface="lucida grande"/>
              </a:rPr>
              <a:t>bc</a:t>
            </a:r>
            <a:r>
              <a:rPr lang="ru-RU" b="0" i="0" dirty="0">
                <a:solidFill>
                  <a:srgbClr val="000000"/>
                </a:solidFill>
                <a:effectLst/>
                <a:latin typeface="lucida grande"/>
              </a:rPr>
              <a:t>, </a:t>
            </a:r>
            <a:r>
              <a:rPr lang="ru-RU" b="0" i="1" dirty="0" err="1">
                <a:solidFill>
                  <a:srgbClr val="000000"/>
                </a:solidFill>
                <a:effectLst/>
                <a:latin typeface="lucida grande"/>
              </a:rPr>
              <a:t>cd</a:t>
            </a:r>
            <a:r>
              <a:rPr lang="ru-RU" b="0" i="0" dirty="0">
                <a:solidFill>
                  <a:srgbClr val="000000"/>
                </a:solidFill>
                <a:effectLst/>
                <a:latin typeface="lucida grande"/>
              </a:rPr>
              <a:t> были отброшены как нечасто встречающиеся, </a:t>
            </a:r>
            <a:r>
              <a:rPr lang="ru-RU" b="0" i="1" dirty="0">
                <a:solidFill>
                  <a:srgbClr val="000000"/>
                </a:solidFill>
                <a:effectLst/>
                <a:latin typeface="lucida grande"/>
              </a:rPr>
              <a:t>алгоритм</a:t>
            </a:r>
            <a:r>
              <a:rPr lang="ru-RU" b="0" i="0" dirty="0">
                <a:solidFill>
                  <a:srgbClr val="000000"/>
                </a:solidFill>
                <a:effectLst/>
                <a:latin typeface="lucida grande"/>
              </a:rPr>
              <a:t> не рассматривал набор товаров </a:t>
            </a:r>
            <a:r>
              <a:rPr lang="ru-RU" b="0" i="0" dirty="0" err="1">
                <a:solidFill>
                  <a:srgbClr val="000000"/>
                </a:solidFill>
                <a:effectLst/>
                <a:latin typeface="lucida grande"/>
              </a:rPr>
              <a:t>abd</a:t>
            </a:r>
            <a:r>
              <a:rPr lang="ru-RU" b="0" i="0" dirty="0">
                <a:solidFill>
                  <a:srgbClr val="000000"/>
                </a:solidFill>
                <a:effectLst/>
                <a:latin typeface="lucida grande"/>
              </a:rPr>
              <a:t>, </a:t>
            </a:r>
            <a:r>
              <a:rPr lang="ru-RU" b="0" i="1" dirty="0" err="1">
                <a:solidFill>
                  <a:srgbClr val="000000"/>
                </a:solidFill>
                <a:effectLst/>
                <a:latin typeface="lucida grande"/>
              </a:rPr>
              <a:t>bcd</a:t>
            </a:r>
            <a:r>
              <a:rPr lang="ru-RU" b="0" i="0" dirty="0">
                <a:solidFill>
                  <a:srgbClr val="000000"/>
                </a:solidFill>
                <a:effectLst/>
                <a:latin typeface="lucida grande"/>
              </a:rPr>
              <a:t>, </a:t>
            </a:r>
            <a:r>
              <a:rPr lang="ru-RU" b="0" i="1" dirty="0" err="1">
                <a:solidFill>
                  <a:srgbClr val="000000"/>
                </a:solidFill>
                <a:effectLst/>
                <a:latin typeface="lucida grande"/>
              </a:rPr>
              <a:t>acd</a:t>
            </a:r>
            <a:r>
              <a:rPr lang="ru-RU" b="0" i="0" dirty="0">
                <a:solidFill>
                  <a:srgbClr val="000000"/>
                </a:solidFill>
                <a:effectLst/>
                <a:latin typeface="lucida grande"/>
              </a:rPr>
              <a:t>.</a:t>
            </a:r>
          </a:p>
          <a:p>
            <a:pPr marL="0" indent="0" algn="just">
              <a:buNone/>
            </a:pPr>
            <a:r>
              <a:rPr lang="ru-RU" b="0" i="0" dirty="0">
                <a:solidFill>
                  <a:srgbClr val="000000"/>
                </a:solidFill>
                <a:effectLst/>
                <a:latin typeface="lucida grande"/>
              </a:rPr>
              <a:t>При рассмотрении этих наборов формирование трехэлементных кандидатов происходило бы по схеме, приведенной в верхнем пунктирном прямоугольнике. Поскольку </a:t>
            </a:r>
            <a:r>
              <a:rPr lang="ru-RU" b="0" i="1" dirty="0">
                <a:solidFill>
                  <a:srgbClr val="000000"/>
                </a:solidFill>
                <a:effectLst/>
                <a:latin typeface="lucida grande"/>
              </a:rPr>
              <a:t>алгоритм</a:t>
            </a:r>
            <a:r>
              <a:rPr lang="ru-RU" b="0" i="0" dirty="0">
                <a:solidFill>
                  <a:srgbClr val="000000"/>
                </a:solidFill>
                <a:effectLst/>
                <a:latin typeface="lucida grande"/>
              </a:rPr>
              <a:t> априори отбросил заведомо нечасто встречающиеся наборы, последний этап алгоритма сразу определил набор </a:t>
            </a:r>
            <a:r>
              <a:rPr lang="ru-RU" b="0" i="0" dirty="0" err="1">
                <a:solidFill>
                  <a:srgbClr val="000000"/>
                </a:solidFill>
                <a:effectLst/>
                <a:latin typeface="lucida grande"/>
              </a:rPr>
              <a:t>abc</a:t>
            </a:r>
            <a:r>
              <a:rPr lang="ru-RU" b="0" i="0" dirty="0">
                <a:solidFill>
                  <a:srgbClr val="000000"/>
                </a:solidFill>
                <a:effectLst/>
                <a:latin typeface="lucida grande"/>
              </a:rPr>
              <a:t> как единственный трехэлементный часто встречающийся набор (этап приведен в нижнем пунктирном прямоугольнике).</a:t>
            </a:r>
          </a:p>
          <a:p>
            <a:pPr marL="0" indent="0" algn="just">
              <a:buNone/>
            </a:pPr>
            <a:r>
              <a:rPr lang="ru-RU" b="0" i="1" dirty="0">
                <a:solidFill>
                  <a:srgbClr val="000000"/>
                </a:solidFill>
                <a:effectLst/>
                <a:latin typeface="lucida grande"/>
              </a:rPr>
              <a:t>Алгоритм</a:t>
            </a:r>
            <a:r>
              <a:rPr lang="ru-RU" b="0" i="0" dirty="0">
                <a:solidFill>
                  <a:srgbClr val="000000"/>
                </a:solidFill>
                <a:effectLst/>
                <a:latin typeface="lucida grande"/>
              </a:rPr>
              <a:t> </a:t>
            </a:r>
            <a:r>
              <a:rPr lang="ru-RU" b="0" i="0" dirty="0" err="1">
                <a:solidFill>
                  <a:srgbClr val="000000"/>
                </a:solidFill>
                <a:effectLst/>
                <a:latin typeface="lucida grande"/>
              </a:rPr>
              <a:t>Apriori</a:t>
            </a:r>
            <a:r>
              <a:rPr lang="ru-RU" b="0" i="0" dirty="0">
                <a:solidFill>
                  <a:srgbClr val="000000"/>
                </a:solidFill>
                <a:effectLst/>
                <a:latin typeface="lucida grande"/>
              </a:rPr>
              <a:t> рассчитывает также </a:t>
            </a:r>
            <a:r>
              <a:rPr lang="ru-RU" b="0" i="1" dirty="0">
                <a:solidFill>
                  <a:srgbClr val="000000"/>
                </a:solidFill>
                <a:effectLst/>
                <a:latin typeface="lucida grande"/>
              </a:rPr>
              <a:t>поддержку</a:t>
            </a:r>
            <a:r>
              <a:rPr lang="ru-RU" b="0" i="0" dirty="0">
                <a:solidFill>
                  <a:srgbClr val="000000"/>
                </a:solidFill>
                <a:effectLst/>
                <a:latin typeface="lucida grande"/>
              </a:rPr>
              <a:t> наборов, которые не могут быть отсечены априори. Это так называемая негативная область (</a:t>
            </a:r>
            <a:r>
              <a:rPr lang="ru-RU" b="0" i="1" dirty="0" err="1">
                <a:solidFill>
                  <a:srgbClr val="000000"/>
                </a:solidFill>
                <a:effectLst/>
                <a:latin typeface="lucida grande"/>
              </a:rPr>
              <a:t>negative</a:t>
            </a:r>
            <a:r>
              <a:rPr lang="ru-RU" b="0" i="0" dirty="0">
                <a:solidFill>
                  <a:srgbClr val="000000"/>
                </a:solidFill>
                <a:effectLst/>
                <a:latin typeface="lucida grande"/>
              </a:rPr>
              <a:t> </a:t>
            </a:r>
            <a:r>
              <a:rPr lang="ru-RU" b="0" i="1" dirty="0" err="1">
                <a:solidFill>
                  <a:srgbClr val="000000"/>
                </a:solidFill>
                <a:effectLst/>
                <a:latin typeface="lucida grande"/>
              </a:rPr>
              <a:t>border</a:t>
            </a:r>
            <a:r>
              <a:rPr lang="ru-RU" b="0" i="0" dirty="0">
                <a:solidFill>
                  <a:srgbClr val="000000"/>
                </a:solidFill>
                <a:effectLst/>
                <a:latin typeface="lucida grande"/>
              </a:rPr>
              <a:t>), к ней принадлежат наборы-кандидаты, которые встречаются редко, их самих нельзя отнести к часто встречающимся, но все подмножества данных наборов являются часто встречающимися.</a:t>
            </a:r>
          </a:p>
          <a:p>
            <a:pPr marL="0" indent="0">
              <a:buNone/>
            </a:pPr>
            <a:endParaRPr lang="ru-RU" dirty="0"/>
          </a:p>
          <a:p>
            <a:pPr marL="0" indent="0">
              <a:buNone/>
            </a:pPr>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35</a:t>
            </a:fld>
            <a:endParaRPr lang="ru-RU"/>
          </a:p>
        </p:txBody>
      </p:sp>
    </p:spTree>
    <p:extLst>
      <p:ext uri="{BB962C8B-B14F-4D97-AF65-F5344CB8AC3E}">
        <p14:creationId xmlns:p14="http://schemas.microsoft.com/office/powerpoint/2010/main" val="8929127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47</a:t>
            </a:fld>
            <a:endParaRPr lang="ru-RU"/>
          </a:p>
        </p:txBody>
      </p:sp>
    </p:spTree>
    <p:extLst>
      <p:ext uri="{BB962C8B-B14F-4D97-AF65-F5344CB8AC3E}">
        <p14:creationId xmlns:p14="http://schemas.microsoft.com/office/powerpoint/2010/main" val="1071230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60</a:t>
            </a:fld>
            <a:endParaRPr lang="ru-RU"/>
          </a:p>
        </p:txBody>
      </p:sp>
    </p:spTree>
    <p:extLst>
      <p:ext uri="{BB962C8B-B14F-4D97-AF65-F5344CB8AC3E}">
        <p14:creationId xmlns:p14="http://schemas.microsoft.com/office/powerpoint/2010/main" val="11725884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66</a:t>
            </a:fld>
            <a:endParaRPr lang="ru-RU"/>
          </a:p>
        </p:txBody>
      </p:sp>
    </p:spTree>
    <p:extLst>
      <p:ext uri="{BB962C8B-B14F-4D97-AF65-F5344CB8AC3E}">
        <p14:creationId xmlns:p14="http://schemas.microsoft.com/office/powerpoint/2010/main" val="30659159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лектор слева">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A1E5457D-1A65-4814-B82B-2C09539FDD7D}"/>
              </a:ext>
            </a:extLst>
          </p:cNvPr>
          <p:cNvSpPr>
            <a:spLocks noGrp="1"/>
          </p:cNvSpPr>
          <p:nvPr>
            <p:ph type="body" sz="quarter" idx="10" hasCustomPrompt="1"/>
          </p:nvPr>
        </p:nvSpPr>
        <p:spPr>
          <a:xfrm>
            <a:off x="646834" y="212653"/>
            <a:ext cx="8412133" cy="2145987"/>
          </a:xfrm>
          <a:prstGeom prst="rect">
            <a:avLst/>
          </a:prstGeom>
        </p:spPr>
        <p:txBody>
          <a:bodyPr/>
          <a:lstStyle>
            <a:lvl1pPr marL="0" indent="0" algn="ctr">
              <a:buNone/>
              <a:defRPr sz="405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Название дисциплины</a:t>
            </a:r>
          </a:p>
        </p:txBody>
      </p:sp>
      <p:sp>
        <p:nvSpPr>
          <p:cNvPr id="6" name="Текст 4">
            <a:extLst>
              <a:ext uri="{FF2B5EF4-FFF2-40B4-BE49-F238E27FC236}">
                <a16:creationId xmlns:a16="http://schemas.microsoft.com/office/drawing/2014/main" id="{243EB0EA-B14F-4F7C-A662-195D09977AC2}"/>
              </a:ext>
            </a:extLst>
          </p:cNvPr>
          <p:cNvSpPr>
            <a:spLocks noGrp="1"/>
          </p:cNvSpPr>
          <p:nvPr>
            <p:ph type="body" sz="quarter" idx="11" hasCustomPrompt="1"/>
          </p:nvPr>
        </p:nvSpPr>
        <p:spPr>
          <a:xfrm>
            <a:off x="646833" y="4433107"/>
            <a:ext cx="8412133" cy="689986"/>
          </a:xfrm>
          <a:prstGeom prst="rect">
            <a:avLst/>
          </a:prstGeom>
        </p:spPr>
        <p:txBody>
          <a:bodyPr/>
          <a:lstStyle>
            <a:lvl1pPr marL="0" indent="0" algn="r">
              <a:buNone/>
              <a:defRPr sz="30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ФИО лектора</a:t>
            </a:r>
          </a:p>
        </p:txBody>
      </p:sp>
      <p:sp>
        <p:nvSpPr>
          <p:cNvPr id="8" name="Текст 4">
            <a:extLst>
              <a:ext uri="{FF2B5EF4-FFF2-40B4-BE49-F238E27FC236}">
                <a16:creationId xmlns:a16="http://schemas.microsoft.com/office/drawing/2014/main" id="{6657CA8C-522E-4429-B65F-6D6FE560E4B1}"/>
              </a:ext>
            </a:extLst>
          </p:cNvPr>
          <p:cNvSpPr>
            <a:spLocks noGrp="1"/>
          </p:cNvSpPr>
          <p:nvPr>
            <p:ph type="body" sz="quarter" idx="13" hasCustomPrompt="1"/>
          </p:nvPr>
        </p:nvSpPr>
        <p:spPr>
          <a:xfrm>
            <a:off x="646832" y="6034875"/>
            <a:ext cx="8412133" cy="513908"/>
          </a:xfrm>
          <a:prstGeom prst="rect">
            <a:avLst/>
          </a:prstGeom>
        </p:spPr>
        <p:txBody>
          <a:bodyPr/>
          <a:lstStyle>
            <a:lvl1pPr marL="0" indent="0" algn="r">
              <a:buNone/>
              <a:defRPr sz="15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Контактный </a:t>
            </a:r>
            <a:r>
              <a:rPr lang="en-US" dirty="0"/>
              <a:t>e-mail</a:t>
            </a:r>
            <a:endParaRPr lang="ru-RU" dirty="0"/>
          </a:p>
        </p:txBody>
      </p:sp>
      <p:sp>
        <p:nvSpPr>
          <p:cNvPr id="9" name="Текст 4">
            <a:extLst>
              <a:ext uri="{FF2B5EF4-FFF2-40B4-BE49-F238E27FC236}">
                <a16:creationId xmlns:a16="http://schemas.microsoft.com/office/drawing/2014/main" id="{7D9F4617-139A-49F3-B340-15C00D7D3994}"/>
              </a:ext>
            </a:extLst>
          </p:cNvPr>
          <p:cNvSpPr>
            <a:spLocks noGrp="1"/>
          </p:cNvSpPr>
          <p:nvPr>
            <p:ph type="body" sz="quarter" idx="14" hasCustomPrompt="1"/>
          </p:nvPr>
        </p:nvSpPr>
        <p:spPr>
          <a:xfrm>
            <a:off x="646833" y="5344889"/>
            <a:ext cx="8412133" cy="513908"/>
          </a:xfrm>
          <a:prstGeom prst="rect">
            <a:avLst/>
          </a:prstGeom>
        </p:spPr>
        <p:txBody>
          <a:bodyPr/>
          <a:lstStyle>
            <a:lvl1pPr marL="0" indent="0" algn="r">
              <a:buNone/>
              <a:defRPr sz="15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Звание, должность, место работы</a:t>
            </a:r>
          </a:p>
        </p:txBody>
      </p:sp>
      <p:sp>
        <p:nvSpPr>
          <p:cNvPr id="3" name="Прямоугольник 2"/>
          <p:cNvSpPr/>
          <p:nvPr userDrawn="1"/>
        </p:nvSpPr>
        <p:spPr>
          <a:xfrm>
            <a:off x="6952895" y="5800782"/>
            <a:ext cx="2106069" cy="45719"/>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latin typeface="Calibri" panose="020F0502020204030204" pitchFamily="34" charset="0"/>
              <a:cs typeface="Calibri" panose="020F0502020204030204" pitchFamily="34" charset="0"/>
            </a:endParaRPr>
          </a:p>
        </p:txBody>
      </p:sp>
      <p:pic>
        <p:nvPicPr>
          <p:cNvPr id="10" name="Рисунок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338501875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44FFBC-5083-5772-781F-FA8FFDCAFFCA}"/>
              </a:ext>
            </a:extLst>
          </p:cNvPr>
          <p:cNvSpPr>
            <a:spLocks noGrp="1"/>
          </p:cNvSpPr>
          <p:nvPr>
            <p:ph type="title"/>
          </p:nvPr>
        </p:nvSpPr>
        <p:spPr/>
        <p:txBody>
          <a:bodyPr/>
          <a:lstStyle>
            <a:lvl1pPr>
              <a:defRPr b="1">
                <a:latin typeface="+mn-lt"/>
              </a:defRPr>
            </a:lvl1pPr>
          </a:lstStyle>
          <a:p>
            <a:r>
              <a:rPr lang="ru-RU" dirty="0"/>
              <a:t>Образец заголовка</a:t>
            </a:r>
          </a:p>
        </p:txBody>
      </p:sp>
      <p:sp>
        <p:nvSpPr>
          <p:cNvPr id="3" name="Объект 2">
            <a:extLst>
              <a:ext uri="{FF2B5EF4-FFF2-40B4-BE49-F238E27FC236}">
                <a16:creationId xmlns:a16="http://schemas.microsoft.com/office/drawing/2014/main" id="{4E133F82-3BB3-7EDF-7536-20AF304CA626}"/>
              </a:ext>
            </a:extLst>
          </p:cNvPr>
          <p:cNvSpPr>
            <a:spLocks noGrp="1"/>
          </p:cNvSpPr>
          <p:nvPr>
            <p:ph idx="1"/>
          </p:nvPr>
        </p:nvSpPr>
        <p:spPr>
          <a:xfrm>
            <a:off x="628650" y="1358782"/>
            <a:ext cx="7886700" cy="4818181"/>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558AC38B-5A39-332A-B892-1C5B3FBB8588}"/>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7AA438C3-09F7-C37D-6E65-4491F577CAE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EC83835-A57E-A742-987C-C776B6ED1513}"/>
              </a:ext>
            </a:extLst>
          </p:cNvPr>
          <p:cNvSpPr>
            <a:spLocks noGrp="1"/>
          </p:cNvSpPr>
          <p:nvPr>
            <p:ph type="sldNum" sz="quarter" idx="12"/>
          </p:nvPr>
        </p:nvSpPr>
        <p:spPr/>
        <p:txBody>
          <a:bodyPr/>
          <a:lstStyle/>
          <a:p>
            <a:fld id="{81C5FB71-5E9C-41B5-9BB8-3F1EBEAEB16A}" type="slidenum">
              <a:rPr lang="ru-RU" smtClean="0"/>
              <a:t>‹#›</a:t>
            </a:fld>
            <a:endParaRPr lang="ru-RU"/>
          </a:p>
        </p:txBody>
      </p:sp>
      <p:pic>
        <p:nvPicPr>
          <p:cNvPr id="7" name="Рисунок 6">
            <a:extLst>
              <a:ext uri="{FF2B5EF4-FFF2-40B4-BE49-F238E27FC236}">
                <a16:creationId xmlns:a16="http://schemas.microsoft.com/office/drawing/2014/main" id="{FB905A05-7552-49FE-9E77-7F0D9D97E0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1250650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78FF1D-6E2D-5C37-1EF9-3C33C8D4FA83}"/>
              </a:ext>
            </a:extLst>
          </p:cNvPr>
          <p:cNvSpPr>
            <a:spLocks noGrp="1"/>
          </p:cNvSpPr>
          <p:nvPr>
            <p:ph type="title"/>
          </p:nvPr>
        </p:nvSpPr>
        <p:spPr>
          <a:xfrm>
            <a:off x="623888" y="1709739"/>
            <a:ext cx="7886700" cy="2852737"/>
          </a:xfrm>
        </p:spPr>
        <p:txBody>
          <a:bodyPr anchor="b"/>
          <a:lstStyle>
            <a:lvl1pPr>
              <a:defRPr sz="4500"/>
            </a:lvl1pPr>
          </a:lstStyle>
          <a:p>
            <a:r>
              <a:rPr lang="ru-RU" dirty="0"/>
              <a:t>Образец заголовка</a:t>
            </a:r>
          </a:p>
        </p:txBody>
      </p:sp>
      <p:sp>
        <p:nvSpPr>
          <p:cNvPr id="3" name="Текст 2">
            <a:extLst>
              <a:ext uri="{FF2B5EF4-FFF2-40B4-BE49-F238E27FC236}">
                <a16:creationId xmlns:a16="http://schemas.microsoft.com/office/drawing/2014/main" id="{F0582E55-3C82-8981-AD35-5BE1CAF78103}"/>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ru-RU" dirty="0"/>
              <a:t>Образец текста</a:t>
            </a:r>
          </a:p>
        </p:txBody>
      </p:sp>
      <p:sp>
        <p:nvSpPr>
          <p:cNvPr id="4" name="Дата 3">
            <a:extLst>
              <a:ext uri="{FF2B5EF4-FFF2-40B4-BE49-F238E27FC236}">
                <a16:creationId xmlns:a16="http://schemas.microsoft.com/office/drawing/2014/main" id="{05C24C26-5FFB-10BC-7F6B-DD086C3D3B2F}"/>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9D785404-A40E-C6B4-B1AF-346CA25363D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FEA0686-FE00-F77C-4961-0D4916B1D1EF}"/>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1493748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3BFC52-ACF7-50D2-B236-F3AD0C764E31}"/>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063D935F-6E1D-704A-FFD9-95880A32F611}"/>
              </a:ext>
            </a:extLst>
          </p:cNvPr>
          <p:cNvSpPr>
            <a:spLocks noGrp="1"/>
          </p:cNvSpPr>
          <p:nvPr>
            <p:ph sz="half" idx="1"/>
          </p:nvPr>
        </p:nvSpPr>
        <p:spPr>
          <a:xfrm>
            <a:off x="628650" y="1350234"/>
            <a:ext cx="3886200" cy="4826729"/>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Объект 3">
            <a:extLst>
              <a:ext uri="{FF2B5EF4-FFF2-40B4-BE49-F238E27FC236}">
                <a16:creationId xmlns:a16="http://schemas.microsoft.com/office/drawing/2014/main" id="{C45F5B83-C11F-C63E-19F8-F170305E7390}"/>
              </a:ext>
            </a:extLst>
          </p:cNvPr>
          <p:cNvSpPr>
            <a:spLocks noGrp="1"/>
          </p:cNvSpPr>
          <p:nvPr>
            <p:ph sz="half" idx="2"/>
          </p:nvPr>
        </p:nvSpPr>
        <p:spPr>
          <a:xfrm>
            <a:off x="4629150" y="1350233"/>
            <a:ext cx="3886200" cy="4826730"/>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5" name="Дата 4">
            <a:extLst>
              <a:ext uri="{FF2B5EF4-FFF2-40B4-BE49-F238E27FC236}">
                <a16:creationId xmlns:a16="http://schemas.microsoft.com/office/drawing/2014/main" id="{816558B0-F06F-5D3F-D4CE-12FEA6CA58DA}"/>
              </a:ext>
            </a:extLst>
          </p:cNvPr>
          <p:cNvSpPr>
            <a:spLocks noGrp="1"/>
          </p:cNvSpPr>
          <p:nvPr>
            <p:ph type="dt" sz="half" idx="10"/>
          </p:nvPr>
        </p:nvSpPr>
        <p:spPr/>
        <p:txBody>
          <a:bodyPr/>
          <a:lstStyle/>
          <a:p>
            <a:endParaRPr lang="ru-RU"/>
          </a:p>
        </p:txBody>
      </p:sp>
      <p:sp>
        <p:nvSpPr>
          <p:cNvPr id="6" name="Нижний колонтитул 5">
            <a:extLst>
              <a:ext uri="{FF2B5EF4-FFF2-40B4-BE49-F238E27FC236}">
                <a16:creationId xmlns:a16="http://schemas.microsoft.com/office/drawing/2014/main" id="{D5CA1470-A32E-0878-FF54-B467D373461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23D6CAE-E104-B509-30C5-5F816DC34D74}"/>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3073781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662FB2-61E9-B090-DDF5-637C0F11674A}"/>
              </a:ext>
            </a:extLst>
          </p:cNvPr>
          <p:cNvSpPr>
            <a:spLocks noGrp="1"/>
          </p:cNvSpPr>
          <p:nvPr>
            <p:ph type="title"/>
          </p:nvPr>
        </p:nvSpPr>
        <p:spPr>
          <a:xfrm>
            <a:off x="629841" y="365126"/>
            <a:ext cx="78867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8B13BEC1-5CE1-39A0-5F98-DF1F88A9A1B9}"/>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4" name="Объект 3">
            <a:extLst>
              <a:ext uri="{FF2B5EF4-FFF2-40B4-BE49-F238E27FC236}">
                <a16:creationId xmlns:a16="http://schemas.microsoft.com/office/drawing/2014/main" id="{7B468AB7-7222-8D12-74BF-6E3FB9D6FFE1}"/>
              </a:ext>
            </a:extLst>
          </p:cNvPr>
          <p:cNvSpPr>
            <a:spLocks noGrp="1"/>
          </p:cNvSpPr>
          <p:nvPr>
            <p:ph sz="half" idx="2"/>
          </p:nvPr>
        </p:nvSpPr>
        <p:spPr>
          <a:xfrm>
            <a:off x="629842" y="2505075"/>
            <a:ext cx="3868340" cy="3684588"/>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5" name="Текст 4">
            <a:extLst>
              <a:ext uri="{FF2B5EF4-FFF2-40B4-BE49-F238E27FC236}">
                <a16:creationId xmlns:a16="http://schemas.microsoft.com/office/drawing/2014/main" id="{36F43AB0-793E-04C0-7572-90E3AE8BD6E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6" name="Объект 5">
            <a:extLst>
              <a:ext uri="{FF2B5EF4-FFF2-40B4-BE49-F238E27FC236}">
                <a16:creationId xmlns:a16="http://schemas.microsoft.com/office/drawing/2014/main" id="{23145C1A-E56D-D9A4-49F4-0E7DE8CF2B49}"/>
              </a:ext>
            </a:extLst>
          </p:cNvPr>
          <p:cNvSpPr>
            <a:spLocks noGrp="1"/>
          </p:cNvSpPr>
          <p:nvPr>
            <p:ph sz="quarter" idx="4"/>
          </p:nvPr>
        </p:nvSpPr>
        <p:spPr>
          <a:xfrm>
            <a:off x="4629150" y="2505075"/>
            <a:ext cx="3887391"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D740FE84-A485-926E-EB2F-9B3A823DB8E8}"/>
              </a:ext>
            </a:extLst>
          </p:cNvPr>
          <p:cNvSpPr>
            <a:spLocks noGrp="1"/>
          </p:cNvSpPr>
          <p:nvPr>
            <p:ph type="dt" sz="half" idx="10"/>
          </p:nvPr>
        </p:nvSpPr>
        <p:spPr/>
        <p:txBody>
          <a:bodyPr/>
          <a:lstStyle/>
          <a:p>
            <a:endParaRPr lang="ru-RU"/>
          </a:p>
        </p:txBody>
      </p:sp>
      <p:sp>
        <p:nvSpPr>
          <p:cNvPr id="8" name="Нижний колонтитул 7">
            <a:extLst>
              <a:ext uri="{FF2B5EF4-FFF2-40B4-BE49-F238E27FC236}">
                <a16:creationId xmlns:a16="http://schemas.microsoft.com/office/drawing/2014/main" id="{4ADDA50C-CC20-F389-1487-E639ADD36B0E}"/>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9EDB0A96-E301-1128-9118-CB1ADB6AF5BF}"/>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717382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F0D036-AD2A-1CBA-C6F3-7B4578499C98}"/>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2C548B4E-17C4-CF0D-4E01-1DC835F2F11A}"/>
              </a:ext>
            </a:extLst>
          </p:cNvPr>
          <p:cNvSpPr>
            <a:spLocks noGrp="1"/>
          </p:cNvSpPr>
          <p:nvPr>
            <p:ph type="dt" sz="half" idx="10"/>
          </p:nvPr>
        </p:nvSpPr>
        <p:spPr/>
        <p:txBody>
          <a:bodyPr/>
          <a:lstStyle/>
          <a:p>
            <a:endParaRPr lang="ru-RU"/>
          </a:p>
        </p:txBody>
      </p:sp>
      <p:sp>
        <p:nvSpPr>
          <p:cNvPr id="4" name="Нижний колонтитул 3">
            <a:extLst>
              <a:ext uri="{FF2B5EF4-FFF2-40B4-BE49-F238E27FC236}">
                <a16:creationId xmlns:a16="http://schemas.microsoft.com/office/drawing/2014/main" id="{05E4C0D2-8219-4FB3-36A6-B7D7FBAE007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B480AC24-E8CC-84DB-8B56-18C72FA88379}"/>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4279817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1828864F-9629-DBDC-6AA3-5D97BFEFB2E4}"/>
              </a:ext>
            </a:extLst>
          </p:cNvPr>
          <p:cNvSpPr>
            <a:spLocks noGrp="1"/>
          </p:cNvSpPr>
          <p:nvPr>
            <p:ph type="dt" sz="half" idx="10"/>
          </p:nvPr>
        </p:nvSpPr>
        <p:spPr/>
        <p:txBody>
          <a:bodyPr/>
          <a:lstStyle/>
          <a:p>
            <a:endParaRPr lang="ru-RU"/>
          </a:p>
        </p:txBody>
      </p:sp>
      <p:sp>
        <p:nvSpPr>
          <p:cNvPr id="3" name="Нижний колонтитул 2">
            <a:extLst>
              <a:ext uri="{FF2B5EF4-FFF2-40B4-BE49-F238E27FC236}">
                <a16:creationId xmlns:a16="http://schemas.microsoft.com/office/drawing/2014/main" id="{E5DC655F-3247-CCB5-ACC2-F50126E46CEB}"/>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A322E155-6080-BCFA-E59A-34FCD9CD2F0C}"/>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3802324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ABC904-DE7E-1195-CDF6-0A530BBDF000}"/>
              </a:ext>
            </a:extLst>
          </p:cNvPr>
          <p:cNvSpPr>
            <a:spLocks noGrp="1"/>
          </p:cNvSpPr>
          <p:nvPr>
            <p:ph type="title"/>
          </p:nvPr>
        </p:nvSpPr>
        <p:spPr>
          <a:xfrm>
            <a:off x="629841" y="457200"/>
            <a:ext cx="2949178" cy="1600200"/>
          </a:xfrm>
        </p:spPr>
        <p:txBody>
          <a:bodyPr anchor="b"/>
          <a:lstStyle>
            <a:lvl1pPr>
              <a:defRPr sz="2400"/>
            </a:lvl1pPr>
          </a:lstStyle>
          <a:p>
            <a:r>
              <a:rPr lang="ru-RU"/>
              <a:t>Образец заголовка</a:t>
            </a:r>
          </a:p>
        </p:txBody>
      </p:sp>
      <p:sp>
        <p:nvSpPr>
          <p:cNvPr id="3" name="Объект 2">
            <a:extLst>
              <a:ext uri="{FF2B5EF4-FFF2-40B4-BE49-F238E27FC236}">
                <a16:creationId xmlns:a16="http://schemas.microsoft.com/office/drawing/2014/main" id="{EABC21CB-E5B3-D11E-2E38-ECCD7B0B1D06}"/>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C5E67837-24BE-30FB-FD14-64C3E801CD2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sp>
        <p:nvSpPr>
          <p:cNvPr id="5" name="Дата 4">
            <a:extLst>
              <a:ext uri="{FF2B5EF4-FFF2-40B4-BE49-F238E27FC236}">
                <a16:creationId xmlns:a16="http://schemas.microsoft.com/office/drawing/2014/main" id="{76F30326-BFB0-8F27-BDF9-353C631FD3D0}"/>
              </a:ext>
            </a:extLst>
          </p:cNvPr>
          <p:cNvSpPr>
            <a:spLocks noGrp="1"/>
          </p:cNvSpPr>
          <p:nvPr>
            <p:ph type="dt" sz="half" idx="10"/>
          </p:nvPr>
        </p:nvSpPr>
        <p:spPr/>
        <p:txBody>
          <a:bodyPr/>
          <a:lstStyle/>
          <a:p>
            <a:endParaRPr lang="ru-RU"/>
          </a:p>
        </p:txBody>
      </p:sp>
      <p:sp>
        <p:nvSpPr>
          <p:cNvPr id="6" name="Нижний колонтитул 5">
            <a:extLst>
              <a:ext uri="{FF2B5EF4-FFF2-40B4-BE49-F238E27FC236}">
                <a16:creationId xmlns:a16="http://schemas.microsoft.com/office/drawing/2014/main" id="{538C1939-F636-863E-84C1-530A04A8AFB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153206C-50B3-2EDC-8517-7704146F07EB}"/>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3098352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80F850-BF2A-5E90-C014-05D89F8466AC}"/>
              </a:ext>
            </a:extLst>
          </p:cNvPr>
          <p:cNvSpPr>
            <a:spLocks noGrp="1"/>
          </p:cNvSpPr>
          <p:nvPr>
            <p:ph type="title"/>
          </p:nvPr>
        </p:nvSpPr>
        <p:spPr>
          <a:xfrm>
            <a:off x="629841" y="457200"/>
            <a:ext cx="2949178" cy="1600200"/>
          </a:xfrm>
        </p:spPr>
        <p:txBody>
          <a:bodyPr anchor="b"/>
          <a:lstStyle>
            <a:lvl1pPr>
              <a:defRPr sz="2400"/>
            </a:lvl1pPr>
          </a:lstStyle>
          <a:p>
            <a:r>
              <a:rPr lang="ru-RU"/>
              <a:t>Образец заголовка</a:t>
            </a:r>
          </a:p>
        </p:txBody>
      </p:sp>
      <p:sp>
        <p:nvSpPr>
          <p:cNvPr id="3" name="Рисунок 2">
            <a:extLst>
              <a:ext uri="{FF2B5EF4-FFF2-40B4-BE49-F238E27FC236}">
                <a16:creationId xmlns:a16="http://schemas.microsoft.com/office/drawing/2014/main" id="{65ED2E89-03E3-6279-B0B8-5B70A09CD472}"/>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ru-RU"/>
          </a:p>
        </p:txBody>
      </p:sp>
      <p:sp>
        <p:nvSpPr>
          <p:cNvPr id="4" name="Текст 3">
            <a:extLst>
              <a:ext uri="{FF2B5EF4-FFF2-40B4-BE49-F238E27FC236}">
                <a16:creationId xmlns:a16="http://schemas.microsoft.com/office/drawing/2014/main" id="{688B8B21-B9FB-6209-49AE-287EA61C5CA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sp>
        <p:nvSpPr>
          <p:cNvPr id="5" name="Дата 4">
            <a:extLst>
              <a:ext uri="{FF2B5EF4-FFF2-40B4-BE49-F238E27FC236}">
                <a16:creationId xmlns:a16="http://schemas.microsoft.com/office/drawing/2014/main" id="{03AF0344-3C4D-162C-D2C6-3EC83808A152}"/>
              </a:ext>
            </a:extLst>
          </p:cNvPr>
          <p:cNvSpPr>
            <a:spLocks noGrp="1"/>
          </p:cNvSpPr>
          <p:nvPr>
            <p:ph type="dt" sz="half" idx="10"/>
          </p:nvPr>
        </p:nvSpPr>
        <p:spPr/>
        <p:txBody>
          <a:bodyPr/>
          <a:lstStyle/>
          <a:p>
            <a:endParaRPr lang="ru-RU"/>
          </a:p>
        </p:txBody>
      </p:sp>
      <p:sp>
        <p:nvSpPr>
          <p:cNvPr id="6" name="Нижний колонтитул 5">
            <a:extLst>
              <a:ext uri="{FF2B5EF4-FFF2-40B4-BE49-F238E27FC236}">
                <a16:creationId xmlns:a16="http://schemas.microsoft.com/office/drawing/2014/main" id="{F531DDED-EC2F-5D31-C4FB-58BF1C1C65E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A915E6D-61CA-F55A-221D-E7DDED9F27AE}"/>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28298640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D2E7370-4728-F9E8-C914-18F0F1D5ADDF}"/>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0939D510-D502-390D-92B5-3838FC4CC0D9}"/>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C79971B-94C9-FEEC-4C09-AC621444383B}"/>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B9135BFA-5492-23C4-E6A2-1A5B50DB849B}"/>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AF740CD-9E9E-D419-05AF-685E0B4E5908}"/>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1611975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1703B8D4-FFFB-51BC-0095-F6912432DD2C}"/>
              </a:ext>
            </a:extLst>
          </p:cNvPr>
          <p:cNvSpPr>
            <a:spLocks noGrp="1"/>
          </p:cNvSpPr>
          <p:nvPr>
            <p:ph type="title" orient="vert"/>
          </p:nvPr>
        </p:nvSpPr>
        <p:spPr>
          <a:xfrm>
            <a:off x="6543675" y="365125"/>
            <a:ext cx="1971675"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6EE6D829-078B-B5F1-ADE1-33C94626B733}"/>
              </a:ext>
            </a:extLst>
          </p:cNvPr>
          <p:cNvSpPr>
            <a:spLocks noGrp="1"/>
          </p:cNvSpPr>
          <p:nvPr>
            <p:ph type="body" orient="vert" idx="1"/>
          </p:nvPr>
        </p:nvSpPr>
        <p:spPr>
          <a:xfrm>
            <a:off x="628650" y="365125"/>
            <a:ext cx="5800725"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2FE88C0-8BC2-47C8-E4DC-B700D95EBC03}"/>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8A85BF16-D79D-ED36-0BF9-885AFC7FB32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41666F3-33E7-6CB8-C181-1FE2342AAC90}"/>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1302828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лектор слева">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A1E5457D-1A65-4814-B82B-2C09539FDD7D}"/>
              </a:ext>
            </a:extLst>
          </p:cNvPr>
          <p:cNvSpPr>
            <a:spLocks noGrp="1"/>
          </p:cNvSpPr>
          <p:nvPr>
            <p:ph type="body" sz="quarter" idx="10" hasCustomPrompt="1"/>
          </p:nvPr>
        </p:nvSpPr>
        <p:spPr>
          <a:xfrm>
            <a:off x="646834" y="212652"/>
            <a:ext cx="8412133" cy="2472070"/>
          </a:xfrm>
          <a:prstGeom prst="rect">
            <a:avLst/>
          </a:prstGeom>
        </p:spPr>
        <p:txBody>
          <a:bodyPr/>
          <a:lstStyle>
            <a:lvl1pPr marL="0" indent="0" algn="ctr">
              <a:buNone/>
              <a:defRPr sz="405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Название дисциплины</a:t>
            </a:r>
          </a:p>
        </p:txBody>
      </p:sp>
      <p:sp>
        <p:nvSpPr>
          <p:cNvPr id="6" name="Текст 4">
            <a:extLst>
              <a:ext uri="{FF2B5EF4-FFF2-40B4-BE49-F238E27FC236}">
                <a16:creationId xmlns:a16="http://schemas.microsoft.com/office/drawing/2014/main" id="{243EB0EA-B14F-4F7C-A662-195D09977AC2}"/>
              </a:ext>
            </a:extLst>
          </p:cNvPr>
          <p:cNvSpPr>
            <a:spLocks noGrp="1"/>
          </p:cNvSpPr>
          <p:nvPr>
            <p:ph type="body" sz="quarter" idx="11" hasCustomPrompt="1"/>
          </p:nvPr>
        </p:nvSpPr>
        <p:spPr>
          <a:xfrm>
            <a:off x="646833" y="4433107"/>
            <a:ext cx="8412133" cy="689986"/>
          </a:xfrm>
          <a:prstGeom prst="rect">
            <a:avLst/>
          </a:prstGeom>
        </p:spPr>
        <p:txBody>
          <a:bodyPr/>
          <a:lstStyle>
            <a:lvl1pPr marL="0" indent="0" algn="r">
              <a:buNone/>
              <a:defRPr sz="30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ФИО лектора</a:t>
            </a:r>
          </a:p>
        </p:txBody>
      </p:sp>
      <p:sp>
        <p:nvSpPr>
          <p:cNvPr id="8" name="Текст 4">
            <a:extLst>
              <a:ext uri="{FF2B5EF4-FFF2-40B4-BE49-F238E27FC236}">
                <a16:creationId xmlns:a16="http://schemas.microsoft.com/office/drawing/2014/main" id="{6657CA8C-522E-4429-B65F-6D6FE560E4B1}"/>
              </a:ext>
            </a:extLst>
          </p:cNvPr>
          <p:cNvSpPr>
            <a:spLocks noGrp="1"/>
          </p:cNvSpPr>
          <p:nvPr>
            <p:ph type="body" sz="quarter" idx="13" hasCustomPrompt="1"/>
          </p:nvPr>
        </p:nvSpPr>
        <p:spPr>
          <a:xfrm>
            <a:off x="646832" y="6034875"/>
            <a:ext cx="8412133" cy="513908"/>
          </a:xfrm>
          <a:prstGeom prst="rect">
            <a:avLst/>
          </a:prstGeom>
        </p:spPr>
        <p:txBody>
          <a:bodyPr/>
          <a:lstStyle>
            <a:lvl1pPr marL="0" indent="0" algn="r">
              <a:buNone/>
              <a:defRPr sz="15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Контактный </a:t>
            </a:r>
            <a:r>
              <a:rPr lang="en-US" dirty="0"/>
              <a:t>e-mail</a:t>
            </a:r>
            <a:endParaRPr lang="ru-RU" dirty="0"/>
          </a:p>
        </p:txBody>
      </p:sp>
      <p:sp>
        <p:nvSpPr>
          <p:cNvPr id="9" name="Текст 4">
            <a:extLst>
              <a:ext uri="{FF2B5EF4-FFF2-40B4-BE49-F238E27FC236}">
                <a16:creationId xmlns:a16="http://schemas.microsoft.com/office/drawing/2014/main" id="{7D9F4617-139A-49F3-B340-15C00D7D3994}"/>
              </a:ext>
            </a:extLst>
          </p:cNvPr>
          <p:cNvSpPr>
            <a:spLocks noGrp="1"/>
          </p:cNvSpPr>
          <p:nvPr>
            <p:ph type="body" sz="quarter" idx="14" hasCustomPrompt="1"/>
          </p:nvPr>
        </p:nvSpPr>
        <p:spPr>
          <a:xfrm>
            <a:off x="646833" y="5344889"/>
            <a:ext cx="8412133" cy="513908"/>
          </a:xfrm>
          <a:prstGeom prst="rect">
            <a:avLst/>
          </a:prstGeom>
        </p:spPr>
        <p:txBody>
          <a:bodyPr/>
          <a:lstStyle>
            <a:lvl1pPr marL="0" indent="0" algn="r">
              <a:buNone/>
              <a:defRPr sz="15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Звание, должность, место работы</a:t>
            </a:r>
          </a:p>
        </p:txBody>
      </p:sp>
      <p:sp>
        <p:nvSpPr>
          <p:cNvPr id="3" name="Прямоугольник 2"/>
          <p:cNvSpPr/>
          <p:nvPr userDrawn="1"/>
        </p:nvSpPr>
        <p:spPr>
          <a:xfrm>
            <a:off x="6952895" y="5800782"/>
            <a:ext cx="2106069" cy="45719"/>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latin typeface="Calibri" panose="020F0502020204030204" pitchFamily="34" charset="0"/>
              <a:cs typeface="Calibri" panose="020F0502020204030204" pitchFamily="34" charset="0"/>
            </a:endParaRPr>
          </a:p>
        </p:txBody>
      </p:sp>
      <p:pic>
        <p:nvPicPr>
          <p:cNvPr id="10" name="Рисунок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118798989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лектор слева">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A1E5457D-1A65-4814-B82B-2C09539FDD7D}"/>
              </a:ext>
            </a:extLst>
          </p:cNvPr>
          <p:cNvSpPr>
            <a:spLocks noGrp="1"/>
          </p:cNvSpPr>
          <p:nvPr>
            <p:ph type="body" sz="quarter" idx="10" hasCustomPrompt="1"/>
          </p:nvPr>
        </p:nvSpPr>
        <p:spPr>
          <a:xfrm>
            <a:off x="670214" y="212653"/>
            <a:ext cx="8388753" cy="1161898"/>
          </a:xfrm>
          <a:prstGeom prst="rect">
            <a:avLst/>
          </a:prstGeom>
        </p:spPr>
        <p:txBody>
          <a:bodyPr/>
          <a:lstStyle>
            <a:lvl1pPr marL="0" indent="0" algn="ctr">
              <a:buNone/>
              <a:defRPr sz="4050" b="0" cap="none" spc="0">
                <a:ln w="0"/>
                <a:solidFill>
                  <a:schemeClr val="tx1"/>
                </a:solidFill>
                <a:effectLst>
                  <a:outerShdw blurRad="38100" dist="19050" dir="2700000" algn="tl" rotWithShape="0">
                    <a:schemeClr val="dk1">
                      <a:alpha val="40000"/>
                    </a:schemeClr>
                  </a:outerShdw>
                </a:effectLst>
              </a:defRPr>
            </a:lvl1pPr>
          </a:lstStyle>
          <a:p>
            <a:pPr lvl="0"/>
            <a:r>
              <a:rPr lang="ru-RU" dirty="0"/>
              <a:t>Название слайда</a:t>
            </a:r>
          </a:p>
        </p:txBody>
      </p:sp>
      <p:sp>
        <p:nvSpPr>
          <p:cNvPr id="4" name="Текст 3">
            <a:extLst>
              <a:ext uri="{FF2B5EF4-FFF2-40B4-BE49-F238E27FC236}">
                <a16:creationId xmlns:a16="http://schemas.microsoft.com/office/drawing/2014/main" id="{6EAB95B9-19B9-409F-B0C0-80242AEA1C51}"/>
              </a:ext>
            </a:extLst>
          </p:cNvPr>
          <p:cNvSpPr>
            <a:spLocks noGrp="1"/>
          </p:cNvSpPr>
          <p:nvPr>
            <p:ph type="body" sz="quarter" idx="11"/>
          </p:nvPr>
        </p:nvSpPr>
        <p:spPr>
          <a:xfrm>
            <a:off x="670214" y="1830183"/>
            <a:ext cx="8388753" cy="4487862"/>
          </a:xfrm>
          <a:prstGeom prst="rect">
            <a:avLst/>
          </a:prstGeom>
        </p:spPr>
        <p:txBody>
          <a:bodyPr/>
          <a:lstStyle>
            <a:lvl1pPr>
              <a:defRPr sz="2700"/>
            </a:lvl1pPr>
            <a:lvl2pPr>
              <a:defRPr sz="2400"/>
            </a:lvl2pPr>
            <a:lvl3pPr>
              <a:defRPr sz="1800"/>
            </a:lvl3pPr>
            <a:lvl4pPr>
              <a:defRPr sz="1500"/>
            </a:lvl4pPr>
            <a:lvl5pPr>
              <a:defRPr sz="1500"/>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pic>
        <p:nvPicPr>
          <p:cNvPr id="6" name="Рисунок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2066955911"/>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лектор слева">
    <p:spTree>
      <p:nvGrpSpPr>
        <p:cNvPr id="1" name=""/>
        <p:cNvGrpSpPr/>
        <p:nvPr/>
      </p:nvGrpSpPr>
      <p:grpSpPr>
        <a:xfrm>
          <a:off x="0" y="0"/>
          <a:ext cx="0" cy="0"/>
          <a:chOff x="0" y="0"/>
          <a:chExt cx="0" cy="0"/>
        </a:xfrm>
      </p:grpSpPr>
      <p:pic>
        <p:nvPicPr>
          <p:cNvPr id="3" name="Рисунок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24014844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лектор в центре">
    <p:spTree>
      <p:nvGrpSpPr>
        <p:cNvPr id="1" name=""/>
        <p:cNvGrpSpPr/>
        <p:nvPr/>
      </p:nvGrpSpPr>
      <p:grpSpPr>
        <a:xfrm>
          <a:off x="0" y="0"/>
          <a:ext cx="0" cy="0"/>
          <a:chOff x="0" y="0"/>
          <a:chExt cx="0" cy="0"/>
        </a:xfrm>
      </p:grpSpPr>
      <p:pic>
        <p:nvPicPr>
          <p:cNvPr id="3" name="Рисунок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152619157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лектор справа">
    <p:spTree>
      <p:nvGrpSpPr>
        <p:cNvPr id="1" name=""/>
        <p:cNvGrpSpPr/>
        <p:nvPr/>
      </p:nvGrpSpPr>
      <p:grpSpPr>
        <a:xfrm>
          <a:off x="0" y="0"/>
          <a:ext cx="0" cy="0"/>
          <a:chOff x="0" y="0"/>
          <a:chExt cx="0" cy="0"/>
        </a:xfrm>
      </p:grpSpPr>
      <p:pic>
        <p:nvPicPr>
          <p:cNvPr id="4" name="Рисунок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414758807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без лектора">
    <p:spTree>
      <p:nvGrpSpPr>
        <p:cNvPr id="1" name=""/>
        <p:cNvGrpSpPr/>
        <p:nvPr/>
      </p:nvGrpSpPr>
      <p:grpSpPr>
        <a:xfrm>
          <a:off x="0" y="0"/>
          <a:ext cx="0" cy="0"/>
          <a:chOff x="0" y="0"/>
          <a:chExt cx="0" cy="0"/>
        </a:xfrm>
      </p:grpSpPr>
      <p:pic>
        <p:nvPicPr>
          <p:cNvPr id="4" name="Рисунок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29982243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титульный лист">
    <p:spTree>
      <p:nvGrpSpPr>
        <p:cNvPr id="1" name=""/>
        <p:cNvGrpSpPr/>
        <p:nvPr/>
      </p:nvGrpSpPr>
      <p:grpSpPr>
        <a:xfrm>
          <a:off x="0" y="0"/>
          <a:ext cx="0" cy="0"/>
          <a:chOff x="0" y="0"/>
          <a:chExt cx="0" cy="0"/>
        </a:xfrm>
      </p:grpSpPr>
      <p:pic>
        <p:nvPicPr>
          <p:cNvPr id="4" name="Рисунок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4026837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83F0DFB-F6BC-AF29-BE7E-4E3216FC72C1}"/>
              </a:ext>
            </a:extLst>
          </p:cNvPr>
          <p:cNvSpPr>
            <a:spLocks noGrp="1"/>
          </p:cNvSpPr>
          <p:nvPr>
            <p:ph type="title"/>
          </p:nvPr>
        </p:nvSpPr>
        <p:spPr>
          <a:xfrm>
            <a:off x="628650" y="70791"/>
            <a:ext cx="7886700" cy="1100056"/>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a:extLst>
              <a:ext uri="{FF2B5EF4-FFF2-40B4-BE49-F238E27FC236}">
                <a16:creationId xmlns:a16="http://schemas.microsoft.com/office/drawing/2014/main" id="{AC8C1FDE-157F-0CF9-6678-361FB41BEF8F}"/>
              </a:ext>
            </a:extLst>
          </p:cNvPr>
          <p:cNvSpPr>
            <a:spLocks noGrp="1"/>
          </p:cNvSpPr>
          <p:nvPr>
            <p:ph type="body" idx="1"/>
          </p:nvPr>
        </p:nvSpPr>
        <p:spPr>
          <a:xfrm>
            <a:off x="628650" y="1350236"/>
            <a:ext cx="7886700" cy="4826727"/>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EEFCC27C-378E-A92F-E57E-3D7AA4E23EB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ru-RU" dirty="0"/>
          </a:p>
        </p:txBody>
      </p:sp>
      <p:sp>
        <p:nvSpPr>
          <p:cNvPr id="5" name="Нижний колонтитул 4">
            <a:extLst>
              <a:ext uri="{FF2B5EF4-FFF2-40B4-BE49-F238E27FC236}">
                <a16:creationId xmlns:a16="http://schemas.microsoft.com/office/drawing/2014/main" id="{7D90D05E-2ECB-3FE6-00DA-ABD9FD37424D}"/>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050">
                <a:solidFill>
                  <a:schemeClr val="tx1">
                    <a:tint val="75000"/>
                  </a:schemeClr>
                </a:solidFill>
              </a:defRPr>
            </a:lvl1pPr>
          </a:lstStyle>
          <a:p>
            <a:endParaRPr lang="ru-RU" dirty="0"/>
          </a:p>
        </p:txBody>
      </p:sp>
      <p:sp>
        <p:nvSpPr>
          <p:cNvPr id="6" name="Номер слайда 5">
            <a:extLst>
              <a:ext uri="{FF2B5EF4-FFF2-40B4-BE49-F238E27FC236}">
                <a16:creationId xmlns:a16="http://schemas.microsoft.com/office/drawing/2014/main" id="{99280FC2-FB5C-C830-013D-02D6917C456B}"/>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500">
                <a:solidFill>
                  <a:schemeClr val="tx1">
                    <a:tint val="75000"/>
                  </a:schemeClr>
                </a:solidFill>
              </a:defRPr>
            </a:lvl1pPr>
          </a:lstStyle>
          <a:p>
            <a:fld id="{81C5FB71-5E9C-41B5-9BB8-3F1EBEAEB16A}" type="slidenum">
              <a:rPr lang="ru-RU" smtClean="0"/>
              <a:pPr/>
              <a:t>‹#›</a:t>
            </a:fld>
            <a:endParaRPr lang="ru-RU" dirty="0"/>
          </a:p>
        </p:txBody>
      </p:sp>
      <p:pic>
        <p:nvPicPr>
          <p:cNvPr id="7" name="Рисунок 6">
            <a:extLst>
              <a:ext uri="{FF2B5EF4-FFF2-40B4-BE49-F238E27FC236}">
                <a16:creationId xmlns:a16="http://schemas.microsoft.com/office/drawing/2014/main" id="{EEDEDD01-40D1-3A00-9058-486237677F41}"/>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60413021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Lst>
  <p:hf hdr="0" dt="0"/>
  <p:txStyles>
    <p:titleStyle>
      <a:lvl1pPr algn="l" defTabSz="685800" rtl="0" eaLnBrk="1" latinLnBrk="0" hangingPunct="1">
        <a:lnSpc>
          <a:spcPct val="90000"/>
        </a:lnSpc>
        <a:spcBef>
          <a:spcPct val="0"/>
        </a:spcBef>
        <a:buNone/>
        <a:defRPr sz="2700" b="1" kern="1200">
          <a:solidFill>
            <a:schemeClr val="tx1"/>
          </a:solidFill>
          <a:latin typeface="+mn-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ru-RU"/>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Yurchenkov@mirea.ru"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hyperlink" Target="mailto:qwerty29544@gmail.com" TargetMode="Externa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6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a:extLst>
              <a:ext uri="{FF2B5EF4-FFF2-40B4-BE49-F238E27FC236}">
                <a16:creationId xmlns:a16="http://schemas.microsoft.com/office/drawing/2014/main" id="{D02A7036-67AC-4B6E-933D-0EBEFC2F148D}"/>
              </a:ext>
            </a:extLst>
          </p:cNvPr>
          <p:cNvSpPr>
            <a:spLocks noGrp="1"/>
          </p:cNvSpPr>
          <p:nvPr>
            <p:ph type="body" sz="quarter" idx="10"/>
          </p:nvPr>
        </p:nvSpPr>
        <p:spPr/>
        <p:txBody>
          <a:bodyPr/>
          <a:lstStyle/>
          <a:p>
            <a:r>
              <a:rPr lang="ru-RU" dirty="0"/>
              <a:t>Технологии и инструментарий анализа больших данных</a:t>
            </a:r>
          </a:p>
        </p:txBody>
      </p:sp>
      <p:sp>
        <p:nvSpPr>
          <p:cNvPr id="4" name="Текст 3">
            <a:extLst>
              <a:ext uri="{FF2B5EF4-FFF2-40B4-BE49-F238E27FC236}">
                <a16:creationId xmlns:a16="http://schemas.microsoft.com/office/drawing/2014/main" id="{4304D1FC-3C2B-40AC-AC46-5ADB2B78FD76}"/>
              </a:ext>
            </a:extLst>
          </p:cNvPr>
          <p:cNvSpPr>
            <a:spLocks noGrp="1"/>
          </p:cNvSpPr>
          <p:nvPr>
            <p:ph type="body" sz="quarter" idx="11"/>
          </p:nvPr>
        </p:nvSpPr>
        <p:spPr>
          <a:xfrm>
            <a:off x="675407" y="4419600"/>
            <a:ext cx="8412133" cy="689986"/>
          </a:xfrm>
        </p:spPr>
        <p:txBody>
          <a:bodyPr/>
          <a:lstStyle/>
          <a:p>
            <a:r>
              <a:rPr lang="ru-RU" dirty="0"/>
              <a:t>Юрченков Иван Александрович</a:t>
            </a:r>
          </a:p>
        </p:txBody>
      </p:sp>
      <p:sp>
        <p:nvSpPr>
          <p:cNvPr id="5" name="Текст 4">
            <a:extLst>
              <a:ext uri="{FF2B5EF4-FFF2-40B4-BE49-F238E27FC236}">
                <a16:creationId xmlns:a16="http://schemas.microsoft.com/office/drawing/2014/main" id="{85920733-DC10-4100-9E5C-5EBB2D00AEC4}"/>
              </a:ext>
            </a:extLst>
          </p:cNvPr>
          <p:cNvSpPr>
            <a:spLocks noGrp="1"/>
          </p:cNvSpPr>
          <p:nvPr>
            <p:ph type="body" sz="quarter" idx="13"/>
          </p:nvPr>
        </p:nvSpPr>
        <p:spPr/>
        <p:txBody>
          <a:bodyPr/>
          <a:lstStyle/>
          <a:p>
            <a:r>
              <a:rPr lang="en-US" dirty="0">
                <a:hlinkClick r:id="rId3"/>
              </a:rPr>
              <a:t>Yurchenkov@mirea.ru</a:t>
            </a:r>
            <a:r>
              <a:rPr lang="en-US" dirty="0"/>
              <a:t>	</a:t>
            </a:r>
            <a:r>
              <a:rPr lang="en-US" dirty="0">
                <a:hlinkClick r:id="rId4"/>
              </a:rPr>
              <a:t>qwerty29544@gmail.com</a:t>
            </a:r>
            <a:r>
              <a:rPr lang="en-US" dirty="0"/>
              <a:t> 	</a:t>
            </a:r>
            <a:r>
              <a:rPr lang="en-US" dirty="0" err="1"/>
              <a:t>tg</a:t>
            </a:r>
            <a:r>
              <a:rPr lang="en-US" dirty="0"/>
              <a:t>:</a:t>
            </a:r>
            <a:r>
              <a:rPr lang="ru-RU" dirty="0"/>
              <a:t> </a:t>
            </a:r>
            <a:r>
              <a:rPr lang="en-US" dirty="0"/>
              <a:t>@ivanyurchenkov</a:t>
            </a:r>
            <a:endParaRPr lang="ru-RU" dirty="0"/>
          </a:p>
        </p:txBody>
      </p:sp>
      <p:sp>
        <p:nvSpPr>
          <p:cNvPr id="6" name="Текст 5">
            <a:extLst>
              <a:ext uri="{FF2B5EF4-FFF2-40B4-BE49-F238E27FC236}">
                <a16:creationId xmlns:a16="http://schemas.microsoft.com/office/drawing/2014/main" id="{936B0D40-C816-44EC-A3D6-5CA90F8CE9F3}"/>
              </a:ext>
            </a:extLst>
          </p:cNvPr>
          <p:cNvSpPr>
            <a:spLocks noGrp="1"/>
          </p:cNvSpPr>
          <p:nvPr>
            <p:ph type="body" sz="quarter" idx="14"/>
          </p:nvPr>
        </p:nvSpPr>
        <p:spPr/>
        <p:txBody>
          <a:bodyPr/>
          <a:lstStyle/>
          <a:p>
            <a:r>
              <a:rPr lang="ru-RU" dirty="0"/>
              <a:t>Старший преподаватель кафедры прикладной математики ИИТ</a:t>
            </a:r>
          </a:p>
        </p:txBody>
      </p:sp>
    </p:spTree>
    <p:extLst>
      <p:ext uri="{BB962C8B-B14F-4D97-AF65-F5344CB8AC3E}">
        <p14:creationId xmlns:p14="http://schemas.microsoft.com/office/powerpoint/2010/main" val="1391173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1B725C7C-1A33-D3B6-C8C0-BB5D3E01856E}"/>
              </a:ext>
            </a:extLst>
          </p:cNvPr>
          <p:cNvSpPr>
            <a:spLocks noGrp="1"/>
          </p:cNvSpPr>
          <p:nvPr>
            <p:ph type="title"/>
          </p:nvPr>
        </p:nvSpPr>
        <p:spPr>
          <a:xfrm>
            <a:off x="628650" y="910344"/>
            <a:ext cx="7886700" cy="942625"/>
          </a:xfrm>
        </p:spPr>
        <p:txBody>
          <a:bodyPr>
            <a:noAutofit/>
          </a:bodyPr>
          <a:lstStyle/>
          <a:p>
            <a:pPr algn="ctr"/>
            <a:r>
              <a:rPr lang="ru-RU" dirty="0">
                <a:latin typeface="+mn-lt"/>
              </a:rPr>
              <a:t>Лекция №8. </a:t>
            </a:r>
            <a:r>
              <a:rPr lang="ru-RU" dirty="0"/>
              <a:t>Ассоциативные правила</a:t>
            </a:r>
            <a:endParaRPr lang="ru-RU" dirty="0">
              <a:latin typeface="+mn-lt"/>
            </a:endParaRPr>
          </a:p>
        </p:txBody>
      </p:sp>
      <p:sp>
        <p:nvSpPr>
          <p:cNvPr id="7" name="Номер слайда 6">
            <a:extLst>
              <a:ext uri="{FF2B5EF4-FFF2-40B4-BE49-F238E27FC236}">
                <a16:creationId xmlns:a16="http://schemas.microsoft.com/office/drawing/2014/main" id="{03F8E211-449D-C68C-8389-CD803EC9EDAA}"/>
              </a:ext>
            </a:extLst>
          </p:cNvPr>
          <p:cNvSpPr>
            <a:spLocks noGrp="1"/>
          </p:cNvSpPr>
          <p:nvPr>
            <p:ph type="sldNum" sz="quarter" idx="12"/>
          </p:nvPr>
        </p:nvSpPr>
        <p:spPr/>
        <p:txBody>
          <a:bodyPr/>
          <a:lstStyle/>
          <a:p>
            <a:pPr defTabSz="685783" rtl="0"/>
            <a:fld id="{81C5FB71-5E9C-41B5-9BB8-3F1EBEAEB16A}" type="slidenum">
              <a:rPr lang="ru-RU" kern="1200" smtClean="0">
                <a:solidFill>
                  <a:prstClr val="black">
                    <a:tint val="75000"/>
                  </a:prstClr>
                </a:solidFill>
                <a:latin typeface="Calibri" panose="020F0502020204030204"/>
                <a:ea typeface="+mn-ea"/>
                <a:cs typeface="+mn-cs"/>
              </a:rPr>
              <a:pPr defTabSz="685783" rtl="0"/>
              <a:t>2</a:t>
            </a:fld>
            <a:endParaRPr lang="ru-RU" kern="1200" dirty="0">
              <a:solidFill>
                <a:prstClr val="black">
                  <a:tint val="75000"/>
                </a:prstClr>
              </a:solidFill>
              <a:latin typeface="Calibri" panose="020F0502020204030204"/>
              <a:ea typeface="+mn-ea"/>
              <a:cs typeface="+mn-cs"/>
            </a:endParaRPr>
          </a:p>
        </p:txBody>
      </p:sp>
      <p:sp>
        <p:nvSpPr>
          <p:cNvPr id="4" name="Нижний колонтитул 3">
            <a:extLst>
              <a:ext uri="{FF2B5EF4-FFF2-40B4-BE49-F238E27FC236}">
                <a16:creationId xmlns:a16="http://schemas.microsoft.com/office/drawing/2014/main" id="{E8952643-8B4F-47D3-9D67-B26A3ECB68E7}"/>
              </a:ext>
            </a:extLst>
          </p:cNvPr>
          <p:cNvSpPr>
            <a:spLocks noGrp="1"/>
          </p:cNvSpPr>
          <p:nvPr>
            <p:ph type="ftr" sz="quarter" idx="11"/>
          </p:nvPr>
        </p:nvSpPr>
        <p:spPr/>
        <p:txBody>
          <a:bodyPr/>
          <a:lstStyle/>
          <a:p>
            <a:endParaRPr lang="ru-RU"/>
          </a:p>
        </p:txBody>
      </p:sp>
      <p:sp>
        <p:nvSpPr>
          <p:cNvPr id="8" name="Объект 7">
            <a:extLst>
              <a:ext uri="{FF2B5EF4-FFF2-40B4-BE49-F238E27FC236}">
                <a16:creationId xmlns:a16="http://schemas.microsoft.com/office/drawing/2014/main" id="{220B1964-8E5E-4D59-8C01-BF398FDDBA98}"/>
              </a:ext>
            </a:extLst>
          </p:cNvPr>
          <p:cNvSpPr>
            <a:spLocks noGrp="1"/>
          </p:cNvSpPr>
          <p:nvPr>
            <p:ph idx="1"/>
          </p:nvPr>
        </p:nvSpPr>
        <p:spPr>
          <a:xfrm>
            <a:off x="628650" y="2057400"/>
            <a:ext cx="7886700" cy="4119563"/>
          </a:xfrm>
        </p:spPr>
        <p:txBody>
          <a:bodyPr>
            <a:normAutofit/>
          </a:bodyPr>
          <a:lstStyle/>
          <a:p>
            <a:pPr marL="457200" indent="-457200">
              <a:buFont typeface="+mj-lt"/>
              <a:buAutoNum type="arabicPeriod"/>
            </a:pPr>
            <a:r>
              <a:rPr lang="ru-RU" sz="2400" dirty="0"/>
              <a:t>Ассоциативные правила.</a:t>
            </a:r>
          </a:p>
          <a:p>
            <a:pPr marL="457200" indent="-457200">
              <a:buFont typeface="+mj-lt"/>
              <a:buAutoNum type="arabicPeriod"/>
            </a:pPr>
            <a:r>
              <a:rPr lang="ru-RU" sz="2400" dirty="0"/>
              <a:t>Алгоритмы поиска ассоциативных правил.</a:t>
            </a:r>
          </a:p>
          <a:p>
            <a:pPr marL="457200" indent="-457200">
              <a:buFont typeface="+mj-lt"/>
              <a:buAutoNum type="arabicPeriod"/>
            </a:pPr>
            <a:r>
              <a:rPr lang="ru-RU" sz="2400" dirty="0"/>
              <a:t>Часто встречающиеся наборы товаров.</a:t>
            </a:r>
          </a:p>
          <a:p>
            <a:pPr marL="457200" indent="-457200">
              <a:buFont typeface="+mj-lt"/>
              <a:buAutoNum type="arabicPeriod"/>
            </a:pPr>
            <a:r>
              <a:rPr lang="ru-RU" sz="2400" dirty="0"/>
              <a:t>Алгоритм </a:t>
            </a:r>
            <a:r>
              <a:rPr lang="ru-RU" sz="2400" dirty="0" err="1"/>
              <a:t>APriori</a:t>
            </a:r>
            <a:r>
              <a:rPr lang="en-US" sz="2400" dirty="0"/>
              <a:t>.</a:t>
            </a:r>
            <a:endParaRPr lang="ru-RU" sz="2400" dirty="0"/>
          </a:p>
          <a:p>
            <a:pPr marL="457200" indent="-457200">
              <a:buFont typeface="+mj-lt"/>
              <a:buAutoNum type="arabicPeriod"/>
            </a:pPr>
            <a:r>
              <a:rPr lang="ru-RU" sz="2400" dirty="0"/>
              <a:t>Задачи поиска ассоциативных правил.</a:t>
            </a:r>
          </a:p>
          <a:p>
            <a:pPr marL="457200" indent="-457200">
              <a:buFont typeface="+mj-lt"/>
              <a:buAutoNum type="arabicPeriod"/>
            </a:pPr>
            <a:r>
              <a:rPr lang="ru-RU" sz="2400" dirty="0"/>
              <a:t>Алгоритм</a:t>
            </a:r>
            <a:r>
              <a:rPr lang="en-US" sz="2400" dirty="0"/>
              <a:t> Frequent Pattern-Growth Strategy (FPG)</a:t>
            </a:r>
            <a:endParaRPr lang="ru-RU" sz="2400" dirty="0"/>
          </a:p>
        </p:txBody>
      </p:sp>
    </p:spTree>
    <p:extLst>
      <p:ext uri="{BB962C8B-B14F-4D97-AF65-F5344CB8AC3E}">
        <p14:creationId xmlns:p14="http://schemas.microsoft.com/office/powerpoint/2010/main" val="2997528550"/>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312079-B5F3-7104-F1D3-F6A8E5083381}"/>
              </a:ext>
            </a:extLst>
          </p:cNvPr>
          <p:cNvSpPr>
            <a:spLocks noGrp="1"/>
          </p:cNvSpPr>
          <p:nvPr>
            <p:ph type="title"/>
          </p:nvPr>
        </p:nvSpPr>
        <p:spPr/>
        <p:txBody>
          <a:bodyPr/>
          <a:lstStyle/>
          <a:p>
            <a:r>
              <a:rPr lang="ru-RU" dirty="0"/>
              <a:t>Цель и задачи анализа ассоциативных правил</a:t>
            </a:r>
          </a:p>
        </p:txBody>
      </p:sp>
      <p:sp>
        <p:nvSpPr>
          <p:cNvPr id="3" name="Объект 2">
            <a:extLst>
              <a:ext uri="{FF2B5EF4-FFF2-40B4-BE49-F238E27FC236}">
                <a16:creationId xmlns:a16="http://schemas.microsoft.com/office/drawing/2014/main" id="{8DBAF322-27B8-B27B-CC0D-749E20ABAD66}"/>
              </a:ext>
            </a:extLst>
          </p:cNvPr>
          <p:cNvSpPr>
            <a:spLocks noGrp="1"/>
          </p:cNvSpPr>
          <p:nvPr>
            <p:ph idx="1"/>
          </p:nvPr>
        </p:nvSpPr>
        <p:spPr/>
        <p:txBody>
          <a:bodyPr>
            <a:normAutofit/>
          </a:bodyPr>
          <a:lstStyle/>
          <a:p>
            <a:pPr marL="0" indent="0">
              <a:buNone/>
            </a:pPr>
            <a:r>
              <a:rPr lang="ru-RU" b="1" i="0" dirty="0">
                <a:effectLst/>
                <a:latin typeface="YS Text"/>
              </a:rPr>
              <a:t>Анализ ассоциативных правил </a:t>
            </a:r>
            <a:r>
              <a:rPr lang="ru-RU" b="0" i="0" dirty="0">
                <a:effectLst/>
                <a:latin typeface="YS Text"/>
              </a:rPr>
              <a:t>— это метод машинного обучения, направленный на обнаружение интересных взаимосвязей (ассоциаций) между переменными в больших базах данных. </a:t>
            </a:r>
          </a:p>
          <a:p>
            <a:pPr marL="0" indent="0" algn="l">
              <a:lnSpc>
                <a:spcPts val="1800"/>
              </a:lnSpc>
              <a:spcAft>
                <a:spcPts val="600"/>
              </a:spcAft>
              <a:buNone/>
            </a:pPr>
            <a:r>
              <a:rPr lang="ru-RU" b="1" i="0" dirty="0">
                <a:effectLst/>
                <a:latin typeface="YS Text"/>
              </a:rPr>
              <a:t>Целью анализа ассоциативных правил</a:t>
            </a:r>
            <a:r>
              <a:rPr lang="ru-RU" b="0" i="0" dirty="0">
                <a:effectLst/>
                <a:latin typeface="YS Text"/>
              </a:rPr>
              <a:t> является установление зависимостей между связанными событиями или элементами в наборе данных. </a:t>
            </a:r>
            <a:r>
              <a:rPr lang="ru-RU" dirty="0">
                <a:latin typeface="YS Text"/>
              </a:rPr>
              <a:t>К</a:t>
            </a:r>
            <a:r>
              <a:rPr lang="ru-RU" b="0" i="0" dirty="0">
                <a:effectLst/>
                <a:latin typeface="YS Text"/>
              </a:rPr>
              <a:t>акие наборы элементов (или событий) часто встречаются вместе в транзакциях. </a:t>
            </a:r>
          </a:p>
          <a:p>
            <a:pPr marL="0" indent="0">
              <a:buNone/>
            </a:pPr>
            <a:r>
              <a:rPr lang="ru-RU" b="1" i="0" dirty="0">
                <a:effectLst/>
                <a:latin typeface="YS Text"/>
              </a:rPr>
              <a:t>Задачи анализа ассоциативных правил</a:t>
            </a:r>
          </a:p>
          <a:p>
            <a:pPr marL="457200" indent="-457200">
              <a:buAutoNum type="arabicPeriod"/>
            </a:pPr>
            <a:r>
              <a:rPr lang="ru-RU" i="1" dirty="0">
                <a:effectLst/>
                <a:latin typeface="YS Text"/>
              </a:rPr>
              <a:t>Определение часто встречающихся наборов элементов</a:t>
            </a:r>
          </a:p>
          <a:p>
            <a:pPr marL="457200" indent="-457200">
              <a:buAutoNum type="arabicPeriod"/>
            </a:pPr>
            <a:r>
              <a:rPr lang="ru-RU" i="1" dirty="0">
                <a:effectLst/>
                <a:latin typeface="YS Text"/>
              </a:rPr>
              <a:t>Генерация ассоциативных правил</a:t>
            </a:r>
            <a:endParaRPr lang="ru-RU" i="1" dirty="0">
              <a:latin typeface="YS Text"/>
            </a:endParaRPr>
          </a:p>
          <a:p>
            <a:pPr marL="457200" indent="-457200">
              <a:buAutoNum type="arabicPeriod"/>
            </a:pPr>
            <a:r>
              <a:rPr lang="ru-RU" i="1" dirty="0">
                <a:effectLst/>
                <a:latin typeface="YS Text"/>
              </a:rPr>
              <a:t>Оценка достоверности правил</a:t>
            </a:r>
          </a:p>
          <a:p>
            <a:pPr marL="457200" indent="-457200">
              <a:buAutoNum type="arabicPeriod"/>
            </a:pPr>
            <a:r>
              <a:rPr lang="ru-RU" i="1" dirty="0">
                <a:effectLst/>
                <a:latin typeface="YS Text"/>
              </a:rPr>
              <a:t>Фильтрация и отбор значимых правил</a:t>
            </a:r>
            <a:endParaRPr lang="ru-RU" i="1" dirty="0">
              <a:latin typeface="YS Text"/>
            </a:endParaRPr>
          </a:p>
          <a:p>
            <a:pPr marL="457200" indent="-457200">
              <a:buAutoNum type="arabicPeriod"/>
            </a:pPr>
            <a:r>
              <a:rPr lang="ru-RU" i="1" dirty="0">
                <a:effectLst/>
                <a:latin typeface="YS Text"/>
              </a:rPr>
              <a:t>Применение полученных правил</a:t>
            </a:r>
            <a:endParaRPr lang="ru-RU" i="1" dirty="0"/>
          </a:p>
        </p:txBody>
      </p:sp>
      <p:sp>
        <p:nvSpPr>
          <p:cNvPr id="4" name="Нижний колонтитул 3">
            <a:extLst>
              <a:ext uri="{FF2B5EF4-FFF2-40B4-BE49-F238E27FC236}">
                <a16:creationId xmlns:a16="http://schemas.microsoft.com/office/drawing/2014/main" id="{BCC26F02-0857-16CA-CB0A-109580D9BDC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7FA91FB3-98BB-AD77-34F4-28C2C223ADF8}"/>
              </a:ext>
            </a:extLst>
          </p:cNvPr>
          <p:cNvSpPr>
            <a:spLocks noGrp="1"/>
          </p:cNvSpPr>
          <p:nvPr>
            <p:ph type="sldNum" sz="quarter" idx="12"/>
          </p:nvPr>
        </p:nvSpPr>
        <p:spPr/>
        <p:txBody>
          <a:bodyPr/>
          <a:lstStyle/>
          <a:p>
            <a:fld id="{81C5FB71-5E9C-41B5-9BB8-3F1EBEAEB16A}" type="slidenum">
              <a:rPr lang="ru-RU" smtClean="0"/>
              <a:t>3</a:t>
            </a:fld>
            <a:endParaRPr lang="ru-RU"/>
          </a:p>
        </p:txBody>
      </p:sp>
    </p:spTree>
    <p:extLst>
      <p:ext uri="{BB962C8B-B14F-4D97-AF65-F5344CB8AC3E}">
        <p14:creationId xmlns:p14="http://schemas.microsoft.com/office/powerpoint/2010/main" val="642166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CE343A-869B-1C01-2427-43AD6E530D4C}"/>
              </a:ext>
            </a:extLst>
          </p:cNvPr>
          <p:cNvSpPr>
            <a:spLocks noGrp="1"/>
          </p:cNvSpPr>
          <p:nvPr>
            <p:ph type="title"/>
          </p:nvPr>
        </p:nvSpPr>
        <p:spPr/>
        <p:txBody>
          <a:bodyPr/>
          <a:lstStyle/>
          <a:p>
            <a:r>
              <a:rPr lang="ru-RU" dirty="0"/>
              <a:t>Применение анализа ассоциативных правил</a:t>
            </a:r>
          </a:p>
        </p:txBody>
      </p:sp>
      <p:graphicFrame>
        <p:nvGraphicFramePr>
          <p:cNvPr id="11" name="Объект 10">
            <a:extLst>
              <a:ext uri="{FF2B5EF4-FFF2-40B4-BE49-F238E27FC236}">
                <a16:creationId xmlns:a16="http://schemas.microsoft.com/office/drawing/2014/main" id="{6D809C8A-C7CC-1DD3-AF67-B9E0E7334D6D}"/>
              </a:ext>
            </a:extLst>
          </p:cNvPr>
          <p:cNvGraphicFramePr>
            <a:graphicFrameLocks noGrp="1"/>
          </p:cNvGraphicFramePr>
          <p:nvPr>
            <p:ph idx="1"/>
            <p:extLst>
              <p:ext uri="{D42A27DB-BD31-4B8C-83A1-F6EECF244321}">
                <p14:modId xmlns:p14="http://schemas.microsoft.com/office/powerpoint/2010/main" val="2582599410"/>
              </p:ext>
            </p:extLst>
          </p:nvPr>
        </p:nvGraphicFramePr>
        <p:xfrm>
          <a:off x="228600" y="990600"/>
          <a:ext cx="5600700" cy="556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Нижний колонтитул 3">
            <a:extLst>
              <a:ext uri="{FF2B5EF4-FFF2-40B4-BE49-F238E27FC236}">
                <a16:creationId xmlns:a16="http://schemas.microsoft.com/office/drawing/2014/main" id="{48FE4337-06E7-2C64-1C77-A09B4A73A8DD}"/>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EE7BC72-58D7-192A-5952-7C10B90A7DF2}"/>
              </a:ext>
            </a:extLst>
          </p:cNvPr>
          <p:cNvSpPr>
            <a:spLocks noGrp="1"/>
          </p:cNvSpPr>
          <p:nvPr>
            <p:ph type="sldNum" sz="quarter" idx="12"/>
          </p:nvPr>
        </p:nvSpPr>
        <p:spPr/>
        <p:txBody>
          <a:bodyPr/>
          <a:lstStyle/>
          <a:p>
            <a:fld id="{81C5FB71-5E9C-41B5-9BB8-3F1EBEAEB16A}" type="slidenum">
              <a:rPr lang="ru-RU" smtClean="0"/>
              <a:t>4</a:t>
            </a:fld>
            <a:endParaRPr lang="ru-RU"/>
          </a:p>
        </p:txBody>
      </p:sp>
      <p:sp>
        <p:nvSpPr>
          <p:cNvPr id="7" name="TextBox 6">
            <a:extLst>
              <a:ext uri="{FF2B5EF4-FFF2-40B4-BE49-F238E27FC236}">
                <a16:creationId xmlns:a16="http://schemas.microsoft.com/office/drawing/2014/main" id="{7053B69E-D682-CF7D-554A-6677E0751EC7}"/>
              </a:ext>
            </a:extLst>
          </p:cNvPr>
          <p:cNvSpPr txBox="1"/>
          <p:nvPr/>
        </p:nvSpPr>
        <p:spPr>
          <a:xfrm>
            <a:off x="5829300" y="1351992"/>
            <a:ext cx="3314700" cy="4247317"/>
          </a:xfrm>
          <a:prstGeom prst="rect">
            <a:avLst/>
          </a:prstGeom>
          <a:noFill/>
        </p:spPr>
        <p:txBody>
          <a:bodyPr wrap="square">
            <a:spAutoFit/>
          </a:bodyPr>
          <a:lstStyle/>
          <a:p>
            <a:pPr lvl="0"/>
            <a:r>
              <a:rPr lang="ru-RU" b="1" i="0" dirty="0"/>
              <a:t>Маркетинг</a:t>
            </a:r>
            <a:endParaRPr lang="ru-RU" b="1" dirty="0"/>
          </a:p>
          <a:p>
            <a:pPr marL="285750" lvl="1" indent="-285750">
              <a:buFont typeface="Arial" panose="020B0604020202020204" pitchFamily="34" charset="0"/>
              <a:buChar char="•"/>
            </a:pPr>
            <a:r>
              <a:rPr lang="ru-RU" i="0" dirty="0"/>
              <a:t>Поиск рыночных сегментов и тенденций</a:t>
            </a:r>
            <a:endParaRPr lang="ru-RU" dirty="0"/>
          </a:p>
          <a:p>
            <a:pPr marL="285750" lvl="1" indent="-285750">
              <a:buFont typeface="Arial" panose="020B0604020202020204" pitchFamily="34" charset="0"/>
              <a:buChar char="•"/>
            </a:pPr>
            <a:r>
              <a:rPr lang="ru-RU" i="0" dirty="0"/>
              <a:t>Сегментация клиентов</a:t>
            </a:r>
            <a:endParaRPr lang="ru-RU" dirty="0"/>
          </a:p>
          <a:p>
            <a:pPr marL="285750" lvl="1" indent="-285750">
              <a:buFont typeface="Arial" panose="020B0604020202020204" pitchFamily="34" charset="0"/>
              <a:buChar char="•"/>
            </a:pPr>
            <a:r>
              <a:rPr lang="ru-RU" i="0" dirty="0"/>
              <a:t>Оформление каталогов и анализ сбытовых кампаний</a:t>
            </a:r>
          </a:p>
          <a:p>
            <a:pPr marL="285750" lvl="1" indent="-285750">
              <a:buFont typeface="Arial" panose="020B0604020202020204" pitchFamily="34" charset="0"/>
              <a:buChar char="•"/>
            </a:pPr>
            <a:endParaRPr lang="ru-RU" dirty="0"/>
          </a:p>
          <a:p>
            <a:pPr lvl="0"/>
            <a:r>
              <a:rPr lang="ru-RU" b="1" i="0" dirty="0"/>
              <a:t>Розничная торговля</a:t>
            </a:r>
            <a:endParaRPr lang="ru-RU" b="1" dirty="0"/>
          </a:p>
          <a:p>
            <a:pPr marL="285750" lvl="1" indent="-285750">
              <a:buFont typeface="Arial" panose="020B0604020202020204" pitchFamily="34" charset="0"/>
              <a:buChar char="•"/>
            </a:pPr>
            <a:r>
              <a:rPr lang="ru-RU" i="0" dirty="0"/>
              <a:t>Определение товаров для совместного продвижения</a:t>
            </a:r>
            <a:endParaRPr lang="ru-RU" dirty="0"/>
          </a:p>
          <a:p>
            <a:pPr marL="285750" lvl="1" indent="-285750">
              <a:buFont typeface="Arial" panose="020B0604020202020204" pitchFamily="34" charset="0"/>
              <a:buChar char="•"/>
            </a:pPr>
            <a:r>
              <a:rPr lang="ru-RU" i="0" dirty="0"/>
              <a:t>Выбор местоположения товара</a:t>
            </a:r>
            <a:endParaRPr lang="ru-RU" dirty="0"/>
          </a:p>
          <a:p>
            <a:pPr marL="285750" lvl="1" indent="-285750">
              <a:buFont typeface="Arial" panose="020B0604020202020204" pitchFamily="34" charset="0"/>
              <a:buChar char="•"/>
            </a:pPr>
            <a:r>
              <a:rPr lang="ru-RU" i="0" dirty="0"/>
              <a:t>Анализ потребительской корзины</a:t>
            </a:r>
            <a:endParaRPr lang="ru-RU" dirty="0"/>
          </a:p>
        </p:txBody>
      </p:sp>
    </p:spTree>
    <p:extLst>
      <p:ext uri="{BB962C8B-B14F-4D97-AF65-F5344CB8AC3E}">
        <p14:creationId xmlns:p14="http://schemas.microsoft.com/office/powerpoint/2010/main" val="2885459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082157-7DCA-714B-1D68-E7FC2AF03D48}"/>
              </a:ext>
            </a:extLst>
          </p:cNvPr>
          <p:cNvSpPr>
            <a:spLocks noGrp="1"/>
          </p:cNvSpPr>
          <p:nvPr>
            <p:ph type="title"/>
          </p:nvPr>
        </p:nvSpPr>
        <p:spPr/>
        <p:txBody>
          <a:bodyPr/>
          <a:lstStyle/>
          <a:p>
            <a:r>
              <a:rPr lang="ru-RU" dirty="0"/>
              <a:t>Задача анализа рыночной корзины</a:t>
            </a:r>
          </a:p>
        </p:txBody>
      </p:sp>
      <p:sp>
        <p:nvSpPr>
          <p:cNvPr id="3" name="Объект 2">
            <a:extLst>
              <a:ext uri="{FF2B5EF4-FFF2-40B4-BE49-F238E27FC236}">
                <a16:creationId xmlns:a16="http://schemas.microsoft.com/office/drawing/2014/main" id="{D7AF78B7-1C92-13F9-1355-0F70D82B9B0E}"/>
              </a:ext>
            </a:extLst>
          </p:cNvPr>
          <p:cNvSpPr>
            <a:spLocks noGrp="1"/>
          </p:cNvSpPr>
          <p:nvPr>
            <p:ph idx="1"/>
          </p:nvPr>
        </p:nvSpPr>
        <p:spPr/>
        <p:txBody>
          <a:bodyPr/>
          <a:lstStyle/>
          <a:p>
            <a:pPr marL="0" indent="0">
              <a:buNone/>
            </a:pPr>
            <a:r>
              <a:rPr lang="ru-RU" dirty="0"/>
              <a:t>Пусть имеется база данных, состоящая из покупательских </a:t>
            </a:r>
            <a:r>
              <a:rPr lang="ru-RU" b="1" dirty="0"/>
              <a:t>транзакций</a:t>
            </a:r>
            <a:r>
              <a:rPr lang="ru-RU" dirty="0"/>
              <a:t>. Каждая транзакция — это набор товаров, купленных покупателем за один визит. Такую транзакцию еще называют рыночной корзиной.</a:t>
            </a:r>
          </a:p>
          <a:p>
            <a:endParaRPr lang="ru-RU" dirty="0"/>
          </a:p>
        </p:txBody>
      </p:sp>
      <p:sp>
        <p:nvSpPr>
          <p:cNvPr id="4" name="Нижний колонтитул 3">
            <a:extLst>
              <a:ext uri="{FF2B5EF4-FFF2-40B4-BE49-F238E27FC236}">
                <a16:creationId xmlns:a16="http://schemas.microsoft.com/office/drawing/2014/main" id="{F272AFD2-CBD2-B0A5-A104-14514EE0294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FBD25E1-D99D-166A-F08C-F1A23637B325}"/>
              </a:ext>
            </a:extLst>
          </p:cNvPr>
          <p:cNvSpPr>
            <a:spLocks noGrp="1"/>
          </p:cNvSpPr>
          <p:nvPr>
            <p:ph type="sldNum" sz="quarter" idx="12"/>
          </p:nvPr>
        </p:nvSpPr>
        <p:spPr/>
        <p:txBody>
          <a:bodyPr/>
          <a:lstStyle/>
          <a:p>
            <a:fld id="{81C5FB71-5E9C-41B5-9BB8-3F1EBEAEB16A}" type="slidenum">
              <a:rPr lang="ru-RU" smtClean="0"/>
              <a:t>5</a:t>
            </a:fld>
            <a:endParaRPr lang="ru-RU"/>
          </a:p>
        </p:txBody>
      </p:sp>
      <p:pic>
        <p:nvPicPr>
          <p:cNvPr id="5122" name="Picture 2" descr="Picture background">
            <a:extLst>
              <a:ext uri="{FF2B5EF4-FFF2-40B4-BE49-F238E27FC236}">
                <a16:creationId xmlns:a16="http://schemas.microsoft.com/office/drawing/2014/main" id="{84A2911A-716D-743C-C033-734A18BB551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333" t="11481" r="18333"/>
          <a:stretch/>
        </p:blipFill>
        <p:spPr bwMode="auto">
          <a:xfrm>
            <a:off x="628650" y="3183576"/>
            <a:ext cx="1905000" cy="284559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Picture background">
            <a:extLst>
              <a:ext uri="{FF2B5EF4-FFF2-40B4-BE49-F238E27FC236}">
                <a16:creationId xmlns:a16="http://schemas.microsoft.com/office/drawing/2014/main" id="{03DCFBE8-3B0F-4F21-1783-9D64D0FDCE5E}"/>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5000" t="37701" r="29167" b="5222"/>
          <a:stretch/>
        </p:blipFill>
        <p:spPr bwMode="auto">
          <a:xfrm>
            <a:off x="2667000" y="3156852"/>
            <a:ext cx="1745920" cy="2872318"/>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Picture background">
            <a:extLst>
              <a:ext uri="{FF2B5EF4-FFF2-40B4-BE49-F238E27FC236}">
                <a16:creationId xmlns:a16="http://schemas.microsoft.com/office/drawing/2014/main" id="{AD4633E8-E4FE-9A40-C99E-AA21368C59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50874" y="3485380"/>
            <a:ext cx="3843202" cy="2013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1849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0A18FB-21A5-49DE-84A6-9C4AFAD8661D}"/>
              </a:ext>
            </a:extLst>
          </p:cNvPr>
          <p:cNvSpPr>
            <a:spLocks noGrp="1"/>
          </p:cNvSpPr>
          <p:nvPr>
            <p:ph type="title"/>
          </p:nvPr>
        </p:nvSpPr>
        <p:spPr/>
        <p:txBody>
          <a:bodyPr/>
          <a:lstStyle/>
          <a:p>
            <a:pPr algn="ctr"/>
            <a:r>
              <a:rPr lang="ru-RU" dirty="0"/>
              <a:t>Введение в ассоциативные правила</a:t>
            </a:r>
          </a:p>
        </p:txBody>
      </p:sp>
      <p:sp>
        <p:nvSpPr>
          <p:cNvPr id="3" name="Объект 2">
            <a:extLst>
              <a:ext uri="{FF2B5EF4-FFF2-40B4-BE49-F238E27FC236}">
                <a16:creationId xmlns:a16="http://schemas.microsoft.com/office/drawing/2014/main" id="{B3772CDC-63CB-4818-B46D-9267C561E507}"/>
              </a:ext>
            </a:extLst>
          </p:cNvPr>
          <p:cNvSpPr>
            <a:spLocks noGrp="1"/>
          </p:cNvSpPr>
          <p:nvPr>
            <p:ph idx="1"/>
          </p:nvPr>
        </p:nvSpPr>
        <p:spPr>
          <a:xfrm>
            <a:off x="628650" y="1075325"/>
            <a:ext cx="7886700" cy="5362695"/>
          </a:xfrm>
        </p:spPr>
        <p:txBody>
          <a:bodyPr>
            <a:normAutofit lnSpcReduction="10000"/>
          </a:bodyPr>
          <a:lstStyle/>
          <a:p>
            <a:pPr marL="0" indent="0" algn="just">
              <a:buNone/>
            </a:pPr>
            <a:r>
              <a:rPr lang="ru-RU" dirty="0"/>
              <a:t>Впервые </a:t>
            </a:r>
            <a:r>
              <a:rPr lang="ru-RU" b="1" dirty="0"/>
              <a:t>задача поиска ассоциативных правил </a:t>
            </a:r>
            <a:r>
              <a:rPr lang="ru-RU" dirty="0"/>
              <a:t>(</a:t>
            </a:r>
            <a:r>
              <a:rPr lang="ru-RU" b="1" dirty="0" err="1"/>
              <a:t>association</a:t>
            </a:r>
            <a:r>
              <a:rPr lang="ru-RU" b="1" dirty="0"/>
              <a:t> </a:t>
            </a:r>
            <a:r>
              <a:rPr lang="ru-RU" b="1" dirty="0" err="1"/>
              <a:t>rule</a:t>
            </a:r>
            <a:r>
              <a:rPr lang="ru-RU" b="1" dirty="0"/>
              <a:t> </a:t>
            </a:r>
            <a:r>
              <a:rPr lang="ru-RU" b="1" dirty="0" err="1"/>
              <a:t>mining</a:t>
            </a:r>
            <a:r>
              <a:rPr lang="ru-RU" dirty="0"/>
              <a:t>) была предложена для нахождения типичных шаблонов покупок, совершаемых в супермаркетах, поэтому иногда ее еще называют </a:t>
            </a:r>
            <a:r>
              <a:rPr lang="ru-RU" b="1" dirty="0"/>
              <a:t>анализом рыночной корзины (</a:t>
            </a:r>
            <a:r>
              <a:rPr lang="ru-RU" b="1" dirty="0" err="1"/>
              <a:t>market</a:t>
            </a:r>
            <a:r>
              <a:rPr lang="ru-RU" b="1" dirty="0"/>
              <a:t> </a:t>
            </a:r>
            <a:r>
              <a:rPr lang="ru-RU" b="1" dirty="0" err="1"/>
              <a:t>basket</a:t>
            </a:r>
            <a:r>
              <a:rPr lang="ru-RU" b="1" dirty="0"/>
              <a:t> </a:t>
            </a:r>
            <a:r>
              <a:rPr lang="ru-RU" b="1" dirty="0" err="1"/>
              <a:t>analysis</a:t>
            </a:r>
            <a:r>
              <a:rPr lang="ru-RU" b="1" dirty="0"/>
              <a:t>)</a:t>
            </a:r>
            <a:r>
              <a:rPr lang="ru-RU" dirty="0"/>
              <a:t>.</a:t>
            </a:r>
          </a:p>
          <a:p>
            <a:pPr marL="0" indent="0" algn="just">
              <a:buNone/>
            </a:pPr>
            <a:r>
              <a:rPr lang="ru-RU" b="1" dirty="0"/>
              <a:t>Рыночная корзина </a:t>
            </a:r>
            <a:r>
              <a:rPr lang="ru-RU" dirty="0"/>
              <a:t>- это набор товаров, приобретенных покупателем в рамках одной отдельно взятой транзакции.</a:t>
            </a:r>
          </a:p>
          <a:p>
            <a:pPr marL="0" indent="0" algn="just">
              <a:buNone/>
            </a:pPr>
            <a:r>
              <a:rPr lang="ru-RU" b="1" dirty="0"/>
              <a:t>Транзакция</a:t>
            </a:r>
            <a:r>
              <a:rPr lang="ru-RU" dirty="0"/>
              <a:t> - это множество событий, которые произошли одновременно.</a:t>
            </a:r>
          </a:p>
          <a:p>
            <a:pPr marL="0" indent="0" algn="just">
              <a:buNone/>
            </a:pPr>
            <a:r>
              <a:rPr lang="ru-RU" dirty="0"/>
              <a:t>Каждая такая транзакция представляет собой набор товаров, купленных покупателем за один визит.</a:t>
            </a:r>
          </a:p>
          <a:p>
            <a:pPr marL="0" indent="0" algn="just">
              <a:buNone/>
            </a:pPr>
            <a:r>
              <a:rPr lang="ru-RU" dirty="0"/>
              <a:t>Полученные в результате анализа шаблоны включают перечень товаров и число транзакций, которые содержат данные наборы.</a:t>
            </a:r>
          </a:p>
          <a:p>
            <a:pPr marL="0" indent="0" algn="just">
              <a:buNone/>
            </a:pPr>
            <a:r>
              <a:rPr lang="ru-RU" b="1" dirty="0"/>
              <a:t>Транзакционная или операционная база данных (</a:t>
            </a:r>
            <a:r>
              <a:rPr lang="ru-RU" b="1" dirty="0" err="1"/>
              <a:t>Transaction</a:t>
            </a:r>
            <a:r>
              <a:rPr lang="ru-RU" b="1" dirty="0"/>
              <a:t> </a:t>
            </a:r>
            <a:r>
              <a:rPr lang="ru-RU" b="1" dirty="0" err="1"/>
              <a:t>database</a:t>
            </a:r>
            <a:r>
              <a:rPr lang="ru-RU" b="1" dirty="0"/>
              <a:t>) </a:t>
            </a:r>
            <a:r>
              <a:rPr lang="ru-RU" dirty="0"/>
              <a:t>представляет собой двумерную таблицу, которая состоит из номера транзакции (TID) и перечня покупок, приобретенных во время этой транзакции.</a:t>
            </a:r>
          </a:p>
          <a:p>
            <a:pPr marL="0" indent="0" algn="just">
              <a:buNone/>
            </a:pPr>
            <a:r>
              <a:rPr lang="ru-RU" b="1" dirty="0"/>
              <a:t>TID</a:t>
            </a:r>
            <a:r>
              <a:rPr lang="ru-RU" dirty="0"/>
              <a:t> - уникальный идентификатор, определяющий каждую сделку или транзакцию.</a:t>
            </a:r>
          </a:p>
        </p:txBody>
      </p:sp>
      <p:sp>
        <p:nvSpPr>
          <p:cNvPr id="4" name="Нижний колонтитул 3">
            <a:extLst>
              <a:ext uri="{FF2B5EF4-FFF2-40B4-BE49-F238E27FC236}">
                <a16:creationId xmlns:a16="http://schemas.microsoft.com/office/drawing/2014/main" id="{F8E498E2-8DFF-439E-B4A2-3ABF5554C2E5}"/>
              </a:ext>
            </a:extLst>
          </p:cNvPr>
          <p:cNvSpPr>
            <a:spLocks noGrp="1"/>
          </p:cNvSpPr>
          <p:nvPr>
            <p:ph type="ftr" sz="quarter" idx="11"/>
          </p:nvPr>
        </p:nvSpPr>
        <p:spPr/>
        <p:txBody>
          <a:bodyPr/>
          <a:lstStyle/>
          <a:p>
            <a:endParaRPr lang="ru-RU" dirty="0"/>
          </a:p>
        </p:txBody>
      </p:sp>
      <p:sp>
        <p:nvSpPr>
          <p:cNvPr id="5" name="Номер слайда 4">
            <a:extLst>
              <a:ext uri="{FF2B5EF4-FFF2-40B4-BE49-F238E27FC236}">
                <a16:creationId xmlns:a16="http://schemas.microsoft.com/office/drawing/2014/main" id="{2FF735CD-9C9D-466D-B117-0DB39134DB49}"/>
              </a:ext>
            </a:extLst>
          </p:cNvPr>
          <p:cNvSpPr>
            <a:spLocks noGrp="1"/>
          </p:cNvSpPr>
          <p:nvPr>
            <p:ph type="sldNum" sz="quarter" idx="12"/>
          </p:nvPr>
        </p:nvSpPr>
        <p:spPr/>
        <p:txBody>
          <a:bodyPr/>
          <a:lstStyle/>
          <a:p>
            <a:fld id="{81C5FB71-5E9C-41B5-9BB8-3F1EBEAEB16A}" type="slidenum">
              <a:rPr lang="ru-RU" smtClean="0"/>
              <a:t>6</a:t>
            </a:fld>
            <a:endParaRPr lang="ru-RU"/>
          </a:p>
        </p:txBody>
      </p:sp>
    </p:spTree>
    <p:extLst>
      <p:ext uri="{BB962C8B-B14F-4D97-AF65-F5344CB8AC3E}">
        <p14:creationId xmlns:p14="http://schemas.microsoft.com/office/powerpoint/2010/main" val="749530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6BA8CD-2F22-4B45-A5A4-89D56C6208E1}"/>
              </a:ext>
            </a:extLst>
          </p:cNvPr>
          <p:cNvSpPr>
            <a:spLocks noGrp="1"/>
          </p:cNvSpPr>
          <p:nvPr>
            <p:ph type="title"/>
          </p:nvPr>
        </p:nvSpPr>
        <p:spPr/>
        <p:txBody>
          <a:bodyPr/>
          <a:lstStyle/>
          <a:p>
            <a:pPr algn="ctr"/>
            <a:r>
              <a:rPr lang="ru-RU" dirty="0"/>
              <a:t>Пример транзакционной базы данных, состоящей из покупательских транзакций</a:t>
            </a:r>
          </a:p>
        </p:txBody>
      </p:sp>
      <p:sp>
        <p:nvSpPr>
          <p:cNvPr id="3" name="Объект 2">
            <a:extLst>
              <a:ext uri="{FF2B5EF4-FFF2-40B4-BE49-F238E27FC236}">
                <a16:creationId xmlns:a16="http://schemas.microsoft.com/office/drawing/2014/main" id="{CA057165-3CAE-4766-AC98-ACF770487F61}"/>
              </a:ext>
            </a:extLst>
          </p:cNvPr>
          <p:cNvSpPr>
            <a:spLocks noGrp="1"/>
          </p:cNvSpPr>
          <p:nvPr>
            <p:ph idx="1"/>
          </p:nvPr>
        </p:nvSpPr>
        <p:spPr/>
        <p:txBody>
          <a:bodyPr/>
          <a:lstStyle/>
          <a:p>
            <a:pPr marL="0" indent="0">
              <a:buNone/>
            </a:pPr>
            <a:r>
              <a:rPr lang="ru-RU" dirty="0"/>
              <a:t>В таблице первая колонка (TID) определяет номер транзакции, во второй колонке таблицы приведены товары, приобретенные во время определенной транзакции.</a:t>
            </a:r>
          </a:p>
          <a:p>
            <a:pPr marL="0" indent="0">
              <a:buNone/>
            </a:pPr>
            <a:endParaRPr lang="ru-RU" dirty="0"/>
          </a:p>
          <a:p>
            <a:pPr marL="0" indent="0">
              <a:buNone/>
            </a:pPr>
            <a:endParaRPr lang="ru-RU" dirty="0"/>
          </a:p>
          <a:p>
            <a:pPr marL="0" indent="0">
              <a:buNone/>
            </a:pPr>
            <a:endParaRPr lang="ru-RU" dirty="0"/>
          </a:p>
          <a:p>
            <a:pPr marL="0" indent="0">
              <a:buNone/>
            </a:pPr>
            <a:endParaRPr lang="ru-RU" dirty="0"/>
          </a:p>
          <a:p>
            <a:pPr marL="0" indent="0">
              <a:buNone/>
            </a:pPr>
            <a:endParaRPr lang="ru-RU" dirty="0"/>
          </a:p>
          <a:p>
            <a:pPr marL="0" indent="0">
              <a:buNone/>
            </a:pPr>
            <a:endParaRPr lang="ru-RU" dirty="0"/>
          </a:p>
          <a:p>
            <a:pPr marL="0" indent="0">
              <a:buNone/>
            </a:pPr>
            <a:endParaRPr lang="ru-RU" dirty="0"/>
          </a:p>
          <a:p>
            <a:pPr marL="0" indent="0">
              <a:buNone/>
            </a:pPr>
            <a:endParaRPr lang="ru-RU" dirty="0"/>
          </a:p>
          <a:p>
            <a:pPr marL="0" indent="0">
              <a:buNone/>
            </a:pPr>
            <a:r>
              <a:rPr lang="ru-RU" dirty="0"/>
              <a:t>На основе имеющейся базы данных нам нужно найти закономерности между событиями, то есть покупками.</a:t>
            </a:r>
          </a:p>
          <a:p>
            <a:pPr marL="0" indent="0">
              <a:buNone/>
            </a:pPr>
            <a:endParaRPr lang="ru-RU" dirty="0"/>
          </a:p>
          <a:p>
            <a:pPr marL="0" indent="0">
              <a:buNone/>
            </a:pPr>
            <a:endParaRPr lang="ru-RU" dirty="0"/>
          </a:p>
        </p:txBody>
      </p:sp>
      <p:sp>
        <p:nvSpPr>
          <p:cNvPr id="4" name="Нижний колонтитул 3">
            <a:extLst>
              <a:ext uri="{FF2B5EF4-FFF2-40B4-BE49-F238E27FC236}">
                <a16:creationId xmlns:a16="http://schemas.microsoft.com/office/drawing/2014/main" id="{F2F80F1C-B05B-4664-8989-32D5FB397AD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601E829-FA6B-4ACC-9EBD-79E6045C11D2}"/>
              </a:ext>
            </a:extLst>
          </p:cNvPr>
          <p:cNvSpPr>
            <a:spLocks noGrp="1"/>
          </p:cNvSpPr>
          <p:nvPr>
            <p:ph type="sldNum" sz="quarter" idx="12"/>
          </p:nvPr>
        </p:nvSpPr>
        <p:spPr/>
        <p:txBody>
          <a:bodyPr/>
          <a:lstStyle/>
          <a:p>
            <a:fld id="{81C5FB71-5E9C-41B5-9BB8-3F1EBEAEB16A}" type="slidenum">
              <a:rPr lang="ru-RU" smtClean="0"/>
              <a:t>7</a:t>
            </a:fld>
            <a:endParaRPr lang="ru-RU"/>
          </a:p>
        </p:txBody>
      </p:sp>
      <p:graphicFrame>
        <p:nvGraphicFramePr>
          <p:cNvPr id="6" name="Таблица 5">
            <a:extLst>
              <a:ext uri="{FF2B5EF4-FFF2-40B4-BE49-F238E27FC236}">
                <a16:creationId xmlns:a16="http://schemas.microsoft.com/office/drawing/2014/main" id="{122FA948-C634-4B68-AF2A-D7090069453D}"/>
              </a:ext>
            </a:extLst>
          </p:cNvPr>
          <p:cNvGraphicFramePr>
            <a:graphicFrameLocks noGrp="1"/>
          </p:cNvGraphicFramePr>
          <p:nvPr/>
        </p:nvGraphicFramePr>
        <p:xfrm>
          <a:off x="2227118" y="2670592"/>
          <a:ext cx="4478482" cy="2194560"/>
        </p:xfrm>
        <a:graphic>
          <a:graphicData uri="http://schemas.openxmlformats.org/drawingml/2006/table">
            <a:tbl>
              <a:tblPr/>
              <a:tblGrid>
                <a:gridCol w="681508">
                  <a:extLst>
                    <a:ext uri="{9D8B030D-6E8A-4147-A177-3AD203B41FA5}">
                      <a16:colId xmlns:a16="http://schemas.microsoft.com/office/drawing/2014/main" val="231842744"/>
                    </a:ext>
                  </a:extLst>
                </a:gridCol>
                <a:gridCol w="3796974">
                  <a:extLst>
                    <a:ext uri="{9D8B030D-6E8A-4147-A177-3AD203B41FA5}">
                      <a16:colId xmlns:a16="http://schemas.microsoft.com/office/drawing/2014/main" val="3537717814"/>
                    </a:ext>
                  </a:extLst>
                </a:gridCol>
              </a:tblGrid>
              <a:tr h="297935">
                <a:tc>
                  <a:txBody>
                    <a:bodyPr/>
                    <a:lstStyle/>
                    <a:p>
                      <a:pPr algn="ctr" defTabSz="623888">
                        <a:tabLst/>
                      </a:pPr>
                      <a:r>
                        <a:rPr lang="en-US" sz="1800" i="1" dirty="0">
                          <a:effectLst/>
                        </a:rPr>
                        <a:t>TID</a:t>
                      </a:r>
                      <a:endParaRPr lang="en-US" sz="1800" dirty="0">
                        <a:effectLst/>
                      </a:endParaRPr>
                    </a:p>
                  </a:txBody>
                  <a:tcPr anchor="ctr">
                    <a:lnL>
                      <a:noFill/>
                    </a:lnL>
                    <a:lnR>
                      <a:noFill/>
                    </a:lnR>
                    <a:lnT>
                      <a:noFill/>
                    </a:lnT>
                    <a:lnB>
                      <a:noFill/>
                    </a:lnB>
                    <a:solidFill>
                      <a:srgbClr val="FFFFFF"/>
                    </a:solidFill>
                  </a:tcPr>
                </a:tc>
                <a:tc>
                  <a:txBody>
                    <a:bodyPr/>
                    <a:lstStyle/>
                    <a:p>
                      <a:pPr algn="ctr"/>
                      <a:r>
                        <a:rPr lang="ru-RU" sz="1800" dirty="0">
                          <a:effectLst/>
                        </a:rPr>
                        <a:t>Приобретенные покупки</a:t>
                      </a:r>
                    </a:p>
                  </a:txBody>
                  <a:tcPr anchor="ctr">
                    <a:lnL>
                      <a:noFill/>
                    </a:lnL>
                    <a:lnR>
                      <a:noFill/>
                    </a:lnR>
                    <a:lnT>
                      <a:noFill/>
                    </a:lnT>
                    <a:lnB>
                      <a:noFill/>
                    </a:lnB>
                    <a:solidFill>
                      <a:srgbClr val="FFFFFF"/>
                    </a:solidFill>
                  </a:tcPr>
                </a:tc>
                <a:extLst>
                  <a:ext uri="{0D108BD9-81ED-4DB2-BD59-A6C34878D82A}">
                    <a16:rowId xmlns:a16="http://schemas.microsoft.com/office/drawing/2014/main" val="1478293801"/>
                  </a:ext>
                </a:extLst>
              </a:tr>
              <a:tr h="297935">
                <a:tc>
                  <a:txBody>
                    <a:bodyPr/>
                    <a:lstStyle/>
                    <a:p>
                      <a:r>
                        <a:rPr lang="ru-RU" sz="1800" dirty="0">
                          <a:effectLst/>
                        </a:rPr>
                        <a:t>100</a:t>
                      </a:r>
                    </a:p>
                  </a:txBody>
                  <a:tcPr>
                    <a:lnL>
                      <a:noFill/>
                    </a:lnL>
                    <a:lnR>
                      <a:noFill/>
                    </a:lnR>
                    <a:lnT>
                      <a:noFill/>
                    </a:lnT>
                    <a:lnB>
                      <a:noFill/>
                    </a:lnB>
                    <a:solidFill>
                      <a:srgbClr val="FFFFFF"/>
                    </a:solidFill>
                  </a:tcPr>
                </a:tc>
                <a:tc>
                  <a:txBody>
                    <a:bodyPr/>
                    <a:lstStyle/>
                    <a:p>
                      <a:r>
                        <a:rPr lang="ru-RU" sz="1800" dirty="0">
                          <a:effectLst/>
                        </a:rPr>
                        <a:t>хлеб, молоко, печенье</a:t>
                      </a:r>
                    </a:p>
                  </a:txBody>
                  <a:tcPr>
                    <a:lnL>
                      <a:noFill/>
                    </a:lnL>
                    <a:lnR>
                      <a:noFill/>
                    </a:lnR>
                    <a:lnT>
                      <a:noFill/>
                    </a:lnT>
                    <a:lnB>
                      <a:noFill/>
                    </a:lnB>
                    <a:solidFill>
                      <a:srgbClr val="FFFFFF"/>
                    </a:solidFill>
                  </a:tcPr>
                </a:tc>
                <a:extLst>
                  <a:ext uri="{0D108BD9-81ED-4DB2-BD59-A6C34878D82A}">
                    <a16:rowId xmlns:a16="http://schemas.microsoft.com/office/drawing/2014/main" val="1200166531"/>
                  </a:ext>
                </a:extLst>
              </a:tr>
              <a:tr h="297935">
                <a:tc>
                  <a:txBody>
                    <a:bodyPr/>
                    <a:lstStyle/>
                    <a:p>
                      <a:r>
                        <a:rPr lang="ru-RU" sz="1800">
                          <a:effectLst/>
                        </a:rPr>
                        <a:t>200</a:t>
                      </a:r>
                    </a:p>
                  </a:txBody>
                  <a:tcPr>
                    <a:lnL>
                      <a:noFill/>
                    </a:lnL>
                    <a:lnR>
                      <a:noFill/>
                    </a:lnR>
                    <a:lnT>
                      <a:noFill/>
                    </a:lnT>
                    <a:lnB>
                      <a:noFill/>
                    </a:lnB>
                    <a:solidFill>
                      <a:srgbClr val="FFFFFF"/>
                    </a:solidFill>
                  </a:tcPr>
                </a:tc>
                <a:tc>
                  <a:txBody>
                    <a:bodyPr/>
                    <a:lstStyle/>
                    <a:p>
                      <a:r>
                        <a:rPr lang="ru-RU" sz="1800" dirty="0">
                          <a:effectLst/>
                        </a:rPr>
                        <a:t>Молоко, сметана</a:t>
                      </a:r>
                    </a:p>
                  </a:txBody>
                  <a:tcPr>
                    <a:lnL>
                      <a:noFill/>
                    </a:lnL>
                    <a:lnR>
                      <a:noFill/>
                    </a:lnR>
                    <a:lnT>
                      <a:noFill/>
                    </a:lnT>
                    <a:lnB>
                      <a:noFill/>
                    </a:lnB>
                    <a:solidFill>
                      <a:srgbClr val="FFFFFF"/>
                    </a:solidFill>
                  </a:tcPr>
                </a:tc>
                <a:extLst>
                  <a:ext uri="{0D108BD9-81ED-4DB2-BD59-A6C34878D82A}">
                    <a16:rowId xmlns:a16="http://schemas.microsoft.com/office/drawing/2014/main" val="2435382875"/>
                  </a:ext>
                </a:extLst>
              </a:tr>
              <a:tr h="297935">
                <a:tc>
                  <a:txBody>
                    <a:bodyPr/>
                    <a:lstStyle/>
                    <a:p>
                      <a:r>
                        <a:rPr lang="ru-RU" sz="1800">
                          <a:effectLst/>
                        </a:rPr>
                        <a:t>300</a:t>
                      </a:r>
                    </a:p>
                  </a:txBody>
                  <a:tcPr>
                    <a:lnL>
                      <a:noFill/>
                    </a:lnL>
                    <a:lnR>
                      <a:noFill/>
                    </a:lnR>
                    <a:lnT>
                      <a:noFill/>
                    </a:lnT>
                    <a:lnB>
                      <a:noFill/>
                    </a:lnB>
                    <a:solidFill>
                      <a:srgbClr val="FFFFFF"/>
                    </a:solidFill>
                  </a:tcPr>
                </a:tc>
                <a:tc>
                  <a:txBody>
                    <a:bodyPr/>
                    <a:lstStyle/>
                    <a:p>
                      <a:r>
                        <a:rPr lang="ru-RU" sz="1800" dirty="0">
                          <a:effectLst/>
                        </a:rPr>
                        <a:t>Молоко, хлеб, сметана, печенье</a:t>
                      </a:r>
                    </a:p>
                  </a:txBody>
                  <a:tcPr>
                    <a:lnL>
                      <a:noFill/>
                    </a:lnL>
                    <a:lnR>
                      <a:noFill/>
                    </a:lnR>
                    <a:lnT>
                      <a:noFill/>
                    </a:lnT>
                    <a:lnB>
                      <a:noFill/>
                    </a:lnB>
                    <a:solidFill>
                      <a:srgbClr val="FFFFFF"/>
                    </a:solidFill>
                  </a:tcPr>
                </a:tc>
                <a:extLst>
                  <a:ext uri="{0D108BD9-81ED-4DB2-BD59-A6C34878D82A}">
                    <a16:rowId xmlns:a16="http://schemas.microsoft.com/office/drawing/2014/main" val="1275926461"/>
                  </a:ext>
                </a:extLst>
              </a:tr>
              <a:tr h="297935">
                <a:tc>
                  <a:txBody>
                    <a:bodyPr/>
                    <a:lstStyle/>
                    <a:p>
                      <a:r>
                        <a:rPr lang="ru-RU" sz="1800">
                          <a:effectLst/>
                        </a:rPr>
                        <a:t>400</a:t>
                      </a:r>
                    </a:p>
                  </a:txBody>
                  <a:tcPr>
                    <a:lnL>
                      <a:noFill/>
                    </a:lnL>
                    <a:lnR>
                      <a:noFill/>
                    </a:lnR>
                    <a:lnT>
                      <a:noFill/>
                    </a:lnT>
                    <a:lnB>
                      <a:noFill/>
                    </a:lnB>
                    <a:solidFill>
                      <a:srgbClr val="FFFFFF"/>
                    </a:solidFill>
                  </a:tcPr>
                </a:tc>
                <a:tc>
                  <a:txBody>
                    <a:bodyPr/>
                    <a:lstStyle/>
                    <a:p>
                      <a:r>
                        <a:rPr lang="ru-RU" sz="1800" dirty="0">
                          <a:effectLst/>
                        </a:rPr>
                        <a:t>Колбаса, сметана</a:t>
                      </a:r>
                    </a:p>
                  </a:txBody>
                  <a:tcPr>
                    <a:lnL>
                      <a:noFill/>
                    </a:lnL>
                    <a:lnR>
                      <a:noFill/>
                    </a:lnR>
                    <a:lnT>
                      <a:noFill/>
                    </a:lnT>
                    <a:lnB>
                      <a:noFill/>
                    </a:lnB>
                    <a:solidFill>
                      <a:srgbClr val="FFFFFF"/>
                    </a:solidFill>
                  </a:tcPr>
                </a:tc>
                <a:extLst>
                  <a:ext uri="{0D108BD9-81ED-4DB2-BD59-A6C34878D82A}">
                    <a16:rowId xmlns:a16="http://schemas.microsoft.com/office/drawing/2014/main" val="2515587765"/>
                  </a:ext>
                </a:extLst>
              </a:tr>
              <a:tr h="297935">
                <a:tc>
                  <a:txBody>
                    <a:bodyPr/>
                    <a:lstStyle/>
                    <a:p>
                      <a:r>
                        <a:rPr lang="ru-RU" sz="1800">
                          <a:effectLst/>
                        </a:rPr>
                        <a:t>500</a:t>
                      </a:r>
                    </a:p>
                  </a:txBody>
                  <a:tcPr>
                    <a:lnL>
                      <a:noFill/>
                    </a:lnL>
                    <a:lnR>
                      <a:noFill/>
                    </a:lnR>
                    <a:lnT>
                      <a:noFill/>
                    </a:lnT>
                    <a:lnB>
                      <a:noFill/>
                    </a:lnB>
                    <a:solidFill>
                      <a:srgbClr val="FFFFFF"/>
                    </a:solidFill>
                  </a:tcPr>
                </a:tc>
                <a:tc>
                  <a:txBody>
                    <a:bodyPr/>
                    <a:lstStyle/>
                    <a:p>
                      <a:r>
                        <a:rPr lang="ru-RU" sz="1800" dirty="0">
                          <a:effectLst/>
                        </a:rPr>
                        <a:t>Хлеб, молоко, печенье, сметана</a:t>
                      </a:r>
                    </a:p>
                  </a:txBody>
                  <a:tcPr>
                    <a:lnL>
                      <a:noFill/>
                    </a:lnL>
                    <a:lnR>
                      <a:noFill/>
                    </a:lnR>
                    <a:lnT>
                      <a:noFill/>
                    </a:lnT>
                    <a:lnB>
                      <a:noFill/>
                    </a:lnB>
                    <a:solidFill>
                      <a:srgbClr val="FFFFFF"/>
                    </a:solidFill>
                  </a:tcPr>
                </a:tc>
                <a:extLst>
                  <a:ext uri="{0D108BD9-81ED-4DB2-BD59-A6C34878D82A}">
                    <a16:rowId xmlns:a16="http://schemas.microsoft.com/office/drawing/2014/main" val="165094879"/>
                  </a:ext>
                </a:extLst>
              </a:tr>
            </a:tbl>
          </a:graphicData>
        </a:graphic>
      </p:graphicFrame>
    </p:spTree>
    <p:extLst>
      <p:ext uri="{BB962C8B-B14F-4D97-AF65-F5344CB8AC3E}">
        <p14:creationId xmlns:p14="http://schemas.microsoft.com/office/powerpoint/2010/main" val="3121483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969EBB-8F27-4BAB-BB49-3A15D34DD4D1}"/>
              </a:ext>
            </a:extLst>
          </p:cNvPr>
          <p:cNvSpPr>
            <a:spLocks noGrp="1"/>
          </p:cNvSpPr>
          <p:nvPr>
            <p:ph type="title"/>
          </p:nvPr>
        </p:nvSpPr>
        <p:spPr>
          <a:xfrm>
            <a:off x="628650" y="70791"/>
            <a:ext cx="7886700" cy="691209"/>
          </a:xfrm>
        </p:spPr>
        <p:txBody>
          <a:bodyPr/>
          <a:lstStyle/>
          <a:p>
            <a:pPr algn="ctr"/>
            <a:r>
              <a:rPr lang="ru-RU" dirty="0"/>
              <a:t>Часто встречающиеся шаблоны или образцы</a:t>
            </a:r>
          </a:p>
        </p:txBody>
      </p:sp>
      <p:sp>
        <p:nvSpPr>
          <p:cNvPr id="3" name="Объект 2">
            <a:extLst>
              <a:ext uri="{FF2B5EF4-FFF2-40B4-BE49-F238E27FC236}">
                <a16:creationId xmlns:a16="http://schemas.microsoft.com/office/drawing/2014/main" id="{5C76A44B-A4F9-4AA7-9A78-9CD632F6B1C7}"/>
              </a:ext>
            </a:extLst>
          </p:cNvPr>
          <p:cNvSpPr>
            <a:spLocks noGrp="1"/>
          </p:cNvSpPr>
          <p:nvPr>
            <p:ph idx="1"/>
          </p:nvPr>
        </p:nvSpPr>
        <p:spPr/>
        <p:txBody>
          <a:bodyPr>
            <a:normAutofit/>
          </a:bodyPr>
          <a:lstStyle/>
          <a:p>
            <a:pPr marL="0" indent="0">
              <a:buNone/>
            </a:pPr>
            <a:r>
              <a:rPr lang="ru-RU" dirty="0"/>
              <a:t>Допустим, имеется транзакционная база данных D. Присвоим значениям товаров переменные.</a:t>
            </a:r>
          </a:p>
          <a:p>
            <a:pPr marL="0" indent="0">
              <a:buNone/>
            </a:pPr>
            <a:r>
              <a:rPr lang="ru-RU" sz="1800" dirty="0"/>
              <a:t>Хлеб = a, Молоко = b, Печенье = c, Сметана = d, Колбаса = e, Конфеты = f</a:t>
            </a:r>
          </a:p>
          <a:p>
            <a:pPr marL="0" indent="0">
              <a:buNone/>
            </a:pPr>
            <a:endParaRPr lang="ru-RU" sz="1800" dirty="0"/>
          </a:p>
          <a:p>
            <a:pPr marL="0" indent="0">
              <a:buNone/>
            </a:pPr>
            <a:endParaRPr lang="ru-RU" sz="1800" dirty="0"/>
          </a:p>
          <a:p>
            <a:pPr marL="0" indent="0">
              <a:buNone/>
            </a:pPr>
            <a:endParaRPr lang="ru-RU" sz="1800" dirty="0"/>
          </a:p>
          <a:p>
            <a:pPr marL="0" indent="0">
              <a:buNone/>
            </a:pPr>
            <a:endParaRPr lang="ru-RU" sz="1800" dirty="0"/>
          </a:p>
          <a:p>
            <a:pPr marL="0" indent="0">
              <a:buNone/>
            </a:pPr>
            <a:endParaRPr lang="ru-RU" sz="1800" dirty="0"/>
          </a:p>
          <a:p>
            <a:pPr marL="0" indent="0">
              <a:buNone/>
            </a:pPr>
            <a:endParaRPr lang="ru-RU" sz="1800" dirty="0"/>
          </a:p>
          <a:p>
            <a:pPr marL="0" indent="0">
              <a:buNone/>
            </a:pPr>
            <a:endParaRPr lang="ru-RU" sz="1800" dirty="0"/>
          </a:p>
          <a:p>
            <a:pPr marL="0" indent="0">
              <a:buNone/>
            </a:pPr>
            <a:endParaRPr lang="ru-RU" sz="1800" dirty="0"/>
          </a:p>
          <a:p>
            <a:pPr marL="0" indent="0">
              <a:buNone/>
            </a:pPr>
            <a:endParaRPr lang="ru-RU" sz="1800" dirty="0"/>
          </a:p>
          <a:p>
            <a:pPr marL="0" indent="0">
              <a:buNone/>
            </a:pPr>
            <a:endParaRPr lang="ru-RU" sz="1800" dirty="0"/>
          </a:p>
          <a:p>
            <a:pPr marL="0" indent="0">
              <a:buNone/>
            </a:pPr>
            <a:endParaRPr lang="ru-RU" sz="1800" dirty="0"/>
          </a:p>
          <a:p>
            <a:pPr marL="0" indent="0">
              <a:buNone/>
            </a:pPr>
            <a:endParaRPr lang="ru-RU" sz="1800" dirty="0"/>
          </a:p>
        </p:txBody>
      </p:sp>
      <p:sp>
        <p:nvSpPr>
          <p:cNvPr id="4" name="Нижний колонтитул 3">
            <a:extLst>
              <a:ext uri="{FF2B5EF4-FFF2-40B4-BE49-F238E27FC236}">
                <a16:creationId xmlns:a16="http://schemas.microsoft.com/office/drawing/2014/main" id="{0B728B3B-A8E9-4ECF-A09C-FE0086EBCB76}"/>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B4312FE-263F-4661-850B-69957BA4BC15}"/>
              </a:ext>
            </a:extLst>
          </p:cNvPr>
          <p:cNvSpPr>
            <a:spLocks noGrp="1"/>
          </p:cNvSpPr>
          <p:nvPr>
            <p:ph type="sldNum" sz="quarter" idx="12"/>
          </p:nvPr>
        </p:nvSpPr>
        <p:spPr/>
        <p:txBody>
          <a:bodyPr/>
          <a:lstStyle/>
          <a:p>
            <a:fld id="{81C5FB71-5E9C-41B5-9BB8-3F1EBEAEB16A}" type="slidenum">
              <a:rPr lang="ru-RU" smtClean="0"/>
              <a:t>8</a:t>
            </a:fld>
            <a:endParaRPr lang="ru-RU"/>
          </a:p>
        </p:txBody>
      </p:sp>
      <p:graphicFrame>
        <p:nvGraphicFramePr>
          <p:cNvPr id="6" name="Таблица 5">
            <a:extLst>
              <a:ext uri="{FF2B5EF4-FFF2-40B4-BE49-F238E27FC236}">
                <a16:creationId xmlns:a16="http://schemas.microsoft.com/office/drawing/2014/main" id="{90FB3A3A-13A5-41CE-8475-2D6C0A705988}"/>
              </a:ext>
            </a:extLst>
          </p:cNvPr>
          <p:cNvGraphicFramePr>
            <a:graphicFrameLocks noGrp="1"/>
          </p:cNvGraphicFramePr>
          <p:nvPr>
            <p:extLst>
              <p:ext uri="{D42A27DB-BD31-4B8C-83A1-F6EECF244321}">
                <p14:modId xmlns:p14="http://schemas.microsoft.com/office/powerpoint/2010/main" val="3025492310"/>
              </p:ext>
            </p:extLst>
          </p:nvPr>
        </p:nvGraphicFramePr>
        <p:xfrm>
          <a:off x="1071864" y="2776866"/>
          <a:ext cx="6438900" cy="2742608"/>
        </p:xfrm>
        <a:graphic>
          <a:graphicData uri="http://schemas.openxmlformats.org/drawingml/2006/table">
            <a:tbl>
              <a:tblPr/>
              <a:tblGrid>
                <a:gridCol w="568138">
                  <a:extLst>
                    <a:ext uri="{9D8B030D-6E8A-4147-A177-3AD203B41FA5}">
                      <a16:colId xmlns:a16="http://schemas.microsoft.com/office/drawing/2014/main" val="1087162749"/>
                    </a:ext>
                  </a:extLst>
                </a:gridCol>
                <a:gridCol w="2293595">
                  <a:extLst>
                    <a:ext uri="{9D8B030D-6E8A-4147-A177-3AD203B41FA5}">
                      <a16:colId xmlns:a16="http://schemas.microsoft.com/office/drawing/2014/main" val="362859387"/>
                    </a:ext>
                  </a:extLst>
                </a:gridCol>
                <a:gridCol w="793198">
                  <a:extLst>
                    <a:ext uri="{9D8B030D-6E8A-4147-A177-3AD203B41FA5}">
                      <a16:colId xmlns:a16="http://schemas.microsoft.com/office/drawing/2014/main" val="3874894535"/>
                    </a:ext>
                  </a:extLst>
                </a:gridCol>
                <a:gridCol w="435481">
                  <a:extLst>
                    <a:ext uri="{9D8B030D-6E8A-4147-A177-3AD203B41FA5}">
                      <a16:colId xmlns:a16="http://schemas.microsoft.com/office/drawing/2014/main" val="3166697534"/>
                    </a:ext>
                  </a:extLst>
                </a:gridCol>
                <a:gridCol w="2348488">
                  <a:extLst>
                    <a:ext uri="{9D8B030D-6E8A-4147-A177-3AD203B41FA5}">
                      <a16:colId xmlns:a16="http://schemas.microsoft.com/office/drawing/2014/main" val="3367515012"/>
                    </a:ext>
                  </a:extLst>
                </a:gridCol>
              </a:tblGrid>
              <a:tr h="315352">
                <a:tc>
                  <a:txBody>
                    <a:bodyPr/>
                    <a:lstStyle/>
                    <a:p>
                      <a:pPr algn="ctr"/>
                      <a:r>
                        <a:rPr lang="en-US" sz="1400" i="1" dirty="0">
                          <a:effectLst/>
                        </a:rPr>
                        <a:t>TID</a:t>
                      </a:r>
                      <a:endParaRPr lang="en-US" sz="1400" dirty="0">
                        <a:effectLst/>
                      </a:endParaRPr>
                    </a:p>
                  </a:txBody>
                  <a:tcPr marL="19050" marR="19050" marT="19050" marB="19050" anchor="ctr">
                    <a:lnL>
                      <a:noFill/>
                    </a:lnL>
                    <a:lnR>
                      <a:noFill/>
                    </a:lnR>
                    <a:lnT>
                      <a:noFill/>
                    </a:lnT>
                    <a:lnB>
                      <a:noFill/>
                    </a:lnB>
                    <a:solidFill>
                      <a:srgbClr val="FFFFFF"/>
                    </a:solidFill>
                  </a:tcPr>
                </a:tc>
                <a:tc>
                  <a:txBody>
                    <a:bodyPr/>
                    <a:lstStyle/>
                    <a:p>
                      <a:pPr algn="ctr"/>
                      <a:r>
                        <a:rPr lang="ru-RU" sz="1400" dirty="0">
                          <a:effectLst/>
                        </a:rPr>
                        <a:t>Приобретенные покупки</a:t>
                      </a:r>
                    </a:p>
                  </a:txBody>
                  <a:tcPr marL="19050" marR="19050" marT="19050" marB="19050" anchor="ctr">
                    <a:lnL>
                      <a:noFill/>
                    </a:lnL>
                    <a:lnR>
                      <a:noFill/>
                    </a:lnR>
                    <a:lnT>
                      <a:noFill/>
                    </a:lnT>
                    <a:lnB>
                      <a:noFill/>
                    </a:lnB>
                    <a:solidFill>
                      <a:srgbClr val="FFFFFF"/>
                    </a:solidFill>
                  </a:tcPr>
                </a:tc>
                <a:tc rowSpan="7">
                  <a:txBody>
                    <a:bodyPr/>
                    <a:lstStyle/>
                    <a:p>
                      <a:endParaRPr lang="ru-RU" sz="1400" dirty="0">
                        <a:effectLst/>
                      </a:endParaRPr>
                    </a:p>
                    <a:p>
                      <a:br>
                        <a:rPr lang="ru-RU" sz="1400" dirty="0">
                          <a:effectLst/>
                        </a:rPr>
                      </a:br>
                      <a:endParaRPr lang="ru-RU" sz="1400" dirty="0">
                        <a:effectLst/>
                      </a:endParaRPr>
                    </a:p>
                  </a:txBody>
                  <a:tcPr marL="19050" marR="19050" marT="19050" marB="19050">
                    <a:lnL>
                      <a:noFill/>
                    </a:lnL>
                    <a:lnR>
                      <a:noFill/>
                    </a:lnR>
                    <a:lnT>
                      <a:noFill/>
                    </a:lnT>
                    <a:lnB>
                      <a:noFill/>
                    </a:lnB>
                    <a:solidFill>
                      <a:srgbClr val="FFFFFF"/>
                    </a:solidFill>
                  </a:tcPr>
                </a:tc>
                <a:tc>
                  <a:txBody>
                    <a:bodyPr/>
                    <a:lstStyle/>
                    <a:p>
                      <a:pPr algn="ctr"/>
                      <a:r>
                        <a:rPr lang="en-US" sz="1400" i="1" dirty="0">
                          <a:effectLst/>
                        </a:rPr>
                        <a:t>TID</a:t>
                      </a:r>
                      <a:endParaRPr lang="en-US" sz="1400" dirty="0">
                        <a:effectLst/>
                      </a:endParaRPr>
                    </a:p>
                  </a:txBody>
                  <a:tcPr marL="19050" marR="19050" marT="19050" marB="19050" anchor="ctr">
                    <a:lnL>
                      <a:noFill/>
                    </a:lnL>
                    <a:lnR>
                      <a:noFill/>
                    </a:lnR>
                    <a:lnT>
                      <a:noFill/>
                    </a:lnT>
                    <a:lnB>
                      <a:noFill/>
                    </a:lnB>
                    <a:solidFill>
                      <a:srgbClr val="FFFFFF"/>
                    </a:solidFill>
                  </a:tcPr>
                </a:tc>
                <a:tc>
                  <a:txBody>
                    <a:bodyPr/>
                    <a:lstStyle/>
                    <a:p>
                      <a:pPr algn="ctr"/>
                      <a:r>
                        <a:rPr lang="ru-RU" sz="1400">
                          <a:effectLst/>
                        </a:rPr>
                        <a:t>Приобретенные покупки</a:t>
                      </a:r>
                    </a:p>
                  </a:txBody>
                  <a:tcPr marL="19050" marR="19050" marT="19050" marB="19050" anchor="ctr">
                    <a:lnL>
                      <a:noFill/>
                    </a:lnL>
                    <a:lnR>
                      <a:noFill/>
                    </a:lnR>
                    <a:lnT>
                      <a:noFill/>
                    </a:lnT>
                    <a:lnB>
                      <a:noFill/>
                    </a:lnB>
                    <a:solidFill>
                      <a:srgbClr val="FFFFFF"/>
                    </a:solidFill>
                  </a:tcPr>
                </a:tc>
                <a:extLst>
                  <a:ext uri="{0D108BD9-81ED-4DB2-BD59-A6C34878D82A}">
                    <a16:rowId xmlns:a16="http://schemas.microsoft.com/office/drawing/2014/main" val="1840163972"/>
                  </a:ext>
                </a:extLst>
              </a:tr>
              <a:tr h="315352">
                <a:tc>
                  <a:txBody>
                    <a:bodyPr/>
                    <a:lstStyle/>
                    <a:p>
                      <a:r>
                        <a:rPr lang="ru-RU" sz="1400">
                          <a:effectLst/>
                        </a:rPr>
                        <a:t>100</a:t>
                      </a:r>
                    </a:p>
                  </a:txBody>
                  <a:tcPr marL="19050" marR="19050" marT="19050" marB="19050">
                    <a:lnL>
                      <a:noFill/>
                    </a:lnL>
                    <a:lnR>
                      <a:noFill/>
                    </a:lnR>
                    <a:lnT>
                      <a:noFill/>
                    </a:lnT>
                    <a:lnB>
                      <a:noFill/>
                    </a:lnB>
                    <a:solidFill>
                      <a:srgbClr val="FFFFFF"/>
                    </a:solidFill>
                  </a:tcPr>
                </a:tc>
                <a:tc>
                  <a:txBody>
                    <a:bodyPr/>
                    <a:lstStyle/>
                    <a:p>
                      <a:r>
                        <a:rPr lang="ru-RU" sz="1400" dirty="0">
                          <a:effectLst/>
                        </a:rPr>
                        <a:t>Хлеб, молоко, печенье</a:t>
                      </a:r>
                    </a:p>
                  </a:txBody>
                  <a:tcPr marL="19050" marR="19050" marT="19050" marB="19050">
                    <a:lnL>
                      <a:noFill/>
                    </a:lnL>
                    <a:lnR>
                      <a:noFill/>
                    </a:lnR>
                    <a:lnT>
                      <a:noFill/>
                    </a:lnT>
                    <a:lnB>
                      <a:noFill/>
                    </a:lnB>
                    <a:solidFill>
                      <a:srgbClr val="FFFFFF"/>
                    </a:solidFill>
                  </a:tcPr>
                </a:tc>
                <a:tc vMerge="1">
                  <a:txBody>
                    <a:bodyPr/>
                    <a:lstStyle/>
                    <a:p>
                      <a:endParaRPr lang="ru-RU"/>
                    </a:p>
                  </a:txBody>
                  <a:tcPr/>
                </a:tc>
                <a:tc>
                  <a:txBody>
                    <a:bodyPr/>
                    <a:lstStyle/>
                    <a:p>
                      <a:r>
                        <a:rPr lang="ru-RU" sz="1400">
                          <a:effectLst/>
                        </a:rPr>
                        <a:t>100</a:t>
                      </a:r>
                    </a:p>
                  </a:txBody>
                  <a:tcPr marL="19050" marR="19050" marT="19050" marB="19050">
                    <a:lnL>
                      <a:noFill/>
                    </a:lnL>
                    <a:lnR>
                      <a:noFill/>
                    </a:lnR>
                    <a:lnT>
                      <a:noFill/>
                    </a:lnT>
                    <a:lnB>
                      <a:noFill/>
                    </a:lnB>
                    <a:solidFill>
                      <a:srgbClr val="FFFFFF"/>
                    </a:solidFill>
                  </a:tcPr>
                </a:tc>
                <a:tc>
                  <a:txBody>
                    <a:bodyPr/>
                    <a:lstStyle/>
                    <a:p>
                      <a:r>
                        <a:rPr lang="en-US" sz="1400">
                          <a:effectLst/>
                        </a:rPr>
                        <a:t>a, b, c</a:t>
                      </a:r>
                    </a:p>
                  </a:txBody>
                  <a:tcPr marL="19050" marR="19050" marT="19050" marB="19050">
                    <a:lnL>
                      <a:noFill/>
                    </a:lnL>
                    <a:lnR>
                      <a:noFill/>
                    </a:lnR>
                    <a:lnT>
                      <a:noFill/>
                    </a:lnT>
                    <a:lnB>
                      <a:noFill/>
                    </a:lnB>
                    <a:solidFill>
                      <a:srgbClr val="FFFFFF"/>
                    </a:solidFill>
                  </a:tcPr>
                </a:tc>
                <a:extLst>
                  <a:ext uri="{0D108BD9-81ED-4DB2-BD59-A6C34878D82A}">
                    <a16:rowId xmlns:a16="http://schemas.microsoft.com/office/drawing/2014/main" val="1940852151"/>
                  </a:ext>
                </a:extLst>
              </a:tr>
              <a:tr h="315352">
                <a:tc>
                  <a:txBody>
                    <a:bodyPr/>
                    <a:lstStyle/>
                    <a:p>
                      <a:r>
                        <a:rPr lang="ru-RU" sz="1400">
                          <a:effectLst/>
                        </a:rPr>
                        <a:t>200</a:t>
                      </a:r>
                    </a:p>
                  </a:txBody>
                  <a:tcPr marL="19050" marR="19050" marT="19050" marB="19050">
                    <a:lnL>
                      <a:noFill/>
                    </a:lnL>
                    <a:lnR>
                      <a:noFill/>
                    </a:lnR>
                    <a:lnT>
                      <a:noFill/>
                    </a:lnT>
                    <a:lnB>
                      <a:noFill/>
                    </a:lnB>
                    <a:solidFill>
                      <a:srgbClr val="FFFFFF"/>
                    </a:solidFill>
                  </a:tcPr>
                </a:tc>
                <a:tc>
                  <a:txBody>
                    <a:bodyPr/>
                    <a:lstStyle/>
                    <a:p>
                      <a:r>
                        <a:rPr lang="ru-RU" sz="1400" dirty="0">
                          <a:effectLst/>
                        </a:rPr>
                        <a:t>Молоко, сметана</a:t>
                      </a:r>
                    </a:p>
                  </a:txBody>
                  <a:tcPr marL="19050" marR="19050" marT="19050" marB="19050">
                    <a:lnL>
                      <a:noFill/>
                    </a:lnL>
                    <a:lnR>
                      <a:noFill/>
                    </a:lnR>
                    <a:lnT>
                      <a:noFill/>
                    </a:lnT>
                    <a:lnB>
                      <a:noFill/>
                    </a:lnB>
                    <a:solidFill>
                      <a:srgbClr val="FFFFFF"/>
                    </a:solidFill>
                  </a:tcPr>
                </a:tc>
                <a:tc vMerge="1">
                  <a:txBody>
                    <a:bodyPr/>
                    <a:lstStyle/>
                    <a:p>
                      <a:endParaRPr lang="ru-RU"/>
                    </a:p>
                  </a:txBody>
                  <a:tcPr/>
                </a:tc>
                <a:tc>
                  <a:txBody>
                    <a:bodyPr/>
                    <a:lstStyle/>
                    <a:p>
                      <a:r>
                        <a:rPr lang="ru-RU" sz="1400" dirty="0">
                          <a:effectLst/>
                        </a:rPr>
                        <a:t>200</a:t>
                      </a:r>
                    </a:p>
                  </a:txBody>
                  <a:tcPr marL="19050" marR="19050" marT="19050" marB="19050">
                    <a:lnL>
                      <a:noFill/>
                    </a:lnL>
                    <a:lnR>
                      <a:noFill/>
                    </a:lnR>
                    <a:lnT>
                      <a:noFill/>
                    </a:lnT>
                    <a:lnB>
                      <a:noFill/>
                    </a:lnB>
                    <a:solidFill>
                      <a:srgbClr val="FFFFFF"/>
                    </a:solidFill>
                  </a:tcPr>
                </a:tc>
                <a:tc>
                  <a:txBody>
                    <a:bodyPr/>
                    <a:lstStyle/>
                    <a:p>
                      <a:pPr>
                        <a:tabLst/>
                      </a:pPr>
                      <a:r>
                        <a:rPr lang="en-US" sz="1400" dirty="0">
                          <a:effectLst/>
                        </a:rPr>
                        <a:t>b, d</a:t>
                      </a:r>
                    </a:p>
                  </a:txBody>
                  <a:tcPr marL="19050" marR="19050" marT="19050" marB="19050">
                    <a:lnL>
                      <a:noFill/>
                    </a:lnL>
                    <a:lnR>
                      <a:noFill/>
                    </a:lnR>
                    <a:lnT>
                      <a:noFill/>
                    </a:lnT>
                    <a:lnB>
                      <a:noFill/>
                    </a:lnB>
                    <a:solidFill>
                      <a:srgbClr val="FFFFFF"/>
                    </a:solidFill>
                  </a:tcPr>
                </a:tc>
                <a:extLst>
                  <a:ext uri="{0D108BD9-81ED-4DB2-BD59-A6C34878D82A}">
                    <a16:rowId xmlns:a16="http://schemas.microsoft.com/office/drawing/2014/main" val="4210266851"/>
                  </a:ext>
                </a:extLst>
              </a:tr>
              <a:tr h="582924">
                <a:tc>
                  <a:txBody>
                    <a:bodyPr/>
                    <a:lstStyle/>
                    <a:p>
                      <a:r>
                        <a:rPr lang="ru-RU" sz="1400">
                          <a:effectLst/>
                        </a:rPr>
                        <a:t>300</a:t>
                      </a:r>
                    </a:p>
                  </a:txBody>
                  <a:tcPr marL="19050" marR="19050" marT="19050" marB="19050">
                    <a:lnL>
                      <a:noFill/>
                    </a:lnL>
                    <a:lnR>
                      <a:noFill/>
                    </a:lnR>
                    <a:lnT>
                      <a:noFill/>
                    </a:lnT>
                    <a:lnB>
                      <a:noFill/>
                    </a:lnB>
                    <a:solidFill>
                      <a:srgbClr val="FFFFFF"/>
                    </a:solidFill>
                  </a:tcPr>
                </a:tc>
                <a:tc>
                  <a:txBody>
                    <a:bodyPr/>
                    <a:lstStyle/>
                    <a:p>
                      <a:r>
                        <a:rPr lang="ru-RU" sz="1400" dirty="0">
                          <a:effectLst/>
                        </a:rPr>
                        <a:t>Молоко, хлеб, сметана, печенье</a:t>
                      </a:r>
                    </a:p>
                  </a:txBody>
                  <a:tcPr marL="19050" marR="19050" marT="19050" marB="19050">
                    <a:lnL>
                      <a:noFill/>
                    </a:lnL>
                    <a:lnR>
                      <a:noFill/>
                    </a:lnR>
                    <a:lnT>
                      <a:noFill/>
                    </a:lnT>
                    <a:lnB>
                      <a:noFill/>
                    </a:lnB>
                    <a:solidFill>
                      <a:srgbClr val="FFFFFF"/>
                    </a:solidFill>
                  </a:tcPr>
                </a:tc>
                <a:tc vMerge="1">
                  <a:txBody>
                    <a:bodyPr/>
                    <a:lstStyle/>
                    <a:p>
                      <a:endParaRPr lang="ru-RU"/>
                    </a:p>
                  </a:txBody>
                  <a:tcPr/>
                </a:tc>
                <a:tc>
                  <a:txBody>
                    <a:bodyPr/>
                    <a:lstStyle/>
                    <a:p>
                      <a:r>
                        <a:rPr lang="ru-RU" sz="1400" dirty="0">
                          <a:effectLst/>
                        </a:rPr>
                        <a:t>300</a:t>
                      </a:r>
                    </a:p>
                  </a:txBody>
                  <a:tcPr marL="19050" marR="19050" marT="19050" marB="19050">
                    <a:lnL>
                      <a:noFill/>
                    </a:lnL>
                    <a:lnR>
                      <a:noFill/>
                    </a:lnR>
                    <a:lnT>
                      <a:noFill/>
                    </a:lnT>
                    <a:lnB>
                      <a:noFill/>
                    </a:lnB>
                    <a:solidFill>
                      <a:srgbClr val="FFFFFF"/>
                    </a:solidFill>
                  </a:tcPr>
                </a:tc>
                <a:tc>
                  <a:txBody>
                    <a:bodyPr/>
                    <a:lstStyle/>
                    <a:p>
                      <a:r>
                        <a:rPr lang="en-US" sz="1400">
                          <a:effectLst/>
                        </a:rPr>
                        <a:t>b, a, d, c</a:t>
                      </a:r>
                    </a:p>
                  </a:txBody>
                  <a:tcPr marL="19050" marR="19050" marT="19050" marB="19050">
                    <a:lnL>
                      <a:noFill/>
                    </a:lnL>
                    <a:lnR>
                      <a:noFill/>
                    </a:lnR>
                    <a:lnT>
                      <a:noFill/>
                    </a:lnT>
                    <a:lnB>
                      <a:noFill/>
                    </a:lnB>
                    <a:solidFill>
                      <a:srgbClr val="FFFFFF"/>
                    </a:solidFill>
                  </a:tcPr>
                </a:tc>
                <a:extLst>
                  <a:ext uri="{0D108BD9-81ED-4DB2-BD59-A6C34878D82A}">
                    <a16:rowId xmlns:a16="http://schemas.microsoft.com/office/drawing/2014/main" val="1857978130"/>
                  </a:ext>
                </a:extLst>
              </a:tr>
              <a:tr h="315352">
                <a:tc>
                  <a:txBody>
                    <a:bodyPr/>
                    <a:lstStyle/>
                    <a:p>
                      <a:r>
                        <a:rPr lang="ru-RU" sz="1400">
                          <a:effectLst/>
                        </a:rPr>
                        <a:t>400</a:t>
                      </a:r>
                    </a:p>
                  </a:txBody>
                  <a:tcPr marL="19050" marR="19050" marT="19050" marB="19050">
                    <a:lnL>
                      <a:noFill/>
                    </a:lnL>
                    <a:lnR>
                      <a:noFill/>
                    </a:lnR>
                    <a:lnT>
                      <a:noFill/>
                    </a:lnT>
                    <a:lnB>
                      <a:noFill/>
                    </a:lnB>
                    <a:solidFill>
                      <a:srgbClr val="FFFFFF"/>
                    </a:solidFill>
                  </a:tcPr>
                </a:tc>
                <a:tc>
                  <a:txBody>
                    <a:bodyPr/>
                    <a:lstStyle/>
                    <a:p>
                      <a:r>
                        <a:rPr lang="ru-RU" sz="1400">
                          <a:effectLst/>
                        </a:rPr>
                        <a:t>Колбаса, сметана</a:t>
                      </a:r>
                    </a:p>
                  </a:txBody>
                  <a:tcPr marL="19050" marR="19050" marT="19050" marB="19050">
                    <a:lnL>
                      <a:noFill/>
                    </a:lnL>
                    <a:lnR>
                      <a:noFill/>
                    </a:lnR>
                    <a:lnT>
                      <a:noFill/>
                    </a:lnT>
                    <a:lnB>
                      <a:noFill/>
                    </a:lnB>
                    <a:solidFill>
                      <a:srgbClr val="FFFFFF"/>
                    </a:solidFill>
                  </a:tcPr>
                </a:tc>
                <a:tc vMerge="1">
                  <a:txBody>
                    <a:bodyPr/>
                    <a:lstStyle/>
                    <a:p>
                      <a:endParaRPr lang="ru-RU"/>
                    </a:p>
                  </a:txBody>
                  <a:tcPr/>
                </a:tc>
                <a:tc>
                  <a:txBody>
                    <a:bodyPr/>
                    <a:lstStyle/>
                    <a:p>
                      <a:r>
                        <a:rPr lang="ru-RU" sz="1400">
                          <a:effectLst/>
                        </a:rPr>
                        <a:t>400</a:t>
                      </a:r>
                    </a:p>
                  </a:txBody>
                  <a:tcPr marL="19050" marR="19050" marT="19050" marB="19050">
                    <a:lnL>
                      <a:noFill/>
                    </a:lnL>
                    <a:lnR>
                      <a:noFill/>
                    </a:lnR>
                    <a:lnT>
                      <a:noFill/>
                    </a:lnT>
                    <a:lnB>
                      <a:noFill/>
                    </a:lnB>
                    <a:solidFill>
                      <a:srgbClr val="FFFFFF"/>
                    </a:solidFill>
                  </a:tcPr>
                </a:tc>
                <a:tc>
                  <a:txBody>
                    <a:bodyPr/>
                    <a:lstStyle/>
                    <a:p>
                      <a:r>
                        <a:rPr lang="en-US" sz="1400" dirty="0">
                          <a:effectLst/>
                        </a:rPr>
                        <a:t>e, d</a:t>
                      </a:r>
                    </a:p>
                  </a:txBody>
                  <a:tcPr marL="19050" marR="19050" marT="19050" marB="19050">
                    <a:lnL>
                      <a:noFill/>
                    </a:lnL>
                    <a:lnR>
                      <a:noFill/>
                    </a:lnR>
                    <a:lnT>
                      <a:noFill/>
                    </a:lnT>
                    <a:lnB>
                      <a:noFill/>
                    </a:lnB>
                    <a:solidFill>
                      <a:srgbClr val="FFFFFF"/>
                    </a:solidFill>
                  </a:tcPr>
                </a:tc>
                <a:extLst>
                  <a:ext uri="{0D108BD9-81ED-4DB2-BD59-A6C34878D82A}">
                    <a16:rowId xmlns:a16="http://schemas.microsoft.com/office/drawing/2014/main" val="1166110082"/>
                  </a:ext>
                </a:extLst>
              </a:tr>
              <a:tr h="582924">
                <a:tc>
                  <a:txBody>
                    <a:bodyPr/>
                    <a:lstStyle/>
                    <a:p>
                      <a:r>
                        <a:rPr lang="ru-RU" sz="1400">
                          <a:effectLst/>
                        </a:rPr>
                        <a:t>500</a:t>
                      </a:r>
                    </a:p>
                  </a:txBody>
                  <a:tcPr marL="19050" marR="19050" marT="19050" marB="19050">
                    <a:lnL>
                      <a:noFill/>
                    </a:lnL>
                    <a:lnR>
                      <a:noFill/>
                    </a:lnR>
                    <a:lnT>
                      <a:noFill/>
                    </a:lnT>
                    <a:lnB>
                      <a:noFill/>
                    </a:lnB>
                    <a:solidFill>
                      <a:srgbClr val="FFFFFF"/>
                    </a:solidFill>
                  </a:tcPr>
                </a:tc>
                <a:tc>
                  <a:txBody>
                    <a:bodyPr/>
                    <a:lstStyle/>
                    <a:p>
                      <a:r>
                        <a:rPr lang="ru-RU" sz="1400">
                          <a:effectLst/>
                        </a:rPr>
                        <a:t>Хлеб, молоко, печенье, сметана</a:t>
                      </a:r>
                    </a:p>
                  </a:txBody>
                  <a:tcPr marL="19050" marR="19050" marT="19050" marB="19050">
                    <a:lnL>
                      <a:noFill/>
                    </a:lnL>
                    <a:lnR>
                      <a:noFill/>
                    </a:lnR>
                    <a:lnT>
                      <a:noFill/>
                    </a:lnT>
                    <a:lnB>
                      <a:noFill/>
                    </a:lnB>
                    <a:solidFill>
                      <a:srgbClr val="FFFFFF"/>
                    </a:solidFill>
                  </a:tcPr>
                </a:tc>
                <a:tc vMerge="1">
                  <a:txBody>
                    <a:bodyPr/>
                    <a:lstStyle/>
                    <a:p>
                      <a:endParaRPr lang="ru-RU"/>
                    </a:p>
                  </a:txBody>
                  <a:tcPr/>
                </a:tc>
                <a:tc>
                  <a:txBody>
                    <a:bodyPr/>
                    <a:lstStyle/>
                    <a:p>
                      <a:r>
                        <a:rPr lang="ru-RU" sz="1400">
                          <a:effectLst/>
                        </a:rPr>
                        <a:t>500</a:t>
                      </a:r>
                    </a:p>
                  </a:txBody>
                  <a:tcPr marL="19050" marR="19050" marT="19050" marB="19050">
                    <a:lnL>
                      <a:noFill/>
                    </a:lnL>
                    <a:lnR>
                      <a:noFill/>
                    </a:lnR>
                    <a:lnT>
                      <a:noFill/>
                    </a:lnT>
                    <a:lnB>
                      <a:noFill/>
                    </a:lnB>
                    <a:solidFill>
                      <a:srgbClr val="FFFFFF"/>
                    </a:solidFill>
                  </a:tcPr>
                </a:tc>
                <a:tc>
                  <a:txBody>
                    <a:bodyPr/>
                    <a:lstStyle/>
                    <a:p>
                      <a:r>
                        <a:rPr lang="en-US" sz="1400" dirty="0">
                          <a:effectLst/>
                        </a:rPr>
                        <a:t>a, b, c, d</a:t>
                      </a:r>
                    </a:p>
                  </a:txBody>
                  <a:tcPr marL="19050" marR="19050" marT="19050" marB="19050">
                    <a:lnL>
                      <a:noFill/>
                    </a:lnL>
                    <a:lnR>
                      <a:noFill/>
                    </a:lnR>
                    <a:lnT>
                      <a:noFill/>
                    </a:lnT>
                    <a:lnB>
                      <a:noFill/>
                    </a:lnB>
                    <a:solidFill>
                      <a:srgbClr val="FFFFFF"/>
                    </a:solidFill>
                  </a:tcPr>
                </a:tc>
                <a:extLst>
                  <a:ext uri="{0D108BD9-81ED-4DB2-BD59-A6C34878D82A}">
                    <a16:rowId xmlns:a16="http://schemas.microsoft.com/office/drawing/2014/main" val="4138096708"/>
                  </a:ext>
                </a:extLst>
              </a:tr>
              <a:tr h="315352">
                <a:tc>
                  <a:txBody>
                    <a:bodyPr/>
                    <a:lstStyle/>
                    <a:p>
                      <a:r>
                        <a:rPr lang="ru-RU" sz="1400">
                          <a:effectLst/>
                        </a:rPr>
                        <a:t>600</a:t>
                      </a:r>
                    </a:p>
                  </a:txBody>
                  <a:tcPr marL="19050" marR="19050" marT="19050" marB="19050">
                    <a:lnL>
                      <a:noFill/>
                    </a:lnL>
                    <a:lnR>
                      <a:noFill/>
                    </a:lnR>
                    <a:lnT>
                      <a:noFill/>
                    </a:lnT>
                    <a:lnB>
                      <a:noFill/>
                    </a:lnB>
                    <a:solidFill>
                      <a:srgbClr val="FFFFFF"/>
                    </a:solidFill>
                  </a:tcPr>
                </a:tc>
                <a:tc>
                  <a:txBody>
                    <a:bodyPr/>
                    <a:lstStyle/>
                    <a:p>
                      <a:r>
                        <a:rPr lang="ru-RU" sz="1400">
                          <a:effectLst/>
                        </a:rPr>
                        <a:t>Конфеты</a:t>
                      </a:r>
                    </a:p>
                  </a:txBody>
                  <a:tcPr marL="19050" marR="19050" marT="19050" marB="19050">
                    <a:lnL>
                      <a:noFill/>
                    </a:lnL>
                    <a:lnR>
                      <a:noFill/>
                    </a:lnR>
                    <a:lnT>
                      <a:noFill/>
                    </a:lnT>
                    <a:lnB>
                      <a:noFill/>
                    </a:lnB>
                    <a:solidFill>
                      <a:srgbClr val="FFFFFF"/>
                    </a:solidFill>
                  </a:tcPr>
                </a:tc>
                <a:tc vMerge="1">
                  <a:txBody>
                    <a:bodyPr/>
                    <a:lstStyle/>
                    <a:p>
                      <a:endParaRPr lang="ru-RU"/>
                    </a:p>
                  </a:txBody>
                  <a:tcPr/>
                </a:tc>
                <a:tc>
                  <a:txBody>
                    <a:bodyPr/>
                    <a:lstStyle/>
                    <a:p>
                      <a:r>
                        <a:rPr lang="ru-RU" sz="1400">
                          <a:effectLst/>
                        </a:rPr>
                        <a:t>600</a:t>
                      </a:r>
                    </a:p>
                  </a:txBody>
                  <a:tcPr marL="19050" marR="19050" marT="19050" marB="19050">
                    <a:lnL>
                      <a:noFill/>
                    </a:lnL>
                    <a:lnR>
                      <a:noFill/>
                    </a:lnR>
                    <a:lnT>
                      <a:noFill/>
                    </a:lnT>
                    <a:lnB>
                      <a:noFill/>
                    </a:lnB>
                    <a:solidFill>
                      <a:srgbClr val="FFFFFF"/>
                    </a:solidFill>
                  </a:tcPr>
                </a:tc>
                <a:tc>
                  <a:txBody>
                    <a:bodyPr/>
                    <a:lstStyle/>
                    <a:p>
                      <a:r>
                        <a:rPr lang="en-US" sz="1400" dirty="0">
                          <a:effectLst/>
                        </a:rPr>
                        <a:t>f</a:t>
                      </a:r>
                    </a:p>
                  </a:txBody>
                  <a:tcPr marL="19050" marR="19050" marT="19050" marB="19050">
                    <a:lnL>
                      <a:noFill/>
                    </a:lnL>
                    <a:lnR>
                      <a:noFill/>
                    </a:lnR>
                    <a:lnT>
                      <a:noFill/>
                    </a:lnT>
                    <a:lnB>
                      <a:noFill/>
                    </a:lnB>
                    <a:solidFill>
                      <a:srgbClr val="FFFFFF"/>
                    </a:solidFill>
                  </a:tcPr>
                </a:tc>
                <a:extLst>
                  <a:ext uri="{0D108BD9-81ED-4DB2-BD59-A6C34878D82A}">
                    <a16:rowId xmlns:a16="http://schemas.microsoft.com/office/drawing/2014/main" val="1153386950"/>
                  </a:ext>
                </a:extLst>
              </a:tr>
            </a:tbl>
          </a:graphicData>
        </a:graphic>
      </p:graphicFrame>
      <p:pic>
        <p:nvPicPr>
          <p:cNvPr id="2049" name="Picture 1">
            <a:extLst>
              <a:ext uri="{FF2B5EF4-FFF2-40B4-BE49-F238E27FC236}">
                <a16:creationId xmlns:a16="http://schemas.microsoft.com/office/drawing/2014/main" id="{66608D5C-B0BC-4EA6-948B-D8D342C9B3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0789" y="3404924"/>
            <a:ext cx="371475" cy="133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5842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2E9729-E9F6-4E41-B744-1BE33188794B}"/>
              </a:ext>
            </a:extLst>
          </p:cNvPr>
          <p:cNvSpPr>
            <a:spLocks noGrp="1"/>
          </p:cNvSpPr>
          <p:nvPr>
            <p:ph type="title"/>
          </p:nvPr>
        </p:nvSpPr>
        <p:spPr/>
        <p:txBody>
          <a:bodyPr/>
          <a:lstStyle/>
          <a:p>
            <a:pPr algn="ctr"/>
            <a:r>
              <a:rPr lang="ru-RU" dirty="0"/>
              <a:t>Пример поддержки и достоверности</a:t>
            </a:r>
          </a:p>
        </p:txBody>
      </p:sp>
      <p:sp>
        <p:nvSpPr>
          <p:cNvPr id="3" name="Объект 2">
            <a:extLst>
              <a:ext uri="{FF2B5EF4-FFF2-40B4-BE49-F238E27FC236}">
                <a16:creationId xmlns:a16="http://schemas.microsoft.com/office/drawing/2014/main" id="{981C86EB-5586-4E62-9091-553E45C3D554}"/>
              </a:ext>
            </a:extLst>
          </p:cNvPr>
          <p:cNvSpPr>
            <a:spLocks noGrp="1"/>
          </p:cNvSpPr>
          <p:nvPr>
            <p:ph idx="1"/>
          </p:nvPr>
        </p:nvSpPr>
        <p:spPr>
          <a:xfrm>
            <a:off x="628650" y="1066800"/>
            <a:ext cx="7886700" cy="5110163"/>
          </a:xfrm>
        </p:spPr>
        <p:txBody>
          <a:bodyPr>
            <a:noAutofit/>
          </a:bodyPr>
          <a:lstStyle/>
          <a:p>
            <a:pPr marL="0" indent="0" algn="just">
              <a:buNone/>
            </a:pPr>
            <a:r>
              <a:rPr lang="ru-RU" sz="2000" b="0" i="0" dirty="0">
                <a:solidFill>
                  <a:srgbClr val="333333"/>
                </a:solidFill>
                <a:effectLst/>
              </a:rPr>
              <a:t>Покажем на конкретном примере: </a:t>
            </a:r>
          </a:p>
          <a:p>
            <a:pPr marL="0" indent="0" algn="just">
              <a:buNone/>
            </a:pPr>
            <a:r>
              <a:rPr lang="ru-RU" sz="2000" b="0" i="0" dirty="0">
                <a:solidFill>
                  <a:srgbClr val="333333"/>
                </a:solidFill>
                <a:effectLst/>
              </a:rPr>
              <a:t>75% транзакций, содержащих хлеб, также содержат молоко. </a:t>
            </a:r>
          </a:p>
          <a:p>
            <a:pPr marL="0" indent="0" algn="just">
              <a:buNone/>
            </a:pPr>
            <a:r>
              <a:rPr lang="ru-RU" sz="2000" b="0" i="0" dirty="0">
                <a:solidFill>
                  <a:srgbClr val="333333"/>
                </a:solidFill>
                <a:effectLst/>
              </a:rPr>
              <a:t>3% от общего числа всех транзакций содержат оба товара». </a:t>
            </a:r>
          </a:p>
          <a:p>
            <a:pPr marL="0" indent="0" algn="just">
              <a:buNone/>
            </a:pPr>
            <a:r>
              <a:rPr lang="ru-RU" sz="2000" b="0" i="0" dirty="0">
                <a:solidFill>
                  <a:srgbClr val="333333"/>
                </a:solidFill>
                <a:effectLst/>
              </a:rPr>
              <a:t>75% — это достоверность (</a:t>
            </a:r>
            <a:r>
              <a:rPr lang="ru-RU" sz="2000" b="0" i="0" dirty="0" err="1">
                <a:solidFill>
                  <a:srgbClr val="333333"/>
                </a:solidFill>
                <a:effectLst/>
              </a:rPr>
              <a:t>confidence</a:t>
            </a:r>
            <a:r>
              <a:rPr lang="ru-RU" sz="2000" b="0" i="0" dirty="0">
                <a:solidFill>
                  <a:srgbClr val="333333"/>
                </a:solidFill>
                <a:effectLst/>
              </a:rPr>
              <a:t>) правила, </a:t>
            </a:r>
          </a:p>
          <a:p>
            <a:pPr marL="0" indent="0" algn="just">
              <a:buNone/>
            </a:pPr>
            <a:r>
              <a:rPr lang="ru-RU" sz="2000" b="0" i="0" dirty="0">
                <a:solidFill>
                  <a:srgbClr val="333333"/>
                </a:solidFill>
                <a:effectLst/>
              </a:rPr>
              <a:t>3% это поддержка (</a:t>
            </a:r>
            <a:r>
              <a:rPr lang="ru-RU" sz="2000" b="0" i="0" dirty="0" err="1">
                <a:solidFill>
                  <a:srgbClr val="333333"/>
                </a:solidFill>
                <a:effectLst/>
              </a:rPr>
              <a:t>support</a:t>
            </a:r>
            <a:r>
              <a:rPr lang="ru-RU" sz="2000" b="0" i="0" dirty="0">
                <a:solidFill>
                  <a:srgbClr val="333333"/>
                </a:solidFill>
                <a:effectLst/>
              </a:rPr>
              <a:t>), или «Хлеб» «Молоко» с вероятностью 75%.</a:t>
            </a:r>
          </a:p>
          <a:p>
            <a:pPr marL="0" indent="0" algn="just">
              <a:buNone/>
            </a:pPr>
            <a:r>
              <a:rPr lang="ru-RU" sz="2000" b="0" i="0" dirty="0">
                <a:solidFill>
                  <a:srgbClr val="333333"/>
                </a:solidFill>
                <a:effectLst/>
              </a:rPr>
              <a:t>Целью анализа – установление примером зависимостей: </a:t>
            </a:r>
          </a:p>
          <a:p>
            <a:pPr marL="0" indent="0" algn="just">
              <a:buNone/>
            </a:pPr>
            <a:r>
              <a:rPr lang="ru-RU" sz="2000" b="0" i="1" dirty="0">
                <a:solidFill>
                  <a:srgbClr val="333333"/>
                </a:solidFill>
                <a:effectLst/>
              </a:rPr>
              <a:t>если в транзакции встретился некоторый набор элементов </a:t>
            </a:r>
            <a:r>
              <a:rPr lang="en-US" sz="2000" b="0" i="1" dirty="0">
                <a:solidFill>
                  <a:srgbClr val="333333"/>
                </a:solidFill>
                <a:effectLst/>
              </a:rPr>
              <a:t>&lt;</a:t>
            </a:r>
            <a:r>
              <a:rPr lang="ru-RU" sz="2000" b="0" i="1" dirty="0">
                <a:solidFill>
                  <a:srgbClr val="333333"/>
                </a:solidFill>
                <a:effectLst/>
              </a:rPr>
              <a:t>X</a:t>
            </a:r>
            <a:r>
              <a:rPr lang="en-US" sz="2000" b="0" i="1" dirty="0">
                <a:solidFill>
                  <a:srgbClr val="333333"/>
                </a:solidFill>
                <a:effectLst/>
              </a:rPr>
              <a:t>&gt;</a:t>
            </a:r>
            <a:r>
              <a:rPr lang="ru-RU" sz="2000" b="0" i="1" dirty="0">
                <a:solidFill>
                  <a:srgbClr val="333333"/>
                </a:solidFill>
                <a:effectLst/>
              </a:rPr>
              <a:t>, то на основании этого можно сделать вывод о том, что другой набор элементов </a:t>
            </a:r>
            <a:r>
              <a:rPr lang="en-US" sz="2000" b="0" i="1" dirty="0">
                <a:solidFill>
                  <a:srgbClr val="333333"/>
                </a:solidFill>
                <a:effectLst/>
              </a:rPr>
              <a:t>&lt;</a:t>
            </a:r>
            <a:r>
              <a:rPr lang="ru-RU" sz="2000" b="0" i="1" dirty="0">
                <a:solidFill>
                  <a:srgbClr val="333333"/>
                </a:solidFill>
                <a:effectLst/>
              </a:rPr>
              <a:t>Y</a:t>
            </a:r>
            <a:r>
              <a:rPr lang="en-US" sz="2000" b="0" i="1" dirty="0">
                <a:solidFill>
                  <a:srgbClr val="333333"/>
                </a:solidFill>
                <a:effectLst/>
              </a:rPr>
              <a:t>&gt;</a:t>
            </a:r>
            <a:r>
              <a:rPr lang="ru-RU" sz="2000" b="0" i="1" dirty="0">
                <a:solidFill>
                  <a:srgbClr val="333333"/>
                </a:solidFill>
                <a:effectLst/>
              </a:rPr>
              <a:t> также же должен появиться в этой транзакции. </a:t>
            </a:r>
          </a:p>
          <a:p>
            <a:pPr marL="0" indent="0" algn="just">
              <a:buNone/>
            </a:pPr>
            <a:r>
              <a:rPr lang="ru-RU" sz="2000" b="0" i="0" dirty="0">
                <a:solidFill>
                  <a:srgbClr val="333333"/>
                </a:solidFill>
                <a:effectLst/>
              </a:rPr>
              <a:t>Алгоритмы поиска ассоциативных правил предназначены для нахождения всех правил XY, причем </a:t>
            </a:r>
            <a:r>
              <a:rPr lang="ru-RU" sz="2000" b="0" i="0" u="none" strike="noStrike" dirty="0">
                <a:solidFill>
                  <a:srgbClr val="E1312F"/>
                </a:solidFill>
                <a:effectLst/>
              </a:rPr>
              <a:t>поддержка</a:t>
            </a:r>
            <a:r>
              <a:rPr lang="ru-RU" sz="2000" b="0" i="0" dirty="0">
                <a:solidFill>
                  <a:srgbClr val="333333"/>
                </a:solidFill>
                <a:effectLst/>
              </a:rPr>
              <a:t> и </a:t>
            </a:r>
            <a:r>
              <a:rPr lang="ru-RU" sz="2000" b="0" i="0" u="none" strike="noStrike" dirty="0">
                <a:solidFill>
                  <a:srgbClr val="E1312F"/>
                </a:solidFill>
                <a:effectLst/>
              </a:rPr>
              <a:t>достоверность</a:t>
            </a:r>
            <a:r>
              <a:rPr lang="ru-RU" sz="2000" b="0" i="0" dirty="0">
                <a:solidFill>
                  <a:srgbClr val="333333"/>
                </a:solidFill>
                <a:effectLst/>
              </a:rPr>
              <a:t> этих правил должны быть выше некоторых наперед определенных порогов, называемых соответственно минимальной поддержкой (</a:t>
            </a:r>
            <a:r>
              <a:rPr lang="ru-RU" sz="2000" b="0" i="0" dirty="0" err="1">
                <a:solidFill>
                  <a:srgbClr val="333333"/>
                </a:solidFill>
                <a:effectLst/>
              </a:rPr>
              <a:t>minsupport</a:t>
            </a:r>
            <a:r>
              <a:rPr lang="ru-RU" sz="2000" b="0" i="0" dirty="0">
                <a:solidFill>
                  <a:srgbClr val="333333"/>
                </a:solidFill>
                <a:effectLst/>
              </a:rPr>
              <a:t>) и минимальной достоверностью (</a:t>
            </a:r>
            <a:r>
              <a:rPr lang="ru-RU" sz="2000" b="0" i="0" dirty="0" err="1">
                <a:solidFill>
                  <a:srgbClr val="333333"/>
                </a:solidFill>
                <a:effectLst/>
              </a:rPr>
              <a:t>minconfidence</a:t>
            </a:r>
            <a:r>
              <a:rPr lang="ru-RU" sz="2000" b="0" i="0" dirty="0">
                <a:solidFill>
                  <a:srgbClr val="333333"/>
                </a:solidFill>
                <a:effectLst/>
              </a:rPr>
              <a:t>).</a:t>
            </a:r>
          </a:p>
          <a:p>
            <a:pPr marL="0" indent="0">
              <a:buNone/>
            </a:pPr>
            <a:endParaRPr lang="ru-RU" sz="2000" dirty="0"/>
          </a:p>
        </p:txBody>
      </p:sp>
      <p:sp>
        <p:nvSpPr>
          <p:cNvPr id="4" name="Нижний колонтитул 3">
            <a:extLst>
              <a:ext uri="{FF2B5EF4-FFF2-40B4-BE49-F238E27FC236}">
                <a16:creationId xmlns:a16="http://schemas.microsoft.com/office/drawing/2014/main" id="{97D97CE9-7287-422B-A56B-6C535836DA21}"/>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AFF458A5-9E4E-422D-8073-4FCF26078B13}"/>
              </a:ext>
            </a:extLst>
          </p:cNvPr>
          <p:cNvSpPr>
            <a:spLocks noGrp="1"/>
          </p:cNvSpPr>
          <p:nvPr>
            <p:ph type="sldNum" sz="quarter" idx="12"/>
          </p:nvPr>
        </p:nvSpPr>
        <p:spPr/>
        <p:txBody>
          <a:bodyPr/>
          <a:lstStyle/>
          <a:p>
            <a:fld id="{81C5FB71-5E9C-41B5-9BB8-3F1EBEAEB16A}" type="slidenum">
              <a:rPr lang="ru-RU" smtClean="0"/>
              <a:t>9</a:t>
            </a:fld>
            <a:endParaRPr lang="ru-RU"/>
          </a:p>
        </p:txBody>
      </p:sp>
    </p:spTree>
    <p:extLst>
      <p:ext uri="{BB962C8B-B14F-4D97-AF65-F5344CB8AC3E}">
        <p14:creationId xmlns:p14="http://schemas.microsoft.com/office/powerpoint/2010/main" val="481560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4A1B1E-300E-404F-85C5-86892206F451}"/>
              </a:ext>
            </a:extLst>
          </p:cNvPr>
          <p:cNvSpPr>
            <a:spLocks noGrp="1"/>
          </p:cNvSpPr>
          <p:nvPr>
            <p:ph type="title"/>
          </p:nvPr>
        </p:nvSpPr>
        <p:spPr/>
        <p:txBody>
          <a:bodyPr/>
          <a:lstStyle/>
          <a:p>
            <a:pPr algn="ctr"/>
            <a:r>
              <a:rPr lang="ru-RU" dirty="0"/>
              <a:t>Основные определения</a:t>
            </a:r>
          </a:p>
        </p:txBody>
      </p:sp>
      <p:sp>
        <p:nvSpPr>
          <p:cNvPr id="4" name="Нижний колонтитул 3">
            <a:extLst>
              <a:ext uri="{FF2B5EF4-FFF2-40B4-BE49-F238E27FC236}">
                <a16:creationId xmlns:a16="http://schemas.microsoft.com/office/drawing/2014/main" id="{CA39C790-19A1-4E38-AFEC-C6AB5C6A5135}"/>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265221F-676A-4DA0-8D67-8927609D5315}"/>
              </a:ext>
            </a:extLst>
          </p:cNvPr>
          <p:cNvSpPr>
            <a:spLocks noGrp="1"/>
          </p:cNvSpPr>
          <p:nvPr>
            <p:ph type="sldNum" sz="quarter" idx="12"/>
          </p:nvPr>
        </p:nvSpPr>
        <p:spPr/>
        <p:txBody>
          <a:bodyPr/>
          <a:lstStyle/>
          <a:p>
            <a:fld id="{81C5FB71-5E9C-41B5-9BB8-3F1EBEAEB16A}" type="slidenum">
              <a:rPr lang="ru-RU" smtClean="0"/>
              <a:t>10</a:t>
            </a:fld>
            <a:endParaRPr lang="ru-RU"/>
          </a:p>
        </p:txBody>
      </p:sp>
      <p:pic>
        <p:nvPicPr>
          <p:cNvPr id="15" name="Объект 14">
            <a:extLst>
              <a:ext uri="{FF2B5EF4-FFF2-40B4-BE49-F238E27FC236}">
                <a16:creationId xmlns:a16="http://schemas.microsoft.com/office/drawing/2014/main" id="{2D04D96C-AA8A-4309-ABC5-F6CC7C321642}"/>
              </a:ext>
            </a:extLst>
          </p:cNvPr>
          <p:cNvPicPr>
            <a:picLocks noGrp="1" noChangeAspect="1"/>
          </p:cNvPicPr>
          <p:nvPr>
            <p:ph idx="1"/>
          </p:nvPr>
        </p:nvPicPr>
        <p:blipFill>
          <a:blip r:embed="rId2"/>
          <a:stretch>
            <a:fillRect/>
          </a:stretch>
        </p:blipFill>
        <p:spPr>
          <a:xfrm>
            <a:off x="628650" y="1524000"/>
            <a:ext cx="7886700" cy="4083706"/>
          </a:xfrm>
        </p:spPr>
      </p:pic>
    </p:spTree>
    <p:extLst>
      <p:ext uri="{BB962C8B-B14F-4D97-AF65-F5344CB8AC3E}">
        <p14:creationId xmlns:p14="http://schemas.microsoft.com/office/powerpoint/2010/main" val="3215643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3DD73A5-E574-CDB7-B7EF-39DFECC7A99D}"/>
              </a:ext>
            </a:extLst>
          </p:cNvPr>
          <p:cNvSpPr>
            <a:spLocks noGrp="1"/>
          </p:cNvSpPr>
          <p:nvPr>
            <p:ph type="title"/>
          </p:nvPr>
        </p:nvSpPr>
        <p:spPr/>
        <p:txBody>
          <a:bodyPr/>
          <a:lstStyle/>
          <a:p>
            <a:r>
              <a:rPr lang="ru-RU" dirty="0"/>
              <a:t>Метрики в задаче анализа ассоциативных правил</a:t>
            </a:r>
          </a:p>
        </p:txBody>
      </p:sp>
      <p:sp>
        <p:nvSpPr>
          <p:cNvPr id="4" name="Нижний колонтитул 3">
            <a:extLst>
              <a:ext uri="{FF2B5EF4-FFF2-40B4-BE49-F238E27FC236}">
                <a16:creationId xmlns:a16="http://schemas.microsoft.com/office/drawing/2014/main" id="{7B545CC0-D4B8-8204-2FED-00251796B6D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5EC9F2E-6757-0086-DC7A-4CCAC28BDBA3}"/>
              </a:ext>
            </a:extLst>
          </p:cNvPr>
          <p:cNvSpPr>
            <a:spLocks noGrp="1"/>
          </p:cNvSpPr>
          <p:nvPr>
            <p:ph type="sldNum" sz="quarter" idx="12"/>
          </p:nvPr>
        </p:nvSpPr>
        <p:spPr/>
        <p:txBody>
          <a:bodyPr/>
          <a:lstStyle/>
          <a:p>
            <a:fld id="{81C5FB71-5E9C-41B5-9BB8-3F1EBEAEB16A}" type="slidenum">
              <a:rPr lang="ru-RU" smtClean="0"/>
              <a:t>11</a:t>
            </a:fld>
            <a:endParaRPr lang="ru-RU"/>
          </a:p>
        </p:txBody>
      </p:sp>
      <p:pic>
        <p:nvPicPr>
          <p:cNvPr id="1026" name="Picture 2" descr="Picture background">
            <a:extLst>
              <a:ext uri="{FF2B5EF4-FFF2-40B4-BE49-F238E27FC236}">
                <a16:creationId xmlns:a16="http://schemas.microsoft.com/office/drawing/2014/main" id="{2405115E-67A3-B0F8-EBE4-9A00EA394A8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2800" y="1958476"/>
            <a:ext cx="6718400" cy="3234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083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BD2645-E572-E593-590B-1B7072F840A8}"/>
              </a:ext>
            </a:extLst>
          </p:cNvPr>
          <p:cNvSpPr>
            <a:spLocks noGrp="1"/>
          </p:cNvSpPr>
          <p:nvPr>
            <p:ph type="title"/>
          </p:nvPr>
        </p:nvSpPr>
        <p:spPr/>
        <p:txBody>
          <a:bodyPr/>
          <a:lstStyle/>
          <a:p>
            <a:r>
              <a:rPr lang="ru-RU" dirty="0"/>
              <a:t>Метрика </a:t>
            </a:r>
            <a:r>
              <a:rPr lang="en-US" dirty="0"/>
              <a:t>Support</a:t>
            </a:r>
            <a:endParaRPr lang="ru-RU" dirty="0"/>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AC1CE2F6-D9BF-0BE5-34B6-91D5680043B1}"/>
                  </a:ext>
                </a:extLst>
              </p:cNvPr>
              <p:cNvSpPr>
                <a:spLocks noGrp="1"/>
              </p:cNvSpPr>
              <p:nvPr>
                <p:ph idx="1"/>
              </p:nvPr>
            </p:nvSpPr>
            <p:spPr/>
            <p:txBody>
              <a:bodyPr/>
              <a:lstStyle/>
              <a:p>
                <a:pPr marL="0" indent="0">
                  <a:buNone/>
                </a:pPr>
                <a:r>
                  <a:rPr lang="ru-RU" b="0" i="0" dirty="0">
                    <a:effectLst/>
                    <a:latin typeface="YS Text"/>
                  </a:rPr>
                  <a:t>Метрика поддержки (</a:t>
                </a:r>
                <a:r>
                  <a:rPr lang="ru-RU" b="0" i="0" dirty="0" err="1">
                    <a:effectLst/>
                    <a:latin typeface="YS Text"/>
                  </a:rPr>
                  <a:t>support</a:t>
                </a:r>
                <a:r>
                  <a:rPr lang="ru-RU" b="0" i="0" dirty="0">
                    <a:effectLst/>
                    <a:latin typeface="YS Text"/>
                  </a:rPr>
                  <a:t>) в контексте анализа ассоциативных правил используется для определения надежности ассоциативной связи между условием и следствием. Она показывает, насколько часто условие и следствие встречаются вместе в транзакциях базы данных.</a:t>
                </a:r>
                <a:endParaRPr lang="en-US" dirty="0">
                  <a:latin typeface="YS Text"/>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𝑆𝑢𝑝𝑝𝑜𝑟𝑡</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num>
                        <m:den>
                          <m:r>
                            <a:rPr lang="en-US" b="0" i="1" smtClean="0">
                              <a:latin typeface="Cambria Math" panose="02040503050406030204" pitchFamily="18" charset="0"/>
                            </a:rPr>
                            <m:t>𝑁</m:t>
                          </m:r>
                        </m:den>
                      </m:f>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0" smtClean="0">
                          <a:latin typeface="Cambria Math" panose="02040503050406030204" pitchFamily="18" charset="0"/>
                        </a:rPr>
                        <m:t>,</m:t>
                      </m:r>
                      <m:r>
                        <a:rPr lang="ru-RU" b="0" i="0" smtClean="0">
                          <a:latin typeface="Cambria Math" panose="02040503050406030204" pitchFamily="18" charset="0"/>
                        </a:rPr>
                        <m:t> </m:t>
                      </m:r>
                      <m:r>
                        <a:rPr lang="en-US" b="0" i="0" smtClean="0">
                          <a:latin typeface="Cambria Math" panose="02040503050406030204" pitchFamily="18" charset="0"/>
                        </a:rPr>
                        <m:t> </m:t>
                      </m:r>
                      <m:r>
                        <a:rPr lang="en-US" b="0" i="1" smtClean="0">
                          <a:latin typeface="Cambria Math" panose="02040503050406030204" pitchFamily="18" charset="0"/>
                        </a:rPr>
                        <m:t>𝑆𝑢𝑝𝑝𝑜𝑟𝑡</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i="1">
                              <a:latin typeface="Cambria Math" panose="02040503050406030204" pitchFamily="18" charset="0"/>
                            </a:rPr>
                            <m:t>→</m:t>
                          </m:r>
                          <m:r>
                            <a:rPr lang="en-US" b="0" i="1" smtClean="0">
                              <a:latin typeface="Cambria Math" panose="02040503050406030204" pitchFamily="18" charset="0"/>
                            </a:rPr>
                            <m:t>𝑦</m:t>
                          </m:r>
                        </m:e>
                      </m:d>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num>
                        <m:den>
                          <m:r>
                            <a:rPr lang="en-US" b="0" i="1" smtClean="0">
                              <a:latin typeface="Cambria Math" panose="02040503050406030204" pitchFamily="18" charset="0"/>
                            </a:rPr>
                            <m:t>𝑁</m:t>
                          </m:r>
                        </m:den>
                      </m:f>
                    </m:oMath>
                  </m:oMathPara>
                </a14:m>
                <a:endParaRPr lang="en-US" b="0" dirty="0"/>
              </a:p>
              <a:p>
                <a:pPr marL="0" indent="0">
                  <a:buNone/>
                </a:pPr>
                <a:endParaRPr lang="en-US" dirty="0"/>
              </a:p>
              <a:p>
                <a:pPr marL="0" indent="0">
                  <a:buNone/>
                </a:pPr>
                <a:r>
                  <a:rPr lang="ru-RU" dirty="0"/>
                  <a:t>где 	</a:t>
                </a:r>
                <a14:m>
                  <m:oMath xmlns:m="http://schemas.openxmlformats.org/officeDocument/2006/math">
                    <m:r>
                      <a:rPr lang="en-US" b="0" i="1" smtClean="0">
                        <a:latin typeface="Cambria Math" panose="02040503050406030204" pitchFamily="18" charset="0"/>
                      </a:rPr>
                      <m:t>𝑁</m:t>
                    </m:r>
                  </m:oMath>
                </a14:m>
                <a:r>
                  <a:rPr lang="en-US" dirty="0"/>
                  <a:t> – </a:t>
                </a:r>
                <a:r>
                  <a:rPr lang="ru-RU" dirty="0"/>
                  <a:t>общее число транзакций в базе данных</a:t>
                </a:r>
              </a:p>
              <a:p>
                <a:pPr marL="0" indent="0">
                  <a:buNone/>
                </a:pPr>
                <a:r>
                  <a:rPr lang="ru-RU" dirty="0"/>
                  <a:t>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ru-RU" dirty="0"/>
                  <a:t> – общее число транзакций с </a:t>
                </a:r>
                <a14:m>
                  <m:oMath xmlns:m="http://schemas.openxmlformats.org/officeDocument/2006/math">
                    <m:r>
                      <a:rPr lang="en-US" b="0" i="1" smtClean="0">
                        <a:latin typeface="Cambria Math" panose="02040503050406030204" pitchFamily="18" charset="0"/>
                      </a:rPr>
                      <m:t>𝑥</m:t>
                    </m:r>
                  </m:oMath>
                </a14:m>
                <a:r>
                  <a:rPr lang="ru-RU" dirty="0"/>
                  <a:t> в базе данных</a:t>
                </a:r>
                <a:endParaRPr lang="en-US" dirty="0"/>
              </a:p>
              <a:p>
                <a:pPr marL="0" indent="0">
                  <a:buNone/>
                </a:pPr>
                <a:r>
                  <a:rPr lang="en-US" dirty="0"/>
                  <a:t>	</a:t>
                </a:r>
                <a14:m>
                  <m:oMath xmlns:m="http://schemas.openxmlformats.org/officeDocument/2006/math">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oMath>
                </a14:m>
                <a:r>
                  <a:rPr lang="en-US" dirty="0"/>
                  <a:t> </a:t>
                </a:r>
                <a:r>
                  <a:rPr lang="ru-RU" dirty="0"/>
                  <a:t>–</a:t>
                </a:r>
                <a:r>
                  <a:rPr lang="en-US" dirty="0"/>
                  <a:t> </a:t>
                </a:r>
                <a:r>
                  <a:rPr lang="ru-RU" dirty="0"/>
                  <a:t>общее число транзакций с</a:t>
                </a:r>
                <a14:m>
                  <m:oMath xmlns:m="http://schemas.openxmlformats.org/officeDocument/2006/math">
                    <m:r>
                      <a:rPr lang="en-US" b="0" i="0" smtClean="0">
                        <a:latin typeface="Cambria Math" panose="02040503050406030204" pitchFamily="18" charset="0"/>
                      </a:rPr>
                      <m:t> </m:t>
                    </m:r>
                    <m:r>
                      <m:rPr>
                        <m:sty m:val="p"/>
                      </m:rPr>
                      <a:rPr lang="en-US" b="0" i="0" smtClean="0">
                        <a:latin typeface="Cambria Math" panose="02040503050406030204" pitchFamily="18" charset="0"/>
                      </a:rPr>
                      <m:t>x</m:t>
                    </m:r>
                  </m:oMath>
                </a14:m>
                <a:r>
                  <a:rPr lang="ru-RU" dirty="0"/>
                  <a:t> и </a:t>
                </a:r>
                <a14:m>
                  <m:oMath xmlns:m="http://schemas.openxmlformats.org/officeDocument/2006/math">
                    <m:r>
                      <a:rPr lang="en-US" b="0" i="1" smtClean="0">
                        <a:latin typeface="Cambria Math" panose="02040503050406030204" pitchFamily="18" charset="0"/>
                      </a:rPr>
                      <m:t>𝑦</m:t>
                    </m:r>
                  </m:oMath>
                </a14:m>
                <a:r>
                  <a:rPr lang="ru-RU" dirty="0"/>
                  <a:t> одновременно в	базе данных</a:t>
                </a:r>
              </a:p>
            </p:txBody>
          </p:sp>
        </mc:Choice>
        <mc:Fallback>
          <p:sp>
            <p:nvSpPr>
              <p:cNvPr id="3" name="Объект 2">
                <a:extLst>
                  <a:ext uri="{FF2B5EF4-FFF2-40B4-BE49-F238E27FC236}">
                    <a16:creationId xmlns:a16="http://schemas.microsoft.com/office/drawing/2014/main" id="{AC1CE2F6-D9BF-0BE5-34B6-91D5680043B1}"/>
                  </a:ext>
                </a:extLst>
              </p:cNvPr>
              <p:cNvSpPr>
                <a:spLocks noGrp="1" noRot="1" noChangeAspect="1" noMove="1" noResize="1" noEditPoints="1" noAdjustHandles="1" noChangeArrowheads="1" noChangeShapeType="1" noTextEdit="1"/>
              </p:cNvSpPr>
              <p:nvPr>
                <p:ph idx="1"/>
              </p:nvPr>
            </p:nvSpPr>
            <p:spPr>
              <a:blipFill>
                <a:blip r:embed="rId2"/>
                <a:stretch>
                  <a:fillRect l="-927" t="-1392" r="-541"/>
                </a:stretch>
              </a:blipFill>
            </p:spPr>
            <p:txBody>
              <a:bodyPr/>
              <a:lstStyle/>
              <a:p>
                <a:r>
                  <a:rPr lang="ru-RU">
                    <a:noFill/>
                  </a:rPr>
                  <a:t> </a:t>
                </a:r>
              </a:p>
            </p:txBody>
          </p:sp>
        </mc:Fallback>
      </mc:AlternateContent>
      <p:sp>
        <p:nvSpPr>
          <p:cNvPr id="4" name="Нижний колонтитул 3">
            <a:extLst>
              <a:ext uri="{FF2B5EF4-FFF2-40B4-BE49-F238E27FC236}">
                <a16:creationId xmlns:a16="http://schemas.microsoft.com/office/drawing/2014/main" id="{0C0F69BF-ABB7-6390-542E-C3A0551F168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96DAC761-FC28-0994-71C2-A44BDC8070CF}"/>
              </a:ext>
            </a:extLst>
          </p:cNvPr>
          <p:cNvSpPr>
            <a:spLocks noGrp="1"/>
          </p:cNvSpPr>
          <p:nvPr>
            <p:ph type="sldNum" sz="quarter" idx="12"/>
          </p:nvPr>
        </p:nvSpPr>
        <p:spPr/>
        <p:txBody>
          <a:bodyPr/>
          <a:lstStyle/>
          <a:p>
            <a:fld id="{81C5FB71-5E9C-41B5-9BB8-3F1EBEAEB16A}" type="slidenum">
              <a:rPr lang="ru-RU" smtClean="0"/>
              <a:t>12</a:t>
            </a:fld>
            <a:endParaRPr lang="ru-RU"/>
          </a:p>
        </p:txBody>
      </p:sp>
    </p:spTree>
    <p:extLst>
      <p:ext uri="{BB962C8B-B14F-4D97-AF65-F5344CB8AC3E}">
        <p14:creationId xmlns:p14="http://schemas.microsoft.com/office/powerpoint/2010/main" val="4015538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81D38-BFC9-F057-7869-6A3C9390CAE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9A7F37-C08D-160B-1E9A-20C4F2761D54}"/>
              </a:ext>
            </a:extLst>
          </p:cNvPr>
          <p:cNvSpPr>
            <a:spLocks noGrp="1"/>
          </p:cNvSpPr>
          <p:nvPr>
            <p:ph type="title"/>
          </p:nvPr>
        </p:nvSpPr>
        <p:spPr/>
        <p:txBody>
          <a:bodyPr/>
          <a:lstStyle/>
          <a:p>
            <a:r>
              <a:rPr lang="ru-RU" dirty="0"/>
              <a:t>Метрика </a:t>
            </a:r>
            <a:r>
              <a:rPr lang="en-US" dirty="0"/>
              <a:t>Support</a:t>
            </a:r>
            <a:endParaRPr lang="ru-RU" dirty="0"/>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B1657344-BA3C-02E7-A2D1-8E28A0D91B1B}"/>
                  </a:ext>
                </a:extLst>
              </p:cNvPr>
              <p:cNvSpPr>
                <a:spLocks noGrp="1"/>
              </p:cNvSpPr>
              <p:nvPr>
                <p:ph idx="1"/>
              </p:nvPr>
            </p:nvSpPr>
            <p:spPr/>
            <p:txBody>
              <a:bodyPr>
                <a:normAutofit/>
              </a:bodyPr>
              <a:lstStyle/>
              <a:p>
                <a:pPr marL="0" indent="0">
                  <a:buNone/>
                </a:pPr>
                <a:r>
                  <a:rPr lang="ru-RU" b="0" i="0" dirty="0">
                    <a:effectLst/>
                    <a:latin typeface="YS Text"/>
                  </a:rPr>
                  <a:t>Метрика поддержки (</a:t>
                </a:r>
                <a:r>
                  <a:rPr lang="ru-RU" b="0" i="0" dirty="0" err="1">
                    <a:effectLst/>
                    <a:latin typeface="YS Text"/>
                  </a:rPr>
                  <a:t>support</a:t>
                </a:r>
                <a:r>
                  <a:rPr lang="ru-RU" b="0" i="0" dirty="0">
                    <a:effectLst/>
                    <a:latin typeface="YS Text"/>
                  </a:rPr>
                  <a:t>) в контексте анализа ассоциативных правил используется для определения надежности ассоциативной связи между условием и следствием. Она показывает, насколько часто условие и следствие встречаются вместе в транзакциях базы данных.</a:t>
                </a:r>
                <a:endParaRPr lang="en-US" dirty="0">
                  <a:latin typeface="YS Text"/>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𝑆𝑢𝑝𝑝𝑜𝑟𝑡</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num>
                        <m:den>
                          <m:r>
                            <a:rPr lang="en-US" b="0" i="1" smtClean="0">
                              <a:latin typeface="Cambria Math" panose="02040503050406030204" pitchFamily="18" charset="0"/>
                            </a:rPr>
                            <m:t>𝑁</m:t>
                          </m:r>
                        </m:den>
                      </m:f>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0" smtClean="0">
                          <a:latin typeface="Cambria Math" panose="02040503050406030204" pitchFamily="18" charset="0"/>
                        </a:rPr>
                        <m:t>,</m:t>
                      </m:r>
                      <m:r>
                        <a:rPr lang="ru-RU" b="0" i="0" smtClean="0">
                          <a:latin typeface="Cambria Math" panose="02040503050406030204" pitchFamily="18" charset="0"/>
                        </a:rPr>
                        <m:t>  </m:t>
                      </m:r>
                      <m:r>
                        <m:rPr>
                          <m:sty m:val="p"/>
                        </m:rPr>
                        <a:rPr lang="en-US" b="0" i="0" smtClean="0">
                          <a:latin typeface="Cambria Math" panose="02040503050406030204" pitchFamily="18" charset="0"/>
                        </a:rPr>
                        <m:t>Support</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x</m:t>
                          </m:r>
                          <m:r>
                            <a:rPr lang="en-US" i="1">
                              <a:latin typeface="Cambria Math" panose="02040503050406030204" pitchFamily="18" charset="0"/>
                            </a:rPr>
                            <m:t>→</m:t>
                          </m:r>
                          <m:r>
                            <a:rPr lang="en-US" b="0" i="1" smtClean="0">
                              <a:latin typeface="Cambria Math" panose="02040503050406030204" pitchFamily="18" charset="0"/>
                            </a:rPr>
                            <m:t>𝑦</m:t>
                          </m:r>
                        </m:e>
                      </m:d>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num>
                        <m:den>
                          <m:r>
                            <a:rPr lang="en-US" b="0" i="1" smtClean="0">
                              <a:latin typeface="Cambria Math" panose="02040503050406030204" pitchFamily="18" charset="0"/>
                            </a:rPr>
                            <m:t>𝑁</m:t>
                          </m:r>
                        </m:den>
                      </m:f>
                    </m:oMath>
                  </m:oMathPara>
                </a14:m>
                <a:endParaRPr lang="ru-RU" b="1" i="0" dirty="0">
                  <a:effectLst/>
                  <a:latin typeface="YS Text"/>
                </a:endParaRPr>
              </a:p>
              <a:p>
                <a:pPr marL="0" indent="0">
                  <a:buNone/>
                </a:pPr>
                <a:endParaRPr lang="ru-RU" b="1" i="0" dirty="0">
                  <a:effectLst/>
                  <a:latin typeface="YS Text"/>
                </a:endParaRPr>
              </a:p>
              <a:p>
                <a14:m>
                  <m:oMath xmlns:m="http://schemas.openxmlformats.org/officeDocument/2006/math">
                    <m:r>
                      <a:rPr lang="en-US" i="1" dirty="0" smtClean="0">
                        <a:effectLst/>
                        <a:latin typeface="Cambria Math" panose="02040503050406030204" pitchFamily="18" charset="0"/>
                      </a:rPr>
                      <m:t>𝑆𝑢𝑝𝑝𝑜𝑟𝑡</m:t>
                    </m:r>
                    <m:r>
                      <a:rPr lang="en-US" i="1" dirty="0">
                        <a:effectLst/>
                        <a:latin typeface="Cambria Math" panose="02040503050406030204" pitchFamily="18" charset="0"/>
                      </a:rPr>
                      <m:t> </m:t>
                    </m:r>
                    <m:r>
                      <a:rPr lang="en-US" i="1" dirty="0" smtClean="0">
                        <a:effectLst/>
                        <a:latin typeface="Cambria Math" panose="02040503050406030204" pitchFamily="18" charset="0"/>
                      </a:rPr>
                      <m:t>&gt; 0,8</m:t>
                    </m:r>
                    <m:r>
                      <a:rPr lang="en-US" b="0" i="1" dirty="0" smtClean="0">
                        <a:effectLst/>
                        <a:latin typeface="Cambria Math" panose="02040503050406030204" pitchFamily="18" charset="0"/>
                      </a:rPr>
                      <m:t>∗</m:t>
                    </m:r>
                    <m:func>
                      <m:funcPr>
                        <m:ctrlPr>
                          <a:rPr lang="en-US" b="0" i="1" dirty="0" smtClean="0">
                            <a:effectLst/>
                            <a:latin typeface="Cambria Math" panose="02040503050406030204" pitchFamily="18" charset="0"/>
                          </a:rPr>
                        </m:ctrlPr>
                      </m:funcPr>
                      <m:fName>
                        <m:r>
                          <m:rPr>
                            <m:sty m:val="p"/>
                          </m:rPr>
                          <a:rPr lang="en-US" b="0" i="0" dirty="0" smtClean="0">
                            <a:effectLst/>
                            <a:latin typeface="Cambria Math" panose="02040503050406030204" pitchFamily="18" charset="0"/>
                          </a:rPr>
                          <m:t>max</m:t>
                        </m:r>
                      </m:fName>
                      <m:e>
                        <m:d>
                          <m:dPr>
                            <m:ctrlPr>
                              <a:rPr lang="en-US" b="0" i="1" dirty="0" smtClean="0">
                                <a:effectLst/>
                                <a:latin typeface="Cambria Math" panose="02040503050406030204" pitchFamily="18" charset="0"/>
                              </a:rPr>
                            </m:ctrlPr>
                          </m:dPr>
                          <m:e>
                            <m:r>
                              <a:rPr lang="en-US" b="0" i="1" dirty="0" smtClean="0">
                                <a:effectLst/>
                                <a:latin typeface="Cambria Math" panose="02040503050406030204" pitchFamily="18" charset="0"/>
                              </a:rPr>
                              <m:t>𝑆𝑢𝑝𝑝𝑜𝑟𝑡</m:t>
                            </m:r>
                          </m:e>
                        </m:d>
                      </m:e>
                    </m:func>
                  </m:oMath>
                </a14:m>
                <a:r>
                  <a:rPr lang="en-US" dirty="0"/>
                  <a:t>: </a:t>
                </a:r>
                <a:r>
                  <a:rPr lang="ru-RU" dirty="0"/>
                  <a:t>условие и следствие часто</a:t>
                </a:r>
                <a:r>
                  <a:rPr lang="en-US" dirty="0"/>
                  <a:t> </a:t>
                </a:r>
                <a:r>
                  <a:rPr lang="ru-RU" dirty="0"/>
                  <a:t>встречаются вместе</a:t>
                </a:r>
                <a:endParaRPr lang="en-US" dirty="0"/>
              </a:p>
              <a:p>
                <a14:m>
                  <m:oMath xmlns:m="http://schemas.openxmlformats.org/officeDocument/2006/math">
                    <m:r>
                      <a:rPr lang="en-US" b="0" i="1" smtClean="0">
                        <a:latin typeface="Cambria Math" panose="02040503050406030204" pitchFamily="18" charset="0"/>
                      </a:rPr>
                      <m:t>0,5</m:t>
                    </m:r>
                    <m:r>
                      <a:rPr lang="en-US" i="1" dirty="0">
                        <a:latin typeface="Cambria Math" panose="02040503050406030204" pitchFamily="18" charset="0"/>
                      </a:rPr>
                      <m:t>∗</m:t>
                    </m:r>
                    <m:func>
                      <m:funcPr>
                        <m:ctrlPr>
                          <a:rPr lang="en-US" i="1" dirty="0">
                            <a:latin typeface="Cambria Math" panose="02040503050406030204" pitchFamily="18" charset="0"/>
                          </a:rPr>
                        </m:ctrlPr>
                      </m:funcPr>
                      <m:fName>
                        <m:r>
                          <m:rPr>
                            <m:sty m:val="p"/>
                          </m:rPr>
                          <a:rPr lang="en-US" dirty="0">
                            <a:latin typeface="Cambria Math" panose="02040503050406030204" pitchFamily="18" charset="0"/>
                          </a:rPr>
                          <m:t>max</m:t>
                        </m:r>
                      </m:fName>
                      <m:e>
                        <m:d>
                          <m:dPr>
                            <m:ctrlPr>
                              <a:rPr lang="en-US" i="1" dirty="0">
                                <a:latin typeface="Cambria Math" panose="02040503050406030204" pitchFamily="18" charset="0"/>
                              </a:rPr>
                            </m:ctrlPr>
                          </m:dPr>
                          <m:e>
                            <m:r>
                              <a:rPr lang="en-US" i="1" dirty="0">
                                <a:latin typeface="Cambria Math" panose="02040503050406030204" pitchFamily="18" charset="0"/>
                              </a:rPr>
                              <m:t>𝑆𝑢𝑝𝑝𝑜𝑟𝑡</m:t>
                            </m:r>
                          </m:e>
                        </m:d>
                      </m:e>
                    </m:func>
                    <m:r>
                      <a:rPr lang="en-US" b="0" i="1" smtClean="0">
                        <a:latin typeface="Cambria Math" panose="02040503050406030204" pitchFamily="18" charset="0"/>
                      </a:rPr>
                      <m:t>&lt;</m:t>
                    </m:r>
                    <m:r>
                      <a:rPr lang="en-US" b="0" i="1" smtClean="0">
                        <a:latin typeface="Cambria Math" panose="02040503050406030204" pitchFamily="18" charset="0"/>
                      </a:rPr>
                      <m:t>𝑆𝑢𝑝𝑝𝑜𝑟𝑡</m:t>
                    </m:r>
                    <m:r>
                      <a:rPr lang="en-US" b="0" i="1" smtClean="0">
                        <a:latin typeface="Cambria Math" panose="02040503050406030204" pitchFamily="18" charset="0"/>
                      </a:rPr>
                      <m:t>≤0,8∗</m:t>
                    </m:r>
                    <m:func>
                      <m:funcPr>
                        <m:ctrlPr>
                          <a:rPr lang="en-US" i="1" dirty="0">
                            <a:latin typeface="Cambria Math" panose="02040503050406030204" pitchFamily="18" charset="0"/>
                          </a:rPr>
                        </m:ctrlPr>
                      </m:funcPr>
                      <m:fName>
                        <m:r>
                          <m:rPr>
                            <m:sty m:val="p"/>
                          </m:rPr>
                          <a:rPr lang="en-US" dirty="0">
                            <a:latin typeface="Cambria Math" panose="02040503050406030204" pitchFamily="18" charset="0"/>
                          </a:rPr>
                          <m:t>max</m:t>
                        </m:r>
                      </m:fName>
                      <m:e>
                        <m:d>
                          <m:dPr>
                            <m:ctrlPr>
                              <a:rPr lang="en-US" i="1" dirty="0">
                                <a:latin typeface="Cambria Math" panose="02040503050406030204" pitchFamily="18" charset="0"/>
                              </a:rPr>
                            </m:ctrlPr>
                          </m:dPr>
                          <m:e>
                            <m:r>
                              <a:rPr lang="en-US" i="1" dirty="0">
                                <a:latin typeface="Cambria Math" panose="02040503050406030204" pitchFamily="18" charset="0"/>
                              </a:rPr>
                              <m:t>𝑆𝑢𝑝𝑝𝑜𝑟𝑡</m:t>
                            </m:r>
                          </m:e>
                        </m:d>
                      </m:e>
                    </m:func>
                  </m:oMath>
                </a14:m>
                <a:r>
                  <a:rPr lang="en-US" dirty="0"/>
                  <a:t>: </a:t>
                </a:r>
                <a:r>
                  <a:rPr lang="ru-RU" dirty="0"/>
                  <a:t>правило следует использовать с </a:t>
                </a:r>
                <a:r>
                  <a:rPr lang="en-US" dirty="0"/>
                  <a:t>	</a:t>
                </a:r>
                <a:r>
                  <a:rPr lang="ru-RU" dirty="0"/>
                  <a:t>осторожностью</a:t>
                </a:r>
                <a:endParaRPr lang="en-US" dirty="0"/>
              </a:p>
              <a:p>
                <a14:m>
                  <m:oMath xmlns:m="http://schemas.openxmlformats.org/officeDocument/2006/math">
                    <m:r>
                      <a:rPr lang="en-US" b="0" i="1" smtClean="0">
                        <a:latin typeface="Cambria Math" panose="02040503050406030204" pitchFamily="18" charset="0"/>
                      </a:rPr>
                      <m:t>𝑆𝑢𝑝𝑝𝑜𝑟𝑡</m:t>
                    </m:r>
                    <m:r>
                      <a:rPr lang="en-US" b="0" i="1" smtClean="0">
                        <a:latin typeface="Cambria Math" panose="02040503050406030204" pitchFamily="18" charset="0"/>
                      </a:rPr>
                      <m:t>≤0,5∗</m:t>
                    </m:r>
                    <m:func>
                      <m:funcPr>
                        <m:ctrlPr>
                          <a:rPr lang="en-US" i="1" dirty="0">
                            <a:latin typeface="Cambria Math" panose="02040503050406030204" pitchFamily="18" charset="0"/>
                          </a:rPr>
                        </m:ctrlPr>
                      </m:funcPr>
                      <m:fName>
                        <m:r>
                          <m:rPr>
                            <m:sty m:val="p"/>
                          </m:rPr>
                          <a:rPr lang="en-US" dirty="0">
                            <a:latin typeface="Cambria Math" panose="02040503050406030204" pitchFamily="18" charset="0"/>
                          </a:rPr>
                          <m:t>max</m:t>
                        </m:r>
                      </m:fName>
                      <m:e>
                        <m:d>
                          <m:dPr>
                            <m:ctrlPr>
                              <a:rPr lang="en-US" i="1" dirty="0">
                                <a:latin typeface="Cambria Math" panose="02040503050406030204" pitchFamily="18" charset="0"/>
                              </a:rPr>
                            </m:ctrlPr>
                          </m:dPr>
                          <m:e>
                            <m:r>
                              <a:rPr lang="en-US" i="1" dirty="0">
                                <a:latin typeface="Cambria Math" panose="02040503050406030204" pitchFamily="18" charset="0"/>
                              </a:rPr>
                              <m:t>𝑆𝑢𝑝𝑝𝑜𝑟𝑡</m:t>
                            </m:r>
                          </m:e>
                        </m:d>
                      </m:e>
                    </m:func>
                    <m:r>
                      <a:rPr lang="en-US" b="0" i="1" smtClean="0">
                        <a:latin typeface="Cambria Math" panose="02040503050406030204" pitchFamily="18" charset="0"/>
                      </a:rPr>
                      <m:t>:</m:t>
                    </m:r>
                  </m:oMath>
                </a14:m>
                <a:r>
                  <a:rPr lang="en-US" dirty="0"/>
                  <a:t> </a:t>
                </a:r>
                <a:r>
                  <a:rPr lang="ru-RU" dirty="0"/>
                  <a:t>условие и следствие редко встречаются вместе </a:t>
                </a:r>
                <a:r>
                  <a:rPr lang="en-US" dirty="0"/>
                  <a:t>	</a:t>
                </a:r>
              </a:p>
            </p:txBody>
          </p:sp>
        </mc:Choice>
        <mc:Fallback>
          <p:sp>
            <p:nvSpPr>
              <p:cNvPr id="3" name="Объект 2">
                <a:extLst>
                  <a:ext uri="{FF2B5EF4-FFF2-40B4-BE49-F238E27FC236}">
                    <a16:creationId xmlns:a16="http://schemas.microsoft.com/office/drawing/2014/main" id="{B1657344-BA3C-02E7-A2D1-8E28A0D91B1B}"/>
                  </a:ext>
                </a:extLst>
              </p:cNvPr>
              <p:cNvSpPr>
                <a:spLocks noGrp="1" noRot="1" noChangeAspect="1" noMove="1" noResize="1" noEditPoints="1" noAdjustHandles="1" noChangeArrowheads="1" noChangeShapeType="1" noTextEdit="1"/>
              </p:cNvSpPr>
              <p:nvPr>
                <p:ph idx="1"/>
              </p:nvPr>
            </p:nvSpPr>
            <p:spPr>
              <a:blipFill>
                <a:blip r:embed="rId2"/>
                <a:stretch>
                  <a:fillRect l="-927" t="-1392" r="-541"/>
                </a:stretch>
              </a:blipFill>
            </p:spPr>
            <p:txBody>
              <a:bodyPr/>
              <a:lstStyle/>
              <a:p>
                <a:r>
                  <a:rPr lang="ru-RU">
                    <a:noFill/>
                  </a:rPr>
                  <a:t> </a:t>
                </a:r>
              </a:p>
            </p:txBody>
          </p:sp>
        </mc:Fallback>
      </mc:AlternateContent>
      <p:sp>
        <p:nvSpPr>
          <p:cNvPr id="4" name="Нижний колонтитул 3">
            <a:extLst>
              <a:ext uri="{FF2B5EF4-FFF2-40B4-BE49-F238E27FC236}">
                <a16:creationId xmlns:a16="http://schemas.microsoft.com/office/drawing/2014/main" id="{4E8E4623-69CF-0079-BFA5-5EC547ACC65E}"/>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008D3D4-B323-F833-A146-8028164D0826}"/>
              </a:ext>
            </a:extLst>
          </p:cNvPr>
          <p:cNvSpPr>
            <a:spLocks noGrp="1"/>
          </p:cNvSpPr>
          <p:nvPr>
            <p:ph type="sldNum" sz="quarter" idx="12"/>
          </p:nvPr>
        </p:nvSpPr>
        <p:spPr/>
        <p:txBody>
          <a:bodyPr/>
          <a:lstStyle/>
          <a:p>
            <a:fld id="{81C5FB71-5E9C-41B5-9BB8-3F1EBEAEB16A}" type="slidenum">
              <a:rPr lang="ru-RU" smtClean="0"/>
              <a:t>13</a:t>
            </a:fld>
            <a:endParaRPr lang="ru-RU"/>
          </a:p>
        </p:txBody>
      </p:sp>
    </p:spTree>
    <p:extLst>
      <p:ext uri="{BB962C8B-B14F-4D97-AF65-F5344CB8AC3E}">
        <p14:creationId xmlns:p14="http://schemas.microsoft.com/office/powerpoint/2010/main" val="2365385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C61B22-D3EB-49C9-9457-08F32750E27A}"/>
              </a:ext>
            </a:extLst>
          </p:cNvPr>
          <p:cNvSpPr>
            <a:spLocks noGrp="1"/>
          </p:cNvSpPr>
          <p:nvPr>
            <p:ph type="title"/>
          </p:nvPr>
        </p:nvSpPr>
        <p:spPr/>
        <p:txBody>
          <a:bodyPr/>
          <a:lstStyle/>
          <a:p>
            <a:pPr algn="ctr"/>
            <a:r>
              <a:rPr lang="ru-RU" dirty="0"/>
              <a:t>Поддержка</a:t>
            </a:r>
          </a:p>
        </p:txBody>
      </p:sp>
      <p:sp>
        <p:nvSpPr>
          <p:cNvPr id="3" name="Объект 2">
            <a:extLst>
              <a:ext uri="{FF2B5EF4-FFF2-40B4-BE49-F238E27FC236}">
                <a16:creationId xmlns:a16="http://schemas.microsoft.com/office/drawing/2014/main" id="{7FB867EC-9D01-4925-9CCC-72CBF5E05301}"/>
              </a:ext>
            </a:extLst>
          </p:cNvPr>
          <p:cNvSpPr>
            <a:spLocks noGrp="1"/>
          </p:cNvSpPr>
          <p:nvPr>
            <p:ph idx="1"/>
          </p:nvPr>
        </p:nvSpPr>
        <p:spPr>
          <a:xfrm>
            <a:off x="628650" y="1170848"/>
            <a:ext cx="7886700" cy="5185504"/>
          </a:xfrm>
        </p:spPr>
        <p:txBody>
          <a:bodyPr>
            <a:noAutofit/>
          </a:bodyPr>
          <a:lstStyle/>
          <a:p>
            <a:pPr marL="0" indent="0" algn="just">
              <a:buNone/>
            </a:pPr>
            <a:r>
              <a:rPr lang="ru-RU" sz="2000" dirty="0"/>
              <a:t>Рассмотрим  некоторый набор товаров (</a:t>
            </a:r>
            <a:r>
              <a:rPr lang="ru-RU" sz="2000" dirty="0" err="1"/>
              <a:t>Itemset</a:t>
            </a:r>
            <a:r>
              <a:rPr lang="ru-RU" sz="2000" dirty="0"/>
              <a:t>) из общего набора товаров, включающий  в себя, например, {Хлеб, молоко, печенье}. Выразим этот набор с помощью переменных: </a:t>
            </a:r>
            <a:r>
              <a:rPr lang="ru-RU" sz="2000" dirty="0" err="1"/>
              <a:t>abc</a:t>
            </a:r>
            <a:r>
              <a:rPr lang="ru-RU" sz="2000" dirty="0"/>
              <a:t>={</a:t>
            </a:r>
            <a:r>
              <a:rPr lang="ru-RU" sz="2000" dirty="0" err="1"/>
              <a:t>a,b,c</a:t>
            </a:r>
            <a:r>
              <a:rPr lang="ru-RU" sz="2000" dirty="0"/>
              <a:t>}</a:t>
            </a:r>
          </a:p>
          <a:p>
            <a:pPr marL="0" indent="0" algn="just">
              <a:buNone/>
            </a:pPr>
            <a:r>
              <a:rPr lang="ru-RU" sz="2000" dirty="0"/>
              <a:t>Этот набор товаров встречается в нашей базе данных три раза (где </a:t>
            </a:r>
            <a:r>
              <a:rPr lang="en-US" sz="2000" i="1" dirty="0">
                <a:effectLst/>
              </a:rPr>
              <a:t>TID</a:t>
            </a:r>
            <a:r>
              <a:rPr lang="ru-RU" sz="2000" i="1" dirty="0">
                <a:effectLst/>
              </a:rPr>
              <a:t> = </a:t>
            </a:r>
            <a:r>
              <a:rPr lang="ru-RU" sz="2000" dirty="0"/>
              <a:t>100, 300, 500), т.е. поддержка этого набора товаров равна 3:</a:t>
            </a:r>
          </a:p>
          <a:p>
            <a:pPr marL="0" indent="0" algn="just">
              <a:buNone/>
            </a:pPr>
            <a:r>
              <a:rPr lang="ru-RU" sz="2000" dirty="0"/>
              <a:t>SUP(</a:t>
            </a:r>
            <a:r>
              <a:rPr lang="ru-RU" sz="2000" dirty="0" err="1"/>
              <a:t>abc</a:t>
            </a:r>
            <a:r>
              <a:rPr lang="ru-RU" sz="2000" dirty="0"/>
              <a:t>)=3.</a:t>
            </a:r>
          </a:p>
          <a:p>
            <a:pPr marL="0" indent="0" algn="just">
              <a:buNone/>
            </a:pPr>
            <a:r>
              <a:rPr lang="ru-RU" sz="2000" dirty="0"/>
              <a:t>При минимальном уровне поддержки, равной трем, набор товаров </a:t>
            </a:r>
            <a:r>
              <a:rPr lang="ru-RU" sz="2000" dirty="0" err="1"/>
              <a:t>abc</a:t>
            </a:r>
            <a:r>
              <a:rPr lang="ru-RU" sz="2000" dirty="0"/>
              <a:t> является часто встречающимся шаблоном.</a:t>
            </a:r>
          </a:p>
          <a:p>
            <a:pPr marL="0" indent="0" algn="just">
              <a:buNone/>
            </a:pPr>
            <a:r>
              <a:rPr lang="ru-RU" sz="2000" dirty="0" err="1"/>
              <a:t>min_sup</a:t>
            </a:r>
            <a:r>
              <a:rPr lang="ru-RU" sz="2000" dirty="0"/>
              <a:t>=3, {Хлеб, молоко, печенье} - часто встречающийся шаблон.</a:t>
            </a:r>
          </a:p>
          <a:p>
            <a:pPr marL="0" indent="0" algn="just">
              <a:buNone/>
            </a:pPr>
            <a:r>
              <a:rPr lang="ru-RU" sz="2000" b="1" dirty="0"/>
              <a:t>Поддержкой </a:t>
            </a:r>
            <a:r>
              <a:rPr lang="ru-RU" sz="2000" dirty="0"/>
              <a:t>называют количество или процент транзакций, содержащих определенный набор данных.</a:t>
            </a:r>
          </a:p>
          <a:p>
            <a:pPr marL="0" indent="0" algn="just">
              <a:buNone/>
            </a:pPr>
            <a:r>
              <a:rPr lang="ru-RU" sz="2000" dirty="0"/>
              <a:t>Для данного набора товаров поддержка, выраженная в процентном отношении, равна 50%.</a:t>
            </a:r>
          </a:p>
          <a:p>
            <a:pPr marL="0" indent="0" algn="just">
              <a:buNone/>
            </a:pPr>
            <a:r>
              <a:rPr lang="ru-RU" sz="2000" b="1" dirty="0"/>
              <a:t>SUP(</a:t>
            </a:r>
            <a:r>
              <a:rPr lang="ru-RU" sz="2000" b="1" dirty="0" err="1"/>
              <a:t>abc</a:t>
            </a:r>
            <a:r>
              <a:rPr lang="ru-RU" sz="2000" b="1" dirty="0"/>
              <a:t>)=(3/6)*100%=50%</a:t>
            </a:r>
            <a:endParaRPr lang="ru-RU" sz="2000" dirty="0"/>
          </a:p>
          <a:p>
            <a:pPr marL="0" indent="0">
              <a:buNone/>
            </a:pPr>
            <a:endParaRPr lang="ru-RU" sz="2000" dirty="0"/>
          </a:p>
        </p:txBody>
      </p:sp>
      <p:sp>
        <p:nvSpPr>
          <p:cNvPr id="4" name="Нижний колонтитул 3">
            <a:extLst>
              <a:ext uri="{FF2B5EF4-FFF2-40B4-BE49-F238E27FC236}">
                <a16:creationId xmlns:a16="http://schemas.microsoft.com/office/drawing/2014/main" id="{90C03EF5-3F0B-404D-9AA7-30FFD2207845}"/>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BFAC4EFD-85E5-4220-8622-FC73CB2B67F3}"/>
              </a:ext>
            </a:extLst>
          </p:cNvPr>
          <p:cNvSpPr>
            <a:spLocks noGrp="1"/>
          </p:cNvSpPr>
          <p:nvPr>
            <p:ph type="sldNum" sz="quarter" idx="12"/>
          </p:nvPr>
        </p:nvSpPr>
        <p:spPr/>
        <p:txBody>
          <a:bodyPr/>
          <a:lstStyle/>
          <a:p>
            <a:fld id="{81C5FB71-5E9C-41B5-9BB8-3F1EBEAEB16A}" type="slidenum">
              <a:rPr lang="ru-RU" smtClean="0"/>
              <a:t>14</a:t>
            </a:fld>
            <a:endParaRPr lang="ru-RU"/>
          </a:p>
        </p:txBody>
      </p:sp>
    </p:spTree>
    <p:extLst>
      <p:ext uri="{BB962C8B-B14F-4D97-AF65-F5344CB8AC3E}">
        <p14:creationId xmlns:p14="http://schemas.microsoft.com/office/powerpoint/2010/main" val="825810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6BA8CD-2F22-4B45-A5A4-89D56C6208E1}"/>
              </a:ext>
            </a:extLst>
          </p:cNvPr>
          <p:cNvSpPr>
            <a:spLocks noGrp="1"/>
          </p:cNvSpPr>
          <p:nvPr>
            <p:ph type="title"/>
          </p:nvPr>
        </p:nvSpPr>
        <p:spPr/>
        <p:txBody>
          <a:bodyPr/>
          <a:lstStyle/>
          <a:p>
            <a:pPr algn="ctr"/>
            <a:r>
              <a:rPr lang="ru-RU" dirty="0"/>
              <a:t>Поддержка правила</a:t>
            </a:r>
          </a:p>
        </p:txBody>
      </p:sp>
      <p:sp>
        <p:nvSpPr>
          <p:cNvPr id="3" name="Объект 2">
            <a:extLst>
              <a:ext uri="{FF2B5EF4-FFF2-40B4-BE49-F238E27FC236}">
                <a16:creationId xmlns:a16="http://schemas.microsoft.com/office/drawing/2014/main" id="{CA057165-3CAE-4766-AC98-ACF770487F61}"/>
              </a:ext>
            </a:extLst>
          </p:cNvPr>
          <p:cNvSpPr>
            <a:spLocks noGrp="1"/>
          </p:cNvSpPr>
          <p:nvPr>
            <p:ph idx="1"/>
          </p:nvPr>
        </p:nvSpPr>
        <p:spPr>
          <a:xfrm>
            <a:off x="457200" y="990600"/>
            <a:ext cx="8229600" cy="5638800"/>
          </a:xfrm>
        </p:spPr>
        <p:txBody>
          <a:bodyPr>
            <a:normAutofit/>
          </a:bodyPr>
          <a:lstStyle/>
          <a:p>
            <a:pPr marL="0" indent="0" algn="l">
              <a:buNone/>
            </a:pPr>
            <a:r>
              <a:rPr lang="ru-RU" b="0" i="0" dirty="0">
                <a:solidFill>
                  <a:srgbClr val="000000"/>
                </a:solidFill>
                <a:effectLst/>
                <a:latin typeface="lucida grande"/>
              </a:rPr>
              <a:t>Рассмотрим правило "из покупки молока следует покупка печенья" для </a:t>
            </a:r>
            <a:r>
              <a:rPr lang="ru-RU" b="0" i="1" dirty="0">
                <a:solidFill>
                  <a:srgbClr val="000000"/>
                </a:solidFill>
                <a:effectLst/>
                <a:latin typeface="lucida grande"/>
              </a:rPr>
              <a:t>базы данных</a:t>
            </a:r>
            <a:endParaRPr lang="ru-RU" dirty="0"/>
          </a:p>
          <a:p>
            <a:pPr marL="0" indent="0">
              <a:buNone/>
            </a:pPr>
            <a:endParaRPr lang="ru-RU" dirty="0"/>
          </a:p>
          <a:p>
            <a:pPr marL="0" indent="0">
              <a:buNone/>
            </a:pPr>
            <a:endParaRPr lang="ru-RU" dirty="0"/>
          </a:p>
          <a:p>
            <a:pPr marL="0" indent="0">
              <a:buNone/>
            </a:pPr>
            <a:endParaRPr lang="ru-RU" dirty="0"/>
          </a:p>
          <a:p>
            <a:pPr marL="0" indent="0">
              <a:buNone/>
            </a:pPr>
            <a:endParaRPr lang="ru-RU" dirty="0"/>
          </a:p>
          <a:p>
            <a:pPr marL="0" indent="0">
              <a:buNone/>
            </a:pPr>
            <a:endParaRPr lang="ru-RU" dirty="0"/>
          </a:p>
          <a:p>
            <a:pPr marL="0" indent="0">
              <a:buNone/>
            </a:pPr>
            <a:endParaRPr lang="ru-RU" dirty="0"/>
          </a:p>
          <a:p>
            <a:pPr marL="0" indent="0" algn="just">
              <a:buNone/>
            </a:pPr>
            <a:r>
              <a:rPr lang="ru-RU" b="0" i="0" dirty="0">
                <a:solidFill>
                  <a:srgbClr val="000000"/>
                </a:solidFill>
                <a:effectLst/>
                <a:latin typeface="lucida grande"/>
              </a:rPr>
              <a:t>Помимо </a:t>
            </a:r>
            <a:r>
              <a:rPr lang="ru-RU" b="0" i="1" dirty="0">
                <a:solidFill>
                  <a:srgbClr val="000000"/>
                </a:solidFill>
                <a:effectLst/>
                <a:latin typeface="lucida grande"/>
              </a:rPr>
              <a:t>поддержки</a:t>
            </a:r>
            <a:r>
              <a:rPr lang="ru-RU" b="0" i="0" dirty="0">
                <a:solidFill>
                  <a:srgbClr val="000000"/>
                </a:solidFill>
                <a:effectLst/>
                <a:latin typeface="lucida grande"/>
              </a:rPr>
              <a:t> набора существует понятие </a:t>
            </a:r>
            <a:r>
              <a:rPr lang="ru-RU" b="0" i="1" dirty="0">
                <a:solidFill>
                  <a:srgbClr val="000000"/>
                </a:solidFill>
                <a:effectLst/>
                <a:latin typeface="lucida grande"/>
              </a:rPr>
              <a:t>поддержки </a:t>
            </a:r>
            <a:r>
              <a:rPr lang="ru-RU" b="0" i="0" dirty="0">
                <a:solidFill>
                  <a:srgbClr val="000000"/>
                </a:solidFill>
                <a:effectLst/>
                <a:latin typeface="lucida grande"/>
              </a:rPr>
              <a:t>правила.</a:t>
            </a:r>
          </a:p>
          <a:p>
            <a:pPr marL="0" indent="0" algn="just">
              <a:buNone/>
            </a:pPr>
            <a:r>
              <a:rPr lang="ru-RU" b="0" i="0" dirty="0">
                <a:solidFill>
                  <a:srgbClr val="000000"/>
                </a:solidFill>
                <a:effectLst/>
                <a:latin typeface="lucida grande"/>
              </a:rPr>
              <a:t>Правило имеет </a:t>
            </a:r>
            <a:r>
              <a:rPr lang="ru-RU" b="0" i="1" dirty="0">
                <a:solidFill>
                  <a:srgbClr val="000000"/>
                </a:solidFill>
                <a:effectLst/>
                <a:latin typeface="lucida grande"/>
              </a:rPr>
              <a:t>поддержку</a:t>
            </a:r>
            <a:r>
              <a:rPr lang="ru-RU" b="0" i="0" dirty="0">
                <a:solidFill>
                  <a:srgbClr val="000000"/>
                </a:solidFill>
                <a:effectLst/>
                <a:latin typeface="lucida grande"/>
              </a:rPr>
              <a:t> s, если s% </a:t>
            </a:r>
            <a:r>
              <a:rPr lang="ru-RU" b="0" i="1" dirty="0">
                <a:solidFill>
                  <a:srgbClr val="000000"/>
                </a:solidFill>
                <a:effectLst/>
                <a:latin typeface="lucida grande"/>
              </a:rPr>
              <a:t>транзакций</a:t>
            </a:r>
            <a:r>
              <a:rPr lang="ru-RU" b="0" i="0" dirty="0">
                <a:solidFill>
                  <a:srgbClr val="000000"/>
                </a:solidFill>
                <a:effectLst/>
                <a:latin typeface="lucida grande"/>
              </a:rPr>
              <a:t> из всего набора содержат одновременно наборы элементов A и B или, другими словами, содержат оба товара.</a:t>
            </a:r>
          </a:p>
          <a:p>
            <a:pPr marL="0" indent="0" algn="just">
              <a:buNone/>
            </a:pPr>
            <a:r>
              <a:rPr lang="ru-RU" b="0" i="0" dirty="0">
                <a:solidFill>
                  <a:srgbClr val="000000"/>
                </a:solidFill>
                <a:effectLst/>
                <a:latin typeface="lucida grande"/>
              </a:rPr>
              <a:t>Молоко - это </a:t>
            </a:r>
            <a:r>
              <a:rPr lang="ru-RU" b="0" i="1" dirty="0">
                <a:solidFill>
                  <a:srgbClr val="000000"/>
                </a:solidFill>
                <a:effectLst/>
                <a:latin typeface="lucida grande"/>
              </a:rPr>
              <a:t>товар</a:t>
            </a:r>
            <a:r>
              <a:rPr lang="ru-RU" b="0" i="0" dirty="0">
                <a:solidFill>
                  <a:srgbClr val="000000"/>
                </a:solidFill>
                <a:effectLst/>
                <a:latin typeface="lucida grande"/>
              </a:rPr>
              <a:t> A, печенье - это </a:t>
            </a:r>
            <a:r>
              <a:rPr lang="ru-RU" b="0" i="1" dirty="0">
                <a:solidFill>
                  <a:srgbClr val="000000"/>
                </a:solidFill>
                <a:effectLst/>
                <a:latin typeface="lucida grande"/>
              </a:rPr>
              <a:t>товар</a:t>
            </a:r>
            <a:r>
              <a:rPr lang="ru-RU" b="0" i="0" dirty="0">
                <a:solidFill>
                  <a:srgbClr val="000000"/>
                </a:solidFill>
                <a:effectLst/>
                <a:latin typeface="lucida grande"/>
              </a:rPr>
              <a:t> B. </a:t>
            </a:r>
            <a:r>
              <a:rPr lang="ru-RU" b="0" i="1" dirty="0">
                <a:solidFill>
                  <a:srgbClr val="000000"/>
                </a:solidFill>
                <a:effectLst/>
                <a:latin typeface="lucida grande"/>
              </a:rPr>
              <a:t>Поддержка</a:t>
            </a:r>
            <a:r>
              <a:rPr lang="ru-RU" b="0" i="0" dirty="0">
                <a:solidFill>
                  <a:srgbClr val="000000"/>
                </a:solidFill>
                <a:effectLst/>
                <a:latin typeface="lucida grande"/>
              </a:rPr>
              <a:t> правила "из покупки молока следует покупка печенья" равна 3, или 50%.</a:t>
            </a:r>
          </a:p>
          <a:p>
            <a:pPr marL="0" indent="0">
              <a:buNone/>
            </a:pPr>
            <a:endParaRPr lang="ru-RU" dirty="0"/>
          </a:p>
        </p:txBody>
      </p:sp>
      <p:sp>
        <p:nvSpPr>
          <p:cNvPr id="4" name="Нижний колонтитул 3">
            <a:extLst>
              <a:ext uri="{FF2B5EF4-FFF2-40B4-BE49-F238E27FC236}">
                <a16:creationId xmlns:a16="http://schemas.microsoft.com/office/drawing/2014/main" id="{F2F80F1C-B05B-4664-8989-32D5FB397AD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601E829-FA6B-4ACC-9EBD-79E6045C11D2}"/>
              </a:ext>
            </a:extLst>
          </p:cNvPr>
          <p:cNvSpPr>
            <a:spLocks noGrp="1"/>
          </p:cNvSpPr>
          <p:nvPr>
            <p:ph type="sldNum" sz="quarter" idx="12"/>
          </p:nvPr>
        </p:nvSpPr>
        <p:spPr/>
        <p:txBody>
          <a:bodyPr/>
          <a:lstStyle/>
          <a:p>
            <a:fld id="{81C5FB71-5E9C-41B5-9BB8-3F1EBEAEB16A}" type="slidenum">
              <a:rPr lang="ru-RU" smtClean="0"/>
              <a:t>15</a:t>
            </a:fld>
            <a:endParaRPr lang="ru-RU"/>
          </a:p>
        </p:txBody>
      </p:sp>
      <p:graphicFrame>
        <p:nvGraphicFramePr>
          <p:cNvPr id="7" name="Таблица 6">
            <a:extLst>
              <a:ext uri="{FF2B5EF4-FFF2-40B4-BE49-F238E27FC236}">
                <a16:creationId xmlns:a16="http://schemas.microsoft.com/office/drawing/2014/main" id="{E086A00D-9E2F-4811-81BD-0A23A8BF68CB}"/>
              </a:ext>
            </a:extLst>
          </p:cNvPr>
          <p:cNvGraphicFramePr>
            <a:graphicFrameLocks noGrp="1"/>
          </p:cNvGraphicFramePr>
          <p:nvPr/>
        </p:nvGraphicFramePr>
        <p:xfrm>
          <a:off x="1657350" y="1713183"/>
          <a:ext cx="5829300" cy="2186940"/>
        </p:xfrm>
        <a:graphic>
          <a:graphicData uri="http://schemas.openxmlformats.org/drawingml/2006/table">
            <a:tbl>
              <a:tblPr/>
              <a:tblGrid>
                <a:gridCol w="514350">
                  <a:extLst>
                    <a:ext uri="{9D8B030D-6E8A-4147-A177-3AD203B41FA5}">
                      <a16:colId xmlns:a16="http://schemas.microsoft.com/office/drawing/2014/main" val="1087162749"/>
                    </a:ext>
                  </a:extLst>
                </a:gridCol>
                <a:gridCol w="2076450">
                  <a:extLst>
                    <a:ext uri="{9D8B030D-6E8A-4147-A177-3AD203B41FA5}">
                      <a16:colId xmlns:a16="http://schemas.microsoft.com/office/drawing/2014/main" val="362859387"/>
                    </a:ext>
                  </a:extLst>
                </a:gridCol>
                <a:gridCol w="718102">
                  <a:extLst>
                    <a:ext uri="{9D8B030D-6E8A-4147-A177-3AD203B41FA5}">
                      <a16:colId xmlns:a16="http://schemas.microsoft.com/office/drawing/2014/main" val="3874894535"/>
                    </a:ext>
                  </a:extLst>
                </a:gridCol>
                <a:gridCol w="394252">
                  <a:extLst>
                    <a:ext uri="{9D8B030D-6E8A-4147-A177-3AD203B41FA5}">
                      <a16:colId xmlns:a16="http://schemas.microsoft.com/office/drawing/2014/main" val="3166697534"/>
                    </a:ext>
                  </a:extLst>
                </a:gridCol>
                <a:gridCol w="2126146">
                  <a:extLst>
                    <a:ext uri="{9D8B030D-6E8A-4147-A177-3AD203B41FA5}">
                      <a16:colId xmlns:a16="http://schemas.microsoft.com/office/drawing/2014/main" val="3367515012"/>
                    </a:ext>
                  </a:extLst>
                </a:gridCol>
              </a:tblGrid>
              <a:tr h="0">
                <a:tc>
                  <a:txBody>
                    <a:bodyPr/>
                    <a:lstStyle/>
                    <a:p>
                      <a:pPr algn="ctr"/>
                      <a:r>
                        <a:rPr lang="en-US" sz="1400" i="1" dirty="0">
                          <a:effectLst/>
                        </a:rPr>
                        <a:t>TID</a:t>
                      </a:r>
                      <a:endParaRPr lang="en-US" sz="1400" dirty="0">
                        <a:effectLst/>
                      </a:endParaRPr>
                    </a:p>
                  </a:txBody>
                  <a:tcPr marL="19050" marR="19050" marT="19050" marB="19050" anchor="ctr">
                    <a:lnL>
                      <a:noFill/>
                    </a:lnL>
                    <a:lnR>
                      <a:noFill/>
                    </a:lnR>
                    <a:lnT>
                      <a:noFill/>
                    </a:lnT>
                    <a:lnB>
                      <a:noFill/>
                    </a:lnB>
                    <a:solidFill>
                      <a:srgbClr val="FFFFFF"/>
                    </a:solidFill>
                  </a:tcPr>
                </a:tc>
                <a:tc>
                  <a:txBody>
                    <a:bodyPr/>
                    <a:lstStyle/>
                    <a:p>
                      <a:pPr algn="ctr"/>
                      <a:r>
                        <a:rPr lang="ru-RU" sz="1400" dirty="0">
                          <a:effectLst/>
                        </a:rPr>
                        <a:t>Приобретенные покупки</a:t>
                      </a:r>
                    </a:p>
                  </a:txBody>
                  <a:tcPr marL="19050" marR="19050" marT="19050" marB="19050" anchor="ctr">
                    <a:lnL>
                      <a:noFill/>
                    </a:lnL>
                    <a:lnR>
                      <a:noFill/>
                    </a:lnR>
                    <a:lnT>
                      <a:noFill/>
                    </a:lnT>
                    <a:lnB>
                      <a:noFill/>
                    </a:lnB>
                    <a:solidFill>
                      <a:srgbClr val="FFFFFF"/>
                    </a:solidFill>
                  </a:tcPr>
                </a:tc>
                <a:tc rowSpan="7">
                  <a:txBody>
                    <a:bodyPr/>
                    <a:lstStyle/>
                    <a:p>
                      <a:endParaRPr lang="ru-RU" sz="1400" dirty="0">
                        <a:effectLst/>
                      </a:endParaRPr>
                    </a:p>
                    <a:p>
                      <a:br>
                        <a:rPr lang="ru-RU" sz="1400" dirty="0">
                          <a:effectLst/>
                        </a:rPr>
                      </a:br>
                      <a:endParaRPr lang="ru-RU" sz="1400" dirty="0">
                        <a:effectLst/>
                      </a:endParaRPr>
                    </a:p>
                  </a:txBody>
                  <a:tcPr marL="19050" marR="19050" marT="19050" marB="19050">
                    <a:lnL>
                      <a:noFill/>
                    </a:lnL>
                    <a:lnR>
                      <a:noFill/>
                    </a:lnR>
                    <a:lnT>
                      <a:noFill/>
                    </a:lnT>
                    <a:lnB>
                      <a:noFill/>
                    </a:lnB>
                    <a:solidFill>
                      <a:srgbClr val="FFFFFF"/>
                    </a:solidFill>
                  </a:tcPr>
                </a:tc>
                <a:tc>
                  <a:txBody>
                    <a:bodyPr/>
                    <a:lstStyle/>
                    <a:p>
                      <a:pPr algn="ctr"/>
                      <a:r>
                        <a:rPr lang="en-US" sz="1400" i="1" dirty="0">
                          <a:effectLst/>
                        </a:rPr>
                        <a:t>TID</a:t>
                      </a:r>
                      <a:endParaRPr lang="en-US" sz="1400" dirty="0">
                        <a:effectLst/>
                      </a:endParaRPr>
                    </a:p>
                  </a:txBody>
                  <a:tcPr marL="19050" marR="19050" marT="19050" marB="19050" anchor="ctr">
                    <a:lnL>
                      <a:noFill/>
                    </a:lnL>
                    <a:lnR>
                      <a:noFill/>
                    </a:lnR>
                    <a:lnT>
                      <a:noFill/>
                    </a:lnT>
                    <a:lnB>
                      <a:noFill/>
                    </a:lnB>
                    <a:solidFill>
                      <a:srgbClr val="FFFFFF"/>
                    </a:solidFill>
                  </a:tcPr>
                </a:tc>
                <a:tc>
                  <a:txBody>
                    <a:bodyPr/>
                    <a:lstStyle/>
                    <a:p>
                      <a:pPr algn="ctr"/>
                      <a:r>
                        <a:rPr lang="ru-RU" sz="1400">
                          <a:effectLst/>
                        </a:rPr>
                        <a:t>Приобретенные покупки</a:t>
                      </a:r>
                    </a:p>
                  </a:txBody>
                  <a:tcPr marL="19050" marR="19050" marT="19050" marB="19050" anchor="ctr">
                    <a:lnL>
                      <a:noFill/>
                    </a:lnL>
                    <a:lnR>
                      <a:noFill/>
                    </a:lnR>
                    <a:lnT>
                      <a:noFill/>
                    </a:lnT>
                    <a:lnB>
                      <a:noFill/>
                    </a:lnB>
                    <a:solidFill>
                      <a:srgbClr val="FFFFFF"/>
                    </a:solidFill>
                  </a:tcPr>
                </a:tc>
                <a:extLst>
                  <a:ext uri="{0D108BD9-81ED-4DB2-BD59-A6C34878D82A}">
                    <a16:rowId xmlns:a16="http://schemas.microsoft.com/office/drawing/2014/main" val="1840163972"/>
                  </a:ext>
                </a:extLst>
              </a:tr>
              <a:tr h="0">
                <a:tc>
                  <a:txBody>
                    <a:bodyPr/>
                    <a:lstStyle/>
                    <a:p>
                      <a:r>
                        <a:rPr lang="ru-RU" sz="1400">
                          <a:effectLst/>
                        </a:rPr>
                        <a:t>100</a:t>
                      </a:r>
                    </a:p>
                  </a:txBody>
                  <a:tcPr marL="19050" marR="19050" marT="19050" marB="19050">
                    <a:lnL>
                      <a:noFill/>
                    </a:lnL>
                    <a:lnR>
                      <a:noFill/>
                    </a:lnR>
                    <a:lnT>
                      <a:noFill/>
                    </a:lnT>
                    <a:lnB>
                      <a:noFill/>
                    </a:lnB>
                    <a:solidFill>
                      <a:srgbClr val="FFFFFF"/>
                    </a:solidFill>
                  </a:tcPr>
                </a:tc>
                <a:tc>
                  <a:txBody>
                    <a:bodyPr/>
                    <a:lstStyle/>
                    <a:p>
                      <a:r>
                        <a:rPr lang="ru-RU" sz="1400" dirty="0">
                          <a:effectLst/>
                        </a:rPr>
                        <a:t>Хлеб, молоко, печенье</a:t>
                      </a:r>
                    </a:p>
                  </a:txBody>
                  <a:tcPr marL="19050" marR="19050" marT="19050" marB="19050">
                    <a:lnL>
                      <a:noFill/>
                    </a:lnL>
                    <a:lnR>
                      <a:noFill/>
                    </a:lnR>
                    <a:lnT>
                      <a:noFill/>
                    </a:lnT>
                    <a:lnB>
                      <a:noFill/>
                    </a:lnB>
                    <a:solidFill>
                      <a:srgbClr val="FFFFFF"/>
                    </a:solidFill>
                  </a:tcPr>
                </a:tc>
                <a:tc vMerge="1">
                  <a:txBody>
                    <a:bodyPr/>
                    <a:lstStyle/>
                    <a:p>
                      <a:endParaRPr lang="ru-RU"/>
                    </a:p>
                  </a:txBody>
                  <a:tcPr/>
                </a:tc>
                <a:tc>
                  <a:txBody>
                    <a:bodyPr/>
                    <a:lstStyle/>
                    <a:p>
                      <a:r>
                        <a:rPr lang="ru-RU" sz="1400">
                          <a:effectLst/>
                        </a:rPr>
                        <a:t>100</a:t>
                      </a:r>
                    </a:p>
                  </a:txBody>
                  <a:tcPr marL="19050" marR="19050" marT="19050" marB="19050">
                    <a:lnL>
                      <a:noFill/>
                    </a:lnL>
                    <a:lnR>
                      <a:noFill/>
                    </a:lnR>
                    <a:lnT>
                      <a:noFill/>
                    </a:lnT>
                    <a:lnB>
                      <a:noFill/>
                    </a:lnB>
                    <a:solidFill>
                      <a:srgbClr val="FFFFFF"/>
                    </a:solidFill>
                  </a:tcPr>
                </a:tc>
                <a:tc>
                  <a:txBody>
                    <a:bodyPr/>
                    <a:lstStyle/>
                    <a:p>
                      <a:r>
                        <a:rPr lang="en-US" sz="1400">
                          <a:effectLst/>
                        </a:rPr>
                        <a:t>a, b, c</a:t>
                      </a:r>
                    </a:p>
                  </a:txBody>
                  <a:tcPr marL="19050" marR="19050" marT="19050" marB="19050">
                    <a:lnL>
                      <a:noFill/>
                    </a:lnL>
                    <a:lnR>
                      <a:noFill/>
                    </a:lnR>
                    <a:lnT>
                      <a:noFill/>
                    </a:lnT>
                    <a:lnB>
                      <a:noFill/>
                    </a:lnB>
                    <a:solidFill>
                      <a:srgbClr val="FFFFFF"/>
                    </a:solidFill>
                  </a:tcPr>
                </a:tc>
                <a:extLst>
                  <a:ext uri="{0D108BD9-81ED-4DB2-BD59-A6C34878D82A}">
                    <a16:rowId xmlns:a16="http://schemas.microsoft.com/office/drawing/2014/main" val="1940852151"/>
                  </a:ext>
                </a:extLst>
              </a:tr>
              <a:tr h="0">
                <a:tc>
                  <a:txBody>
                    <a:bodyPr/>
                    <a:lstStyle/>
                    <a:p>
                      <a:r>
                        <a:rPr lang="ru-RU" sz="1400">
                          <a:effectLst/>
                        </a:rPr>
                        <a:t>200</a:t>
                      </a:r>
                    </a:p>
                  </a:txBody>
                  <a:tcPr marL="19050" marR="19050" marT="19050" marB="19050">
                    <a:lnL>
                      <a:noFill/>
                    </a:lnL>
                    <a:lnR>
                      <a:noFill/>
                    </a:lnR>
                    <a:lnT>
                      <a:noFill/>
                    </a:lnT>
                    <a:lnB>
                      <a:noFill/>
                    </a:lnB>
                    <a:solidFill>
                      <a:srgbClr val="FFFFFF"/>
                    </a:solidFill>
                  </a:tcPr>
                </a:tc>
                <a:tc>
                  <a:txBody>
                    <a:bodyPr/>
                    <a:lstStyle/>
                    <a:p>
                      <a:r>
                        <a:rPr lang="ru-RU" sz="1400" dirty="0">
                          <a:effectLst/>
                        </a:rPr>
                        <a:t>Молоко, сметана</a:t>
                      </a:r>
                    </a:p>
                  </a:txBody>
                  <a:tcPr marL="19050" marR="19050" marT="19050" marB="19050">
                    <a:lnL>
                      <a:noFill/>
                    </a:lnL>
                    <a:lnR>
                      <a:noFill/>
                    </a:lnR>
                    <a:lnT>
                      <a:noFill/>
                    </a:lnT>
                    <a:lnB>
                      <a:noFill/>
                    </a:lnB>
                    <a:solidFill>
                      <a:srgbClr val="FFFFFF"/>
                    </a:solidFill>
                  </a:tcPr>
                </a:tc>
                <a:tc vMerge="1">
                  <a:txBody>
                    <a:bodyPr/>
                    <a:lstStyle/>
                    <a:p>
                      <a:endParaRPr lang="ru-RU"/>
                    </a:p>
                  </a:txBody>
                  <a:tcPr/>
                </a:tc>
                <a:tc>
                  <a:txBody>
                    <a:bodyPr/>
                    <a:lstStyle/>
                    <a:p>
                      <a:r>
                        <a:rPr lang="ru-RU" sz="1400" dirty="0">
                          <a:effectLst/>
                        </a:rPr>
                        <a:t>200</a:t>
                      </a:r>
                    </a:p>
                  </a:txBody>
                  <a:tcPr marL="19050" marR="19050" marT="19050" marB="19050">
                    <a:lnL>
                      <a:noFill/>
                    </a:lnL>
                    <a:lnR>
                      <a:noFill/>
                    </a:lnR>
                    <a:lnT>
                      <a:noFill/>
                    </a:lnT>
                    <a:lnB>
                      <a:noFill/>
                    </a:lnB>
                    <a:solidFill>
                      <a:srgbClr val="FFFFFF"/>
                    </a:solidFill>
                  </a:tcPr>
                </a:tc>
                <a:tc>
                  <a:txBody>
                    <a:bodyPr/>
                    <a:lstStyle/>
                    <a:p>
                      <a:pPr>
                        <a:tabLst/>
                      </a:pPr>
                      <a:r>
                        <a:rPr lang="en-US" sz="1400" dirty="0">
                          <a:effectLst/>
                        </a:rPr>
                        <a:t>b, d</a:t>
                      </a:r>
                    </a:p>
                  </a:txBody>
                  <a:tcPr marL="19050" marR="19050" marT="19050" marB="19050">
                    <a:lnL>
                      <a:noFill/>
                    </a:lnL>
                    <a:lnR>
                      <a:noFill/>
                    </a:lnR>
                    <a:lnT>
                      <a:noFill/>
                    </a:lnT>
                    <a:lnB>
                      <a:noFill/>
                    </a:lnB>
                    <a:solidFill>
                      <a:srgbClr val="FFFFFF"/>
                    </a:solidFill>
                  </a:tcPr>
                </a:tc>
                <a:extLst>
                  <a:ext uri="{0D108BD9-81ED-4DB2-BD59-A6C34878D82A}">
                    <a16:rowId xmlns:a16="http://schemas.microsoft.com/office/drawing/2014/main" val="4210266851"/>
                  </a:ext>
                </a:extLst>
              </a:tr>
              <a:tr h="0">
                <a:tc>
                  <a:txBody>
                    <a:bodyPr/>
                    <a:lstStyle/>
                    <a:p>
                      <a:r>
                        <a:rPr lang="ru-RU" sz="1400">
                          <a:effectLst/>
                        </a:rPr>
                        <a:t>300</a:t>
                      </a:r>
                    </a:p>
                  </a:txBody>
                  <a:tcPr marL="19050" marR="19050" marT="19050" marB="19050">
                    <a:lnL>
                      <a:noFill/>
                    </a:lnL>
                    <a:lnR>
                      <a:noFill/>
                    </a:lnR>
                    <a:lnT>
                      <a:noFill/>
                    </a:lnT>
                    <a:lnB>
                      <a:noFill/>
                    </a:lnB>
                    <a:solidFill>
                      <a:srgbClr val="FFFFFF"/>
                    </a:solidFill>
                  </a:tcPr>
                </a:tc>
                <a:tc>
                  <a:txBody>
                    <a:bodyPr/>
                    <a:lstStyle/>
                    <a:p>
                      <a:r>
                        <a:rPr lang="ru-RU" sz="1400" dirty="0">
                          <a:effectLst/>
                        </a:rPr>
                        <a:t>Молоко, хлеб, сметана, печенье</a:t>
                      </a:r>
                    </a:p>
                  </a:txBody>
                  <a:tcPr marL="19050" marR="19050" marT="19050" marB="19050">
                    <a:lnL>
                      <a:noFill/>
                    </a:lnL>
                    <a:lnR>
                      <a:noFill/>
                    </a:lnR>
                    <a:lnT>
                      <a:noFill/>
                    </a:lnT>
                    <a:lnB>
                      <a:noFill/>
                    </a:lnB>
                    <a:solidFill>
                      <a:srgbClr val="FFFFFF"/>
                    </a:solidFill>
                  </a:tcPr>
                </a:tc>
                <a:tc vMerge="1">
                  <a:txBody>
                    <a:bodyPr/>
                    <a:lstStyle/>
                    <a:p>
                      <a:endParaRPr lang="ru-RU"/>
                    </a:p>
                  </a:txBody>
                  <a:tcPr/>
                </a:tc>
                <a:tc>
                  <a:txBody>
                    <a:bodyPr/>
                    <a:lstStyle/>
                    <a:p>
                      <a:r>
                        <a:rPr lang="ru-RU" sz="1400" dirty="0">
                          <a:effectLst/>
                        </a:rPr>
                        <a:t>300</a:t>
                      </a:r>
                    </a:p>
                  </a:txBody>
                  <a:tcPr marL="19050" marR="19050" marT="19050" marB="19050">
                    <a:lnL>
                      <a:noFill/>
                    </a:lnL>
                    <a:lnR>
                      <a:noFill/>
                    </a:lnR>
                    <a:lnT>
                      <a:noFill/>
                    </a:lnT>
                    <a:lnB>
                      <a:noFill/>
                    </a:lnB>
                    <a:solidFill>
                      <a:srgbClr val="FFFFFF"/>
                    </a:solidFill>
                  </a:tcPr>
                </a:tc>
                <a:tc>
                  <a:txBody>
                    <a:bodyPr/>
                    <a:lstStyle/>
                    <a:p>
                      <a:r>
                        <a:rPr lang="en-US" sz="1400">
                          <a:effectLst/>
                        </a:rPr>
                        <a:t>b, a, d, c</a:t>
                      </a:r>
                    </a:p>
                  </a:txBody>
                  <a:tcPr marL="19050" marR="19050" marT="19050" marB="19050">
                    <a:lnL>
                      <a:noFill/>
                    </a:lnL>
                    <a:lnR>
                      <a:noFill/>
                    </a:lnR>
                    <a:lnT>
                      <a:noFill/>
                    </a:lnT>
                    <a:lnB>
                      <a:noFill/>
                    </a:lnB>
                    <a:solidFill>
                      <a:srgbClr val="FFFFFF"/>
                    </a:solidFill>
                  </a:tcPr>
                </a:tc>
                <a:extLst>
                  <a:ext uri="{0D108BD9-81ED-4DB2-BD59-A6C34878D82A}">
                    <a16:rowId xmlns:a16="http://schemas.microsoft.com/office/drawing/2014/main" val="1857978130"/>
                  </a:ext>
                </a:extLst>
              </a:tr>
              <a:tr h="0">
                <a:tc>
                  <a:txBody>
                    <a:bodyPr/>
                    <a:lstStyle/>
                    <a:p>
                      <a:r>
                        <a:rPr lang="ru-RU" sz="1400">
                          <a:effectLst/>
                        </a:rPr>
                        <a:t>400</a:t>
                      </a:r>
                    </a:p>
                  </a:txBody>
                  <a:tcPr marL="19050" marR="19050" marT="19050" marB="19050">
                    <a:lnL>
                      <a:noFill/>
                    </a:lnL>
                    <a:lnR>
                      <a:noFill/>
                    </a:lnR>
                    <a:lnT>
                      <a:noFill/>
                    </a:lnT>
                    <a:lnB>
                      <a:noFill/>
                    </a:lnB>
                    <a:solidFill>
                      <a:srgbClr val="FFFFFF"/>
                    </a:solidFill>
                  </a:tcPr>
                </a:tc>
                <a:tc>
                  <a:txBody>
                    <a:bodyPr/>
                    <a:lstStyle/>
                    <a:p>
                      <a:r>
                        <a:rPr lang="ru-RU" sz="1400">
                          <a:effectLst/>
                        </a:rPr>
                        <a:t>Колбаса, сметана</a:t>
                      </a:r>
                    </a:p>
                  </a:txBody>
                  <a:tcPr marL="19050" marR="19050" marT="19050" marB="19050">
                    <a:lnL>
                      <a:noFill/>
                    </a:lnL>
                    <a:lnR>
                      <a:noFill/>
                    </a:lnR>
                    <a:lnT>
                      <a:noFill/>
                    </a:lnT>
                    <a:lnB>
                      <a:noFill/>
                    </a:lnB>
                    <a:solidFill>
                      <a:srgbClr val="FFFFFF"/>
                    </a:solidFill>
                  </a:tcPr>
                </a:tc>
                <a:tc vMerge="1">
                  <a:txBody>
                    <a:bodyPr/>
                    <a:lstStyle/>
                    <a:p>
                      <a:endParaRPr lang="ru-RU"/>
                    </a:p>
                  </a:txBody>
                  <a:tcPr/>
                </a:tc>
                <a:tc>
                  <a:txBody>
                    <a:bodyPr/>
                    <a:lstStyle/>
                    <a:p>
                      <a:r>
                        <a:rPr lang="ru-RU" sz="1400">
                          <a:effectLst/>
                        </a:rPr>
                        <a:t>400</a:t>
                      </a:r>
                    </a:p>
                  </a:txBody>
                  <a:tcPr marL="19050" marR="19050" marT="19050" marB="19050">
                    <a:lnL>
                      <a:noFill/>
                    </a:lnL>
                    <a:lnR>
                      <a:noFill/>
                    </a:lnR>
                    <a:lnT>
                      <a:noFill/>
                    </a:lnT>
                    <a:lnB>
                      <a:noFill/>
                    </a:lnB>
                    <a:solidFill>
                      <a:srgbClr val="FFFFFF"/>
                    </a:solidFill>
                  </a:tcPr>
                </a:tc>
                <a:tc>
                  <a:txBody>
                    <a:bodyPr/>
                    <a:lstStyle/>
                    <a:p>
                      <a:r>
                        <a:rPr lang="en-US" sz="1400" dirty="0">
                          <a:effectLst/>
                        </a:rPr>
                        <a:t>e, d</a:t>
                      </a:r>
                    </a:p>
                  </a:txBody>
                  <a:tcPr marL="19050" marR="19050" marT="19050" marB="19050">
                    <a:lnL>
                      <a:noFill/>
                    </a:lnL>
                    <a:lnR>
                      <a:noFill/>
                    </a:lnR>
                    <a:lnT>
                      <a:noFill/>
                    </a:lnT>
                    <a:lnB>
                      <a:noFill/>
                    </a:lnB>
                    <a:solidFill>
                      <a:srgbClr val="FFFFFF"/>
                    </a:solidFill>
                  </a:tcPr>
                </a:tc>
                <a:extLst>
                  <a:ext uri="{0D108BD9-81ED-4DB2-BD59-A6C34878D82A}">
                    <a16:rowId xmlns:a16="http://schemas.microsoft.com/office/drawing/2014/main" val="1166110082"/>
                  </a:ext>
                </a:extLst>
              </a:tr>
              <a:tr h="0">
                <a:tc>
                  <a:txBody>
                    <a:bodyPr/>
                    <a:lstStyle/>
                    <a:p>
                      <a:r>
                        <a:rPr lang="ru-RU" sz="1400">
                          <a:effectLst/>
                        </a:rPr>
                        <a:t>500</a:t>
                      </a:r>
                    </a:p>
                  </a:txBody>
                  <a:tcPr marL="19050" marR="19050" marT="19050" marB="19050">
                    <a:lnL>
                      <a:noFill/>
                    </a:lnL>
                    <a:lnR>
                      <a:noFill/>
                    </a:lnR>
                    <a:lnT>
                      <a:noFill/>
                    </a:lnT>
                    <a:lnB>
                      <a:noFill/>
                    </a:lnB>
                    <a:solidFill>
                      <a:srgbClr val="FFFFFF"/>
                    </a:solidFill>
                  </a:tcPr>
                </a:tc>
                <a:tc>
                  <a:txBody>
                    <a:bodyPr/>
                    <a:lstStyle/>
                    <a:p>
                      <a:r>
                        <a:rPr lang="ru-RU" sz="1400" dirty="0">
                          <a:effectLst/>
                        </a:rPr>
                        <a:t>Хлеб, молоко, печенье, сметана</a:t>
                      </a:r>
                    </a:p>
                  </a:txBody>
                  <a:tcPr marL="19050" marR="19050" marT="19050" marB="19050">
                    <a:lnL>
                      <a:noFill/>
                    </a:lnL>
                    <a:lnR>
                      <a:noFill/>
                    </a:lnR>
                    <a:lnT>
                      <a:noFill/>
                    </a:lnT>
                    <a:lnB>
                      <a:noFill/>
                    </a:lnB>
                    <a:solidFill>
                      <a:srgbClr val="FFFFFF"/>
                    </a:solidFill>
                  </a:tcPr>
                </a:tc>
                <a:tc vMerge="1">
                  <a:txBody>
                    <a:bodyPr/>
                    <a:lstStyle/>
                    <a:p>
                      <a:endParaRPr lang="ru-RU"/>
                    </a:p>
                  </a:txBody>
                  <a:tcPr/>
                </a:tc>
                <a:tc>
                  <a:txBody>
                    <a:bodyPr/>
                    <a:lstStyle/>
                    <a:p>
                      <a:r>
                        <a:rPr lang="ru-RU" sz="1400">
                          <a:effectLst/>
                        </a:rPr>
                        <a:t>500</a:t>
                      </a:r>
                    </a:p>
                  </a:txBody>
                  <a:tcPr marL="19050" marR="19050" marT="19050" marB="19050">
                    <a:lnL>
                      <a:noFill/>
                    </a:lnL>
                    <a:lnR>
                      <a:noFill/>
                    </a:lnR>
                    <a:lnT>
                      <a:noFill/>
                    </a:lnT>
                    <a:lnB>
                      <a:noFill/>
                    </a:lnB>
                    <a:solidFill>
                      <a:srgbClr val="FFFFFF"/>
                    </a:solidFill>
                  </a:tcPr>
                </a:tc>
                <a:tc>
                  <a:txBody>
                    <a:bodyPr/>
                    <a:lstStyle/>
                    <a:p>
                      <a:r>
                        <a:rPr lang="en-US" sz="1400" dirty="0">
                          <a:effectLst/>
                        </a:rPr>
                        <a:t>a, b, c, d</a:t>
                      </a:r>
                    </a:p>
                  </a:txBody>
                  <a:tcPr marL="19050" marR="19050" marT="19050" marB="19050">
                    <a:lnL>
                      <a:noFill/>
                    </a:lnL>
                    <a:lnR>
                      <a:noFill/>
                    </a:lnR>
                    <a:lnT>
                      <a:noFill/>
                    </a:lnT>
                    <a:lnB>
                      <a:noFill/>
                    </a:lnB>
                    <a:solidFill>
                      <a:srgbClr val="FFFFFF"/>
                    </a:solidFill>
                  </a:tcPr>
                </a:tc>
                <a:extLst>
                  <a:ext uri="{0D108BD9-81ED-4DB2-BD59-A6C34878D82A}">
                    <a16:rowId xmlns:a16="http://schemas.microsoft.com/office/drawing/2014/main" val="4138096708"/>
                  </a:ext>
                </a:extLst>
              </a:tr>
              <a:tr h="0">
                <a:tc>
                  <a:txBody>
                    <a:bodyPr/>
                    <a:lstStyle/>
                    <a:p>
                      <a:r>
                        <a:rPr lang="ru-RU" sz="1400" dirty="0">
                          <a:effectLst/>
                        </a:rPr>
                        <a:t>600</a:t>
                      </a:r>
                    </a:p>
                  </a:txBody>
                  <a:tcPr marL="19050" marR="19050" marT="19050" marB="19050">
                    <a:lnL>
                      <a:noFill/>
                    </a:lnL>
                    <a:lnR>
                      <a:noFill/>
                    </a:lnR>
                    <a:lnT>
                      <a:noFill/>
                    </a:lnT>
                    <a:lnB>
                      <a:noFill/>
                    </a:lnB>
                    <a:solidFill>
                      <a:srgbClr val="FFFFFF"/>
                    </a:solidFill>
                  </a:tcPr>
                </a:tc>
                <a:tc>
                  <a:txBody>
                    <a:bodyPr/>
                    <a:lstStyle/>
                    <a:p>
                      <a:r>
                        <a:rPr lang="ru-RU" sz="1400">
                          <a:effectLst/>
                        </a:rPr>
                        <a:t>Конфеты</a:t>
                      </a:r>
                    </a:p>
                  </a:txBody>
                  <a:tcPr marL="19050" marR="19050" marT="19050" marB="19050">
                    <a:lnL>
                      <a:noFill/>
                    </a:lnL>
                    <a:lnR>
                      <a:noFill/>
                    </a:lnR>
                    <a:lnT>
                      <a:noFill/>
                    </a:lnT>
                    <a:lnB>
                      <a:noFill/>
                    </a:lnB>
                    <a:solidFill>
                      <a:srgbClr val="FFFFFF"/>
                    </a:solidFill>
                  </a:tcPr>
                </a:tc>
                <a:tc vMerge="1">
                  <a:txBody>
                    <a:bodyPr/>
                    <a:lstStyle/>
                    <a:p>
                      <a:endParaRPr lang="ru-RU"/>
                    </a:p>
                  </a:txBody>
                  <a:tcPr/>
                </a:tc>
                <a:tc>
                  <a:txBody>
                    <a:bodyPr/>
                    <a:lstStyle/>
                    <a:p>
                      <a:r>
                        <a:rPr lang="ru-RU" sz="1400">
                          <a:effectLst/>
                        </a:rPr>
                        <a:t>600</a:t>
                      </a:r>
                    </a:p>
                  </a:txBody>
                  <a:tcPr marL="19050" marR="19050" marT="19050" marB="19050">
                    <a:lnL>
                      <a:noFill/>
                    </a:lnL>
                    <a:lnR>
                      <a:noFill/>
                    </a:lnR>
                    <a:lnT>
                      <a:noFill/>
                    </a:lnT>
                    <a:lnB>
                      <a:noFill/>
                    </a:lnB>
                    <a:solidFill>
                      <a:srgbClr val="FFFFFF"/>
                    </a:solidFill>
                  </a:tcPr>
                </a:tc>
                <a:tc>
                  <a:txBody>
                    <a:bodyPr/>
                    <a:lstStyle/>
                    <a:p>
                      <a:r>
                        <a:rPr lang="en-US" sz="1400" dirty="0">
                          <a:effectLst/>
                        </a:rPr>
                        <a:t>f</a:t>
                      </a:r>
                    </a:p>
                  </a:txBody>
                  <a:tcPr marL="19050" marR="19050" marT="19050" marB="19050">
                    <a:lnL>
                      <a:noFill/>
                    </a:lnL>
                    <a:lnR>
                      <a:noFill/>
                    </a:lnR>
                    <a:lnT>
                      <a:noFill/>
                    </a:lnT>
                    <a:lnB>
                      <a:noFill/>
                    </a:lnB>
                    <a:solidFill>
                      <a:srgbClr val="FFFFFF"/>
                    </a:solidFill>
                  </a:tcPr>
                </a:tc>
                <a:extLst>
                  <a:ext uri="{0D108BD9-81ED-4DB2-BD59-A6C34878D82A}">
                    <a16:rowId xmlns:a16="http://schemas.microsoft.com/office/drawing/2014/main" val="1153386950"/>
                  </a:ext>
                </a:extLst>
              </a:tr>
            </a:tbl>
          </a:graphicData>
        </a:graphic>
      </p:graphicFrame>
    </p:spTree>
    <p:extLst>
      <p:ext uri="{BB962C8B-B14F-4D97-AF65-F5344CB8AC3E}">
        <p14:creationId xmlns:p14="http://schemas.microsoft.com/office/powerpoint/2010/main" val="1497308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8F5E6E-93ED-C882-096F-6BB9437F842C}"/>
              </a:ext>
            </a:extLst>
          </p:cNvPr>
          <p:cNvSpPr>
            <a:spLocks noGrp="1"/>
          </p:cNvSpPr>
          <p:nvPr>
            <p:ph type="title"/>
          </p:nvPr>
        </p:nvSpPr>
        <p:spPr/>
        <p:txBody>
          <a:bodyPr/>
          <a:lstStyle/>
          <a:p>
            <a:r>
              <a:rPr lang="ru-RU" dirty="0"/>
              <a:t>Метрика </a:t>
            </a:r>
            <a:r>
              <a:rPr lang="en-US" dirty="0"/>
              <a:t>Confidence</a:t>
            </a:r>
            <a:endParaRPr lang="ru-RU" dirty="0"/>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B46238BC-27CC-F09B-194B-9F42FF02549C}"/>
                  </a:ext>
                </a:extLst>
              </p:cNvPr>
              <p:cNvSpPr>
                <a:spLocks noGrp="1"/>
              </p:cNvSpPr>
              <p:nvPr>
                <p:ph idx="1"/>
              </p:nvPr>
            </p:nvSpPr>
            <p:spPr/>
            <p:txBody>
              <a:bodyPr/>
              <a:lstStyle/>
              <a:p>
                <a:pPr marL="0" indent="0">
                  <a:buNone/>
                </a:pPr>
                <a:r>
                  <a:rPr lang="ru-RU" b="0" i="0" dirty="0">
                    <a:effectLst/>
                    <a:latin typeface="YS Text"/>
                  </a:rPr>
                  <a:t>Метрика достоверности (</a:t>
                </a:r>
                <a:r>
                  <a:rPr lang="ru-RU" b="0" i="0" dirty="0" err="1">
                    <a:effectLst/>
                    <a:latin typeface="YS Text"/>
                  </a:rPr>
                  <a:t>confidence</a:t>
                </a:r>
                <a:r>
                  <a:rPr lang="ru-RU" b="0" i="0" dirty="0">
                    <a:effectLst/>
                    <a:latin typeface="YS Text"/>
                  </a:rPr>
                  <a:t>) в контексте анализа ассоциативных правил используется для определения точности правила, которое указывает на вероятность того, что следствие произойдет, если условие уже выполнено.</a:t>
                </a:r>
              </a:p>
              <a:p>
                <a:pPr marL="0" indent="0">
                  <a:buNone/>
                </a:pPr>
                <a:endParaRPr lang="en-US" b="0" i="0" dirty="0">
                  <a:effectLst/>
                  <a:latin typeface="YS Text"/>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𝐶𝑜𝑛𝑓𝑖𝑑𝑒𝑛𝑐𝑒</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i="1">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𝑆𝑢𝑝𝑝𝑜𝑟𝑡</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num>
                        <m:den>
                          <m:r>
                            <a:rPr lang="en-US" b="0" i="1" smtClean="0">
                              <a:latin typeface="Cambria Math" panose="02040503050406030204" pitchFamily="18" charset="0"/>
                            </a:rPr>
                            <m:t>𝑆𝑢𝑝𝑝𝑜𝑟𝑡</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num>
                        <m:den>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den>
                      </m:f>
                      <m:r>
                        <a:rPr lang="en-US" b="0" i="0" smtClean="0">
                          <a:latin typeface="Cambria Math" panose="02040503050406030204" pitchFamily="18" charset="0"/>
                        </a:rPr>
                        <m:t>=</m:t>
                      </m:r>
                      <m:r>
                        <m:rPr>
                          <m:sty m:val="p"/>
                        </m:rPr>
                        <a:rPr lang="en-US" b="0" i="0" smtClean="0">
                          <a:latin typeface="Cambria Math" panose="02040503050406030204" pitchFamily="18" charset="0"/>
                        </a:rPr>
                        <m:t>P</m:t>
                      </m:r>
                      <m:d>
                        <m:dPr>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y</m:t>
                          </m:r>
                          <m:r>
                            <a:rPr lang="en-US" b="0" i="0" smtClean="0">
                              <a:latin typeface="Cambria Math" panose="02040503050406030204" pitchFamily="18" charset="0"/>
                            </a:rPr>
                            <m:t> </m:t>
                          </m:r>
                        </m:e>
                      </m:d>
                      <m:r>
                        <a:rPr lang="en-US" b="0" i="0" smtClean="0">
                          <a:latin typeface="Cambria Math" panose="02040503050406030204" pitchFamily="18" charset="0"/>
                        </a:rPr>
                        <m:t> </m:t>
                      </m:r>
                      <m:r>
                        <m:rPr>
                          <m:sty m:val="p"/>
                        </m:rPr>
                        <a:rPr lang="en-US" b="0" i="0" smtClean="0">
                          <a:latin typeface="Cambria Math" panose="02040503050406030204" pitchFamily="18" charset="0"/>
                        </a:rPr>
                        <m:t>x</m:t>
                      </m:r>
                      <m:r>
                        <a:rPr lang="en-US" b="0" i="0" smtClean="0">
                          <a:latin typeface="Cambria Math" panose="02040503050406030204" pitchFamily="18" charset="0"/>
                        </a:rPr>
                        <m:t>),</m:t>
                      </m:r>
                    </m:oMath>
                  </m:oMathPara>
                </a14:m>
                <a:endParaRPr lang="en-US" dirty="0"/>
              </a:p>
              <a:p>
                <a:pPr marL="0" indent="0">
                  <a:buNone/>
                </a:pPr>
                <a:endParaRPr lang="ru-RU" dirty="0"/>
              </a:p>
              <a:p>
                <a:pPr marL="0" indent="0">
                  <a:buNone/>
                </a:pPr>
                <a:r>
                  <a:rPr lang="ru-RU" dirty="0"/>
                  <a:t>где </a:t>
                </a:r>
                <a:r>
                  <a:rPr lang="en-US" dirty="0"/>
                  <a:t>	</a:t>
                </a:r>
                <a14:m>
                  <m:oMath xmlns:m="http://schemas.openxmlformats.org/officeDocument/2006/math">
                    <m:r>
                      <a:rPr lang="en-US" b="0" i="1" smtClean="0">
                        <a:latin typeface="Cambria Math" panose="02040503050406030204" pitchFamily="18" charset="0"/>
                      </a:rPr>
                      <m:t>𝑆𝑢𝑝𝑝𝑜𝑟𝑡</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en-US" dirty="0"/>
                  <a:t> – </a:t>
                </a:r>
                <a:r>
                  <a:rPr lang="ru-RU" dirty="0"/>
                  <a:t>поддержка (</a:t>
                </a:r>
                <a:r>
                  <a:rPr lang="ru-RU" dirty="0" err="1"/>
                  <a:t>support</a:t>
                </a:r>
                <a:r>
                  <a:rPr lang="ru-RU" dirty="0"/>
                  <a:t>) множества, </a:t>
                </a:r>
                <a:r>
                  <a:rPr lang="en-US" dirty="0"/>
                  <a:t>	</a:t>
                </a:r>
                <a:r>
                  <a:rPr lang="ru-RU" dirty="0"/>
                  <a:t>содержащего как условие </a:t>
                </a:r>
                <a:r>
                  <a:rPr lang="en-US" i="1" dirty="0"/>
                  <a:t>x</a:t>
                </a:r>
                <a:r>
                  <a:rPr lang="ru-RU" dirty="0"/>
                  <a:t>, так и следствие </a:t>
                </a:r>
                <a:r>
                  <a:rPr lang="en-US" i="1" dirty="0"/>
                  <a:t>y</a:t>
                </a:r>
                <a:r>
                  <a:rPr lang="ru-RU" dirty="0"/>
                  <a:t>, т.е. </a:t>
                </a:r>
                <a:r>
                  <a:rPr lang="en-US" dirty="0"/>
                  <a:t>	</a:t>
                </a:r>
                <a:r>
                  <a:rPr lang="ru-RU" dirty="0"/>
                  <a:t>Количество транзакций, которые содержат как </a:t>
                </a:r>
                <a:r>
                  <a:rPr lang="en-US" i="1" dirty="0"/>
                  <a:t>x</a:t>
                </a:r>
                <a:r>
                  <a:rPr lang="ru-RU" dirty="0"/>
                  <a:t>, так и </a:t>
                </a:r>
                <a:r>
                  <a:rPr lang="en-US" i="1" dirty="0"/>
                  <a:t>y</a:t>
                </a:r>
                <a:r>
                  <a:rPr lang="ru-RU" dirty="0"/>
                  <a:t>,</a:t>
                </a:r>
              </a:p>
            </p:txBody>
          </p:sp>
        </mc:Choice>
        <mc:Fallback>
          <p:sp>
            <p:nvSpPr>
              <p:cNvPr id="3" name="Объект 2">
                <a:extLst>
                  <a:ext uri="{FF2B5EF4-FFF2-40B4-BE49-F238E27FC236}">
                    <a16:creationId xmlns:a16="http://schemas.microsoft.com/office/drawing/2014/main" id="{B46238BC-27CC-F09B-194B-9F42FF02549C}"/>
                  </a:ext>
                </a:extLst>
              </p:cNvPr>
              <p:cNvSpPr>
                <a:spLocks noGrp="1" noRot="1" noChangeAspect="1" noMove="1" noResize="1" noEditPoints="1" noAdjustHandles="1" noChangeArrowheads="1" noChangeShapeType="1" noTextEdit="1"/>
              </p:cNvSpPr>
              <p:nvPr>
                <p:ph idx="1"/>
              </p:nvPr>
            </p:nvSpPr>
            <p:spPr>
              <a:blipFill>
                <a:blip r:embed="rId2"/>
                <a:stretch>
                  <a:fillRect l="-927" t="-1392"/>
                </a:stretch>
              </a:blipFill>
            </p:spPr>
            <p:txBody>
              <a:bodyPr/>
              <a:lstStyle/>
              <a:p>
                <a:r>
                  <a:rPr lang="ru-RU">
                    <a:noFill/>
                  </a:rPr>
                  <a:t> </a:t>
                </a:r>
              </a:p>
            </p:txBody>
          </p:sp>
        </mc:Fallback>
      </mc:AlternateContent>
      <p:sp>
        <p:nvSpPr>
          <p:cNvPr id="4" name="Нижний колонтитул 3">
            <a:extLst>
              <a:ext uri="{FF2B5EF4-FFF2-40B4-BE49-F238E27FC236}">
                <a16:creationId xmlns:a16="http://schemas.microsoft.com/office/drawing/2014/main" id="{5EC2246F-8D7C-2711-7878-743297F33A5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A0258504-2994-2979-B614-3BCAB8E39397}"/>
              </a:ext>
            </a:extLst>
          </p:cNvPr>
          <p:cNvSpPr>
            <a:spLocks noGrp="1"/>
          </p:cNvSpPr>
          <p:nvPr>
            <p:ph type="sldNum" sz="quarter" idx="12"/>
          </p:nvPr>
        </p:nvSpPr>
        <p:spPr/>
        <p:txBody>
          <a:bodyPr/>
          <a:lstStyle/>
          <a:p>
            <a:fld id="{81C5FB71-5E9C-41B5-9BB8-3F1EBEAEB16A}" type="slidenum">
              <a:rPr lang="ru-RU" smtClean="0"/>
              <a:t>16</a:t>
            </a:fld>
            <a:endParaRPr lang="ru-RU"/>
          </a:p>
        </p:txBody>
      </p:sp>
    </p:spTree>
    <p:extLst>
      <p:ext uri="{BB962C8B-B14F-4D97-AF65-F5344CB8AC3E}">
        <p14:creationId xmlns:p14="http://schemas.microsoft.com/office/powerpoint/2010/main" val="14095260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348AC-20FD-564B-BBB4-F1717C06792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CBA5187-1F42-1021-C9AC-AE9B952A1770}"/>
              </a:ext>
            </a:extLst>
          </p:cNvPr>
          <p:cNvSpPr>
            <a:spLocks noGrp="1"/>
          </p:cNvSpPr>
          <p:nvPr>
            <p:ph type="title"/>
          </p:nvPr>
        </p:nvSpPr>
        <p:spPr/>
        <p:txBody>
          <a:bodyPr/>
          <a:lstStyle/>
          <a:p>
            <a:r>
              <a:rPr lang="ru-RU" dirty="0"/>
              <a:t>Метрика </a:t>
            </a:r>
            <a:r>
              <a:rPr lang="en-US" dirty="0"/>
              <a:t>Confidence</a:t>
            </a:r>
            <a:endParaRPr lang="ru-RU" dirty="0"/>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33D480D1-E428-FDE9-1055-8AD3A94F3B85}"/>
                  </a:ext>
                </a:extLst>
              </p:cNvPr>
              <p:cNvSpPr>
                <a:spLocks noGrp="1"/>
              </p:cNvSpPr>
              <p:nvPr>
                <p:ph idx="1"/>
              </p:nvPr>
            </p:nvSpPr>
            <p:spPr/>
            <p:txBody>
              <a:bodyPr>
                <a:normAutofit/>
              </a:bodyPr>
              <a:lstStyle/>
              <a:p>
                <a:pPr marL="0" indent="0">
                  <a:buNone/>
                </a:pPr>
                <a:r>
                  <a:rPr lang="ru-RU" b="0" i="0" dirty="0">
                    <a:effectLst/>
                    <a:latin typeface="YS Text"/>
                  </a:rPr>
                  <a:t>Метрика достоверности (</a:t>
                </a:r>
                <a:r>
                  <a:rPr lang="ru-RU" b="0" i="0" dirty="0" err="1">
                    <a:effectLst/>
                    <a:latin typeface="YS Text"/>
                  </a:rPr>
                  <a:t>confidence</a:t>
                </a:r>
                <a:r>
                  <a:rPr lang="ru-RU" b="0" i="0" dirty="0">
                    <a:effectLst/>
                    <a:latin typeface="YS Text"/>
                  </a:rPr>
                  <a:t>) в контексте анализа ассоциативных правил используется для определения точности правила, которое указывает на вероятность того, что следствие произойдет, если условие уже выполнено.</a:t>
                </a:r>
              </a:p>
              <a:p>
                <a:pPr marL="0" indent="0">
                  <a:buNone/>
                </a:pPr>
                <a:endParaRPr lang="en-US" b="0" i="0" dirty="0">
                  <a:effectLst/>
                  <a:latin typeface="YS Text"/>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𝐶𝑜𝑛𝑓𝑖𝑑𝑒𝑛𝑐𝑒</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i="1">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𝑆𝑢𝑝𝑝𝑜𝑟𝑡</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num>
                        <m:den>
                          <m:r>
                            <a:rPr lang="en-US" b="0" i="1" smtClean="0">
                              <a:latin typeface="Cambria Math" panose="02040503050406030204" pitchFamily="18" charset="0"/>
                            </a:rPr>
                            <m:t>𝑆𝑢𝑝𝑝𝑜𝑟𝑡</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num>
                        <m:den>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den>
                      </m:f>
                      <m:r>
                        <a:rPr lang="en-US" b="0" i="0" smtClean="0">
                          <a:latin typeface="Cambria Math" panose="02040503050406030204" pitchFamily="18" charset="0"/>
                        </a:rPr>
                        <m:t>=</m:t>
                      </m:r>
                      <m:r>
                        <m:rPr>
                          <m:sty m:val="p"/>
                        </m:rPr>
                        <a:rPr lang="en-US" b="0" i="0" smtClean="0">
                          <a:latin typeface="Cambria Math" panose="02040503050406030204" pitchFamily="18" charset="0"/>
                        </a:rPr>
                        <m:t>P</m:t>
                      </m:r>
                      <m:d>
                        <m:dPr>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y</m:t>
                          </m:r>
                          <m:r>
                            <a:rPr lang="en-US" b="0" i="0" smtClean="0">
                              <a:latin typeface="Cambria Math" panose="02040503050406030204" pitchFamily="18" charset="0"/>
                            </a:rPr>
                            <m:t> </m:t>
                          </m:r>
                        </m:e>
                      </m:d>
                      <m:r>
                        <a:rPr lang="en-US" b="0" i="0" smtClean="0">
                          <a:latin typeface="Cambria Math" panose="02040503050406030204" pitchFamily="18" charset="0"/>
                        </a:rPr>
                        <m:t> </m:t>
                      </m:r>
                      <m:r>
                        <m:rPr>
                          <m:sty m:val="p"/>
                        </m:rPr>
                        <a:rPr lang="en-US" b="0" i="0" smtClean="0">
                          <a:latin typeface="Cambria Math" panose="02040503050406030204" pitchFamily="18" charset="0"/>
                        </a:rPr>
                        <m:t>x</m:t>
                      </m:r>
                      <m:r>
                        <a:rPr lang="en-US" b="0" i="0" smtClean="0">
                          <a:latin typeface="Cambria Math" panose="02040503050406030204" pitchFamily="18" charset="0"/>
                        </a:rPr>
                        <m:t>),</m:t>
                      </m:r>
                    </m:oMath>
                  </m:oMathPara>
                </a14:m>
                <a:endParaRPr lang="en-US" dirty="0"/>
              </a:p>
              <a:p>
                <a:pPr marL="0" indent="0">
                  <a:buNone/>
                </a:pPr>
                <a:endParaRPr lang="ru-RU" dirty="0"/>
              </a:p>
              <a:p>
                <a:pPr marL="0" indent="0">
                  <a:buNone/>
                </a:pPr>
                <a14:m>
                  <m:oMath xmlns:m="http://schemas.openxmlformats.org/officeDocument/2006/math">
                    <m:r>
                      <a:rPr lang="en-US" i="1" dirty="0" smtClean="0">
                        <a:latin typeface="Cambria Math" panose="02040503050406030204" pitchFamily="18" charset="0"/>
                      </a:rPr>
                      <m:t>𝐶𝑜𝑛𝑓𝑖𝑑𝑒𝑛𝑐𝑒</m:t>
                    </m:r>
                    <m:r>
                      <a:rPr lang="en-US" i="1" dirty="0" smtClean="0">
                        <a:latin typeface="Cambria Math" panose="02040503050406030204" pitchFamily="18" charset="0"/>
                      </a:rPr>
                      <m:t> &lt; 0,8</m:t>
                    </m:r>
                  </m:oMath>
                </a14:m>
                <a:r>
                  <a:rPr lang="en-US" dirty="0"/>
                  <a:t>:		</a:t>
                </a:r>
                <a:r>
                  <a:rPr lang="ru-RU" dirty="0"/>
                  <a:t>высокая вероятность</a:t>
                </a:r>
                <a:endParaRPr lang="en-US" dirty="0"/>
              </a:p>
              <a:p>
                <a:pPr marL="0" indent="0">
                  <a:buNone/>
                </a:pPr>
                <a14:m>
                  <m:oMath xmlns:m="http://schemas.openxmlformats.org/officeDocument/2006/math">
                    <m:r>
                      <a:rPr lang="en-US" b="0" i="1" dirty="0" smtClean="0">
                        <a:latin typeface="Cambria Math" panose="02040503050406030204" pitchFamily="18" charset="0"/>
                      </a:rPr>
                      <m:t>0,5&lt;</m:t>
                    </m:r>
                    <m:r>
                      <a:rPr lang="en-US" i="1" dirty="0" smtClean="0">
                        <a:latin typeface="Cambria Math" panose="02040503050406030204" pitchFamily="18" charset="0"/>
                      </a:rPr>
                      <m:t>𝐶𝑜𝑛𝑓𝑖𝑑𝑒𝑛𝑐𝑒</m:t>
                    </m:r>
                    <m:r>
                      <a:rPr lang="en-US" b="0" i="1" dirty="0" smtClean="0">
                        <a:latin typeface="Cambria Math" panose="02040503050406030204" pitchFamily="18" charset="0"/>
                      </a:rPr>
                      <m:t>≤0,8</m:t>
                    </m:r>
                  </m:oMath>
                </a14:m>
                <a:r>
                  <a:rPr lang="en-US" dirty="0"/>
                  <a:t>:	</a:t>
                </a:r>
                <a:r>
                  <a:rPr lang="ru-RU" dirty="0"/>
                  <a:t>средняя вероятность</a:t>
                </a:r>
                <a:endParaRPr lang="en-US" dirty="0"/>
              </a:p>
              <a:p>
                <a:pPr marL="0" indent="0">
                  <a:buNone/>
                </a:pPr>
                <a14:m>
                  <m:oMath xmlns:m="http://schemas.openxmlformats.org/officeDocument/2006/math">
                    <m:r>
                      <a:rPr lang="en-US" i="1" dirty="0" smtClean="0">
                        <a:latin typeface="Cambria Math" panose="02040503050406030204" pitchFamily="18" charset="0"/>
                      </a:rPr>
                      <m:t>𝐶𝑜𝑛𝑓𝑖𝑑𝑒𝑛𝑐𝑒</m:t>
                    </m:r>
                    <m:r>
                      <a:rPr lang="en-US" b="0" i="1" dirty="0" smtClean="0">
                        <a:latin typeface="Cambria Math" panose="02040503050406030204" pitchFamily="18" charset="0"/>
                      </a:rPr>
                      <m:t>≤0,5</m:t>
                    </m:r>
                  </m:oMath>
                </a14:m>
                <a:r>
                  <a:rPr lang="en-US" dirty="0"/>
                  <a:t>:		</a:t>
                </a:r>
                <a:r>
                  <a:rPr lang="ru-RU" dirty="0"/>
                  <a:t>низкая вероятность</a:t>
                </a:r>
              </a:p>
            </p:txBody>
          </p:sp>
        </mc:Choice>
        <mc:Fallback>
          <p:sp>
            <p:nvSpPr>
              <p:cNvPr id="3" name="Объект 2">
                <a:extLst>
                  <a:ext uri="{FF2B5EF4-FFF2-40B4-BE49-F238E27FC236}">
                    <a16:creationId xmlns:a16="http://schemas.microsoft.com/office/drawing/2014/main" id="{33D480D1-E428-FDE9-1055-8AD3A94F3B85}"/>
                  </a:ext>
                </a:extLst>
              </p:cNvPr>
              <p:cNvSpPr>
                <a:spLocks noGrp="1" noRot="1" noChangeAspect="1" noMove="1" noResize="1" noEditPoints="1" noAdjustHandles="1" noChangeArrowheads="1" noChangeShapeType="1" noTextEdit="1"/>
              </p:cNvSpPr>
              <p:nvPr>
                <p:ph idx="1"/>
              </p:nvPr>
            </p:nvSpPr>
            <p:spPr>
              <a:blipFill>
                <a:blip r:embed="rId2"/>
                <a:stretch>
                  <a:fillRect l="-927" t="-1392"/>
                </a:stretch>
              </a:blipFill>
            </p:spPr>
            <p:txBody>
              <a:bodyPr/>
              <a:lstStyle/>
              <a:p>
                <a:r>
                  <a:rPr lang="ru-RU">
                    <a:noFill/>
                  </a:rPr>
                  <a:t> </a:t>
                </a:r>
              </a:p>
            </p:txBody>
          </p:sp>
        </mc:Fallback>
      </mc:AlternateContent>
      <p:sp>
        <p:nvSpPr>
          <p:cNvPr id="4" name="Нижний колонтитул 3">
            <a:extLst>
              <a:ext uri="{FF2B5EF4-FFF2-40B4-BE49-F238E27FC236}">
                <a16:creationId xmlns:a16="http://schemas.microsoft.com/office/drawing/2014/main" id="{A834D43D-A54C-CBEF-A7E9-C5201148356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FF97092A-EC44-8120-CF13-9D96AB6CAC82}"/>
              </a:ext>
            </a:extLst>
          </p:cNvPr>
          <p:cNvSpPr>
            <a:spLocks noGrp="1"/>
          </p:cNvSpPr>
          <p:nvPr>
            <p:ph type="sldNum" sz="quarter" idx="12"/>
          </p:nvPr>
        </p:nvSpPr>
        <p:spPr/>
        <p:txBody>
          <a:bodyPr/>
          <a:lstStyle/>
          <a:p>
            <a:fld id="{81C5FB71-5E9C-41B5-9BB8-3F1EBEAEB16A}" type="slidenum">
              <a:rPr lang="ru-RU" smtClean="0"/>
              <a:t>17</a:t>
            </a:fld>
            <a:endParaRPr lang="ru-RU"/>
          </a:p>
        </p:txBody>
      </p:sp>
    </p:spTree>
    <p:extLst>
      <p:ext uri="{BB962C8B-B14F-4D97-AF65-F5344CB8AC3E}">
        <p14:creationId xmlns:p14="http://schemas.microsoft.com/office/powerpoint/2010/main" val="3268922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6BA8CD-2F22-4B45-A5A4-89D56C6208E1}"/>
              </a:ext>
            </a:extLst>
          </p:cNvPr>
          <p:cNvSpPr>
            <a:spLocks noGrp="1"/>
          </p:cNvSpPr>
          <p:nvPr>
            <p:ph type="title"/>
          </p:nvPr>
        </p:nvSpPr>
        <p:spPr/>
        <p:txBody>
          <a:bodyPr/>
          <a:lstStyle/>
          <a:p>
            <a:pPr algn="ctr"/>
            <a:r>
              <a:rPr lang="ru-RU" b="1" i="1" dirty="0">
                <a:solidFill>
                  <a:srgbClr val="000000"/>
                </a:solidFill>
                <a:effectLst/>
                <a:latin typeface="lucida grande"/>
              </a:rPr>
              <a:t>Достоверность</a:t>
            </a:r>
            <a:endParaRPr lang="ru-RU" dirty="0"/>
          </a:p>
        </p:txBody>
      </p:sp>
      <p:sp>
        <p:nvSpPr>
          <p:cNvPr id="3" name="Объект 2">
            <a:extLst>
              <a:ext uri="{FF2B5EF4-FFF2-40B4-BE49-F238E27FC236}">
                <a16:creationId xmlns:a16="http://schemas.microsoft.com/office/drawing/2014/main" id="{CA057165-3CAE-4766-AC98-ACF770487F61}"/>
              </a:ext>
            </a:extLst>
          </p:cNvPr>
          <p:cNvSpPr>
            <a:spLocks noGrp="1"/>
          </p:cNvSpPr>
          <p:nvPr>
            <p:ph idx="1"/>
          </p:nvPr>
        </p:nvSpPr>
        <p:spPr>
          <a:xfrm>
            <a:off x="457200" y="990600"/>
            <a:ext cx="8229600" cy="5638800"/>
          </a:xfrm>
        </p:spPr>
        <p:txBody>
          <a:bodyPr>
            <a:noAutofit/>
          </a:bodyPr>
          <a:lstStyle/>
          <a:p>
            <a:pPr marL="0" indent="0" algn="just">
              <a:buNone/>
            </a:pPr>
            <a:endParaRPr lang="ru-RU" sz="2000" b="1" i="1" dirty="0">
              <a:solidFill>
                <a:srgbClr val="000000"/>
              </a:solidFill>
              <a:effectLst/>
              <a:latin typeface="lucida grande"/>
            </a:endParaRPr>
          </a:p>
          <a:p>
            <a:pPr marL="0" indent="0" algn="just">
              <a:buNone/>
            </a:pPr>
            <a:endParaRPr lang="ru-RU" sz="2000" b="1" i="1" dirty="0">
              <a:solidFill>
                <a:srgbClr val="000000"/>
              </a:solidFill>
              <a:latin typeface="lucida grande"/>
            </a:endParaRPr>
          </a:p>
          <a:p>
            <a:pPr marL="0" indent="0" algn="just">
              <a:buNone/>
            </a:pPr>
            <a:endParaRPr lang="ru-RU" sz="2000" b="1" i="1" dirty="0">
              <a:solidFill>
                <a:srgbClr val="000000"/>
              </a:solidFill>
              <a:effectLst/>
              <a:latin typeface="lucida grande"/>
            </a:endParaRPr>
          </a:p>
          <a:p>
            <a:pPr marL="0" indent="0" algn="just">
              <a:buNone/>
            </a:pPr>
            <a:endParaRPr lang="ru-RU" sz="2000" b="1" i="1" dirty="0">
              <a:solidFill>
                <a:srgbClr val="000000"/>
              </a:solidFill>
              <a:latin typeface="lucida grande"/>
            </a:endParaRPr>
          </a:p>
          <a:p>
            <a:pPr marL="0" indent="0" algn="just">
              <a:buNone/>
            </a:pPr>
            <a:endParaRPr lang="ru-RU" sz="2000" b="1" i="1" dirty="0">
              <a:solidFill>
                <a:srgbClr val="000000"/>
              </a:solidFill>
              <a:effectLst/>
              <a:latin typeface="lucida grande"/>
            </a:endParaRPr>
          </a:p>
          <a:p>
            <a:pPr marL="0" indent="0" algn="just">
              <a:buNone/>
            </a:pPr>
            <a:endParaRPr lang="ru-RU" sz="2000" b="1" i="1" dirty="0">
              <a:solidFill>
                <a:srgbClr val="000000"/>
              </a:solidFill>
              <a:latin typeface="lucida grande"/>
            </a:endParaRPr>
          </a:p>
          <a:p>
            <a:pPr marL="0" indent="0" algn="just">
              <a:buNone/>
            </a:pPr>
            <a:r>
              <a:rPr lang="ru-RU" sz="2000" b="1" i="1" dirty="0">
                <a:solidFill>
                  <a:srgbClr val="000000"/>
                </a:solidFill>
                <a:effectLst/>
                <a:latin typeface="lucida grande"/>
              </a:rPr>
              <a:t>Достоверность</a:t>
            </a:r>
            <a:r>
              <a:rPr lang="ru-RU" sz="2000" b="0" i="0" dirty="0">
                <a:solidFill>
                  <a:srgbClr val="000000"/>
                </a:solidFill>
                <a:effectLst/>
                <a:latin typeface="lucida grande"/>
              </a:rPr>
              <a:t> правила показывает, какова </a:t>
            </a:r>
            <a:r>
              <a:rPr lang="ru-RU" sz="2000" b="0" i="1" dirty="0">
                <a:solidFill>
                  <a:srgbClr val="000000"/>
                </a:solidFill>
                <a:effectLst/>
                <a:latin typeface="lucida grande"/>
              </a:rPr>
              <a:t>вероятность </a:t>
            </a:r>
            <a:r>
              <a:rPr lang="ru-RU" sz="2000" b="0" i="0" dirty="0">
                <a:solidFill>
                  <a:srgbClr val="000000"/>
                </a:solidFill>
                <a:effectLst/>
                <a:latin typeface="lucida grande"/>
              </a:rPr>
              <a:t>того, что из события A следует событие B.</a:t>
            </a:r>
          </a:p>
          <a:p>
            <a:pPr marL="0" indent="0" algn="just">
              <a:buNone/>
            </a:pPr>
            <a:r>
              <a:rPr lang="ru-RU" sz="2000" b="0" i="0" dirty="0">
                <a:solidFill>
                  <a:srgbClr val="000000"/>
                </a:solidFill>
                <a:effectLst/>
                <a:latin typeface="lucida grande"/>
              </a:rPr>
              <a:t>Правило "Из A следует B" справедливо с </a:t>
            </a:r>
            <a:r>
              <a:rPr lang="ru-RU" sz="2000" b="0" i="1" dirty="0">
                <a:solidFill>
                  <a:srgbClr val="000000"/>
                </a:solidFill>
                <a:effectLst/>
                <a:latin typeface="lucida grande"/>
              </a:rPr>
              <a:t>достоверностью</a:t>
            </a:r>
            <a:r>
              <a:rPr lang="ru-RU" sz="2000" b="0" i="0" dirty="0">
                <a:solidFill>
                  <a:srgbClr val="000000"/>
                </a:solidFill>
                <a:effectLst/>
                <a:latin typeface="lucida grande"/>
              </a:rPr>
              <a:t> с, если c% </a:t>
            </a:r>
            <a:r>
              <a:rPr lang="ru-RU" sz="2000" b="0" i="1" dirty="0">
                <a:solidFill>
                  <a:srgbClr val="000000"/>
                </a:solidFill>
                <a:effectLst/>
                <a:latin typeface="lucida grande"/>
              </a:rPr>
              <a:t>транзакций</a:t>
            </a:r>
            <a:r>
              <a:rPr lang="ru-RU" sz="2000" b="0" i="0" dirty="0">
                <a:solidFill>
                  <a:srgbClr val="000000"/>
                </a:solidFill>
                <a:effectLst/>
                <a:latin typeface="lucida grande"/>
              </a:rPr>
              <a:t> из всего </a:t>
            </a:r>
            <a:r>
              <a:rPr lang="ru-RU" sz="2000" b="0" i="1" dirty="0">
                <a:solidFill>
                  <a:srgbClr val="000000"/>
                </a:solidFill>
                <a:effectLst/>
                <a:latin typeface="lucida grande"/>
              </a:rPr>
              <a:t>множества</a:t>
            </a:r>
            <a:r>
              <a:rPr lang="ru-RU" sz="2000" b="0" i="0" dirty="0">
                <a:solidFill>
                  <a:srgbClr val="000000"/>
                </a:solidFill>
                <a:effectLst/>
                <a:latin typeface="lucida grande"/>
              </a:rPr>
              <a:t>, содержащих набор элементов A, также содержат набор элементов B.</a:t>
            </a:r>
          </a:p>
          <a:p>
            <a:pPr marL="0" indent="0" algn="just">
              <a:buNone/>
            </a:pPr>
            <a:r>
              <a:rPr lang="ru-RU" sz="2000" b="0" i="0" dirty="0">
                <a:solidFill>
                  <a:srgbClr val="000000"/>
                </a:solidFill>
                <a:effectLst/>
                <a:latin typeface="lucida grande"/>
              </a:rPr>
              <a:t>Число </a:t>
            </a:r>
            <a:r>
              <a:rPr lang="ru-RU" sz="2000" b="0" i="1" dirty="0">
                <a:solidFill>
                  <a:srgbClr val="000000"/>
                </a:solidFill>
                <a:effectLst/>
                <a:latin typeface="lucida grande"/>
              </a:rPr>
              <a:t>транзакций</a:t>
            </a:r>
            <a:r>
              <a:rPr lang="ru-RU" sz="2000" b="0" i="0" dirty="0">
                <a:solidFill>
                  <a:srgbClr val="000000"/>
                </a:solidFill>
                <a:effectLst/>
                <a:latin typeface="lucida grande"/>
              </a:rPr>
              <a:t>, содержащих молоко, равно четырем, число </a:t>
            </a:r>
            <a:r>
              <a:rPr lang="ru-RU" sz="2000" b="0" i="1" dirty="0">
                <a:solidFill>
                  <a:srgbClr val="000000"/>
                </a:solidFill>
                <a:effectLst/>
                <a:latin typeface="lucida grande"/>
              </a:rPr>
              <a:t>транзакций</a:t>
            </a:r>
            <a:r>
              <a:rPr lang="ru-RU" sz="2000" b="0" i="0" dirty="0">
                <a:solidFill>
                  <a:srgbClr val="000000"/>
                </a:solidFill>
                <a:effectLst/>
                <a:latin typeface="lucida grande"/>
              </a:rPr>
              <a:t>, содержащих печенье, равно трем, </a:t>
            </a:r>
            <a:r>
              <a:rPr lang="ru-RU" sz="2000" b="0" i="1" dirty="0">
                <a:solidFill>
                  <a:srgbClr val="000000"/>
                </a:solidFill>
                <a:effectLst/>
                <a:latin typeface="lucida grande"/>
              </a:rPr>
              <a:t>достоверность</a:t>
            </a:r>
            <a:r>
              <a:rPr lang="ru-RU" sz="2000" b="0" i="0" dirty="0">
                <a:solidFill>
                  <a:srgbClr val="000000"/>
                </a:solidFill>
                <a:effectLst/>
                <a:latin typeface="lucida grande"/>
              </a:rPr>
              <a:t> правила равна (3/4)*100%, т.е. 75%.</a:t>
            </a:r>
          </a:p>
          <a:p>
            <a:pPr marL="0" indent="0" algn="just">
              <a:buNone/>
            </a:pPr>
            <a:r>
              <a:rPr lang="ru-RU" sz="2000" b="0" i="1" dirty="0">
                <a:solidFill>
                  <a:srgbClr val="000000"/>
                </a:solidFill>
                <a:effectLst/>
                <a:latin typeface="lucida grande"/>
              </a:rPr>
              <a:t>Достоверность</a:t>
            </a:r>
            <a:r>
              <a:rPr lang="ru-RU" sz="2000" b="0" i="0" dirty="0">
                <a:solidFill>
                  <a:srgbClr val="000000"/>
                </a:solidFill>
                <a:effectLst/>
                <a:latin typeface="lucida grande"/>
              </a:rPr>
              <a:t> правила "из покупки молока следует покупка печенья" равна 75%, т.е. 75% </a:t>
            </a:r>
            <a:r>
              <a:rPr lang="ru-RU" sz="2000" b="0" i="1" dirty="0">
                <a:solidFill>
                  <a:srgbClr val="000000"/>
                </a:solidFill>
                <a:effectLst/>
                <a:latin typeface="lucida grande"/>
              </a:rPr>
              <a:t>транзакций</a:t>
            </a:r>
            <a:r>
              <a:rPr lang="ru-RU" sz="2000" b="0" i="0" dirty="0">
                <a:solidFill>
                  <a:srgbClr val="000000"/>
                </a:solidFill>
                <a:effectLst/>
                <a:latin typeface="lucida grande"/>
              </a:rPr>
              <a:t>, содержащих </a:t>
            </a:r>
            <a:r>
              <a:rPr lang="ru-RU" sz="2000" b="0" i="1" dirty="0">
                <a:solidFill>
                  <a:srgbClr val="000000"/>
                </a:solidFill>
                <a:effectLst/>
                <a:latin typeface="lucida grande"/>
              </a:rPr>
              <a:t>товар</a:t>
            </a:r>
            <a:r>
              <a:rPr lang="ru-RU" sz="2000" b="0" i="0" dirty="0">
                <a:solidFill>
                  <a:srgbClr val="000000"/>
                </a:solidFill>
                <a:effectLst/>
                <a:latin typeface="lucida grande"/>
              </a:rPr>
              <a:t> А, также содержат </a:t>
            </a:r>
            <a:r>
              <a:rPr lang="ru-RU" sz="2000" b="0" i="1" dirty="0">
                <a:solidFill>
                  <a:srgbClr val="000000"/>
                </a:solidFill>
                <a:effectLst/>
                <a:latin typeface="lucida grande"/>
              </a:rPr>
              <a:t>товар</a:t>
            </a:r>
            <a:r>
              <a:rPr lang="ru-RU" sz="2000" b="0" i="0" dirty="0">
                <a:solidFill>
                  <a:srgbClr val="000000"/>
                </a:solidFill>
                <a:effectLst/>
                <a:latin typeface="lucida grande"/>
              </a:rPr>
              <a:t> B.</a:t>
            </a:r>
          </a:p>
          <a:p>
            <a:pPr marL="0" indent="0">
              <a:buNone/>
            </a:pPr>
            <a:endParaRPr lang="ru-RU" sz="2000" dirty="0"/>
          </a:p>
          <a:p>
            <a:pPr marL="0" indent="0">
              <a:buNone/>
            </a:pPr>
            <a:endParaRPr lang="ru-RU" sz="2000" dirty="0"/>
          </a:p>
        </p:txBody>
      </p:sp>
      <p:sp>
        <p:nvSpPr>
          <p:cNvPr id="4" name="Нижний колонтитул 3">
            <a:extLst>
              <a:ext uri="{FF2B5EF4-FFF2-40B4-BE49-F238E27FC236}">
                <a16:creationId xmlns:a16="http://schemas.microsoft.com/office/drawing/2014/main" id="{F2F80F1C-B05B-4664-8989-32D5FB397AD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601E829-FA6B-4ACC-9EBD-79E6045C11D2}"/>
              </a:ext>
            </a:extLst>
          </p:cNvPr>
          <p:cNvSpPr>
            <a:spLocks noGrp="1"/>
          </p:cNvSpPr>
          <p:nvPr>
            <p:ph type="sldNum" sz="quarter" idx="12"/>
          </p:nvPr>
        </p:nvSpPr>
        <p:spPr/>
        <p:txBody>
          <a:bodyPr/>
          <a:lstStyle/>
          <a:p>
            <a:fld id="{81C5FB71-5E9C-41B5-9BB8-3F1EBEAEB16A}" type="slidenum">
              <a:rPr lang="ru-RU" smtClean="0"/>
              <a:t>18</a:t>
            </a:fld>
            <a:endParaRPr lang="ru-RU"/>
          </a:p>
        </p:txBody>
      </p:sp>
      <p:graphicFrame>
        <p:nvGraphicFramePr>
          <p:cNvPr id="7" name="Таблица 6">
            <a:extLst>
              <a:ext uri="{FF2B5EF4-FFF2-40B4-BE49-F238E27FC236}">
                <a16:creationId xmlns:a16="http://schemas.microsoft.com/office/drawing/2014/main" id="{0B63C4D0-AEEB-4776-B8F0-C17148C155A2}"/>
              </a:ext>
            </a:extLst>
          </p:cNvPr>
          <p:cNvGraphicFramePr>
            <a:graphicFrameLocks noGrp="1"/>
          </p:cNvGraphicFramePr>
          <p:nvPr/>
        </p:nvGraphicFramePr>
        <p:xfrm>
          <a:off x="1651907" y="925738"/>
          <a:ext cx="5829300" cy="2186940"/>
        </p:xfrm>
        <a:graphic>
          <a:graphicData uri="http://schemas.openxmlformats.org/drawingml/2006/table">
            <a:tbl>
              <a:tblPr/>
              <a:tblGrid>
                <a:gridCol w="514350">
                  <a:extLst>
                    <a:ext uri="{9D8B030D-6E8A-4147-A177-3AD203B41FA5}">
                      <a16:colId xmlns:a16="http://schemas.microsoft.com/office/drawing/2014/main" val="1087162749"/>
                    </a:ext>
                  </a:extLst>
                </a:gridCol>
                <a:gridCol w="2076450">
                  <a:extLst>
                    <a:ext uri="{9D8B030D-6E8A-4147-A177-3AD203B41FA5}">
                      <a16:colId xmlns:a16="http://schemas.microsoft.com/office/drawing/2014/main" val="362859387"/>
                    </a:ext>
                  </a:extLst>
                </a:gridCol>
                <a:gridCol w="718102">
                  <a:extLst>
                    <a:ext uri="{9D8B030D-6E8A-4147-A177-3AD203B41FA5}">
                      <a16:colId xmlns:a16="http://schemas.microsoft.com/office/drawing/2014/main" val="3874894535"/>
                    </a:ext>
                  </a:extLst>
                </a:gridCol>
                <a:gridCol w="394252">
                  <a:extLst>
                    <a:ext uri="{9D8B030D-6E8A-4147-A177-3AD203B41FA5}">
                      <a16:colId xmlns:a16="http://schemas.microsoft.com/office/drawing/2014/main" val="3166697534"/>
                    </a:ext>
                  </a:extLst>
                </a:gridCol>
                <a:gridCol w="2126146">
                  <a:extLst>
                    <a:ext uri="{9D8B030D-6E8A-4147-A177-3AD203B41FA5}">
                      <a16:colId xmlns:a16="http://schemas.microsoft.com/office/drawing/2014/main" val="3367515012"/>
                    </a:ext>
                  </a:extLst>
                </a:gridCol>
              </a:tblGrid>
              <a:tr h="0">
                <a:tc>
                  <a:txBody>
                    <a:bodyPr/>
                    <a:lstStyle/>
                    <a:p>
                      <a:pPr algn="ctr"/>
                      <a:r>
                        <a:rPr lang="en-US" sz="1400" i="1" dirty="0">
                          <a:effectLst/>
                        </a:rPr>
                        <a:t>TID</a:t>
                      </a:r>
                      <a:endParaRPr lang="en-US" sz="1400" dirty="0">
                        <a:effectLst/>
                      </a:endParaRPr>
                    </a:p>
                  </a:txBody>
                  <a:tcPr marL="19050" marR="19050" marT="19050" marB="19050" anchor="ctr">
                    <a:lnL>
                      <a:noFill/>
                    </a:lnL>
                    <a:lnR>
                      <a:noFill/>
                    </a:lnR>
                    <a:lnT>
                      <a:noFill/>
                    </a:lnT>
                    <a:lnB>
                      <a:noFill/>
                    </a:lnB>
                    <a:solidFill>
                      <a:srgbClr val="FFFFFF"/>
                    </a:solidFill>
                  </a:tcPr>
                </a:tc>
                <a:tc>
                  <a:txBody>
                    <a:bodyPr/>
                    <a:lstStyle/>
                    <a:p>
                      <a:pPr algn="ctr"/>
                      <a:r>
                        <a:rPr lang="ru-RU" sz="1400" dirty="0">
                          <a:effectLst/>
                        </a:rPr>
                        <a:t>Приобретенные покупки</a:t>
                      </a:r>
                    </a:p>
                  </a:txBody>
                  <a:tcPr marL="19050" marR="19050" marT="19050" marB="19050" anchor="ctr">
                    <a:lnL>
                      <a:noFill/>
                    </a:lnL>
                    <a:lnR>
                      <a:noFill/>
                    </a:lnR>
                    <a:lnT>
                      <a:noFill/>
                    </a:lnT>
                    <a:lnB>
                      <a:noFill/>
                    </a:lnB>
                    <a:solidFill>
                      <a:srgbClr val="FFFFFF"/>
                    </a:solidFill>
                  </a:tcPr>
                </a:tc>
                <a:tc rowSpan="7">
                  <a:txBody>
                    <a:bodyPr/>
                    <a:lstStyle/>
                    <a:p>
                      <a:endParaRPr lang="ru-RU" sz="1400" dirty="0">
                        <a:effectLst/>
                      </a:endParaRPr>
                    </a:p>
                    <a:p>
                      <a:br>
                        <a:rPr lang="ru-RU" sz="1400" dirty="0">
                          <a:effectLst/>
                        </a:rPr>
                      </a:br>
                      <a:endParaRPr lang="ru-RU" sz="1400" dirty="0">
                        <a:effectLst/>
                      </a:endParaRPr>
                    </a:p>
                  </a:txBody>
                  <a:tcPr marL="19050" marR="19050" marT="19050" marB="19050">
                    <a:lnL>
                      <a:noFill/>
                    </a:lnL>
                    <a:lnR>
                      <a:noFill/>
                    </a:lnR>
                    <a:lnT>
                      <a:noFill/>
                    </a:lnT>
                    <a:lnB>
                      <a:noFill/>
                    </a:lnB>
                    <a:solidFill>
                      <a:srgbClr val="FFFFFF"/>
                    </a:solidFill>
                  </a:tcPr>
                </a:tc>
                <a:tc>
                  <a:txBody>
                    <a:bodyPr/>
                    <a:lstStyle/>
                    <a:p>
                      <a:pPr algn="ctr"/>
                      <a:r>
                        <a:rPr lang="en-US" sz="1400" i="1" dirty="0">
                          <a:effectLst/>
                        </a:rPr>
                        <a:t>TID</a:t>
                      </a:r>
                      <a:endParaRPr lang="en-US" sz="1400" dirty="0">
                        <a:effectLst/>
                      </a:endParaRPr>
                    </a:p>
                  </a:txBody>
                  <a:tcPr marL="19050" marR="19050" marT="19050" marB="19050" anchor="ctr">
                    <a:lnL>
                      <a:noFill/>
                    </a:lnL>
                    <a:lnR>
                      <a:noFill/>
                    </a:lnR>
                    <a:lnT>
                      <a:noFill/>
                    </a:lnT>
                    <a:lnB>
                      <a:noFill/>
                    </a:lnB>
                    <a:solidFill>
                      <a:srgbClr val="FFFFFF"/>
                    </a:solidFill>
                  </a:tcPr>
                </a:tc>
                <a:tc>
                  <a:txBody>
                    <a:bodyPr/>
                    <a:lstStyle/>
                    <a:p>
                      <a:pPr algn="ctr"/>
                      <a:r>
                        <a:rPr lang="ru-RU" sz="1400">
                          <a:effectLst/>
                        </a:rPr>
                        <a:t>Приобретенные покупки</a:t>
                      </a:r>
                    </a:p>
                  </a:txBody>
                  <a:tcPr marL="19050" marR="19050" marT="19050" marB="19050" anchor="ctr">
                    <a:lnL>
                      <a:noFill/>
                    </a:lnL>
                    <a:lnR>
                      <a:noFill/>
                    </a:lnR>
                    <a:lnT>
                      <a:noFill/>
                    </a:lnT>
                    <a:lnB>
                      <a:noFill/>
                    </a:lnB>
                    <a:solidFill>
                      <a:srgbClr val="FFFFFF"/>
                    </a:solidFill>
                  </a:tcPr>
                </a:tc>
                <a:extLst>
                  <a:ext uri="{0D108BD9-81ED-4DB2-BD59-A6C34878D82A}">
                    <a16:rowId xmlns:a16="http://schemas.microsoft.com/office/drawing/2014/main" val="1840163972"/>
                  </a:ext>
                </a:extLst>
              </a:tr>
              <a:tr h="0">
                <a:tc>
                  <a:txBody>
                    <a:bodyPr/>
                    <a:lstStyle/>
                    <a:p>
                      <a:r>
                        <a:rPr lang="ru-RU" sz="1400">
                          <a:effectLst/>
                        </a:rPr>
                        <a:t>100</a:t>
                      </a:r>
                    </a:p>
                  </a:txBody>
                  <a:tcPr marL="19050" marR="19050" marT="19050" marB="19050">
                    <a:lnL>
                      <a:noFill/>
                    </a:lnL>
                    <a:lnR>
                      <a:noFill/>
                    </a:lnR>
                    <a:lnT>
                      <a:noFill/>
                    </a:lnT>
                    <a:lnB>
                      <a:noFill/>
                    </a:lnB>
                    <a:solidFill>
                      <a:srgbClr val="FFFFFF"/>
                    </a:solidFill>
                  </a:tcPr>
                </a:tc>
                <a:tc>
                  <a:txBody>
                    <a:bodyPr/>
                    <a:lstStyle/>
                    <a:p>
                      <a:r>
                        <a:rPr lang="ru-RU" sz="1400" dirty="0">
                          <a:effectLst/>
                        </a:rPr>
                        <a:t>Хлеб, молоко, печенье</a:t>
                      </a:r>
                    </a:p>
                  </a:txBody>
                  <a:tcPr marL="19050" marR="19050" marT="19050" marB="19050">
                    <a:lnL>
                      <a:noFill/>
                    </a:lnL>
                    <a:lnR>
                      <a:noFill/>
                    </a:lnR>
                    <a:lnT>
                      <a:noFill/>
                    </a:lnT>
                    <a:lnB>
                      <a:noFill/>
                    </a:lnB>
                    <a:solidFill>
                      <a:srgbClr val="FFFFFF"/>
                    </a:solidFill>
                  </a:tcPr>
                </a:tc>
                <a:tc vMerge="1">
                  <a:txBody>
                    <a:bodyPr/>
                    <a:lstStyle/>
                    <a:p>
                      <a:endParaRPr lang="ru-RU"/>
                    </a:p>
                  </a:txBody>
                  <a:tcPr/>
                </a:tc>
                <a:tc>
                  <a:txBody>
                    <a:bodyPr/>
                    <a:lstStyle/>
                    <a:p>
                      <a:r>
                        <a:rPr lang="ru-RU" sz="1400">
                          <a:effectLst/>
                        </a:rPr>
                        <a:t>100</a:t>
                      </a:r>
                    </a:p>
                  </a:txBody>
                  <a:tcPr marL="19050" marR="19050" marT="19050" marB="19050">
                    <a:lnL>
                      <a:noFill/>
                    </a:lnL>
                    <a:lnR>
                      <a:noFill/>
                    </a:lnR>
                    <a:lnT>
                      <a:noFill/>
                    </a:lnT>
                    <a:lnB>
                      <a:noFill/>
                    </a:lnB>
                    <a:solidFill>
                      <a:srgbClr val="FFFFFF"/>
                    </a:solidFill>
                  </a:tcPr>
                </a:tc>
                <a:tc>
                  <a:txBody>
                    <a:bodyPr/>
                    <a:lstStyle/>
                    <a:p>
                      <a:r>
                        <a:rPr lang="en-US" sz="1400">
                          <a:effectLst/>
                        </a:rPr>
                        <a:t>a, b, c</a:t>
                      </a:r>
                    </a:p>
                  </a:txBody>
                  <a:tcPr marL="19050" marR="19050" marT="19050" marB="19050">
                    <a:lnL>
                      <a:noFill/>
                    </a:lnL>
                    <a:lnR>
                      <a:noFill/>
                    </a:lnR>
                    <a:lnT>
                      <a:noFill/>
                    </a:lnT>
                    <a:lnB>
                      <a:noFill/>
                    </a:lnB>
                    <a:solidFill>
                      <a:srgbClr val="FFFFFF"/>
                    </a:solidFill>
                  </a:tcPr>
                </a:tc>
                <a:extLst>
                  <a:ext uri="{0D108BD9-81ED-4DB2-BD59-A6C34878D82A}">
                    <a16:rowId xmlns:a16="http://schemas.microsoft.com/office/drawing/2014/main" val="1940852151"/>
                  </a:ext>
                </a:extLst>
              </a:tr>
              <a:tr h="0">
                <a:tc>
                  <a:txBody>
                    <a:bodyPr/>
                    <a:lstStyle/>
                    <a:p>
                      <a:r>
                        <a:rPr lang="ru-RU" sz="1400">
                          <a:effectLst/>
                        </a:rPr>
                        <a:t>200</a:t>
                      </a:r>
                    </a:p>
                  </a:txBody>
                  <a:tcPr marL="19050" marR="19050" marT="19050" marB="19050">
                    <a:lnL>
                      <a:noFill/>
                    </a:lnL>
                    <a:lnR>
                      <a:noFill/>
                    </a:lnR>
                    <a:lnT>
                      <a:noFill/>
                    </a:lnT>
                    <a:lnB>
                      <a:noFill/>
                    </a:lnB>
                    <a:solidFill>
                      <a:srgbClr val="FFFFFF"/>
                    </a:solidFill>
                  </a:tcPr>
                </a:tc>
                <a:tc>
                  <a:txBody>
                    <a:bodyPr/>
                    <a:lstStyle/>
                    <a:p>
                      <a:r>
                        <a:rPr lang="ru-RU" sz="1400" dirty="0">
                          <a:effectLst/>
                        </a:rPr>
                        <a:t>Молоко, сметана</a:t>
                      </a:r>
                    </a:p>
                  </a:txBody>
                  <a:tcPr marL="19050" marR="19050" marT="19050" marB="19050">
                    <a:lnL>
                      <a:noFill/>
                    </a:lnL>
                    <a:lnR>
                      <a:noFill/>
                    </a:lnR>
                    <a:lnT>
                      <a:noFill/>
                    </a:lnT>
                    <a:lnB>
                      <a:noFill/>
                    </a:lnB>
                    <a:solidFill>
                      <a:srgbClr val="FFFFFF"/>
                    </a:solidFill>
                  </a:tcPr>
                </a:tc>
                <a:tc vMerge="1">
                  <a:txBody>
                    <a:bodyPr/>
                    <a:lstStyle/>
                    <a:p>
                      <a:endParaRPr lang="ru-RU"/>
                    </a:p>
                  </a:txBody>
                  <a:tcPr>
                    <a:lnL w="12700" cmpd="sng">
                      <a:noFill/>
                      <a:prstDash val="solid"/>
                    </a:lnL>
                    <a:lnT w="12700" cmpd="sng">
                      <a:noFill/>
                      <a:prstDash val="solid"/>
                    </a:lnT>
                  </a:tcPr>
                </a:tc>
                <a:tc>
                  <a:txBody>
                    <a:bodyPr/>
                    <a:lstStyle/>
                    <a:p>
                      <a:r>
                        <a:rPr lang="ru-RU" sz="1400" dirty="0">
                          <a:effectLst/>
                        </a:rPr>
                        <a:t>200</a:t>
                      </a:r>
                    </a:p>
                  </a:txBody>
                  <a:tcPr marL="19050" marR="19050" marT="19050" marB="19050">
                    <a:lnR>
                      <a:noFill/>
                    </a:lnR>
                    <a:lnT>
                      <a:noFill/>
                    </a:lnT>
                    <a:lnB>
                      <a:noFill/>
                    </a:lnB>
                    <a:solidFill>
                      <a:srgbClr val="FFFFFF"/>
                    </a:solidFill>
                  </a:tcPr>
                </a:tc>
                <a:tc>
                  <a:txBody>
                    <a:bodyPr/>
                    <a:lstStyle/>
                    <a:p>
                      <a:pPr>
                        <a:tabLst/>
                      </a:pPr>
                      <a:r>
                        <a:rPr lang="en-US" sz="1400" dirty="0">
                          <a:effectLst/>
                        </a:rPr>
                        <a:t>b, d</a:t>
                      </a:r>
                    </a:p>
                  </a:txBody>
                  <a:tcPr marL="19050" marR="19050" marT="19050" marB="19050">
                    <a:lnL>
                      <a:noFill/>
                    </a:lnL>
                    <a:lnR>
                      <a:noFill/>
                    </a:lnR>
                    <a:lnT>
                      <a:noFill/>
                    </a:lnT>
                    <a:lnB>
                      <a:noFill/>
                    </a:lnB>
                    <a:solidFill>
                      <a:srgbClr val="FFFFFF"/>
                    </a:solidFill>
                  </a:tcPr>
                </a:tc>
                <a:extLst>
                  <a:ext uri="{0D108BD9-81ED-4DB2-BD59-A6C34878D82A}">
                    <a16:rowId xmlns:a16="http://schemas.microsoft.com/office/drawing/2014/main" val="4210266851"/>
                  </a:ext>
                </a:extLst>
              </a:tr>
              <a:tr h="0">
                <a:tc>
                  <a:txBody>
                    <a:bodyPr/>
                    <a:lstStyle/>
                    <a:p>
                      <a:r>
                        <a:rPr lang="ru-RU" sz="1400">
                          <a:effectLst/>
                        </a:rPr>
                        <a:t>300</a:t>
                      </a:r>
                    </a:p>
                  </a:txBody>
                  <a:tcPr marL="19050" marR="19050" marT="19050" marB="19050">
                    <a:lnL>
                      <a:noFill/>
                    </a:lnL>
                    <a:lnR>
                      <a:noFill/>
                    </a:lnR>
                    <a:lnT>
                      <a:noFill/>
                    </a:lnT>
                    <a:lnB>
                      <a:noFill/>
                    </a:lnB>
                    <a:solidFill>
                      <a:srgbClr val="FFFFFF"/>
                    </a:solidFill>
                  </a:tcPr>
                </a:tc>
                <a:tc>
                  <a:txBody>
                    <a:bodyPr/>
                    <a:lstStyle/>
                    <a:p>
                      <a:r>
                        <a:rPr lang="ru-RU" sz="1400" dirty="0">
                          <a:effectLst/>
                        </a:rPr>
                        <a:t>Молоко, хлеб, сметана, печенье</a:t>
                      </a:r>
                    </a:p>
                  </a:txBody>
                  <a:tcPr marL="19050" marR="19050" marT="19050" marB="19050">
                    <a:lnL>
                      <a:noFill/>
                    </a:lnL>
                    <a:lnR>
                      <a:noFill/>
                    </a:lnR>
                    <a:lnT>
                      <a:noFill/>
                    </a:lnT>
                    <a:lnB>
                      <a:noFill/>
                    </a:lnB>
                    <a:solidFill>
                      <a:srgbClr val="FFFFFF"/>
                    </a:solidFill>
                  </a:tcPr>
                </a:tc>
                <a:tc vMerge="1">
                  <a:txBody>
                    <a:bodyPr/>
                    <a:lstStyle/>
                    <a:p>
                      <a:endParaRPr lang="ru-RU"/>
                    </a:p>
                  </a:txBody>
                  <a:tcPr/>
                </a:tc>
                <a:tc>
                  <a:txBody>
                    <a:bodyPr/>
                    <a:lstStyle/>
                    <a:p>
                      <a:r>
                        <a:rPr lang="ru-RU" sz="1400" dirty="0">
                          <a:effectLst/>
                        </a:rPr>
                        <a:t>300</a:t>
                      </a:r>
                    </a:p>
                  </a:txBody>
                  <a:tcPr marL="19050" marR="19050" marT="19050" marB="19050">
                    <a:lnL>
                      <a:noFill/>
                    </a:lnL>
                    <a:lnR>
                      <a:noFill/>
                    </a:lnR>
                    <a:lnT>
                      <a:noFill/>
                    </a:lnT>
                    <a:lnB>
                      <a:noFill/>
                    </a:lnB>
                    <a:solidFill>
                      <a:srgbClr val="FFFFFF"/>
                    </a:solidFill>
                  </a:tcPr>
                </a:tc>
                <a:tc>
                  <a:txBody>
                    <a:bodyPr/>
                    <a:lstStyle/>
                    <a:p>
                      <a:r>
                        <a:rPr lang="en-US" sz="1400">
                          <a:effectLst/>
                        </a:rPr>
                        <a:t>b, a, d, c</a:t>
                      </a:r>
                    </a:p>
                  </a:txBody>
                  <a:tcPr marL="19050" marR="19050" marT="19050" marB="19050">
                    <a:lnL>
                      <a:noFill/>
                    </a:lnL>
                    <a:lnR>
                      <a:noFill/>
                    </a:lnR>
                    <a:lnT>
                      <a:noFill/>
                    </a:lnT>
                    <a:lnB>
                      <a:noFill/>
                    </a:lnB>
                    <a:solidFill>
                      <a:srgbClr val="FFFFFF"/>
                    </a:solidFill>
                  </a:tcPr>
                </a:tc>
                <a:extLst>
                  <a:ext uri="{0D108BD9-81ED-4DB2-BD59-A6C34878D82A}">
                    <a16:rowId xmlns:a16="http://schemas.microsoft.com/office/drawing/2014/main" val="1857978130"/>
                  </a:ext>
                </a:extLst>
              </a:tr>
              <a:tr h="0">
                <a:tc>
                  <a:txBody>
                    <a:bodyPr/>
                    <a:lstStyle/>
                    <a:p>
                      <a:r>
                        <a:rPr lang="ru-RU" sz="1400">
                          <a:effectLst/>
                        </a:rPr>
                        <a:t>400</a:t>
                      </a:r>
                    </a:p>
                  </a:txBody>
                  <a:tcPr marL="19050" marR="19050" marT="19050" marB="19050">
                    <a:lnL>
                      <a:noFill/>
                    </a:lnL>
                    <a:lnR>
                      <a:noFill/>
                    </a:lnR>
                    <a:lnT>
                      <a:noFill/>
                    </a:lnT>
                    <a:lnB>
                      <a:noFill/>
                    </a:lnB>
                    <a:solidFill>
                      <a:srgbClr val="FFFFFF"/>
                    </a:solidFill>
                  </a:tcPr>
                </a:tc>
                <a:tc>
                  <a:txBody>
                    <a:bodyPr/>
                    <a:lstStyle/>
                    <a:p>
                      <a:r>
                        <a:rPr lang="ru-RU" sz="1400">
                          <a:effectLst/>
                        </a:rPr>
                        <a:t>Колбаса, сметана</a:t>
                      </a:r>
                    </a:p>
                  </a:txBody>
                  <a:tcPr marL="19050" marR="19050" marT="19050" marB="19050">
                    <a:lnL>
                      <a:noFill/>
                    </a:lnL>
                    <a:lnR>
                      <a:noFill/>
                    </a:lnR>
                    <a:lnT>
                      <a:noFill/>
                    </a:lnT>
                    <a:lnB>
                      <a:noFill/>
                    </a:lnB>
                    <a:solidFill>
                      <a:srgbClr val="FFFFFF"/>
                    </a:solidFill>
                  </a:tcPr>
                </a:tc>
                <a:tc vMerge="1">
                  <a:txBody>
                    <a:bodyPr/>
                    <a:lstStyle/>
                    <a:p>
                      <a:endParaRPr lang="ru-RU"/>
                    </a:p>
                  </a:txBody>
                  <a:tcPr/>
                </a:tc>
                <a:tc>
                  <a:txBody>
                    <a:bodyPr/>
                    <a:lstStyle/>
                    <a:p>
                      <a:r>
                        <a:rPr lang="ru-RU" sz="1400">
                          <a:effectLst/>
                        </a:rPr>
                        <a:t>400</a:t>
                      </a:r>
                    </a:p>
                  </a:txBody>
                  <a:tcPr marL="19050" marR="19050" marT="19050" marB="19050">
                    <a:lnL>
                      <a:noFill/>
                    </a:lnL>
                    <a:lnR>
                      <a:noFill/>
                    </a:lnR>
                    <a:lnT>
                      <a:noFill/>
                    </a:lnT>
                    <a:lnB>
                      <a:noFill/>
                    </a:lnB>
                    <a:solidFill>
                      <a:srgbClr val="FFFFFF"/>
                    </a:solidFill>
                  </a:tcPr>
                </a:tc>
                <a:tc>
                  <a:txBody>
                    <a:bodyPr/>
                    <a:lstStyle/>
                    <a:p>
                      <a:r>
                        <a:rPr lang="en-US" sz="1400" dirty="0">
                          <a:effectLst/>
                        </a:rPr>
                        <a:t>e, d</a:t>
                      </a:r>
                    </a:p>
                  </a:txBody>
                  <a:tcPr marL="19050" marR="19050" marT="19050" marB="19050">
                    <a:lnL>
                      <a:noFill/>
                    </a:lnL>
                    <a:lnR>
                      <a:noFill/>
                    </a:lnR>
                    <a:lnT>
                      <a:noFill/>
                    </a:lnT>
                    <a:lnB>
                      <a:noFill/>
                    </a:lnB>
                    <a:solidFill>
                      <a:srgbClr val="FFFFFF"/>
                    </a:solidFill>
                  </a:tcPr>
                </a:tc>
                <a:extLst>
                  <a:ext uri="{0D108BD9-81ED-4DB2-BD59-A6C34878D82A}">
                    <a16:rowId xmlns:a16="http://schemas.microsoft.com/office/drawing/2014/main" val="1166110082"/>
                  </a:ext>
                </a:extLst>
              </a:tr>
              <a:tr h="0">
                <a:tc>
                  <a:txBody>
                    <a:bodyPr/>
                    <a:lstStyle/>
                    <a:p>
                      <a:r>
                        <a:rPr lang="ru-RU" sz="1400">
                          <a:effectLst/>
                        </a:rPr>
                        <a:t>500</a:t>
                      </a:r>
                    </a:p>
                  </a:txBody>
                  <a:tcPr marL="19050" marR="19050" marT="19050" marB="19050">
                    <a:lnL>
                      <a:noFill/>
                    </a:lnL>
                    <a:lnR>
                      <a:noFill/>
                    </a:lnR>
                    <a:lnT>
                      <a:noFill/>
                    </a:lnT>
                    <a:lnB>
                      <a:noFill/>
                    </a:lnB>
                    <a:solidFill>
                      <a:srgbClr val="FFFFFF"/>
                    </a:solidFill>
                  </a:tcPr>
                </a:tc>
                <a:tc>
                  <a:txBody>
                    <a:bodyPr/>
                    <a:lstStyle/>
                    <a:p>
                      <a:r>
                        <a:rPr lang="ru-RU" sz="1400" dirty="0">
                          <a:effectLst/>
                        </a:rPr>
                        <a:t>Хлеб, молоко, печенье, сметана</a:t>
                      </a:r>
                    </a:p>
                  </a:txBody>
                  <a:tcPr marL="19050" marR="19050" marT="19050" marB="19050">
                    <a:lnL>
                      <a:noFill/>
                    </a:lnL>
                    <a:lnR>
                      <a:noFill/>
                    </a:lnR>
                    <a:lnT>
                      <a:noFill/>
                    </a:lnT>
                    <a:lnB>
                      <a:noFill/>
                    </a:lnB>
                    <a:solidFill>
                      <a:srgbClr val="FFFFFF"/>
                    </a:solidFill>
                  </a:tcPr>
                </a:tc>
                <a:tc vMerge="1">
                  <a:txBody>
                    <a:bodyPr/>
                    <a:lstStyle/>
                    <a:p>
                      <a:endParaRPr lang="ru-RU"/>
                    </a:p>
                  </a:txBody>
                  <a:tcPr/>
                </a:tc>
                <a:tc>
                  <a:txBody>
                    <a:bodyPr/>
                    <a:lstStyle/>
                    <a:p>
                      <a:r>
                        <a:rPr lang="ru-RU" sz="1400">
                          <a:effectLst/>
                        </a:rPr>
                        <a:t>500</a:t>
                      </a:r>
                    </a:p>
                  </a:txBody>
                  <a:tcPr marL="19050" marR="19050" marT="19050" marB="19050">
                    <a:lnL>
                      <a:noFill/>
                    </a:lnL>
                    <a:lnR>
                      <a:noFill/>
                    </a:lnR>
                    <a:lnT>
                      <a:noFill/>
                    </a:lnT>
                    <a:lnB>
                      <a:noFill/>
                    </a:lnB>
                    <a:solidFill>
                      <a:srgbClr val="FFFFFF"/>
                    </a:solidFill>
                  </a:tcPr>
                </a:tc>
                <a:tc>
                  <a:txBody>
                    <a:bodyPr/>
                    <a:lstStyle/>
                    <a:p>
                      <a:r>
                        <a:rPr lang="en-US" sz="1400" dirty="0">
                          <a:effectLst/>
                        </a:rPr>
                        <a:t>a, b, c, d</a:t>
                      </a:r>
                    </a:p>
                  </a:txBody>
                  <a:tcPr marL="19050" marR="19050" marT="19050" marB="19050">
                    <a:lnL>
                      <a:noFill/>
                    </a:lnL>
                    <a:lnR>
                      <a:noFill/>
                    </a:lnR>
                    <a:lnT>
                      <a:noFill/>
                    </a:lnT>
                    <a:lnB>
                      <a:noFill/>
                    </a:lnB>
                    <a:solidFill>
                      <a:srgbClr val="FFFFFF"/>
                    </a:solidFill>
                  </a:tcPr>
                </a:tc>
                <a:extLst>
                  <a:ext uri="{0D108BD9-81ED-4DB2-BD59-A6C34878D82A}">
                    <a16:rowId xmlns:a16="http://schemas.microsoft.com/office/drawing/2014/main" val="4138096708"/>
                  </a:ext>
                </a:extLst>
              </a:tr>
              <a:tr h="0">
                <a:tc>
                  <a:txBody>
                    <a:bodyPr/>
                    <a:lstStyle/>
                    <a:p>
                      <a:r>
                        <a:rPr lang="ru-RU" sz="1400">
                          <a:effectLst/>
                        </a:rPr>
                        <a:t>600</a:t>
                      </a:r>
                    </a:p>
                  </a:txBody>
                  <a:tcPr marL="19050" marR="19050" marT="19050" marB="19050">
                    <a:lnL>
                      <a:noFill/>
                    </a:lnL>
                    <a:lnR>
                      <a:noFill/>
                    </a:lnR>
                    <a:lnT>
                      <a:noFill/>
                    </a:lnT>
                    <a:lnB>
                      <a:noFill/>
                    </a:lnB>
                    <a:solidFill>
                      <a:srgbClr val="FFFFFF"/>
                    </a:solidFill>
                  </a:tcPr>
                </a:tc>
                <a:tc>
                  <a:txBody>
                    <a:bodyPr/>
                    <a:lstStyle/>
                    <a:p>
                      <a:r>
                        <a:rPr lang="ru-RU" sz="1400">
                          <a:effectLst/>
                        </a:rPr>
                        <a:t>Конфеты</a:t>
                      </a:r>
                    </a:p>
                  </a:txBody>
                  <a:tcPr marL="19050" marR="19050" marT="19050" marB="19050">
                    <a:lnL>
                      <a:noFill/>
                    </a:lnL>
                    <a:lnR>
                      <a:noFill/>
                    </a:lnR>
                    <a:lnT>
                      <a:noFill/>
                    </a:lnT>
                    <a:lnB>
                      <a:noFill/>
                    </a:lnB>
                    <a:solidFill>
                      <a:srgbClr val="FFFFFF"/>
                    </a:solidFill>
                  </a:tcPr>
                </a:tc>
                <a:tc vMerge="1">
                  <a:txBody>
                    <a:bodyPr/>
                    <a:lstStyle/>
                    <a:p>
                      <a:endParaRPr lang="ru-RU"/>
                    </a:p>
                  </a:txBody>
                  <a:tcPr/>
                </a:tc>
                <a:tc>
                  <a:txBody>
                    <a:bodyPr/>
                    <a:lstStyle/>
                    <a:p>
                      <a:r>
                        <a:rPr lang="ru-RU" sz="1400">
                          <a:effectLst/>
                        </a:rPr>
                        <a:t>600</a:t>
                      </a:r>
                    </a:p>
                  </a:txBody>
                  <a:tcPr marL="19050" marR="19050" marT="19050" marB="19050">
                    <a:lnL>
                      <a:noFill/>
                    </a:lnL>
                    <a:lnR>
                      <a:noFill/>
                    </a:lnR>
                    <a:lnT>
                      <a:noFill/>
                    </a:lnT>
                    <a:lnB>
                      <a:noFill/>
                    </a:lnB>
                    <a:solidFill>
                      <a:srgbClr val="FFFFFF"/>
                    </a:solidFill>
                  </a:tcPr>
                </a:tc>
                <a:tc>
                  <a:txBody>
                    <a:bodyPr/>
                    <a:lstStyle/>
                    <a:p>
                      <a:r>
                        <a:rPr lang="en-US" sz="1400" dirty="0">
                          <a:effectLst/>
                        </a:rPr>
                        <a:t>f</a:t>
                      </a:r>
                    </a:p>
                  </a:txBody>
                  <a:tcPr marL="19050" marR="19050" marT="19050" marB="19050">
                    <a:lnL>
                      <a:noFill/>
                    </a:lnL>
                    <a:lnR>
                      <a:noFill/>
                    </a:lnR>
                    <a:lnT>
                      <a:noFill/>
                    </a:lnT>
                    <a:lnB>
                      <a:noFill/>
                    </a:lnB>
                    <a:solidFill>
                      <a:srgbClr val="FFFFFF"/>
                    </a:solidFill>
                  </a:tcPr>
                </a:tc>
                <a:extLst>
                  <a:ext uri="{0D108BD9-81ED-4DB2-BD59-A6C34878D82A}">
                    <a16:rowId xmlns:a16="http://schemas.microsoft.com/office/drawing/2014/main" val="1153386950"/>
                  </a:ext>
                </a:extLst>
              </a:tr>
            </a:tbl>
          </a:graphicData>
        </a:graphic>
      </p:graphicFrame>
    </p:spTree>
    <p:extLst>
      <p:ext uri="{BB962C8B-B14F-4D97-AF65-F5344CB8AC3E}">
        <p14:creationId xmlns:p14="http://schemas.microsoft.com/office/powerpoint/2010/main" val="22002287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4A0EBA-F1E7-F809-F690-F89855A3B5AE}"/>
              </a:ext>
            </a:extLst>
          </p:cNvPr>
          <p:cNvSpPr>
            <a:spLocks noGrp="1"/>
          </p:cNvSpPr>
          <p:nvPr>
            <p:ph type="title"/>
          </p:nvPr>
        </p:nvSpPr>
        <p:spPr/>
        <p:txBody>
          <a:bodyPr/>
          <a:lstStyle/>
          <a:p>
            <a:r>
              <a:rPr lang="ru-RU" dirty="0"/>
              <a:t>Метрика </a:t>
            </a:r>
            <a:r>
              <a:rPr lang="en-US" dirty="0"/>
              <a:t>Lift</a:t>
            </a:r>
            <a:endParaRPr lang="ru-RU"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99F29930-D6E7-8861-47AE-724068FBEA00}"/>
                  </a:ext>
                </a:extLst>
              </p:cNvPr>
              <p:cNvSpPr>
                <a:spLocks noGrp="1"/>
              </p:cNvSpPr>
              <p:nvPr>
                <p:ph idx="1"/>
              </p:nvPr>
            </p:nvSpPr>
            <p:spPr>
              <a:xfrm>
                <a:off x="628650" y="990600"/>
                <a:ext cx="7886700" cy="5186363"/>
              </a:xfrm>
            </p:spPr>
            <p:txBody>
              <a:bodyPr>
                <a:normAutofit/>
              </a:bodyPr>
              <a:lstStyle/>
              <a:p>
                <a:pPr marL="0" indent="0">
                  <a:buNone/>
                </a:pPr>
                <a:r>
                  <a:rPr lang="ru-RU" b="0" i="0" dirty="0">
                    <a:effectLst/>
                  </a:rPr>
                  <a:t>Метрика </a:t>
                </a:r>
                <a:r>
                  <a:rPr lang="ru-RU" b="0" i="0" dirty="0" err="1">
                    <a:effectLst/>
                  </a:rPr>
                  <a:t>Lift</a:t>
                </a:r>
                <a:r>
                  <a:rPr lang="ru-RU" b="0" i="0" dirty="0">
                    <a:effectLst/>
                  </a:rPr>
                  <a:t> используется для определения значимости ассоциативного правила и показывает, насколько чаще условие и следствие встречаются вместе по сравнению с тем, как часто они встречаются по отдельности.</a:t>
                </a:r>
                <a:endParaRPr lang="en-US" b="0" i="0" dirty="0">
                  <a:effectLst/>
                </a:endParaRP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effectLst/>
                          <a:latin typeface="Cambria Math" panose="02040503050406030204" pitchFamily="18" charset="0"/>
                        </a:rPr>
                        <m:t>𝐿𝑖𝑓𝑡</m:t>
                      </m:r>
                      <m:d>
                        <m:dPr>
                          <m:ctrlPr>
                            <a:rPr lang="en-US" b="0" i="1" smtClean="0">
                              <a:effectLst/>
                              <a:latin typeface="Cambria Math" panose="02040503050406030204" pitchFamily="18" charset="0"/>
                            </a:rPr>
                          </m:ctrlPr>
                        </m:dPr>
                        <m:e>
                          <m:r>
                            <a:rPr lang="en-US" b="0" i="1" smtClean="0">
                              <a:effectLst/>
                              <a:latin typeface="Cambria Math" panose="02040503050406030204" pitchFamily="18" charset="0"/>
                            </a:rPr>
                            <m:t>𝑥</m:t>
                          </m:r>
                          <m:r>
                            <a:rPr lang="en-US" b="0" i="1" smtClean="0">
                              <a:effectLst/>
                              <a:latin typeface="Cambria Math" panose="02040503050406030204" pitchFamily="18" charset="0"/>
                            </a:rPr>
                            <m:t>→</m:t>
                          </m:r>
                          <m:r>
                            <a:rPr lang="en-US" b="0" i="1" smtClean="0">
                              <a:effectLst/>
                              <a:latin typeface="Cambria Math" panose="02040503050406030204" pitchFamily="18" charset="0"/>
                            </a:rPr>
                            <m:t>𝑦</m:t>
                          </m:r>
                        </m:e>
                      </m:d>
                      <m:r>
                        <a:rPr lang="en-US" b="0" i="1" smtClean="0">
                          <a:effectLst/>
                          <a:latin typeface="Cambria Math" panose="02040503050406030204" pitchFamily="18" charset="0"/>
                        </a:rPr>
                        <m:t>=</m:t>
                      </m:r>
                      <m:f>
                        <m:fPr>
                          <m:ctrlPr>
                            <a:rPr lang="en-US" b="0" i="1" smtClean="0">
                              <a:effectLst/>
                              <a:latin typeface="Cambria Math" panose="02040503050406030204" pitchFamily="18" charset="0"/>
                            </a:rPr>
                          </m:ctrlPr>
                        </m:fPr>
                        <m:num>
                          <m:r>
                            <a:rPr lang="en-US" b="0" i="1" smtClean="0">
                              <a:effectLst/>
                              <a:latin typeface="Cambria Math" panose="02040503050406030204" pitchFamily="18" charset="0"/>
                            </a:rPr>
                            <m:t>𝑆𝑢𝑝𝑝𝑜𝑟𝑡</m:t>
                          </m:r>
                          <m:d>
                            <m:dPr>
                              <m:ctrlPr>
                                <a:rPr lang="en-US" b="0" i="1" smtClean="0">
                                  <a:effectLst/>
                                  <a:latin typeface="Cambria Math" panose="02040503050406030204" pitchFamily="18" charset="0"/>
                                </a:rPr>
                              </m:ctrlPr>
                            </m:dPr>
                            <m:e>
                              <m:r>
                                <a:rPr lang="en-US" b="0" i="1" smtClean="0">
                                  <a:effectLst/>
                                  <a:latin typeface="Cambria Math" panose="02040503050406030204" pitchFamily="18" charset="0"/>
                                </a:rPr>
                                <m:t>𝑥</m:t>
                              </m:r>
                              <m:r>
                                <a:rPr lang="en-US" b="0" i="1" smtClean="0">
                                  <a:effectLst/>
                                  <a:latin typeface="Cambria Math" panose="02040503050406030204" pitchFamily="18" charset="0"/>
                                </a:rPr>
                                <m:t>∪</m:t>
                              </m:r>
                              <m:r>
                                <a:rPr lang="en-US" b="0" i="1" smtClean="0">
                                  <a:effectLst/>
                                  <a:latin typeface="Cambria Math" panose="02040503050406030204" pitchFamily="18" charset="0"/>
                                </a:rPr>
                                <m:t>𝑦</m:t>
                              </m:r>
                            </m:e>
                          </m:d>
                        </m:num>
                        <m:den>
                          <m:r>
                            <a:rPr lang="en-US" b="0" i="1" smtClean="0">
                              <a:effectLst/>
                              <a:latin typeface="Cambria Math" panose="02040503050406030204" pitchFamily="18" charset="0"/>
                            </a:rPr>
                            <m:t>𝑆𝑢𝑝𝑝𝑜𝑟𝑡</m:t>
                          </m:r>
                          <m:d>
                            <m:dPr>
                              <m:ctrlPr>
                                <a:rPr lang="en-US" b="0" i="1" smtClean="0">
                                  <a:effectLst/>
                                  <a:latin typeface="Cambria Math" panose="02040503050406030204" pitchFamily="18" charset="0"/>
                                </a:rPr>
                              </m:ctrlPr>
                            </m:dPr>
                            <m:e>
                              <m:r>
                                <a:rPr lang="en-US" b="0" i="1" smtClean="0">
                                  <a:effectLst/>
                                  <a:latin typeface="Cambria Math" panose="02040503050406030204" pitchFamily="18" charset="0"/>
                                </a:rPr>
                                <m:t>𝑥</m:t>
                              </m:r>
                            </m:e>
                          </m:d>
                          <m:r>
                            <a:rPr lang="en-US" b="0" i="1" smtClean="0">
                              <a:effectLst/>
                              <a:latin typeface="Cambria Math" panose="02040503050406030204" pitchFamily="18" charset="0"/>
                            </a:rPr>
                            <m:t>⋅</m:t>
                          </m:r>
                          <m:r>
                            <a:rPr lang="en-US" b="0" i="1" smtClean="0">
                              <a:effectLst/>
                              <a:latin typeface="Cambria Math" panose="02040503050406030204" pitchFamily="18" charset="0"/>
                            </a:rPr>
                            <m:t>𝑆𝑢𝑝𝑝𝑜𝑟𝑡</m:t>
                          </m:r>
                          <m:r>
                            <a:rPr lang="en-US" b="0" i="1" smtClean="0">
                              <a:effectLst/>
                              <a:latin typeface="Cambria Math" panose="02040503050406030204" pitchFamily="18" charset="0"/>
                            </a:rPr>
                            <m:t>(</m:t>
                          </m:r>
                          <m:r>
                            <a:rPr lang="en-US" b="0" i="1" smtClean="0">
                              <a:effectLst/>
                              <a:latin typeface="Cambria Math" panose="02040503050406030204" pitchFamily="18" charset="0"/>
                            </a:rPr>
                            <m:t>𝑦</m:t>
                          </m:r>
                          <m:r>
                            <a:rPr lang="en-US" b="0" i="1" smtClean="0">
                              <a:effectLst/>
                              <a:latin typeface="Cambria Math" panose="02040503050406030204" pitchFamily="18" charset="0"/>
                            </a:rPr>
                            <m:t>)</m:t>
                          </m:r>
                        </m:den>
                      </m:f>
                      <m:r>
                        <a:rPr lang="en-US" b="0" i="1" smtClean="0">
                          <a:effectLst/>
                          <a:latin typeface="Cambria Math" panose="02040503050406030204" pitchFamily="18" charset="0"/>
                        </a:rPr>
                        <m:t>=</m:t>
                      </m:r>
                      <m:f>
                        <m:fPr>
                          <m:ctrlPr>
                            <a:rPr lang="en-US" b="0" i="1" smtClean="0">
                              <a:effectLst/>
                              <a:latin typeface="Cambria Math" panose="02040503050406030204" pitchFamily="18" charset="0"/>
                            </a:rPr>
                          </m:ctrlPr>
                        </m:fPr>
                        <m:num>
                          <m:r>
                            <a:rPr lang="en-US" i="1">
                              <a:latin typeface="Cambria Math" panose="02040503050406030204" pitchFamily="18" charset="0"/>
                            </a:rPr>
                            <m:t>𝑃</m:t>
                          </m:r>
                          <m:d>
                            <m:dPr>
                              <m:endChr m:val="|"/>
                              <m:ctrlPr>
                                <a:rPr lang="en-US" i="1">
                                  <a:latin typeface="Cambria Math" panose="02040503050406030204" pitchFamily="18" charset="0"/>
                                </a:rPr>
                              </m:ctrlPr>
                            </m:dPr>
                            <m:e>
                              <m:r>
                                <a:rPr lang="en-US" b="0" i="1" smtClean="0">
                                  <a:latin typeface="Cambria Math" panose="02040503050406030204" pitchFamily="18" charset="0"/>
                                </a:rPr>
                                <m:t>𝑥</m:t>
                              </m:r>
                              <m:r>
                                <a:rPr lang="en-US" i="1">
                                  <a:latin typeface="Cambria Math" panose="02040503050406030204" pitchFamily="18" charset="0"/>
                                </a:rPr>
                                <m:t> </m:t>
                              </m:r>
                            </m:e>
                          </m:d>
                          <m:r>
                            <a:rPr lang="en-US" i="1">
                              <a:latin typeface="Cambria Math" panose="02040503050406030204" pitchFamily="18" charset="0"/>
                            </a:rPr>
                            <m:t> </m:t>
                          </m:r>
                          <m:r>
                            <a:rPr lang="en-US" b="0" i="1" smtClean="0">
                              <a:latin typeface="Cambria Math" panose="02040503050406030204" pitchFamily="18" charset="0"/>
                            </a:rPr>
                            <m:t>𝑦</m:t>
                          </m:r>
                          <m:r>
                            <a:rPr lang="en-US" i="1">
                              <a:latin typeface="Cambria Math" panose="02040503050406030204" pitchFamily="18" charset="0"/>
                            </a:rPr>
                            <m:t>)</m:t>
                          </m:r>
                        </m:num>
                        <m:den>
                          <m:r>
                            <a:rPr lang="en-US" b="0" i="1" smtClean="0">
                              <a:effectLst/>
                              <a:latin typeface="Cambria Math" panose="02040503050406030204" pitchFamily="18" charset="0"/>
                            </a:rPr>
                            <m:t>𝑃</m:t>
                          </m:r>
                          <m:d>
                            <m:dPr>
                              <m:ctrlPr>
                                <a:rPr lang="en-US" b="0" i="1" smtClean="0">
                                  <a:effectLst/>
                                  <a:latin typeface="Cambria Math" panose="02040503050406030204" pitchFamily="18" charset="0"/>
                                </a:rPr>
                              </m:ctrlPr>
                            </m:dPr>
                            <m:e>
                              <m:r>
                                <a:rPr lang="en-US" b="0" i="1" smtClean="0">
                                  <a:effectLst/>
                                  <a:latin typeface="Cambria Math" panose="02040503050406030204" pitchFamily="18" charset="0"/>
                                </a:rPr>
                                <m:t>𝑥</m:t>
                              </m:r>
                            </m:e>
                          </m:d>
                        </m:den>
                      </m:f>
                    </m:oMath>
                  </m:oMathPara>
                </a14:m>
                <a:endParaRPr lang="en-US" b="0" i="0" dirty="0">
                  <a:effectLst/>
                </a:endParaRPr>
              </a:p>
              <a:p>
                <a:pPr marL="0" indent="0">
                  <a:buNone/>
                </a:pPr>
                <a:endParaRPr lang="en-US" dirty="0"/>
              </a:p>
              <a:p>
                <a:pPr marL="0" indent="0" algn="l">
                  <a:spcAft>
                    <a:spcPts val="1200"/>
                  </a:spcAft>
                  <a:buNone/>
                </a:pPr>
                <a14:m>
                  <m:oMath xmlns:m="http://schemas.openxmlformats.org/officeDocument/2006/math">
                    <m:r>
                      <a:rPr lang="ru-RU" b="0" i="1" dirty="0" smtClean="0">
                        <a:effectLst/>
                        <a:latin typeface="Cambria Math" panose="02040503050406030204" pitchFamily="18" charset="0"/>
                      </a:rPr>
                      <m:t>𝐿𝑖𝑓𝑡</m:t>
                    </m:r>
                    <m:r>
                      <a:rPr lang="ru-RU" b="0" i="1" dirty="0" smtClean="0">
                        <a:effectLst/>
                        <a:latin typeface="Cambria Math" panose="02040503050406030204" pitchFamily="18" charset="0"/>
                      </a:rPr>
                      <m:t> &gt; 1: </m:t>
                    </m:r>
                  </m:oMath>
                </a14:m>
                <a:r>
                  <a:rPr lang="en-US" b="0" i="0" dirty="0">
                    <a:effectLst/>
                  </a:rPr>
                  <a:t>	</a:t>
                </a:r>
                <a:r>
                  <a:rPr lang="ru-RU" b="0" i="0" dirty="0">
                    <a:effectLst/>
                  </a:rPr>
                  <a:t>условие и следствие чаще встречаются вместе, чем </a:t>
                </a:r>
                <a:r>
                  <a:rPr lang="en-US" b="0" i="0" dirty="0">
                    <a:effectLst/>
                  </a:rPr>
                  <a:t>			</a:t>
                </a:r>
                <a:r>
                  <a:rPr lang="ru-RU" b="0" i="0" dirty="0">
                    <a:effectLst/>
                  </a:rPr>
                  <a:t>можно было бы ожидать случайно. </a:t>
                </a:r>
                <a:endParaRPr lang="en-US" b="0" i="0" dirty="0">
                  <a:effectLst/>
                </a:endParaRPr>
              </a:p>
              <a:p>
                <a:pPr marL="0" indent="0" algn="l">
                  <a:spcAft>
                    <a:spcPts val="1200"/>
                  </a:spcAft>
                  <a:buNone/>
                </a:pPr>
                <a14:m>
                  <m:oMath xmlns:m="http://schemas.openxmlformats.org/officeDocument/2006/math">
                    <m:r>
                      <a:rPr lang="en-US" b="0" i="1" dirty="0" smtClean="0">
                        <a:effectLst/>
                        <a:latin typeface="Cambria Math" panose="02040503050406030204" pitchFamily="18" charset="0"/>
                      </a:rPr>
                      <m:t>𝐿𝑖𝑓𝑡</m:t>
                    </m:r>
                    <m:r>
                      <a:rPr lang="en-US" b="0" i="1" dirty="0" smtClean="0">
                        <a:effectLst/>
                        <a:latin typeface="Cambria Math" panose="02040503050406030204" pitchFamily="18" charset="0"/>
                      </a:rPr>
                      <m:t> = 1:</m:t>
                    </m:r>
                  </m:oMath>
                </a14:m>
                <a:r>
                  <a:rPr lang="en-US" dirty="0"/>
                  <a:t>	</a:t>
                </a:r>
                <a:r>
                  <a:rPr lang="ru-RU" dirty="0"/>
                  <a:t>условие и следствие встречаются </a:t>
                </a:r>
                <a:r>
                  <a:rPr lang="ru-RU" b="0" i="0" dirty="0">
                    <a:effectLst/>
                  </a:rPr>
                  <a:t>примерно в той же 			пропорции, что и по отдельности</a:t>
                </a:r>
              </a:p>
              <a:p>
                <a:pPr marL="0" indent="0" algn="l">
                  <a:spcAft>
                    <a:spcPts val="1200"/>
                  </a:spcAft>
                  <a:buNone/>
                </a:pPr>
                <a14:m>
                  <m:oMath xmlns:m="http://schemas.openxmlformats.org/officeDocument/2006/math">
                    <m:r>
                      <a:rPr lang="en-US" b="0" i="1" dirty="0" smtClean="0">
                        <a:effectLst/>
                        <a:latin typeface="Cambria Math" panose="02040503050406030204" pitchFamily="18" charset="0"/>
                      </a:rPr>
                      <m:t>𝐿𝑖𝑓𝑡</m:t>
                    </m:r>
                    <m:r>
                      <a:rPr lang="en-US" b="0" i="1" dirty="0" smtClean="0">
                        <a:effectLst/>
                        <a:latin typeface="Cambria Math" panose="02040503050406030204" pitchFamily="18" charset="0"/>
                      </a:rPr>
                      <m:t> &lt; 1:</m:t>
                    </m:r>
                  </m:oMath>
                </a14:m>
                <a:r>
                  <a:rPr lang="ru-RU" b="0" i="0" dirty="0">
                    <a:effectLst/>
                  </a:rPr>
                  <a:t>	условие и следствие встречаются вместе реже, чем 			можно было бы ожидать случайно</a:t>
                </a:r>
              </a:p>
            </p:txBody>
          </p:sp>
        </mc:Choice>
        <mc:Fallback xmlns="">
          <p:sp>
            <p:nvSpPr>
              <p:cNvPr id="3" name="Объект 2">
                <a:extLst>
                  <a:ext uri="{FF2B5EF4-FFF2-40B4-BE49-F238E27FC236}">
                    <a16:creationId xmlns:a16="http://schemas.microsoft.com/office/drawing/2014/main" id="{99F29930-D6E7-8861-47AE-724068FBEA00}"/>
                  </a:ext>
                </a:extLst>
              </p:cNvPr>
              <p:cNvSpPr>
                <a:spLocks noGrp="1" noRot="1" noChangeAspect="1" noMove="1" noResize="1" noEditPoints="1" noAdjustHandles="1" noChangeArrowheads="1" noChangeShapeType="1" noTextEdit="1"/>
              </p:cNvSpPr>
              <p:nvPr>
                <p:ph idx="1"/>
              </p:nvPr>
            </p:nvSpPr>
            <p:spPr>
              <a:xfrm>
                <a:off x="628650" y="990600"/>
                <a:ext cx="7886700" cy="5186363"/>
              </a:xfrm>
              <a:blipFill>
                <a:blip r:embed="rId2"/>
                <a:stretch>
                  <a:fillRect l="-927" t="-1412"/>
                </a:stretch>
              </a:blipFill>
            </p:spPr>
            <p:txBody>
              <a:bodyPr/>
              <a:lstStyle/>
              <a:p>
                <a:r>
                  <a:rPr lang="ru-RU">
                    <a:noFill/>
                  </a:rPr>
                  <a:t> </a:t>
                </a:r>
              </a:p>
            </p:txBody>
          </p:sp>
        </mc:Fallback>
      </mc:AlternateContent>
      <p:sp>
        <p:nvSpPr>
          <p:cNvPr id="4" name="Нижний колонтитул 3">
            <a:extLst>
              <a:ext uri="{FF2B5EF4-FFF2-40B4-BE49-F238E27FC236}">
                <a16:creationId xmlns:a16="http://schemas.microsoft.com/office/drawing/2014/main" id="{68984B92-BBF8-0C68-474B-5489046A6E33}"/>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395ECC8E-72A3-67A8-6B55-0CAA58A24ADA}"/>
              </a:ext>
            </a:extLst>
          </p:cNvPr>
          <p:cNvSpPr>
            <a:spLocks noGrp="1"/>
          </p:cNvSpPr>
          <p:nvPr>
            <p:ph type="sldNum" sz="quarter" idx="12"/>
          </p:nvPr>
        </p:nvSpPr>
        <p:spPr/>
        <p:txBody>
          <a:bodyPr/>
          <a:lstStyle/>
          <a:p>
            <a:fld id="{81C5FB71-5E9C-41B5-9BB8-3F1EBEAEB16A}" type="slidenum">
              <a:rPr lang="ru-RU" smtClean="0"/>
              <a:t>19</a:t>
            </a:fld>
            <a:endParaRPr lang="ru-RU"/>
          </a:p>
        </p:txBody>
      </p:sp>
    </p:spTree>
    <p:extLst>
      <p:ext uri="{BB962C8B-B14F-4D97-AF65-F5344CB8AC3E}">
        <p14:creationId xmlns:p14="http://schemas.microsoft.com/office/powerpoint/2010/main" val="1540950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8779D-A534-FCEB-E630-D303C5AC95B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9421B6A-776C-F1D6-8DE8-1F55DBE65194}"/>
              </a:ext>
            </a:extLst>
          </p:cNvPr>
          <p:cNvSpPr>
            <a:spLocks noGrp="1"/>
          </p:cNvSpPr>
          <p:nvPr>
            <p:ph type="title"/>
          </p:nvPr>
        </p:nvSpPr>
        <p:spPr/>
        <p:txBody>
          <a:bodyPr/>
          <a:lstStyle/>
          <a:p>
            <a:r>
              <a:rPr lang="ru-RU" dirty="0"/>
              <a:t>Метрика </a:t>
            </a:r>
            <a:r>
              <a:rPr lang="en-US" dirty="0"/>
              <a:t>Lift</a:t>
            </a:r>
            <a:endParaRPr lang="ru-RU" dirty="0"/>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687DEB0B-1577-7206-F686-3E0EF29F8CD9}"/>
                  </a:ext>
                </a:extLst>
              </p:cNvPr>
              <p:cNvSpPr>
                <a:spLocks noGrp="1"/>
              </p:cNvSpPr>
              <p:nvPr>
                <p:ph idx="1"/>
              </p:nvPr>
            </p:nvSpPr>
            <p:spPr>
              <a:xfrm>
                <a:off x="628650" y="990600"/>
                <a:ext cx="7886700" cy="5186363"/>
              </a:xfrm>
            </p:spPr>
            <p:txBody>
              <a:bodyPr>
                <a:normAutofit/>
              </a:bodyPr>
              <a:lstStyle/>
              <a:p>
                <a:pPr marL="0" indent="0">
                  <a:buNone/>
                </a:pPr>
                <a:r>
                  <a:rPr lang="ru-RU" b="0" i="0" dirty="0">
                    <a:solidFill>
                      <a:srgbClr val="333333"/>
                    </a:solidFill>
                    <a:effectLst/>
                  </a:rPr>
                  <a:t>Conviction — предназначена для измерения степени зависимости между предметами в правиле и помогает определить, насколько часто правило нарушается.</a:t>
                </a:r>
              </a:p>
              <a:p>
                <a:pPr marL="0" indent="0">
                  <a:buNone/>
                </a:pPr>
                <a:endParaRPr lang="en-US" dirty="0">
                  <a:latin typeface="YS Text"/>
                </a:endParaRPr>
              </a:p>
              <a:p>
                <a:pPr marL="0" indent="0">
                  <a:buNone/>
                </a:pPr>
                <a14:m>
                  <m:oMathPara xmlns:m="http://schemas.openxmlformats.org/officeDocument/2006/math">
                    <m:oMathParaPr>
                      <m:jc m:val="centerGroup"/>
                    </m:oMathParaPr>
                    <m:oMath xmlns:m="http://schemas.openxmlformats.org/officeDocument/2006/math">
                      <m:r>
                        <a:rPr lang="en-US" b="0" i="1" smtClean="0">
                          <a:effectLst/>
                          <a:latin typeface="Cambria Math" panose="02040503050406030204" pitchFamily="18" charset="0"/>
                        </a:rPr>
                        <m:t>𝐶𝑜𝑛𝑣𝑖𝑐𝑡𝑖𝑜𝑛</m:t>
                      </m:r>
                      <m:d>
                        <m:dPr>
                          <m:ctrlPr>
                            <a:rPr lang="en-US" b="0" i="1" smtClean="0">
                              <a:effectLst/>
                              <a:latin typeface="Cambria Math" panose="02040503050406030204" pitchFamily="18" charset="0"/>
                            </a:rPr>
                          </m:ctrlPr>
                        </m:dPr>
                        <m:e>
                          <m:r>
                            <a:rPr lang="en-US" b="0" i="1" smtClean="0">
                              <a:effectLst/>
                              <a:latin typeface="Cambria Math" panose="02040503050406030204" pitchFamily="18" charset="0"/>
                            </a:rPr>
                            <m:t>𝑥</m:t>
                          </m:r>
                          <m:r>
                            <a:rPr lang="en-US" i="1">
                              <a:latin typeface="Cambria Math" panose="02040503050406030204" pitchFamily="18" charset="0"/>
                            </a:rPr>
                            <m:t>→</m:t>
                          </m:r>
                          <m:r>
                            <a:rPr lang="en-US" b="0" i="1" smtClean="0">
                              <a:effectLst/>
                              <a:latin typeface="Cambria Math" panose="02040503050406030204" pitchFamily="18" charset="0"/>
                            </a:rPr>
                            <m:t>𝑦</m:t>
                          </m:r>
                        </m:e>
                      </m:d>
                      <m:r>
                        <a:rPr lang="en-US" b="0" i="1" smtClean="0">
                          <a:effectLst/>
                          <a:latin typeface="Cambria Math" panose="02040503050406030204" pitchFamily="18" charset="0"/>
                        </a:rPr>
                        <m:t>=</m:t>
                      </m:r>
                      <m:f>
                        <m:fPr>
                          <m:ctrlPr>
                            <a:rPr lang="en-US" b="0" i="1" smtClean="0">
                              <a:effectLst/>
                              <a:latin typeface="Cambria Math" panose="02040503050406030204" pitchFamily="18" charset="0"/>
                            </a:rPr>
                          </m:ctrlPr>
                        </m:fPr>
                        <m:num>
                          <m:r>
                            <a:rPr lang="en-US" b="0" i="1" smtClean="0">
                              <a:effectLst/>
                              <a:latin typeface="Cambria Math" panose="02040503050406030204" pitchFamily="18" charset="0"/>
                            </a:rPr>
                            <m:t>1−</m:t>
                          </m:r>
                          <m:r>
                            <a:rPr lang="en-US" b="0" i="1" smtClean="0">
                              <a:effectLst/>
                              <a:latin typeface="Cambria Math" panose="02040503050406030204" pitchFamily="18" charset="0"/>
                            </a:rPr>
                            <m:t>𝑆𝑢𝑝𝑝𝑜𝑟𝑡</m:t>
                          </m:r>
                          <m:r>
                            <a:rPr lang="en-US" b="0" i="1" smtClean="0">
                              <a:effectLst/>
                              <a:latin typeface="Cambria Math" panose="02040503050406030204" pitchFamily="18" charset="0"/>
                            </a:rPr>
                            <m:t>(</m:t>
                          </m:r>
                          <m:r>
                            <a:rPr lang="en-US" b="0" i="1" smtClean="0">
                              <a:effectLst/>
                              <a:latin typeface="Cambria Math" panose="02040503050406030204" pitchFamily="18" charset="0"/>
                            </a:rPr>
                            <m:t>𝑦</m:t>
                          </m:r>
                          <m:r>
                            <a:rPr lang="en-US" b="0" i="1" smtClean="0">
                              <a:effectLst/>
                              <a:latin typeface="Cambria Math" panose="02040503050406030204" pitchFamily="18" charset="0"/>
                            </a:rPr>
                            <m:t>)</m:t>
                          </m:r>
                        </m:num>
                        <m:den>
                          <m:r>
                            <a:rPr lang="en-US" b="0" i="1" smtClean="0">
                              <a:effectLst/>
                              <a:latin typeface="Cambria Math" panose="02040503050406030204" pitchFamily="18" charset="0"/>
                            </a:rPr>
                            <m:t>1−</m:t>
                          </m:r>
                          <m:r>
                            <a:rPr lang="en-US" b="0" i="1" smtClean="0">
                              <a:effectLst/>
                              <a:latin typeface="Cambria Math" panose="02040503050406030204" pitchFamily="18" charset="0"/>
                            </a:rPr>
                            <m:t>𝐶𝑜𝑛𝑓𝑖𝑑𝑒𝑛𝑐𝑒</m:t>
                          </m:r>
                          <m:r>
                            <a:rPr lang="en-US" b="0" i="1" smtClean="0">
                              <a:effectLst/>
                              <a:latin typeface="Cambria Math" panose="02040503050406030204" pitchFamily="18" charset="0"/>
                            </a:rPr>
                            <m:t>(</m:t>
                          </m:r>
                          <m:r>
                            <a:rPr lang="en-US" b="0" i="1" smtClean="0">
                              <a:effectLst/>
                              <a:latin typeface="Cambria Math" panose="02040503050406030204" pitchFamily="18" charset="0"/>
                            </a:rPr>
                            <m:t>𝑥</m:t>
                          </m:r>
                          <m:r>
                            <a:rPr lang="en-US" b="0" i="1" smtClean="0">
                              <a:effectLst/>
                              <a:latin typeface="Cambria Math" panose="02040503050406030204" pitchFamily="18" charset="0"/>
                            </a:rPr>
                            <m:t>∪</m:t>
                          </m:r>
                          <m:r>
                            <a:rPr lang="en-US" b="0" i="1" smtClean="0">
                              <a:effectLst/>
                              <a:latin typeface="Cambria Math" panose="02040503050406030204" pitchFamily="18" charset="0"/>
                            </a:rPr>
                            <m:t>𝑦</m:t>
                          </m:r>
                          <m:r>
                            <a:rPr lang="en-US" b="0" i="1" smtClean="0">
                              <a:effectLst/>
                              <a:latin typeface="Cambria Math" panose="02040503050406030204" pitchFamily="18" charset="0"/>
                            </a:rPr>
                            <m:t>)</m:t>
                          </m:r>
                        </m:den>
                      </m:f>
                    </m:oMath>
                  </m:oMathPara>
                </a14:m>
                <a:endParaRPr lang="en-US" b="0" i="0" dirty="0">
                  <a:effectLst/>
                  <a:latin typeface="YS Text"/>
                </a:endParaRPr>
              </a:p>
              <a:p>
                <a:pPr marL="0" indent="0">
                  <a:buNone/>
                </a:pPr>
                <a:endParaRPr lang="ru-RU" dirty="0">
                  <a:latin typeface="YS Text"/>
                </a:endParaRPr>
              </a:p>
              <a:p>
                <a:r>
                  <a:rPr lang="ru-RU" dirty="0" err="1"/>
                  <a:t>Conviction</a:t>
                </a:r>
                <a:r>
                  <a:rPr lang="ru-RU" dirty="0"/>
                  <a:t> старается показать, насколько наличие  </a:t>
                </a:r>
                <a:r>
                  <a:rPr lang="en-US" i="1" dirty="0"/>
                  <a:t>x</a:t>
                </a:r>
                <a:r>
                  <a:rPr lang="ru-RU" dirty="0"/>
                  <a:t>  увеличивает вероятность отсутствия </a:t>
                </a:r>
                <a:r>
                  <a:rPr lang="en-US" i="1" dirty="0"/>
                  <a:t>y</a:t>
                </a:r>
                <a:endParaRPr lang="ru-RU" i="1" dirty="0"/>
              </a:p>
              <a:p>
                <a:r>
                  <a:rPr lang="ru-RU" dirty="0"/>
                  <a:t>Если знаменатель равен 1, это означает, что  </a:t>
                </a:r>
                <a:r>
                  <a:rPr lang="en-US" dirty="0"/>
                  <a:t>x</a:t>
                </a:r>
                <a:r>
                  <a:rPr lang="ru-RU" dirty="0"/>
                  <a:t> и  </a:t>
                </a:r>
                <a:r>
                  <a:rPr lang="en-US" dirty="0"/>
                  <a:t>y</a:t>
                </a:r>
                <a:r>
                  <a:rPr lang="ru-RU" dirty="0"/>
                  <a:t>  являются независимыми событиями</a:t>
                </a:r>
              </a:p>
              <a:p>
                <a:r>
                  <a:rPr lang="ru-RU" dirty="0"/>
                  <a:t>Чем больше значение </a:t>
                </a:r>
                <a:r>
                  <a:rPr lang="ru-RU" dirty="0" err="1"/>
                  <a:t>conviction</a:t>
                </a:r>
                <a:r>
                  <a:rPr lang="ru-RU" dirty="0"/>
                  <a:t>, тем сильнее связь между </a:t>
                </a:r>
                <a:r>
                  <a:rPr lang="en-US" dirty="0"/>
                  <a:t>x</a:t>
                </a:r>
                <a:r>
                  <a:rPr lang="ru-RU" dirty="0"/>
                  <a:t>  и </a:t>
                </a:r>
                <a:r>
                  <a:rPr lang="en-US" dirty="0"/>
                  <a:t>y</a:t>
                </a:r>
              </a:p>
            </p:txBody>
          </p:sp>
        </mc:Choice>
        <mc:Fallback>
          <p:sp>
            <p:nvSpPr>
              <p:cNvPr id="3" name="Объект 2">
                <a:extLst>
                  <a:ext uri="{FF2B5EF4-FFF2-40B4-BE49-F238E27FC236}">
                    <a16:creationId xmlns:a16="http://schemas.microsoft.com/office/drawing/2014/main" id="{687DEB0B-1577-7206-F686-3E0EF29F8CD9}"/>
                  </a:ext>
                </a:extLst>
              </p:cNvPr>
              <p:cNvSpPr>
                <a:spLocks noGrp="1" noRot="1" noChangeAspect="1" noMove="1" noResize="1" noEditPoints="1" noAdjustHandles="1" noChangeArrowheads="1" noChangeShapeType="1" noTextEdit="1"/>
              </p:cNvSpPr>
              <p:nvPr>
                <p:ph idx="1"/>
              </p:nvPr>
            </p:nvSpPr>
            <p:spPr>
              <a:xfrm>
                <a:off x="628650" y="990600"/>
                <a:ext cx="7886700" cy="5186363"/>
              </a:xfrm>
              <a:blipFill>
                <a:blip r:embed="rId2"/>
                <a:stretch>
                  <a:fillRect l="-927" t="-1412" r="-232"/>
                </a:stretch>
              </a:blipFill>
            </p:spPr>
            <p:txBody>
              <a:bodyPr/>
              <a:lstStyle/>
              <a:p>
                <a:r>
                  <a:rPr lang="ru-RU">
                    <a:noFill/>
                  </a:rPr>
                  <a:t> </a:t>
                </a:r>
              </a:p>
            </p:txBody>
          </p:sp>
        </mc:Fallback>
      </mc:AlternateContent>
      <p:sp>
        <p:nvSpPr>
          <p:cNvPr id="4" name="Нижний колонтитул 3">
            <a:extLst>
              <a:ext uri="{FF2B5EF4-FFF2-40B4-BE49-F238E27FC236}">
                <a16:creationId xmlns:a16="http://schemas.microsoft.com/office/drawing/2014/main" id="{87017884-A5A0-72E0-7A4D-7DA3D6EDD2F6}"/>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391D61D-2551-3775-D973-212AEB9AF938}"/>
              </a:ext>
            </a:extLst>
          </p:cNvPr>
          <p:cNvSpPr>
            <a:spLocks noGrp="1"/>
          </p:cNvSpPr>
          <p:nvPr>
            <p:ph type="sldNum" sz="quarter" idx="12"/>
          </p:nvPr>
        </p:nvSpPr>
        <p:spPr/>
        <p:txBody>
          <a:bodyPr/>
          <a:lstStyle/>
          <a:p>
            <a:fld id="{81C5FB71-5E9C-41B5-9BB8-3F1EBEAEB16A}" type="slidenum">
              <a:rPr lang="ru-RU" smtClean="0"/>
              <a:t>20</a:t>
            </a:fld>
            <a:endParaRPr lang="ru-RU"/>
          </a:p>
        </p:txBody>
      </p:sp>
    </p:spTree>
    <p:extLst>
      <p:ext uri="{BB962C8B-B14F-4D97-AF65-F5344CB8AC3E}">
        <p14:creationId xmlns:p14="http://schemas.microsoft.com/office/powerpoint/2010/main" val="12679271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089CBB-2092-490C-81F1-546C2B3A5F1D}"/>
              </a:ext>
            </a:extLst>
          </p:cNvPr>
          <p:cNvSpPr>
            <a:spLocks noGrp="1"/>
          </p:cNvSpPr>
          <p:nvPr>
            <p:ph type="title"/>
          </p:nvPr>
        </p:nvSpPr>
        <p:spPr/>
        <p:txBody>
          <a:bodyPr/>
          <a:lstStyle/>
          <a:p>
            <a:r>
              <a:rPr lang="ru-RU" dirty="0"/>
              <a:t>Задача нахождения ассоциативных правил разбивается на две подзадачи:</a:t>
            </a:r>
          </a:p>
        </p:txBody>
      </p:sp>
      <p:sp>
        <p:nvSpPr>
          <p:cNvPr id="3" name="Объект 2">
            <a:extLst>
              <a:ext uri="{FF2B5EF4-FFF2-40B4-BE49-F238E27FC236}">
                <a16:creationId xmlns:a16="http://schemas.microsoft.com/office/drawing/2014/main" id="{84FDC6D6-A977-4656-AD0B-DA57840A6139}"/>
              </a:ext>
            </a:extLst>
          </p:cNvPr>
          <p:cNvSpPr>
            <a:spLocks noGrp="1"/>
          </p:cNvSpPr>
          <p:nvPr>
            <p:ph idx="1"/>
          </p:nvPr>
        </p:nvSpPr>
        <p:spPr/>
        <p:txBody>
          <a:bodyPr/>
          <a:lstStyle/>
          <a:p>
            <a:pPr marL="457200" indent="-457200" algn="just">
              <a:buFont typeface="+mj-lt"/>
              <a:buAutoNum type="arabicPeriod"/>
            </a:pPr>
            <a:r>
              <a:rPr lang="ru-RU" dirty="0"/>
              <a:t>Нахождение всех наборов элементов, которые удовлетворяют порогу </a:t>
            </a:r>
            <a:r>
              <a:rPr lang="ru-RU" dirty="0" err="1"/>
              <a:t>minsupport</a:t>
            </a:r>
            <a:r>
              <a:rPr lang="ru-RU" dirty="0"/>
              <a:t>. Такие наборы элементов называются часто встречающимися.</a:t>
            </a:r>
          </a:p>
          <a:p>
            <a:pPr marL="457200" indent="-457200" algn="just">
              <a:buFont typeface="+mj-lt"/>
              <a:buAutoNum type="arabicPeriod"/>
            </a:pPr>
            <a:r>
              <a:rPr lang="ru-RU" dirty="0"/>
              <a:t>Генерация правил из наборов элементов, найденных согласно п.1. с достоверностью, удовлетворяющей порогу </a:t>
            </a:r>
            <a:r>
              <a:rPr lang="ru-RU" dirty="0" err="1"/>
              <a:t>minconfidence</a:t>
            </a:r>
            <a:r>
              <a:rPr lang="ru-RU" dirty="0"/>
              <a:t>.</a:t>
            </a:r>
          </a:p>
          <a:p>
            <a:pPr marL="0" indent="0" algn="just">
              <a:buNone/>
            </a:pPr>
            <a:endParaRPr lang="ru-RU" dirty="0"/>
          </a:p>
          <a:p>
            <a:pPr marL="0" indent="0" algn="just">
              <a:buNone/>
            </a:pPr>
            <a:r>
              <a:rPr lang="ru-RU" dirty="0"/>
              <a:t>Один из первых алгоритмов, эффективно решающих подобный класс задач, — это алгоритм </a:t>
            </a:r>
            <a:r>
              <a:rPr lang="ru-RU" dirty="0" err="1"/>
              <a:t>APriori</a:t>
            </a:r>
            <a:r>
              <a:rPr lang="ru-RU" dirty="0"/>
              <a:t>. Кроме него были разработаны и другие алгоритмы: DHP, </a:t>
            </a:r>
            <a:r>
              <a:rPr lang="ru-RU" dirty="0" err="1"/>
              <a:t>Partition</a:t>
            </a:r>
            <a:r>
              <a:rPr lang="ru-RU" dirty="0"/>
              <a:t>, DIC и другие.</a:t>
            </a:r>
          </a:p>
        </p:txBody>
      </p:sp>
      <p:sp>
        <p:nvSpPr>
          <p:cNvPr id="4" name="Нижний колонтитул 3">
            <a:extLst>
              <a:ext uri="{FF2B5EF4-FFF2-40B4-BE49-F238E27FC236}">
                <a16:creationId xmlns:a16="http://schemas.microsoft.com/office/drawing/2014/main" id="{83769FAF-C4DB-42BE-BFD3-8B6BA081382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ADB3C784-9942-46DC-98F2-27B7B1079A06}"/>
              </a:ext>
            </a:extLst>
          </p:cNvPr>
          <p:cNvSpPr>
            <a:spLocks noGrp="1"/>
          </p:cNvSpPr>
          <p:nvPr>
            <p:ph type="sldNum" sz="quarter" idx="12"/>
          </p:nvPr>
        </p:nvSpPr>
        <p:spPr/>
        <p:txBody>
          <a:bodyPr/>
          <a:lstStyle/>
          <a:p>
            <a:fld id="{81C5FB71-5E9C-41B5-9BB8-3F1EBEAEB16A}" type="slidenum">
              <a:rPr lang="ru-RU" smtClean="0"/>
              <a:t>21</a:t>
            </a:fld>
            <a:endParaRPr lang="ru-RU"/>
          </a:p>
        </p:txBody>
      </p:sp>
    </p:spTree>
    <p:extLst>
      <p:ext uri="{BB962C8B-B14F-4D97-AF65-F5344CB8AC3E}">
        <p14:creationId xmlns:p14="http://schemas.microsoft.com/office/powerpoint/2010/main" val="17956484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74BC8C-2780-4B28-84FD-4C0D5493804F}"/>
              </a:ext>
            </a:extLst>
          </p:cNvPr>
          <p:cNvSpPr>
            <a:spLocks noGrp="1"/>
          </p:cNvSpPr>
          <p:nvPr>
            <p:ph type="title"/>
          </p:nvPr>
        </p:nvSpPr>
        <p:spPr/>
        <p:txBody>
          <a:bodyPr/>
          <a:lstStyle/>
          <a:p>
            <a:pPr algn="ctr"/>
            <a:r>
              <a:rPr lang="ru-RU" dirty="0"/>
              <a:t>Значения для параметров минимальная поддержка и минимальная достоверность</a:t>
            </a:r>
          </a:p>
        </p:txBody>
      </p:sp>
      <p:sp>
        <p:nvSpPr>
          <p:cNvPr id="3" name="Объект 2">
            <a:extLst>
              <a:ext uri="{FF2B5EF4-FFF2-40B4-BE49-F238E27FC236}">
                <a16:creationId xmlns:a16="http://schemas.microsoft.com/office/drawing/2014/main" id="{CE473232-7B2D-4B24-B103-4F9E45D5A9A8}"/>
              </a:ext>
            </a:extLst>
          </p:cNvPr>
          <p:cNvSpPr>
            <a:spLocks noGrp="1"/>
          </p:cNvSpPr>
          <p:nvPr>
            <p:ph idx="1"/>
          </p:nvPr>
        </p:nvSpPr>
        <p:spPr/>
        <p:txBody>
          <a:bodyPr>
            <a:normAutofit lnSpcReduction="10000"/>
          </a:bodyPr>
          <a:lstStyle/>
          <a:p>
            <a:pPr marL="0" indent="0" algn="just">
              <a:buNone/>
            </a:pPr>
            <a:r>
              <a:rPr lang="ru-RU" dirty="0"/>
              <a:t>Значения для параметров минимальная поддержка и минимальная достоверность выбираются таким образом, чтобы ограничить количество найденных правил. Если поддержка имеет большое значение, то алгоритмы будут находить правила, хорошо известные аналитикам или настолько очевидные, что нет никакого смысла проводить такой анализ.</a:t>
            </a:r>
          </a:p>
          <a:p>
            <a:pPr marL="0" indent="0" algn="just">
              <a:buNone/>
            </a:pPr>
            <a:r>
              <a:rPr lang="ru-RU" dirty="0"/>
              <a:t>С другой стороны, низкое значение поддержки ведет к генерации огромного количества правил, что, конечно, требует существенных вычислительных ресурсов. Тем не менее, большинство интересных правил находится именно при низком значении порога поддержки. Хотя слишком низкое значение поддержки ведет к генерации статистически необоснованных правил.</a:t>
            </a:r>
          </a:p>
          <a:p>
            <a:pPr marL="0" indent="0" algn="just">
              <a:buNone/>
            </a:pPr>
            <a:r>
              <a:rPr lang="ru-RU" dirty="0"/>
              <a:t>Поиск ассоциативных правил совсем не тривиальная задача, как может показаться на первый взгляд. Одна из проблем — алгоритмическая сложность при нахождении часто встречающихся наборов элементов, т.к. с ростом числа элементов в I(∣I∣) экспоненциально растет число потенциальных наборов элементов.</a:t>
            </a:r>
          </a:p>
        </p:txBody>
      </p:sp>
      <p:sp>
        <p:nvSpPr>
          <p:cNvPr id="4" name="Нижний колонтитул 3">
            <a:extLst>
              <a:ext uri="{FF2B5EF4-FFF2-40B4-BE49-F238E27FC236}">
                <a16:creationId xmlns:a16="http://schemas.microsoft.com/office/drawing/2014/main" id="{14D28BBE-E2A9-49EA-980B-30DEF3E8D2E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5897419-BF17-4F11-BA78-3C7894CF2F08}"/>
              </a:ext>
            </a:extLst>
          </p:cNvPr>
          <p:cNvSpPr>
            <a:spLocks noGrp="1"/>
          </p:cNvSpPr>
          <p:nvPr>
            <p:ph type="sldNum" sz="quarter" idx="12"/>
          </p:nvPr>
        </p:nvSpPr>
        <p:spPr/>
        <p:txBody>
          <a:bodyPr/>
          <a:lstStyle/>
          <a:p>
            <a:fld id="{81C5FB71-5E9C-41B5-9BB8-3F1EBEAEB16A}" type="slidenum">
              <a:rPr lang="ru-RU" smtClean="0"/>
              <a:t>22</a:t>
            </a:fld>
            <a:endParaRPr lang="ru-RU"/>
          </a:p>
        </p:txBody>
      </p:sp>
    </p:spTree>
    <p:extLst>
      <p:ext uri="{BB962C8B-B14F-4D97-AF65-F5344CB8AC3E}">
        <p14:creationId xmlns:p14="http://schemas.microsoft.com/office/powerpoint/2010/main" val="42191744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B3A99D-9D01-42C9-9801-54E494EFD433}"/>
              </a:ext>
            </a:extLst>
          </p:cNvPr>
          <p:cNvSpPr>
            <a:spLocks noGrp="1"/>
          </p:cNvSpPr>
          <p:nvPr>
            <p:ph type="title"/>
          </p:nvPr>
        </p:nvSpPr>
        <p:spPr/>
        <p:txBody>
          <a:bodyPr/>
          <a:lstStyle/>
          <a:p>
            <a:pPr algn="ctr"/>
            <a:r>
              <a:rPr lang="ru-RU" dirty="0"/>
              <a:t>Обобщенные ассоциативные правила </a:t>
            </a:r>
            <a:br>
              <a:rPr lang="ru-RU" dirty="0"/>
            </a:br>
            <a:r>
              <a:rPr lang="ru-RU" dirty="0"/>
              <a:t>(</a:t>
            </a:r>
            <a:r>
              <a:rPr lang="ru-RU" dirty="0" err="1"/>
              <a:t>Generalized</a:t>
            </a:r>
            <a:r>
              <a:rPr lang="ru-RU" dirty="0"/>
              <a:t> Association </a:t>
            </a:r>
            <a:r>
              <a:rPr lang="ru-RU" dirty="0" err="1"/>
              <a:t>Rules</a:t>
            </a:r>
            <a:r>
              <a:rPr lang="ru-RU" dirty="0"/>
              <a:t>)</a:t>
            </a:r>
          </a:p>
        </p:txBody>
      </p:sp>
      <p:sp>
        <p:nvSpPr>
          <p:cNvPr id="3" name="Объект 2">
            <a:extLst>
              <a:ext uri="{FF2B5EF4-FFF2-40B4-BE49-F238E27FC236}">
                <a16:creationId xmlns:a16="http://schemas.microsoft.com/office/drawing/2014/main" id="{4B19C0EF-723A-480D-A195-C6092B65F6F8}"/>
              </a:ext>
            </a:extLst>
          </p:cNvPr>
          <p:cNvSpPr>
            <a:spLocks noGrp="1"/>
          </p:cNvSpPr>
          <p:nvPr>
            <p:ph idx="1"/>
          </p:nvPr>
        </p:nvSpPr>
        <p:spPr>
          <a:xfrm>
            <a:off x="628650" y="1170848"/>
            <a:ext cx="7886700" cy="5006116"/>
          </a:xfrm>
        </p:spPr>
        <p:txBody>
          <a:bodyPr>
            <a:normAutofit/>
          </a:bodyPr>
          <a:lstStyle/>
          <a:p>
            <a:pPr marL="0" indent="0" algn="just">
              <a:buNone/>
            </a:pPr>
            <a:r>
              <a:rPr lang="ru-RU" sz="2000" b="0" i="0" dirty="0">
                <a:solidFill>
                  <a:srgbClr val="333333"/>
                </a:solidFill>
                <a:effectLst/>
                <a:latin typeface="Source Sans Pro" panose="020B0503030403020204" pitchFamily="34" charset="0"/>
              </a:rPr>
              <a:t>При поиске ассоциативных правил мы предполагали, что все анализируемые элементы однородны. Возвращаясь к анализу рыночной корзины, это товары, имеющие совершенно одинаковые атрибуты, за исключением названия. Однако не составит большого труда дополнить транзакцию информацией о том, в какую товарную группу входит товар и построить иерархию товаров. Приведем пример такой группировки (</a:t>
            </a:r>
            <a:r>
              <a:rPr lang="ru-RU" sz="2000" b="0" i="0" u="none" strike="noStrike" dirty="0">
                <a:solidFill>
                  <a:srgbClr val="E1312F"/>
                </a:solidFill>
                <a:effectLst/>
                <a:latin typeface="Source Sans Pro" panose="020B0503030403020204" pitchFamily="34" charset="0"/>
              </a:rPr>
              <a:t>таксономии</a:t>
            </a:r>
            <a:r>
              <a:rPr lang="ru-RU" sz="2000" b="0" i="0" dirty="0">
                <a:solidFill>
                  <a:srgbClr val="333333"/>
                </a:solidFill>
                <a:effectLst/>
                <a:latin typeface="Source Sans Pro" panose="020B0503030403020204" pitchFamily="34" charset="0"/>
              </a:rPr>
              <a:t>) в виде иерархической модели.</a:t>
            </a:r>
            <a:endParaRPr lang="ru-RU" sz="2000" dirty="0"/>
          </a:p>
        </p:txBody>
      </p:sp>
      <p:sp>
        <p:nvSpPr>
          <p:cNvPr id="4" name="Нижний колонтитул 3">
            <a:extLst>
              <a:ext uri="{FF2B5EF4-FFF2-40B4-BE49-F238E27FC236}">
                <a16:creationId xmlns:a16="http://schemas.microsoft.com/office/drawing/2014/main" id="{2C12CE12-2FF5-46AC-AE87-DEA470672EDE}"/>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FC279DB-9C4E-47CF-87CC-0CEC7BF6EF43}"/>
              </a:ext>
            </a:extLst>
          </p:cNvPr>
          <p:cNvSpPr>
            <a:spLocks noGrp="1"/>
          </p:cNvSpPr>
          <p:nvPr>
            <p:ph type="sldNum" sz="quarter" idx="12"/>
          </p:nvPr>
        </p:nvSpPr>
        <p:spPr/>
        <p:txBody>
          <a:bodyPr/>
          <a:lstStyle/>
          <a:p>
            <a:fld id="{81C5FB71-5E9C-41B5-9BB8-3F1EBEAEB16A}" type="slidenum">
              <a:rPr lang="ru-RU" smtClean="0"/>
              <a:t>23</a:t>
            </a:fld>
            <a:endParaRPr lang="ru-RU"/>
          </a:p>
        </p:txBody>
      </p:sp>
      <p:pic>
        <p:nvPicPr>
          <p:cNvPr id="7" name="Рисунок 6">
            <a:extLst>
              <a:ext uri="{FF2B5EF4-FFF2-40B4-BE49-F238E27FC236}">
                <a16:creationId xmlns:a16="http://schemas.microsoft.com/office/drawing/2014/main" id="{FFF95CF4-CC20-4C82-8A4A-3DC159C40F3F}"/>
              </a:ext>
            </a:extLst>
          </p:cNvPr>
          <p:cNvPicPr>
            <a:picLocks noChangeAspect="1"/>
          </p:cNvPicPr>
          <p:nvPr/>
        </p:nvPicPr>
        <p:blipFill>
          <a:blip r:embed="rId2"/>
          <a:stretch>
            <a:fillRect/>
          </a:stretch>
        </p:blipFill>
        <p:spPr>
          <a:xfrm>
            <a:off x="2195288" y="3429000"/>
            <a:ext cx="4753423" cy="3272386"/>
          </a:xfrm>
          <a:prstGeom prst="rect">
            <a:avLst/>
          </a:prstGeom>
        </p:spPr>
      </p:pic>
      <p:sp>
        <p:nvSpPr>
          <p:cNvPr id="8" name="TextBox 7">
            <a:extLst>
              <a:ext uri="{FF2B5EF4-FFF2-40B4-BE49-F238E27FC236}">
                <a16:creationId xmlns:a16="http://schemas.microsoft.com/office/drawing/2014/main" id="{00723C15-33ED-4830-8E5F-20E854E35218}"/>
              </a:ext>
            </a:extLst>
          </p:cNvPr>
          <p:cNvSpPr txBox="1"/>
          <p:nvPr/>
        </p:nvSpPr>
        <p:spPr>
          <a:xfrm>
            <a:off x="7261515" y="4603528"/>
            <a:ext cx="1860318" cy="923330"/>
          </a:xfrm>
          <a:prstGeom prst="rect">
            <a:avLst/>
          </a:prstGeom>
          <a:noFill/>
        </p:spPr>
        <p:txBody>
          <a:bodyPr wrap="square" rtlCol="0">
            <a:spAutoFit/>
          </a:bodyPr>
          <a:lstStyle/>
          <a:p>
            <a:r>
              <a:rPr lang="ru-RU"/>
              <a:t>Пример иерахической модели</a:t>
            </a:r>
            <a:endParaRPr lang="ru-RU" dirty="0"/>
          </a:p>
        </p:txBody>
      </p:sp>
    </p:spTree>
    <p:extLst>
      <p:ext uri="{BB962C8B-B14F-4D97-AF65-F5344CB8AC3E}">
        <p14:creationId xmlns:p14="http://schemas.microsoft.com/office/powerpoint/2010/main" val="938239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4CF3E1-DF90-4FBF-BBEF-AC5647AB9C7D}"/>
              </a:ext>
            </a:extLst>
          </p:cNvPr>
          <p:cNvSpPr>
            <a:spLocks noGrp="1"/>
          </p:cNvSpPr>
          <p:nvPr>
            <p:ph type="title"/>
          </p:nvPr>
        </p:nvSpPr>
        <p:spPr/>
        <p:txBody>
          <a:bodyPr/>
          <a:lstStyle/>
          <a:p>
            <a:r>
              <a:rPr lang="ru-RU" dirty="0"/>
              <a:t>Пример обобщенных ассоциативных правил</a:t>
            </a:r>
          </a:p>
        </p:txBody>
      </p:sp>
      <p:sp>
        <p:nvSpPr>
          <p:cNvPr id="3" name="Объект 2">
            <a:extLst>
              <a:ext uri="{FF2B5EF4-FFF2-40B4-BE49-F238E27FC236}">
                <a16:creationId xmlns:a16="http://schemas.microsoft.com/office/drawing/2014/main" id="{62947A4F-6122-4A0B-B966-9D70EA08985F}"/>
              </a:ext>
            </a:extLst>
          </p:cNvPr>
          <p:cNvSpPr>
            <a:spLocks noGrp="1"/>
          </p:cNvSpPr>
          <p:nvPr>
            <p:ph idx="1"/>
          </p:nvPr>
        </p:nvSpPr>
        <p:spPr/>
        <p:txBody>
          <a:bodyPr/>
          <a:lstStyle/>
          <a:p>
            <a:pPr marL="0" indent="0" algn="just">
              <a:buNone/>
            </a:pPr>
            <a:r>
              <a:rPr lang="ru-RU" b="0" i="0" dirty="0">
                <a:solidFill>
                  <a:srgbClr val="333333"/>
                </a:solidFill>
                <a:effectLst/>
                <a:latin typeface="Source Sans Pro" panose="020B0503030403020204" pitchFamily="34" charset="0"/>
              </a:rPr>
              <a:t>Пусть нам дана база транзакций </a:t>
            </a:r>
            <a:r>
              <a:rPr lang="ru-RU" b="0" i="1" dirty="0">
                <a:solidFill>
                  <a:srgbClr val="333333"/>
                </a:solidFill>
                <a:effectLst/>
                <a:latin typeface="KaTeX_Math"/>
              </a:rPr>
              <a:t>D</a:t>
            </a:r>
            <a:r>
              <a:rPr lang="ru-RU" b="0" i="0" dirty="0">
                <a:solidFill>
                  <a:srgbClr val="333333"/>
                </a:solidFill>
                <a:effectLst/>
                <a:latin typeface="Source Sans Pro" panose="020B0503030403020204" pitchFamily="34" charset="0"/>
              </a:rPr>
              <a:t> и известно в какие группы (таксоны) входят элементы. Тогда можно извлекать из данных правила, связывающие группы с группами, отдельные элементы с группами и т.д.</a:t>
            </a:r>
          </a:p>
          <a:p>
            <a:pPr marL="0" indent="0" algn="just">
              <a:buNone/>
            </a:pPr>
            <a:r>
              <a:rPr lang="ru-RU" b="0" i="0" dirty="0">
                <a:solidFill>
                  <a:srgbClr val="333333"/>
                </a:solidFill>
                <a:effectLst/>
                <a:latin typeface="Source Sans Pro" panose="020B0503030403020204" pitchFamily="34" charset="0"/>
              </a:rPr>
              <a:t>Например, если Покупатель купил товар из группы «Безалкогольные напитки», то он купит и товар из группы «Молочные продукты» или «Сок» «Молочные продукты». Эти правила носят название обобщенных ассоциативных правил.</a:t>
            </a:r>
          </a:p>
          <a:p>
            <a:pPr marL="0" indent="0">
              <a:buNone/>
            </a:pPr>
            <a:endParaRPr lang="ru-RU" dirty="0"/>
          </a:p>
        </p:txBody>
      </p:sp>
      <p:sp>
        <p:nvSpPr>
          <p:cNvPr id="4" name="Нижний колонтитул 3">
            <a:extLst>
              <a:ext uri="{FF2B5EF4-FFF2-40B4-BE49-F238E27FC236}">
                <a16:creationId xmlns:a16="http://schemas.microsoft.com/office/drawing/2014/main" id="{C8066AB0-E550-488F-82F9-85788E2E16DC}"/>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4153A9CB-41D7-4A78-8B73-B8660223A8AD}"/>
              </a:ext>
            </a:extLst>
          </p:cNvPr>
          <p:cNvSpPr>
            <a:spLocks noGrp="1"/>
          </p:cNvSpPr>
          <p:nvPr>
            <p:ph type="sldNum" sz="quarter" idx="12"/>
          </p:nvPr>
        </p:nvSpPr>
        <p:spPr/>
        <p:txBody>
          <a:bodyPr/>
          <a:lstStyle/>
          <a:p>
            <a:fld id="{81C5FB71-5E9C-41B5-9BB8-3F1EBEAEB16A}" type="slidenum">
              <a:rPr lang="ru-RU" smtClean="0"/>
              <a:t>24</a:t>
            </a:fld>
            <a:endParaRPr lang="ru-RU"/>
          </a:p>
        </p:txBody>
      </p:sp>
    </p:spTree>
    <p:extLst>
      <p:ext uri="{BB962C8B-B14F-4D97-AF65-F5344CB8AC3E}">
        <p14:creationId xmlns:p14="http://schemas.microsoft.com/office/powerpoint/2010/main" val="17346494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060234-0331-4081-B71E-BF129CB4C7E4}"/>
              </a:ext>
            </a:extLst>
          </p:cNvPr>
          <p:cNvSpPr>
            <a:spLocks noGrp="1"/>
          </p:cNvSpPr>
          <p:nvPr>
            <p:ph type="title"/>
          </p:nvPr>
        </p:nvSpPr>
        <p:spPr/>
        <p:txBody>
          <a:bodyPr/>
          <a:lstStyle/>
          <a:p>
            <a:pPr algn="ctr"/>
            <a:r>
              <a:rPr lang="ru-RU" dirty="0"/>
              <a:t>Основные определения</a:t>
            </a:r>
          </a:p>
        </p:txBody>
      </p:sp>
      <p:pic>
        <p:nvPicPr>
          <p:cNvPr id="7" name="Объект 6">
            <a:extLst>
              <a:ext uri="{FF2B5EF4-FFF2-40B4-BE49-F238E27FC236}">
                <a16:creationId xmlns:a16="http://schemas.microsoft.com/office/drawing/2014/main" id="{F976712F-9826-42A3-9AE7-07CEDBF935BA}"/>
              </a:ext>
            </a:extLst>
          </p:cNvPr>
          <p:cNvPicPr>
            <a:picLocks noGrp="1" noChangeAspect="1"/>
          </p:cNvPicPr>
          <p:nvPr>
            <p:ph idx="1"/>
          </p:nvPr>
        </p:nvPicPr>
        <p:blipFill>
          <a:blip r:embed="rId2"/>
          <a:stretch>
            <a:fillRect/>
          </a:stretch>
        </p:blipFill>
        <p:spPr>
          <a:xfrm>
            <a:off x="661442" y="2338982"/>
            <a:ext cx="7821116" cy="2857899"/>
          </a:xfrm>
        </p:spPr>
      </p:pic>
      <p:sp>
        <p:nvSpPr>
          <p:cNvPr id="4" name="Нижний колонтитул 3">
            <a:extLst>
              <a:ext uri="{FF2B5EF4-FFF2-40B4-BE49-F238E27FC236}">
                <a16:creationId xmlns:a16="http://schemas.microsoft.com/office/drawing/2014/main" id="{A9741782-185B-4298-9804-E92684011C9C}"/>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99C85196-CF72-4029-BBF6-860B7B1AEDFB}"/>
              </a:ext>
            </a:extLst>
          </p:cNvPr>
          <p:cNvSpPr>
            <a:spLocks noGrp="1"/>
          </p:cNvSpPr>
          <p:nvPr>
            <p:ph type="sldNum" sz="quarter" idx="12"/>
          </p:nvPr>
        </p:nvSpPr>
        <p:spPr/>
        <p:txBody>
          <a:bodyPr/>
          <a:lstStyle/>
          <a:p>
            <a:fld id="{81C5FB71-5E9C-41B5-9BB8-3F1EBEAEB16A}" type="slidenum">
              <a:rPr lang="ru-RU" smtClean="0"/>
              <a:t>25</a:t>
            </a:fld>
            <a:endParaRPr lang="ru-RU"/>
          </a:p>
        </p:txBody>
      </p:sp>
    </p:spTree>
    <p:extLst>
      <p:ext uri="{BB962C8B-B14F-4D97-AF65-F5344CB8AC3E}">
        <p14:creationId xmlns:p14="http://schemas.microsoft.com/office/powerpoint/2010/main" val="19064613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F56D765-8C53-4EB0-B86C-7C1BE48B8238}"/>
              </a:ext>
            </a:extLst>
          </p:cNvPr>
          <p:cNvSpPr>
            <a:spLocks noGrp="1"/>
          </p:cNvSpPr>
          <p:nvPr>
            <p:ph type="title"/>
          </p:nvPr>
        </p:nvSpPr>
        <p:spPr/>
        <p:txBody>
          <a:bodyPr>
            <a:normAutofit fontScale="90000"/>
          </a:bodyPr>
          <a:lstStyle/>
          <a:p>
            <a:pPr algn="just"/>
            <a:r>
              <a:rPr lang="ru-RU" dirty="0"/>
              <a:t>Введение дополнительной информации о группировке элементов в виде иерархии даст следующие преимущества:</a:t>
            </a:r>
          </a:p>
        </p:txBody>
      </p:sp>
      <p:sp>
        <p:nvSpPr>
          <p:cNvPr id="3" name="Объект 2">
            <a:extLst>
              <a:ext uri="{FF2B5EF4-FFF2-40B4-BE49-F238E27FC236}">
                <a16:creationId xmlns:a16="http://schemas.microsoft.com/office/drawing/2014/main" id="{84C585EE-96C6-41AE-8B7E-D88FBB10F112}"/>
              </a:ext>
            </a:extLst>
          </p:cNvPr>
          <p:cNvSpPr>
            <a:spLocks noGrp="1"/>
          </p:cNvSpPr>
          <p:nvPr>
            <p:ph idx="1"/>
          </p:nvPr>
        </p:nvSpPr>
        <p:spPr>
          <a:xfrm>
            <a:off x="457200" y="1358782"/>
            <a:ext cx="8229600" cy="4997569"/>
          </a:xfrm>
        </p:spPr>
        <p:txBody>
          <a:bodyPr>
            <a:normAutofit fontScale="92500" lnSpcReduction="20000"/>
          </a:bodyPr>
          <a:lstStyle/>
          <a:p>
            <a:pPr marL="266700" indent="-266700" algn="just">
              <a:buFont typeface="+mj-lt"/>
              <a:buAutoNum type="arabicPeriod"/>
            </a:pPr>
            <a:r>
              <a:rPr lang="ru-RU" b="0" i="0" dirty="0">
                <a:solidFill>
                  <a:srgbClr val="333333"/>
                </a:solidFill>
                <a:effectLst/>
                <a:latin typeface="Source Sans Pro" panose="020B0503030403020204" pitchFamily="34" charset="0"/>
              </a:rPr>
              <a:t>Это помогает установить ассоциативные правила не только между отдельными элементами, но и между различными уровнями иерархии (группами).</a:t>
            </a:r>
          </a:p>
          <a:p>
            <a:pPr marL="266700" indent="-266700" algn="just">
              <a:buFont typeface="+mj-lt"/>
              <a:buAutoNum type="arabicPeriod"/>
            </a:pPr>
            <a:r>
              <a:rPr lang="ru-RU" b="0" i="0" dirty="0">
                <a:solidFill>
                  <a:srgbClr val="333333"/>
                </a:solidFill>
                <a:effectLst/>
                <a:latin typeface="Source Sans Pro" panose="020B0503030403020204" pitchFamily="34" charset="0"/>
              </a:rPr>
              <a:t>Отдельные элементы могут иметь недостаточную поддержку, но в целом группа может удовлетворять порогу </a:t>
            </a:r>
            <a:r>
              <a:rPr lang="ru-RU" b="0" i="0" dirty="0" err="1">
                <a:solidFill>
                  <a:srgbClr val="333333"/>
                </a:solidFill>
                <a:effectLst/>
                <a:latin typeface="Source Sans Pro" panose="020B0503030403020204" pitchFamily="34" charset="0"/>
              </a:rPr>
              <a:t>minsupport</a:t>
            </a:r>
            <a:r>
              <a:rPr lang="ru-RU" b="0" i="0" dirty="0">
                <a:solidFill>
                  <a:srgbClr val="333333"/>
                </a:solidFill>
                <a:effectLst/>
                <a:latin typeface="Source Sans Pro" panose="020B0503030403020204" pitchFamily="34" charset="0"/>
              </a:rPr>
              <a:t>.</a:t>
            </a:r>
          </a:p>
          <a:p>
            <a:pPr marL="266700" indent="-266700" algn="just">
              <a:buNone/>
            </a:pPr>
            <a:r>
              <a:rPr lang="ru-RU" dirty="0"/>
              <a:t>Для нахождения таких правил можно использовать любой из вышеназванных алгоритмов. Для этого каждую транзакцию нужно дополнить всеми предками каждого элемента, входящего в транзакцию. Однако, применение «в лоб» этих алгоритмов неизбежно приведет к следующим проблемам:</a:t>
            </a:r>
          </a:p>
          <a:p>
            <a:pPr marL="266700" indent="-266700" algn="just">
              <a:buFont typeface="+mj-lt"/>
              <a:buAutoNum type="arabicPeriod"/>
            </a:pPr>
            <a:r>
              <a:rPr lang="ru-RU" dirty="0"/>
              <a:t>Элементы на верхних уровнях иерархии стремятся к значительно большим значениям поддержки по сравнению с элементами на нижних уровнях.</a:t>
            </a:r>
          </a:p>
          <a:p>
            <a:pPr marL="266700" indent="-266700" algn="just">
              <a:buFont typeface="+mj-lt"/>
              <a:buAutoNum type="arabicPeriod"/>
            </a:pPr>
            <a:r>
              <a:rPr lang="ru-RU" dirty="0"/>
              <a:t>С добавлением в транзакции групп увеличилось количество атрибутов и соответственно размерность входного пространства. Это усложняет задачу, а также ведет к генерации большего количества правил.</a:t>
            </a:r>
          </a:p>
          <a:p>
            <a:pPr marL="266700" indent="-266700" algn="just">
              <a:buFont typeface="+mj-lt"/>
              <a:buAutoNum type="arabicPeriod"/>
            </a:pPr>
            <a:r>
              <a:rPr lang="ru-RU" dirty="0"/>
              <a:t>Появление избыточных правил, противоречащих определению обобщенного ассоциативного правила, например, «Сок» «Прохладительные напитки». Очевидно, что практическая ценность такого «открытия» нулевая при 100% достоверности. Следовательно, нужны специальные операторы, удаляющие подобные избыточные правила.</a:t>
            </a:r>
          </a:p>
        </p:txBody>
      </p:sp>
      <p:sp>
        <p:nvSpPr>
          <p:cNvPr id="4" name="Нижний колонтитул 3">
            <a:extLst>
              <a:ext uri="{FF2B5EF4-FFF2-40B4-BE49-F238E27FC236}">
                <a16:creationId xmlns:a16="http://schemas.microsoft.com/office/drawing/2014/main" id="{73150173-73A0-4097-BE9D-C6E022FA9726}"/>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5F28DBC1-8088-4E44-AFD0-42D2099B3FA6}"/>
              </a:ext>
            </a:extLst>
          </p:cNvPr>
          <p:cNvSpPr>
            <a:spLocks noGrp="1"/>
          </p:cNvSpPr>
          <p:nvPr>
            <p:ph type="sldNum" sz="quarter" idx="12"/>
          </p:nvPr>
        </p:nvSpPr>
        <p:spPr/>
        <p:txBody>
          <a:bodyPr/>
          <a:lstStyle/>
          <a:p>
            <a:fld id="{81C5FB71-5E9C-41B5-9BB8-3F1EBEAEB16A}" type="slidenum">
              <a:rPr lang="ru-RU" smtClean="0"/>
              <a:t>26</a:t>
            </a:fld>
            <a:endParaRPr lang="ru-RU"/>
          </a:p>
        </p:txBody>
      </p:sp>
    </p:spTree>
    <p:extLst>
      <p:ext uri="{BB962C8B-B14F-4D97-AF65-F5344CB8AC3E}">
        <p14:creationId xmlns:p14="http://schemas.microsoft.com/office/powerpoint/2010/main" val="2175476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4FB7C77-EF5B-4EC9-AE51-ED439ACBB9ED}"/>
              </a:ext>
            </a:extLst>
          </p:cNvPr>
          <p:cNvSpPr>
            <a:spLocks noGrp="1"/>
          </p:cNvSpPr>
          <p:nvPr>
            <p:ph type="title"/>
          </p:nvPr>
        </p:nvSpPr>
        <p:spPr/>
        <p:txBody>
          <a:bodyPr/>
          <a:lstStyle/>
          <a:p>
            <a:pPr algn="ctr"/>
            <a:r>
              <a:rPr lang="ru-RU" dirty="0"/>
              <a:t>Введение дополнительной информации о группировке элементов в виде иерархии</a:t>
            </a:r>
          </a:p>
        </p:txBody>
      </p:sp>
      <p:sp>
        <p:nvSpPr>
          <p:cNvPr id="3" name="Объект 2">
            <a:extLst>
              <a:ext uri="{FF2B5EF4-FFF2-40B4-BE49-F238E27FC236}">
                <a16:creationId xmlns:a16="http://schemas.microsoft.com/office/drawing/2014/main" id="{D66867DF-8BBF-4C63-AA81-FAEFCEDCE501}"/>
              </a:ext>
            </a:extLst>
          </p:cNvPr>
          <p:cNvSpPr>
            <a:spLocks noGrp="1"/>
          </p:cNvSpPr>
          <p:nvPr>
            <p:ph idx="1"/>
          </p:nvPr>
        </p:nvSpPr>
        <p:spPr/>
        <p:txBody>
          <a:bodyPr/>
          <a:lstStyle/>
          <a:p>
            <a:pPr marL="0" indent="0" algn="just">
              <a:buNone/>
            </a:pPr>
            <a:r>
              <a:rPr lang="ru-RU" dirty="0"/>
              <a:t>Для нахождения обобщенных ассоциативных правил желательно использование специализированного алгоритма, который устраняет вышеописанные проблемы и к тому же работает в 2-5 раз быстрее, чем стандартный </a:t>
            </a:r>
            <a:r>
              <a:rPr lang="ru-RU" dirty="0" err="1"/>
              <a:t>APriori</a:t>
            </a:r>
            <a:r>
              <a:rPr lang="ru-RU" dirty="0"/>
              <a:t>.</a:t>
            </a:r>
          </a:p>
          <a:p>
            <a:pPr marL="0" indent="0" algn="just">
              <a:buNone/>
            </a:pPr>
            <a:endParaRPr lang="ru-RU" dirty="0"/>
          </a:p>
          <a:p>
            <a:pPr marL="0" indent="0" algn="just">
              <a:buNone/>
            </a:pPr>
            <a:r>
              <a:rPr lang="ru-RU" dirty="0"/>
              <a:t>Группировать элементы можно не только по вхождению в определенную товарную группу, но и по другим характеристикам, например по цене (дешево, дорого), брэнду и т.д.</a:t>
            </a:r>
          </a:p>
        </p:txBody>
      </p:sp>
      <p:sp>
        <p:nvSpPr>
          <p:cNvPr id="4" name="Нижний колонтитул 3">
            <a:extLst>
              <a:ext uri="{FF2B5EF4-FFF2-40B4-BE49-F238E27FC236}">
                <a16:creationId xmlns:a16="http://schemas.microsoft.com/office/drawing/2014/main" id="{F8852910-5AB6-44F8-A7AA-FDD5C71ABFD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34B4F8F-4760-463B-AD15-89E8600665FD}"/>
              </a:ext>
            </a:extLst>
          </p:cNvPr>
          <p:cNvSpPr>
            <a:spLocks noGrp="1"/>
          </p:cNvSpPr>
          <p:nvPr>
            <p:ph type="sldNum" sz="quarter" idx="12"/>
          </p:nvPr>
        </p:nvSpPr>
        <p:spPr/>
        <p:txBody>
          <a:bodyPr/>
          <a:lstStyle/>
          <a:p>
            <a:fld id="{81C5FB71-5E9C-41B5-9BB8-3F1EBEAEB16A}" type="slidenum">
              <a:rPr lang="ru-RU" smtClean="0"/>
              <a:t>27</a:t>
            </a:fld>
            <a:endParaRPr lang="ru-RU"/>
          </a:p>
        </p:txBody>
      </p:sp>
    </p:spTree>
    <p:extLst>
      <p:ext uri="{BB962C8B-B14F-4D97-AF65-F5344CB8AC3E}">
        <p14:creationId xmlns:p14="http://schemas.microsoft.com/office/powerpoint/2010/main" val="35775796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F963BE-E2C1-4CDF-BBDA-BC50D0E63B06}"/>
              </a:ext>
            </a:extLst>
          </p:cNvPr>
          <p:cNvSpPr>
            <a:spLocks noGrp="1"/>
          </p:cNvSpPr>
          <p:nvPr>
            <p:ph type="title"/>
          </p:nvPr>
        </p:nvSpPr>
        <p:spPr/>
        <p:txBody>
          <a:bodyPr/>
          <a:lstStyle/>
          <a:p>
            <a:pPr algn="ctr"/>
            <a:r>
              <a:rPr lang="ru-RU" dirty="0"/>
              <a:t>Численные ассоциативные правила </a:t>
            </a:r>
            <a:br>
              <a:rPr lang="ru-RU" dirty="0"/>
            </a:br>
            <a:r>
              <a:rPr lang="ru-RU" dirty="0"/>
              <a:t>(</a:t>
            </a:r>
            <a:r>
              <a:rPr lang="ru-RU" dirty="0" err="1"/>
              <a:t>Quantitative</a:t>
            </a:r>
            <a:r>
              <a:rPr lang="ru-RU" dirty="0"/>
              <a:t> Association </a:t>
            </a:r>
            <a:r>
              <a:rPr lang="ru-RU" dirty="0" err="1"/>
              <a:t>Rules</a:t>
            </a:r>
            <a:r>
              <a:rPr lang="ru-RU" dirty="0"/>
              <a:t>)</a:t>
            </a:r>
          </a:p>
        </p:txBody>
      </p:sp>
      <p:sp>
        <p:nvSpPr>
          <p:cNvPr id="3" name="Объект 2">
            <a:extLst>
              <a:ext uri="{FF2B5EF4-FFF2-40B4-BE49-F238E27FC236}">
                <a16:creationId xmlns:a16="http://schemas.microsoft.com/office/drawing/2014/main" id="{C809705F-C6F1-4F5B-8296-00F788F1A6AF}"/>
              </a:ext>
            </a:extLst>
          </p:cNvPr>
          <p:cNvSpPr>
            <a:spLocks noGrp="1"/>
          </p:cNvSpPr>
          <p:nvPr>
            <p:ph idx="1"/>
          </p:nvPr>
        </p:nvSpPr>
        <p:spPr/>
        <p:txBody>
          <a:bodyPr/>
          <a:lstStyle/>
          <a:p>
            <a:pPr marL="0" indent="0" algn="just">
              <a:buNone/>
            </a:pPr>
            <a:r>
              <a:rPr lang="ru-RU" b="0" i="0" dirty="0">
                <a:solidFill>
                  <a:srgbClr val="333333"/>
                </a:solidFill>
                <a:effectLst/>
                <a:latin typeface="Source Sans Pro" panose="020B0503030403020204" pitchFamily="34" charset="0"/>
              </a:rPr>
              <a:t>При поиске ассоциативных правил задача была существенно упрощена. По сути все сводилось к тому, присутствует в транзакции элемент или нет. Т.е. если рассматривать случай рыночной корзины, то мы рассматривали два состояния: куплен товар или нет, проигнорировав, например, информацию о том, сколько было куплено, кто купил, характеристики покупателя и т.д. И можно сказать, что рассматривали «булевские» ассоциативные правила. Если взять любую базу данных, каждая транзакция состоит из различных типов данных: числовых, категориальных и т.д. Для обработки таких записей и извлечения численных ассоциативных правил был предложен алгоритм поиска.</a:t>
            </a:r>
          </a:p>
          <a:p>
            <a:pPr marL="0" indent="0" algn="just">
              <a:buNone/>
            </a:pPr>
            <a:r>
              <a:rPr lang="ru-RU" b="0" i="0" dirty="0">
                <a:solidFill>
                  <a:srgbClr val="333333"/>
                </a:solidFill>
                <a:effectLst/>
                <a:latin typeface="Source Sans Pro" panose="020B0503030403020204" pitchFamily="34" charset="0"/>
              </a:rPr>
              <a:t>Пример численного ассоциативного правила: [Возраст: 30-35] и [Семейное положение: женат] [Месячный доход: 1000-1500 тугриков].</a:t>
            </a:r>
          </a:p>
          <a:p>
            <a:pPr marL="0" indent="0">
              <a:buNone/>
            </a:pPr>
            <a:endParaRPr lang="ru-RU" dirty="0"/>
          </a:p>
        </p:txBody>
      </p:sp>
      <p:sp>
        <p:nvSpPr>
          <p:cNvPr id="4" name="Нижний колонтитул 3">
            <a:extLst>
              <a:ext uri="{FF2B5EF4-FFF2-40B4-BE49-F238E27FC236}">
                <a16:creationId xmlns:a16="http://schemas.microsoft.com/office/drawing/2014/main" id="{D89BF01D-119B-48AA-B64C-7797E7F3C00D}"/>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DD5B9051-1E55-4DD7-8344-1082BA7E0759}"/>
              </a:ext>
            </a:extLst>
          </p:cNvPr>
          <p:cNvSpPr>
            <a:spLocks noGrp="1"/>
          </p:cNvSpPr>
          <p:nvPr>
            <p:ph type="sldNum" sz="quarter" idx="12"/>
          </p:nvPr>
        </p:nvSpPr>
        <p:spPr/>
        <p:txBody>
          <a:bodyPr/>
          <a:lstStyle/>
          <a:p>
            <a:fld id="{81C5FB71-5E9C-41B5-9BB8-3F1EBEAEB16A}" type="slidenum">
              <a:rPr lang="ru-RU" smtClean="0"/>
              <a:t>28</a:t>
            </a:fld>
            <a:endParaRPr lang="ru-RU"/>
          </a:p>
        </p:txBody>
      </p:sp>
    </p:spTree>
    <p:extLst>
      <p:ext uri="{BB962C8B-B14F-4D97-AF65-F5344CB8AC3E}">
        <p14:creationId xmlns:p14="http://schemas.microsoft.com/office/powerpoint/2010/main" val="9944682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C5ADEE-BDC4-4369-BDB6-5A6BC7A1EA08}"/>
              </a:ext>
            </a:extLst>
          </p:cNvPr>
          <p:cNvSpPr>
            <a:spLocks noGrp="1"/>
          </p:cNvSpPr>
          <p:nvPr>
            <p:ph type="title"/>
          </p:nvPr>
        </p:nvSpPr>
        <p:spPr/>
        <p:txBody>
          <a:bodyPr>
            <a:normAutofit fontScale="90000"/>
          </a:bodyPr>
          <a:lstStyle/>
          <a:p>
            <a:pPr algn="ctr"/>
            <a:r>
              <a:rPr lang="ru-RU" dirty="0"/>
              <a:t>Методы поиска ассоциативных правил</a:t>
            </a:r>
            <a:br>
              <a:rPr lang="ru-RU" dirty="0"/>
            </a:br>
            <a:r>
              <a:rPr lang="ru-RU" b="1" i="0" dirty="0">
                <a:solidFill>
                  <a:srgbClr val="000000"/>
                </a:solidFill>
                <a:effectLst/>
                <a:latin typeface="lucida grande"/>
              </a:rPr>
              <a:t>Алгоритм AIS</a:t>
            </a:r>
            <a:br>
              <a:rPr lang="en-US" b="0" i="0" dirty="0">
                <a:solidFill>
                  <a:srgbClr val="000000"/>
                </a:solidFill>
                <a:effectLst/>
                <a:latin typeface="lucida grande"/>
              </a:rPr>
            </a:br>
            <a:endParaRPr lang="ru-RU" dirty="0"/>
          </a:p>
        </p:txBody>
      </p:sp>
      <p:sp>
        <p:nvSpPr>
          <p:cNvPr id="3" name="Объект 2">
            <a:extLst>
              <a:ext uri="{FF2B5EF4-FFF2-40B4-BE49-F238E27FC236}">
                <a16:creationId xmlns:a16="http://schemas.microsoft.com/office/drawing/2014/main" id="{3B84D398-EEBB-4CBA-92DB-629C2B7732AC}"/>
              </a:ext>
            </a:extLst>
          </p:cNvPr>
          <p:cNvSpPr>
            <a:spLocks noGrp="1"/>
          </p:cNvSpPr>
          <p:nvPr>
            <p:ph idx="1"/>
          </p:nvPr>
        </p:nvSpPr>
        <p:spPr/>
        <p:txBody>
          <a:bodyPr/>
          <a:lstStyle/>
          <a:p>
            <a:pPr marL="0" indent="0" algn="just">
              <a:buNone/>
            </a:pPr>
            <a:r>
              <a:rPr lang="ru-RU" b="1" i="0" dirty="0">
                <a:solidFill>
                  <a:srgbClr val="000000"/>
                </a:solidFill>
                <a:effectLst/>
                <a:latin typeface="lucida grande"/>
              </a:rPr>
              <a:t>Алгоритм AIS</a:t>
            </a:r>
            <a:r>
              <a:rPr lang="ru-RU" b="0" i="0" dirty="0">
                <a:solidFill>
                  <a:srgbClr val="000000"/>
                </a:solidFill>
                <a:effectLst/>
                <a:latin typeface="lucida grande"/>
              </a:rPr>
              <a:t>. </a:t>
            </a:r>
            <a:endParaRPr lang="en-US" b="0" i="0" dirty="0">
              <a:solidFill>
                <a:srgbClr val="000000"/>
              </a:solidFill>
              <a:effectLst/>
              <a:latin typeface="lucida grande"/>
            </a:endParaRPr>
          </a:p>
          <a:p>
            <a:pPr marL="0" indent="0" algn="just">
              <a:buNone/>
            </a:pPr>
            <a:r>
              <a:rPr lang="ru-RU" b="0" i="0" dirty="0">
                <a:solidFill>
                  <a:srgbClr val="000000"/>
                </a:solidFill>
                <a:effectLst/>
                <a:latin typeface="lucida grande"/>
              </a:rPr>
              <a:t>Первый </a:t>
            </a:r>
            <a:r>
              <a:rPr lang="ru-RU" b="0" i="1" dirty="0">
                <a:solidFill>
                  <a:srgbClr val="000000"/>
                </a:solidFill>
                <a:effectLst/>
                <a:latin typeface="lucida grande"/>
              </a:rPr>
              <a:t>алгоритм</a:t>
            </a:r>
            <a:r>
              <a:rPr lang="ru-RU" b="0" i="0" dirty="0">
                <a:solidFill>
                  <a:srgbClr val="000000"/>
                </a:solidFill>
                <a:effectLst/>
                <a:latin typeface="lucida grande"/>
              </a:rPr>
              <a:t> поиска </a:t>
            </a:r>
            <a:r>
              <a:rPr lang="ru-RU" b="0" i="1" dirty="0">
                <a:solidFill>
                  <a:srgbClr val="000000"/>
                </a:solidFill>
                <a:effectLst/>
                <a:latin typeface="lucida grande"/>
              </a:rPr>
              <a:t>ассоциативных правил</a:t>
            </a:r>
            <a:r>
              <a:rPr lang="ru-RU" b="0" i="0" dirty="0">
                <a:solidFill>
                  <a:srgbClr val="000000"/>
                </a:solidFill>
                <a:effectLst/>
                <a:latin typeface="lucida grande"/>
              </a:rPr>
              <a:t>, называвшийся </a:t>
            </a:r>
            <a:r>
              <a:rPr lang="ru-RU" b="0" i="1" dirty="0">
                <a:solidFill>
                  <a:srgbClr val="000000"/>
                </a:solidFill>
                <a:effectLst/>
                <a:latin typeface="lucida grande"/>
              </a:rPr>
              <a:t>AIS</a:t>
            </a:r>
            <a:r>
              <a:rPr lang="ru-RU" b="0" i="0" dirty="0">
                <a:solidFill>
                  <a:srgbClr val="000000"/>
                </a:solidFill>
                <a:effectLst/>
                <a:latin typeface="lucida grande"/>
              </a:rPr>
              <a:t>, (предложенный </a:t>
            </a:r>
            <a:r>
              <a:rPr lang="ru-RU" b="0" i="0" dirty="0" err="1">
                <a:solidFill>
                  <a:srgbClr val="000000"/>
                </a:solidFill>
                <a:effectLst/>
                <a:latin typeface="lucida grande"/>
              </a:rPr>
              <a:t>Agrawal</a:t>
            </a:r>
            <a:r>
              <a:rPr lang="ru-RU" b="0" i="0" dirty="0">
                <a:solidFill>
                  <a:srgbClr val="000000"/>
                </a:solidFill>
                <a:effectLst/>
                <a:latin typeface="lucida grande"/>
              </a:rPr>
              <a:t>, </a:t>
            </a:r>
            <a:r>
              <a:rPr lang="ru-RU" b="0" i="0" dirty="0" err="1">
                <a:solidFill>
                  <a:srgbClr val="000000"/>
                </a:solidFill>
                <a:effectLst/>
                <a:latin typeface="lucida grande"/>
              </a:rPr>
              <a:t>Imielinski</a:t>
            </a:r>
            <a:r>
              <a:rPr lang="ru-RU" b="0" i="0" dirty="0">
                <a:solidFill>
                  <a:srgbClr val="000000"/>
                </a:solidFill>
                <a:effectLst/>
                <a:latin typeface="lucida grande"/>
              </a:rPr>
              <a:t> </a:t>
            </a:r>
            <a:r>
              <a:rPr lang="ru-RU" b="0" i="1" dirty="0" err="1">
                <a:solidFill>
                  <a:srgbClr val="000000"/>
                </a:solidFill>
                <a:effectLst/>
                <a:latin typeface="lucida grande"/>
              </a:rPr>
              <a:t>and</a:t>
            </a:r>
            <a:r>
              <a:rPr lang="ru-RU" b="0" i="0" dirty="0">
                <a:solidFill>
                  <a:srgbClr val="000000"/>
                </a:solidFill>
                <a:effectLst/>
                <a:latin typeface="lucida grande"/>
              </a:rPr>
              <a:t> </a:t>
            </a:r>
            <a:r>
              <a:rPr lang="ru-RU" b="0" i="0" dirty="0" err="1">
                <a:solidFill>
                  <a:srgbClr val="000000"/>
                </a:solidFill>
                <a:effectLst/>
                <a:latin typeface="lucida grande"/>
              </a:rPr>
              <a:t>Swami</a:t>
            </a:r>
            <a:r>
              <a:rPr lang="ru-RU" b="0" i="0" dirty="0">
                <a:solidFill>
                  <a:srgbClr val="000000"/>
                </a:solidFill>
                <a:effectLst/>
                <a:latin typeface="lucida grande"/>
              </a:rPr>
              <a:t>) был разработан сотрудниками исследовательского центра </a:t>
            </a:r>
            <a:r>
              <a:rPr lang="ru-RU" b="0" i="1" dirty="0">
                <a:solidFill>
                  <a:srgbClr val="000000"/>
                </a:solidFill>
                <a:effectLst/>
                <a:latin typeface="lucida grande"/>
              </a:rPr>
              <a:t>IBM</a:t>
            </a:r>
            <a:r>
              <a:rPr lang="ru-RU" b="0" i="0" dirty="0">
                <a:solidFill>
                  <a:srgbClr val="000000"/>
                </a:solidFill>
                <a:effectLst/>
                <a:latin typeface="lucida grande"/>
              </a:rPr>
              <a:t> </a:t>
            </a:r>
            <a:r>
              <a:rPr lang="ru-RU" b="0" i="0" dirty="0" err="1">
                <a:solidFill>
                  <a:srgbClr val="000000"/>
                </a:solidFill>
                <a:effectLst/>
                <a:latin typeface="lucida grande"/>
              </a:rPr>
              <a:t>Almaden</a:t>
            </a:r>
            <a:r>
              <a:rPr lang="ru-RU" b="0" i="0" dirty="0">
                <a:solidFill>
                  <a:srgbClr val="000000"/>
                </a:solidFill>
                <a:effectLst/>
                <a:latin typeface="lucida grande"/>
              </a:rPr>
              <a:t> в 1993 году. С этой работы начался интерес к </a:t>
            </a:r>
            <a:r>
              <a:rPr lang="ru-RU" b="0" i="1" dirty="0">
                <a:solidFill>
                  <a:srgbClr val="000000"/>
                </a:solidFill>
                <a:effectLst/>
                <a:latin typeface="lucida grande"/>
              </a:rPr>
              <a:t>ассоциативным правилам</a:t>
            </a:r>
            <a:r>
              <a:rPr lang="en-US" b="0" i="1" dirty="0">
                <a:solidFill>
                  <a:srgbClr val="000000"/>
                </a:solidFill>
                <a:effectLst/>
                <a:latin typeface="lucida grande"/>
              </a:rPr>
              <a:t>.</a:t>
            </a:r>
            <a:r>
              <a:rPr lang="ru-RU" b="0" i="0" dirty="0">
                <a:solidFill>
                  <a:srgbClr val="000000"/>
                </a:solidFill>
                <a:effectLst/>
                <a:latin typeface="lucida grande"/>
              </a:rPr>
              <a:t> На середину 90-х годов прошлого века пришелся пик исследовательских </a:t>
            </a:r>
            <a:r>
              <a:rPr lang="ru-RU" b="0" i="1" dirty="0">
                <a:solidFill>
                  <a:srgbClr val="000000"/>
                </a:solidFill>
                <a:effectLst/>
                <a:latin typeface="lucida grande"/>
              </a:rPr>
              <a:t>работ</a:t>
            </a:r>
            <a:r>
              <a:rPr lang="ru-RU" b="0" i="0" dirty="0">
                <a:solidFill>
                  <a:srgbClr val="000000"/>
                </a:solidFill>
                <a:effectLst/>
                <a:latin typeface="lucida grande"/>
              </a:rPr>
              <a:t> в этой области, и с тех пор каждый год появляется несколько новых алгоритмов.</a:t>
            </a:r>
          </a:p>
          <a:p>
            <a:pPr marL="0" indent="0" algn="just">
              <a:buNone/>
            </a:pPr>
            <a:r>
              <a:rPr lang="ru-RU" b="0" i="0" dirty="0">
                <a:solidFill>
                  <a:srgbClr val="000000"/>
                </a:solidFill>
                <a:effectLst/>
                <a:latin typeface="lucida grande"/>
              </a:rPr>
              <a:t>В алгоритме </a:t>
            </a:r>
            <a:r>
              <a:rPr lang="ru-RU" b="0" i="1" dirty="0">
                <a:solidFill>
                  <a:srgbClr val="000000"/>
                </a:solidFill>
                <a:effectLst/>
                <a:latin typeface="lucida grande"/>
              </a:rPr>
              <a:t>AIS</a:t>
            </a:r>
            <a:r>
              <a:rPr lang="ru-RU" b="0" i="0" dirty="0">
                <a:solidFill>
                  <a:srgbClr val="000000"/>
                </a:solidFill>
                <a:effectLst/>
                <a:latin typeface="lucida grande"/>
              </a:rPr>
              <a:t> кандидаты </a:t>
            </a:r>
            <a:r>
              <a:rPr lang="ru-RU" b="0" i="1" dirty="0">
                <a:solidFill>
                  <a:srgbClr val="000000"/>
                </a:solidFill>
                <a:effectLst/>
                <a:latin typeface="lucida grande"/>
              </a:rPr>
              <a:t>множества</a:t>
            </a:r>
            <a:r>
              <a:rPr lang="ru-RU" b="0" i="0" dirty="0">
                <a:solidFill>
                  <a:srgbClr val="000000"/>
                </a:solidFill>
                <a:effectLst/>
                <a:latin typeface="lucida grande"/>
              </a:rPr>
              <a:t> наборов генерируются и подсчитываются "на лету", во время сканирования </a:t>
            </a:r>
            <a:r>
              <a:rPr lang="ru-RU" b="0" i="1" dirty="0">
                <a:solidFill>
                  <a:srgbClr val="000000"/>
                </a:solidFill>
                <a:effectLst/>
                <a:latin typeface="lucida grande"/>
              </a:rPr>
              <a:t>базы данных</a:t>
            </a:r>
            <a:r>
              <a:rPr lang="ru-RU" b="0" i="0" dirty="0">
                <a:solidFill>
                  <a:srgbClr val="000000"/>
                </a:solidFill>
                <a:effectLst/>
                <a:latin typeface="lucida grande"/>
              </a:rPr>
              <a:t>.</a:t>
            </a:r>
          </a:p>
          <a:p>
            <a:pPr marL="0" indent="0">
              <a:buNone/>
            </a:pPr>
            <a:endParaRPr lang="ru-RU" dirty="0"/>
          </a:p>
        </p:txBody>
      </p:sp>
      <p:sp>
        <p:nvSpPr>
          <p:cNvPr id="4" name="Нижний колонтитул 3">
            <a:extLst>
              <a:ext uri="{FF2B5EF4-FFF2-40B4-BE49-F238E27FC236}">
                <a16:creationId xmlns:a16="http://schemas.microsoft.com/office/drawing/2014/main" id="{D6960B25-7847-4C35-90E8-C6FB074AADAE}"/>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F2107B19-0B0D-4787-9F63-2FAB6FABAD58}"/>
              </a:ext>
            </a:extLst>
          </p:cNvPr>
          <p:cNvSpPr>
            <a:spLocks noGrp="1"/>
          </p:cNvSpPr>
          <p:nvPr>
            <p:ph type="sldNum" sz="quarter" idx="12"/>
          </p:nvPr>
        </p:nvSpPr>
        <p:spPr/>
        <p:txBody>
          <a:bodyPr/>
          <a:lstStyle/>
          <a:p>
            <a:fld id="{81C5FB71-5E9C-41B5-9BB8-3F1EBEAEB16A}" type="slidenum">
              <a:rPr lang="ru-RU" smtClean="0"/>
              <a:t>29</a:t>
            </a:fld>
            <a:endParaRPr lang="ru-RU"/>
          </a:p>
        </p:txBody>
      </p:sp>
    </p:spTree>
    <p:extLst>
      <p:ext uri="{BB962C8B-B14F-4D97-AF65-F5344CB8AC3E}">
        <p14:creationId xmlns:p14="http://schemas.microsoft.com/office/powerpoint/2010/main" val="8734285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EE8DBA-7A1B-4DF8-9BF9-2D139520AC8B}"/>
              </a:ext>
            </a:extLst>
          </p:cNvPr>
          <p:cNvSpPr>
            <a:spLocks noGrp="1"/>
          </p:cNvSpPr>
          <p:nvPr>
            <p:ph type="title"/>
          </p:nvPr>
        </p:nvSpPr>
        <p:spPr/>
        <p:txBody>
          <a:bodyPr>
            <a:normAutofit/>
          </a:bodyPr>
          <a:lstStyle/>
          <a:p>
            <a:pPr algn="ctr"/>
            <a:r>
              <a:rPr lang="ru-RU" dirty="0"/>
              <a:t>Методы поиска ассоциативных правил</a:t>
            </a:r>
            <a:br>
              <a:rPr lang="ru-RU" dirty="0"/>
            </a:br>
            <a:r>
              <a:rPr lang="ru-RU" b="1" i="0" dirty="0">
                <a:solidFill>
                  <a:srgbClr val="000000"/>
                </a:solidFill>
                <a:effectLst/>
                <a:latin typeface="lucida grande"/>
              </a:rPr>
              <a:t>Алгоритм SETM</a:t>
            </a:r>
            <a:endParaRPr lang="ru-RU" dirty="0"/>
          </a:p>
        </p:txBody>
      </p:sp>
      <p:sp>
        <p:nvSpPr>
          <p:cNvPr id="3" name="Объект 2">
            <a:extLst>
              <a:ext uri="{FF2B5EF4-FFF2-40B4-BE49-F238E27FC236}">
                <a16:creationId xmlns:a16="http://schemas.microsoft.com/office/drawing/2014/main" id="{05C84FBA-BA5D-4289-A5A9-BA5EB940B9D3}"/>
              </a:ext>
            </a:extLst>
          </p:cNvPr>
          <p:cNvSpPr>
            <a:spLocks noGrp="1"/>
          </p:cNvSpPr>
          <p:nvPr>
            <p:ph idx="1"/>
          </p:nvPr>
        </p:nvSpPr>
        <p:spPr/>
        <p:txBody>
          <a:bodyPr>
            <a:normAutofit/>
          </a:bodyPr>
          <a:lstStyle/>
          <a:p>
            <a:pPr marL="0" indent="0" algn="just">
              <a:buNone/>
            </a:pPr>
            <a:r>
              <a:rPr lang="ru-RU" b="1" i="0" dirty="0">
                <a:solidFill>
                  <a:srgbClr val="000000"/>
                </a:solidFill>
                <a:effectLst/>
                <a:latin typeface="lucida grande"/>
              </a:rPr>
              <a:t>Алгоритм SETM</a:t>
            </a:r>
            <a:r>
              <a:rPr lang="ru-RU" b="0" i="0" dirty="0">
                <a:solidFill>
                  <a:srgbClr val="000000"/>
                </a:solidFill>
                <a:effectLst/>
                <a:latin typeface="lucida grande"/>
              </a:rPr>
              <a:t>. Создание этого алгоритма было мотивировано желанием использовать язык </a:t>
            </a:r>
            <a:r>
              <a:rPr lang="ru-RU" b="0" i="1" dirty="0">
                <a:solidFill>
                  <a:srgbClr val="000000"/>
                </a:solidFill>
                <a:effectLst/>
                <a:latin typeface="lucida grande"/>
              </a:rPr>
              <a:t>SQL</a:t>
            </a:r>
            <a:r>
              <a:rPr lang="ru-RU" b="0" i="0" dirty="0">
                <a:solidFill>
                  <a:srgbClr val="000000"/>
                </a:solidFill>
                <a:effectLst/>
                <a:latin typeface="lucida grande"/>
              </a:rPr>
              <a:t> для вычисления часто встречающихся наборов товаров. Как и </a:t>
            </a:r>
            <a:r>
              <a:rPr lang="ru-RU" b="0" i="1" dirty="0">
                <a:solidFill>
                  <a:srgbClr val="000000"/>
                </a:solidFill>
                <a:effectLst/>
                <a:latin typeface="lucida grande"/>
              </a:rPr>
              <a:t>алгоритм</a:t>
            </a:r>
            <a:r>
              <a:rPr lang="ru-RU" b="0" i="0" dirty="0">
                <a:solidFill>
                  <a:srgbClr val="000000"/>
                </a:solidFill>
                <a:effectLst/>
                <a:latin typeface="lucida grande"/>
              </a:rPr>
              <a:t> </a:t>
            </a:r>
            <a:r>
              <a:rPr lang="ru-RU" b="0" i="1" dirty="0">
                <a:solidFill>
                  <a:srgbClr val="000000"/>
                </a:solidFill>
                <a:effectLst/>
                <a:latin typeface="lucida grande"/>
              </a:rPr>
              <a:t>AIS</a:t>
            </a:r>
            <a:r>
              <a:rPr lang="ru-RU" b="0" i="0" dirty="0">
                <a:solidFill>
                  <a:srgbClr val="000000"/>
                </a:solidFill>
                <a:effectLst/>
                <a:latin typeface="lucida grande"/>
              </a:rPr>
              <a:t>, SETM также формирует кандидатов "на лету", основываясь на преобразованиях </a:t>
            </a:r>
            <a:r>
              <a:rPr lang="ru-RU" b="0" i="1" dirty="0">
                <a:solidFill>
                  <a:srgbClr val="000000"/>
                </a:solidFill>
                <a:effectLst/>
                <a:latin typeface="lucida grande"/>
              </a:rPr>
              <a:t>базы данных</a:t>
            </a:r>
            <a:r>
              <a:rPr lang="ru-RU" b="0" i="0" dirty="0">
                <a:solidFill>
                  <a:srgbClr val="000000"/>
                </a:solidFill>
                <a:effectLst/>
                <a:latin typeface="lucida grande"/>
              </a:rPr>
              <a:t>. Чтобы использовать стандартную операцию объединения языка </a:t>
            </a:r>
            <a:r>
              <a:rPr lang="ru-RU" b="0" i="1" dirty="0">
                <a:solidFill>
                  <a:srgbClr val="000000"/>
                </a:solidFill>
                <a:effectLst/>
                <a:latin typeface="lucida grande"/>
              </a:rPr>
              <a:t>SQL</a:t>
            </a:r>
            <a:r>
              <a:rPr lang="ru-RU" b="0" i="0" dirty="0">
                <a:solidFill>
                  <a:srgbClr val="000000"/>
                </a:solidFill>
                <a:effectLst/>
                <a:latin typeface="lucida grande"/>
              </a:rPr>
              <a:t> для формирования кандидата, SETM отделяет формирование кандидата от их подсчета.</a:t>
            </a:r>
          </a:p>
          <a:p>
            <a:pPr marL="0" indent="0">
              <a:buNone/>
            </a:pPr>
            <a:endParaRPr lang="ru-RU" dirty="0"/>
          </a:p>
        </p:txBody>
      </p:sp>
      <p:sp>
        <p:nvSpPr>
          <p:cNvPr id="4" name="Нижний колонтитул 3">
            <a:extLst>
              <a:ext uri="{FF2B5EF4-FFF2-40B4-BE49-F238E27FC236}">
                <a16:creationId xmlns:a16="http://schemas.microsoft.com/office/drawing/2014/main" id="{52031833-29EC-44BF-9F5A-E3F1CD88135C}"/>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3420532-2D81-4CBF-A415-621414CC8F4A}"/>
              </a:ext>
            </a:extLst>
          </p:cNvPr>
          <p:cNvSpPr>
            <a:spLocks noGrp="1"/>
          </p:cNvSpPr>
          <p:nvPr>
            <p:ph type="sldNum" sz="quarter" idx="12"/>
          </p:nvPr>
        </p:nvSpPr>
        <p:spPr/>
        <p:txBody>
          <a:bodyPr/>
          <a:lstStyle/>
          <a:p>
            <a:fld id="{81C5FB71-5E9C-41B5-9BB8-3F1EBEAEB16A}" type="slidenum">
              <a:rPr lang="ru-RU" smtClean="0"/>
              <a:t>30</a:t>
            </a:fld>
            <a:endParaRPr lang="ru-RU"/>
          </a:p>
        </p:txBody>
      </p:sp>
    </p:spTree>
    <p:extLst>
      <p:ext uri="{BB962C8B-B14F-4D97-AF65-F5344CB8AC3E}">
        <p14:creationId xmlns:p14="http://schemas.microsoft.com/office/powerpoint/2010/main" val="42169852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964B7A-1FB9-27E1-1599-E44B0AE96325}"/>
              </a:ext>
            </a:extLst>
          </p:cNvPr>
          <p:cNvSpPr>
            <a:spLocks noGrp="1"/>
          </p:cNvSpPr>
          <p:nvPr>
            <p:ph type="title"/>
          </p:nvPr>
        </p:nvSpPr>
        <p:spPr/>
        <p:txBody>
          <a:bodyPr/>
          <a:lstStyle/>
          <a:p>
            <a:r>
              <a:rPr lang="ru-RU" dirty="0"/>
              <a:t>Алгоритм </a:t>
            </a:r>
            <a:r>
              <a:rPr lang="en-US" dirty="0" err="1"/>
              <a:t>Apriori</a:t>
            </a:r>
            <a:endParaRPr lang="ru-RU"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A5ABA4ED-51F9-D65C-C2B6-66B854000931}"/>
                  </a:ext>
                </a:extLst>
              </p:cNvPr>
              <p:cNvSpPr>
                <a:spLocks noGrp="1"/>
              </p:cNvSpPr>
              <p:nvPr>
                <p:ph idx="1"/>
              </p:nvPr>
            </p:nvSpPr>
            <p:spPr/>
            <p:txBody>
              <a:bodyPr>
                <a:normAutofit/>
              </a:bodyPr>
              <a:lstStyle/>
              <a:p>
                <a:pPr marL="0" indent="0">
                  <a:buNone/>
                </a:pPr>
                <a:r>
                  <a:rPr lang="ru-RU" sz="2000" dirty="0"/>
                  <a:t>Алгоритм </a:t>
                </a:r>
                <a:r>
                  <a:rPr lang="ru-RU" sz="2000" dirty="0" err="1"/>
                  <a:t>Apriori</a:t>
                </a:r>
                <a:r>
                  <a:rPr lang="ru-RU" sz="2000" dirty="0"/>
                  <a:t> предназначен для поиска всех частых множеств признаков. Он является </a:t>
                </a:r>
                <a:r>
                  <a:rPr lang="ru-RU" sz="2000" dirty="0" err="1"/>
                  <a:t>поуровневым</a:t>
                </a:r>
                <a:r>
                  <a:rPr lang="ru-RU" sz="2000" dirty="0"/>
                  <a:t>, использует стратегию поиска в ширину и осуществляет его снизу-вверх. </a:t>
                </a:r>
                <a:endParaRPr lang="en-US" sz="2000" dirty="0"/>
              </a:p>
              <a:p>
                <a:pPr marL="0" indent="0">
                  <a:buNone/>
                </a:pPr>
                <a:r>
                  <a:rPr lang="ru-RU" sz="2000" dirty="0"/>
                  <a:t>В алгоритме используются две структуры данных: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𝑖</m:t>
                        </m:r>
                      </m:sub>
                    </m:sSub>
                  </m:oMath>
                </a14:m>
                <a:r>
                  <a:rPr lang="ru-RU" sz="2000" dirty="0"/>
                  <a:t> — для хранения множества кандидатов в частые множества признаков длины </a:t>
                </a:r>
                <a14:m>
                  <m:oMath xmlns:m="http://schemas.openxmlformats.org/officeDocument/2006/math">
                    <m:r>
                      <a:rPr lang="en-US" sz="2000" b="0" i="1" smtClean="0">
                        <a:latin typeface="Cambria Math" panose="02040503050406030204" pitchFamily="18" charset="0"/>
                      </a:rPr>
                      <m:t>𝑖</m:t>
                    </m:r>
                  </m:oMath>
                </a14:m>
                <a:r>
                  <a:rPr lang="ru-RU" sz="2000" dirty="0"/>
                  <a:t> и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𝐹</m:t>
                        </m:r>
                      </m:e>
                      <m:sub>
                        <m:r>
                          <a:rPr lang="en-US" sz="2000" b="0" i="1" smtClean="0">
                            <a:latin typeface="Cambria Math" panose="02040503050406030204" pitchFamily="18" charset="0"/>
                          </a:rPr>
                          <m:t>𝑖</m:t>
                        </m:r>
                      </m:sub>
                    </m:sSub>
                  </m:oMath>
                </a14:m>
                <a:r>
                  <a:rPr lang="ru-RU" sz="2000" dirty="0"/>
                  <a:t> — для хранения частых множеств признаков длины </a:t>
                </a:r>
                <a14:m>
                  <m:oMath xmlns:m="http://schemas.openxmlformats.org/officeDocument/2006/math">
                    <m:r>
                      <a:rPr lang="en-US" sz="2000" b="0" i="1" smtClean="0">
                        <a:latin typeface="Cambria Math" panose="02040503050406030204" pitchFamily="18" charset="0"/>
                      </a:rPr>
                      <m:t>𝑖</m:t>
                    </m:r>
                  </m:oMath>
                </a14:m>
                <a:r>
                  <a:rPr lang="ru-RU" sz="2000" dirty="0"/>
                  <a:t>. </a:t>
                </a:r>
                <a:endParaRPr lang="en-US" sz="2000" dirty="0"/>
              </a:p>
              <a:p>
                <a:pPr marL="0" indent="0">
                  <a:buNone/>
                </a:pPr>
                <a:r>
                  <a:rPr lang="ru-RU" sz="2000" dirty="0"/>
                  <a:t>Каждая структура имеет два поля — </a:t>
                </a:r>
                <a:r>
                  <a:rPr lang="ru-RU" sz="2000" i="1" dirty="0" err="1"/>
                  <a:t>itemset</a:t>
                </a:r>
                <a:r>
                  <a:rPr lang="ru-RU" sz="2000" dirty="0"/>
                  <a:t>, сохраняющее множество признаков, и </a:t>
                </a:r>
                <a:r>
                  <a:rPr lang="ru-RU" sz="2000" i="1" dirty="0" err="1"/>
                  <a:t>support</a:t>
                </a:r>
                <a:r>
                  <a:rPr lang="ru-RU" sz="2000" dirty="0"/>
                  <a:t>, которое хранит величину поддержки этого множества признаков.</a:t>
                </a:r>
                <a:endParaRPr lang="en-US" sz="2000" dirty="0"/>
              </a:p>
              <a:p>
                <a:pPr marL="0" indent="0">
                  <a:buNone/>
                </a:pPr>
                <a:r>
                  <a:rPr lang="ru-RU" sz="2000" dirty="0"/>
                  <a:t>Алгоритм </a:t>
                </a:r>
                <a:r>
                  <a:rPr lang="ru-RU" sz="2000" dirty="0" err="1"/>
                  <a:t>Apriori</a:t>
                </a:r>
                <a:r>
                  <a:rPr lang="ru-RU" sz="2000" dirty="0"/>
                  <a:t> был разработан для извлечения частых множеств признаков из данных о покупках, которые обычно являются </a:t>
                </a:r>
                <a:r>
                  <a:rPr lang="ru-RU" sz="2000" b="1" dirty="0"/>
                  <a:t>разреженными</a:t>
                </a:r>
                <a:r>
                  <a:rPr lang="ru-RU" sz="2000" dirty="0"/>
                  <a:t> и </a:t>
                </a:r>
                <a:r>
                  <a:rPr lang="ru-RU" sz="2000" b="1" dirty="0"/>
                  <a:t>слабо коррелированными</a:t>
                </a:r>
                <a:r>
                  <a:rPr lang="ru-RU" sz="2000" dirty="0"/>
                  <a:t>. </a:t>
                </a:r>
                <a:endParaRPr lang="en-US" sz="2000" dirty="0"/>
              </a:p>
              <a:p>
                <a:pPr marL="0" indent="0">
                  <a:buNone/>
                </a:pPr>
                <a:r>
                  <a:rPr lang="ru-RU" sz="2000" dirty="0"/>
                  <a:t>Позднее, когда возникла необходимость поиска частых множеств признаков в плотных, сильно коррелированных данных, оказалось, что </a:t>
                </a:r>
                <a:r>
                  <a:rPr lang="ru-RU" sz="2000" dirty="0" err="1"/>
                  <a:t>Apriori</a:t>
                </a:r>
                <a:r>
                  <a:rPr lang="ru-RU" sz="2000" dirty="0"/>
                  <a:t> неэффективно работает на таких массивах</a:t>
                </a:r>
              </a:p>
            </p:txBody>
          </p:sp>
        </mc:Choice>
        <mc:Fallback xmlns="">
          <p:sp>
            <p:nvSpPr>
              <p:cNvPr id="3" name="Объект 2">
                <a:extLst>
                  <a:ext uri="{FF2B5EF4-FFF2-40B4-BE49-F238E27FC236}">
                    <a16:creationId xmlns:a16="http://schemas.microsoft.com/office/drawing/2014/main" id="{A5ABA4ED-51F9-D65C-C2B6-66B854000931}"/>
                  </a:ext>
                </a:extLst>
              </p:cNvPr>
              <p:cNvSpPr>
                <a:spLocks noGrp="1" noRot="1" noChangeAspect="1" noMove="1" noResize="1" noEditPoints="1" noAdjustHandles="1" noChangeArrowheads="1" noChangeShapeType="1" noTextEdit="1"/>
              </p:cNvSpPr>
              <p:nvPr>
                <p:ph idx="1"/>
              </p:nvPr>
            </p:nvSpPr>
            <p:spPr>
              <a:blipFill>
                <a:blip r:embed="rId3"/>
                <a:stretch>
                  <a:fillRect l="-773" t="-1392" r="-464"/>
                </a:stretch>
              </a:blipFill>
            </p:spPr>
            <p:txBody>
              <a:bodyPr/>
              <a:lstStyle/>
              <a:p>
                <a:r>
                  <a:rPr lang="ru-RU">
                    <a:noFill/>
                  </a:rPr>
                  <a:t> </a:t>
                </a:r>
              </a:p>
            </p:txBody>
          </p:sp>
        </mc:Fallback>
      </mc:AlternateContent>
      <p:sp>
        <p:nvSpPr>
          <p:cNvPr id="4" name="Нижний колонтитул 3">
            <a:extLst>
              <a:ext uri="{FF2B5EF4-FFF2-40B4-BE49-F238E27FC236}">
                <a16:creationId xmlns:a16="http://schemas.microsoft.com/office/drawing/2014/main" id="{6B3A4C4F-304C-A0A7-C48F-46332FC868F3}"/>
              </a:ext>
            </a:extLst>
          </p:cNvPr>
          <p:cNvSpPr>
            <a:spLocks noGrp="1"/>
          </p:cNvSpPr>
          <p:nvPr>
            <p:ph type="ftr" sz="quarter" idx="11"/>
          </p:nvPr>
        </p:nvSpPr>
        <p:spPr>
          <a:xfrm>
            <a:off x="2352675" y="6334580"/>
            <a:ext cx="4438650" cy="365125"/>
          </a:xfrm>
        </p:spPr>
        <p:txBody>
          <a:bodyPr/>
          <a:lstStyle/>
          <a:p>
            <a:r>
              <a:rPr lang="en-US" dirty="0"/>
              <a:t>https://citforum.ru/consulting/BI/biclustering/8.shtml</a:t>
            </a:r>
            <a:endParaRPr lang="ru-RU" dirty="0"/>
          </a:p>
        </p:txBody>
      </p:sp>
      <p:sp>
        <p:nvSpPr>
          <p:cNvPr id="5" name="Номер слайда 4">
            <a:extLst>
              <a:ext uri="{FF2B5EF4-FFF2-40B4-BE49-F238E27FC236}">
                <a16:creationId xmlns:a16="http://schemas.microsoft.com/office/drawing/2014/main" id="{87B87E06-A679-EE19-C5E1-642BDD89FA50}"/>
              </a:ext>
            </a:extLst>
          </p:cNvPr>
          <p:cNvSpPr>
            <a:spLocks noGrp="1"/>
          </p:cNvSpPr>
          <p:nvPr>
            <p:ph type="sldNum" sz="quarter" idx="12"/>
          </p:nvPr>
        </p:nvSpPr>
        <p:spPr/>
        <p:txBody>
          <a:bodyPr/>
          <a:lstStyle/>
          <a:p>
            <a:fld id="{81C5FB71-5E9C-41B5-9BB8-3F1EBEAEB16A}" type="slidenum">
              <a:rPr lang="ru-RU" smtClean="0"/>
              <a:t>31</a:t>
            </a:fld>
            <a:endParaRPr lang="ru-RU"/>
          </a:p>
        </p:txBody>
      </p:sp>
    </p:spTree>
    <p:extLst>
      <p:ext uri="{BB962C8B-B14F-4D97-AF65-F5344CB8AC3E}">
        <p14:creationId xmlns:p14="http://schemas.microsoft.com/office/powerpoint/2010/main" val="33562453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5CC6A-35B1-D1BD-A650-8DF99C4226F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6385B77-AB89-0395-F9D8-BA58F4DE2E92}"/>
              </a:ext>
            </a:extLst>
          </p:cNvPr>
          <p:cNvSpPr>
            <a:spLocks noGrp="1"/>
          </p:cNvSpPr>
          <p:nvPr>
            <p:ph type="title"/>
          </p:nvPr>
        </p:nvSpPr>
        <p:spPr/>
        <p:txBody>
          <a:bodyPr/>
          <a:lstStyle/>
          <a:p>
            <a:r>
              <a:rPr lang="ru-RU" dirty="0"/>
              <a:t>Алгоритм </a:t>
            </a:r>
            <a:r>
              <a:rPr lang="en-US" dirty="0" err="1"/>
              <a:t>Apriori</a:t>
            </a:r>
            <a:endParaRPr lang="ru-RU" dirty="0"/>
          </a:p>
        </p:txBody>
      </p:sp>
      <p:sp>
        <p:nvSpPr>
          <p:cNvPr id="4" name="Нижний колонтитул 3">
            <a:extLst>
              <a:ext uri="{FF2B5EF4-FFF2-40B4-BE49-F238E27FC236}">
                <a16:creationId xmlns:a16="http://schemas.microsoft.com/office/drawing/2014/main" id="{9DA68DFF-DA0A-F9AB-37E9-9348D23BF578}"/>
              </a:ext>
            </a:extLst>
          </p:cNvPr>
          <p:cNvSpPr>
            <a:spLocks noGrp="1"/>
          </p:cNvSpPr>
          <p:nvPr>
            <p:ph type="ftr" sz="quarter" idx="11"/>
          </p:nvPr>
        </p:nvSpPr>
        <p:spPr>
          <a:xfrm>
            <a:off x="2352675" y="6334580"/>
            <a:ext cx="4438650" cy="365125"/>
          </a:xfrm>
        </p:spPr>
        <p:txBody>
          <a:bodyPr/>
          <a:lstStyle/>
          <a:p>
            <a:r>
              <a:rPr lang="en-US" dirty="0"/>
              <a:t>https://citforum.ru/consulting/BI/biclustering/8.shtml</a:t>
            </a:r>
            <a:endParaRPr lang="ru-RU" dirty="0"/>
          </a:p>
        </p:txBody>
      </p:sp>
      <p:sp>
        <p:nvSpPr>
          <p:cNvPr id="5" name="Номер слайда 4">
            <a:extLst>
              <a:ext uri="{FF2B5EF4-FFF2-40B4-BE49-F238E27FC236}">
                <a16:creationId xmlns:a16="http://schemas.microsoft.com/office/drawing/2014/main" id="{1F7D9BE7-E2C0-1D7D-72A5-855FDC0E9376}"/>
              </a:ext>
            </a:extLst>
          </p:cNvPr>
          <p:cNvSpPr>
            <a:spLocks noGrp="1"/>
          </p:cNvSpPr>
          <p:nvPr>
            <p:ph type="sldNum" sz="quarter" idx="12"/>
          </p:nvPr>
        </p:nvSpPr>
        <p:spPr/>
        <p:txBody>
          <a:bodyPr/>
          <a:lstStyle/>
          <a:p>
            <a:fld id="{81C5FB71-5E9C-41B5-9BB8-3F1EBEAEB16A}" type="slidenum">
              <a:rPr lang="ru-RU" smtClean="0"/>
              <a:t>32</a:t>
            </a:fld>
            <a:endParaRPr lang="ru-RU"/>
          </a:p>
        </p:txBody>
      </p:sp>
      <p:pic>
        <p:nvPicPr>
          <p:cNvPr id="2052" name="Picture 4">
            <a:extLst>
              <a:ext uri="{FF2B5EF4-FFF2-40B4-BE49-F238E27FC236}">
                <a16:creationId xmlns:a16="http://schemas.microsoft.com/office/drawing/2014/main" id="{63452B5B-3683-6395-1DF8-59C24C38E93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31179" y="1752600"/>
            <a:ext cx="7884171" cy="398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63544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5B762-FF07-60C9-1BA5-3209D3766E2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C44F47-8A07-92A4-ED42-F40DC80E5397}"/>
              </a:ext>
            </a:extLst>
          </p:cNvPr>
          <p:cNvSpPr>
            <a:spLocks noGrp="1"/>
          </p:cNvSpPr>
          <p:nvPr>
            <p:ph type="title"/>
          </p:nvPr>
        </p:nvSpPr>
        <p:spPr/>
        <p:txBody>
          <a:bodyPr/>
          <a:lstStyle/>
          <a:p>
            <a:r>
              <a:rPr lang="ru-RU" dirty="0"/>
              <a:t>Алгоритм </a:t>
            </a:r>
            <a:r>
              <a:rPr lang="en-US" dirty="0" err="1"/>
              <a:t>Apriori</a:t>
            </a:r>
            <a:endParaRPr lang="ru-RU" dirty="0"/>
          </a:p>
        </p:txBody>
      </p:sp>
      <p:sp>
        <p:nvSpPr>
          <p:cNvPr id="4" name="Нижний колонтитул 3">
            <a:extLst>
              <a:ext uri="{FF2B5EF4-FFF2-40B4-BE49-F238E27FC236}">
                <a16:creationId xmlns:a16="http://schemas.microsoft.com/office/drawing/2014/main" id="{DF7E6A07-4A55-737E-174D-CE141E4EC0B6}"/>
              </a:ext>
            </a:extLst>
          </p:cNvPr>
          <p:cNvSpPr>
            <a:spLocks noGrp="1"/>
          </p:cNvSpPr>
          <p:nvPr>
            <p:ph type="ftr" sz="quarter" idx="11"/>
          </p:nvPr>
        </p:nvSpPr>
        <p:spPr>
          <a:xfrm>
            <a:off x="2352675" y="6334580"/>
            <a:ext cx="4438650" cy="365125"/>
          </a:xfrm>
        </p:spPr>
        <p:txBody>
          <a:bodyPr/>
          <a:lstStyle/>
          <a:p>
            <a:r>
              <a:rPr lang="en-US" dirty="0"/>
              <a:t>https://citforum.ru/consulting/BI/biclustering/8.shtml</a:t>
            </a:r>
            <a:endParaRPr lang="ru-RU" dirty="0"/>
          </a:p>
        </p:txBody>
      </p:sp>
      <p:sp>
        <p:nvSpPr>
          <p:cNvPr id="5" name="Номер слайда 4">
            <a:extLst>
              <a:ext uri="{FF2B5EF4-FFF2-40B4-BE49-F238E27FC236}">
                <a16:creationId xmlns:a16="http://schemas.microsoft.com/office/drawing/2014/main" id="{272191D1-3328-6D7B-0D25-E464399ADC69}"/>
              </a:ext>
            </a:extLst>
          </p:cNvPr>
          <p:cNvSpPr>
            <a:spLocks noGrp="1"/>
          </p:cNvSpPr>
          <p:nvPr>
            <p:ph type="sldNum" sz="quarter" idx="12"/>
          </p:nvPr>
        </p:nvSpPr>
        <p:spPr/>
        <p:txBody>
          <a:bodyPr/>
          <a:lstStyle/>
          <a:p>
            <a:fld id="{81C5FB71-5E9C-41B5-9BB8-3F1EBEAEB16A}" type="slidenum">
              <a:rPr lang="ru-RU" smtClean="0"/>
              <a:t>33</a:t>
            </a:fld>
            <a:endParaRPr lang="ru-RU"/>
          </a:p>
        </p:txBody>
      </p:sp>
      <p:pic>
        <p:nvPicPr>
          <p:cNvPr id="3076" name="Picture 4">
            <a:extLst>
              <a:ext uri="{FF2B5EF4-FFF2-40B4-BE49-F238E27FC236}">
                <a16:creationId xmlns:a16="http://schemas.microsoft.com/office/drawing/2014/main" id="{F8BA8B72-5DD3-1B5C-0541-EBB729AC088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327108" y="1532690"/>
            <a:ext cx="6489784" cy="4392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2254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C6E51E8-971D-47D5-98B4-EEFA06479D42}"/>
              </a:ext>
            </a:extLst>
          </p:cNvPr>
          <p:cNvSpPr>
            <a:spLocks noGrp="1"/>
          </p:cNvSpPr>
          <p:nvPr>
            <p:ph type="title"/>
          </p:nvPr>
        </p:nvSpPr>
        <p:spPr/>
        <p:txBody>
          <a:bodyPr/>
          <a:lstStyle/>
          <a:p>
            <a:pPr algn="ctr"/>
            <a:r>
              <a:rPr lang="ru-RU" dirty="0"/>
              <a:t>Методы поиска ассоциативных правил</a:t>
            </a:r>
            <a:br>
              <a:rPr lang="ru-RU" dirty="0"/>
            </a:br>
            <a:r>
              <a:rPr lang="ru-RU" dirty="0"/>
              <a:t>Алгоритм </a:t>
            </a:r>
            <a:r>
              <a:rPr lang="en-US" dirty="0" err="1"/>
              <a:t>Apriori</a:t>
            </a:r>
            <a:endParaRPr lang="ru-RU" dirty="0"/>
          </a:p>
        </p:txBody>
      </p:sp>
      <p:sp>
        <p:nvSpPr>
          <p:cNvPr id="3" name="Объект 2">
            <a:extLst>
              <a:ext uri="{FF2B5EF4-FFF2-40B4-BE49-F238E27FC236}">
                <a16:creationId xmlns:a16="http://schemas.microsoft.com/office/drawing/2014/main" id="{85CF68C4-664F-42AC-8EA5-88BF08F279DD}"/>
              </a:ext>
            </a:extLst>
          </p:cNvPr>
          <p:cNvSpPr>
            <a:spLocks noGrp="1"/>
          </p:cNvSpPr>
          <p:nvPr>
            <p:ph idx="1"/>
          </p:nvPr>
        </p:nvSpPr>
        <p:spPr/>
        <p:txBody>
          <a:bodyPr>
            <a:normAutofit fontScale="92500" lnSpcReduction="10000"/>
          </a:bodyPr>
          <a:lstStyle/>
          <a:p>
            <a:pPr marL="0" indent="0" algn="just">
              <a:buNone/>
            </a:pPr>
            <a:r>
              <a:rPr lang="ru-RU" b="0" i="0" dirty="0">
                <a:solidFill>
                  <a:srgbClr val="000000"/>
                </a:solidFill>
                <a:effectLst/>
                <a:latin typeface="lucida grande"/>
              </a:rPr>
              <a:t>Неудобство алгоритмов </a:t>
            </a:r>
            <a:r>
              <a:rPr lang="ru-RU" b="0" i="1" dirty="0">
                <a:solidFill>
                  <a:srgbClr val="000000"/>
                </a:solidFill>
                <a:effectLst/>
                <a:latin typeface="lucida grande"/>
              </a:rPr>
              <a:t>AIS</a:t>
            </a:r>
            <a:r>
              <a:rPr lang="ru-RU" b="0" i="0" dirty="0">
                <a:solidFill>
                  <a:srgbClr val="000000"/>
                </a:solidFill>
                <a:effectLst/>
                <a:latin typeface="lucida grande"/>
              </a:rPr>
              <a:t> и SETM - излишнее генерирование и подсчет слишком многих кандидатов, которые в результате не оказываются часто встречающимися. Для улучшения их работы был предложен </a:t>
            </a:r>
            <a:r>
              <a:rPr lang="ru-RU" b="0" i="1" dirty="0">
                <a:solidFill>
                  <a:srgbClr val="000000"/>
                </a:solidFill>
                <a:effectLst/>
                <a:latin typeface="lucida grande"/>
              </a:rPr>
              <a:t>алгоритм</a:t>
            </a:r>
            <a:r>
              <a:rPr lang="ru-RU" b="0" i="0" dirty="0">
                <a:solidFill>
                  <a:srgbClr val="000000"/>
                </a:solidFill>
                <a:effectLst/>
                <a:latin typeface="lucida grande"/>
              </a:rPr>
              <a:t> Apriori.</a:t>
            </a:r>
          </a:p>
          <a:p>
            <a:pPr marL="0" indent="0" algn="just">
              <a:buNone/>
            </a:pPr>
            <a:r>
              <a:rPr lang="ru-RU" b="0" i="0" dirty="0">
                <a:solidFill>
                  <a:srgbClr val="000000"/>
                </a:solidFill>
                <a:effectLst/>
                <a:latin typeface="lucida grande"/>
              </a:rPr>
              <a:t>Работа данного алгоритма состоит из нескольких этапов, каждый из этапов состоит из следующих шагов:</a:t>
            </a:r>
          </a:p>
          <a:p>
            <a:pPr>
              <a:buFont typeface="Arial" panose="020B0604020202020204" pitchFamily="34" charset="0"/>
              <a:buChar char="•"/>
            </a:pPr>
            <a:r>
              <a:rPr lang="ru-RU" b="0" i="0" dirty="0">
                <a:solidFill>
                  <a:srgbClr val="000000"/>
                </a:solidFill>
                <a:effectLst/>
                <a:latin typeface="lucida grande"/>
              </a:rPr>
              <a:t>формирование кандидатов;</a:t>
            </a:r>
          </a:p>
          <a:p>
            <a:pPr>
              <a:buFont typeface="Arial" panose="020B0604020202020204" pitchFamily="34" charset="0"/>
              <a:buChar char="•"/>
            </a:pPr>
            <a:r>
              <a:rPr lang="ru-RU" b="0" i="0" dirty="0">
                <a:solidFill>
                  <a:srgbClr val="000000"/>
                </a:solidFill>
                <a:effectLst/>
                <a:latin typeface="lucida grande"/>
              </a:rPr>
              <a:t>подсчет кандидатов.</a:t>
            </a:r>
          </a:p>
          <a:p>
            <a:pPr algn="just"/>
            <a:r>
              <a:rPr lang="ru-RU" b="1" i="0" dirty="0">
                <a:solidFill>
                  <a:srgbClr val="000000"/>
                </a:solidFill>
                <a:effectLst/>
                <a:latin typeface="lucida grande"/>
              </a:rPr>
              <a:t>Формирование кандидатов</a:t>
            </a:r>
            <a:r>
              <a:rPr lang="ru-RU" b="0" i="0" dirty="0">
                <a:solidFill>
                  <a:srgbClr val="000000"/>
                </a:solidFill>
                <a:effectLst/>
                <a:latin typeface="lucida grande"/>
              </a:rPr>
              <a:t> (candidate </a:t>
            </a:r>
            <a:r>
              <a:rPr lang="ru-RU" b="0" i="1" dirty="0">
                <a:solidFill>
                  <a:srgbClr val="000000"/>
                </a:solidFill>
                <a:effectLst/>
                <a:latin typeface="lucida grande"/>
              </a:rPr>
              <a:t>generation</a:t>
            </a:r>
            <a:r>
              <a:rPr lang="ru-RU" b="0" i="0" dirty="0">
                <a:solidFill>
                  <a:srgbClr val="000000"/>
                </a:solidFill>
                <a:effectLst/>
                <a:latin typeface="lucida grande"/>
              </a:rPr>
              <a:t>) - этап, на котором </a:t>
            </a:r>
            <a:r>
              <a:rPr lang="ru-RU" b="0" i="1" dirty="0">
                <a:solidFill>
                  <a:srgbClr val="000000"/>
                </a:solidFill>
                <a:effectLst/>
                <a:latin typeface="lucida grande"/>
              </a:rPr>
              <a:t>алгоритм</a:t>
            </a:r>
            <a:r>
              <a:rPr lang="ru-RU" b="0" i="0" dirty="0">
                <a:solidFill>
                  <a:srgbClr val="000000"/>
                </a:solidFill>
                <a:effectLst/>
                <a:latin typeface="lucida grande"/>
              </a:rPr>
              <a:t>, сканируя базу данных, создает множество i-элементных кандидатов (i - номер этапа). На этом этапе </a:t>
            </a:r>
            <a:r>
              <a:rPr lang="ru-RU" b="0" i="1" dirty="0">
                <a:solidFill>
                  <a:srgbClr val="000000"/>
                </a:solidFill>
                <a:effectLst/>
                <a:latin typeface="lucida grande"/>
              </a:rPr>
              <a:t>поддержка</a:t>
            </a:r>
            <a:r>
              <a:rPr lang="ru-RU" b="0" i="0" dirty="0">
                <a:solidFill>
                  <a:srgbClr val="000000"/>
                </a:solidFill>
                <a:effectLst/>
                <a:latin typeface="lucida grande"/>
              </a:rPr>
              <a:t> кандидатов не рассчитывается.</a:t>
            </a:r>
          </a:p>
          <a:p>
            <a:pPr algn="just"/>
            <a:r>
              <a:rPr lang="ru-RU" b="1" i="0" dirty="0">
                <a:solidFill>
                  <a:srgbClr val="000000"/>
                </a:solidFill>
                <a:effectLst/>
                <a:latin typeface="lucida grande"/>
              </a:rPr>
              <a:t>Подсчет кандидатов</a:t>
            </a:r>
            <a:r>
              <a:rPr lang="ru-RU" b="0" i="0" dirty="0">
                <a:solidFill>
                  <a:srgbClr val="000000"/>
                </a:solidFill>
                <a:effectLst/>
                <a:latin typeface="lucida grande"/>
              </a:rPr>
              <a:t> (candidate counting) - этап, на котором вычисляется </a:t>
            </a:r>
            <a:r>
              <a:rPr lang="ru-RU" b="0" i="1" dirty="0">
                <a:solidFill>
                  <a:srgbClr val="000000"/>
                </a:solidFill>
                <a:effectLst/>
                <a:latin typeface="lucida grande"/>
              </a:rPr>
              <a:t>поддержка</a:t>
            </a:r>
            <a:r>
              <a:rPr lang="ru-RU" b="0" i="0" dirty="0">
                <a:solidFill>
                  <a:srgbClr val="000000"/>
                </a:solidFill>
                <a:effectLst/>
                <a:latin typeface="lucida grande"/>
              </a:rPr>
              <a:t> каждого i-элементного кандидата. Здесь же осуществляется </a:t>
            </a:r>
            <a:r>
              <a:rPr lang="ru-RU" b="0" i="1" dirty="0">
                <a:solidFill>
                  <a:srgbClr val="000000"/>
                </a:solidFill>
                <a:effectLst/>
                <a:latin typeface="lucida grande"/>
              </a:rPr>
              <a:t>отсечение</a:t>
            </a:r>
            <a:r>
              <a:rPr lang="ru-RU" b="0" i="0" dirty="0">
                <a:solidFill>
                  <a:srgbClr val="000000"/>
                </a:solidFill>
                <a:effectLst/>
                <a:latin typeface="lucida grande"/>
              </a:rPr>
              <a:t> кандидатов, </a:t>
            </a:r>
            <a:r>
              <a:rPr lang="ru-RU" b="0" i="1" dirty="0">
                <a:solidFill>
                  <a:srgbClr val="000000"/>
                </a:solidFill>
                <a:effectLst/>
                <a:latin typeface="lucida grande"/>
              </a:rPr>
              <a:t>поддержка</a:t>
            </a:r>
            <a:r>
              <a:rPr lang="ru-RU" b="0" i="0" dirty="0">
                <a:solidFill>
                  <a:srgbClr val="000000"/>
                </a:solidFill>
                <a:effectLst/>
                <a:latin typeface="lucida grande"/>
              </a:rPr>
              <a:t> которых меньше минимума, установленного пользователем (</a:t>
            </a:r>
            <a:r>
              <a:rPr lang="ru-RU" b="0" i="0" dirty="0" err="1">
                <a:solidFill>
                  <a:srgbClr val="000000"/>
                </a:solidFill>
                <a:effectLst/>
                <a:latin typeface="lucida grande"/>
              </a:rPr>
              <a:t>min_sup</a:t>
            </a:r>
            <a:r>
              <a:rPr lang="ru-RU" b="0" i="0" dirty="0">
                <a:solidFill>
                  <a:srgbClr val="000000"/>
                </a:solidFill>
                <a:effectLst/>
                <a:latin typeface="lucida grande"/>
              </a:rPr>
              <a:t>). Оставшиеся i-элементные наборы называем часто встречающимися.</a:t>
            </a:r>
            <a:endParaRPr lang="ru-RU" dirty="0"/>
          </a:p>
        </p:txBody>
      </p:sp>
      <p:sp>
        <p:nvSpPr>
          <p:cNvPr id="4" name="Нижний колонтитул 3">
            <a:extLst>
              <a:ext uri="{FF2B5EF4-FFF2-40B4-BE49-F238E27FC236}">
                <a16:creationId xmlns:a16="http://schemas.microsoft.com/office/drawing/2014/main" id="{0498CBB1-7092-428D-BC2E-00693E41BCC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948FC469-9839-4C98-A44A-0F67C0778BE2}"/>
              </a:ext>
            </a:extLst>
          </p:cNvPr>
          <p:cNvSpPr>
            <a:spLocks noGrp="1"/>
          </p:cNvSpPr>
          <p:nvPr>
            <p:ph type="sldNum" sz="quarter" idx="12"/>
          </p:nvPr>
        </p:nvSpPr>
        <p:spPr/>
        <p:txBody>
          <a:bodyPr/>
          <a:lstStyle/>
          <a:p>
            <a:fld id="{81C5FB71-5E9C-41B5-9BB8-3F1EBEAEB16A}" type="slidenum">
              <a:rPr lang="ru-RU" smtClean="0"/>
              <a:t>34</a:t>
            </a:fld>
            <a:endParaRPr lang="ru-RU"/>
          </a:p>
        </p:txBody>
      </p:sp>
    </p:spTree>
    <p:extLst>
      <p:ext uri="{BB962C8B-B14F-4D97-AF65-F5344CB8AC3E}">
        <p14:creationId xmlns:p14="http://schemas.microsoft.com/office/powerpoint/2010/main" val="23986291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AB4B412-021A-499A-AC6F-A5B626ECD538}"/>
              </a:ext>
            </a:extLst>
          </p:cNvPr>
          <p:cNvSpPr>
            <a:spLocks noGrp="1"/>
          </p:cNvSpPr>
          <p:nvPr>
            <p:ph type="title"/>
          </p:nvPr>
        </p:nvSpPr>
        <p:spPr>
          <a:xfrm>
            <a:off x="736385" y="304800"/>
            <a:ext cx="8134350" cy="615009"/>
          </a:xfrm>
        </p:spPr>
        <p:txBody>
          <a:bodyPr>
            <a:normAutofit/>
          </a:bodyPr>
          <a:lstStyle/>
          <a:p>
            <a:pPr algn="ctr"/>
            <a:r>
              <a:rPr lang="ru-RU" sz="1800" dirty="0"/>
              <a:t>Рассмотрим работу алгоритма Apriori на примере базы данных покупательских транзакций с минимальным </a:t>
            </a:r>
            <a:r>
              <a:rPr lang="ru-RU" sz="1800" dirty="0" err="1"/>
              <a:t>уровенем</a:t>
            </a:r>
            <a:r>
              <a:rPr lang="ru-RU" sz="1800" dirty="0"/>
              <a:t> поддержки равным 3</a:t>
            </a:r>
          </a:p>
        </p:txBody>
      </p:sp>
      <p:sp>
        <p:nvSpPr>
          <p:cNvPr id="4" name="Нижний колонтитул 3">
            <a:extLst>
              <a:ext uri="{FF2B5EF4-FFF2-40B4-BE49-F238E27FC236}">
                <a16:creationId xmlns:a16="http://schemas.microsoft.com/office/drawing/2014/main" id="{47AD6A28-20CE-46C5-A919-B4B239017187}"/>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D90D07DE-0420-49B1-AD07-CBD37759FE46}"/>
              </a:ext>
            </a:extLst>
          </p:cNvPr>
          <p:cNvSpPr>
            <a:spLocks noGrp="1"/>
          </p:cNvSpPr>
          <p:nvPr>
            <p:ph type="sldNum" sz="quarter" idx="12"/>
          </p:nvPr>
        </p:nvSpPr>
        <p:spPr/>
        <p:txBody>
          <a:bodyPr/>
          <a:lstStyle/>
          <a:p>
            <a:fld id="{81C5FB71-5E9C-41B5-9BB8-3F1EBEAEB16A}" type="slidenum">
              <a:rPr lang="ru-RU" smtClean="0"/>
              <a:t>35</a:t>
            </a:fld>
            <a:endParaRPr lang="ru-RU"/>
          </a:p>
        </p:txBody>
      </p:sp>
      <p:pic>
        <p:nvPicPr>
          <p:cNvPr id="13" name="Объект 12">
            <a:extLst>
              <a:ext uri="{FF2B5EF4-FFF2-40B4-BE49-F238E27FC236}">
                <a16:creationId xmlns:a16="http://schemas.microsoft.com/office/drawing/2014/main" id="{E2BA2DCC-F23E-4D60-8547-E0C24AA0EB22}"/>
              </a:ext>
            </a:extLst>
          </p:cNvPr>
          <p:cNvPicPr>
            <a:picLocks noGrp="1" noChangeAspect="1"/>
          </p:cNvPicPr>
          <p:nvPr>
            <p:ph idx="1"/>
          </p:nvPr>
        </p:nvPicPr>
        <p:blipFill>
          <a:blip r:embed="rId3"/>
          <a:stretch>
            <a:fillRect/>
          </a:stretch>
        </p:blipFill>
        <p:spPr>
          <a:xfrm>
            <a:off x="267822" y="1387475"/>
            <a:ext cx="8608356" cy="3718899"/>
          </a:xfrm>
        </p:spPr>
      </p:pic>
    </p:spTree>
    <p:extLst>
      <p:ext uri="{BB962C8B-B14F-4D97-AF65-F5344CB8AC3E}">
        <p14:creationId xmlns:p14="http://schemas.microsoft.com/office/powerpoint/2010/main" val="29731175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68D7072-3FF8-410A-B7E5-124BDBCFE03B}"/>
              </a:ext>
            </a:extLst>
          </p:cNvPr>
          <p:cNvSpPr>
            <a:spLocks noGrp="1"/>
          </p:cNvSpPr>
          <p:nvPr>
            <p:ph type="title"/>
          </p:nvPr>
        </p:nvSpPr>
        <p:spPr/>
        <p:txBody>
          <a:bodyPr/>
          <a:lstStyle/>
          <a:p>
            <a:pPr algn="ctr"/>
            <a:r>
              <a:rPr lang="ru-RU" dirty="0"/>
              <a:t>Предобработка данных для алгоритма </a:t>
            </a:r>
            <a:r>
              <a:rPr lang="en-US" dirty="0" err="1"/>
              <a:t>Apriori</a:t>
            </a:r>
            <a:endParaRPr lang="ru-RU" dirty="0"/>
          </a:p>
        </p:txBody>
      </p:sp>
      <p:sp>
        <p:nvSpPr>
          <p:cNvPr id="3" name="Объект 2">
            <a:extLst>
              <a:ext uri="{FF2B5EF4-FFF2-40B4-BE49-F238E27FC236}">
                <a16:creationId xmlns:a16="http://schemas.microsoft.com/office/drawing/2014/main" id="{E4FEEF42-9531-4EF8-AB92-57891F588D0A}"/>
              </a:ext>
            </a:extLst>
          </p:cNvPr>
          <p:cNvSpPr>
            <a:spLocks noGrp="1"/>
          </p:cNvSpPr>
          <p:nvPr>
            <p:ph idx="1"/>
          </p:nvPr>
        </p:nvSpPr>
        <p:spPr>
          <a:xfrm>
            <a:off x="628650" y="914400"/>
            <a:ext cx="7886700" cy="5262563"/>
          </a:xfrm>
        </p:spPr>
        <p:txBody>
          <a:bodyPr/>
          <a:lstStyle/>
          <a:p>
            <a:pPr marL="0" indent="0" algn="just">
              <a:buNone/>
            </a:pPr>
            <a:r>
              <a:rPr lang="ru-RU" sz="2000" dirty="0"/>
              <a:t>Для того чтобы было возможно применить алгоритм </a:t>
            </a:r>
            <a:r>
              <a:rPr lang="en-US" sz="2000" dirty="0" err="1"/>
              <a:t>Apriori</a:t>
            </a:r>
            <a:r>
              <a:rPr lang="ru-RU" sz="2000" dirty="0"/>
              <a:t>, необходимо провести предобработку данных:</a:t>
            </a:r>
          </a:p>
          <a:p>
            <a:r>
              <a:rPr lang="ru-RU" sz="2000" dirty="0"/>
              <a:t>привести все данные к бинарному виду;</a:t>
            </a:r>
          </a:p>
          <a:p>
            <a:r>
              <a:rPr lang="ru-RU" sz="2000" dirty="0"/>
              <a:t>изменить структуру данных.</a:t>
            </a:r>
          </a:p>
          <a:p>
            <a:pPr marL="0" indent="0">
              <a:buNone/>
            </a:pPr>
            <a:endParaRPr lang="ru-RU" dirty="0"/>
          </a:p>
        </p:txBody>
      </p:sp>
      <p:sp>
        <p:nvSpPr>
          <p:cNvPr id="4" name="Нижний колонтитул 3">
            <a:extLst>
              <a:ext uri="{FF2B5EF4-FFF2-40B4-BE49-F238E27FC236}">
                <a16:creationId xmlns:a16="http://schemas.microsoft.com/office/drawing/2014/main" id="{BA798DC1-7FED-421A-B9D2-83130E69B27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7F7039A-CEDB-425D-B702-E5642A837099}"/>
              </a:ext>
            </a:extLst>
          </p:cNvPr>
          <p:cNvSpPr>
            <a:spLocks noGrp="1"/>
          </p:cNvSpPr>
          <p:nvPr>
            <p:ph type="sldNum" sz="quarter" idx="12"/>
          </p:nvPr>
        </p:nvSpPr>
        <p:spPr/>
        <p:txBody>
          <a:bodyPr/>
          <a:lstStyle/>
          <a:p>
            <a:fld id="{81C5FB71-5E9C-41B5-9BB8-3F1EBEAEB16A}" type="slidenum">
              <a:rPr lang="ru-RU" smtClean="0"/>
              <a:t>36</a:t>
            </a:fld>
            <a:endParaRPr lang="ru-RU"/>
          </a:p>
        </p:txBody>
      </p:sp>
      <p:graphicFrame>
        <p:nvGraphicFramePr>
          <p:cNvPr id="6" name="Таблица 5">
            <a:extLst>
              <a:ext uri="{FF2B5EF4-FFF2-40B4-BE49-F238E27FC236}">
                <a16:creationId xmlns:a16="http://schemas.microsoft.com/office/drawing/2014/main" id="{8CAE0FB0-B59F-4943-B53E-B497E11F7354}"/>
              </a:ext>
            </a:extLst>
          </p:cNvPr>
          <p:cNvGraphicFramePr>
            <a:graphicFrameLocks noGrp="1"/>
          </p:cNvGraphicFramePr>
          <p:nvPr>
            <p:extLst>
              <p:ext uri="{D42A27DB-BD31-4B8C-83A1-F6EECF244321}">
                <p14:modId xmlns:p14="http://schemas.microsoft.com/office/powerpoint/2010/main" val="370027091"/>
              </p:ext>
            </p:extLst>
          </p:nvPr>
        </p:nvGraphicFramePr>
        <p:xfrm>
          <a:off x="2015055" y="2401442"/>
          <a:ext cx="5113890" cy="3775521"/>
        </p:xfrm>
        <a:graphic>
          <a:graphicData uri="http://schemas.openxmlformats.org/drawingml/2006/table">
            <a:tbl>
              <a:tblPr>
                <a:tableStyleId>{5940675A-B579-460E-94D1-54222C63F5DA}</a:tableStyleId>
              </a:tblPr>
              <a:tblGrid>
                <a:gridCol w="1656000">
                  <a:extLst>
                    <a:ext uri="{9D8B030D-6E8A-4147-A177-3AD203B41FA5}">
                      <a16:colId xmlns:a16="http://schemas.microsoft.com/office/drawing/2014/main" val="613449577"/>
                    </a:ext>
                  </a:extLst>
                </a:gridCol>
                <a:gridCol w="2052000">
                  <a:extLst>
                    <a:ext uri="{9D8B030D-6E8A-4147-A177-3AD203B41FA5}">
                      <a16:colId xmlns:a16="http://schemas.microsoft.com/office/drawing/2014/main" val="4234438420"/>
                    </a:ext>
                  </a:extLst>
                </a:gridCol>
                <a:gridCol w="1405890">
                  <a:extLst>
                    <a:ext uri="{9D8B030D-6E8A-4147-A177-3AD203B41FA5}">
                      <a16:colId xmlns:a16="http://schemas.microsoft.com/office/drawing/2014/main" val="2652877225"/>
                    </a:ext>
                  </a:extLst>
                </a:gridCol>
              </a:tblGrid>
              <a:tr h="375750">
                <a:tc>
                  <a:txBody>
                    <a:bodyPr/>
                    <a:lstStyle/>
                    <a:p>
                      <a:pPr algn="ctr" fontAlgn="ctr">
                        <a:lnSpc>
                          <a:spcPct val="50000"/>
                        </a:lnSpc>
                      </a:pPr>
                      <a:r>
                        <a:rPr lang="ru-RU" sz="1300" dirty="0">
                          <a:effectLst/>
                        </a:rPr>
                        <a:t>Номер транзакции</a:t>
                      </a:r>
                      <a:endParaRPr lang="ru-RU" sz="1300" b="1" dirty="0">
                        <a:solidFill>
                          <a:srgbClr val="FFFFFF"/>
                        </a:solidFill>
                        <a:effectLst/>
                      </a:endParaRPr>
                    </a:p>
                  </a:txBody>
                  <a:tcPr marL="108045" marR="108045" marT="144060" marB="144060" anchor="ctr"/>
                </a:tc>
                <a:tc>
                  <a:txBody>
                    <a:bodyPr/>
                    <a:lstStyle/>
                    <a:p>
                      <a:pPr algn="ctr" fontAlgn="ctr">
                        <a:lnSpc>
                          <a:spcPct val="50000"/>
                        </a:lnSpc>
                      </a:pPr>
                      <a:r>
                        <a:rPr lang="ru-RU" sz="1300" dirty="0">
                          <a:effectLst/>
                        </a:rPr>
                        <a:t>Наименование элемента</a:t>
                      </a:r>
                      <a:endParaRPr lang="ru-RU" sz="1300" b="1" dirty="0">
                        <a:solidFill>
                          <a:srgbClr val="FFFFFF"/>
                        </a:solidFill>
                        <a:effectLst/>
                      </a:endParaRPr>
                    </a:p>
                  </a:txBody>
                  <a:tcPr marL="108045" marR="108045" marT="144060" marB="144060" anchor="ctr"/>
                </a:tc>
                <a:tc>
                  <a:txBody>
                    <a:bodyPr/>
                    <a:lstStyle/>
                    <a:p>
                      <a:pPr algn="ctr" fontAlgn="ctr">
                        <a:lnSpc>
                          <a:spcPct val="50000"/>
                        </a:lnSpc>
                      </a:pPr>
                      <a:r>
                        <a:rPr lang="ru-RU" sz="1300" dirty="0">
                          <a:effectLst/>
                        </a:rPr>
                        <a:t>Количество</a:t>
                      </a:r>
                      <a:endParaRPr lang="ru-RU" sz="1300" b="1" dirty="0">
                        <a:solidFill>
                          <a:srgbClr val="FFFFFF"/>
                        </a:solidFill>
                        <a:effectLst/>
                      </a:endParaRPr>
                    </a:p>
                  </a:txBody>
                  <a:tcPr marL="108045" marR="108045" marT="144060" marB="144060" anchor="ctr"/>
                </a:tc>
                <a:extLst>
                  <a:ext uri="{0D108BD9-81ED-4DB2-BD59-A6C34878D82A}">
                    <a16:rowId xmlns:a16="http://schemas.microsoft.com/office/drawing/2014/main" val="1941252078"/>
                  </a:ext>
                </a:extLst>
              </a:tr>
              <a:tr h="396000">
                <a:tc>
                  <a:txBody>
                    <a:bodyPr/>
                    <a:lstStyle/>
                    <a:p>
                      <a:pPr algn="ctr" fontAlgn="ctr">
                        <a:lnSpc>
                          <a:spcPct val="20000"/>
                        </a:lnSpc>
                      </a:pPr>
                      <a:r>
                        <a:rPr lang="ru-RU" sz="1300" dirty="0">
                          <a:effectLst/>
                        </a:rPr>
                        <a:t>1001</a:t>
                      </a:r>
                      <a:endParaRPr lang="ru-RU" sz="1300" dirty="0">
                        <a:solidFill>
                          <a:srgbClr val="333333"/>
                        </a:solidFill>
                        <a:effectLst/>
                      </a:endParaRPr>
                    </a:p>
                  </a:txBody>
                  <a:tcPr marL="108045" marR="108045" marT="144060" marB="144060" anchor="ctr"/>
                </a:tc>
                <a:tc>
                  <a:txBody>
                    <a:bodyPr/>
                    <a:lstStyle/>
                    <a:p>
                      <a:pPr algn="ctr" fontAlgn="ctr">
                        <a:lnSpc>
                          <a:spcPct val="20000"/>
                        </a:lnSpc>
                      </a:pPr>
                      <a:r>
                        <a:rPr lang="ru-RU" sz="1300" dirty="0">
                          <a:effectLst/>
                        </a:rPr>
                        <a:t>А</a:t>
                      </a:r>
                      <a:endParaRPr lang="ru-RU" sz="1300" dirty="0">
                        <a:solidFill>
                          <a:srgbClr val="333333"/>
                        </a:solidFill>
                        <a:effectLst/>
                      </a:endParaRPr>
                    </a:p>
                  </a:txBody>
                  <a:tcPr marL="108045" marR="108045" marT="144060" marB="144060" anchor="ctr"/>
                </a:tc>
                <a:tc>
                  <a:txBody>
                    <a:bodyPr/>
                    <a:lstStyle/>
                    <a:p>
                      <a:pPr algn="ctr" fontAlgn="ctr">
                        <a:lnSpc>
                          <a:spcPct val="20000"/>
                        </a:lnSpc>
                      </a:pPr>
                      <a:r>
                        <a:rPr lang="ru-RU" sz="1300" dirty="0">
                          <a:effectLst/>
                        </a:rPr>
                        <a:t>2</a:t>
                      </a:r>
                      <a:endParaRPr lang="ru-RU" sz="1300" dirty="0">
                        <a:solidFill>
                          <a:srgbClr val="333333"/>
                        </a:solidFill>
                        <a:effectLst/>
                      </a:endParaRPr>
                    </a:p>
                  </a:txBody>
                  <a:tcPr marL="108045" marR="108045" marT="144060" marB="144060" anchor="ctr"/>
                </a:tc>
                <a:extLst>
                  <a:ext uri="{0D108BD9-81ED-4DB2-BD59-A6C34878D82A}">
                    <a16:rowId xmlns:a16="http://schemas.microsoft.com/office/drawing/2014/main" val="672574919"/>
                  </a:ext>
                </a:extLst>
              </a:tr>
              <a:tr h="360000">
                <a:tc>
                  <a:txBody>
                    <a:bodyPr/>
                    <a:lstStyle/>
                    <a:p>
                      <a:pPr algn="ctr" fontAlgn="ctr">
                        <a:lnSpc>
                          <a:spcPct val="20000"/>
                        </a:lnSpc>
                      </a:pPr>
                      <a:r>
                        <a:rPr lang="ru-RU" sz="1300" dirty="0">
                          <a:effectLst/>
                        </a:rPr>
                        <a:t>1001</a:t>
                      </a:r>
                      <a:endParaRPr lang="ru-RU" sz="1300" dirty="0">
                        <a:solidFill>
                          <a:srgbClr val="333333"/>
                        </a:solidFill>
                        <a:effectLst/>
                      </a:endParaRPr>
                    </a:p>
                  </a:txBody>
                  <a:tcPr marL="108045" marR="108045" marT="144060" marB="144060" anchor="ctr"/>
                </a:tc>
                <a:tc>
                  <a:txBody>
                    <a:bodyPr/>
                    <a:lstStyle/>
                    <a:p>
                      <a:pPr algn="ctr" fontAlgn="ctr">
                        <a:lnSpc>
                          <a:spcPct val="20000"/>
                        </a:lnSpc>
                      </a:pPr>
                      <a:r>
                        <a:rPr lang="en-US" sz="1300" dirty="0">
                          <a:effectLst/>
                        </a:rPr>
                        <a:t>D</a:t>
                      </a:r>
                      <a:endParaRPr lang="en-US" sz="1300" dirty="0">
                        <a:solidFill>
                          <a:srgbClr val="333333"/>
                        </a:solidFill>
                        <a:effectLst/>
                      </a:endParaRPr>
                    </a:p>
                  </a:txBody>
                  <a:tcPr marL="108045" marR="108045" marT="144060" marB="144060" anchor="ctr"/>
                </a:tc>
                <a:tc>
                  <a:txBody>
                    <a:bodyPr/>
                    <a:lstStyle/>
                    <a:p>
                      <a:pPr algn="ctr" fontAlgn="ctr">
                        <a:lnSpc>
                          <a:spcPct val="20000"/>
                        </a:lnSpc>
                      </a:pPr>
                      <a:r>
                        <a:rPr lang="ru-RU" sz="1300" dirty="0">
                          <a:effectLst/>
                        </a:rPr>
                        <a:t>3</a:t>
                      </a:r>
                      <a:endParaRPr lang="ru-RU" sz="1300" dirty="0">
                        <a:solidFill>
                          <a:srgbClr val="333333"/>
                        </a:solidFill>
                        <a:effectLst/>
                      </a:endParaRPr>
                    </a:p>
                  </a:txBody>
                  <a:tcPr marL="108045" marR="108045" marT="144060" marB="144060" anchor="ctr"/>
                </a:tc>
                <a:extLst>
                  <a:ext uri="{0D108BD9-81ED-4DB2-BD59-A6C34878D82A}">
                    <a16:rowId xmlns:a16="http://schemas.microsoft.com/office/drawing/2014/main" val="3057312164"/>
                  </a:ext>
                </a:extLst>
              </a:tr>
              <a:tr h="396000">
                <a:tc>
                  <a:txBody>
                    <a:bodyPr/>
                    <a:lstStyle/>
                    <a:p>
                      <a:pPr algn="ctr" fontAlgn="ctr">
                        <a:lnSpc>
                          <a:spcPct val="20000"/>
                        </a:lnSpc>
                      </a:pPr>
                      <a:r>
                        <a:rPr lang="ru-RU" sz="1300" dirty="0">
                          <a:effectLst/>
                        </a:rPr>
                        <a:t>1001</a:t>
                      </a:r>
                      <a:endParaRPr lang="ru-RU" sz="1300" dirty="0">
                        <a:solidFill>
                          <a:srgbClr val="333333"/>
                        </a:solidFill>
                        <a:effectLst/>
                      </a:endParaRPr>
                    </a:p>
                  </a:txBody>
                  <a:tcPr marL="108045" marR="108045" marT="144060" marB="144060" anchor="ctr"/>
                </a:tc>
                <a:tc>
                  <a:txBody>
                    <a:bodyPr/>
                    <a:lstStyle/>
                    <a:p>
                      <a:pPr algn="ctr" fontAlgn="ctr">
                        <a:lnSpc>
                          <a:spcPct val="20000"/>
                        </a:lnSpc>
                      </a:pPr>
                      <a:r>
                        <a:rPr lang="en-US" sz="1300" dirty="0">
                          <a:effectLst/>
                        </a:rPr>
                        <a:t>E</a:t>
                      </a:r>
                      <a:endParaRPr lang="en-US" sz="1300" dirty="0">
                        <a:solidFill>
                          <a:srgbClr val="333333"/>
                        </a:solidFill>
                        <a:effectLst/>
                      </a:endParaRPr>
                    </a:p>
                  </a:txBody>
                  <a:tcPr marL="108045" marR="108045" marT="144060" marB="144060" anchor="ctr"/>
                </a:tc>
                <a:tc>
                  <a:txBody>
                    <a:bodyPr/>
                    <a:lstStyle/>
                    <a:p>
                      <a:pPr algn="ctr" fontAlgn="ctr">
                        <a:lnSpc>
                          <a:spcPct val="20000"/>
                        </a:lnSpc>
                      </a:pPr>
                      <a:r>
                        <a:rPr lang="ru-RU" sz="1300">
                          <a:effectLst/>
                        </a:rPr>
                        <a:t>1</a:t>
                      </a:r>
                      <a:endParaRPr lang="ru-RU" sz="1300">
                        <a:solidFill>
                          <a:srgbClr val="333333"/>
                        </a:solidFill>
                        <a:effectLst/>
                      </a:endParaRPr>
                    </a:p>
                  </a:txBody>
                  <a:tcPr marL="108045" marR="108045" marT="144060" marB="144060" anchor="ctr"/>
                </a:tc>
                <a:extLst>
                  <a:ext uri="{0D108BD9-81ED-4DB2-BD59-A6C34878D82A}">
                    <a16:rowId xmlns:a16="http://schemas.microsoft.com/office/drawing/2014/main" val="3897325613"/>
                  </a:ext>
                </a:extLst>
              </a:tr>
              <a:tr h="360000">
                <a:tc>
                  <a:txBody>
                    <a:bodyPr/>
                    <a:lstStyle/>
                    <a:p>
                      <a:pPr algn="ctr" fontAlgn="ctr">
                        <a:lnSpc>
                          <a:spcPct val="20000"/>
                        </a:lnSpc>
                      </a:pPr>
                      <a:r>
                        <a:rPr lang="ru-RU" sz="1300">
                          <a:effectLst/>
                        </a:rPr>
                        <a:t>1002</a:t>
                      </a:r>
                      <a:endParaRPr lang="ru-RU" sz="1300">
                        <a:solidFill>
                          <a:srgbClr val="333333"/>
                        </a:solidFill>
                        <a:effectLst/>
                      </a:endParaRPr>
                    </a:p>
                  </a:txBody>
                  <a:tcPr marL="108045" marR="108045" marT="144060" marB="144060" anchor="ctr"/>
                </a:tc>
                <a:tc>
                  <a:txBody>
                    <a:bodyPr/>
                    <a:lstStyle/>
                    <a:p>
                      <a:pPr algn="ctr" fontAlgn="ctr">
                        <a:lnSpc>
                          <a:spcPct val="20000"/>
                        </a:lnSpc>
                      </a:pPr>
                      <a:r>
                        <a:rPr lang="ru-RU" sz="1300" dirty="0">
                          <a:effectLst/>
                        </a:rPr>
                        <a:t>А</a:t>
                      </a:r>
                      <a:endParaRPr lang="ru-RU" sz="1300" dirty="0">
                        <a:solidFill>
                          <a:srgbClr val="333333"/>
                        </a:solidFill>
                        <a:effectLst/>
                      </a:endParaRPr>
                    </a:p>
                  </a:txBody>
                  <a:tcPr marL="108045" marR="108045" marT="144060" marB="144060" anchor="ctr"/>
                </a:tc>
                <a:tc>
                  <a:txBody>
                    <a:bodyPr/>
                    <a:lstStyle/>
                    <a:p>
                      <a:pPr algn="ctr" fontAlgn="ctr">
                        <a:lnSpc>
                          <a:spcPct val="20000"/>
                        </a:lnSpc>
                      </a:pPr>
                      <a:r>
                        <a:rPr lang="ru-RU" sz="1300">
                          <a:effectLst/>
                        </a:rPr>
                        <a:t>2</a:t>
                      </a:r>
                      <a:endParaRPr lang="ru-RU" sz="1300">
                        <a:solidFill>
                          <a:srgbClr val="333333"/>
                        </a:solidFill>
                        <a:effectLst/>
                      </a:endParaRPr>
                    </a:p>
                  </a:txBody>
                  <a:tcPr marL="108045" marR="108045" marT="144060" marB="144060" anchor="ctr"/>
                </a:tc>
                <a:extLst>
                  <a:ext uri="{0D108BD9-81ED-4DB2-BD59-A6C34878D82A}">
                    <a16:rowId xmlns:a16="http://schemas.microsoft.com/office/drawing/2014/main" val="1685017804"/>
                  </a:ext>
                </a:extLst>
              </a:tr>
              <a:tr h="360000">
                <a:tc>
                  <a:txBody>
                    <a:bodyPr/>
                    <a:lstStyle/>
                    <a:p>
                      <a:pPr algn="ctr" fontAlgn="ctr">
                        <a:lnSpc>
                          <a:spcPct val="20000"/>
                        </a:lnSpc>
                      </a:pPr>
                      <a:r>
                        <a:rPr lang="ru-RU" sz="1300">
                          <a:effectLst/>
                        </a:rPr>
                        <a:t>1002</a:t>
                      </a:r>
                      <a:endParaRPr lang="ru-RU" sz="1300">
                        <a:solidFill>
                          <a:srgbClr val="333333"/>
                        </a:solidFill>
                        <a:effectLst/>
                      </a:endParaRPr>
                    </a:p>
                  </a:txBody>
                  <a:tcPr marL="108045" marR="108045" marT="144060" marB="144060" anchor="ctr"/>
                </a:tc>
                <a:tc>
                  <a:txBody>
                    <a:bodyPr/>
                    <a:lstStyle/>
                    <a:p>
                      <a:pPr algn="ctr" fontAlgn="ctr">
                        <a:lnSpc>
                          <a:spcPct val="20000"/>
                        </a:lnSpc>
                      </a:pPr>
                      <a:r>
                        <a:rPr lang="en-US" sz="1300" dirty="0">
                          <a:effectLst/>
                        </a:rPr>
                        <a:t>F</a:t>
                      </a:r>
                      <a:endParaRPr lang="en-US" sz="1300" dirty="0">
                        <a:solidFill>
                          <a:srgbClr val="333333"/>
                        </a:solidFill>
                        <a:effectLst/>
                      </a:endParaRPr>
                    </a:p>
                  </a:txBody>
                  <a:tcPr marL="108045" marR="108045" marT="144060" marB="144060" anchor="ctr"/>
                </a:tc>
                <a:tc>
                  <a:txBody>
                    <a:bodyPr/>
                    <a:lstStyle/>
                    <a:p>
                      <a:pPr algn="ctr" fontAlgn="ctr">
                        <a:lnSpc>
                          <a:spcPct val="20000"/>
                        </a:lnSpc>
                      </a:pPr>
                      <a:r>
                        <a:rPr lang="ru-RU" sz="1300" dirty="0">
                          <a:effectLst/>
                        </a:rPr>
                        <a:t>1</a:t>
                      </a:r>
                      <a:endParaRPr lang="ru-RU" sz="1300" dirty="0">
                        <a:solidFill>
                          <a:srgbClr val="333333"/>
                        </a:solidFill>
                        <a:effectLst/>
                      </a:endParaRPr>
                    </a:p>
                  </a:txBody>
                  <a:tcPr marL="108045" marR="108045" marT="144060" marB="144060" anchor="ctr"/>
                </a:tc>
                <a:extLst>
                  <a:ext uri="{0D108BD9-81ED-4DB2-BD59-A6C34878D82A}">
                    <a16:rowId xmlns:a16="http://schemas.microsoft.com/office/drawing/2014/main" val="4141453997"/>
                  </a:ext>
                </a:extLst>
              </a:tr>
              <a:tr h="360000">
                <a:tc>
                  <a:txBody>
                    <a:bodyPr/>
                    <a:lstStyle/>
                    <a:p>
                      <a:pPr algn="ctr" fontAlgn="ctr">
                        <a:lnSpc>
                          <a:spcPct val="20000"/>
                        </a:lnSpc>
                      </a:pPr>
                      <a:r>
                        <a:rPr lang="ru-RU" sz="1300">
                          <a:effectLst/>
                        </a:rPr>
                        <a:t>1003</a:t>
                      </a:r>
                      <a:endParaRPr lang="ru-RU" sz="1300">
                        <a:solidFill>
                          <a:srgbClr val="333333"/>
                        </a:solidFill>
                        <a:effectLst/>
                      </a:endParaRPr>
                    </a:p>
                  </a:txBody>
                  <a:tcPr marL="108045" marR="108045" marT="144060" marB="144060" anchor="ctr"/>
                </a:tc>
                <a:tc>
                  <a:txBody>
                    <a:bodyPr/>
                    <a:lstStyle/>
                    <a:p>
                      <a:pPr algn="ctr" fontAlgn="ctr">
                        <a:lnSpc>
                          <a:spcPct val="20000"/>
                        </a:lnSpc>
                      </a:pPr>
                      <a:r>
                        <a:rPr lang="en-US" sz="1300" dirty="0">
                          <a:effectLst/>
                        </a:rPr>
                        <a:t>B</a:t>
                      </a:r>
                      <a:endParaRPr lang="en-US" sz="1300" dirty="0">
                        <a:solidFill>
                          <a:srgbClr val="333333"/>
                        </a:solidFill>
                        <a:effectLst/>
                      </a:endParaRPr>
                    </a:p>
                  </a:txBody>
                  <a:tcPr marL="108045" marR="108045" marT="144060" marB="144060" anchor="ctr"/>
                </a:tc>
                <a:tc>
                  <a:txBody>
                    <a:bodyPr/>
                    <a:lstStyle/>
                    <a:p>
                      <a:pPr algn="ctr" fontAlgn="ctr">
                        <a:lnSpc>
                          <a:spcPct val="20000"/>
                        </a:lnSpc>
                      </a:pPr>
                      <a:r>
                        <a:rPr lang="ru-RU" sz="1300" dirty="0">
                          <a:effectLst/>
                        </a:rPr>
                        <a:t>2</a:t>
                      </a:r>
                      <a:endParaRPr lang="ru-RU" sz="1300" dirty="0">
                        <a:solidFill>
                          <a:srgbClr val="333333"/>
                        </a:solidFill>
                        <a:effectLst/>
                      </a:endParaRPr>
                    </a:p>
                  </a:txBody>
                  <a:tcPr marL="108045" marR="108045" marT="144060" marB="144060" anchor="ctr"/>
                </a:tc>
                <a:extLst>
                  <a:ext uri="{0D108BD9-81ED-4DB2-BD59-A6C34878D82A}">
                    <a16:rowId xmlns:a16="http://schemas.microsoft.com/office/drawing/2014/main" val="3132060040"/>
                  </a:ext>
                </a:extLst>
              </a:tr>
              <a:tr h="360000">
                <a:tc>
                  <a:txBody>
                    <a:bodyPr/>
                    <a:lstStyle/>
                    <a:p>
                      <a:pPr algn="ctr" fontAlgn="ctr">
                        <a:lnSpc>
                          <a:spcPct val="20000"/>
                        </a:lnSpc>
                      </a:pPr>
                      <a:r>
                        <a:rPr lang="ru-RU" sz="1300">
                          <a:effectLst/>
                        </a:rPr>
                        <a:t>1003</a:t>
                      </a:r>
                      <a:endParaRPr lang="ru-RU" sz="1300">
                        <a:solidFill>
                          <a:srgbClr val="333333"/>
                        </a:solidFill>
                        <a:effectLst/>
                      </a:endParaRPr>
                    </a:p>
                  </a:txBody>
                  <a:tcPr marL="108045" marR="108045" marT="144060" marB="144060" anchor="ctr"/>
                </a:tc>
                <a:tc>
                  <a:txBody>
                    <a:bodyPr/>
                    <a:lstStyle/>
                    <a:p>
                      <a:pPr algn="ctr" fontAlgn="ctr">
                        <a:lnSpc>
                          <a:spcPct val="20000"/>
                        </a:lnSpc>
                      </a:pPr>
                      <a:r>
                        <a:rPr lang="ru-RU" sz="1300" dirty="0">
                          <a:effectLst/>
                        </a:rPr>
                        <a:t>А</a:t>
                      </a:r>
                      <a:endParaRPr lang="ru-RU" sz="1300" dirty="0">
                        <a:solidFill>
                          <a:srgbClr val="333333"/>
                        </a:solidFill>
                        <a:effectLst/>
                      </a:endParaRPr>
                    </a:p>
                  </a:txBody>
                  <a:tcPr marL="108045" marR="108045" marT="144060" marB="144060" anchor="ctr"/>
                </a:tc>
                <a:tc>
                  <a:txBody>
                    <a:bodyPr/>
                    <a:lstStyle/>
                    <a:p>
                      <a:pPr algn="ctr" fontAlgn="ctr">
                        <a:lnSpc>
                          <a:spcPct val="20000"/>
                        </a:lnSpc>
                      </a:pPr>
                      <a:r>
                        <a:rPr lang="ru-RU" sz="1300" dirty="0">
                          <a:effectLst/>
                        </a:rPr>
                        <a:t>2</a:t>
                      </a:r>
                      <a:endParaRPr lang="ru-RU" sz="1300" dirty="0">
                        <a:solidFill>
                          <a:srgbClr val="333333"/>
                        </a:solidFill>
                        <a:effectLst/>
                      </a:endParaRPr>
                    </a:p>
                  </a:txBody>
                  <a:tcPr marL="108045" marR="108045" marT="144060" marB="144060" anchor="ctr"/>
                </a:tc>
                <a:extLst>
                  <a:ext uri="{0D108BD9-81ED-4DB2-BD59-A6C34878D82A}">
                    <a16:rowId xmlns:a16="http://schemas.microsoft.com/office/drawing/2014/main" val="1631583253"/>
                  </a:ext>
                </a:extLst>
              </a:tr>
              <a:tr h="360000">
                <a:tc>
                  <a:txBody>
                    <a:bodyPr/>
                    <a:lstStyle/>
                    <a:p>
                      <a:pPr algn="ctr" fontAlgn="ctr">
                        <a:lnSpc>
                          <a:spcPct val="20000"/>
                        </a:lnSpc>
                      </a:pPr>
                      <a:r>
                        <a:rPr lang="ru-RU" sz="1300">
                          <a:effectLst/>
                        </a:rPr>
                        <a:t>1003</a:t>
                      </a:r>
                      <a:endParaRPr lang="ru-RU" sz="1300">
                        <a:solidFill>
                          <a:srgbClr val="333333"/>
                        </a:solidFill>
                        <a:effectLst/>
                      </a:endParaRPr>
                    </a:p>
                  </a:txBody>
                  <a:tcPr marL="108045" marR="108045" marT="144060" marB="144060" anchor="ctr"/>
                </a:tc>
                <a:tc>
                  <a:txBody>
                    <a:bodyPr/>
                    <a:lstStyle/>
                    <a:p>
                      <a:pPr algn="ctr" fontAlgn="ctr">
                        <a:lnSpc>
                          <a:spcPct val="20000"/>
                        </a:lnSpc>
                      </a:pPr>
                      <a:r>
                        <a:rPr lang="en-US" sz="1300" dirty="0">
                          <a:effectLst/>
                        </a:rPr>
                        <a:t>C</a:t>
                      </a:r>
                      <a:endParaRPr lang="en-US" sz="1300" dirty="0">
                        <a:solidFill>
                          <a:srgbClr val="333333"/>
                        </a:solidFill>
                        <a:effectLst/>
                      </a:endParaRPr>
                    </a:p>
                  </a:txBody>
                  <a:tcPr marL="108045" marR="108045" marT="144060" marB="144060" anchor="ctr"/>
                </a:tc>
                <a:tc>
                  <a:txBody>
                    <a:bodyPr/>
                    <a:lstStyle/>
                    <a:p>
                      <a:pPr algn="ctr" fontAlgn="ctr">
                        <a:lnSpc>
                          <a:spcPct val="20000"/>
                        </a:lnSpc>
                      </a:pPr>
                      <a:r>
                        <a:rPr lang="ru-RU" sz="1300" dirty="0">
                          <a:effectLst/>
                        </a:rPr>
                        <a:t>2</a:t>
                      </a:r>
                      <a:endParaRPr lang="ru-RU" sz="1300" dirty="0">
                        <a:solidFill>
                          <a:srgbClr val="333333"/>
                        </a:solidFill>
                        <a:effectLst/>
                      </a:endParaRPr>
                    </a:p>
                  </a:txBody>
                  <a:tcPr marL="108045" marR="108045" marT="144060" marB="144060" anchor="ctr"/>
                </a:tc>
                <a:extLst>
                  <a:ext uri="{0D108BD9-81ED-4DB2-BD59-A6C34878D82A}">
                    <a16:rowId xmlns:a16="http://schemas.microsoft.com/office/drawing/2014/main" val="3053175171"/>
                  </a:ext>
                </a:extLst>
              </a:tr>
              <a:tr h="360000">
                <a:tc>
                  <a:txBody>
                    <a:bodyPr/>
                    <a:lstStyle/>
                    <a:p>
                      <a:pPr algn="ctr" fontAlgn="ctr">
                        <a:lnSpc>
                          <a:spcPct val="20000"/>
                        </a:lnSpc>
                      </a:pPr>
                      <a:r>
                        <a:rPr lang="ru-RU" sz="1300">
                          <a:effectLst/>
                        </a:rPr>
                        <a:t>...</a:t>
                      </a:r>
                      <a:endParaRPr lang="ru-RU" sz="1300">
                        <a:solidFill>
                          <a:srgbClr val="333333"/>
                        </a:solidFill>
                        <a:effectLst/>
                      </a:endParaRPr>
                    </a:p>
                  </a:txBody>
                  <a:tcPr marL="108045" marR="108045" marT="144060" marB="144060" anchor="ctr"/>
                </a:tc>
                <a:tc>
                  <a:txBody>
                    <a:bodyPr/>
                    <a:lstStyle/>
                    <a:p>
                      <a:pPr algn="ctr" fontAlgn="ctr">
                        <a:lnSpc>
                          <a:spcPct val="20000"/>
                        </a:lnSpc>
                      </a:pPr>
                      <a:r>
                        <a:rPr lang="ru-RU" sz="1300">
                          <a:effectLst/>
                        </a:rPr>
                        <a:t>...</a:t>
                      </a:r>
                      <a:endParaRPr lang="ru-RU" sz="1300">
                        <a:solidFill>
                          <a:srgbClr val="333333"/>
                        </a:solidFill>
                        <a:effectLst/>
                      </a:endParaRPr>
                    </a:p>
                  </a:txBody>
                  <a:tcPr marL="108045" marR="108045" marT="144060" marB="144060" anchor="ctr"/>
                </a:tc>
                <a:tc>
                  <a:txBody>
                    <a:bodyPr/>
                    <a:lstStyle/>
                    <a:p>
                      <a:pPr algn="ctr" fontAlgn="ctr">
                        <a:lnSpc>
                          <a:spcPct val="20000"/>
                        </a:lnSpc>
                      </a:pPr>
                      <a:r>
                        <a:rPr lang="ru-RU" sz="1300" dirty="0">
                          <a:effectLst/>
                        </a:rPr>
                        <a:t>...</a:t>
                      </a:r>
                      <a:endParaRPr lang="ru-RU" sz="1300" dirty="0">
                        <a:solidFill>
                          <a:srgbClr val="333333"/>
                        </a:solidFill>
                        <a:effectLst/>
                      </a:endParaRPr>
                    </a:p>
                  </a:txBody>
                  <a:tcPr marL="108045" marR="108045" marT="144060" marB="144060" anchor="ctr"/>
                </a:tc>
                <a:extLst>
                  <a:ext uri="{0D108BD9-81ED-4DB2-BD59-A6C34878D82A}">
                    <a16:rowId xmlns:a16="http://schemas.microsoft.com/office/drawing/2014/main" val="3364818431"/>
                  </a:ext>
                </a:extLst>
              </a:tr>
            </a:tbl>
          </a:graphicData>
        </a:graphic>
      </p:graphicFrame>
      <p:sp>
        <p:nvSpPr>
          <p:cNvPr id="7" name="TextBox 6">
            <a:extLst>
              <a:ext uri="{FF2B5EF4-FFF2-40B4-BE49-F238E27FC236}">
                <a16:creationId xmlns:a16="http://schemas.microsoft.com/office/drawing/2014/main" id="{91CF2FFC-3D03-4A7C-9370-84839B48B764}"/>
              </a:ext>
            </a:extLst>
          </p:cNvPr>
          <p:cNvSpPr txBox="1"/>
          <p:nvPr/>
        </p:nvSpPr>
        <p:spPr>
          <a:xfrm>
            <a:off x="1752600" y="6264554"/>
            <a:ext cx="5486400" cy="369332"/>
          </a:xfrm>
          <a:prstGeom prst="rect">
            <a:avLst/>
          </a:prstGeom>
          <a:noFill/>
        </p:spPr>
        <p:txBody>
          <a:bodyPr wrap="square" rtlCol="0">
            <a:spAutoFit/>
          </a:bodyPr>
          <a:lstStyle/>
          <a:p>
            <a:pPr algn="ctr"/>
            <a:r>
              <a:rPr lang="ru-RU" b="0" i="0" dirty="0">
                <a:solidFill>
                  <a:srgbClr val="676767"/>
                </a:solidFill>
                <a:effectLst/>
                <a:latin typeface="Source Sans Pro" panose="020B0503030403020204" pitchFamily="34" charset="0"/>
              </a:rPr>
              <a:t>Обычный вид базы данных транзакций</a:t>
            </a:r>
            <a:endParaRPr lang="ru-RU" dirty="0"/>
          </a:p>
        </p:txBody>
      </p:sp>
    </p:spTree>
    <p:extLst>
      <p:ext uri="{BB962C8B-B14F-4D97-AF65-F5344CB8AC3E}">
        <p14:creationId xmlns:p14="http://schemas.microsoft.com/office/powerpoint/2010/main" val="12640895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685829-9144-46A1-B80B-F8821097109C}"/>
              </a:ext>
            </a:extLst>
          </p:cNvPr>
          <p:cNvSpPr>
            <a:spLocks noGrp="1"/>
          </p:cNvSpPr>
          <p:nvPr>
            <p:ph type="title"/>
          </p:nvPr>
        </p:nvSpPr>
        <p:spPr/>
        <p:txBody>
          <a:bodyPr/>
          <a:lstStyle/>
          <a:p>
            <a:pPr algn="ctr"/>
            <a:r>
              <a:rPr kumimoji="0" lang="ru-RU" sz="2700" b="1" i="0" u="none" strike="noStrike" kern="1200" cap="none" spc="0" normalizeH="0" baseline="0" noProof="0" dirty="0">
                <a:ln>
                  <a:noFill/>
                </a:ln>
                <a:solidFill>
                  <a:prstClr val="black"/>
                </a:solidFill>
                <a:effectLst/>
                <a:uLnTx/>
                <a:uFillTx/>
                <a:latin typeface="Calibri" panose="020F0502020204030204"/>
                <a:ea typeface="+mj-ea"/>
                <a:cs typeface="+mj-cs"/>
              </a:rPr>
              <a:t>Нормализованный вид </a:t>
            </a:r>
            <a:br>
              <a:rPr kumimoji="0" lang="ru-RU" sz="2700" b="1" i="0" u="none" strike="noStrike" kern="1200" cap="none" spc="0" normalizeH="0" baseline="0" noProof="0" dirty="0">
                <a:ln>
                  <a:noFill/>
                </a:ln>
                <a:solidFill>
                  <a:prstClr val="black"/>
                </a:solidFill>
                <a:effectLst/>
                <a:uLnTx/>
                <a:uFillTx/>
                <a:latin typeface="Calibri" panose="020F0502020204030204"/>
                <a:ea typeface="+mj-ea"/>
                <a:cs typeface="+mj-cs"/>
              </a:rPr>
            </a:br>
            <a:r>
              <a:rPr kumimoji="0" lang="ru-RU" sz="2700" b="1" i="0" u="none" strike="noStrike" kern="1200" cap="none" spc="0" normalizeH="0" baseline="0" noProof="0" dirty="0">
                <a:ln>
                  <a:noFill/>
                </a:ln>
                <a:solidFill>
                  <a:prstClr val="black"/>
                </a:solidFill>
                <a:effectLst/>
                <a:uLnTx/>
                <a:uFillTx/>
                <a:latin typeface="Calibri" panose="020F0502020204030204"/>
                <a:ea typeface="+mj-ea"/>
                <a:cs typeface="+mj-cs"/>
              </a:rPr>
              <a:t>базы данных транзакций</a:t>
            </a:r>
            <a:endParaRPr lang="ru-RU" dirty="0"/>
          </a:p>
        </p:txBody>
      </p:sp>
      <p:graphicFrame>
        <p:nvGraphicFramePr>
          <p:cNvPr id="6" name="Объект 5">
            <a:extLst>
              <a:ext uri="{FF2B5EF4-FFF2-40B4-BE49-F238E27FC236}">
                <a16:creationId xmlns:a16="http://schemas.microsoft.com/office/drawing/2014/main" id="{CE1C7152-0D97-4B8B-8319-AFFD5064116D}"/>
              </a:ext>
            </a:extLst>
          </p:cNvPr>
          <p:cNvGraphicFramePr>
            <a:graphicFrameLocks noGrp="1"/>
          </p:cNvGraphicFramePr>
          <p:nvPr>
            <p:ph idx="1"/>
            <p:extLst>
              <p:ext uri="{D42A27DB-BD31-4B8C-83A1-F6EECF244321}">
                <p14:modId xmlns:p14="http://schemas.microsoft.com/office/powerpoint/2010/main" val="1535619737"/>
              </p:ext>
            </p:extLst>
          </p:nvPr>
        </p:nvGraphicFramePr>
        <p:xfrm>
          <a:off x="800100" y="1201327"/>
          <a:ext cx="7543800" cy="2072640"/>
        </p:xfrm>
        <a:graphic>
          <a:graphicData uri="http://schemas.openxmlformats.org/drawingml/2006/table">
            <a:tbl>
              <a:tblPr>
                <a:tableStyleId>{5940675A-B579-460E-94D1-54222C63F5DA}</a:tableStyleId>
              </a:tblPr>
              <a:tblGrid>
                <a:gridCol w="628650">
                  <a:extLst>
                    <a:ext uri="{9D8B030D-6E8A-4147-A177-3AD203B41FA5}">
                      <a16:colId xmlns:a16="http://schemas.microsoft.com/office/drawing/2014/main" val="2952102423"/>
                    </a:ext>
                  </a:extLst>
                </a:gridCol>
                <a:gridCol w="628650">
                  <a:extLst>
                    <a:ext uri="{9D8B030D-6E8A-4147-A177-3AD203B41FA5}">
                      <a16:colId xmlns:a16="http://schemas.microsoft.com/office/drawing/2014/main" val="4100637530"/>
                    </a:ext>
                  </a:extLst>
                </a:gridCol>
                <a:gridCol w="628650">
                  <a:extLst>
                    <a:ext uri="{9D8B030D-6E8A-4147-A177-3AD203B41FA5}">
                      <a16:colId xmlns:a16="http://schemas.microsoft.com/office/drawing/2014/main" val="640690183"/>
                    </a:ext>
                  </a:extLst>
                </a:gridCol>
                <a:gridCol w="628650">
                  <a:extLst>
                    <a:ext uri="{9D8B030D-6E8A-4147-A177-3AD203B41FA5}">
                      <a16:colId xmlns:a16="http://schemas.microsoft.com/office/drawing/2014/main" val="3305817750"/>
                    </a:ext>
                  </a:extLst>
                </a:gridCol>
                <a:gridCol w="628650">
                  <a:extLst>
                    <a:ext uri="{9D8B030D-6E8A-4147-A177-3AD203B41FA5}">
                      <a16:colId xmlns:a16="http://schemas.microsoft.com/office/drawing/2014/main" val="1657896532"/>
                    </a:ext>
                  </a:extLst>
                </a:gridCol>
                <a:gridCol w="628650">
                  <a:extLst>
                    <a:ext uri="{9D8B030D-6E8A-4147-A177-3AD203B41FA5}">
                      <a16:colId xmlns:a16="http://schemas.microsoft.com/office/drawing/2014/main" val="278373306"/>
                    </a:ext>
                  </a:extLst>
                </a:gridCol>
                <a:gridCol w="628650">
                  <a:extLst>
                    <a:ext uri="{9D8B030D-6E8A-4147-A177-3AD203B41FA5}">
                      <a16:colId xmlns:a16="http://schemas.microsoft.com/office/drawing/2014/main" val="1390215169"/>
                    </a:ext>
                  </a:extLst>
                </a:gridCol>
                <a:gridCol w="628650">
                  <a:extLst>
                    <a:ext uri="{9D8B030D-6E8A-4147-A177-3AD203B41FA5}">
                      <a16:colId xmlns:a16="http://schemas.microsoft.com/office/drawing/2014/main" val="1823293945"/>
                    </a:ext>
                  </a:extLst>
                </a:gridCol>
                <a:gridCol w="628650">
                  <a:extLst>
                    <a:ext uri="{9D8B030D-6E8A-4147-A177-3AD203B41FA5}">
                      <a16:colId xmlns:a16="http://schemas.microsoft.com/office/drawing/2014/main" val="2925897217"/>
                    </a:ext>
                  </a:extLst>
                </a:gridCol>
                <a:gridCol w="628650">
                  <a:extLst>
                    <a:ext uri="{9D8B030D-6E8A-4147-A177-3AD203B41FA5}">
                      <a16:colId xmlns:a16="http://schemas.microsoft.com/office/drawing/2014/main" val="3772099420"/>
                    </a:ext>
                  </a:extLst>
                </a:gridCol>
                <a:gridCol w="628650">
                  <a:extLst>
                    <a:ext uri="{9D8B030D-6E8A-4147-A177-3AD203B41FA5}">
                      <a16:colId xmlns:a16="http://schemas.microsoft.com/office/drawing/2014/main" val="2616649111"/>
                    </a:ext>
                  </a:extLst>
                </a:gridCol>
                <a:gridCol w="628650">
                  <a:extLst>
                    <a:ext uri="{9D8B030D-6E8A-4147-A177-3AD203B41FA5}">
                      <a16:colId xmlns:a16="http://schemas.microsoft.com/office/drawing/2014/main" val="1964353530"/>
                    </a:ext>
                  </a:extLst>
                </a:gridCol>
              </a:tblGrid>
              <a:tr h="0">
                <a:tc>
                  <a:txBody>
                    <a:bodyPr/>
                    <a:lstStyle/>
                    <a:p>
                      <a:pPr algn="ctr" fontAlgn="ctr"/>
                      <a:r>
                        <a:rPr lang="en-US" sz="1400" b="1" dirty="0">
                          <a:solidFill>
                            <a:schemeClr val="tx1"/>
                          </a:solidFill>
                          <a:effectLst/>
                        </a:rPr>
                        <a:t>TID</a:t>
                      </a:r>
                    </a:p>
                  </a:txBody>
                  <a:tcPr marL="114300" marR="114300" marT="152400" marB="152400" anchor="ctr"/>
                </a:tc>
                <a:tc>
                  <a:txBody>
                    <a:bodyPr/>
                    <a:lstStyle/>
                    <a:p>
                      <a:pPr algn="ctr" fontAlgn="ctr"/>
                      <a:r>
                        <a:rPr lang="en-US" sz="1400" b="1" dirty="0">
                          <a:solidFill>
                            <a:schemeClr val="tx1"/>
                          </a:solidFill>
                          <a:effectLst/>
                        </a:rPr>
                        <a:t>A</a:t>
                      </a:r>
                    </a:p>
                  </a:txBody>
                  <a:tcPr marL="114300" marR="114300" marT="152400" marB="152400" anchor="ctr"/>
                </a:tc>
                <a:tc>
                  <a:txBody>
                    <a:bodyPr/>
                    <a:lstStyle/>
                    <a:p>
                      <a:pPr algn="ctr" fontAlgn="ctr"/>
                      <a:r>
                        <a:rPr lang="en-US" sz="1400" b="1" dirty="0">
                          <a:solidFill>
                            <a:schemeClr val="tx1"/>
                          </a:solidFill>
                          <a:effectLst/>
                        </a:rPr>
                        <a:t>B</a:t>
                      </a:r>
                    </a:p>
                  </a:txBody>
                  <a:tcPr marL="114300" marR="114300" marT="152400" marB="152400" anchor="ctr"/>
                </a:tc>
                <a:tc>
                  <a:txBody>
                    <a:bodyPr/>
                    <a:lstStyle/>
                    <a:p>
                      <a:pPr algn="ctr" fontAlgn="ctr"/>
                      <a:r>
                        <a:rPr lang="en-US" sz="1400" b="1" dirty="0">
                          <a:solidFill>
                            <a:schemeClr val="tx1"/>
                          </a:solidFill>
                          <a:effectLst/>
                        </a:rPr>
                        <a:t>C</a:t>
                      </a:r>
                    </a:p>
                  </a:txBody>
                  <a:tcPr marL="114300" marR="114300" marT="152400" marB="152400" anchor="ctr"/>
                </a:tc>
                <a:tc>
                  <a:txBody>
                    <a:bodyPr/>
                    <a:lstStyle/>
                    <a:p>
                      <a:pPr algn="ctr" fontAlgn="ctr"/>
                      <a:r>
                        <a:rPr lang="en-US" sz="1400" b="1">
                          <a:solidFill>
                            <a:schemeClr val="tx1"/>
                          </a:solidFill>
                          <a:effectLst/>
                        </a:rPr>
                        <a:t>D</a:t>
                      </a:r>
                    </a:p>
                  </a:txBody>
                  <a:tcPr marL="114300" marR="114300" marT="152400" marB="152400" anchor="ctr"/>
                </a:tc>
                <a:tc>
                  <a:txBody>
                    <a:bodyPr/>
                    <a:lstStyle/>
                    <a:p>
                      <a:pPr algn="ctr" fontAlgn="ctr"/>
                      <a:r>
                        <a:rPr lang="en-US" sz="1400" b="1">
                          <a:solidFill>
                            <a:schemeClr val="tx1"/>
                          </a:solidFill>
                          <a:effectLst/>
                        </a:rPr>
                        <a:t>E</a:t>
                      </a:r>
                    </a:p>
                  </a:txBody>
                  <a:tcPr marL="114300" marR="114300" marT="152400" marB="152400" anchor="ctr"/>
                </a:tc>
                <a:tc>
                  <a:txBody>
                    <a:bodyPr/>
                    <a:lstStyle/>
                    <a:p>
                      <a:pPr algn="ctr" fontAlgn="ctr"/>
                      <a:r>
                        <a:rPr lang="en-US" sz="1400" b="1">
                          <a:solidFill>
                            <a:schemeClr val="tx1"/>
                          </a:solidFill>
                          <a:effectLst/>
                        </a:rPr>
                        <a:t>F</a:t>
                      </a:r>
                    </a:p>
                  </a:txBody>
                  <a:tcPr marL="114300" marR="114300" marT="152400" marB="152400" anchor="ctr"/>
                </a:tc>
                <a:tc>
                  <a:txBody>
                    <a:bodyPr/>
                    <a:lstStyle/>
                    <a:p>
                      <a:pPr algn="ctr" fontAlgn="ctr"/>
                      <a:r>
                        <a:rPr lang="en-US" sz="1400" b="1">
                          <a:solidFill>
                            <a:schemeClr val="tx1"/>
                          </a:solidFill>
                          <a:effectLst/>
                        </a:rPr>
                        <a:t>G</a:t>
                      </a:r>
                    </a:p>
                  </a:txBody>
                  <a:tcPr marL="114300" marR="114300" marT="152400" marB="152400" anchor="ctr"/>
                </a:tc>
                <a:tc>
                  <a:txBody>
                    <a:bodyPr/>
                    <a:lstStyle/>
                    <a:p>
                      <a:pPr algn="ctr" fontAlgn="ctr"/>
                      <a:r>
                        <a:rPr lang="en-US" sz="1400" b="1">
                          <a:solidFill>
                            <a:schemeClr val="tx1"/>
                          </a:solidFill>
                          <a:effectLst/>
                        </a:rPr>
                        <a:t>H</a:t>
                      </a:r>
                    </a:p>
                  </a:txBody>
                  <a:tcPr marL="114300" marR="114300" marT="152400" marB="152400" anchor="ctr"/>
                </a:tc>
                <a:tc>
                  <a:txBody>
                    <a:bodyPr/>
                    <a:lstStyle/>
                    <a:p>
                      <a:pPr algn="ctr" fontAlgn="ctr"/>
                      <a:r>
                        <a:rPr lang="en-US" sz="1400" b="1">
                          <a:solidFill>
                            <a:schemeClr val="tx1"/>
                          </a:solidFill>
                          <a:effectLst/>
                        </a:rPr>
                        <a:t>I</a:t>
                      </a:r>
                    </a:p>
                  </a:txBody>
                  <a:tcPr marL="114300" marR="114300" marT="152400" marB="152400" anchor="ctr"/>
                </a:tc>
                <a:tc>
                  <a:txBody>
                    <a:bodyPr/>
                    <a:lstStyle/>
                    <a:p>
                      <a:pPr algn="ctr" fontAlgn="ctr"/>
                      <a:r>
                        <a:rPr lang="en-US" sz="1400" b="1">
                          <a:solidFill>
                            <a:schemeClr val="tx1"/>
                          </a:solidFill>
                          <a:effectLst/>
                        </a:rPr>
                        <a:t>K</a:t>
                      </a:r>
                    </a:p>
                  </a:txBody>
                  <a:tcPr marL="114300" marR="114300" marT="152400" marB="152400" anchor="ctr"/>
                </a:tc>
                <a:tc>
                  <a:txBody>
                    <a:bodyPr/>
                    <a:lstStyle/>
                    <a:p>
                      <a:pPr algn="ctr" fontAlgn="ctr"/>
                      <a:r>
                        <a:rPr lang="ru-RU" sz="1400" b="1">
                          <a:solidFill>
                            <a:schemeClr val="tx1"/>
                          </a:solidFill>
                          <a:effectLst/>
                        </a:rPr>
                        <a:t>...</a:t>
                      </a:r>
                    </a:p>
                  </a:txBody>
                  <a:tcPr marL="114300" marR="114300" marT="152400" marB="152400" anchor="ctr"/>
                </a:tc>
                <a:extLst>
                  <a:ext uri="{0D108BD9-81ED-4DB2-BD59-A6C34878D82A}">
                    <a16:rowId xmlns:a16="http://schemas.microsoft.com/office/drawing/2014/main" val="971155376"/>
                  </a:ext>
                </a:extLst>
              </a:tr>
              <a:tr h="0">
                <a:tc>
                  <a:txBody>
                    <a:bodyPr/>
                    <a:lstStyle/>
                    <a:p>
                      <a:pPr algn="r" fontAlgn="ctr"/>
                      <a:r>
                        <a:rPr lang="ru-RU" sz="1400">
                          <a:solidFill>
                            <a:schemeClr val="tx1"/>
                          </a:solidFill>
                          <a:effectLst/>
                        </a:rPr>
                        <a:t>1001</a:t>
                      </a:r>
                    </a:p>
                  </a:txBody>
                  <a:tcPr marL="114300" marR="114300" marT="152400" marB="152400" anchor="ctr"/>
                </a:tc>
                <a:tc>
                  <a:txBody>
                    <a:bodyPr/>
                    <a:lstStyle/>
                    <a:p>
                      <a:pPr algn="r" fontAlgn="ctr"/>
                      <a:r>
                        <a:rPr lang="ru-RU" sz="1400">
                          <a:solidFill>
                            <a:schemeClr val="tx1"/>
                          </a:solidFill>
                          <a:effectLst/>
                        </a:rPr>
                        <a:t>1</a:t>
                      </a:r>
                    </a:p>
                  </a:txBody>
                  <a:tcPr marL="114300" marR="114300" marT="152400" marB="152400" anchor="ctr"/>
                </a:tc>
                <a:tc>
                  <a:txBody>
                    <a:bodyPr/>
                    <a:lstStyle/>
                    <a:p>
                      <a:pPr algn="r" fontAlgn="ctr"/>
                      <a:r>
                        <a:rPr lang="ru-RU" sz="1400">
                          <a:solidFill>
                            <a:schemeClr val="tx1"/>
                          </a:solidFill>
                          <a:effectLst/>
                        </a:rPr>
                        <a:t>0</a:t>
                      </a:r>
                    </a:p>
                  </a:txBody>
                  <a:tcPr marL="114300" marR="114300" marT="152400" marB="152400" anchor="ctr"/>
                </a:tc>
                <a:tc>
                  <a:txBody>
                    <a:bodyPr/>
                    <a:lstStyle/>
                    <a:p>
                      <a:pPr algn="r" fontAlgn="ctr"/>
                      <a:r>
                        <a:rPr lang="ru-RU" sz="1400">
                          <a:solidFill>
                            <a:schemeClr val="tx1"/>
                          </a:solidFill>
                          <a:effectLst/>
                        </a:rPr>
                        <a:t>0</a:t>
                      </a:r>
                    </a:p>
                  </a:txBody>
                  <a:tcPr marL="114300" marR="114300" marT="152400" marB="152400" anchor="ctr"/>
                </a:tc>
                <a:tc>
                  <a:txBody>
                    <a:bodyPr/>
                    <a:lstStyle/>
                    <a:p>
                      <a:pPr algn="r" fontAlgn="ctr"/>
                      <a:r>
                        <a:rPr lang="ru-RU" sz="1400">
                          <a:solidFill>
                            <a:schemeClr val="tx1"/>
                          </a:solidFill>
                          <a:effectLst/>
                        </a:rPr>
                        <a:t>1</a:t>
                      </a:r>
                    </a:p>
                  </a:txBody>
                  <a:tcPr marL="114300" marR="114300" marT="152400" marB="152400" anchor="ctr"/>
                </a:tc>
                <a:tc>
                  <a:txBody>
                    <a:bodyPr/>
                    <a:lstStyle/>
                    <a:p>
                      <a:pPr algn="r" fontAlgn="ctr"/>
                      <a:r>
                        <a:rPr lang="ru-RU" sz="1400" dirty="0">
                          <a:solidFill>
                            <a:schemeClr val="tx1"/>
                          </a:solidFill>
                          <a:effectLst/>
                        </a:rPr>
                        <a:t>1</a:t>
                      </a:r>
                    </a:p>
                  </a:txBody>
                  <a:tcPr marL="114300" marR="114300" marT="152400" marB="152400" anchor="ctr"/>
                </a:tc>
                <a:tc>
                  <a:txBody>
                    <a:bodyPr/>
                    <a:lstStyle/>
                    <a:p>
                      <a:pPr algn="r" fontAlgn="ctr"/>
                      <a:r>
                        <a:rPr lang="ru-RU" sz="1400">
                          <a:solidFill>
                            <a:schemeClr val="tx1"/>
                          </a:solidFill>
                          <a:effectLst/>
                        </a:rPr>
                        <a:t>0</a:t>
                      </a:r>
                    </a:p>
                  </a:txBody>
                  <a:tcPr marL="114300" marR="114300" marT="152400" marB="152400" anchor="ctr"/>
                </a:tc>
                <a:tc>
                  <a:txBody>
                    <a:bodyPr/>
                    <a:lstStyle/>
                    <a:p>
                      <a:pPr algn="r" fontAlgn="ctr"/>
                      <a:r>
                        <a:rPr lang="ru-RU" sz="1400" dirty="0">
                          <a:solidFill>
                            <a:schemeClr val="tx1"/>
                          </a:solidFill>
                          <a:effectLst/>
                        </a:rPr>
                        <a:t>0</a:t>
                      </a:r>
                    </a:p>
                  </a:txBody>
                  <a:tcPr marL="114300" marR="114300" marT="152400" marB="152400" anchor="ctr"/>
                </a:tc>
                <a:tc>
                  <a:txBody>
                    <a:bodyPr/>
                    <a:lstStyle/>
                    <a:p>
                      <a:pPr algn="r" fontAlgn="ctr"/>
                      <a:r>
                        <a:rPr lang="ru-RU" sz="1400">
                          <a:solidFill>
                            <a:schemeClr val="tx1"/>
                          </a:solidFill>
                          <a:effectLst/>
                        </a:rPr>
                        <a:t>0</a:t>
                      </a:r>
                    </a:p>
                  </a:txBody>
                  <a:tcPr marL="114300" marR="114300" marT="152400" marB="152400" anchor="ctr"/>
                </a:tc>
                <a:tc>
                  <a:txBody>
                    <a:bodyPr/>
                    <a:lstStyle/>
                    <a:p>
                      <a:pPr algn="r" fontAlgn="ctr"/>
                      <a:r>
                        <a:rPr lang="ru-RU" sz="1400">
                          <a:solidFill>
                            <a:schemeClr val="tx1"/>
                          </a:solidFill>
                          <a:effectLst/>
                        </a:rPr>
                        <a:t>0</a:t>
                      </a:r>
                    </a:p>
                  </a:txBody>
                  <a:tcPr marL="114300" marR="114300" marT="152400" marB="152400" anchor="ctr"/>
                </a:tc>
                <a:tc>
                  <a:txBody>
                    <a:bodyPr/>
                    <a:lstStyle/>
                    <a:p>
                      <a:pPr algn="r" fontAlgn="ctr"/>
                      <a:r>
                        <a:rPr lang="ru-RU" sz="1400">
                          <a:solidFill>
                            <a:schemeClr val="tx1"/>
                          </a:solidFill>
                          <a:effectLst/>
                        </a:rPr>
                        <a:t>0</a:t>
                      </a:r>
                    </a:p>
                  </a:txBody>
                  <a:tcPr marL="114300" marR="114300" marT="152400" marB="152400" anchor="ctr"/>
                </a:tc>
                <a:tc>
                  <a:txBody>
                    <a:bodyPr/>
                    <a:lstStyle/>
                    <a:p>
                      <a:pPr algn="r" fontAlgn="ctr"/>
                      <a:r>
                        <a:rPr lang="ru-RU" sz="1400">
                          <a:solidFill>
                            <a:schemeClr val="tx1"/>
                          </a:solidFill>
                          <a:effectLst/>
                        </a:rPr>
                        <a:t>...</a:t>
                      </a:r>
                    </a:p>
                  </a:txBody>
                  <a:tcPr marL="114300" marR="114300" marT="152400" marB="152400" anchor="ctr"/>
                </a:tc>
                <a:extLst>
                  <a:ext uri="{0D108BD9-81ED-4DB2-BD59-A6C34878D82A}">
                    <a16:rowId xmlns:a16="http://schemas.microsoft.com/office/drawing/2014/main" val="3802045972"/>
                  </a:ext>
                </a:extLst>
              </a:tr>
              <a:tr h="0">
                <a:tc>
                  <a:txBody>
                    <a:bodyPr/>
                    <a:lstStyle/>
                    <a:p>
                      <a:pPr algn="r" fontAlgn="ctr"/>
                      <a:r>
                        <a:rPr lang="ru-RU" sz="1400">
                          <a:solidFill>
                            <a:schemeClr val="tx1"/>
                          </a:solidFill>
                          <a:effectLst/>
                        </a:rPr>
                        <a:t>1002</a:t>
                      </a:r>
                    </a:p>
                  </a:txBody>
                  <a:tcPr marL="114300" marR="114300" marT="152400" marB="152400" anchor="ctr"/>
                </a:tc>
                <a:tc>
                  <a:txBody>
                    <a:bodyPr/>
                    <a:lstStyle/>
                    <a:p>
                      <a:pPr algn="r" fontAlgn="ctr"/>
                      <a:r>
                        <a:rPr lang="ru-RU" sz="1400">
                          <a:solidFill>
                            <a:schemeClr val="tx1"/>
                          </a:solidFill>
                          <a:effectLst/>
                        </a:rPr>
                        <a:t>1</a:t>
                      </a:r>
                    </a:p>
                  </a:txBody>
                  <a:tcPr marL="114300" marR="114300" marT="152400" marB="152400" anchor="ctr"/>
                </a:tc>
                <a:tc>
                  <a:txBody>
                    <a:bodyPr/>
                    <a:lstStyle/>
                    <a:p>
                      <a:pPr algn="r" fontAlgn="ctr"/>
                      <a:r>
                        <a:rPr lang="ru-RU" sz="1400">
                          <a:solidFill>
                            <a:schemeClr val="tx1"/>
                          </a:solidFill>
                          <a:effectLst/>
                        </a:rPr>
                        <a:t>0</a:t>
                      </a:r>
                    </a:p>
                  </a:txBody>
                  <a:tcPr marL="114300" marR="114300" marT="152400" marB="152400" anchor="ctr"/>
                </a:tc>
                <a:tc>
                  <a:txBody>
                    <a:bodyPr/>
                    <a:lstStyle/>
                    <a:p>
                      <a:pPr algn="r" fontAlgn="ctr"/>
                      <a:r>
                        <a:rPr lang="ru-RU" sz="1400">
                          <a:solidFill>
                            <a:schemeClr val="tx1"/>
                          </a:solidFill>
                          <a:effectLst/>
                        </a:rPr>
                        <a:t>0</a:t>
                      </a:r>
                    </a:p>
                  </a:txBody>
                  <a:tcPr marL="114300" marR="114300" marT="152400" marB="152400" anchor="ctr"/>
                </a:tc>
                <a:tc>
                  <a:txBody>
                    <a:bodyPr/>
                    <a:lstStyle/>
                    <a:p>
                      <a:pPr algn="r" fontAlgn="ctr"/>
                      <a:r>
                        <a:rPr lang="ru-RU" sz="1400">
                          <a:solidFill>
                            <a:schemeClr val="tx1"/>
                          </a:solidFill>
                          <a:effectLst/>
                        </a:rPr>
                        <a:t>0</a:t>
                      </a:r>
                    </a:p>
                  </a:txBody>
                  <a:tcPr marL="114300" marR="114300" marT="152400" marB="152400" anchor="ctr"/>
                </a:tc>
                <a:tc>
                  <a:txBody>
                    <a:bodyPr/>
                    <a:lstStyle/>
                    <a:p>
                      <a:pPr algn="r" fontAlgn="ctr"/>
                      <a:r>
                        <a:rPr lang="ru-RU" sz="1400">
                          <a:solidFill>
                            <a:schemeClr val="tx1"/>
                          </a:solidFill>
                          <a:effectLst/>
                        </a:rPr>
                        <a:t>0</a:t>
                      </a:r>
                    </a:p>
                  </a:txBody>
                  <a:tcPr marL="114300" marR="114300" marT="152400" marB="152400" anchor="ctr"/>
                </a:tc>
                <a:tc>
                  <a:txBody>
                    <a:bodyPr/>
                    <a:lstStyle/>
                    <a:p>
                      <a:pPr algn="r" fontAlgn="ctr"/>
                      <a:r>
                        <a:rPr lang="ru-RU" sz="1400">
                          <a:solidFill>
                            <a:schemeClr val="tx1"/>
                          </a:solidFill>
                          <a:effectLst/>
                        </a:rPr>
                        <a:t>1</a:t>
                      </a:r>
                    </a:p>
                  </a:txBody>
                  <a:tcPr marL="114300" marR="114300" marT="152400" marB="152400" anchor="ctr"/>
                </a:tc>
                <a:tc>
                  <a:txBody>
                    <a:bodyPr/>
                    <a:lstStyle/>
                    <a:p>
                      <a:pPr algn="r" fontAlgn="ctr"/>
                      <a:r>
                        <a:rPr lang="ru-RU" sz="1400">
                          <a:solidFill>
                            <a:schemeClr val="tx1"/>
                          </a:solidFill>
                          <a:effectLst/>
                        </a:rPr>
                        <a:t>0</a:t>
                      </a:r>
                    </a:p>
                  </a:txBody>
                  <a:tcPr marL="114300" marR="114300" marT="152400" marB="152400" anchor="ctr"/>
                </a:tc>
                <a:tc>
                  <a:txBody>
                    <a:bodyPr/>
                    <a:lstStyle/>
                    <a:p>
                      <a:pPr algn="r" fontAlgn="ctr"/>
                      <a:r>
                        <a:rPr lang="ru-RU" sz="1400" dirty="0">
                          <a:solidFill>
                            <a:schemeClr val="tx1"/>
                          </a:solidFill>
                          <a:effectLst/>
                        </a:rPr>
                        <a:t>0</a:t>
                      </a:r>
                    </a:p>
                  </a:txBody>
                  <a:tcPr marL="114300" marR="114300" marT="152400" marB="152400" anchor="ctr"/>
                </a:tc>
                <a:tc>
                  <a:txBody>
                    <a:bodyPr/>
                    <a:lstStyle/>
                    <a:p>
                      <a:pPr algn="r" fontAlgn="ctr"/>
                      <a:r>
                        <a:rPr lang="ru-RU" sz="1400">
                          <a:solidFill>
                            <a:schemeClr val="tx1"/>
                          </a:solidFill>
                          <a:effectLst/>
                        </a:rPr>
                        <a:t>0</a:t>
                      </a:r>
                    </a:p>
                  </a:txBody>
                  <a:tcPr marL="114300" marR="114300" marT="152400" marB="152400" anchor="ctr"/>
                </a:tc>
                <a:tc>
                  <a:txBody>
                    <a:bodyPr/>
                    <a:lstStyle/>
                    <a:p>
                      <a:pPr algn="r" fontAlgn="ctr"/>
                      <a:r>
                        <a:rPr lang="ru-RU" sz="1400" dirty="0">
                          <a:solidFill>
                            <a:schemeClr val="tx1"/>
                          </a:solidFill>
                          <a:effectLst/>
                        </a:rPr>
                        <a:t>0</a:t>
                      </a:r>
                    </a:p>
                  </a:txBody>
                  <a:tcPr marL="114300" marR="114300" marT="152400" marB="152400" anchor="ctr"/>
                </a:tc>
                <a:tc>
                  <a:txBody>
                    <a:bodyPr/>
                    <a:lstStyle/>
                    <a:p>
                      <a:pPr algn="r" fontAlgn="ctr"/>
                      <a:r>
                        <a:rPr lang="ru-RU" sz="1400">
                          <a:solidFill>
                            <a:schemeClr val="tx1"/>
                          </a:solidFill>
                          <a:effectLst/>
                        </a:rPr>
                        <a:t>...</a:t>
                      </a:r>
                    </a:p>
                  </a:txBody>
                  <a:tcPr marL="114300" marR="114300" marT="152400" marB="152400" anchor="ctr"/>
                </a:tc>
                <a:extLst>
                  <a:ext uri="{0D108BD9-81ED-4DB2-BD59-A6C34878D82A}">
                    <a16:rowId xmlns:a16="http://schemas.microsoft.com/office/drawing/2014/main" val="1779102817"/>
                  </a:ext>
                </a:extLst>
              </a:tr>
              <a:tr h="0">
                <a:tc>
                  <a:txBody>
                    <a:bodyPr/>
                    <a:lstStyle/>
                    <a:p>
                      <a:pPr algn="r" fontAlgn="ctr"/>
                      <a:r>
                        <a:rPr lang="ru-RU" sz="1400">
                          <a:solidFill>
                            <a:schemeClr val="tx1"/>
                          </a:solidFill>
                          <a:effectLst/>
                        </a:rPr>
                        <a:t>1003</a:t>
                      </a:r>
                    </a:p>
                  </a:txBody>
                  <a:tcPr marL="114300" marR="114300" marT="152400" marB="152400" anchor="ctr"/>
                </a:tc>
                <a:tc>
                  <a:txBody>
                    <a:bodyPr/>
                    <a:lstStyle/>
                    <a:p>
                      <a:pPr algn="r" fontAlgn="ctr"/>
                      <a:r>
                        <a:rPr lang="ru-RU" sz="1400">
                          <a:solidFill>
                            <a:schemeClr val="tx1"/>
                          </a:solidFill>
                          <a:effectLst/>
                        </a:rPr>
                        <a:t>1</a:t>
                      </a:r>
                    </a:p>
                  </a:txBody>
                  <a:tcPr marL="114300" marR="114300" marT="152400" marB="152400" anchor="ctr"/>
                </a:tc>
                <a:tc>
                  <a:txBody>
                    <a:bodyPr/>
                    <a:lstStyle/>
                    <a:p>
                      <a:pPr algn="r" fontAlgn="ctr"/>
                      <a:r>
                        <a:rPr lang="ru-RU" sz="1400">
                          <a:solidFill>
                            <a:schemeClr val="tx1"/>
                          </a:solidFill>
                          <a:effectLst/>
                        </a:rPr>
                        <a:t>1</a:t>
                      </a:r>
                    </a:p>
                  </a:txBody>
                  <a:tcPr marL="114300" marR="114300" marT="152400" marB="152400" anchor="ctr"/>
                </a:tc>
                <a:tc>
                  <a:txBody>
                    <a:bodyPr/>
                    <a:lstStyle/>
                    <a:p>
                      <a:pPr algn="r" fontAlgn="ctr"/>
                      <a:r>
                        <a:rPr lang="ru-RU" sz="1400">
                          <a:solidFill>
                            <a:schemeClr val="tx1"/>
                          </a:solidFill>
                          <a:effectLst/>
                        </a:rPr>
                        <a:t>1</a:t>
                      </a:r>
                    </a:p>
                  </a:txBody>
                  <a:tcPr marL="114300" marR="114300" marT="152400" marB="152400" anchor="ctr"/>
                </a:tc>
                <a:tc>
                  <a:txBody>
                    <a:bodyPr/>
                    <a:lstStyle/>
                    <a:p>
                      <a:pPr algn="r" fontAlgn="ctr"/>
                      <a:r>
                        <a:rPr lang="ru-RU" sz="1400">
                          <a:solidFill>
                            <a:schemeClr val="tx1"/>
                          </a:solidFill>
                          <a:effectLst/>
                        </a:rPr>
                        <a:t>0</a:t>
                      </a:r>
                    </a:p>
                  </a:txBody>
                  <a:tcPr marL="114300" marR="114300" marT="152400" marB="152400" anchor="ctr"/>
                </a:tc>
                <a:tc>
                  <a:txBody>
                    <a:bodyPr/>
                    <a:lstStyle/>
                    <a:p>
                      <a:pPr algn="r" fontAlgn="ctr"/>
                      <a:r>
                        <a:rPr lang="ru-RU" sz="1400">
                          <a:solidFill>
                            <a:schemeClr val="tx1"/>
                          </a:solidFill>
                          <a:effectLst/>
                        </a:rPr>
                        <a:t>0</a:t>
                      </a:r>
                    </a:p>
                  </a:txBody>
                  <a:tcPr marL="114300" marR="114300" marT="152400" marB="152400" anchor="ctr"/>
                </a:tc>
                <a:tc>
                  <a:txBody>
                    <a:bodyPr/>
                    <a:lstStyle/>
                    <a:p>
                      <a:pPr algn="r" fontAlgn="ctr"/>
                      <a:r>
                        <a:rPr lang="ru-RU" sz="1400">
                          <a:solidFill>
                            <a:schemeClr val="tx1"/>
                          </a:solidFill>
                          <a:effectLst/>
                        </a:rPr>
                        <a:t>0</a:t>
                      </a:r>
                    </a:p>
                  </a:txBody>
                  <a:tcPr marL="114300" marR="114300" marT="152400" marB="152400" anchor="ctr"/>
                </a:tc>
                <a:tc>
                  <a:txBody>
                    <a:bodyPr/>
                    <a:lstStyle/>
                    <a:p>
                      <a:pPr algn="r" fontAlgn="ctr"/>
                      <a:r>
                        <a:rPr lang="ru-RU" sz="1400">
                          <a:solidFill>
                            <a:schemeClr val="tx1"/>
                          </a:solidFill>
                          <a:effectLst/>
                        </a:rPr>
                        <a:t>0</a:t>
                      </a:r>
                    </a:p>
                  </a:txBody>
                  <a:tcPr marL="114300" marR="114300" marT="152400" marB="152400" anchor="ctr"/>
                </a:tc>
                <a:tc>
                  <a:txBody>
                    <a:bodyPr/>
                    <a:lstStyle/>
                    <a:p>
                      <a:pPr algn="r" fontAlgn="ctr"/>
                      <a:r>
                        <a:rPr lang="ru-RU" sz="1400">
                          <a:solidFill>
                            <a:schemeClr val="tx1"/>
                          </a:solidFill>
                          <a:effectLst/>
                        </a:rPr>
                        <a:t>0</a:t>
                      </a:r>
                    </a:p>
                  </a:txBody>
                  <a:tcPr marL="114300" marR="114300" marT="152400" marB="152400" anchor="ctr"/>
                </a:tc>
                <a:tc>
                  <a:txBody>
                    <a:bodyPr/>
                    <a:lstStyle/>
                    <a:p>
                      <a:pPr algn="r" fontAlgn="ctr"/>
                      <a:r>
                        <a:rPr lang="ru-RU" sz="1400">
                          <a:solidFill>
                            <a:schemeClr val="tx1"/>
                          </a:solidFill>
                          <a:effectLst/>
                        </a:rPr>
                        <a:t>1</a:t>
                      </a:r>
                    </a:p>
                  </a:txBody>
                  <a:tcPr marL="114300" marR="114300" marT="152400" marB="152400" anchor="ctr"/>
                </a:tc>
                <a:tc>
                  <a:txBody>
                    <a:bodyPr/>
                    <a:lstStyle/>
                    <a:p>
                      <a:pPr algn="r" fontAlgn="ctr"/>
                      <a:r>
                        <a:rPr lang="ru-RU" sz="1400" dirty="0">
                          <a:solidFill>
                            <a:schemeClr val="tx1"/>
                          </a:solidFill>
                          <a:effectLst/>
                        </a:rPr>
                        <a:t>0</a:t>
                      </a:r>
                    </a:p>
                  </a:txBody>
                  <a:tcPr marL="114300" marR="114300" marT="152400" marB="152400" anchor="ctr"/>
                </a:tc>
                <a:tc>
                  <a:txBody>
                    <a:bodyPr/>
                    <a:lstStyle/>
                    <a:p>
                      <a:pPr algn="r" fontAlgn="ctr"/>
                      <a:r>
                        <a:rPr lang="ru-RU" sz="1400" dirty="0">
                          <a:solidFill>
                            <a:schemeClr val="tx1"/>
                          </a:solidFill>
                          <a:effectLst/>
                        </a:rPr>
                        <a:t>.</a:t>
                      </a:r>
                    </a:p>
                  </a:txBody>
                  <a:tcPr marL="114300" marR="114300" marT="152400" marB="152400" anchor="ctr"/>
                </a:tc>
                <a:extLst>
                  <a:ext uri="{0D108BD9-81ED-4DB2-BD59-A6C34878D82A}">
                    <a16:rowId xmlns:a16="http://schemas.microsoft.com/office/drawing/2014/main" val="1980467569"/>
                  </a:ext>
                </a:extLst>
              </a:tr>
            </a:tbl>
          </a:graphicData>
        </a:graphic>
      </p:graphicFrame>
      <p:sp>
        <p:nvSpPr>
          <p:cNvPr id="4" name="Нижний колонтитул 3">
            <a:extLst>
              <a:ext uri="{FF2B5EF4-FFF2-40B4-BE49-F238E27FC236}">
                <a16:creationId xmlns:a16="http://schemas.microsoft.com/office/drawing/2014/main" id="{3AEC40E5-91FB-4FAE-A553-4C368FFBA54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544F5D7B-4846-4536-9A5A-DD9BF9F17BAC}"/>
              </a:ext>
            </a:extLst>
          </p:cNvPr>
          <p:cNvSpPr>
            <a:spLocks noGrp="1"/>
          </p:cNvSpPr>
          <p:nvPr>
            <p:ph type="sldNum" sz="quarter" idx="12"/>
          </p:nvPr>
        </p:nvSpPr>
        <p:spPr/>
        <p:txBody>
          <a:bodyPr/>
          <a:lstStyle/>
          <a:p>
            <a:fld id="{81C5FB71-5E9C-41B5-9BB8-3F1EBEAEB16A}" type="slidenum">
              <a:rPr lang="ru-RU" smtClean="0"/>
              <a:t>37</a:t>
            </a:fld>
            <a:endParaRPr lang="ru-RU"/>
          </a:p>
        </p:txBody>
      </p:sp>
      <p:sp>
        <p:nvSpPr>
          <p:cNvPr id="7" name="TextBox 6">
            <a:extLst>
              <a:ext uri="{FF2B5EF4-FFF2-40B4-BE49-F238E27FC236}">
                <a16:creationId xmlns:a16="http://schemas.microsoft.com/office/drawing/2014/main" id="{AEB4CCF8-6F4A-4F81-8B2D-EAB97CFB0EF7}"/>
              </a:ext>
            </a:extLst>
          </p:cNvPr>
          <p:cNvSpPr txBox="1"/>
          <p:nvPr/>
        </p:nvSpPr>
        <p:spPr>
          <a:xfrm>
            <a:off x="457200" y="3429000"/>
            <a:ext cx="8058150" cy="2862322"/>
          </a:xfrm>
          <a:prstGeom prst="rect">
            <a:avLst/>
          </a:prstGeom>
          <a:noFill/>
        </p:spPr>
        <p:txBody>
          <a:bodyPr wrap="square" rtlCol="0">
            <a:spAutoFit/>
          </a:bodyPr>
          <a:lstStyle/>
          <a:p>
            <a:pPr algn="just"/>
            <a:r>
              <a:rPr lang="ru-RU" dirty="0">
                <a:latin typeface="+mn-lt"/>
              </a:rPr>
              <a:t>Количество столбцов в таблице равно количеству элементов, присутствующих во множестве транзакций D. Каждая запись соответствует транзакции, где в соответствующем столбце стоит 1, если элемент присутствует в транзакции, и 0 — в противном случае. (см. Определение 1). Заметим, что исходный вид таблицы может быть отличным от приведенного в Таблице 1. Главное, чтобы данные были преобразованы к нормализованному виду, иначе алгоритм не применим.</a:t>
            </a:r>
          </a:p>
          <a:p>
            <a:pPr algn="just"/>
            <a:r>
              <a:rPr lang="ru-RU" dirty="0">
                <a:latin typeface="+mn-lt"/>
              </a:rPr>
              <a:t>Все элементы таблицы упорядочены в алфавитном порядке (если это числа, они должны быть упорядочены в числовом порядке). Это сделано неслучайно.</a:t>
            </a:r>
          </a:p>
          <a:p>
            <a:endParaRPr lang="ru-RU" dirty="0">
              <a:latin typeface="+mn-lt"/>
            </a:endParaRPr>
          </a:p>
        </p:txBody>
      </p:sp>
    </p:spTree>
    <p:extLst>
      <p:ext uri="{BB962C8B-B14F-4D97-AF65-F5344CB8AC3E}">
        <p14:creationId xmlns:p14="http://schemas.microsoft.com/office/powerpoint/2010/main" val="35900099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FAEB37-631C-4FC2-A2EB-CF667BBF24C5}"/>
              </a:ext>
            </a:extLst>
          </p:cNvPr>
          <p:cNvSpPr>
            <a:spLocks noGrp="1"/>
          </p:cNvSpPr>
          <p:nvPr>
            <p:ph type="title"/>
          </p:nvPr>
        </p:nvSpPr>
        <p:spPr/>
        <p:txBody>
          <a:bodyPr/>
          <a:lstStyle/>
          <a:p>
            <a:pPr algn="ctr"/>
            <a:r>
              <a:rPr lang="ru-RU" dirty="0"/>
              <a:t>Свойство анти-монотонности</a:t>
            </a:r>
          </a:p>
        </p:txBody>
      </p:sp>
      <p:sp>
        <p:nvSpPr>
          <p:cNvPr id="3" name="Объект 2">
            <a:extLst>
              <a:ext uri="{FF2B5EF4-FFF2-40B4-BE49-F238E27FC236}">
                <a16:creationId xmlns:a16="http://schemas.microsoft.com/office/drawing/2014/main" id="{D5B344BD-013E-491E-97AC-97A015581BE6}"/>
              </a:ext>
            </a:extLst>
          </p:cNvPr>
          <p:cNvSpPr>
            <a:spLocks noGrp="1"/>
          </p:cNvSpPr>
          <p:nvPr>
            <p:ph idx="1"/>
          </p:nvPr>
        </p:nvSpPr>
        <p:spPr>
          <a:xfrm>
            <a:off x="628650" y="1085733"/>
            <a:ext cx="7886700" cy="5270618"/>
          </a:xfrm>
        </p:spPr>
        <p:txBody>
          <a:bodyPr>
            <a:normAutofit/>
          </a:bodyPr>
          <a:lstStyle/>
          <a:p>
            <a:pPr marL="0" indent="0" algn="just">
              <a:buNone/>
            </a:pPr>
            <a:r>
              <a:rPr lang="ru-RU" b="0" i="0" dirty="0">
                <a:solidFill>
                  <a:srgbClr val="333333"/>
                </a:solidFill>
                <a:effectLst/>
              </a:rPr>
              <a:t>Выявление часто встречающихся наборов элементов — операция, требующая много вычислительных ресурсов и, соответственно, времени. Примитивный подход к решению данной задачи — простой перебор всех возможных наборов элементов. Это потребует O(</a:t>
            </a:r>
            <a:r>
              <a:rPr lang="ru-RU" b="0" i="0" baseline="30000" dirty="0">
                <a:solidFill>
                  <a:srgbClr val="333333"/>
                </a:solidFill>
                <a:effectLst/>
              </a:rPr>
              <a:t>∣</a:t>
            </a:r>
            <a:r>
              <a:rPr lang="ru-RU" b="0" baseline="30000" dirty="0">
                <a:solidFill>
                  <a:srgbClr val="333333"/>
                </a:solidFill>
                <a:effectLst/>
              </a:rPr>
              <a:t>2I∣</a:t>
            </a:r>
            <a:r>
              <a:rPr lang="ru-RU" b="0" i="0" dirty="0">
                <a:solidFill>
                  <a:srgbClr val="333333"/>
                </a:solidFill>
                <a:effectLst/>
              </a:rPr>
              <a:t>)</a:t>
            </a:r>
            <a:r>
              <a:rPr lang="ru-RU" b="0" i="1" dirty="0">
                <a:solidFill>
                  <a:srgbClr val="333333"/>
                </a:solidFill>
                <a:effectLst/>
              </a:rPr>
              <a:t> </a:t>
            </a:r>
            <a:r>
              <a:rPr lang="ru-RU" b="0" i="0" dirty="0">
                <a:solidFill>
                  <a:srgbClr val="333333"/>
                </a:solidFill>
                <a:effectLst/>
              </a:rPr>
              <a:t>операций, где ∣</a:t>
            </a:r>
            <a:r>
              <a:rPr lang="ru-RU" b="0" dirty="0">
                <a:solidFill>
                  <a:srgbClr val="333333"/>
                </a:solidFill>
                <a:effectLst/>
              </a:rPr>
              <a:t>I</a:t>
            </a:r>
            <a:r>
              <a:rPr lang="ru-RU" b="0" i="0" dirty="0">
                <a:solidFill>
                  <a:srgbClr val="333333"/>
                </a:solidFill>
                <a:effectLst/>
              </a:rPr>
              <a:t>∣ — количество элементов. </a:t>
            </a:r>
            <a:endParaRPr lang="en-US" b="0" i="0" dirty="0">
              <a:solidFill>
                <a:srgbClr val="333333"/>
              </a:solidFill>
              <a:effectLst/>
            </a:endParaRPr>
          </a:p>
          <a:p>
            <a:pPr marL="0" indent="0" algn="just">
              <a:buNone/>
            </a:pPr>
            <a:r>
              <a:rPr lang="ru-RU" b="0" i="0" dirty="0" err="1">
                <a:solidFill>
                  <a:srgbClr val="333333"/>
                </a:solidFill>
                <a:effectLst/>
              </a:rPr>
              <a:t>Apriori</a:t>
            </a:r>
            <a:r>
              <a:rPr lang="ru-RU" b="0" i="0" dirty="0">
                <a:solidFill>
                  <a:srgbClr val="333333"/>
                </a:solidFill>
                <a:effectLst/>
              </a:rPr>
              <a:t> использует одно из свойств </a:t>
            </a:r>
            <a:r>
              <a:rPr lang="ru-RU" b="0" i="0" u="none" strike="noStrike" dirty="0">
                <a:solidFill>
                  <a:srgbClr val="E1312F"/>
                </a:solidFill>
                <a:effectLst/>
              </a:rPr>
              <a:t>поддержки</a:t>
            </a:r>
            <a:r>
              <a:rPr lang="ru-RU" b="0" i="0" dirty="0">
                <a:solidFill>
                  <a:srgbClr val="333333"/>
                </a:solidFill>
                <a:effectLst/>
              </a:rPr>
              <a:t>, гласящее: поддержка любого набора элементов не может превышать минимальной поддержки любого из его подмножеств.</a:t>
            </a:r>
          </a:p>
          <a:p>
            <a:pPr marL="0" indent="0" algn="just">
              <a:buNone/>
            </a:pPr>
            <a:r>
              <a:rPr lang="ru-RU" b="0" i="0" dirty="0">
                <a:solidFill>
                  <a:srgbClr val="333333"/>
                </a:solidFill>
                <a:effectLst/>
              </a:rPr>
              <a:t>Например, поддержка 3-элементного набора { </a:t>
            </a:r>
            <a:r>
              <a:rPr lang="ru-RU" b="0" i="1" dirty="0">
                <a:solidFill>
                  <a:srgbClr val="333333"/>
                </a:solidFill>
                <a:effectLst/>
              </a:rPr>
              <a:t>Хлеб, Масло, Молоко</a:t>
            </a:r>
            <a:r>
              <a:rPr lang="ru-RU" b="0" i="0" dirty="0">
                <a:solidFill>
                  <a:srgbClr val="333333"/>
                </a:solidFill>
                <a:effectLst/>
              </a:rPr>
              <a:t> } будет всегда меньше или равна поддержке 2-элементных наборов { </a:t>
            </a:r>
            <a:r>
              <a:rPr lang="ru-RU" b="0" i="1" dirty="0">
                <a:solidFill>
                  <a:srgbClr val="333333"/>
                </a:solidFill>
                <a:effectLst/>
              </a:rPr>
              <a:t>Хлеб, Масло</a:t>
            </a:r>
            <a:r>
              <a:rPr lang="ru-RU" b="0" i="0" dirty="0">
                <a:solidFill>
                  <a:srgbClr val="333333"/>
                </a:solidFill>
                <a:effectLst/>
              </a:rPr>
              <a:t> }, { </a:t>
            </a:r>
            <a:r>
              <a:rPr lang="ru-RU" b="0" i="1" dirty="0">
                <a:solidFill>
                  <a:srgbClr val="333333"/>
                </a:solidFill>
                <a:effectLst/>
              </a:rPr>
              <a:t>Хлеб, Молоко</a:t>
            </a:r>
            <a:r>
              <a:rPr lang="ru-RU" b="0" i="0" dirty="0">
                <a:solidFill>
                  <a:srgbClr val="333333"/>
                </a:solidFill>
                <a:effectLst/>
              </a:rPr>
              <a:t> }, { </a:t>
            </a:r>
            <a:r>
              <a:rPr lang="ru-RU" b="0" i="1" dirty="0">
                <a:solidFill>
                  <a:srgbClr val="333333"/>
                </a:solidFill>
                <a:effectLst/>
              </a:rPr>
              <a:t>Масло, Молоко</a:t>
            </a:r>
            <a:r>
              <a:rPr lang="ru-RU" b="0" i="0" dirty="0">
                <a:solidFill>
                  <a:srgbClr val="333333"/>
                </a:solidFill>
                <a:effectLst/>
              </a:rPr>
              <a:t> }. Дело в том, что любая транзакция, содержащая { </a:t>
            </a:r>
            <a:r>
              <a:rPr lang="ru-RU" b="0" i="1" dirty="0">
                <a:solidFill>
                  <a:srgbClr val="333333"/>
                </a:solidFill>
                <a:effectLst/>
              </a:rPr>
              <a:t>Хлеб, Масло, Молоко</a:t>
            </a:r>
            <a:r>
              <a:rPr lang="ru-RU" b="0" i="0" dirty="0">
                <a:solidFill>
                  <a:srgbClr val="333333"/>
                </a:solidFill>
                <a:effectLst/>
              </a:rPr>
              <a:t> }, также должна содержать { </a:t>
            </a:r>
            <a:r>
              <a:rPr lang="ru-RU" b="0" i="1" dirty="0">
                <a:solidFill>
                  <a:srgbClr val="333333"/>
                </a:solidFill>
                <a:effectLst/>
              </a:rPr>
              <a:t>Хлеб, Масло</a:t>
            </a:r>
            <a:r>
              <a:rPr lang="ru-RU" b="0" i="0" dirty="0">
                <a:solidFill>
                  <a:srgbClr val="333333"/>
                </a:solidFill>
                <a:effectLst/>
              </a:rPr>
              <a:t> }, { </a:t>
            </a:r>
            <a:r>
              <a:rPr lang="ru-RU" b="0" i="1" dirty="0">
                <a:solidFill>
                  <a:srgbClr val="333333"/>
                </a:solidFill>
                <a:effectLst/>
              </a:rPr>
              <a:t>Хлеб, Молоко</a:t>
            </a:r>
            <a:r>
              <a:rPr lang="ru-RU" b="0" i="0" dirty="0">
                <a:solidFill>
                  <a:srgbClr val="333333"/>
                </a:solidFill>
                <a:effectLst/>
              </a:rPr>
              <a:t> }, { </a:t>
            </a:r>
            <a:r>
              <a:rPr lang="ru-RU" b="0" i="1" dirty="0">
                <a:solidFill>
                  <a:srgbClr val="333333"/>
                </a:solidFill>
                <a:effectLst/>
              </a:rPr>
              <a:t>Масло, Молоко</a:t>
            </a:r>
            <a:r>
              <a:rPr lang="ru-RU" b="0" i="0" dirty="0">
                <a:solidFill>
                  <a:srgbClr val="333333"/>
                </a:solidFill>
                <a:effectLst/>
              </a:rPr>
              <a:t> }, причем обратное не верно.</a:t>
            </a:r>
          </a:p>
          <a:p>
            <a:pPr marL="0" indent="0" algn="just">
              <a:buNone/>
            </a:pPr>
            <a:r>
              <a:rPr lang="ru-RU" b="0" i="0" dirty="0">
                <a:solidFill>
                  <a:srgbClr val="333333"/>
                </a:solidFill>
                <a:effectLst/>
              </a:rPr>
              <a:t>Это свойство носит название анти-монотонности и служит для снижения размерности пространства поиска.</a:t>
            </a:r>
          </a:p>
        </p:txBody>
      </p:sp>
      <p:sp>
        <p:nvSpPr>
          <p:cNvPr id="4" name="Нижний колонтитул 3">
            <a:extLst>
              <a:ext uri="{FF2B5EF4-FFF2-40B4-BE49-F238E27FC236}">
                <a16:creationId xmlns:a16="http://schemas.microsoft.com/office/drawing/2014/main" id="{DDB0F5D2-15A9-41DE-BFCB-6B66A018BDE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4ECAD59-1EF0-452B-A10F-31B3A834AA82}"/>
              </a:ext>
            </a:extLst>
          </p:cNvPr>
          <p:cNvSpPr>
            <a:spLocks noGrp="1"/>
          </p:cNvSpPr>
          <p:nvPr>
            <p:ph type="sldNum" sz="quarter" idx="12"/>
          </p:nvPr>
        </p:nvSpPr>
        <p:spPr/>
        <p:txBody>
          <a:bodyPr/>
          <a:lstStyle/>
          <a:p>
            <a:fld id="{81C5FB71-5E9C-41B5-9BB8-3F1EBEAEB16A}" type="slidenum">
              <a:rPr lang="ru-RU" smtClean="0"/>
              <a:t>38</a:t>
            </a:fld>
            <a:endParaRPr lang="ru-RU"/>
          </a:p>
        </p:txBody>
      </p:sp>
    </p:spTree>
    <p:extLst>
      <p:ext uri="{BB962C8B-B14F-4D97-AF65-F5344CB8AC3E}">
        <p14:creationId xmlns:p14="http://schemas.microsoft.com/office/powerpoint/2010/main" val="27782933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FAEB37-631C-4FC2-A2EB-CF667BBF24C5}"/>
              </a:ext>
            </a:extLst>
          </p:cNvPr>
          <p:cNvSpPr>
            <a:spLocks noGrp="1"/>
          </p:cNvSpPr>
          <p:nvPr>
            <p:ph type="title"/>
          </p:nvPr>
        </p:nvSpPr>
        <p:spPr/>
        <p:txBody>
          <a:bodyPr/>
          <a:lstStyle/>
          <a:p>
            <a:pPr algn="ctr"/>
            <a:r>
              <a:rPr lang="ru-RU" dirty="0"/>
              <a:t>Свойство анти-монотонности</a:t>
            </a:r>
          </a:p>
        </p:txBody>
      </p:sp>
      <p:sp>
        <p:nvSpPr>
          <p:cNvPr id="3" name="Объект 2">
            <a:extLst>
              <a:ext uri="{FF2B5EF4-FFF2-40B4-BE49-F238E27FC236}">
                <a16:creationId xmlns:a16="http://schemas.microsoft.com/office/drawing/2014/main" id="{D5B344BD-013E-491E-97AC-97A015581BE6}"/>
              </a:ext>
            </a:extLst>
          </p:cNvPr>
          <p:cNvSpPr>
            <a:spLocks noGrp="1"/>
          </p:cNvSpPr>
          <p:nvPr>
            <p:ph idx="1"/>
          </p:nvPr>
        </p:nvSpPr>
        <p:spPr>
          <a:xfrm>
            <a:off x="628650" y="1085733"/>
            <a:ext cx="7886700" cy="5270618"/>
          </a:xfrm>
        </p:spPr>
        <p:txBody>
          <a:bodyPr>
            <a:normAutofit/>
          </a:bodyPr>
          <a:lstStyle/>
          <a:p>
            <a:pPr marL="0" indent="0" algn="just">
              <a:buNone/>
            </a:pPr>
            <a:r>
              <a:rPr lang="ru-RU" dirty="0"/>
              <a:t>Свойству анти-монотонности можно дать и другую формулировку: с ростом размера набора элементов поддержка уменьшается, либо остается такой же. Из всего вышесказанного следует, что любой k-элементный набор будет часто встречающимся тогда и только тогда, когда все его (k − 1) - элементные подмножества будут часто встречающимися.</a:t>
            </a:r>
          </a:p>
          <a:p>
            <a:pPr marL="0" indent="0" algn="just">
              <a:buNone/>
            </a:pPr>
            <a:endParaRPr lang="ru-RU" dirty="0"/>
          </a:p>
          <a:p>
            <a:pPr marL="0" indent="0" algn="just">
              <a:buNone/>
            </a:pPr>
            <a:r>
              <a:rPr lang="ru-RU" dirty="0"/>
              <a:t>Все возможные наборы элементов из I можно представить в виде решетки, начинающейся с пустого множества, затем на 1 уровне — 1-элементные наборы, на 2-м — 2-элементные и т.д. На k уровне представлены k-элементные наборы, связанные со всеми своими (k−1) - элементными подмножествами.</a:t>
            </a:r>
          </a:p>
        </p:txBody>
      </p:sp>
      <p:sp>
        <p:nvSpPr>
          <p:cNvPr id="4" name="Нижний колонтитул 3">
            <a:extLst>
              <a:ext uri="{FF2B5EF4-FFF2-40B4-BE49-F238E27FC236}">
                <a16:creationId xmlns:a16="http://schemas.microsoft.com/office/drawing/2014/main" id="{DDB0F5D2-15A9-41DE-BFCB-6B66A018BDE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4ECAD59-1EF0-452B-A10F-31B3A834AA82}"/>
              </a:ext>
            </a:extLst>
          </p:cNvPr>
          <p:cNvSpPr>
            <a:spLocks noGrp="1"/>
          </p:cNvSpPr>
          <p:nvPr>
            <p:ph type="sldNum" sz="quarter" idx="12"/>
          </p:nvPr>
        </p:nvSpPr>
        <p:spPr/>
        <p:txBody>
          <a:bodyPr/>
          <a:lstStyle/>
          <a:p>
            <a:fld id="{81C5FB71-5E9C-41B5-9BB8-3F1EBEAEB16A}" type="slidenum">
              <a:rPr lang="ru-RU" smtClean="0"/>
              <a:t>39</a:t>
            </a:fld>
            <a:endParaRPr lang="ru-RU"/>
          </a:p>
        </p:txBody>
      </p:sp>
    </p:spTree>
    <p:extLst>
      <p:ext uri="{BB962C8B-B14F-4D97-AF65-F5344CB8AC3E}">
        <p14:creationId xmlns:p14="http://schemas.microsoft.com/office/powerpoint/2010/main" val="16279878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6B1056-134B-4394-AE24-71E9D825AE84}"/>
              </a:ext>
            </a:extLst>
          </p:cNvPr>
          <p:cNvSpPr>
            <a:spLocks noGrp="1"/>
          </p:cNvSpPr>
          <p:nvPr>
            <p:ph type="title"/>
          </p:nvPr>
        </p:nvSpPr>
        <p:spPr>
          <a:xfrm>
            <a:off x="628650" y="70791"/>
            <a:ext cx="7886700" cy="610246"/>
          </a:xfrm>
        </p:spPr>
        <p:txBody>
          <a:bodyPr/>
          <a:lstStyle/>
          <a:p>
            <a:pPr algn="ctr"/>
            <a:r>
              <a:rPr lang="ru-RU" dirty="0"/>
              <a:t>Свойство анти-монотонности</a:t>
            </a:r>
          </a:p>
        </p:txBody>
      </p:sp>
      <p:sp>
        <p:nvSpPr>
          <p:cNvPr id="3" name="Объект 2">
            <a:extLst>
              <a:ext uri="{FF2B5EF4-FFF2-40B4-BE49-F238E27FC236}">
                <a16:creationId xmlns:a16="http://schemas.microsoft.com/office/drawing/2014/main" id="{48AF1CA2-4260-4954-9535-BC65F38E4BBB}"/>
              </a:ext>
            </a:extLst>
          </p:cNvPr>
          <p:cNvSpPr>
            <a:spLocks noGrp="1"/>
          </p:cNvSpPr>
          <p:nvPr>
            <p:ph idx="1"/>
          </p:nvPr>
        </p:nvSpPr>
        <p:spPr>
          <a:xfrm>
            <a:off x="628650" y="681038"/>
            <a:ext cx="7886700" cy="5495926"/>
          </a:xfrm>
        </p:spPr>
        <p:txBody>
          <a:bodyPr/>
          <a:lstStyle/>
          <a:p>
            <a:pPr marL="0" indent="0" algn="just">
              <a:buNone/>
            </a:pPr>
            <a:r>
              <a:rPr lang="ru-RU" sz="2000" b="0" i="0" dirty="0">
                <a:solidFill>
                  <a:srgbClr val="333333"/>
                </a:solidFill>
                <a:effectLst/>
              </a:rPr>
              <a:t>Рассмотрим пример с набором элементов </a:t>
            </a:r>
            <a:r>
              <a:rPr lang="ru-RU" sz="2000" b="0" i="1" dirty="0">
                <a:solidFill>
                  <a:srgbClr val="333333"/>
                </a:solidFill>
                <a:effectLst/>
              </a:rPr>
              <a:t>I</a:t>
            </a:r>
            <a:r>
              <a:rPr lang="ru-RU" sz="2000" b="0" i="0" dirty="0">
                <a:solidFill>
                  <a:srgbClr val="333333"/>
                </a:solidFill>
                <a:effectLst/>
              </a:rPr>
              <a:t> - </a:t>
            </a:r>
            <a:r>
              <a:rPr lang="ru-RU" sz="2000" b="0" i="1" dirty="0">
                <a:solidFill>
                  <a:srgbClr val="333333"/>
                </a:solidFill>
                <a:effectLst/>
              </a:rPr>
              <a:t>A</a:t>
            </a:r>
            <a:r>
              <a:rPr lang="ru-RU" sz="2000" b="0" i="0" dirty="0">
                <a:solidFill>
                  <a:srgbClr val="333333"/>
                </a:solidFill>
                <a:effectLst/>
              </a:rPr>
              <a:t>,</a:t>
            </a:r>
            <a:r>
              <a:rPr lang="ru-RU" sz="2000" b="0" i="1" dirty="0">
                <a:solidFill>
                  <a:srgbClr val="333333"/>
                </a:solidFill>
                <a:effectLst/>
              </a:rPr>
              <a:t>B</a:t>
            </a:r>
            <a:r>
              <a:rPr lang="ru-RU" sz="2000" b="0" i="0" dirty="0">
                <a:solidFill>
                  <a:srgbClr val="333333"/>
                </a:solidFill>
                <a:effectLst/>
              </a:rPr>
              <a:t>,</a:t>
            </a:r>
            <a:r>
              <a:rPr lang="ru-RU" sz="2000" b="0" i="1" dirty="0">
                <a:solidFill>
                  <a:srgbClr val="333333"/>
                </a:solidFill>
                <a:effectLst/>
              </a:rPr>
              <a:t>C</a:t>
            </a:r>
            <a:r>
              <a:rPr lang="ru-RU" sz="2000" b="0" i="0" dirty="0">
                <a:solidFill>
                  <a:srgbClr val="333333"/>
                </a:solidFill>
                <a:effectLst/>
              </a:rPr>
              <a:t>,</a:t>
            </a:r>
            <a:r>
              <a:rPr lang="ru-RU" sz="2000" b="0" i="1" dirty="0">
                <a:solidFill>
                  <a:srgbClr val="333333"/>
                </a:solidFill>
                <a:effectLst/>
              </a:rPr>
              <a:t>D</a:t>
            </a:r>
            <a:r>
              <a:rPr lang="ru-RU" sz="2000" b="0" i="0" dirty="0">
                <a:solidFill>
                  <a:srgbClr val="333333"/>
                </a:solidFill>
                <a:effectLst/>
              </a:rPr>
              <a:t>. Предположим, что набор из элементов {</a:t>
            </a:r>
            <a:r>
              <a:rPr lang="ru-RU" sz="2000" b="0" i="1" dirty="0">
                <a:solidFill>
                  <a:srgbClr val="333333"/>
                </a:solidFill>
                <a:effectLst/>
              </a:rPr>
              <a:t>A</a:t>
            </a:r>
            <a:r>
              <a:rPr lang="ru-RU" sz="2000" b="0" i="0" dirty="0">
                <a:solidFill>
                  <a:srgbClr val="333333"/>
                </a:solidFill>
                <a:effectLst/>
              </a:rPr>
              <a:t>,</a:t>
            </a:r>
            <a:r>
              <a:rPr lang="ru-RU" sz="2000" b="0" i="1" dirty="0">
                <a:solidFill>
                  <a:srgbClr val="333333"/>
                </a:solidFill>
                <a:effectLst/>
              </a:rPr>
              <a:t>B</a:t>
            </a:r>
            <a:r>
              <a:rPr lang="ru-RU" sz="2000" b="0" i="0" dirty="0">
                <a:solidFill>
                  <a:srgbClr val="333333"/>
                </a:solidFill>
                <a:effectLst/>
              </a:rPr>
              <a:t>} имеет поддержку ниже заданного порога и, соответственно, не является часто встречающимся. Тогда, согласно свойству анти-монотонности, все его </a:t>
            </a:r>
            <a:r>
              <a:rPr lang="ru-RU" sz="2000" b="0" i="0" dirty="0" err="1">
                <a:solidFill>
                  <a:srgbClr val="333333"/>
                </a:solidFill>
                <a:effectLst/>
              </a:rPr>
              <a:t>супермножества</a:t>
            </a:r>
            <a:r>
              <a:rPr lang="ru-RU" sz="2000" b="0" i="0" dirty="0">
                <a:solidFill>
                  <a:srgbClr val="333333"/>
                </a:solidFill>
                <a:effectLst/>
              </a:rPr>
              <a:t> также не являются часто встречающимися и отбрасываются. Вся эта ветвь, начиная с {</a:t>
            </a:r>
            <a:r>
              <a:rPr lang="ru-RU" sz="2000" b="0" i="1" dirty="0">
                <a:solidFill>
                  <a:srgbClr val="333333"/>
                </a:solidFill>
                <a:effectLst/>
              </a:rPr>
              <a:t>A</a:t>
            </a:r>
            <a:r>
              <a:rPr lang="ru-RU" sz="2000" b="0" i="0" dirty="0">
                <a:solidFill>
                  <a:srgbClr val="333333"/>
                </a:solidFill>
                <a:effectLst/>
              </a:rPr>
              <a:t>,</a:t>
            </a:r>
            <a:r>
              <a:rPr lang="ru-RU" sz="2000" b="0" i="1" dirty="0">
                <a:solidFill>
                  <a:srgbClr val="333333"/>
                </a:solidFill>
                <a:effectLst/>
              </a:rPr>
              <a:t>B</a:t>
            </a:r>
            <a:r>
              <a:rPr lang="ru-RU" sz="2000" b="0" i="0" dirty="0">
                <a:solidFill>
                  <a:srgbClr val="333333"/>
                </a:solidFill>
                <a:effectLst/>
              </a:rPr>
              <a:t>}, выделена синим. Использование этой эвристики позволяет существенно сократить пространство поиска.</a:t>
            </a:r>
            <a:endParaRPr lang="ru-RU" sz="2000" dirty="0"/>
          </a:p>
          <a:p>
            <a:pPr marL="0" indent="0">
              <a:buNone/>
            </a:pPr>
            <a:endParaRPr lang="ru-RU" dirty="0"/>
          </a:p>
        </p:txBody>
      </p:sp>
      <p:sp>
        <p:nvSpPr>
          <p:cNvPr id="4" name="Нижний колонтитул 3">
            <a:extLst>
              <a:ext uri="{FF2B5EF4-FFF2-40B4-BE49-F238E27FC236}">
                <a16:creationId xmlns:a16="http://schemas.microsoft.com/office/drawing/2014/main" id="{275C2446-4DD5-49A9-8A12-7271832DEF3D}"/>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EAA19DB-3216-4CBB-8273-BA6CDA780AA4}"/>
              </a:ext>
            </a:extLst>
          </p:cNvPr>
          <p:cNvSpPr>
            <a:spLocks noGrp="1"/>
          </p:cNvSpPr>
          <p:nvPr>
            <p:ph type="sldNum" sz="quarter" idx="12"/>
          </p:nvPr>
        </p:nvSpPr>
        <p:spPr/>
        <p:txBody>
          <a:bodyPr/>
          <a:lstStyle/>
          <a:p>
            <a:fld id="{81C5FB71-5E9C-41B5-9BB8-3F1EBEAEB16A}" type="slidenum">
              <a:rPr lang="ru-RU" smtClean="0"/>
              <a:t>40</a:t>
            </a:fld>
            <a:endParaRPr lang="ru-RU"/>
          </a:p>
        </p:txBody>
      </p:sp>
      <p:pic>
        <p:nvPicPr>
          <p:cNvPr id="7" name="Рисунок 6">
            <a:extLst>
              <a:ext uri="{FF2B5EF4-FFF2-40B4-BE49-F238E27FC236}">
                <a16:creationId xmlns:a16="http://schemas.microsoft.com/office/drawing/2014/main" id="{5D33DE79-37DA-4470-8618-7954CE1A20F4}"/>
              </a:ext>
            </a:extLst>
          </p:cNvPr>
          <p:cNvPicPr>
            <a:picLocks noChangeAspect="1"/>
          </p:cNvPicPr>
          <p:nvPr/>
        </p:nvPicPr>
        <p:blipFill>
          <a:blip r:embed="rId2"/>
          <a:stretch>
            <a:fillRect/>
          </a:stretch>
        </p:blipFill>
        <p:spPr>
          <a:xfrm>
            <a:off x="2036718" y="2671990"/>
            <a:ext cx="5070564" cy="4105521"/>
          </a:xfrm>
          <a:prstGeom prst="rect">
            <a:avLst/>
          </a:prstGeom>
        </p:spPr>
      </p:pic>
    </p:spTree>
    <p:extLst>
      <p:ext uri="{BB962C8B-B14F-4D97-AF65-F5344CB8AC3E}">
        <p14:creationId xmlns:p14="http://schemas.microsoft.com/office/powerpoint/2010/main" val="35513836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21CF50-A2D7-46ED-922A-76FA9EFB2328}"/>
              </a:ext>
            </a:extLst>
          </p:cNvPr>
          <p:cNvSpPr>
            <a:spLocks noGrp="1"/>
          </p:cNvSpPr>
          <p:nvPr>
            <p:ph type="title"/>
          </p:nvPr>
        </p:nvSpPr>
        <p:spPr/>
        <p:txBody>
          <a:bodyPr>
            <a:normAutofit fontScale="90000"/>
          </a:bodyPr>
          <a:lstStyle/>
          <a:p>
            <a:pPr algn="ctr"/>
            <a:r>
              <a:rPr lang="ru-RU" b="1" i="0" dirty="0">
                <a:solidFill>
                  <a:srgbClr val="000000"/>
                </a:solidFill>
                <a:effectLst/>
                <a:latin typeface="lucida grande"/>
              </a:rPr>
              <a:t>Разновидности алгоритма </a:t>
            </a:r>
            <a:r>
              <a:rPr lang="en-US" b="1" i="0" dirty="0" err="1">
                <a:solidFill>
                  <a:srgbClr val="000000"/>
                </a:solidFill>
                <a:effectLst/>
                <a:latin typeface="lucida grande"/>
              </a:rPr>
              <a:t>Apriori</a:t>
            </a:r>
            <a:br>
              <a:rPr lang="ru-RU" b="1" i="0" dirty="0">
                <a:solidFill>
                  <a:srgbClr val="000000"/>
                </a:solidFill>
                <a:effectLst/>
                <a:latin typeface="lucida grande"/>
              </a:rPr>
            </a:br>
            <a:r>
              <a:rPr lang="ru-RU" b="1" i="0" dirty="0" err="1">
                <a:solidFill>
                  <a:srgbClr val="000000"/>
                </a:solidFill>
                <a:effectLst/>
                <a:latin typeface="lucida grande"/>
              </a:rPr>
              <a:t>AprioriTid</a:t>
            </a:r>
            <a:br>
              <a:rPr lang="en-US" b="1" i="0" dirty="0">
                <a:solidFill>
                  <a:srgbClr val="000000"/>
                </a:solidFill>
                <a:effectLst/>
                <a:latin typeface="lucida grande"/>
              </a:rPr>
            </a:br>
            <a:endParaRPr lang="ru-RU" dirty="0"/>
          </a:p>
        </p:txBody>
      </p:sp>
      <p:sp>
        <p:nvSpPr>
          <p:cNvPr id="3" name="Объект 2">
            <a:extLst>
              <a:ext uri="{FF2B5EF4-FFF2-40B4-BE49-F238E27FC236}">
                <a16:creationId xmlns:a16="http://schemas.microsoft.com/office/drawing/2014/main" id="{AE8A116D-7F99-4E83-94BF-9A7815335E01}"/>
              </a:ext>
            </a:extLst>
          </p:cNvPr>
          <p:cNvSpPr>
            <a:spLocks noGrp="1"/>
          </p:cNvSpPr>
          <p:nvPr>
            <p:ph idx="1"/>
          </p:nvPr>
        </p:nvSpPr>
        <p:spPr>
          <a:xfrm>
            <a:off x="628650" y="914400"/>
            <a:ext cx="7886700" cy="5262563"/>
          </a:xfrm>
        </p:spPr>
        <p:txBody>
          <a:bodyPr>
            <a:normAutofit lnSpcReduction="10000"/>
          </a:bodyPr>
          <a:lstStyle/>
          <a:p>
            <a:pPr marL="0" indent="0" algn="just">
              <a:buNone/>
            </a:pPr>
            <a:r>
              <a:rPr lang="ru-RU" b="0" i="0" dirty="0">
                <a:solidFill>
                  <a:srgbClr val="000000"/>
                </a:solidFill>
                <a:effectLst/>
                <a:latin typeface="lucida grande"/>
              </a:rPr>
              <a:t>В зависимости от размера самого длинного часто встречающегося набора </a:t>
            </a:r>
            <a:r>
              <a:rPr lang="ru-RU" b="0" i="1" dirty="0">
                <a:solidFill>
                  <a:srgbClr val="000000"/>
                </a:solidFill>
                <a:effectLst/>
                <a:latin typeface="lucida grande"/>
              </a:rPr>
              <a:t>алгоритм</a:t>
            </a:r>
            <a:r>
              <a:rPr lang="ru-RU" b="0" i="0" dirty="0">
                <a:solidFill>
                  <a:srgbClr val="000000"/>
                </a:solidFill>
                <a:effectLst/>
                <a:latin typeface="lucida grande"/>
              </a:rPr>
              <a:t> Apriori сканирует базу данных определенное количество раз. Разновидности алгоритма Apriori, являющиеся его оптимизацией, предложены для сокращения количества сканирований </a:t>
            </a:r>
            <a:r>
              <a:rPr lang="ru-RU" b="0" i="1" dirty="0">
                <a:solidFill>
                  <a:srgbClr val="000000"/>
                </a:solidFill>
                <a:effectLst/>
                <a:latin typeface="lucida grande"/>
              </a:rPr>
              <a:t>базы данных</a:t>
            </a:r>
            <a:r>
              <a:rPr lang="ru-RU" b="0" i="0" dirty="0">
                <a:solidFill>
                  <a:srgbClr val="000000"/>
                </a:solidFill>
                <a:effectLst/>
                <a:latin typeface="lucida grande"/>
              </a:rPr>
              <a:t>, количества наборов-кандидатов или того и другого. Были предложены следующие разновидности алгоритма Apriori: </a:t>
            </a:r>
            <a:r>
              <a:rPr lang="ru-RU" b="0" i="0" dirty="0" err="1">
                <a:solidFill>
                  <a:srgbClr val="000000"/>
                </a:solidFill>
                <a:effectLst/>
                <a:latin typeface="lucida grande"/>
              </a:rPr>
              <a:t>AprioriTID</a:t>
            </a:r>
            <a:r>
              <a:rPr lang="ru-RU" b="0" i="0" dirty="0">
                <a:solidFill>
                  <a:srgbClr val="000000"/>
                </a:solidFill>
                <a:effectLst/>
                <a:latin typeface="lucida grande"/>
              </a:rPr>
              <a:t> и </a:t>
            </a:r>
            <a:r>
              <a:rPr lang="ru-RU" b="0" i="0" dirty="0" err="1">
                <a:solidFill>
                  <a:srgbClr val="000000"/>
                </a:solidFill>
                <a:effectLst/>
                <a:latin typeface="lucida grande"/>
              </a:rPr>
              <a:t>AprioriHybrid</a:t>
            </a:r>
            <a:r>
              <a:rPr lang="ru-RU" b="0" i="0" dirty="0">
                <a:solidFill>
                  <a:srgbClr val="000000"/>
                </a:solidFill>
                <a:effectLst/>
                <a:latin typeface="lucida grande"/>
              </a:rPr>
              <a:t>.</a:t>
            </a:r>
          </a:p>
          <a:p>
            <a:pPr marL="0" indent="0" algn="l">
              <a:buNone/>
            </a:pPr>
            <a:r>
              <a:rPr lang="ru-RU" b="1" i="0" dirty="0" err="1">
                <a:solidFill>
                  <a:srgbClr val="000000"/>
                </a:solidFill>
                <a:effectLst/>
                <a:latin typeface="lucida grande"/>
              </a:rPr>
              <a:t>AprioriTid</a:t>
            </a:r>
            <a:endParaRPr lang="ru-RU" b="1" dirty="0">
              <a:solidFill>
                <a:srgbClr val="000000"/>
              </a:solidFill>
              <a:latin typeface="lucida grande"/>
            </a:endParaRPr>
          </a:p>
          <a:p>
            <a:pPr marL="0" indent="0" algn="just">
              <a:buNone/>
            </a:pPr>
            <a:r>
              <a:rPr lang="ru-RU" b="0" i="0" dirty="0">
                <a:solidFill>
                  <a:srgbClr val="000000"/>
                </a:solidFill>
                <a:effectLst/>
                <a:latin typeface="lucida grande"/>
              </a:rPr>
              <a:t>Особенность этого алгоритма - то, что рассмотренная база данных не используется для подсчета </a:t>
            </a:r>
            <a:r>
              <a:rPr lang="ru-RU" b="0" i="1" dirty="0">
                <a:solidFill>
                  <a:srgbClr val="000000"/>
                </a:solidFill>
                <a:effectLst/>
                <a:latin typeface="lucida grande"/>
              </a:rPr>
              <a:t>поддержки</a:t>
            </a:r>
            <a:r>
              <a:rPr lang="ru-RU" b="0" i="0" dirty="0">
                <a:solidFill>
                  <a:srgbClr val="000000"/>
                </a:solidFill>
                <a:effectLst/>
                <a:latin typeface="lucida grande"/>
              </a:rPr>
              <a:t> кандидатов набора товаров после первого прохода.</a:t>
            </a:r>
          </a:p>
          <a:p>
            <a:pPr marL="0" indent="0" algn="just">
              <a:buNone/>
            </a:pPr>
            <a:r>
              <a:rPr lang="ru-RU" b="0" i="0" dirty="0">
                <a:solidFill>
                  <a:srgbClr val="000000"/>
                </a:solidFill>
                <a:effectLst/>
                <a:latin typeface="lucida grande"/>
              </a:rPr>
              <a:t>С этой целью используется кодирование кандидатов, выполненное на предыдущих проходах. В последующих проходах размер закодированных наборов может быть намного меньше, чем база данных, и таким образом экономятся значительные ресурсы.</a:t>
            </a:r>
          </a:p>
          <a:p>
            <a:pPr marL="0" indent="0">
              <a:buNone/>
            </a:pPr>
            <a:endParaRPr lang="ru-RU" dirty="0"/>
          </a:p>
        </p:txBody>
      </p:sp>
      <p:sp>
        <p:nvSpPr>
          <p:cNvPr id="4" name="Нижний колонтитул 3">
            <a:extLst>
              <a:ext uri="{FF2B5EF4-FFF2-40B4-BE49-F238E27FC236}">
                <a16:creationId xmlns:a16="http://schemas.microsoft.com/office/drawing/2014/main" id="{DBBE4647-98D0-482B-88F1-BF50F2567B1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599FC4D8-F21C-4BF4-AC02-CFAF5C245263}"/>
              </a:ext>
            </a:extLst>
          </p:cNvPr>
          <p:cNvSpPr>
            <a:spLocks noGrp="1"/>
          </p:cNvSpPr>
          <p:nvPr>
            <p:ph type="sldNum" sz="quarter" idx="12"/>
          </p:nvPr>
        </p:nvSpPr>
        <p:spPr/>
        <p:txBody>
          <a:bodyPr/>
          <a:lstStyle/>
          <a:p>
            <a:fld id="{81C5FB71-5E9C-41B5-9BB8-3F1EBEAEB16A}" type="slidenum">
              <a:rPr lang="ru-RU" smtClean="0"/>
              <a:t>41</a:t>
            </a:fld>
            <a:endParaRPr lang="ru-RU"/>
          </a:p>
        </p:txBody>
      </p:sp>
    </p:spTree>
    <p:extLst>
      <p:ext uri="{BB962C8B-B14F-4D97-AF65-F5344CB8AC3E}">
        <p14:creationId xmlns:p14="http://schemas.microsoft.com/office/powerpoint/2010/main" val="26545096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21CF50-A2D7-46ED-922A-76FA9EFB2328}"/>
              </a:ext>
            </a:extLst>
          </p:cNvPr>
          <p:cNvSpPr>
            <a:spLocks noGrp="1"/>
          </p:cNvSpPr>
          <p:nvPr>
            <p:ph type="title"/>
          </p:nvPr>
        </p:nvSpPr>
        <p:spPr/>
        <p:txBody>
          <a:bodyPr>
            <a:normAutofit fontScale="90000"/>
          </a:bodyPr>
          <a:lstStyle/>
          <a:p>
            <a:pPr algn="ctr"/>
            <a:r>
              <a:rPr lang="ru-RU" b="1" i="0" dirty="0">
                <a:solidFill>
                  <a:srgbClr val="000000"/>
                </a:solidFill>
                <a:effectLst/>
                <a:latin typeface="lucida grande"/>
              </a:rPr>
              <a:t>Разновидности алгоритма </a:t>
            </a:r>
            <a:r>
              <a:rPr lang="en-US" b="1" i="0" dirty="0" err="1">
                <a:solidFill>
                  <a:srgbClr val="000000"/>
                </a:solidFill>
                <a:effectLst/>
                <a:latin typeface="lucida grande"/>
              </a:rPr>
              <a:t>Apriori</a:t>
            </a:r>
            <a:br>
              <a:rPr lang="ru-RU" b="1" i="0" dirty="0">
                <a:solidFill>
                  <a:srgbClr val="000000"/>
                </a:solidFill>
                <a:effectLst/>
                <a:latin typeface="lucida grande"/>
              </a:rPr>
            </a:br>
            <a:r>
              <a:rPr lang="ru-RU" b="1" i="0" dirty="0">
                <a:solidFill>
                  <a:srgbClr val="000000"/>
                </a:solidFill>
                <a:effectLst/>
                <a:latin typeface="lucida grande"/>
              </a:rPr>
              <a:t>DHP</a:t>
            </a:r>
            <a:br>
              <a:rPr lang="en-US" b="1" i="0" dirty="0">
                <a:solidFill>
                  <a:srgbClr val="000000"/>
                </a:solidFill>
                <a:effectLst/>
                <a:latin typeface="lucida grande"/>
              </a:rPr>
            </a:br>
            <a:endParaRPr lang="ru-RU" dirty="0"/>
          </a:p>
        </p:txBody>
      </p:sp>
      <p:sp>
        <p:nvSpPr>
          <p:cNvPr id="3" name="Объект 2">
            <a:extLst>
              <a:ext uri="{FF2B5EF4-FFF2-40B4-BE49-F238E27FC236}">
                <a16:creationId xmlns:a16="http://schemas.microsoft.com/office/drawing/2014/main" id="{AE8A116D-7F99-4E83-94BF-9A7815335E01}"/>
              </a:ext>
            </a:extLst>
          </p:cNvPr>
          <p:cNvSpPr>
            <a:spLocks noGrp="1"/>
          </p:cNvSpPr>
          <p:nvPr>
            <p:ph idx="1"/>
          </p:nvPr>
        </p:nvSpPr>
        <p:spPr>
          <a:xfrm>
            <a:off x="628650" y="914400"/>
            <a:ext cx="7886700" cy="5262563"/>
          </a:xfrm>
        </p:spPr>
        <p:txBody>
          <a:bodyPr>
            <a:normAutofit fontScale="92500"/>
          </a:bodyPr>
          <a:lstStyle/>
          <a:p>
            <a:pPr marL="0" indent="0" algn="just">
              <a:buNone/>
            </a:pPr>
            <a:r>
              <a:rPr lang="ru-RU" b="0" i="0" dirty="0">
                <a:solidFill>
                  <a:srgbClr val="000000"/>
                </a:solidFill>
                <a:effectLst/>
                <a:latin typeface="lucida grande"/>
              </a:rPr>
              <a:t>Некоторыми авторами были предложены другие алгоритмы поиска </a:t>
            </a:r>
            <a:r>
              <a:rPr lang="ru-RU" b="0" i="1" dirty="0">
                <a:solidFill>
                  <a:srgbClr val="000000"/>
                </a:solidFill>
                <a:effectLst/>
                <a:latin typeface="lucida grande"/>
              </a:rPr>
              <a:t>ассоциативных правил</a:t>
            </a:r>
            <a:r>
              <a:rPr lang="ru-RU" b="0" i="0" dirty="0">
                <a:solidFill>
                  <a:srgbClr val="000000"/>
                </a:solidFill>
                <a:effectLst/>
                <a:latin typeface="lucida grande"/>
              </a:rPr>
              <a:t>, целью которых также было усовершенствование алгоритма Apriori.</a:t>
            </a:r>
          </a:p>
          <a:p>
            <a:pPr marL="0" indent="0" algn="just">
              <a:buNone/>
            </a:pPr>
            <a:r>
              <a:rPr lang="ru-RU" b="0" i="0" dirty="0">
                <a:solidFill>
                  <a:srgbClr val="000000"/>
                </a:solidFill>
                <a:effectLst/>
                <a:latin typeface="lucida grande"/>
              </a:rPr>
              <a:t>Один из них - </a:t>
            </a:r>
            <a:r>
              <a:rPr lang="ru-RU" b="1" i="0" dirty="0">
                <a:solidFill>
                  <a:srgbClr val="000000"/>
                </a:solidFill>
                <a:effectLst/>
                <a:latin typeface="lucida grande"/>
              </a:rPr>
              <a:t>алгоритм DHP</a:t>
            </a:r>
            <a:r>
              <a:rPr lang="ru-RU" b="0" i="0" dirty="0">
                <a:solidFill>
                  <a:srgbClr val="000000"/>
                </a:solidFill>
                <a:effectLst/>
                <a:latin typeface="lucida grande"/>
              </a:rPr>
              <a:t>, также называемый алгоритмом хеширования (J. </a:t>
            </a:r>
            <a:r>
              <a:rPr lang="ru-RU" b="0" i="1" dirty="0">
                <a:solidFill>
                  <a:srgbClr val="000000"/>
                </a:solidFill>
                <a:effectLst/>
                <a:latin typeface="lucida grande"/>
              </a:rPr>
              <a:t>Park</a:t>
            </a:r>
            <a:r>
              <a:rPr lang="ru-RU" b="0" i="0" dirty="0">
                <a:solidFill>
                  <a:srgbClr val="000000"/>
                </a:solidFill>
                <a:effectLst/>
                <a:latin typeface="lucida grande"/>
              </a:rPr>
              <a:t>, M. </a:t>
            </a:r>
            <a:r>
              <a:rPr lang="ru-RU" b="0" i="0" dirty="0" err="1">
                <a:solidFill>
                  <a:srgbClr val="000000"/>
                </a:solidFill>
                <a:effectLst/>
                <a:latin typeface="lucida grande"/>
              </a:rPr>
              <a:t>Chen</a:t>
            </a:r>
            <a:r>
              <a:rPr lang="ru-RU" b="0" i="0" dirty="0">
                <a:solidFill>
                  <a:srgbClr val="000000"/>
                </a:solidFill>
                <a:effectLst/>
                <a:latin typeface="lucida grande"/>
              </a:rPr>
              <a:t> </a:t>
            </a:r>
            <a:r>
              <a:rPr lang="ru-RU" b="0" i="0" dirty="0" err="1">
                <a:solidFill>
                  <a:srgbClr val="000000"/>
                </a:solidFill>
                <a:effectLst/>
                <a:latin typeface="lucida grande"/>
              </a:rPr>
              <a:t>and</a:t>
            </a:r>
            <a:r>
              <a:rPr lang="ru-RU" b="0" i="0" dirty="0">
                <a:solidFill>
                  <a:srgbClr val="000000"/>
                </a:solidFill>
                <a:effectLst/>
                <a:latin typeface="lucida grande"/>
              </a:rPr>
              <a:t> P. </a:t>
            </a:r>
            <a:r>
              <a:rPr lang="ru-RU" b="0" i="0" dirty="0" err="1">
                <a:solidFill>
                  <a:srgbClr val="000000"/>
                </a:solidFill>
                <a:effectLst/>
                <a:latin typeface="lucida grande"/>
              </a:rPr>
              <a:t>Yu</a:t>
            </a:r>
            <a:r>
              <a:rPr lang="ru-RU" b="0" i="0" dirty="0">
                <a:solidFill>
                  <a:srgbClr val="000000"/>
                </a:solidFill>
                <a:effectLst/>
                <a:latin typeface="lucida grande"/>
              </a:rPr>
              <a:t>, 1995 год). В основе его работы - вероятностный подсчет наборов-кандидатов, осуществляемый для сокращения числа подсчитываемых кандидатов на каждом этапе выполнения алгоритма Apriori. Сокращение обеспечивается за счет того, что каждый из k-элементных наборов-кандидатов помимо шага сокращения проходит шаг хеширования. В алгоритме на k-1 этапе во время выбора кандидата создается так называемая хеш-таблица. Каждая запись хеш-таблицы является счетчиком всех поддержек k-элементных наборов, которые соответствуют этой записи в хеш-таблице. Алгоритм использует эту информацию на этапе k для сокращения множества k-элементных наборов-кандидатов. После сокращения подмножества, как это происходит в Apriori, алгоритм может удалить набор-кандидат, если его значение в хеш-таблице меньше порогового значения, установленного для обеспечения.</a:t>
            </a:r>
          </a:p>
          <a:p>
            <a:pPr marL="0" indent="0">
              <a:buNone/>
            </a:pPr>
            <a:endParaRPr lang="ru-RU" dirty="0"/>
          </a:p>
        </p:txBody>
      </p:sp>
      <p:sp>
        <p:nvSpPr>
          <p:cNvPr id="4" name="Нижний колонтитул 3">
            <a:extLst>
              <a:ext uri="{FF2B5EF4-FFF2-40B4-BE49-F238E27FC236}">
                <a16:creationId xmlns:a16="http://schemas.microsoft.com/office/drawing/2014/main" id="{DBBE4647-98D0-482B-88F1-BF50F2567B1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599FC4D8-F21C-4BF4-AC02-CFAF5C245263}"/>
              </a:ext>
            </a:extLst>
          </p:cNvPr>
          <p:cNvSpPr>
            <a:spLocks noGrp="1"/>
          </p:cNvSpPr>
          <p:nvPr>
            <p:ph type="sldNum" sz="quarter" idx="12"/>
          </p:nvPr>
        </p:nvSpPr>
        <p:spPr/>
        <p:txBody>
          <a:bodyPr/>
          <a:lstStyle/>
          <a:p>
            <a:fld id="{81C5FB71-5E9C-41B5-9BB8-3F1EBEAEB16A}" type="slidenum">
              <a:rPr lang="ru-RU" smtClean="0"/>
              <a:t>42</a:t>
            </a:fld>
            <a:endParaRPr lang="ru-RU"/>
          </a:p>
        </p:txBody>
      </p:sp>
    </p:spTree>
    <p:extLst>
      <p:ext uri="{BB962C8B-B14F-4D97-AF65-F5344CB8AC3E}">
        <p14:creationId xmlns:p14="http://schemas.microsoft.com/office/powerpoint/2010/main" val="1519945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21CF50-A2D7-46ED-922A-76FA9EFB2328}"/>
              </a:ext>
            </a:extLst>
          </p:cNvPr>
          <p:cNvSpPr>
            <a:spLocks noGrp="1"/>
          </p:cNvSpPr>
          <p:nvPr>
            <p:ph type="title"/>
          </p:nvPr>
        </p:nvSpPr>
        <p:spPr/>
        <p:txBody>
          <a:bodyPr>
            <a:normAutofit/>
          </a:bodyPr>
          <a:lstStyle/>
          <a:p>
            <a:pPr algn="ctr"/>
            <a:r>
              <a:rPr lang="ru-RU" b="1" i="0" dirty="0">
                <a:solidFill>
                  <a:srgbClr val="000000"/>
                </a:solidFill>
                <a:effectLst/>
                <a:latin typeface="lucida grande"/>
              </a:rPr>
              <a:t>Разновидности алгоритма </a:t>
            </a:r>
            <a:r>
              <a:rPr lang="en-US" b="1" i="0" dirty="0" err="1">
                <a:solidFill>
                  <a:srgbClr val="000000"/>
                </a:solidFill>
                <a:effectLst/>
                <a:latin typeface="lucida grande"/>
              </a:rPr>
              <a:t>Apriori</a:t>
            </a:r>
            <a:br>
              <a:rPr lang="ru-RU" b="1" i="0" dirty="0">
                <a:solidFill>
                  <a:srgbClr val="000000"/>
                </a:solidFill>
                <a:effectLst/>
                <a:latin typeface="lucida grande"/>
              </a:rPr>
            </a:br>
            <a:r>
              <a:rPr lang="ru-RU" b="1" i="0" dirty="0">
                <a:solidFill>
                  <a:srgbClr val="000000"/>
                </a:solidFill>
                <a:effectLst/>
                <a:latin typeface="lucida grande"/>
              </a:rPr>
              <a:t>PARTITION, DIC</a:t>
            </a:r>
            <a:endParaRPr lang="ru-RU" dirty="0"/>
          </a:p>
        </p:txBody>
      </p:sp>
      <p:sp>
        <p:nvSpPr>
          <p:cNvPr id="3" name="Объект 2">
            <a:extLst>
              <a:ext uri="{FF2B5EF4-FFF2-40B4-BE49-F238E27FC236}">
                <a16:creationId xmlns:a16="http://schemas.microsoft.com/office/drawing/2014/main" id="{AE8A116D-7F99-4E83-94BF-9A7815335E01}"/>
              </a:ext>
            </a:extLst>
          </p:cNvPr>
          <p:cNvSpPr>
            <a:spLocks noGrp="1"/>
          </p:cNvSpPr>
          <p:nvPr>
            <p:ph idx="1"/>
          </p:nvPr>
        </p:nvSpPr>
        <p:spPr>
          <a:xfrm>
            <a:off x="628650" y="914400"/>
            <a:ext cx="7886700" cy="5262563"/>
          </a:xfrm>
        </p:spPr>
        <p:txBody>
          <a:bodyPr>
            <a:normAutofit lnSpcReduction="10000"/>
          </a:bodyPr>
          <a:lstStyle/>
          <a:p>
            <a:pPr algn="just"/>
            <a:r>
              <a:rPr lang="ru-RU" b="0" i="0" dirty="0">
                <a:solidFill>
                  <a:srgbClr val="000000"/>
                </a:solidFill>
                <a:effectLst/>
                <a:latin typeface="lucida grande"/>
              </a:rPr>
              <a:t>К другим усовершенствованным алгоритмам относятся: PARTITION, </a:t>
            </a:r>
            <a:r>
              <a:rPr lang="ru-RU" b="0" i="1" dirty="0">
                <a:solidFill>
                  <a:srgbClr val="000000"/>
                </a:solidFill>
                <a:effectLst/>
                <a:latin typeface="lucida grande"/>
              </a:rPr>
              <a:t>DIC</a:t>
            </a:r>
            <a:r>
              <a:rPr lang="ru-RU" b="0" i="0" dirty="0">
                <a:solidFill>
                  <a:srgbClr val="000000"/>
                </a:solidFill>
                <a:effectLst/>
                <a:latin typeface="lucida grande"/>
              </a:rPr>
              <a:t>, алгоритм "выборочного анализа".</a:t>
            </a:r>
          </a:p>
          <a:p>
            <a:pPr algn="just"/>
            <a:r>
              <a:rPr lang="ru-RU" b="1" i="0" dirty="0">
                <a:solidFill>
                  <a:srgbClr val="000000"/>
                </a:solidFill>
                <a:effectLst/>
                <a:latin typeface="lucida grande"/>
              </a:rPr>
              <a:t>PARTITION алгоритм</a:t>
            </a:r>
            <a:r>
              <a:rPr lang="ru-RU" b="0" i="0" dirty="0">
                <a:solidFill>
                  <a:srgbClr val="000000"/>
                </a:solidFill>
                <a:effectLst/>
                <a:latin typeface="lucida grande"/>
              </a:rPr>
              <a:t> (A. </a:t>
            </a:r>
            <a:r>
              <a:rPr lang="ru-RU" b="0" i="0" dirty="0" err="1">
                <a:solidFill>
                  <a:srgbClr val="000000"/>
                </a:solidFill>
                <a:effectLst/>
                <a:latin typeface="lucida grande"/>
              </a:rPr>
              <a:t>Savasere</a:t>
            </a:r>
            <a:r>
              <a:rPr lang="ru-RU" b="0" i="0" dirty="0">
                <a:solidFill>
                  <a:srgbClr val="000000"/>
                </a:solidFill>
                <a:effectLst/>
                <a:latin typeface="lucida grande"/>
              </a:rPr>
              <a:t>, E. </a:t>
            </a:r>
            <a:r>
              <a:rPr lang="ru-RU" b="0" i="0" dirty="0" err="1">
                <a:solidFill>
                  <a:srgbClr val="000000"/>
                </a:solidFill>
                <a:effectLst/>
                <a:latin typeface="lucida grande"/>
              </a:rPr>
              <a:t>Omiecinski</a:t>
            </a:r>
            <a:r>
              <a:rPr lang="ru-RU" b="0" i="0" dirty="0">
                <a:solidFill>
                  <a:srgbClr val="000000"/>
                </a:solidFill>
                <a:effectLst/>
                <a:latin typeface="lucida grande"/>
              </a:rPr>
              <a:t> </a:t>
            </a:r>
            <a:r>
              <a:rPr lang="ru-RU" b="0" i="0" dirty="0" err="1">
                <a:solidFill>
                  <a:srgbClr val="000000"/>
                </a:solidFill>
                <a:effectLst/>
                <a:latin typeface="lucida grande"/>
              </a:rPr>
              <a:t>and</a:t>
            </a:r>
            <a:r>
              <a:rPr lang="ru-RU" b="0" i="0" dirty="0">
                <a:solidFill>
                  <a:srgbClr val="000000"/>
                </a:solidFill>
                <a:effectLst/>
                <a:latin typeface="lucida grande"/>
              </a:rPr>
              <a:t> S. </a:t>
            </a:r>
            <a:r>
              <a:rPr lang="ru-RU" b="0" i="0" dirty="0" err="1">
                <a:solidFill>
                  <a:srgbClr val="000000"/>
                </a:solidFill>
                <a:effectLst/>
                <a:latin typeface="lucida grande"/>
              </a:rPr>
              <a:t>Navathe</a:t>
            </a:r>
            <a:r>
              <a:rPr lang="ru-RU" b="0" i="0" dirty="0">
                <a:solidFill>
                  <a:srgbClr val="000000"/>
                </a:solidFill>
                <a:effectLst/>
                <a:latin typeface="lucida grande"/>
              </a:rPr>
              <a:t>, 1995 год). Этот алгоритм разбиения (разделения) заключается в сканировании </a:t>
            </a:r>
            <a:r>
              <a:rPr lang="ru-RU" b="0" i="1" dirty="0">
                <a:solidFill>
                  <a:srgbClr val="000000"/>
                </a:solidFill>
                <a:effectLst/>
                <a:latin typeface="lucida grande"/>
              </a:rPr>
              <a:t>транзакционной базы данных</a:t>
            </a:r>
            <a:r>
              <a:rPr lang="ru-RU" b="0" i="0" dirty="0">
                <a:solidFill>
                  <a:srgbClr val="000000"/>
                </a:solidFill>
                <a:effectLst/>
                <a:latin typeface="lucida grande"/>
              </a:rPr>
              <a:t> путем разделения ее на непересекающиеся разделы, каждый из которых может уместиться в оперативной памяти. На первом шаге в каждом из разделов при помощи алгоритма Apriori определяются "локальные" часто встречающиеся наборы данных. На втором подсчитывается </a:t>
            </a:r>
            <a:r>
              <a:rPr lang="ru-RU" b="0" i="1" dirty="0">
                <a:solidFill>
                  <a:srgbClr val="000000"/>
                </a:solidFill>
                <a:effectLst/>
                <a:latin typeface="lucida grande"/>
              </a:rPr>
              <a:t>поддержка</a:t>
            </a:r>
            <a:r>
              <a:rPr lang="ru-RU" b="0" i="0" dirty="0">
                <a:solidFill>
                  <a:srgbClr val="000000"/>
                </a:solidFill>
                <a:effectLst/>
                <a:latin typeface="lucida grande"/>
              </a:rPr>
              <a:t> каждого такого набора относительно всей базы данных. Таким образом, на втором этапе определяется множество всех потенциально встречающихся наборов данных.</a:t>
            </a:r>
          </a:p>
          <a:p>
            <a:pPr algn="just"/>
            <a:r>
              <a:rPr lang="ru-RU" b="1" i="0" dirty="0">
                <a:solidFill>
                  <a:srgbClr val="000000"/>
                </a:solidFill>
                <a:effectLst/>
                <a:latin typeface="lucida grande"/>
              </a:rPr>
              <a:t>Алгоритм DIC</a:t>
            </a:r>
            <a:r>
              <a:rPr lang="ru-RU" b="0" i="0" dirty="0">
                <a:solidFill>
                  <a:srgbClr val="000000"/>
                </a:solidFill>
                <a:effectLst/>
                <a:latin typeface="lucida grande"/>
              </a:rPr>
              <a:t>, Dynamic </a:t>
            </a:r>
            <a:r>
              <a:rPr lang="ru-RU" b="0" i="0" dirty="0" err="1">
                <a:solidFill>
                  <a:srgbClr val="000000"/>
                </a:solidFill>
                <a:effectLst/>
                <a:latin typeface="lucida grande"/>
              </a:rPr>
              <a:t>Itemset</a:t>
            </a:r>
            <a:r>
              <a:rPr lang="ru-RU" b="0" i="0" dirty="0">
                <a:solidFill>
                  <a:srgbClr val="000000"/>
                </a:solidFill>
                <a:effectLst/>
                <a:latin typeface="lucida grande"/>
              </a:rPr>
              <a:t> Counting (S. </a:t>
            </a:r>
            <a:r>
              <a:rPr lang="ru-RU" b="0" i="0" dirty="0" err="1">
                <a:solidFill>
                  <a:srgbClr val="000000"/>
                </a:solidFill>
                <a:effectLst/>
                <a:latin typeface="lucida grande"/>
              </a:rPr>
              <a:t>Brin</a:t>
            </a:r>
            <a:r>
              <a:rPr lang="ru-RU" b="0" i="0" dirty="0">
                <a:solidFill>
                  <a:srgbClr val="000000"/>
                </a:solidFill>
                <a:effectLst/>
                <a:latin typeface="lucida grande"/>
              </a:rPr>
              <a:t> R. </a:t>
            </a:r>
            <a:r>
              <a:rPr lang="ru-RU" b="0" i="0" dirty="0" err="1">
                <a:solidFill>
                  <a:srgbClr val="000000"/>
                </a:solidFill>
                <a:effectLst/>
                <a:latin typeface="lucida grande"/>
              </a:rPr>
              <a:t>Motwani</a:t>
            </a:r>
            <a:r>
              <a:rPr lang="ru-RU" b="0" i="0" dirty="0">
                <a:solidFill>
                  <a:srgbClr val="000000"/>
                </a:solidFill>
                <a:effectLst/>
                <a:latin typeface="lucida grande"/>
              </a:rPr>
              <a:t>, J. </a:t>
            </a:r>
            <a:r>
              <a:rPr lang="ru-RU" b="0" i="0" dirty="0" err="1">
                <a:solidFill>
                  <a:srgbClr val="000000"/>
                </a:solidFill>
                <a:effectLst/>
                <a:latin typeface="lucida grande"/>
              </a:rPr>
              <a:t>Ullman</a:t>
            </a:r>
            <a:r>
              <a:rPr lang="ru-RU" b="0" i="0" dirty="0">
                <a:solidFill>
                  <a:srgbClr val="000000"/>
                </a:solidFill>
                <a:effectLst/>
                <a:latin typeface="lucida grande"/>
              </a:rPr>
              <a:t> </a:t>
            </a:r>
            <a:r>
              <a:rPr lang="ru-RU" b="0" i="0" dirty="0" err="1">
                <a:solidFill>
                  <a:srgbClr val="000000"/>
                </a:solidFill>
                <a:effectLst/>
                <a:latin typeface="lucida grande"/>
              </a:rPr>
              <a:t>and</a:t>
            </a:r>
            <a:r>
              <a:rPr lang="ru-RU" b="0" i="0" dirty="0">
                <a:solidFill>
                  <a:srgbClr val="000000"/>
                </a:solidFill>
                <a:effectLst/>
                <a:latin typeface="lucida grande"/>
              </a:rPr>
              <a:t> S. </a:t>
            </a:r>
            <a:r>
              <a:rPr lang="ru-RU" b="0" i="0" dirty="0" err="1">
                <a:solidFill>
                  <a:srgbClr val="000000"/>
                </a:solidFill>
                <a:effectLst/>
                <a:latin typeface="lucida grande"/>
              </a:rPr>
              <a:t>Tsur</a:t>
            </a:r>
            <a:r>
              <a:rPr lang="ru-RU" b="0" i="0" dirty="0">
                <a:solidFill>
                  <a:srgbClr val="000000"/>
                </a:solidFill>
                <a:effectLst/>
                <a:latin typeface="lucida grande"/>
              </a:rPr>
              <a:t>, 1997 год). Алгоритм разбивает базу данных на несколько блоков, каждый из которых отмечается так называемыми "начальными точками" (</a:t>
            </a:r>
            <a:r>
              <a:rPr lang="ru-RU" b="0" i="1" dirty="0" err="1">
                <a:solidFill>
                  <a:srgbClr val="000000"/>
                </a:solidFill>
                <a:effectLst/>
                <a:latin typeface="lucida grande"/>
              </a:rPr>
              <a:t>start</a:t>
            </a:r>
            <a:r>
              <a:rPr lang="ru-RU" b="0" i="1" dirty="0">
                <a:solidFill>
                  <a:srgbClr val="000000"/>
                </a:solidFill>
                <a:effectLst/>
                <a:latin typeface="lucida grande"/>
              </a:rPr>
              <a:t> </a:t>
            </a:r>
            <a:r>
              <a:rPr lang="ru-RU" b="0" i="1" dirty="0" err="1">
                <a:solidFill>
                  <a:srgbClr val="000000"/>
                </a:solidFill>
                <a:effectLst/>
                <a:latin typeface="lucida grande"/>
              </a:rPr>
              <a:t>point</a:t>
            </a:r>
            <a:r>
              <a:rPr lang="ru-RU" b="0" i="0" dirty="0">
                <a:solidFill>
                  <a:srgbClr val="000000"/>
                </a:solidFill>
                <a:effectLst/>
                <a:latin typeface="lucida grande"/>
              </a:rPr>
              <a:t>), и затем циклически сканирует базу данных.</a:t>
            </a:r>
          </a:p>
          <a:p>
            <a:pPr marL="0" indent="0">
              <a:buNone/>
            </a:pPr>
            <a:endParaRPr lang="ru-RU" dirty="0"/>
          </a:p>
        </p:txBody>
      </p:sp>
      <p:sp>
        <p:nvSpPr>
          <p:cNvPr id="4" name="Нижний колонтитул 3">
            <a:extLst>
              <a:ext uri="{FF2B5EF4-FFF2-40B4-BE49-F238E27FC236}">
                <a16:creationId xmlns:a16="http://schemas.microsoft.com/office/drawing/2014/main" id="{DBBE4647-98D0-482B-88F1-BF50F2567B1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599FC4D8-F21C-4BF4-AC02-CFAF5C245263}"/>
              </a:ext>
            </a:extLst>
          </p:cNvPr>
          <p:cNvSpPr>
            <a:spLocks noGrp="1"/>
          </p:cNvSpPr>
          <p:nvPr>
            <p:ph type="sldNum" sz="quarter" idx="12"/>
          </p:nvPr>
        </p:nvSpPr>
        <p:spPr/>
        <p:txBody>
          <a:bodyPr/>
          <a:lstStyle/>
          <a:p>
            <a:fld id="{81C5FB71-5E9C-41B5-9BB8-3F1EBEAEB16A}" type="slidenum">
              <a:rPr lang="ru-RU" smtClean="0"/>
              <a:t>43</a:t>
            </a:fld>
            <a:endParaRPr lang="ru-RU"/>
          </a:p>
        </p:txBody>
      </p:sp>
    </p:spTree>
    <p:extLst>
      <p:ext uri="{BB962C8B-B14F-4D97-AF65-F5344CB8AC3E}">
        <p14:creationId xmlns:p14="http://schemas.microsoft.com/office/powerpoint/2010/main" val="35933138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3C454C-4354-4EF1-9584-BEEA966534DD}"/>
              </a:ext>
            </a:extLst>
          </p:cNvPr>
          <p:cNvSpPr>
            <a:spLocks noGrp="1"/>
          </p:cNvSpPr>
          <p:nvPr>
            <p:ph type="title"/>
          </p:nvPr>
        </p:nvSpPr>
        <p:spPr/>
        <p:txBody>
          <a:bodyPr/>
          <a:lstStyle/>
          <a:p>
            <a:pPr algn="ctr"/>
            <a:r>
              <a:rPr lang="en-US" dirty="0"/>
              <a:t>Frequent Pattern-Growth</a:t>
            </a:r>
            <a:br>
              <a:rPr lang="ru-RU" dirty="0"/>
            </a:br>
            <a:r>
              <a:rPr lang="en-US" dirty="0"/>
              <a:t>(FPG)</a:t>
            </a:r>
            <a:endParaRPr lang="ru-RU" dirty="0"/>
          </a:p>
        </p:txBody>
      </p:sp>
      <p:sp>
        <p:nvSpPr>
          <p:cNvPr id="3" name="Объект 2">
            <a:extLst>
              <a:ext uri="{FF2B5EF4-FFF2-40B4-BE49-F238E27FC236}">
                <a16:creationId xmlns:a16="http://schemas.microsoft.com/office/drawing/2014/main" id="{253DC249-3342-4D8B-A87E-D7865795081A}"/>
              </a:ext>
            </a:extLst>
          </p:cNvPr>
          <p:cNvSpPr>
            <a:spLocks noGrp="1"/>
          </p:cNvSpPr>
          <p:nvPr>
            <p:ph idx="1"/>
          </p:nvPr>
        </p:nvSpPr>
        <p:spPr/>
        <p:txBody>
          <a:bodyPr/>
          <a:lstStyle/>
          <a:p>
            <a:pPr marL="0" indent="0" algn="just">
              <a:buNone/>
            </a:pPr>
            <a:r>
              <a:rPr lang="ru-RU" b="0" i="0" dirty="0">
                <a:effectLst/>
                <a:latin typeface="Source Sans Pro" panose="020B0503030403020204" pitchFamily="34" charset="0"/>
              </a:rPr>
              <a:t>Кроме алгоритма Apriori для поиска ассоциативных правил существует алгоритм, получивший название </a:t>
            </a:r>
            <a:r>
              <a:rPr lang="ru-RU" b="0" i="0" dirty="0" err="1">
                <a:effectLst/>
                <a:latin typeface="Source Sans Pro" panose="020B0503030403020204" pitchFamily="34" charset="0"/>
              </a:rPr>
              <a:t>Frequent</a:t>
            </a:r>
            <a:r>
              <a:rPr lang="ru-RU" b="0" i="0" dirty="0">
                <a:effectLst/>
                <a:latin typeface="Source Sans Pro" panose="020B0503030403020204" pitchFamily="34" charset="0"/>
              </a:rPr>
              <a:t> </a:t>
            </a:r>
            <a:r>
              <a:rPr lang="ru-RU" b="0" i="0" dirty="0" err="1">
                <a:effectLst/>
                <a:latin typeface="Source Sans Pro" panose="020B0503030403020204" pitchFamily="34" charset="0"/>
              </a:rPr>
              <a:t>Pattern</a:t>
            </a:r>
            <a:r>
              <a:rPr lang="ru-RU" b="0" i="0" dirty="0">
                <a:effectLst/>
                <a:latin typeface="Source Sans Pro" panose="020B0503030403020204" pitchFamily="34" charset="0"/>
              </a:rPr>
              <a:t>-Growth (FPG), что можно перевести как «выращивание популярных (часто встречающихся) предметных наборов». Он позволяет не только избежать затратной процедуры генерации кандидатов, но и уменьшить необходимое число проходов по набору данных до двух.</a:t>
            </a:r>
            <a:endParaRPr lang="ru-RU" dirty="0"/>
          </a:p>
        </p:txBody>
      </p:sp>
      <p:sp>
        <p:nvSpPr>
          <p:cNvPr id="4" name="Нижний колонтитул 3">
            <a:extLst>
              <a:ext uri="{FF2B5EF4-FFF2-40B4-BE49-F238E27FC236}">
                <a16:creationId xmlns:a16="http://schemas.microsoft.com/office/drawing/2014/main" id="{90F2D93F-8B7E-49ED-BE16-630116ABE58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95ABB0D0-ADFA-44B2-92B8-9132570938AE}"/>
              </a:ext>
            </a:extLst>
          </p:cNvPr>
          <p:cNvSpPr>
            <a:spLocks noGrp="1"/>
          </p:cNvSpPr>
          <p:nvPr>
            <p:ph type="sldNum" sz="quarter" idx="12"/>
          </p:nvPr>
        </p:nvSpPr>
        <p:spPr/>
        <p:txBody>
          <a:bodyPr/>
          <a:lstStyle/>
          <a:p>
            <a:fld id="{81C5FB71-5E9C-41B5-9BB8-3F1EBEAEB16A}" type="slidenum">
              <a:rPr lang="ru-RU" smtClean="0"/>
              <a:t>44</a:t>
            </a:fld>
            <a:endParaRPr lang="ru-RU"/>
          </a:p>
        </p:txBody>
      </p:sp>
    </p:spTree>
    <p:extLst>
      <p:ext uri="{BB962C8B-B14F-4D97-AF65-F5344CB8AC3E}">
        <p14:creationId xmlns:p14="http://schemas.microsoft.com/office/powerpoint/2010/main" val="7680646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94654E-CCE6-4307-A52D-3ADD9C3FA30B}"/>
              </a:ext>
            </a:extLst>
          </p:cNvPr>
          <p:cNvSpPr>
            <a:spLocks noGrp="1"/>
          </p:cNvSpPr>
          <p:nvPr>
            <p:ph type="title"/>
          </p:nvPr>
        </p:nvSpPr>
        <p:spPr/>
        <p:txBody>
          <a:bodyPr/>
          <a:lstStyle/>
          <a:p>
            <a:pPr algn="ctr"/>
            <a:r>
              <a:rPr lang="en-US" dirty="0"/>
              <a:t>Frequent Pattern-Growth</a:t>
            </a:r>
            <a:br>
              <a:rPr lang="en-US" dirty="0"/>
            </a:br>
            <a:r>
              <a:rPr lang="en-US" dirty="0"/>
              <a:t>(FPG)</a:t>
            </a:r>
            <a:endParaRPr lang="ru-RU" dirty="0"/>
          </a:p>
        </p:txBody>
      </p:sp>
      <p:sp>
        <p:nvSpPr>
          <p:cNvPr id="3" name="Объект 2">
            <a:extLst>
              <a:ext uri="{FF2B5EF4-FFF2-40B4-BE49-F238E27FC236}">
                <a16:creationId xmlns:a16="http://schemas.microsoft.com/office/drawing/2014/main" id="{4A74FDFF-512C-4B89-ADFA-C40443D0DA99}"/>
              </a:ext>
            </a:extLst>
          </p:cNvPr>
          <p:cNvSpPr>
            <a:spLocks noGrp="1"/>
          </p:cNvSpPr>
          <p:nvPr>
            <p:ph idx="1"/>
          </p:nvPr>
        </p:nvSpPr>
        <p:spPr/>
        <p:txBody>
          <a:bodyPr>
            <a:normAutofit fontScale="92500" lnSpcReduction="10000"/>
          </a:bodyPr>
          <a:lstStyle/>
          <a:p>
            <a:pPr algn="just"/>
            <a:r>
              <a:rPr lang="ru-RU" b="0" i="0" dirty="0">
                <a:solidFill>
                  <a:srgbClr val="333333"/>
                </a:solidFill>
                <a:effectLst/>
                <a:latin typeface="Source Sans Pro" panose="020B0503030403020204" pitchFamily="34" charset="0"/>
              </a:rPr>
              <a:t>Узким местом в алгоритме </a:t>
            </a:r>
            <a:r>
              <a:rPr lang="ru-RU" b="0" i="0" u="none" strike="noStrike" dirty="0">
                <a:solidFill>
                  <a:srgbClr val="E1312F"/>
                </a:solidFill>
                <a:effectLst/>
                <a:latin typeface="Source Sans Pro" panose="020B0503030403020204" pitchFamily="34" charset="0"/>
              </a:rPr>
              <a:t>Apriori</a:t>
            </a:r>
            <a:r>
              <a:rPr lang="ru-RU" b="0" i="0" dirty="0">
                <a:solidFill>
                  <a:srgbClr val="333333"/>
                </a:solidFill>
                <a:effectLst/>
                <a:latin typeface="Source Sans Pro" panose="020B0503030403020204" pitchFamily="34" charset="0"/>
              </a:rPr>
              <a:t> является процесс генерации кандидатов в </a:t>
            </a:r>
            <a:r>
              <a:rPr lang="ru-RU" b="0" i="0" u="none" strike="noStrike" dirty="0">
                <a:solidFill>
                  <a:srgbClr val="E1312F"/>
                </a:solidFill>
                <a:effectLst/>
                <a:latin typeface="Source Sans Pro" panose="020B0503030403020204" pitchFamily="34" charset="0"/>
              </a:rPr>
              <a:t>популярные предметные наборы</a:t>
            </a:r>
            <a:r>
              <a:rPr lang="ru-RU" b="0" i="0" dirty="0">
                <a:solidFill>
                  <a:srgbClr val="333333"/>
                </a:solidFill>
                <a:effectLst/>
                <a:latin typeface="Source Sans Pro" panose="020B0503030403020204" pitchFamily="34" charset="0"/>
              </a:rPr>
              <a:t>. Например, если </a:t>
            </a:r>
            <a:r>
              <a:rPr lang="ru-RU" b="0" i="0" u="none" strike="noStrike" dirty="0">
                <a:solidFill>
                  <a:srgbClr val="E1312F"/>
                </a:solidFill>
                <a:effectLst/>
                <a:latin typeface="Source Sans Pro" panose="020B0503030403020204" pitchFamily="34" charset="0"/>
              </a:rPr>
              <a:t>база данных (БД) транзакций</a:t>
            </a:r>
            <a:r>
              <a:rPr lang="ru-RU" b="0" i="0" dirty="0">
                <a:solidFill>
                  <a:srgbClr val="333333"/>
                </a:solidFill>
                <a:effectLst/>
                <a:latin typeface="Source Sans Pro" panose="020B0503030403020204" pitchFamily="34" charset="0"/>
              </a:rPr>
              <a:t> содержит 100 предметов, то потребуется сгенерировать 2</a:t>
            </a:r>
            <a:r>
              <a:rPr lang="ru-RU" b="0" i="0" baseline="30000" dirty="0">
                <a:solidFill>
                  <a:srgbClr val="333333"/>
                </a:solidFill>
                <a:effectLst/>
                <a:latin typeface="Source Sans Pro" panose="020B0503030403020204" pitchFamily="34" charset="0"/>
              </a:rPr>
              <a:t>100</a:t>
            </a:r>
            <a:r>
              <a:rPr lang="ru-RU" b="0" i="0" dirty="0">
                <a:solidFill>
                  <a:srgbClr val="333333"/>
                </a:solidFill>
                <a:effectLst/>
                <a:latin typeface="Source Sans Pro" panose="020B0503030403020204" pitchFamily="34" charset="0"/>
              </a:rPr>
              <a:t>∼10</a:t>
            </a:r>
            <a:r>
              <a:rPr lang="ru-RU" b="0" i="0" baseline="30000" dirty="0">
                <a:solidFill>
                  <a:srgbClr val="333333"/>
                </a:solidFill>
                <a:effectLst/>
                <a:latin typeface="Source Sans Pro" panose="020B0503030403020204" pitchFamily="34" charset="0"/>
              </a:rPr>
              <a:t>30</a:t>
            </a:r>
            <a:r>
              <a:rPr lang="ru-RU" b="0" i="0" dirty="0">
                <a:solidFill>
                  <a:srgbClr val="333333"/>
                </a:solidFill>
                <a:effectLst/>
                <a:latin typeface="Source Sans Pro" panose="020B0503030403020204" pitchFamily="34" charset="0"/>
              </a:rPr>
              <a:t> кандидатов. Таким образом, вычислительные и временные затраты, которые нужны на их обработку, могут быть неприемлемыми.</a:t>
            </a:r>
          </a:p>
          <a:p>
            <a:pPr algn="just"/>
            <a:r>
              <a:rPr lang="ru-RU" b="0" i="0" dirty="0">
                <a:solidFill>
                  <a:srgbClr val="333333"/>
                </a:solidFill>
                <a:effectLst/>
                <a:latin typeface="Source Sans Pro" panose="020B0503030403020204" pitchFamily="34" charset="0"/>
              </a:rPr>
              <a:t>Кроме этого, алгоритм Apriori требует многократного сканирования БД транзакций, а именно столько раз, сколько предметов содержит самый длинный предметный набор. Поэтому был предложен ряд алгоритмов, которые позволяют избежать генерации кандидатов и сократить требуемое число сканирований набора данных.</a:t>
            </a:r>
          </a:p>
          <a:p>
            <a:pPr algn="just"/>
            <a:r>
              <a:rPr lang="ru-RU" b="0" i="0" dirty="0">
                <a:solidFill>
                  <a:srgbClr val="333333"/>
                </a:solidFill>
                <a:effectLst/>
                <a:latin typeface="Source Sans Pro" panose="020B0503030403020204" pitchFamily="34" charset="0"/>
              </a:rPr>
              <a:t>Одним из наиболее эффективных процедур поиска </a:t>
            </a:r>
            <a:r>
              <a:rPr lang="ru-RU" b="0" i="0" u="none" strike="noStrike" dirty="0">
                <a:solidFill>
                  <a:srgbClr val="E1312F"/>
                </a:solidFill>
                <a:effectLst/>
                <a:latin typeface="Source Sans Pro" panose="020B0503030403020204" pitchFamily="34" charset="0"/>
              </a:rPr>
              <a:t>ассоциативных правил</a:t>
            </a:r>
            <a:r>
              <a:rPr lang="ru-RU" b="0" i="0" dirty="0">
                <a:solidFill>
                  <a:srgbClr val="333333"/>
                </a:solidFill>
                <a:effectLst/>
                <a:latin typeface="Source Sans Pro" panose="020B0503030403020204" pitchFamily="34" charset="0"/>
              </a:rPr>
              <a:t> является алгоритм, получивший название </a:t>
            </a:r>
            <a:r>
              <a:rPr lang="ru-RU" b="1" i="0" dirty="0" err="1">
                <a:solidFill>
                  <a:srgbClr val="333333"/>
                </a:solidFill>
                <a:effectLst/>
                <a:latin typeface="Source Sans Pro" panose="020B0503030403020204" pitchFamily="34" charset="0"/>
              </a:rPr>
              <a:t>Frequent</a:t>
            </a:r>
            <a:r>
              <a:rPr lang="ru-RU" b="1" i="0" dirty="0">
                <a:solidFill>
                  <a:srgbClr val="333333"/>
                </a:solidFill>
                <a:effectLst/>
                <a:latin typeface="Source Sans Pro" panose="020B0503030403020204" pitchFamily="34" charset="0"/>
              </a:rPr>
              <a:t> </a:t>
            </a:r>
            <a:r>
              <a:rPr lang="ru-RU" b="1" i="0" dirty="0" err="1">
                <a:solidFill>
                  <a:srgbClr val="333333"/>
                </a:solidFill>
                <a:effectLst/>
                <a:latin typeface="Source Sans Pro" panose="020B0503030403020204" pitchFamily="34" charset="0"/>
              </a:rPr>
              <a:t>Pattern</a:t>
            </a:r>
            <a:r>
              <a:rPr lang="ru-RU" b="1" i="0" dirty="0">
                <a:solidFill>
                  <a:srgbClr val="333333"/>
                </a:solidFill>
                <a:effectLst/>
                <a:latin typeface="Source Sans Pro" panose="020B0503030403020204" pitchFamily="34" charset="0"/>
              </a:rPr>
              <a:t>-Growth</a:t>
            </a:r>
            <a:r>
              <a:rPr lang="ru-RU" b="0" i="0" dirty="0">
                <a:solidFill>
                  <a:srgbClr val="333333"/>
                </a:solidFill>
                <a:effectLst/>
                <a:latin typeface="Source Sans Pro" panose="020B0503030403020204" pitchFamily="34" charset="0"/>
              </a:rPr>
              <a:t> (алгоритм FPG), что можно перевести как «выращивание популярных (часто встречающихся) предметных наборов». Он позволяет не только избежать затратной процедуры генерации кандидатов, но и уменьшить необходимое число проходов БД до двух. Рассмотрим его более подробно.</a:t>
            </a:r>
          </a:p>
          <a:p>
            <a:pPr marL="0" indent="0">
              <a:buNone/>
            </a:pPr>
            <a:endParaRPr lang="ru-RU" dirty="0"/>
          </a:p>
        </p:txBody>
      </p:sp>
      <p:sp>
        <p:nvSpPr>
          <p:cNvPr id="4" name="Нижний колонтитул 3">
            <a:extLst>
              <a:ext uri="{FF2B5EF4-FFF2-40B4-BE49-F238E27FC236}">
                <a16:creationId xmlns:a16="http://schemas.microsoft.com/office/drawing/2014/main" id="{40D7B58E-C0BA-45A8-9AB9-A988ECF22301}"/>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32ADF0BA-1174-448D-A06B-E483F9470600}"/>
              </a:ext>
            </a:extLst>
          </p:cNvPr>
          <p:cNvSpPr>
            <a:spLocks noGrp="1"/>
          </p:cNvSpPr>
          <p:nvPr>
            <p:ph type="sldNum" sz="quarter" idx="12"/>
          </p:nvPr>
        </p:nvSpPr>
        <p:spPr/>
        <p:txBody>
          <a:bodyPr/>
          <a:lstStyle/>
          <a:p>
            <a:fld id="{81C5FB71-5E9C-41B5-9BB8-3F1EBEAEB16A}" type="slidenum">
              <a:rPr lang="ru-RU" smtClean="0"/>
              <a:t>45</a:t>
            </a:fld>
            <a:endParaRPr lang="ru-RU"/>
          </a:p>
        </p:txBody>
      </p:sp>
    </p:spTree>
    <p:extLst>
      <p:ext uri="{BB962C8B-B14F-4D97-AF65-F5344CB8AC3E}">
        <p14:creationId xmlns:p14="http://schemas.microsoft.com/office/powerpoint/2010/main" val="24065040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5DFB96-4DAC-4896-AF65-A334D5583C3D}"/>
              </a:ext>
            </a:extLst>
          </p:cNvPr>
          <p:cNvSpPr>
            <a:spLocks noGrp="1"/>
          </p:cNvSpPr>
          <p:nvPr>
            <p:ph type="title"/>
          </p:nvPr>
        </p:nvSpPr>
        <p:spPr/>
        <p:txBody>
          <a:bodyPr/>
          <a:lstStyle/>
          <a:p>
            <a:pPr algn="ctr"/>
            <a:r>
              <a:rPr lang="en-US" dirty="0" err="1"/>
              <a:t>Алгоритм</a:t>
            </a:r>
            <a:r>
              <a:rPr lang="en-US" dirty="0"/>
              <a:t> Frequent Pattern-Growth Strategy (FPG)</a:t>
            </a:r>
            <a:endParaRPr lang="ru-RU" dirty="0"/>
          </a:p>
        </p:txBody>
      </p:sp>
      <p:sp>
        <p:nvSpPr>
          <p:cNvPr id="3" name="Объект 2">
            <a:extLst>
              <a:ext uri="{FF2B5EF4-FFF2-40B4-BE49-F238E27FC236}">
                <a16:creationId xmlns:a16="http://schemas.microsoft.com/office/drawing/2014/main" id="{0BF7DB41-FAE2-4B71-B8E3-3FA2FE1AEB22}"/>
              </a:ext>
            </a:extLst>
          </p:cNvPr>
          <p:cNvSpPr>
            <a:spLocks noGrp="1"/>
          </p:cNvSpPr>
          <p:nvPr>
            <p:ph idx="1"/>
          </p:nvPr>
        </p:nvSpPr>
        <p:spPr/>
        <p:txBody>
          <a:bodyPr>
            <a:normAutofit lnSpcReduction="10000"/>
          </a:bodyPr>
          <a:lstStyle/>
          <a:p>
            <a:pPr marL="0" indent="0" algn="l">
              <a:buNone/>
            </a:pPr>
            <a:r>
              <a:rPr lang="ru-RU" b="0" i="0" dirty="0">
                <a:solidFill>
                  <a:srgbClr val="333333"/>
                </a:solidFill>
                <a:effectLst/>
                <a:latin typeface="Source Sans Pro" panose="020B0503030403020204" pitchFamily="34" charset="0"/>
              </a:rPr>
              <a:t>В основе алгоритма лежит предобработка БД транзакций, в процессе которой она трансформируется в компактную древовидную структуру, называемую </a:t>
            </a:r>
            <a:r>
              <a:rPr lang="ru-RU" b="0" i="0" dirty="0" err="1">
                <a:solidFill>
                  <a:srgbClr val="333333"/>
                </a:solidFill>
                <a:effectLst/>
                <a:latin typeface="Source Sans Pro" panose="020B0503030403020204" pitchFamily="34" charset="0"/>
              </a:rPr>
              <a:t>Frequent-Pattern</a:t>
            </a:r>
            <a:r>
              <a:rPr lang="ru-RU" b="0" i="0" dirty="0">
                <a:solidFill>
                  <a:srgbClr val="333333"/>
                </a:solidFill>
                <a:effectLst/>
                <a:latin typeface="Source Sans Pro" panose="020B0503030403020204" pitchFamily="34" charset="0"/>
              </a:rPr>
              <a:t> </a:t>
            </a:r>
            <a:r>
              <a:rPr lang="ru-RU" b="0" i="0" dirty="0" err="1">
                <a:solidFill>
                  <a:srgbClr val="333333"/>
                </a:solidFill>
                <a:effectLst/>
                <a:latin typeface="Source Sans Pro" panose="020B0503030403020204" pitchFamily="34" charset="0"/>
              </a:rPr>
              <a:t>Tree</a:t>
            </a:r>
            <a:r>
              <a:rPr lang="ru-RU" b="0" i="0" dirty="0">
                <a:solidFill>
                  <a:srgbClr val="333333"/>
                </a:solidFill>
                <a:effectLst/>
                <a:latin typeface="Source Sans Pro" panose="020B0503030403020204" pitchFamily="34" charset="0"/>
              </a:rPr>
              <a:t> – дерево популярных предметных наборов (откуда и название алгоритма). В дальнейшем для краткости будем называть эту структуру FP-дерево. К основным преимуществам данного метода относятся:</a:t>
            </a:r>
          </a:p>
          <a:p>
            <a:pPr algn="l">
              <a:buFont typeface="+mj-lt"/>
              <a:buAutoNum type="arabicPeriod"/>
            </a:pPr>
            <a:r>
              <a:rPr lang="ru-RU" b="0" i="0" dirty="0">
                <a:solidFill>
                  <a:srgbClr val="333333"/>
                </a:solidFill>
                <a:effectLst/>
                <a:latin typeface="Source Sans Pro" panose="020B0503030403020204" pitchFamily="34" charset="0"/>
              </a:rPr>
              <a:t>Сжатие БД транзакций в компактную структуру, которая обеспечивает наиболее эффективное и полное извлечение частых предметных наборов;</a:t>
            </a:r>
          </a:p>
          <a:p>
            <a:pPr algn="l">
              <a:buFont typeface="+mj-lt"/>
              <a:buAutoNum type="arabicPeriod"/>
            </a:pPr>
            <a:r>
              <a:rPr lang="ru-RU" b="0" i="0" dirty="0">
                <a:solidFill>
                  <a:srgbClr val="333333"/>
                </a:solidFill>
                <a:effectLst/>
                <a:latin typeface="Source Sans Pro" panose="020B0503030403020204" pitchFamily="34" charset="0"/>
              </a:rPr>
              <a:t>При построении FP-дерева используется </a:t>
            </a:r>
            <a:r>
              <a:rPr lang="ru-RU" b="1" i="0" dirty="0">
                <a:solidFill>
                  <a:srgbClr val="333333"/>
                </a:solidFill>
                <a:effectLst/>
                <a:latin typeface="Source Sans Pro" panose="020B0503030403020204" pitchFamily="34" charset="0"/>
              </a:rPr>
              <a:t>технология «разделай и властвуй»</a:t>
            </a:r>
            <a:r>
              <a:rPr lang="ru-RU" b="0" i="0" dirty="0">
                <a:solidFill>
                  <a:srgbClr val="333333"/>
                </a:solidFill>
                <a:effectLst/>
                <a:latin typeface="Source Sans Pro" panose="020B0503030403020204" pitchFamily="34" charset="0"/>
              </a:rPr>
              <a:t> (англ.: </a:t>
            </a:r>
            <a:r>
              <a:rPr lang="ru-RU" b="0" i="1" dirty="0" err="1">
                <a:solidFill>
                  <a:srgbClr val="333333"/>
                </a:solidFill>
                <a:effectLst/>
                <a:latin typeface="PT Sans" panose="020B0503020203020204" pitchFamily="34" charset="-52"/>
              </a:rPr>
              <a:t>divide</a:t>
            </a:r>
            <a:r>
              <a:rPr lang="ru-RU" b="0" i="1" dirty="0">
                <a:solidFill>
                  <a:srgbClr val="333333"/>
                </a:solidFill>
                <a:effectLst/>
                <a:latin typeface="PT Sans" panose="020B0503020203020204" pitchFamily="34" charset="-52"/>
              </a:rPr>
              <a:t> </a:t>
            </a:r>
            <a:r>
              <a:rPr lang="ru-RU" b="0" i="1" dirty="0" err="1">
                <a:solidFill>
                  <a:srgbClr val="333333"/>
                </a:solidFill>
                <a:effectLst/>
                <a:latin typeface="PT Sans" panose="020B0503020203020204" pitchFamily="34" charset="-52"/>
              </a:rPr>
              <a:t>and</a:t>
            </a:r>
            <a:r>
              <a:rPr lang="ru-RU" b="0" i="1" dirty="0">
                <a:solidFill>
                  <a:srgbClr val="333333"/>
                </a:solidFill>
                <a:effectLst/>
                <a:latin typeface="PT Sans" panose="020B0503020203020204" pitchFamily="34" charset="-52"/>
              </a:rPr>
              <a:t> </a:t>
            </a:r>
            <a:r>
              <a:rPr lang="ru-RU" b="0" i="1" dirty="0" err="1">
                <a:solidFill>
                  <a:srgbClr val="333333"/>
                </a:solidFill>
                <a:effectLst/>
                <a:latin typeface="PT Sans" panose="020B0503020203020204" pitchFamily="34" charset="-52"/>
              </a:rPr>
              <a:t>conquer</a:t>
            </a:r>
            <a:r>
              <a:rPr lang="ru-RU" b="0" i="0" dirty="0">
                <a:solidFill>
                  <a:srgbClr val="333333"/>
                </a:solidFill>
                <a:effectLst/>
                <a:latin typeface="Source Sans Pro" panose="020B0503030403020204" pitchFamily="34" charset="0"/>
              </a:rPr>
              <a:t>), которая позволяет выполнить декомпозицию одной сложной задачи на множество более простых;</a:t>
            </a:r>
          </a:p>
          <a:p>
            <a:pPr algn="l">
              <a:buFont typeface="+mj-lt"/>
              <a:buAutoNum type="arabicPeriod"/>
            </a:pPr>
            <a:r>
              <a:rPr lang="ru-RU" b="0" i="0" dirty="0">
                <a:solidFill>
                  <a:srgbClr val="333333"/>
                </a:solidFill>
                <a:effectLst/>
                <a:latin typeface="Source Sans Pro" panose="020B0503030403020204" pitchFamily="34" charset="0"/>
              </a:rPr>
              <a:t>Позволяет избежать затратной процедуры генерации кандидатов, характерной для алгоритма Apriori.</a:t>
            </a:r>
          </a:p>
          <a:p>
            <a:endParaRPr lang="ru-RU" dirty="0"/>
          </a:p>
        </p:txBody>
      </p:sp>
      <p:sp>
        <p:nvSpPr>
          <p:cNvPr id="4" name="Нижний колонтитул 3">
            <a:extLst>
              <a:ext uri="{FF2B5EF4-FFF2-40B4-BE49-F238E27FC236}">
                <a16:creationId xmlns:a16="http://schemas.microsoft.com/office/drawing/2014/main" id="{D84244D8-B184-4657-8E25-2B4DD477FA7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93E2E64A-54A5-4B6B-A1FF-F43EFFD7E75E}"/>
              </a:ext>
            </a:extLst>
          </p:cNvPr>
          <p:cNvSpPr>
            <a:spLocks noGrp="1"/>
          </p:cNvSpPr>
          <p:nvPr>
            <p:ph type="sldNum" sz="quarter" idx="12"/>
          </p:nvPr>
        </p:nvSpPr>
        <p:spPr/>
        <p:txBody>
          <a:bodyPr/>
          <a:lstStyle/>
          <a:p>
            <a:fld id="{81C5FB71-5E9C-41B5-9BB8-3F1EBEAEB16A}" type="slidenum">
              <a:rPr lang="ru-RU" smtClean="0"/>
              <a:t>46</a:t>
            </a:fld>
            <a:endParaRPr lang="ru-RU"/>
          </a:p>
        </p:txBody>
      </p:sp>
    </p:spTree>
    <p:extLst>
      <p:ext uri="{BB962C8B-B14F-4D97-AF65-F5344CB8AC3E}">
        <p14:creationId xmlns:p14="http://schemas.microsoft.com/office/powerpoint/2010/main" val="36908964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AD5730F-7F7F-4239-8805-ABE92112B166}"/>
              </a:ext>
            </a:extLst>
          </p:cNvPr>
          <p:cNvSpPr>
            <a:spLocks noGrp="1"/>
          </p:cNvSpPr>
          <p:nvPr>
            <p:ph type="title"/>
          </p:nvPr>
        </p:nvSpPr>
        <p:spPr/>
        <p:txBody>
          <a:bodyPr/>
          <a:lstStyle/>
          <a:p>
            <a:r>
              <a:rPr lang="ru-RU" dirty="0"/>
              <a:t>Рассмотрим работу алгоритма FPG на конкретном примере. Пусть имеется БД транзакций</a:t>
            </a:r>
          </a:p>
        </p:txBody>
      </p:sp>
      <p:sp>
        <p:nvSpPr>
          <p:cNvPr id="3" name="Объект 2">
            <a:extLst>
              <a:ext uri="{FF2B5EF4-FFF2-40B4-BE49-F238E27FC236}">
                <a16:creationId xmlns:a16="http://schemas.microsoft.com/office/drawing/2014/main" id="{77595250-4B7E-462C-B575-E812B98340C9}"/>
              </a:ext>
            </a:extLst>
          </p:cNvPr>
          <p:cNvSpPr>
            <a:spLocks noGrp="1"/>
          </p:cNvSpPr>
          <p:nvPr>
            <p:ph idx="1"/>
          </p:nvPr>
        </p:nvSpPr>
        <p:spPr>
          <a:xfrm>
            <a:off x="628650" y="1066799"/>
            <a:ext cx="8134350" cy="5289551"/>
          </a:xfrm>
        </p:spPr>
        <p:txBody>
          <a:bodyPr>
            <a:normAutofit/>
          </a:bodyPr>
          <a:lstStyle/>
          <a:p>
            <a:pPr marL="0" indent="0" algn="just">
              <a:buNone/>
            </a:pPr>
            <a:r>
              <a:rPr lang="ru-RU" b="0" i="0" dirty="0">
                <a:solidFill>
                  <a:srgbClr val="333333"/>
                </a:solidFill>
                <a:effectLst/>
                <a:latin typeface="Source Sans Pro" panose="020B0503030403020204" pitchFamily="34" charset="0"/>
              </a:rPr>
              <a:t>Для данной БД требуется обнаружить все популярные предметные наборы с минимальной </a:t>
            </a:r>
            <a:r>
              <a:rPr lang="ru-RU" b="1" i="0" u="none" strike="noStrike" dirty="0">
                <a:effectLst/>
                <a:latin typeface="Source Sans Pro" panose="020B0503030403020204" pitchFamily="34" charset="0"/>
              </a:rPr>
              <a:t>поддержкой</a:t>
            </a:r>
            <a:r>
              <a:rPr lang="ru-RU" b="0" i="0" dirty="0">
                <a:solidFill>
                  <a:srgbClr val="333333"/>
                </a:solidFill>
                <a:effectLst/>
                <a:latin typeface="Source Sans Pro" panose="020B0503030403020204" pitchFamily="34" charset="0"/>
              </a:rPr>
              <a:t>, равной 3, используя алгоритм FPG.</a:t>
            </a:r>
          </a:p>
          <a:p>
            <a:pPr marL="3592513" indent="0" algn="just"/>
            <a:r>
              <a:rPr lang="ru-RU" sz="2000" b="0" i="0" dirty="0">
                <a:solidFill>
                  <a:srgbClr val="333333"/>
                </a:solidFill>
                <a:effectLst/>
                <a:latin typeface="Source Sans Pro" panose="020B0503030403020204" pitchFamily="34" charset="0"/>
              </a:rPr>
              <a:t>Производится первое сканирование БД транзакций, и отбирается множество часто встречающихся предметов, т.е. предметов, которые встречаются три или более раза. </a:t>
            </a:r>
          </a:p>
          <a:p>
            <a:pPr marL="3592513" indent="0" algn="just"/>
            <a:r>
              <a:rPr lang="ru-RU" sz="2000" b="0" i="0" dirty="0">
                <a:solidFill>
                  <a:srgbClr val="333333"/>
                </a:solidFill>
                <a:effectLst/>
                <a:latin typeface="Source Sans Pro" panose="020B0503030403020204" pitchFamily="34" charset="0"/>
              </a:rPr>
              <a:t>Упорядочим обнаруженные частые предметы в порядке возрастания их поддержки и получим следующий набор: </a:t>
            </a:r>
            <a:endParaRPr lang="en-US" sz="2000" b="0" i="0" dirty="0">
              <a:solidFill>
                <a:srgbClr val="333333"/>
              </a:solidFill>
              <a:effectLst/>
              <a:latin typeface="Source Sans Pro" panose="020B0503030403020204" pitchFamily="34" charset="0"/>
            </a:endParaRPr>
          </a:p>
          <a:p>
            <a:pPr marL="3592513" indent="0" algn="just">
              <a:buNone/>
            </a:pPr>
            <a:r>
              <a:rPr lang="ru-RU" sz="2000" b="0" i="0" dirty="0">
                <a:solidFill>
                  <a:srgbClr val="333333"/>
                </a:solidFill>
                <a:effectLst/>
                <a:latin typeface="Source Sans Pro" panose="020B0503030403020204" pitchFamily="34" charset="0"/>
              </a:rPr>
              <a:t>(c, 6), (b, 5), (d, 5), (e, 5), (a, 3).</a:t>
            </a:r>
          </a:p>
          <a:p>
            <a:pPr marL="0" indent="0">
              <a:buNone/>
            </a:pPr>
            <a:endParaRPr lang="ru-RU" dirty="0"/>
          </a:p>
        </p:txBody>
      </p:sp>
      <p:sp>
        <p:nvSpPr>
          <p:cNvPr id="4" name="Нижний колонтитул 3">
            <a:extLst>
              <a:ext uri="{FF2B5EF4-FFF2-40B4-BE49-F238E27FC236}">
                <a16:creationId xmlns:a16="http://schemas.microsoft.com/office/drawing/2014/main" id="{00BCE05E-38B1-4953-8434-B4414EA43670}"/>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9B266CC-028F-4770-81B7-5C6E6B1FF73B}"/>
              </a:ext>
            </a:extLst>
          </p:cNvPr>
          <p:cNvSpPr>
            <a:spLocks noGrp="1"/>
          </p:cNvSpPr>
          <p:nvPr>
            <p:ph type="sldNum" sz="quarter" idx="12"/>
          </p:nvPr>
        </p:nvSpPr>
        <p:spPr/>
        <p:txBody>
          <a:bodyPr/>
          <a:lstStyle/>
          <a:p>
            <a:fld id="{81C5FB71-5E9C-41B5-9BB8-3F1EBEAEB16A}" type="slidenum">
              <a:rPr lang="ru-RU" smtClean="0"/>
              <a:t>47</a:t>
            </a:fld>
            <a:endParaRPr lang="ru-RU"/>
          </a:p>
        </p:txBody>
      </p:sp>
      <p:graphicFrame>
        <p:nvGraphicFramePr>
          <p:cNvPr id="8" name="Таблица 7">
            <a:extLst>
              <a:ext uri="{FF2B5EF4-FFF2-40B4-BE49-F238E27FC236}">
                <a16:creationId xmlns:a16="http://schemas.microsoft.com/office/drawing/2014/main" id="{173C6387-6609-47C6-BCFF-468DB514BCAE}"/>
              </a:ext>
            </a:extLst>
          </p:cNvPr>
          <p:cNvGraphicFramePr>
            <a:graphicFrameLocks noGrp="1"/>
          </p:cNvGraphicFramePr>
          <p:nvPr>
            <p:extLst>
              <p:ext uri="{D42A27DB-BD31-4B8C-83A1-F6EECF244321}">
                <p14:modId xmlns:p14="http://schemas.microsoft.com/office/powerpoint/2010/main" val="3681647786"/>
              </p:ext>
            </p:extLst>
          </p:nvPr>
        </p:nvGraphicFramePr>
        <p:xfrm>
          <a:off x="628650" y="2128756"/>
          <a:ext cx="3371850" cy="4389120"/>
        </p:xfrm>
        <a:graphic>
          <a:graphicData uri="http://schemas.openxmlformats.org/drawingml/2006/table">
            <a:tbl>
              <a:tblPr>
                <a:tableStyleId>{5940675A-B579-460E-94D1-54222C63F5DA}</a:tableStyleId>
              </a:tblPr>
              <a:tblGrid>
                <a:gridCol w="1239227">
                  <a:extLst>
                    <a:ext uri="{9D8B030D-6E8A-4147-A177-3AD203B41FA5}">
                      <a16:colId xmlns:a16="http://schemas.microsoft.com/office/drawing/2014/main" val="2863359025"/>
                    </a:ext>
                  </a:extLst>
                </a:gridCol>
                <a:gridCol w="2132623">
                  <a:extLst>
                    <a:ext uri="{9D8B030D-6E8A-4147-A177-3AD203B41FA5}">
                      <a16:colId xmlns:a16="http://schemas.microsoft.com/office/drawing/2014/main" val="360506423"/>
                    </a:ext>
                  </a:extLst>
                </a:gridCol>
              </a:tblGrid>
              <a:tr h="466725">
                <a:tc>
                  <a:txBody>
                    <a:bodyPr/>
                    <a:lstStyle/>
                    <a:p>
                      <a:pPr algn="l" fontAlgn="ctr"/>
                      <a:r>
                        <a:rPr lang="en-US" sz="1600" b="1" dirty="0">
                          <a:solidFill>
                            <a:schemeClr val="tx1"/>
                          </a:solidFill>
                          <a:effectLst/>
                        </a:rPr>
                        <a:t>N</a:t>
                      </a:r>
                    </a:p>
                  </a:txBody>
                  <a:tcPr marL="114300" marR="114300" marT="152400" marB="152400" anchor="ctr"/>
                </a:tc>
                <a:tc>
                  <a:txBody>
                    <a:bodyPr/>
                    <a:lstStyle/>
                    <a:p>
                      <a:pPr algn="l" fontAlgn="ctr"/>
                      <a:r>
                        <a:rPr lang="ru-RU" sz="1600" b="1" dirty="0">
                          <a:solidFill>
                            <a:schemeClr val="tx1"/>
                          </a:solidFill>
                          <a:effectLst/>
                        </a:rPr>
                        <a:t>Предметный набор</a:t>
                      </a:r>
                    </a:p>
                  </a:txBody>
                  <a:tcPr marL="114300" marR="114300" marT="152400" marB="152400" anchor="ctr"/>
                </a:tc>
                <a:extLst>
                  <a:ext uri="{0D108BD9-81ED-4DB2-BD59-A6C34878D82A}">
                    <a16:rowId xmlns:a16="http://schemas.microsoft.com/office/drawing/2014/main" val="631694613"/>
                  </a:ext>
                </a:extLst>
              </a:tr>
              <a:tr h="0">
                <a:tc>
                  <a:txBody>
                    <a:bodyPr/>
                    <a:lstStyle/>
                    <a:p>
                      <a:pPr algn="l" fontAlgn="ctr"/>
                      <a:r>
                        <a:rPr lang="ru-RU" sz="1600" dirty="0">
                          <a:solidFill>
                            <a:srgbClr val="333333"/>
                          </a:solidFill>
                          <a:effectLst/>
                        </a:rPr>
                        <a:t>1</a:t>
                      </a:r>
                    </a:p>
                  </a:txBody>
                  <a:tcPr marL="114300" marR="114300" marT="152400" marB="152400" anchor="ctr"/>
                </a:tc>
                <a:tc>
                  <a:txBody>
                    <a:bodyPr/>
                    <a:lstStyle/>
                    <a:p>
                      <a:pPr algn="l" fontAlgn="ctr"/>
                      <a:r>
                        <a:rPr lang="pt-BR" sz="1600" dirty="0">
                          <a:solidFill>
                            <a:srgbClr val="333333"/>
                          </a:solidFill>
                          <a:effectLst/>
                        </a:rPr>
                        <a:t>a b c d e</a:t>
                      </a:r>
                    </a:p>
                  </a:txBody>
                  <a:tcPr marL="114300" marR="114300" marT="152400" marB="152400" anchor="ctr"/>
                </a:tc>
                <a:extLst>
                  <a:ext uri="{0D108BD9-81ED-4DB2-BD59-A6C34878D82A}">
                    <a16:rowId xmlns:a16="http://schemas.microsoft.com/office/drawing/2014/main" val="3855501457"/>
                  </a:ext>
                </a:extLst>
              </a:tr>
              <a:tr h="0">
                <a:tc>
                  <a:txBody>
                    <a:bodyPr/>
                    <a:lstStyle/>
                    <a:p>
                      <a:pPr algn="l" fontAlgn="ctr"/>
                      <a:r>
                        <a:rPr lang="ru-RU" sz="1600">
                          <a:solidFill>
                            <a:srgbClr val="333333"/>
                          </a:solidFill>
                          <a:effectLst/>
                        </a:rPr>
                        <a:t>2</a:t>
                      </a:r>
                    </a:p>
                  </a:txBody>
                  <a:tcPr marL="114300" marR="114300" marT="152400" marB="152400" anchor="ctr"/>
                </a:tc>
                <a:tc>
                  <a:txBody>
                    <a:bodyPr/>
                    <a:lstStyle/>
                    <a:p>
                      <a:pPr algn="l" fontAlgn="ctr"/>
                      <a:r>
                        <a:rPr lang="en-US" sz="1600" dirty="0">
                          <a:solidFill>
                            <a:srgbClr val="333333"/>
                          </a:solidFill>
                          <a:effectLst/>
                        </a:rPr>
                        <a:t>a b c</a:t>
                      </a:r>
                    </a:p>
                  </a:txBody>
                  <a:tcPr marL="114300" marR="114300" marT="152400" marB="152400" anchor="ctr"/>
                </a:tc>
                <a:extLst>
                  <a:ext uri="{0D108BD9-81ED-4DB2-BD59-A6C34878D82A}">
                    <a16:rowId xmlns:a16="http://schemas.microsoft.com/office/drawing/2014/main" val="3189619790"/>
                  </a:ext>
                </a:extLst>
              </a:tr>
              <a:tr h="466725">
                <a:tc>
                  <a:txBody>
                    <a:bodyPr/>
                    <a:lstStyle/>
                    <a:p>
                      <a:pPr algn="l" fontAlgn="ctr"/>
                      <a:r>
                        <a:rPr lang="ru-RU" sz="1600" dirty="0">
                          <a:solidFill>
                            <a:srgbClr val="333333"/>
                          </a:solidFill>
                          <a:effectLst/>
                        </a:rPr>
                        <a:t>3</a:t>
                      </a:r>
                    </a:p>
                  </a:txBody>
                  <a:tcPr marL="114300" marR="114300" marT="152400" marB="152400" anchor="ctr"/>
                </a:tc>
                <a:tc>
                  <a:txBody>
                    <a:bodyPr/>
                    <a:lstStyle/>
                    <a:p>
                      <a:pPr algn="l" fontAlgn="ctr"/>
                      <a:r>
                        <a:rPr lang="en-US" sz="1600" dirty="0">
                          <a:solidFill>
                            <a:srgbClr val="333333"/>
                          </a:solidFill>
                          <a:effectLst/>
                        </a:rPr>
                        <a:t>a c d e</a:t>
                      </a:r>
                    </a:p>
                  </a:txBody>
                  <a:tcPr marL="114300" marR="114300" marT="152400" marB="152400" anchor="ctr"/>
                </a:tc>
                <a:extLst>
                  <a:ext uri="{0D108BD9-81ED-4DB2-BD59-A6C34878D82A}">
                    <a16:rowId xmlns:a16="http://schemas.microsoft.com/office/drawing/2014/main" val="4159839411"/>
                  </a:ext>
                </a:extLst>
              </a:tr>
              <a:tr h="466725">
                <a:tc>
                  <a:txBody>
                    <a:bodyPr/>
                    <a:lstStyle/>
                    <a:p>
                      <a:pPr algn="l" fontAlgn="ctr"/>
                      <a:r>
                        <a:rPr lang="ru-RU" sz="1600">
                          <a:solidFill>
                            <a:srgbClr val="333333"/>
                          </a:solidFill>
                          <a:effectLst/>
                        </a:rPr>
                        <a:t>4</a:t>
                      </a:r>
                    </a:p>
                  </a:txBody>
                  <a:tcPr marL="114300" marR="114300" marT="152400" marB="152400" anchor="ctr"/>
                </a:tc>
                <a:tc>
                  <a:txBody>
                    <a:bodyPr/>
                    <a:lstStyle/>
                    <a:p>
                      <a:pPr algn="l" fontAlgn="ctr"/>
                      <a:r>
                        <a:rPr lang="en-US" sz="1600" dirty="0">
                          <a:solidFill>
                            <a:srgbClr val="333333"/>
                          </a:solidFill>
                          <a:effectLst/>
                        </a:rPr>
                        <a:t>b c d e</a:t>
                      </a:r>
                    </a:p>
                  </a:txBody>
                  <a:tcPr marL="114300" marR="114300" marT="152400" marB="152400" anchor="ctr"/>
                </a:tc>
                <a:extLst>
                  <a:ext uri="{0D108BD9-81ED-4DB2-BD59-A6C34878D82A}">
                    <a16:rowId xmlns:a16="http://schemas.microsoft.com/office/drawing/2014/main" val="3113820852"/>
                  </a:ext>
                </a:extLst>
              </a:tr>
              <a:tr h="466725">
                <a:tc>
                  <a:txBody>
                    <a:bodyPr/>
                    <a:lstStyle/>
                    <a:p>
                      <a:pPr algn="l" fontAlgn="ctr"/>
                      <a:r>
                        <a:rPr lang="ru-RU" sz="1600">
                          <a:solidFill>
                            <a:srgbClr val="333333"/>
                          </a:solidFill>
                          <a:effectLst/>
                        </a:rPr>
                        <a:t>5</a:t>
                      </a:r>
                    </a:p>
                  </a:txBody>
                  <a:tcPr marL="114300" marR="114300" marT="152400" marB="152400" anchor="ctr"/>
                </a:tc>
                <a:tc>
                  <a:txBody>
                    <a:bodyPr/>
                    <a:lstStyle/>
                    <a:p>
                      <a:pPr algn="l" fontAlgn="ctr"/>
                      <a:r>
                        <a:rPr lang="en-US" sz="1600" dirty="0">
                          <a:solidFill>
                            <a:srgbClr val="333333"/>
                          </a:solidFill>
                          <a:effectLst/>
                        </a:rPr>
                        <a:t>b c</a:t>
                      </a:r>
                    </a:p>
                  </a:txBody>
                  <a:tcPr marL="114300" marR="114300" marT="152400" marB="152400" anchor="ctr"/>
                </a:tc>
                <a:extLst>
                  <a:ext uri="{0D108BD9-81ED-4DB2-BD59-A6C34878D82A}">
                    <a16:rowId xmlns:a16="http://schemas.microsoft.com/office/drawing/2014/main" val="118409243"/>
                  </a:ext>
                </a:extLst>
              </a:tr>
              <a:tr h="466725">
                <a:tc>
                  <a:txBody>
                    <a:bodyPr/>
                    <a:lstStyle/>
                    <a:p>
                      <a:pPr algn="l" fontAlgn="ctr"/>
                      <a:r>
                        <a:rPr lang="ru-RU" sz="1600">
                          <a:solidFill>
                            <a:srgbClr val="333333"/>
                          </a:solidFill>
                          <a:effectLst/>
                        </a:rPr>
                        <a:t>6</a:t>
                      </a:r>
                    </a:p>
                  </a:txBody>
                  <a:tcPr marL="114300" marR="114300" marT="152400" marB="152400" anchor="ctr"/>
                </a:tc>
                <a:tc>
                  <a:txBody>
                    <a:bodyPr/>
                    <a:lstStyle/>
                    <a:p>
                      <a:pPr algn="l" fontAlgn="ctr"/>
                      <a:r>
                        <a:rPr lang="en-US" sz="1600" dirty="0">
                          <a:solidFill>
                            <a:srgbClr val="333333"/>
                          </a:solidFill>
                          <a:effectLst/>
                        </a:rPr>
                        <a:t>b d e</a:t>
                      </a:r>
                    </a:p>
                  </a:txBody>
                  <a:tcPr marL="114300" marR="114300" marT="152400" marB="152400" anchor="ctr"/>
                </a:tc>
                <a:extLst>
                  <a:ext uri="{0D108BD9-81ED-4DB2-BD59-A6C34878D82A}">
                    <a16:rowId xmlns:a16="http://schemas.microsoft.com/office/drawing/2014/main" val="3392509108"/>
                  </a:ext>
                </a:extLst>
              </a:tr>
              <a:tr h="466725">
                <a:tc>
                  <a:txBody>
                    <a:bodyPr/>
                    <a:lstStyle/>
                    <a:p>
                      <a:pPr algn="l" fontAlgn="ctr"/>
                      <a:r>
                        <a:rPr lang="ru-RU" sz="1600" dirty="0">
                          <a:solidFill>
                            <a:srgbClr val="333333"/>
                          </a:solidFill>
                          <a:effectLst/>
                        </a:rPr>
                        <a:t>7</a:t>
                      </a:r>
                    </a:p>
                  </a:txBody>
                  <a:tcPr marL="114300" marR="114300" marT="152400" marB="152400" anchor="ctr"/>
                </a:tc>
                <a:tc>
                  <a:txBody>
                    <a:bodyPr/>
                    <a:lstStyle/>
                    <a:p>
                      <a:pPr algn="l" fontAlgn="ctr"/>
                      <a:r>
                        <a:rPr lang="en-US" sz="1600" dirty="0">
                          <a:solidFill>
                            <a:srgbClr val="333333"/>
                          </a:solidFill>
                          <a:effectLst/>
                        </a:rPr>
                        <a:t>c d e</a:t>
                      </a:r>
                    </a:p>
                  </a:txBody>
                  <a:tcPr marL="114300" marR="114300" marT="152400" marB="152400" anchor="ctr"/>
                </a:tc>
                <a:extLst>
                  <a:ext uri="{0D108BD9-81ED-4DB2-BD59-A6C34878D82A}">
                    <a16:rowId xmlns:a16="http://schemas.microsoft.com/office/drawing/2014/main" val="1180116845"/>
                  </a:ext>
                </a:extLst>
              </a:tr>
            </a:tbl>
          </a:graphicData>
        </a:graphic>
      </p:graphicFrame>
    </p:spTree>
    <p:extLst>
      <p:ext uri="{BB962C8B-B14F-4D97-AF65-F5344CB8AC3E}">
        <p14:creationId xmlns:p14="http://schemas.microsoft.com/office/powerpoint/2010/main" val="39814384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4AD44CB-7C15-4536-9CE4-47E14F020C4B}"/>
              </a:ext>
            </a:extLst>
          </p:cNvPr>
          <p:cNvSpPr>
            <a:spLocks noGrp="1"/>
          </p:cNvSpPr>
          <p:nvPr>
            <p:ph type="title"/>
          </p:nvPr>
        </p:nvSpPr>
        <p:spPr/>
        <p:txBody>
          <a:bodyPr/>
          <a:lstStyle/>
          <a:p>
            <a:pPr algn="ctr"/>
            <a:r>
              <a:rPr lang="ru-RU" dirty="0"/>
              <a:t>Упорядочим предметы в транзакциях по убыванию значений их поддержек</a:t>
            </a:r>
          </a:p>
        </p:txBody>
      </p:sp>
      <p:graphicFrame>
        <p:nvGraphicFramePr>
          <p:cNvPr id="6" name="Объект 5">
            <a:extLst>
              <a:ext uri="{FF2B5EF4-FFF2-40B4-BE49-F238E27FC236}">
                <a16:creationId xmlns:a16="http://schemas.microsoft.com/office/drawing/2014/main" id="{24DEE346-C2A3-4E8F-9B99-257E1E9B0B00}"/>
              </a:ext>
            </a:extLst>
          </p:cNvPr>
          <p:cNvGraphicFramePr>
            <a:graphicFrameLocks noGrp="1"/>
          </p:cNvGraphicFramePr>
          <p:nvPr>
            <p:ph idx="1"/>
            <p:extLst>
              <p:ext uri="{D42A27DB-BD31-4B8C-83A1-F6EECF244321}">
                <p14:modId xmlns:p14="http://schemas.microsoft.com/office/powerpoint/2010/main" val="3125339122"/>
              </p:ext>
            </p:extLst>
          </p:nvPr>
        </p:nvGraphicFramePr>
        <p:xfrm>
          <a:off x="1033462" y="1358661"/>
          <a:ext cx="7219950" cy="4084320"/>
        </p:xfrm>
        <a:graphic>
          <a:graphicData uri="http://schemas.openxmlformats.org/drawingml/2006/table">
            <a:tbl>
              <a:tblPr>
                <a:tableStyleId>{5940675A-B579-460E-94D1-54222C63F5DA}</a:tableStyleId>
              </a:tblPr>
              <a:tblGrid>
                <a:gridCol w="1371600">
                  <a:extLst>
                    <a:ext uri="{9D8B030D-6E8A-4147-A177-3AD203B41FA5}">
                      <a16:colId xmlns:a16="http://schemas.microsoft.com/office/drawing/2014/main" val="3454768547"/>
                    </a:ext>
                  </a:extLst>
                </a:gridCol>
                <a:gridCol w="2514600">
                  <a:extLst>
                    <a:ext uri="{9D8B030D-6E8A-4147-A177-3AD203B41FA5}">
                      <a16:colId xmlns:a16="http://schemas.microsoft.com/office/drawing/2014/main" val="2523732703"/>
                    </a:ext>
                  </a:extLst>
                </a:gridCol>
                <a:gridCol w="3333750">
                  <a:extLst>
                    <a:ext uri="{9D8B030D-6E8A-4147-A177-3AD203B41FA5}">
                      <a16:colId xmlns:a16="http://schemas.microsoft.com/office/drawing/2014/main" val="1655585003"/>
                    </a:ext>
                  </a:extLst>
                </a:gridCol>
              </a:tblGrid>
              <a:tr h="0">
                <a:tc>
                  <a:txBody>
                    <a:bodyPr/>
                    <a:lstStyle/>
                    <a:p>
                      <a:pPr algn="ctr" fontAlgn="ctr"/>
                      <a:r>
                        <a:rPr lang="en-US" b="1" dirty="0">
                          <a:solidFill>
                            <a:schemeClr val="tx1"/>
                          </a:solidFill>
                          <a:effectLst/>
                        </a:rPr>
                        <a:t>N</a:t>
                      </a:r>
                      <a:r>
                        <a:rPr lang="ru-RU" b="1" dirty="0">
                          <a:solidFill>
                            <a:schemeClr val="tx1"/>
                          </a:solidFill>
                          <a:effectLst/>
                        </a:rPr>
                        <a:t> транзакции</a:t>
                      </a:r>
                      <a:endParaRPr lang="en-US" b="1" dirty="0">
                        <a:solidFill>
                          <a:schemeClr val="tx1"/>
                        </a:solidFill>
                        <a:effectLst/>
                      </a:endParaRPr>
                    </a:p>
                  </a:txBody>
                  <a:tcPr marL="114300" marR="114300" marT="152400" marB="152400" anchor="ctr"/>
                </a:tc>
                <a:tc>
                  <a:txBody>
                    <a:bodyPr/>
                    <a:lstStyle/>
                    <a:p>
                      <a:pPr algn="ctr" fontAlgn="ctr"/>
                      <a:r>
                        <a:rPr lang="ru-RU" b="1" dirty="0">
                          <a:solidFill>
                            <a:schemeClr val="tx1"/>
                          </a:solidFill>
                          <a:effectLst/>
                        </a:rPr>
                        <a:t>Исходный предметный набор</a:t>
                      </a:r>
                    </a:p>
                  </a:txBody>
                  <a:tcPr marL="114300" marR="114300" marT="152400" marB="152400" anchor="ctr"/>
                </a:tc>
                <a:tc>
                  <a:txBody>
                    <a:bodyPr/>
                    <a:lstStyle/>
                    <a:p>
                      <a:pPr algn="ctr" fontAlgn="ctr"/>
                      <a:r>
                        <a:rPr lang="ru-RU" b="1" dirty="0">
                          <a:solidFill>
                            <a:schemeClr val="tx1"/>
                          </a:solidFill>
                          <a:effectLst/>
                        </a:rPr>
                        <a:t>Упорядоченный предметный набор</a:t>
                      </a:r>
                    </a:p>
                  </a:txBody>
                  <a:tcPr marL="114300" marR="114300" marT="152400" marB="152400" anchor="ctr"/>
                </a:tc>
                <a:extLst>
                  <a:ext uri="{0D108BD9-81ED-4DB2-BD59-A6C34878D82A}">
                    <a16:rowId xmlns:a16="http://schemas.microsoft.com/office/drawing/2014/main" val="1020324066"/>
                  </a:ext>
                </a:extLst>
              </a:tr>
              <a:tr h="0">
                <a:tc>
                  <a:txBody>
                    <a:bodyPr/>
                    <a:lstStyle/>
                    <a:p>
                      <a:pPr algn="ctr" fontAlgn="ctr"/>
                      <a:r>
                        <a:rPr lang="ru-RU" dirty="0">
                          <a:solidFill>
                            <a:srgbClr val="333333"/>
                          </a:solidFill>
                          <a:effectLst/>
                        </a:rPr>
                        <a:t>1</a:t>
                      </a:r>
                    </a:p>
                  </a:txBody>
                  <a:tcPr marL="114300" marR="114300" marT="152400" marB="152400" anchor="ctr"/>
                </a:tc>
                <a:tc>
                  <a:txBody>
                    <a:bodyPr/>
                    <a:lstStyle/>
                    <a:p>
                      <a:pPr algn="ctr" fontAlgn="ctr"/>
                      <a:r>
                        <a:rPr lang="pt-BR" dirty="0">
                          <a:solidFill>
                            <a:srgbClr val="333333"/>
                          </a:solidFill>
                          <a:effectLst/>
                        </a:rPr>
                        <a:t>a b c d e</a:t>
                      </a:r>
                    </a:p>
                  </a:txBody>
                  <a:tcPr marL="114300" marR="114300" marT="152400" marB="152400" anchor="ctr"/>
                </a:tc>
                <a:tc>
                  <a:txBody>
                    <a:bodyPr/>
                    <a:lstStyle/>
                    <a:p>
                      <a:pPr algn="ctr" fontAlgn="ctr"/>
                      <a:r>
                        <a:rPr lang="pt-BR" dirty="0">
                          <a:solidFill>
                            <a:srgbClr val="333333"/>
                          </a:solidFill>
                          <a:effectLst/>
                        </a:rPr>
                        <a:t>c b d e a</a:t>
                      </a:r>
                    </a:p>
                  </a:txBody>
                  <a:tcPr marL="114300" marR="114300" marT="152400" marB="152400" anchor="ctr"/>
                </a:tc>
                <a:extLst>
                  <a:ext uri="{0D108BD9-81ED-4DB2-BD59-A6C34878D82A}">
                    <a16:rowId xmlns:a16="http://schemas.microsoft.com/office/drawing/2014/main" val="1388432749"/>
                  </a:ext>
                </a:extLst>
              </a:tr>
              <a:tr h="0">
                <a:tc>
                  <a:txBody>
                    <a:bodyPr/>
                    <a:lstStyle/>
                    <a:p>
                      <a:pPr algn="ctr" fontAlgn="ctr"/>
                      <a:r>
                        <a:rPr lang="ru-RU" dirty="0">
                          <a:solidFill>
                            <a:srgbClr val="333333"/>
                          </a:solidFill>
                          <a:effectLst/>
                        </a:rPr>
                        <a:t>2</a:t>
                      </a:r>
                    </a:p>
                  </a:txBody>
                  <a:tcPr marL="114300" marR="114300" marT="152400" marB="152400" anchor="ctr"/>
                </a:tc>
                <a:tc>
                  <a:txBody>
                    <a:bodyPr/>
                    <a:lstStyle/>
                    <a:p>
                      <a:pPr algn="ctr" fontAlgn="ctr"/>
                      <a:r>
                        <a:rPr lang="en-US" dirty="0">
                          <a:solidFill>
                            <a:srgbClr val="333333"/>
                          </a:solidFill>
                          <a:effectLst/>
                        </a:rPr>
                        <a:t>a b c</a:t>
                      </a:r>
                    </a:p>
                  </a:txBody>
                  <a:tcPr marL="114300" marR="114300" marT="152400" marB="152400" anchor="ctr"/>
                </a:tc>
                <a:tc>
                  <a:txBody>
                    <a:bodyPr/>
                    <a:lstStyle/>
                    <a:p>
                      <a:pPr algn="ctr" fontAlgn="ctr"/>
                      <a:r>
                        <a:rPr lang="en-US">
                          <a:solidFill>
                            <a:srgbClr val="333333"/>
                          </a:solidFill>
                          <a:effectLst/>
                        </a:rPr>
                        <a:t>c b a</a:t>
                      </a:r>
                    </a:p>
                  </a:txBody>
                  <a:tcPr marL="114300" marR="114300" marT="152400" marB="152400" anchor="ctr"/>
                </a:tc>
                <a:extLst>
                  <a:ext uri="{0D108BD9-81ED-4DB2-BD59-A6C34878D82A}">
                    <a16:rowId xmlns:a16="http://schemas.microsoft.com/office/drawing/2014/main" val="642341836"/>
                  </a:ext>
                </a:extLst>
              </a:tr>
              <a:tr h="0">
                <a:tc>
                  <a:txBody>
                    <a:bodyPr/>
                    <a:lstStyle/>
                    <a:p>
                      <a:pPr algn="ctr" fontAlgn="ctr"/>
                      <a:r>
                        <a:rPr lang="ru-RU" dirty="0">
                          <a:solidFill>
                            <a:srgbClr val="333333"/>
                          </a:solidFill>
                          <a:effectLst/>
                        </a:rPr>
                        <a:t>3</a:t>
                      </a:r>
                    </a:p>
                  </a:txBody>
                  <a:tcPr marL="114300" marR="114300" marT="152400" marB="152400" anchor="ctr"/>
                </a:tc>
                <a:tc>
                  <a:txBody>
                    <a:bodyPr/>
                    <a:lstStyle/>
                    <a:p>
                      <a:pPr algn="ctr" fontAlgn="ctr"/>
                      <a:r>
                        <a:rPr lang="en-US">
                          <a:solidFill>
                            <a:srgbClr val="333333"/>
                          </a:solidFill>
                          <a:effectLst/>
                        </a:rPr>
                        <a:t>a c d e</a:t>
                      </a:r>
                    </a:p>
                  </a:txBody>
                  <a:tcPr marL="114300" marR="114300" marT="152400" marB="152400" anchor="ctr"/>
                </a:tc>
                <a:tc>
                  <a:txBody>
                    <a:bodyPr/>
                    <a:lstStyle/>
                    <a:p>
                      <a:pPr algn="ctr" fontAlgn="ctr"/>
                      <a:r>
                        <a:rPr lang="en-US" dirty="0">
                          <a:solidFill>
                            <a:srgbClr val="333333"/>
                          </a:solidFill>
                          <a:effectLst/>
                        </a:rPr>
                        <a:t>c d e a</a:t>
                      </a:r>
                    </a:p>
                  </a:txBody>
                  <a:tcPr marL="114300" marR="114300" marT="152400" marB="152400" anchor="ctr"/>
                </a:tc>
                <a:extLst>
                  <a:ext uri="{0D108BD9-81ED-4DB2-BD59-A6C34878D82A}">
                    <a16:rowId xmlns:a16="http://schemas.microsoft.com/office/drawing/2014/main" val="4204022500"/>
                  </a:ext>
                </a:extLst>
              </a:tr>
              <a:tr h="0">
                <a:tc>
                  <a:txBody>
                    <a:bodyPr/>
                    <a:lstStyle/>
                    <a:p>
                      <a:pPr algn="ctr" fontAlgn="ctr"/>
                      <a:r>
                        <a:rPr lang="ru-RU" dirty="0">
                          <a:solidFill>
                            <a:srgbClr val="333333"/>
                          </a:solidFill>
                          <a:effectLst/>
                        </a:rPr>
                        <a:t>4</a:t>
                      </a:r>
                    </a:p>
                  </a:txBody>
                  <a:tcPr marL="114300" marR="114300" marT="152400" marB="152400" anchor="ctr"/>
                </a:tc>
                <a:tc>
                  <a:txBody>
                    <a:bodyPr/>
                    <a:lstStyle/>
                    <a:p>
                      <a:pPr algn="ctr" fontAlgn="ctr"/>
                      <a:r>
                        <a:rPr lang="en-US">
                          <a:solidFill>
                            <a:srgbClr val="333333"/>
                          </a:solidFill>
                          <a:effectLst/>
                        </a:rPr>
                        <a:t>b c d e</a:t>
                      </a:r>
                    </a:p>
                  </a:txBody>
                  <a:tcPr marL="114300" marR="114300" marT="152400" marB="152400" anchor="ctr"/>
                </a:tc>
                <a:tc>
                  <a:txBody>
                    <a:bodyPr/>
                    <a:lstStyle/>
                    <a:p>
                      <a:pPr algn="ctr" fontAlgn="ctr"/>
                      <a:r>
                        <a:rPr lang="en-US">
                          <a:solidFill>
                            <a:srgbClr val="333333"/>
                          </a:solidFill>
                          <a:effectLst/>
                        </a:rPr>
                        <a:t>c b d e</a:t>
                      </a:r>
                    </a:p>
                  </a:txBody>
                  <a:tcPr marL="114300" marR="114300" marT="152400" marB="152400" anchor="ctr"/>
                </a:tc>
                <a:extLst>
                  <a:ext uri="{0D108BD9-81ED-4DB2-BD59-A6C34878D82A}">
                    <a16:rowId xmlns:a16="http://schemas.microsoft.com/office/drawing/2014/main" val="1259860343"/>
                  </a:ext>
                </a:extLst>
              </a:tr>
              <a:tr h="0">
                <a:tc>
                  <a:txBody>
                    <a:bodyPr/>
                    <a:lstStyle/>
                    <a:p>
                      <a:pPr algn="ctr" fontAlgn="ctr"/>
                      <a:r>
                        <a:rPr lang="ru-RU" dirty="0">
                          <a:solidFill>
                            <a:srgbClr val="333333"/>
                          </a:solidFill>
                          <a:effectLst/>
                        </a:rPr>
                        <a:t>5</a:t>
                      </a:r>
                    </a:p>
                  </a:txBody>
                  <a:tcPr marL="114300" marR="114300" marT="152400" marB="152400" anchor="ctr"/>
                </a:tc>
                <a:tc>
                  <a:txBody>
                    <a:bodyPr/>
                    <a:lstStyle/>
                    <a:p>
                      <a:pPr algn="ctr" fontAlgn="ctr"/>
                      <a:r>
                        <a:rPr lang="en-US">
                          <a:solidFill>
                            <a:srgbClr val="333333"/>
                          </a:solidFill>
                          <a:effectLst/>
                        </a:rPr>
                        <a:t>b c</a:t>
                      </a:r>
                    </a:p>
                  </a:txBody>
                  <a:tcPr marL="114300" marR="114300" marT="152400" marB="152400" anchor="ctr"/>
                </a:tc>
                <a:tc>
                  <a:txBody>
                    <a:bodyPr/>
                    <a:lstStyle/>
                    <a:p>
                      <a:pPr algn="ctr" fontAlgn="ctr"/>
                      <a:r>
                        <a:rPr lang="en-US">
                          <a:solidFill>
                            <a:srgbClr val="333333"/>
                          </a:solidFill>
                          <a:effectLst/>
                        </a:rPr>
                        <a:t>c b</a:t>
                      </a:r>
                    </a:p>
                  </a:txBody>
                  <a:tcPr marL="114300" marR="114300" marT="152400" marB="152400" anchor="ctr"/>
                </a:tc>
                <a:extLst>
                  <a:ext uri="{0D108BD9-81ED-4DB2-BD59-A6C34878D82A}">
                    <a16:rowId xmlns:a16="http://schemas.microsoft.com/office/drawing/2014/main" val="1299323925"/>
                  </a:ext>
                </a:extLst>
              </a:tr>
              <a:tr h="0">
                <a:tc>
                  <a:txBody>
                    <a:bodyPr/>
                    <a:lstStyle/>
                    <a:p>
                      <a:pPr algn="ctr" fontAlgn="ctr"/>
                      <a:r>
                        <a:rPr lang="ru-RU" dirty="0">
                          <a:solidFill>
                            <a:srgbClr val="333333"/>
                          </a:solidFill>
                          <a:effectLst/>
                        </a:rPr>
                        <a:t>6</a:t>
                      </a:r>
                    </a:p>
                  </a:txBody>
                  <a:tcPr marL="114300" marR="114300" marT="152400" marB="152400" anchor="ctr"/>
                </a:tc>
                <a:tc>
                  <a:txBody>
                    <a:bodyPr/>
                    <a:lstStyle/>
                    <a:p>
                      <a:pPr algn="ctr" fontAlgn="ctr"/>
                      <a:r>
                        <a:rPr lang="en-US">
                          <a:solidFill>
                            <a:srgbClr val="333333"/>
                          </a:solidFill>
                          <a:effectLst/>
                        </a:rPr>
                        <a:t>b d e</a:t>
                      </a:r>
                    </a:p>
                  </a:txBody>
                  <a:tcPr marL="114300" marR="114300" marT="152400" marB="152400" anchor="ctr"/>
                </a:tc>
                <a:tc>
                  <a:txBody>
                    <a:bodyPr/>
                    <a:lstStyle/>
                    <a:p>
                      <a:pPr algn="ctr" fontAlgn="ctr"/>
                      <a:r>
                        <a:rPr lang="en-US" dirty="0">
                          <a:solidFill>
                            <a:srgbClr val="333333"/>
                          </a:solidFill>
                          <a:effectLst/>
                        </a:rPr>
                        <a:t>b d e</a:t>
                      </a:r>
                    </a:p>
                  </a:txBody>
                  <a:tcPr marL="114300" marR="114300" marT="152400" marB="152400" anchor="ctr"/>
                </a:tc>
                <a:extLst>
                  <a:ext uri="{0D108BD9-81ED-4DB2-BD59-A6C34878D82A}">
                    <a16:rowId xmlns:a16="http://schemas.microsoft.com/office/drawing/2014/main" val="574086782"/>
                  </a:ext>
                </a:extLst>
              </a:tr>
              <a:tr h="0">
                <a:tc>
                  <a:txBody>
                    <a:bodyPr/>
                    <a:lstStyle/>
                    <a:p>
                      <a:pPr algn="ctr" fontAlgn="ctr"/>
                      <a:r>
                        <a:rPr lang="ru-RU" dirty="0">
                          <a:solidFill>
                            <a:srgbClr val="333333"/>
                          </a:solidFill>
                          <a:effectLst/>
                        </a:rPr>
                        <a:t>7</a:t>
                      </a:r>
                    </a:p>
                  </a:txBody>
                  <a:tcPr marL="114300" marR="114300" marT="152400" marB="152400" anchor="ctr"/>
                </a:tc>
                <a:tc>
                  <a:txBody>
                    <a:bodyPr/>
                    <a:lstStyle/>
                    <a:p>
                      <a:pPr algn="ctr" fontAlgn="ctr"/>
                      <a:r>
                        <a:rPr lang="en-US" dirty="0">
                          <a:solidFill>
                            <a:srgbClr val="333333"/>
                          </a:solidFill>
                          <a:effectLst/>
                        </a:rPr>
                        <a:t>c d e</a:t>
                      </a:r>
                    </a:p>
                  </a:txBody>
                  <a:tcPr marL="114300" marR="114300" marT="152400" marB="152400" anchor="ctr"/>
                </a:tc>
                <a:tc>
                  <a:txBody>
                    <a:bodyPr/>
                    <a:lstStyle/>
                    <a:p>
                      <a:pPr algn="ctr" fontAlgn="ctr"/>
                      <a:r>
                        <a:rPr lang="en-US" dirty="0">
                          <a:solidFill>
                            <a:srgbClr val="333333"/>
                          </a:solidFill>
                          <a:effectLst/>
                        </a:rPr>
                        <a:t>c d e</a:t>
                      </a:r>
                    </a:p>
                  </a:txBody>
                  <a:tcPr marL="114300" marR="114300" marT="152400" marB="152400" anchor="ctr"/>
                </a:tc>
                <a:extLst>
                  <a:ext uri="{0D108BD9-81ED-4DB2-BD59-A6C34878D82A}">
                    <a16:rowId xmlns:a16="http://schemas.microsoft.com/office/drawing/2014/main" val="2090856779"/>
                  </a:ext>
                </a:extLst>
              </a:tr>
            </a:tbl>
          </a:graphicData>
        </a:graphic>
      </p:graphicFrame>
      <p:sp>
        <p:nvSpPr>
          <p:cNvPr id="4" name="Нижний колонтитул 3">
            <a:extLst>
              <a:ext uri="{FF2B5EF4-FFF2-40B4-BE49-F238E27FC236}">
                <a16:creationId xmlns:a16="http://schemas.microsoft.com/office/drawing/2014/main" id="{70CFA049-E011-4CAA-B719-78EDECC441CF}"/>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3DF18EB1-8A8F-483D-8CBE-831A8E89B67A}"/>
              </a:ext>
            </a:extLst>
          </p:cNvPr>
          <p:cNvSpPr>
            <a:spLocks noGrp="1"/>
          </p:cNvSpPr>
          <p:nvPr>
            <p:ph type="sldNum" sz="quarter" idx="12"/>
          </p:nvPr>
        </p:nvSpPr>
        <p:spPr/>
        <p:txBody>
          <a:bodyPr/>
          <a:lstStyle/>
          <a:p>
            <a:fld id="{81C5FB71-5E9C-41B5-9BB8-3F1EBEAEB16A}" type="slidenum">
              <a:rPr lang="ru-RU" smtClean="0"/>
              <a:t>48</a:t>
            </a:fld>
            <a:endParaRPr lang="ru-RU"/>
          </a:p>
        </p:txBody>
      </p:sp>
      <p:sp>
        <p:nvSpPr>
          <p:cNvPr id="7" name="TextBox 6">
            <a:extLst>
              <a:ext uri="{FF2B5EF4-FFF2-40B4-BE49-F238E27FC236}">
                <a16:creationId xmlns:a16="http://schemas.microsoft.com/office/drawing/2014/main" id="{D97E044C-100B-4635-92FC-00570A57BD71}"/>
              </a:ext>
            </a:extLst>
          </p:cNvPr>
          <p:cNvSpPr txBox="1"/>
          <p:nvPr/>
        </p:nvSpPr>
        <p:spPr>
          <a:xfrm>
            <a:off x="1524000" y="5715000"/>
            <a:ext cx="6238875" cy="369332"/>
          </a:xfrm>
          <a:prstGeom prst="rect">
            <a:avLst/>
          </a:prstGeom>
          <a:noFill/>
        </p:spPr>
        <p:txBody>
          <a:bodyPr wrap="square" rtlCol="0">
            <a:spAutoFit/>
          </a:bodyPr>
          <a:lstStyle/>
          <a:p>
            <a:r>
              <a:rPr lang="en-US" dirty="0"/>
              <a:t>c </a:t>
            </a:r>
            <a:r>
              <a:rPr lang="ru-RU" dirty="0"/>
              <a:t>на 1-ом месте, </a:t>
            </a:r>
            <a:r>
              <a:rPr lang="en-US" dirty="0"/>
              <a:t>b </a:t>
            </a:r>
            <a:r>
              <a:rPr lang="ru-RU" dirty="0"/>
              <a:t>на 2-м, </a:t>
            </a:r>
            <a:r>
              <a:rPr lang="en-US" dirty="0"/>
              <a:t>d </a:t>
            </a:r>
            <a:r>
              <a:rPr lang="ru-RU" dirty="0"/>
              <a:t>на 3-м, е на 4-м, </a:t>
            </a:r>
            <a:r>
              <a:rPr lang="en-US" dirty="0"/>
              <a:t>a </a:t>
            </a:r>
            <a:r>
              <a:rPr lang="ru-RU" dirty="0"/>
              <a:t>на 5-м</a:t>
            </a:r>
          </a:p>
        </p:txBody>
      </p:sp>
    </p:spTree>
    <p:extLst>
      <p:ext uri="{BB962C8B-B14F-4D97-AF65-F5344CB8AC3E}">
        <p14:creationId xmlns:p14="http://schemas.microsoft.com/office/powerpoint/2010/main" val="16541484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E8E72F-F14C-4056-BEFD-D3BB6672BE72}"/>
              </a:ext>
            </a:extLst>
          </p:cNvPr>
          <p:cNvSpPr>
            <a:spLocks noGrp="1"/>
          </p:cNvSpPr>
          <p:nvPr>
            <p:ph type="title"/>
          </p:nvPr>
        </p:nvSpPr>
        <p:spPr/>
        <p:txBody>
          <a:bodyPr/>
          <a:lstStyle/>
          <a:p>
            <a:pPr algn="ctr"/>
            <a:r>
              <a:rPr lang="ru-RU" b="0" i="0" dirty="0">
                <a:solidFill>
                  <a:srgbClr val="333333"/>
                </a:solidFill>
                <a:effectLst/>
                <a:latin typeface="Source Sans Pro" panose="020B0503030403020204" pitchFamily="34" charset="0"/>
              </a:rPr>
              <a:t>Построим </a:t>
            </a:r>
            <a:r>
              <a:rPr lang="en-US" b="0" i="0" dirty="0">
                <a:solidFill>
                  <a:srgbClr val="333333"/>
                </a:solidFill>
                <a:effectLst/>
                <a:latin typeface="Source Sans Pro" panose="020B0503030403020204" pitchFamily="34" charset="0"/>
              </a:rPr>
              <a:t>FP-</a:t>
            </a:r>
            <a:r>
              <a:rPr lang="ru-RU" b="0" i="0" dirty="0">
                <a:solidFill>
                  <a:srgbClr val="333333"/>
                </a:solidFill>
                <a:effectLst/>
                <a:latin typeface="Source Sans Pro" panose="020B0503030403020204" pitchFamily="34" charset="0"/>
              </a:rPr>
              <a:t>дерево</a:t>
            </a:r>
            <a:endParaRPr lang="ru-RU" dirty="0"/>
          </a:p>
        </p:txBody>
      </p:sp>
      <p:sp>
        <p:nvSpPr>
          <p:cNvPr id="3" name="Объект 2">
            <a:extLst>
              <a:ext uri="{FF2B5EF4-FFF2-40B4-BE49-F238E27FC236}">
                <a16:creationId xmlns:a16="http://schemas.microsoft.com/office/drawing/2014/main" id="{D6C28B95-D009-4E45-B750-788F35F011EC}"/>
              </a:ext>
            </a:extLst>
          </p:cNvPr>
          <p:cNvSpPr>
            <a:spLocks noGrp="1"/>
          </p:cNvSpPr>
          <p:nvPr>
            <p:ph idx="1"/>
          </p:nvPr>
        </p:nvSpPr>
        <p:spPr/>
        <p:txBody>
          <a:bodyPr/>
          <a:lstStyle/>
          <a:p>
            <a:pPr marL="0" indent="0" algn="just">
              <a:buNone/>
            </a:pPr>
            <a:r>
              <a:rPr lang="ru-RU" b="0" i="0" dirty="0">
                <a:solidFill>
                  <a:srgbClr val="333333"/>
                </a:solidFill>
                <a:effectLst/>
                <a:latin typeface="Source Sans Pro" panose="020B0503030403020204" pitchFamily="34" charset="0"/>
              </a:rPr>
              <a:t>Создадим начальный (корневой) узел FP-дерева, который обычно обозначают ROOT (от англ. </a:t>
            </a:r>
            <a:r>
              <a:rPr lang="ru-RU" b="0" i="0" dirty="0" err="1">
                <a:solidFill>
                  <a:srgbClr val="333333"/>
                </a:solidFill>
                <a:effectLst/>
                <a:latin typeface="Source Sans Pro" panose="020B0503030403020204" pitchFamily="34" charset="0"/>
              </a:rPr>
              <a:t>root</a:t>
            </a:r>
            <a:r>
              <a:rPr lang="ru-RU" b="0" i="0" dirty="0">
                <a:solidFill>
                  <a:srgbClr val="333333"/>
                </a:solidFill>
                <a:effectLst/>
                <a:latin typeface="Source Sans Pro" panose="020B0503030403020204" pitchFamily="34" charset="0"/>
              </a:rPr>
              <a:t> – корень).</a:t>
            </a:r>
          </a:p>
          <a:p>
            <a:pPr marL="0" indent="0" algn="just">
              <a:buNone/>
            </a:pPr>
            <a:r>
              <a:rPr lang="ru-RU" b="0" i="0" dirty="0">
                <a:solidFill>
                  <a:srgbClr val="333333"/>
                </a:solidFill>
                <a:effectLst/>
                <a:latin typeface="Source Sans Pro" panose="020B0503030403020204" pitchFamily="34" charset="0"/>
              </a:rPr>
              <a:t>Начнем построение дерева с транзакции №1 для упорядоченных предметных наборов, т.е. </a:t>
            </a:r>
            <a:r>
              <a:rPr lang="ru-RU" b="1" i="0" dirty="0">
                <a:solidFill>
                  <a:srgbClr val="333333"/>
                </a:solidFill>
                <a:effectLst/>
                <a:latin typeface="Source Sans Pro" panose="020B0503030403020204" pitchFamily="34" charset="0"/>
              </a:rPr>
              <a:t>(c b d e a)</a:t>
            </a:r>
            <a:r>
              <a:rPr lang="ru-RU" b="0" i="0" dirty="0">
                <a:solidFill>
                  <a:srgbClr val="333333"/>
                </a:solidFill>
                <a:effectLst/>
                <a:latin typeface="Source Sans Pro" panose="020B0503030403020204" pitchFamily="34" charset="0"/>
              </a:rPr>
              <a:t>, рис. 1. При построении дерева будем придерживаться следующего правила.</a:t>
            </a:r>
          </a:p>
          <a:p>
            <a:pPr marL="0" indent="0" algn="just">
              <a:buNone/>
            </a:pPr>
            <a:r>
              <a:rPr lang="ru-RU" b="1" i="0" dirty="0">
                <a:solidFill>
                  <a:srgbClr val="333333"/>
                </a:solidFill>
                <a:effectLst/>
                <a:latin typeface="Source Sans Pro" panose="020B0503030403020204" pitchFamily="34" charset="0"/>
              </a:rPr>
              <a:t>Правило.</a:t>
            </a:r>
            <a:r>
              <a:rPr lang="ru-RU" b="0" i="0" dirty="0">
                <a:solidFill>
                  <a:srgbClr val="333333"/>
                </a:solidFill>
                <a:effectLst/>
                <a:latin typeface="Source Sans Pro" panose="020B0503030403020204" pitchFamily="34" charset="0"/>
              </a:rPr>
              <a:t> Если для очередного предмета в FP-дереве уже содержится узел, то для предмета не создается новый узел, а индекс существующего увеличивается на 1. В противном случае для этого предмета создается новый узел и ему присваивается индекс 1.</a:t>
            </a:r>
          </a:p>
          <a:p>
            <a:pPr marL="0" indent="0">
              <a:buNone/>
            </a:pPr>
            <a:endParaRPr lang="ru-RU" dirty="0"/>
          </a:p>
        </p:txBody>
      </p:sp>
      <p:sp>
        <p:nvSpPr>
          <p:cNvPr id="4" name="Нижний колонтитул 3">
            <a:extLst>
              <a:ext uri="{FF2B5EF4-FFF2-40B4-BE49-F238E27FC236}">
                <a16:creationId xmlns:a16="http://schemas.microsoft.com/office/drawing/2014/main" id="{45DE195F-986E-459C-9CFA-15DC5753419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5EB5365-9765-4584-91C2-48ADCCF3589E}"/>
              </a:ext>
            </a:extLst>
          </p:cNvPr>
          <p:cNvSpPr>
            <a:spLocks noGrp="1"/>
          </p:cNvSpPr>
          <p:nvPr>
            <p:ph type="sldNum" sz="quarter" idx="12"/>
          </p:nvPr>
        </p:nvSpPr>
        <p:spPr/>
        <p:txBody>
          <a:bodyPr/>
          <a:lstStyle/>
          <a:p>
            <a:fld id="{81C5FB71-5E9C-41B5-9BB8-3F1EBEAEB16A}" type="slidenum">
              <a:rPr lang="ru-RU" smtClean="0"/>
              <a:t>49</a:t>
            </a:fld>
            <a:endParaRPr lang="ru-RU"/>
          </a:p>
        </p:txBody>
      </p:sp>
    </p:spTree>
    <p:extLst>
      <p:ext uri="{BB962C8B-B14F-4D97-AF65-F5344CB8AC3E}">
        <p14:creationId xmlns:p14="http://schemas.microsoft.com/office/powerpoint/2010/main" val="38026377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E8E72F-F14C-4056-BEFD-D3BB6672BE72}"/>
              </a:ext>
            </a:extLst>
          </p:cNvPr>
          <p:cNvSpPr>
            <a:spLocks noGrp="1"/>
          </p:cNvSpPr>
          <p:nvPr>
            <p:ph type="title"/>
          </p:nvPr>
        </p:nvSpPr>
        <p:spPr>
          <a:xfrm>
            <a:off x="628650" y="70791"/>
            <a:ext cx="7886700" cy="615009"/>
          </a:xfrm>
        </p:spPr>
        <p:txBody>
          <a:bodyPr/>
          <a:lstStyle/>
          <a:p>
            <a:pPr algn="ctr"/>
            <a:r>
              <a:rPr lang="ru-RU" b="0" i="0" dirty="0">
                <a:solidFill>
                  <a:srgbClr val="333333"/>
                </a:solidFill>
                <a:effectLst/>
                <a:latin typeface="Source Sans Pro" panose="020B0503030403020204" pitchFamily="34" charset="0"/>
              </a:rPr>
              <a:t>Построим </a:t>
            </a:r>
            <a:r>
              <a:rPr lang="en-US" b="0" i="0" dirty="0">
                <a:solidFill>
                  <a:srgbClr val="333333"/>
                </a:solidFill>
                <a:effectLst/>
                <a:latin typeface="Source Sans Pro" panose="020B0503030403020204" pitchFamily="34" charset="0"/>
              </a:rPr>
              <a:t>FP-</a:t>
            </a:r>
            <a:r>
              <a:rPr lang="ru-RU" b="0" i="0" dirty="0">
                <a:solidFill>
                  <a:srgbClr val="333333"/>
                </a:solidFill>
                <a:effectLst/>
                <a:latin typeface="Source Sans Pro" panose="020B0503030403020204" pitchFamily="34" charset="0"/>
              </a:rPr>
              <a:t>дерево для транзакции № 1</a:t>
            </a:r>
            <a:endParaRPr lang="ru-RU" dirty="0"/>
          </a:p>
        </p:txBody>
      </p:sp>
      <p:sp>
        <p:nvSpPr>
          <p:cNvPr id="3" name="Объект 2">
            <a:extLst>
              <a:ext uri="{FF2B5EF4-FFF2-40B4-BE49-F238E27FC236}">
                <a16:creationId xmlns:a16="http://schemas.microsoft.com/office/drawing/2014/main" id="{D6C28B95-D009-4E45-B750-788F35F011EC}"/>
              </a:ext>
            </a:extLst>
          </p:cNvPr>
          <p:cNvSpPr>
            <a:spLocks noGrp="1"/>
          </p:cNvSpPr>
          <p:nvPr>
            <p:ph idx="1"/>
          </p:nvPr>
        </p:nvSpPr>
        <p:spPr>
          <a:xfrm>
            <a:off x="628650" y="4311529"/>
            <a:ext cx="7886700" cy="2301876"/>
          </a:xfrm>
        </p:spPr>
        <p:txBody>
          <a:bodyPr>
            <a:normAutofit fontScale="92500"/>
          </a:bodyPr>
          <a:lstStyle/>
          <a:p>
            <a:pPr marL="0" indent="0" algn="just">
              <a:buNone/>
            </a:pPr>
            <a:r>
              <a:rPr lang="ru-RU" b="0" i="0" dirty="0">
                <a:solidFill>
                  <a:srgbClr val="333333"/>
                </a:solidFill>
                <a:effectLst/>
                <a:latin typeface="Source Sans Pro" panose="020B0503030403020204" pitchFamily="34" charset="0"/>
              </a:rPr>
              <a:t>Сначала берем предмет </a:t>
            </a:r>
            <a:r>
              <a:rPr lang="ru-RU" b="1" i="0" dirty="0">
                <a:solidFill>
                  <a:srgbClr val="333333"/>
                </a:solidFill>
                <a:effectLst/>
                <a:latin typeface="Source Sans Pro" panose="020B0503030403020204" pitchFamily="34" charset="0"/>
              </a:rPr>
              <a:t>с</a:t>
            </a:r>
            <a:r>
              <a:rPr lang="ru-RU" b="0" i="0" dirty="0">
                <a:solidFill>
                  <a:srgbClr val="333333"/>
                </a:solidFill>
                <a:effectLst/>
                <a:latin typeface="Source Sans Pro" panose="020B0503030403020204" pitchFamily="34" charset="0"/>
              </a:rPr>
              <a:t> из транзакции №1. Поскольку он является первым, то создаем для него узел и соединяем с родительским (корневым </a:t>
            </a:r>
            <a:r>
              <a:rPr lang="en-US" b="0" i="0" dirty="0">
                <a:solidFill>
                  <a:srgbClr val="333333"/>
                </a:solidFill>
                <a:effectLst/>
                <a:latin typeface="Source Sans Pro" panose="020B0503030403020204" pitchFamily="34" charset="0"/>
              </a:rPr>
              <a:t>- root</a:t>
            </a:r>
            <a:r>
              <a:rPr lang="ru-RU" b="0" i="0" dirty="0">
                <a:solidFill>
                  <a:srgbClr val="333333"/>
                </a:solidFill>
                <a:effectLst/>
                <a:latin typeface="Source Sans Pro" panose="020B0503030403020204" pitchFamily="34" charset="0"/>
              </a:rPr>
              <a:t>)</a:t>
            </a:r>
            <a:r>
              <a:rPr lang="en-US" b="0" i="0" dirty="0">
                <a:solidFill>
                  <a:srgbClr val="333333"/>
                </a:solidFill>
                <a:effectLst/>
                <a:latin typeface="Source Sans Pro" panose="020B0503030403020204" pitchFamily="34" charset="0"/>
              </a:rPr>
              <a:t> </a:t>
            </a:r>
            <a:r>
              <a:rPr lang="ru-RU" b="0" i="0" dirty="0">
                <a:solidFill>
                  <a:srgbClr val="333333"/>
                </a:solidFill>
                <a:effectLst/>
                <a:latin typeface="Source Sans Pro" panose="020B0503030403020204" pitchFamily="34" charset="0"/>
              </a:rPr>
              <a:t>(случай </a:t>
            </a:r>
            <a:r>
              <a:rPr lang="ru-RU" dirty="0">
                <a:solidFill>
                  <a:srgbClr val="333333"/>
                </a:solidFill>
                <a:latin typeface="Source Sans Pro" panose="020B0503030403020204" pitchFamily="34" charset="0"/>
              </a:rPr>
              <a:t>а на рис.</a:t>
            </a:r>
            <a:r>
              <a:rPr lang="ru-RU" b="0" i="0" dirty="0">
                <a:solidFill>
                  <a:srgbClr val="333333"/>
                </a:solidFill>
                <a:effectLst/>
                <a:latin typeface="Source Sans Pro" panose="020B0503030403020204" pitchFamily="34" charset="0"/>
              </a:rPr>
              <a:t>). Затем берем следующий предмет </a:t>
            </a:r>
            <a:r>
              <a:rPr lang="ru-RU" b="1" i="0" dirty="0">
                <a:solidFill>
                  <a:srgbClr val="333333"/>
                </a:solidFill>
                <a:effectLst/>
                <a:latin typeface="Source Sans Pro" panose="020B0503030403020204" pitchFamily="34" charset="0"/>
              </a:rPr>
              <a:t>b</a:t>
            </a:r>
            <a:r>
              <a:rPr lang="ru-RU" b="0" i="0" dirty="0">
                <a:solidFill>
                  <a:srgbClr val="333333"/>
                </a:solidFill>
                <a:effectLst/>
                <a:latin typeface="Source Sans Pro" panose="020B0503030403020204" pitchFamily="34" charset="0"/>
              </a:rPr>
              <a:t> и поскольку других узлов с тем же именем FP-дерево пока не содержит, добавляем его в виде нового узла, потомка узла с (случай б на рисунке). Таким же образом создаем узлы для предметов </a:t>
            </a:r>
            <a:r>
              <a:rPr lang="ru-RU" b="1" i="0" dirty="0">
                <a:solidFill>
                  <a:srgbClr val="333333"/>
                </a:solidFill>
                <a:effectLst/>
                <a:latin typeface="Source Sans Pro" panose="020B0503030403020204" pitchFamily="34" charset="0"/>
              </a:rPr>
              <a:t>d</a:t>
            </a:r>
            <a:r>
              <a:rPr lang="ru-RU" b="0" i="0" dirty="0">
                <a:solidFill>
                  <a:srgbClr val="333333"/>
                </a:solidFill>
                <a:effectLst/>
                <a:latin typeface="Source Sans Pro" panose="020B0503030403020204" pitchFamily="34" charset="0"/>
              </a:rPr>
              <a:t>, </a:t>
            </a:r>
            <a:r>
              <a:rPr lang="ru-RU" b="1" i="0" dirty="0">
                <a:solidFill>
                  <a:srgbClr val="333333"/>
                </a:solidFill>
                <a:effectLst/>
                <a:latin typeface="Source Sans Pro" panose="020B0503030403020204" pitchFamily="34" charset="0"/>
              </a:rPr>
              <a:t>e</a:t>
            </a:r>
            <a:r>
              <a:rPr lang="ru-RU" b="0" i="0" dirty="0">
                <a:solidFill>
                  <a:srgbClr val="333333"/>
                </a:solidFill>
                <a:effectLst/>
                <a:latin typeface="Source Sans Pro" panose="020B0503030403020204" pitchFamily="34" charset="0"/>
              </a:rPr>
              <a:t> и </a:t>
            </a:r>
            <a:r>
              <a:rPr lang="ru-RU" b="1" i="0" dirty="0">
                <a:solidFill>
                  <a:srgbClr val="333333"/>
                </a:solidFill>
                <a:effectLst/>
                <a:latin typeface="Source Sans Pro" panose="020B0503030403020204" pitchFamily="34" charset="0"/>
              </a:rPr>
              <a:t>a</a:t>
            </a:r>
            <a:r>
              <a:rPr lang="ru-RU" b="0" i="0" dirty="0">
                <a:solidFill>
                  <a:srgbClr val="333333"/>
                </a:solidFill>
                <a:effectLst/>
                <a:latin typeface="Source Sans Pro" panose="020B0503030403020204" pitchFamily="34" charset="0"/>
              </a:rPr>
              <a:t> из транзакции № 1 (случаи в, г, и д на рис.). На этом использование первой транзакции для построения FP-дерева закончено.</a:t>
            </a:r>
            <a:endParaRPr lang="ru-RU" dirty="0"/>
          </a:p>
        </p:txBody>
      </p:sp>
      <p:sp>
        <p:nvSpPr>
          <p:cNvPr id="4" name="Нижний колонтитул 3">
            <a:extLst>
              <a:ext uri="{FF2B5EF4-FFF2-40B4-BE49-F238E27FC236}">
                <a16:creationId xmlns:a16="http://schemas.microsoft.com/office/drawing/2014/main" id="{45DE195F-986E-459C-9CFA-15DC5753419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5EB5365-9765-4584-91C2-48ADCCF3589E}"/>
              </a:ext>
            </a:extLst>
          </p:cNvPr>
          <p:cNvSpPr>
            <a:spLocks noGrp="1"/>
          </p:cNvSpPr>
          <p:nvPr>
            <p:ph type="sldNum" sz="quarter" idx="12"/>
          </p:nvPr>
        </p:nvSpPr>
        <p:spPr/>
        <p:txBody>
          <a:bodyPr/>
          <a:lstStyle/>
          <a:p>
            <a:fld id="{81C5FB71-5E9C-41B5-9BB8-3F1EBEAEB16A}" type="slidenum">
              <a:rPr lang="ru-RU" smtClean="0"/>
              <a:t>50</a:t>
            </a:fld>
            <a:endParaRPr lang="ru-RU"/>
          </a:p>
        </p:txBody>
      </p:sp>
      <p:pic>
        <p:nvPicPr>
          <p:cNvPr id="12" name="Рисунок 11">
            <a:extLst>
              <a:ext uri="{FF2B5EF4-FFF2-40B4-BE49-F238E27FC236}">
                <a16:creationId xmlns:a16="http://schemas.microsoft.com/office/drawing/2014/main" id="{840ED811-244D-475A-A172-77B22C688466}"/>
              </a:ext>
            </a:extLst>
          </p:cNvPr>
          <p:cNvPicPr>
            <a:picLocks noChangeAspect="1"/>
          </p:cNvPicPr>
          <p:nvPr/>
        </p:nvPicPr>
        <p:blipFill>
          <a:blip r:embed="rId2"/>
          <a:stretch>
            <a:fillRect/>
          </a:stretch>
        </p:blipFill>
        <p:spPr>
          <a:xfrm>
            <a:off x="1238250" y="565270"/>
            <a:ext cx="6667500" cy="3746259"/>
          </a:xfrm>
          <a:prstGeom prst="rect">
            <a:avLst/>
          </a:prstGeom>
        </p:spPr>
      </p:pic>
    </p:spTree>
    <p:extLst>
      <p:ext uri="{BB962C8B-B14F-4D97-AF65-F5344CB8AC3E}">
        <p14:creationId xmlns:p14="http://schemas.microsoft.com/office/powerpoint/2010/main" val="23352716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E8E72F-F14C-4056-BEFD-D3BB6672BE72}"/>
              </a:ext>
            </a:extLst>
          </p:cNvPr>
          <p:cNvSpPr>
            <a:spLocks noGrp="1"/>
          </p:cNvSpPr>
          <p:nvPr>
            <p:ph type="title"/>
          </p:nvPr>
        </p:nvSpPr>
        <p:spPr>
          <a:xfrm>
            <a:off x="628650" y="70791"/>
            <a:ext cx="7886700" cy="615009"/>
          </a:xfrm>
        </p:spPr>
        <p:txBody>
          <a:bodyPr/>
          <a:lstStyle/>
          <a:p>
            <a:pPr algn="ctr"/>
            <a:r>
              <a:rPr lang="ru-RU" b="0" i="0" dirty="0">
                <a:solidFill>
                  <a:srgbClr val="333333"/>
                </a:solidFill>
                <a:effectLst/>
                <a:latin typeface="Source Sans Pro" panose="020B0503030403020204" pitchFamily="34" charset="0"/>
              </a:rPr>
              <a:t>Построим </a:t>
            </a:r>
            <a:r>
              <a:rPr lang="en-US" b="0" i="0" dirty="0">
                <a:solidFill>
                  <a:srgbClr val="333333"/>
                </a:solidFill>
                <a:effectLst/>
                <a:latin typeface="Source Sans Pro" panose="020B0503030403020204" pitchFamily="34" charset="0"/>
              </a:rPr>
              <a:t>FP-</a:t>
            </a:r>
            <a:r>
              <a:rPr lang="ru-RU" b="0" i="0" dirty="0">
                <a:solidFill>
                  <a:srgbClr val="333333"/>
                </a:solidFill>
                <a:effectLst/>
                <a:latin typeface="Source Sans Pro" panose="020B0503030403020204" pitchFamily="34" charset="0"/>
              </a:rPr>
              <a:t>дерево для транзакции № 2</a:t>
            </a:r>
            <a:endParaRPr lang="ru-RU" dirty="0"/>
          </a:p>
        </p:txBody>
      </p:sp>
      <p:sp>
        <p:nvSpPr>
          <p:cNvPr id="3" name="Объект 2">
            <a:extLst>
              <a:ext uri="{FF2B5EF4-FFF2-40B4-BE49-F238E27FC236}">
                <a16:creationId xmlns:a16="http://schemas.microsoft.com/office/drawing/2014/main" id="{D6C28B95-D009-4E45-B750-788F35F011EC}"/>
              </a:ext>
            </a:extLst>
          </p:cNvPr>
          <p:cNvSpPr>
            <a:spLocks noGrp="1"/>
          </p:cNvSpPr>
          <p:nvPr>
            <p:ph idx="1"/>
          </p:nvPr>
        </p:nvSpPr>
        <p:spPr>
          <a:xfrm>
            <a:off x="457200" y="4031947"/>
            <a:ext cx="8229600" cy="2689529"/>
          </a:xfrm>
        </p:spPr>
        <p:txBody>
          <a:bodyPr>
            <a:normAutofit fontScale="92500" lnSpcReduction="20000"/>
          </a:bodyPr>
          <a:lstStyle/>
          <a:p>
            <a:pPr marL="0" indent="0" algn="just">
              <a:buNone/>
            </a:pPr>
            <a:r>
              <a:rPr lang="ru-RU" b="0" i="0" dirty="0">
                <a:solidFill>
                  <a:srgbClr val="333333"/>
                </a:solidFill>
                <a:effectLst/>
                <a:latin typeface="Source Sans Pro" panose="020B0503030403020204" pitchFamily="34" charset="0"/>
              </a:rPr>
              <a:t>Для транзакции № 2, содержащей предметы </a:t>
            </a:r>
            <a:r>
              <a:rPr lang="ru-RU" b="1" i="0" dirty="0">
                <a:solidFill>
                  <a:srgbClr val="333333"/>
                </a:solidFill>
                <a:effectLst/>
                <a:latin typeface="Source Sans Pro" panose="020B0503030403020204" pitchFamily="34" charset="0"/>
              </a:rPr>
              <a:t>c</a:t>
            </a:r>
            <a:r>
              <a:rPr lang="ru-RU" b="0" i="0" dirty="0">
                <a:solidFill>
                  <a:srgbClr val="333333"/>
                </a:solidFill>
                <a:effectLst/>
                <a:latin typeface="Source Sans Pro" panose="020B0503030403020204" pitchFamily="34" charset="0"/>
              </a:rPr>
              <a:t>, </a:t>
            </a:r>
            <a:r>
              <a:rPr lang="ru-RU" b="1" i="0" dirty="0">
                <a:solidFill>
                  <a:srgbClr val="333333"/>
                </a:solidFill>
                <a:effectLst/>
                <a:latin typeface="Source Sans Pro" panose="020B0503030403020204" pitchFamily="34" charset="0"/>
              </a:rPr>
              <a:t>b</a:t>
            </a:r>
            <a:r>
              <a:rPr lang="ru-RU" b="0" i="0" dirty="0">
                <a:solidFill>
                  <a:srgbClr val="333333"/>
                </a:solidFill>
                <a:effectLst/>
                <a:latin typeface="Source Sans Pro" panose="020B0503030403020204" pitchFamily="34" charset="0"/>
              </a:rPr>
              <a:t> и </a:t>
            </a:r>
            <a:r>
              <a:rPr lang="ru-RU" b="1" i="0" dirty="0">
                <a:solidFill>
                  <a:srgbClr val="333333"/>
                </a:solidFill>
                <a:effectLst/>
                <a:latin typeface="Source Sans Pro" panose="020B0503030403020204" pitchFamily="34" charset="0"/>
              </a:rPr>
              <a:t>a</a:t>
            </a:r>
            <a:r>
              <a:rPr lang="ru-RU" b="0" i="0" dirty="0">
                <a:solidFill>
                  <a:srgbClr val="333333"/>
                </a:solidFill>
                <a:effectLst/>
                <a:latin typeface="Source Sans Pro" panose="020B0503030403020204" pitchFamily="34" charset="0"/>
              </a:rPr>
              <a:t>, выбираем первый предмет, </a:t>
            </a:r>
            <a:r>
              <a:rPr lang="ru-RU" b="1" i="0" dirty="0">
                <a:solidFill>
                  <a:srgbClr val="333333"/>
                </a:solidFill>
                <a:effectLst/>
                <a:latin typeface="Source Sans Pro" panose="020B0503030403020204" pitchFamily="34" charset="0"/>
              </a:rPr>
              <a:t>c</a:t>
            </a:r>
            <a:r>
              <a:rPr lang="ru-RU" b="0" i="0" dirty="0">
                <a:solidFill>
                  <a:srgbClr val="333333"/>
                </a:solidFill>
                <a:effectLst/>
                <a:latin typeface="Source Sans Pro" panose="020B0503030403020204" pitchFamily="34" charset="0"/>
              </a:rPr>
              <a:t>. Поскольку узел с таким именем уже существует, то в соответствии с правилом построения FP-дерева новый узел не создается, а индекс существующего увеличивается на 1 (случай а на рис.). При добавлении следующего предмета </a:t>
            </a:r>
            <a:r>
              <a:rPr lang="ru-RU" b="1" i="0" dirty="0">
                <a:solidFill>
                  <a:srgbClr val="333333"/>
                </a:solidFill>
                <a:effectLst/>
                <a:latin typeface="Source Sans Pro" panose="020B0503030403020204" pitchFamily="34" charset="0"/>
              </a:rPr>
              <a:t>b</a:t>
            </a:r>
            <a:r>
              <a:rPr lang="ru-RU" b="0" i="0" dirty="0">
                <a:solidFill>
                  <a:srgbClr val="333333"/>
                </a:solidFill>
                <a:effectLst/>
                <a:latin typeface="Source Sans Pro" panose="020B0503030403020204" pitchFamily="34" charset="0"/>
              </a:rPr>
              <a:t> используем то же правило: поскольку узел </a:t>
            </a:r>
            <a:r>
              <a:rPr lang="ru-RU" b="1" i="0" dirty="0">
                <a:solidFill>
                  <a:srgbClr val="333333"/>
                </a:solidFill>
                <a:effectLst/>
                <a:latin typeface="Source Sans Pro" panose="020B0503030403020204" pitchFamily="34" charset="0"/>
              </a:rPr>
              <a:t>b</a:t>
            </a:r>
            <a:r>
              <a:rPr lang="ru-RU" b="0" i="0" dirty="0">
                <a:solidFill>
                  <a:srgbClr val="333333"/>
                </a:solidFill>
                <a:effectLst/>
                <a:latin typeface="Source Sans Pro" panose="020B0503030403020204" pitchFamily="34" charset="0"/>
              </a:rPr>
              <a:t> является дочерним по отношению к текущему (т.е. </a:t>
            </a:r>
            <a:r>
              <a:rPr lang="ru-RU" b="1" i="0" dirty="0">
                <a:solidFill>
                  <a:srgbClr val="333333"/>
                </a:solidFill>
                <a:effectLst/>
                <a:latin typeface="Source Sans Pro" panose="020B0503030403020204" pitchFamily="34" charset="0"/>
              </a:rPr>
              <a:t>c</a:t>
            </a:r>
            <a:r>
              <a:rPr lang="ru-RU" b="0" i="0" dirty="0">
                <a:solidFill>
                  <a:srgbClr val="333333"/>
                </a:solidFill>
                <a:effectLst/>
                <a:latin typeface="Source Sans Pro" panose="020B0503030403020204" pitchFamily="34" charset="0"/>
              </a:rPr>
              <a:t>), то мы также не создаем новый узел, а увеличиваем индекс для имеющегося (случай б на рис.). </a:t>
            </a:r>
          </a:p>
          <a:p>
            <a:pPr marL="0" indent="0" algn="just">
              <a:buNone/>
            </a:pPr>
            <a:r>
              <a:rPr lang="ru-RU" b="0" i="0" dirty="0">
                <a:solidFill>
                  <a:srgbClr val="333333"/>
                </a:solidFill>
                <a:effectLst/>
                <a:latin typeface="Source Sans Pro" panose="020B0503030403020204" pitchFamily="34" charset="0"/>
              </a:rPr>
              <a:t>Для следующего предмета из второй транзакции </a:t>
            </a:r>
            <a:r>
              <a:rPr lang="ru-RU" b="1" i="0" dirty="0">
                <a:solidFill>
                  <a:srgbClr val="333333"/>
                </a:solidFill>
                <a:effectLst/>
                <a:latin typeface="Source Sans Pro" panose="020B0503030403020204" pitchFamily="34" charset="0"/>
              </a:rPr>
              <a:t>a</a:t>
            </a:r>
            <a:r>
              <a:rPr lang="ru-RU" b="0" i="0" dirty="0">
                <a:solidFill>
                  <a:srgbClr val="333333"/>
                </a:solidFill>
                <a:effectLst/>
                <a:latin typeface="Source Sans Pro" panose="020B0503030403020204" pitchFamily="34" charset="0"/>
              </a:rPr>
              <a:t> в соответствии с правилом построения FP-дерева необходимо создать новый узел, поскольку у узла </a:t>
            </a:r>
            <a:r>
              <a:rPr lang="ru-RU" b="1" i="0" dirty="0">
                <a:solidFill>
                  <a:srgbClr val="333333"/>
                </a:solidFill>
                <a:effectLst/>
                <a:latin typeface="Source Sans Pro" panose="020B0503030403020204" pitchFamily="34" charset="0"/>
              </a:rPr>
              <a:t>b</a:t>
            </a:r>
            <a:r>
              <a:rPr lang="ru-RU" b="0" i="0" dirty="0">
                <a:solidFill>
                  <a:srgbClr val="333333"/>
                </a:solidFill>
                <a:effectLst/>
                <a:latin typeface="Source Sans Pro" panose="020B0503030403020204" pitchFamily="34" charset="0"/>
              </a:rPr>
              <a:t> дочерние узлы с именем </a:t>
            </a:r>
            <a:r>
              <a:rPr lang="ru-RU" b="1" i="0" dirty="0">
                <a:solidFill>
                  <a:srgbClr val="333333"/>
                </a:solidFill>
                <a:effectLst/>
                <a:latin typeface="Source Sans Pro" panose="020B0503030403020204" pitchFamily="34" charset="0"/>
              </a:rPr>
              <a:t>a</a:t>
            </a:r>
            <a:r>
              <a:rPr lang="ru-RU" b="0" i="0" dirty="0">
                <a:solidFill>
                  <a:srgbClr val="333333"/>
                </a:solidFill>
                <a:effectLst/>
                <a:latin typeface="Source Sans Pro" panose="020B0503030403020204" pitchFamily="34" charset="0"/>
              </a:rPr>
              <a:t> отсутствуют (случай в на рис.). </a:t>
            </a:r>
          </a:p>
          <a:p>
            <a:pPr marL="0" indent="0" algn="just">
              <a:buNone/>
            </a:pPr>
            <a:endParaRPr lang="ru-RU" dirty="0"/>
          </a:p>
        </p:txBody>
      </p:sp>
      <p:sp>
        <p:nvSpPr>
          <p:cNvPr id="4" name="Нижний колонтитул 3">
            <a:extLst>
              <a:ext uri="{FF2B5EF4-FFF2-40B4-BE49-F238E27FC236}">
                <a16:creationId xmlns:a16="http://schemas.microsoft.com/office/drawing/2014/main" id="{45DE195F-986E-459C-9CFA-15DC5753419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5EB5365-9765-4584-91C2-48ADCCF3589E}"/>
              </a:ext>
            </a:extLst>
          </p:cNvPr>
          <p:cNvSpPr>
            <a:spLocks noGrp="1"/>
          </p:cNvSpPr>
          <p:nvPr>
            <p:ph type="sldNum" sz="quarter" idx="12"/>
          </p:nvPr>
        </p:nvSpPr>
        <p:spPr/>
        <p:txBody>
          <a:bodyPr/>
          <a:lstStyle/>
          <a:p>
            <a:fld id="{81C5FB71-5E9C-41B5-9BB8-3F1EBEAEB16A}" type="slidenum">
              <a:rPr lang="ru-RU" smtClean="0"/>
              <a:t>51</a:t>
            </a:fld>
            <a:endParaRPr lang="ru-RU"/>
          </a:p>
        </p:txBody>
      </p:sp>
      <p:pic>
        <p:nvPicPr>
          <p:cNvPr id="8" name="Рисунок 7">
            <a:extLst>
              <a:ext uri="{FF2B5EF4-FFF2-40B4-BE49-F238E27FC236}">
                <a16:creationId xmlns:a16="http://schemas.microsoft.com/office/drawing/2014/main" id="{59800FA9-F7DA-4E4F-9F6E-0993853CB111}"/>
              </a:ext>
            </a:extLst>
          </p:cNvPr>
          <p:cNvPicPr>
            <a:picLocks noChangeAspect="1"/>
          </p:cNvPicPr>
          <p:nvPr/>
        </p:nvPicPr>
        <p:blipFill>
          <a:blip r:embed="rId2"/>
          <a:stretch>
            <a:fillRect/>
          </a:stretch>
        </p:blipFill>
        <p:spPr>
          <a:xfrm>
            <a:off x="1458686" y="533400"/>
            <a:ext cx="6226628" cy="3498547"/>
          </a:xfrm>
          <a:prstGeom prst="rect">
            <a:avLst/>
          </a:prstGeom>
        </p:spPr>
      </p:pic>
    </p:spTree>
    <p:extLst>
      <p:ext uri="{BB962C8B-B14F-4D97-AF65-F5344CB8AC3E}">
        <p14:creationId xmlns:p14="http://schemas.microsoft.com/office/powerpoint/2010/main" val="21913341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E8E72F-F14C-4056-BEFD-D3BB6672BE72}"/>
              </a:ext>
            </a:extLst>
          </p:cNvPr>
          <p:cNvSpPr>
            <a:spLocks noGrp="1"/>
          </p:cNvSpPr>
          <p:nvPr>
            <p:ph type="title"/>
          </p:nvPr>
        </p:nvSpPr>
        <p:spPr>
          <a:xfrm>
            <a:off x="628650" y="70791"/>
            <a:ext cx="7886700" cy="615009"/>
          </a:xfrm>
        </p:spPr>
        <p:txBody>
          <a:bodyPr/>
          <a:lstStyle/>
          <a:p>
            <a:pPr algn="ctr"/>
            <a:r>
              <a:rPr lang="ru-RU" b="0" i="0" dirty="0">
                <a:solidFill>
                  <a:srgbClr val="333333"/>
                </a:solidFill>
                <a:effectLst/>
                <a:latin typeface="Source Sans Pro" panose="020B0503030403020204" pitchFamily="34" charset="0"/>
              </a:rPr>
              <a:t>Построим </a:t>
            </a:r>
            <a:r>
              <a:rPr lang="en-US" b="0" i="0" dirty="0">
                <a:solidFill>
                  <a:srgbClr val="333333"/>
                </a:solidFill>
                <a:effectLst/>
                <a:latin typeface="Source Sans Pro" panose="020B0503030403020204" pitchFamily="34" charset="0"/>
              </a:rPr>
              <a:t>FP-</a:t>
            </a:r>
            <a:r>
              <a:rPr lang="ru-RU" b="0" i="0" dirty="0">
                <a:solidFill>
                  <a:srgbClr val="333333"/>
                </a:solidFill>
                <a:effectLst/>
                <a:latin typeface="Source Sans Pro" panose="020B0503030403020204" pitchFamily="34" charset="0"/>
              </a:rPr>
              <a:t>дерево для транзакции № 3</a:t>
            </a:r>
            <a:endParaRPr lang="ru-RU" dirty="0"/>
          </a:p>
        </p:txBody>
      </p:sp>
      <p:sp>
        <p:nvSpPr>
          <p:cNvPr id="3" name="Объект 2">
            <a:extLst>
              <a:ext uri="{FF2B5EF4-FFF2-40B4-BE49-F238E27FC236}">
                <a16:creationId xmlns:a16="http://schemas.microsoft.com/office/drawing/2014/main" id="{D6C28B95-D009-4E45-B750-788F35F011EC}"/>
              </a:ext>
            </a:extLst>
          </p:cNvPr>
          <p:cNvSpPr>
            <a:spLocks noGrp="1"/>
          </p:cNvSpPr>
          <p:nvPr>
            <p:ph idx="1"/>
          </p:nvPr>
        </p:nvSpPr>
        <p:spPr>
          <a:xfrm>
            <a:off x="628650" y="4054475"/>
            <a:ext cx="7886700" cy="2301876"/>
          </a:xfrm>
        </p:spPr>
        <p:txBody>
          <a:bodyPr>
            <a:normAutofit/>
          </a:bodyPr>
          <a:lstStyle/>
          <a:p>
            <a:pPr marL="0" indent="0" algn="just">
              <a:buNone/>
            </a:pPr>
            <a:r>
              <a:rPr lang="ru-RU" b="0" i="0" dirty="0">
                <a:solidFill>
                  <a:srgbClr val="333333"/>
                </a:solidFill>
                <a:effectLst/>
                <a:latin typeface="Source Sans Pro" panose="020B0503030403020204" pitchFamily="34" charset="0"/>
              </a:rPr>
              <a:t>Транзакция № 3 содержит предметы </a:t>
            </a:r>
            <a:r>
              <a:rPr lang="ru-RU" b="1" i="0" dirty="0">
                <a:solidFill>
                  <a:srgbClr val="333333"/>
                </a:solidFill>
                <a:effectLst/>
                <a:latin typeface="Source Sans Pro" panose="020B0503030403020204" pitchFamily="34" charset="0"/>
              </a:rPr>
              <a:t>(c d e a)</a:t>
            </a:r>
            <a:r>
              <a:rPr lang="ru-RU" b="0" i="0" dirty="0">
                <a:solidFill>
                  <a:srgbClr val="333333"/>
                </a:solidFill>
                <a:effectLst/>
                <a:latin typeface="Source Sans Pro" panose="020B0503030403020204" pitchFamily="34" charset="0"/>
              </a:rPr>
              <a:t>. В соответствии с правилом построения FP-дерева, предмет </a:t>
            </a:r>
            <a:r>
              <a:rPr lang="ru-RU" b="1" i="0" dirty="0">
                <a:solidFill>
                  <a:srgbClr val="333333"/>
                </a:solidFill>
                <a:effectLst/>
                <a:latin typeface="Source Sans Pro" panose="020B0503030403020204" pitchFamily="34" charset="0"/>
              </a:rPr>
              <a:t>c</a:t>
            </a:r>
            <a:r>
              <a:rPr lang="ru-RU" b="0" i="0" dirty="0">
                <a:solidFill>
                  <a:srgbClr val="333333"/>
                </a:solidFill>
                <a:effectLst/>
                <a:latin typeface="Source Sans Pro" panose="020B0503030403020204" pitchFamily="34" charset="0"/>
              </a:rPr>
              <a:t> не создаст нового узла, а увеличит индекс уже имеющегося узла на 1 (случай а на рис.). Следующий предмет </a:t>
            </a:r>
            <a:r>
              <a:rPr lang="ru-RU" b="1" i="0" dirty="0">
                <a:solidFill>
                  <a:srgbClr val="333333"/>
                </a:solidFill>
                <a:effectLst/>
                <a:latin typeface="Source Sans Pro" panose="020B0503030403020204" pitchFamily="34" charset="0"/>
              </a:rPr>
              <a:t>d</a:t>
            </a:r>
            <a:r>
              <a:rPr lang="ru-RU" b="0" i="0" dirty="0">
                <a:solidFill>
                  <a:srgbClr val="333333"/>
                </a:solidFill>
                <a:effectLst/>
                <a:latin typeface="Source Sans Pro" panose="020B0503030403020204" pitchFamily="34" charset="0"/>
              </a:rPr>
              <a:t> породит в FP-дереве новый узел, дочерний к узлу </a:t>
            </a:r>
            <a:r>
              <a:rPr lang="ru-RU" b="1" i="0" dirty="0">
                <a:solidFill>
                  <a:srgbClr val="333333"/>
                </a:solidFill>
                <a:effectLst/>
                <a:latin typeface="Source Sans Pro" panose="020B0503030403020204" pitchFamily="34" charset="0"/>
              </a:rPr>
              <a:t>c</a:t>
            </a:r>
            <a:r>
              <a:rPr lang="ru-RU" b="0" i="0" dirty="0">
                <a:solidFill>
                  <a:srgbClr val="333333"/>
                </a:solidFill>
                <a:effectLst/>
                <a:latin typeface="Source Sans Pro" panose="020B0503030403020204" pitchFamily="34" charset="0"/>
              </a:rPr>
              <a:t>, поскольку тот не содержит потомков с таким именем (случай б на рис.). Аналогично предметы </a:t>
            </a:r>
            <a:r>
              <a:rPr lang="ru-RU" b="1" i="0" dirty="0">
                <a:solidFill>
                  <a:srgbClr val="333333"/>
                </a:solidFill>
                <a:effectLst/>
                <a:latin typeface="Source Sans Pro" panose="020B0503030403020204" pitchFamily="34" charset="0"/>
              </a:rPr>
              <a:t>e</a:t>
            </a:r>
            <a:r>
              <a:rPr lang="ru-RU" b="0" i="0" dirty="0">
                <a:solidFill>
                  <a:srgbClr val="333333"/>
                </a:solidFill>
                <a:effectLst/>
                <a:latin typeface="Source Sans Pro" panose="020B0503030403020204" pitchFamily="34" charset="0"/>
              </a:rPr>
              <a:t> и </a:t>
            </a:r>
            <a:r>
              <a:rPr lang="ru-RU" b="1" i="0" dirty="0">
                <a:solidFill>
                  <a:srgbClr val="333333"/>
                </a:solidFill>
                <a:effectLst/>
                <a:latin typeface="Source Sans Pro" panose="020B0503030403020204" pitchFamily="34" charset="0"/>
              </a:rPr>
              <a:t>a</a:t>
            </a:r>
            <a:r>
              <a:rPr lang="ru-RU" b="0" i="0" dirty="0">
                <a:solidFill>
                  <a:srgbClr val="333333"/>
                </a:solidFill>
                <a:effectLst/>
                <a:latin typeface="Source Sans Pro" panose="020B0503030403020204" pitchFamily="34" charset="0"/>
              </a:rPr>
              <a:t> создадут новые узлы – потомки </a:t>
            </a:r>
            <a:r>
              <a:rPr lang="ru-RU" b="1" i="0" dirty="0">
                <a:solidFill>
                  <a:srgbClr val="333333"/>
                </a:solidFill>
                <a:effectLst/>
                <a:latin typeface="Source Sans Pro" panose="020B0503030403020204" pitchFamily="34" charset="0"/>
              </a:rPr>
              <a:t>d</a:t>
            </a:r>
            <a:r>
              <a:rPr lang="ru-RU" b="0" i="0" dirty="0">
                <a:solidFill>
                  <a:srgbClr val="333333"/>
                </a:solidFill>
                <a:effectLst/>
                <a:latin typeface="Source Sans Pro" panose="020B0503030403020204" pitchFamily="34" charset="0"/>
              </a:rPr>
              <a:t> (</a:t>
            </a:r>
            <a:r>
              <a:rPr lang="ru-RU" dirty="0">
                <a:solidFill>
                  <a:srgbClr val="333333"/>
                </a:solidFill>
                <a:latin typeface="Source Sans Pro" panose="020B0503030403020204" pitchFamily="34" charset="0"/>
              </a:rPr>
              <a:t>случаи в, г </a:t>
            </a:r>
            <a:r>
              <a:rPr lang="ru-RU" b="0" i="0" dirty="0">
                <a:solidFill>
                  <a:srgbClr val="333333"/>
                </a:solidFill>
                <a:effectLst/>
                <a:latin typeface="Source Sans Pro" panose="020B0503030403020204" pitchFamily="34" charset="0"/>
              </a:rPr>
              <a:t>на рис.).</a:t>
            </a:r>
            <a:endParaRPr lang="ru-RU" dirty="0"/>
          </a:p>
        </p:txBody>
      </p:sp>
      <p:sp>
        <p:nvSpPr>
          <p:cNvPr id="4" name="Нижний колонтитул 3">
            <a:extLst>
              <a:ext uri="{FF2B5EF4-FFF2-40B4-BE49-F238E27FC236}">
                <a16:creationId xmlns:a16="http://schemas.microsoft.com/office/drawing/2014/main" id="{45DE195F-986E-459C-9CFA-15DC5753419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5EB5365-9765-4584-91C2-48ADCCF3589E}"/>
              </a:ext>
            </a:extLst>
          </p:cNvPr>
          <p:cNvSpPr>
            <a:spLocks noGrp="1"/>
          </p:cNvSpPr>
          <p:nvPr>
            <p:ph type="sldNum" sz="quarter" idx="12"/>
          </p:nvPr>
        </p:nvSpPr>
        <p:spPr/>
        <p:txBody>
          <a:bodyPr/>
          <a:lstStyle/>
          <a:p>
            <a:fld id="{81C5FB71-5E9C-41B5-9BB8-3F1EBEAEB16A}" type="slidenum">
              <a:rPr lang="ru-RU" smtClean="0"/>
              <a:t>52</a:t>
            </a:fld>
            <a:endParaRPr lang="ru-RU"/>
          </a:p>
        </p:txBody>
      </p:sp>
      <p:pic>
        <p:nvPicPr>
          <p:cNvPr id="9" name="Рисунок 8">
            <a:extLst>
              <a:ext uri="{FF2B5EF4-FFF2-40B4-BE49-F238E27FC236}">
                <a16:creationId xmlns:a16="http://schemas.microsoft.com/office/drawing/2014/main" id="{9D8EE653-8CD6-408C-99A7-DD1F31D8478A}"/>
              </a:ext>
            </a:extLst>
          </p:cNvPr>
          <p:cNvPicPr>
            <a:picLocks noChangeAspect="1"/>
          </p:cNvPicPr>
          <p:nvPr/>
        </p:nvPicPr>
        <p:blipFill>
          <a:blip r:embed="rId2"/>
          <a:stretch>
            <a:fillRect/>
          </a:stretch>
        </p:blipFill>
        <p:spPr>
          <a:xfrm>
            <a:off x="1352550" y="501649"/>
            <a:ext cx="6134100" cy="3446559"/>
          </a:xfrm>
          <a:prstGeom prst="rect">
            <a:avLst/>
          </a:prstGeom>
        </p:spPr>
      </p:pic>
    </p:spTree>
    <p:extLst>
      <p:ext uri="{BB962C8B-B14F-4D97-AF65-F5344CB8AC3E}">
        <p14:creationId xmlns:p14="http://schemas.microsoft.com/office/powerpoint/2010/main" val="26412210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E8E72F-F14C-4056-BEFD-D3BB6672BE72}"/>
              </a:ext>
            </a:extLst>
          </p:cNvPr>
          <p:cNvSpPr>
            <a:spLocks noGrp="1"/>
          </p:cNvSpPr>
          <p:nvPr>
            <p:ph type="title"/>
          </p:nvPr>
        </p:nvSpPr>
        <p:spPr>
          <a:xfrm>
            <a:off x="628650" y="70791"/>
            <a:ext cx="7886700" cy="615009"/>
          </a:xfrm>
        </p:spPr>
        <p:txBody>
          <a:bodyPr/>
          <a:lstStyle/>
          <a:p>
            <a:pPr algn="ctr"/>
            <a:r>
              <a:rPr lang="ru-RU" b="0" i="0" dirty="0">
                <a:solidFill>
                  <a:srgbClr val="333333"/>
                </a:solidFill>
                <a:effectLst/>
                <a:latin typeface="Source Sans Pro" panose="020B0503030403020204" pitchFamily="34" charset="0"/>
              </a:rPr>
              <a:t>Построим </a:t>
            </a:r>
            <a:r>
              <a:rPr lang="en-US" b="0" i="0" dirty="0">
                <a:solidFill>
                  <a:srgbClr val="333333"/>
                </a:solidFill>
                <a:effectLst/>
                <a:latin typeface="Source Sans Pro" panose="020B0503030403020204" pitchFamily="34" charset="0"/>
              </a:rPr>
              <a:t>FP-</a:t>
            </a:r>
            <a:r>
              <a:rPr lang="ru-RU" b="0" i="0" dirty="0">
                <a:solidFill>
                  <a:srgbClr val="333333"/>
                </a:solidFill>
                <a:effectLst/>
                <a:latin typeface="Source Sans Pro" panose="020B0503030403020204" pitchFamily="34" charset="0"/>
              </a:rPr>
              <a:t>дерево для транзакции № 4</a:t>
            </a:r>
            <a:endParaRPr lang="ru-RU" dirty="0"/>
          </a:p>
        </p:txBody>
      </p:sp>
      <p:sp>
        <p:nvSpPr>
          <p:cNvPr id="3" name="Объект 2">
            <a:extLst>
              <a:ext uri="{FF2B5EF4-FFF2-40B4-BE49-F238E27FC236}">
                <a16:creationId xmlns:a16="http://schemas.microsoft.com/office/drawing/2014/main" id="{D6C28B95-D009-4E45-B750-788F35F011EC}"/>
              </a:ext>
            </a:extLst>
          </p:cNvPr>
          <p:cNvSpPr>
            <a:spLocks noGrp="1"/>
          </p:cNvSpPr>
          <p:nvPr>
            <p:ph idx="1"/>
          </p:nvPr>
        </p:nvSpPr>
        <p:spPr>
          <a:xfrm>
            <a:off x="628650" y="5161611"/>
            <a:ext cx="7886700" cy="1194739"/>
          </a:xfrm>
        </p:spPr>
        <p:txBody>
          <a:bodyPr>
            <a:normAutofit lnSpcReduction="10000"/>
          </a:bodyPr>
          <a:lstStyle/>
          <a:p>
            <a:pPr marL="0" indent="0" algn="just">
              <a:buNone/>
            </a:pPr>
            <a:r>
              <a:rPr lang="ru-RU" b="0" i="0" dirty="0">
                <a:solidFill>
                  <a:srgbClr val="333333"/>
                </a:solidFill>
                <a:effectLst/>
                <a:latin typeface="Source Sans Pro" panose="020B0503030403020204" pitchFamily="34" charset="0"/>
              </a:rPr>
              <a:t>Использование транзакции № 4, содержащей набор предметов </a:t>
            </a:r>
            <a:r>
              <a:rPr lang="ru-RU" b="1" i="0" dirty="0">
                <a:solidFill>
                  <a:srgbClr val="333333"/>
                </a:solidFill>
                <a:effectLst/>
                <a:latin typeface="Source Sans Pro" panose="020B0503030403020204" pitchFamily="34" charset="0"/>
              </a:rPr>
              <a:t>(c b d e)</a:t>
            </a:r>
            <a:r>
              <a:rPr lang="ru-RU" b="0" i="0" dirty="0">
                <a:solidFill>
                  <a:srgbClr val="333333"/>
                </a:solidFill>
                <a:effectLst/>
                <a:latin typeface="Source Sans Pro" panose="020B0503030403020204" pitchFamily="34" charset="0"/>
              </a:rPr>
              <a:t>, не создаст новых узлов, а увеличит индексы узлов с аналогичной последовательностью имен. </a:t>
            </a:r>
            <a:br>
              <a:rPr lang="ru-RU" dirty="0"/>
            </a:br>
            <a:endParaRPr lang="ru-RU" dirty="0"/>
          </a:p>
        </p:txBody>
      </p:sp>
      <p:sp>
        <p:nvSpPr>
          <p:cNvPr id="4" name="Нижний колонтитул 3">
            <a:extLst>
              <a:ext uri="{FF2B5EF4-FFF2-40B4-BE49-F238E27FC236}">
                <a16:creationId xmlns:a16="http://schemas.microsoft.com/office/drawing/2014/main" id="{45DE195F-986E-459C-9CFA-15DC5753419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5EB5365-9765-4584-91C2-48ADCCF3589E}"/>
              </a:ext>
            </a:extLst>
          </p:cNvPr>
          <p:cNvSpPr>
            <a:spLocks noGrp="1"/>
          </p:cNvSpPr>
          <p:nvPr>
            <p:ph type="sldNum" sz="quarter" idx="12"/>
          </p:nvPr>
        </p:nvSpPr>
        <p:spPr/>
        <p:txBody>
          <a:bodyPr/>
          <a:lstStyle/>
          <a:p>
            <a:fld id="{81C5FB71-5E9C-41B5-9BB8-3F1EBEAEB16A}" type="slidenum">
              <a:rPr lang="ru-RU" smtClean="0"/>
              <a:t>53</a:t>
            </a:fld>
            <a:endParaRPr lang="ru-RU"/>
          </a:p>
        </p:txBody>
      </p:sp>
      <p:pic>
        <p:nvPicPr>
          <p:cNvPr id="6" name="Рисунок 5">
            <a:extLst>
              <a:ext uri="{FF2B5EF4-FFF2-40B4-BE49-F238E27FC236}">
                <a16:creationId xmlns:a16="http://schemas.microsoft.com/office/drawing/2014/main" id="{E5A8A7C3-C316-43B8-85CD-7E42BC8DFC6F}"/>
              </a:ext>
            </a:extLst>
          </p:cNvPr>
          <p:cNvPicPr>
            <a:picLocks noChangeAspect="1"/>
          </p:cNvPicPr>
          <p:nvPr/>
        </p:nvPicPr>
        <p:blipFill>
          <a:blip r:embed="rId2"/>
          <a:stretch>
            <a:fillRect/>
          </a:stretch>
        </p:blipFill>
        <p:spPr>
          <a:xfrm>
            <a:off x="299746" y="685800"/>
            <a:ext cx="8544508" cy="4229100"/>
          </a:xfrm>
          <a:prstGeom prst="rect">
            <a:avLst/>
          </a:prstGeom>
        </p:spPr>
      </p:pic>
    </p:spTree>
    <p:extLst>
      <p:ext uri="{BB962C8B-B14F-4D97-AF65-F5344CB8AC3E}">
        <p14:creationId xmlns:p14="http://schemas.microsoft.com/office/powerpoint/2010/main" val="20893505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E8E72F-F14C-4056-BEFD-D3BB6672BE72}"/>
              </a:ext>
            </a:extLst>
          </p:cNvPr>
          <p:cNvSpPr>
            <a:spLocks noGrp="1"/>
          </p:cNvSpPr>
          <p:nvPr>
            <p:ph type="title"/>
          </p:nvPr>
        </p:nvSpPr>
        <p:spPr>
          <a:xfrm>
            <a:off x="628650" y="70791"/>
            <a:ext cx="7886700" cy="615009"/>
          </a:xfrm>
        </p:spPr>
        <p:txBody>
          <a:bodyPr/>
          <a:lstStyle/>
          <a:p>
            <a:pPr algn="ctr"/>
            <a:r>
              <a:rPr lang="ru-RU" b="0" i="0" dirty="0">
                <a:solidFill>
                  <a:srgbClr val="333333"/>
                </a:solidFill>
                <a:effectLst/>
                <a:latin typeface="Source Sans Pro" panose="020B0503030403020204" pitchFamily="34" charset="0"/>
              </a:rPr>
              <a:t>Построим </a:t>
            </a:r>
            <a:r>
              <a:rPr lang="en-US" b="0" i="0" dirty="0">
                <a:solidFill>
                  <a:srgbClr val="333333"/>
                </a:solidFill>
                <a:effectLst/>
                <a:latin typeface="Source Sans Pro" panose="020B0503030403020204" pitchFamily="34" charset="0"/>
              </a:rPr>
              <a:t>FP-</a:t>
            </a:r>
            <a:r>
              <a:rPr lang="ru-RU" b="0" i="0" dirty="0">
                <a:solidFill>
                  <a:srgbClr val="333333"/>
                </a:solidFill>
                <a:effectLst/>
                <a:latin typeface="Source Sans Pro" panose="020B0503030403020204" pitchFamily="34" charset="0"/>
              </a:rPr>
              <a:t>дерево для транзакции № 5</a:t>
            </a:r>
            <a:endParaRPr lang="ru-RU" dirty="0"/>
          </a:p>
        </p:txBody>
      </p:sp>
      <p:sp>
        <p:nvSpPr>
          <p:cNvPr id="3" name="Объект 2">
            <a:extLst>
              <a:ext uri="{FF2B5EF4-FFF2-40B4-BE49-F238E27FC236}">
                <a16:creationId xmlns:a16="http://schemas.microsoft.com/office/drawing/2014/main" id="{D6C28B95-D009-4E45-B750-788F35F011EC}"/>
              </a:ext>
            </a:extLst>
          </p:cNvPr>
          <p:cNvSpPr>
            <a:spLocks noGrp="1"/>
          </p:cNvSpPr>
          <p:nvPr>
            <p:ph idx="1"/>
          </p:nvPr>
        </p:nvSpPr>
        <p:spPr>
          <a:xfrm>
            <a:off x="628650" y="5161611"/>
            <a:ext cx="7886700" cy="920337"/>
          </a:xfrm>
        </p:spPr>
        <p:txBody>
          <a:bodyPr>
            <a:normAutofit/>
          </a:bodyPr>
          <a:lstStyle/>
          <a:p>
            <a:pPr marL="0" indent="0" algn="just">
              <a:buNone/>
            </a:pPr>
            <a:r>
              <a:rPr lang="ru-RU" b="0" i="0" dirty="0">
                <a:solidFill>
                  <a:srgbClr val="333333"/>
                </a:solidFill>
                <a:effectLst/>
                <a:latin typeface="Source Sans Pro" panose="020B0503030403020204" pitchFamily="34" charset="0"/>
              </a:rPr>
              <a:t>Транзакция № 5 содержит набор </a:t>
            </a:r>
            <a:r>
              <a:rPr lang="ru-RU" b="1" i="0" dirty="0">
                <a:solidFill>
                  <a:srgbClr val="333333"/>
                </a:solidFill>
                <a:effectLst/>
                <a:latin typeface="Source Sans Pro" panose="020B0503030403020204" pitchFamily="34" charset="0"/>
              </a:rPr>
              <a:t>(c b)</a:t>
            </a:r>
            <a:r>
              <a:rPr lang="ru-RU" b="0" i="0" dirty="0">
                <a:solidFill>
                  <a:srgbClr val="333333"/>
                </a:solidFill>
                <a:effectLst/>
                <a:latin typeface="Source Sans Pro" panose="020B0503030403020204" pitchFamily="34" charset="0"/>
              </a:rPr>
              <a:t>, предметы которого увеличат индексы одноименных узлов в FP-дерев.</a:t>
            </a:r>
            <a:endParaRPr lang="ru-RU" dirty="0"/>
          </a:p>
        </p:txBody>
      </p:sp>
      <p:sp>
        <p:nvSpPr>
          <p:cNvPr id="4" name="Нижний колонтитул 3">
            <a:extLst>
              <a:ext uri="{FF2B5EF4-FFF2-40B4-BE49-F238E27FC236}">
                <a16:creationId xmlns:a16="http://schemas.microsoft.com/office/drawing/2014/main" id="{45DE195F-986E-459C-9CFA-15DC5753419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5EB5365-9765-4584-91C2-48ADCCF3589E}"/>
              </a:ext>
            </a:extLst>
          </p:cNvPr>
          <p:cNvSpPr>
            <a:spLocks noGrp="1"/>
          </p:cNvSpPr>
          <p:nvPr>
            <p:ph type="sldNum" sz="quarter" idx="12"/>
          </p:nvPr>
        </p:nvSpPr>
        <p:spPr/>
        <p:txBody>
          <a:bodyPr/>
          <a:lstStyle/>
          <a:p>
            <a:fld id="{81C5FB71-5E9C-41B5-9BB8-3F1EBEAEB16A}" type="slidenum">
              <a:rPr lang="ru-RU" smtClean="0"/>
              <a:t>54</a:t>
            </a:fld>
            <a:endParaRPr lang="ru-RU"/>
          </a:p>
        </p:txBody>
      </p:sp>
      <p:pic>
        <p:nvPicPr>
          <p:cNvPr id="7" name="Рисунок 6">
            <a:extLst>
              <a:ext uri="{FF2B5EF4-FFF2-40B4-BE49-F238E27FC236}">
                <a16:creationId xmlns:a16="http://schemas.microsoft.com/office/drawing/2014/main" id="{FE33C1C7-3A21-40C2-BF28-4E5FD14E6EC9}"/>
              </a:ext>
            </a:extLst>
          </p:cNvPr>
          <p:cNvPicPr>
            <a:picLocks noChangeAspect="1"/>
          </p:cNvPicPr>
          <p:nvPr/>
        </p:nvPicPr>
        <p:blipFill>
          <a:blip r:embed="rId2"/>
          <a:stretch>
            <a:fillRect/>
          </a:stretch>
        </p:blipFill>
        <p:spPr>
          <a:xfrm>
            <a:off x="397816" y="776052"/>
            <a:ext cx="8348367" cy="4132020"/>
          </a:xfrm>
          <a:prstGeom prst="rect">
            <a:avLst/>
          </a:prstGeom>
        </p:spPr>
      </p:pic>
    </p:spTree>
    <p:extLst>
      <p:ext uri="{BB962C8B-B14F-4D97-AF65-F5344CB8AC3E}">
        <p14:creationId xmlns:p14="http://schemas.microsoft.com/office/powerpoint/2010/main" val="14267290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E8E72F-F14C-4056-BEFD-D3BB6672BE72}"/>
              </a:ext>
            </a:extLst>
          </p:cNvPr>
          <p:cNvSpPr>
            <a:spLocks noGrp="1"/>
          </p:cNvSpPr>
          <p:nvPr>
            <p:ph type="title"/>
          </p:nvPr>
        </p:nvSpPr>
        <p:spPr>
          <a:xfrm>
            <a:off x="628650" y="70791"/>
            <a:ext cx="7886700" cy="615009"/>
          </a:xfrm>
        </p:spPr>
        <p:txBody>
          <a:bodyPr/>
          <a:lstStyle/>
          <a:p>
            <a:pPr algn="ctr"/>
            <a:r>
              <a:rPr lang="ru-RU" b="0" i="0" dirty="0">
                <a:solidFill>
                  <a:srgbClr val="333333"/>
                </a:solidFill>
                <a:effectLst/>
                <a:latin typeface="Source Sans Pro" panose="020B0503030403020204" pitchFamily="34" charset="0"/>
              </a:rPr>
              <a:t>Построим </a:t>
            </a:r>
            <a:r>
              <a:rPr lang="en-US" b="0" i="0" dirty="0">
                <a:solidFill>
                  <a:srgbClr val="333333"/>
                </a:solidFill>
                <a:effectLst/>
                <a:latin typeface="Source Sans Pro" panose="020B0503030403020204" pitchFamily="34" charset="0"/>
              </a:rPr>
              <a:t>FP-</a:t>
            </a:r>
            <a:r>
              <a:rPr lang="ru-RU" b="0" i="0" dirty="0">
                <a:solidFill>
                  <a:srgbClr val="333333"/>
                </a:solidFill>
                <a:effectLst/>
                <a:latin typeface="Source Sans Pro" panose="020B0503030403020204" pitchFamily="34" charset="0"/>
              </a:rPr>
              <a:t>дерево для транзакции № 6</a:t>
            </a:r>
            <a:endParaRPr lang="ru-RU" dirty="0"/>
          </a:p>
        </p:txBody>
      </p:sp>
      <p:sp>
        <p:nvSpPr>
          <p:cNvPr id="3" name="Объект 2">
            <a:extLst>
              <a:ext uri="{FF2B5EF4-FFF2-40B4-BE49-F238E27FC236}">
                <a16:creationId xmlns:a16="http://schemas.microsoft.com/office/drawing/2014/main" id="{D6C28B95-D009-4E45-B750-788F35F011EC}"/>
              </a:ext>
            </a:extLst>
          </p:cNvPr>
          <p:cNvSpPr>
            <a:spLocks noGrp="1"/>
          </p:cNvSpPr>
          <p:nvPr>
            <p:ph idx="1"/>
          </p:nvPr>
        </p:nvSpPr>
        <p:spPr>
          <a:xfrm>
            <a:off x="628650" y="4908072"/>
            <a:ext cx="7886700" cy="1645128"/>
          </a:xfrm>
        </p:spPr>
        <p:txBody>
          <a:bodyPr>
            <a:normAutofit/>
          </a:bodyPr>
          <a:lstStyle/>
          <a:p>
            <a:pPr marL="0" indent="0" algn="just">
              <a:buNone/>
            </a:pPr>
            <a:r>
              <a:rPr lang="ru-RU" b="0" i="0" dirty="0">
                <a:solidFill>
                  <a:srgbClr val="333333"/>
                </a:solidFill>
                <a:effectLst/>
                <a:latin typeface="Source Sans Pro" panose="020B0503030403020204" pitchFamily="34" charset="0"/>
              </a:rPr>
              <a:t>Транзакция № 6 содержит предметы </a:t>
            </a:r>
            <a:r>
              <a:rPr lang="ru-RU" b="1" i="0" dirty="0">
                <a:solidFill>
                  <a:srgbClr val="333333"/>
                </a:solidFill>
                <a:effectLst/>
                <a:latin typeface="Source Sans Pro" panose="020B0503030403020204" pitchFamily="34" charset="0"/>
              </a:rPr>
              <a:t>(b d e)</a:t>
            </a:r>
            <a:r>
              <a:rPr lang="ru-RU" b="0" i="0" dirty="0">
                <a:solidFill>
                  <a:srgbClr val="333333"/>
                </a:solidFill>
                <a:effectLst/>
                <a:latin typeface="Source Sans Pro" panose="020B0503030403020204" pitchFamily="34" charset="0"/>
              </a:rPr>
              <a:t>. Поскольку корневой узел не содержит непосредственного потомка с именем </a:t>
            </a:r>
            <a:r>
              <a:rPr lang="ru-RU" b="1" i="0" dirty="0">
                <a:solidFill>
                  <a:srgbClr val="333333"/>
                </a:solidFill>
                <a:effectLst/>
                <a:latin typeface="Source Sans Pro" panose="020B0503030403020204" pitchFamily="34" charset="0"/>
              </a:rPr>
              <a:t>b</a:t>
            </a:r>
            <a:r>
              <a:rPr lang="ru-RU" b="0" i="0" dirty="0">
                <a:solidFill>
                  <a:srgbClr val="333333"/>
                </a:solidFill>
                <a:effectLst/>
                <a:latin typeface="Source Sans Pro" panose="020B0503030403020204" pitchFamily="34" charset="0"/>
              </a:rPr>
              <a:t>, то в соответствии с правилом построения FP-дерева для него будет создан новый узел, который «потянет» за собой два других — </a:t>
            </a:r>
            <a:r>
              <a:rPr lang="ru-RU" b="1" i="0" dirty="0">
                <a:solidFill>
                  <a:srgbClr val="333333"/>
                </a:solidFill>
                <a:effectLst/>
                <a:latin typeface="Source Sans Pro" panose="020B0503030403020204" pitchFamily="34" charset="0"/>
              </a:rPr>
              <a:t>d</a:t>
            </a:r>
            <a:r>
              <a:rPr lang="ru-RU" b="0" i="0" dirty="0">
                <a:solidFill>
                  <a:srgbClr val="333333"/>
                </a:solidFill>
                <a:effectLst/>
                <a:latin typeface="Source Sans Pro" panose="020B0503030403020204" pitchFamily="34" charset="0"/>
              </a:rPr>
              <a:t> и </a:t>
            </a:r>
            <a:r>
              <a:rPr lang="ru-RU" b="1" i="0" dirty="0">
                <a:solidFill>
                  <a:srgbClr val="333333"/>
                </a:solidFill>
                <a:effectLst/>
                <a:latin typeface="Source Sans Pro" panose="020B0503030403020204" pitchFamily="34" charset="0"/>
              </a:rPr>
              <a:t>e</a:t>
            </a:r>
            <a:r>
              <a:rPr lang="ru-RU" b="0" i="0" dirty="0">
                <a:solidFill>
                  <a:srgbClr val="333333"/>
                </a:solidFill>
                <a:effectLst/>
                <a:latin typeface="Source Sans Pro" panose="020B0503030403020204" pitchFamily="34" charset="0"/>
              </a:rPr>
              <a:t>. Все узлы будут добавлены с индексами 1. </a:t>
            </a:r>
            <a:endParaRPr lang="ru-RU" dirty="0"/>
          </a:p>
        </p:txBody>
      </p:sp>
      <p:sp>
        <p:nvSpPr>
          <p:cNvPr id="4" name="Нижний колонтитул 3">
            <a:extLst>
              <a:ext uri="{FF2B5EF4-FFF2-40B4-BE49-F238E27FC236}">
                <a16:creationId xmlns:a16="http://schemas.microsoft.com/office/drawing/2014/main" id="{45DE195F-986E-459C-9CFA-15DC5753419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5EB5365-9765-4584-91C2-48ADCCF3589E}"/>
              </a:ext>
            </a:extLst>
          </p:cNvPr>
          <p:cNvSpPr>
            <a:spLocks noGrp="1"/>
          </p:cNvSpPr>
          <p:nvPr>
            <p:ph type="sldNum" sz="quarter" idx="12"/>
          </p:nvPr>
        </p:nvSpPr>
        <p:spPr/>
        <p:txBody>
          <a:bodyPr/>
          <a:lstStyle/>
          <a:p>
            <a:fld id="{81C5FB71-5E9C-41B5-9BB8-3F1EBEAEB16A}" type="slidenum">
              <a:rPr lang="ru-RU" smtClean="0"/>
              <a:t>55</a:t>
            </a:fld>
            <a:endParaRPr lang="ru-RU"/>
          </a:p>
        </p:txBody>
      </p:sp>
      <p:pic>
        <p:nvPicPr>
          <p:cNvPr id="6" name="Рисунок 5">
            <a:extLst>
              <a:ext uri="{FF2B5EF4-FFF2-40B4-BE49-F238E27FC236}">
                <a16:creationId xmlns:a16="http://schemas.microsoft.com/office/drawing/2014/main" id="{07A5B215-A2EA-4F6B-B5C6-A07BFB9D6E3D}"/>
              </a:ext>
            </a:extLst>
          </p:cNvPr>
          <p:cNvPicPr>
            <a:picLocks noChangeAspect="1"/>
          </p:cNvPicPr>
          <p:nvPr/>
        </p:nvPicPr>
        <p:blipFill>
          <a:blip r:embed="rId2"/>
          <a:stretch>
            <a:fillRect/>
          </a:stretch>
        </p:blipFill>
        <p:spPr>
          <a:xfrm>
            <a:off x="530678" y="907572"/>
            <a:ext cx="8082643" cy="4000500"/>
          </a:xfrm>
          <a:prstGeom prst="rect">
            <a:avLst/>
          </a:prstGeom>
        </p:spPr>
      </p:pic>
    </p:spTree>
    <p:extLst>
      <p:ext uri="{BB962C8B-B14F-4D97-AF65-F5344CB8AC3E}">
        <p14:creationId xmlns:p14="http://schemas.microsoft.com/office/powerpoint/2010/main" val="42706727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E8E72F-F14C-4056-BEFD-D3BB6672BE72}"/>
              </a:ext>
            </a:extLst>
          </p:cNvPr>
          <p:cNvSpPr>
            <a:spLocks noGrp="1"/>
          </p:cNvSpPr>
          <p:nvPr>
            <p:ph type="title"/>
          </p:nvPr>
        </p:nvSpPr>
        <p:spPr>
          <a:xfrm>
            <a:off x="628650" y="70791"/>
            <a:ext cx="7886700" cy="615009"/>
          </a:xfrm>
        </p:spPr>
        <p:txBody>
          <a:bodyPr/>
          <a:lstStyle/>
          <a:p>
            <a:pPr algn="ctr"/>
            <a:r>
              <a:rPr lang="ru-RU" b="0" i="0" dirty="0">
                <a:solidFill>
                  <a:srgbClr val="333333"/>
                </a:solidFill>
                <a:effectLst/>
                <a:latin typeface="Source Sans Pro" panose="020B0503030403020204" pitchFamily="34" charset="0"/>
              </a:rPr>
              <a:t>Построим </a:t>
            </a:r>
            <a:r>
              <a:rPr lang="en-US" b="0" i="0" dirty="0">
                <a:solidFill>
                  <a:srgbClr val="333333"/>
                </a:solidFill>
                <a:effectLst/>
                <a:latin typeface="Source Sans Pro" panose="020B0503030403020204" pitchFamily="34" charset="0"/>
              </a:rPr>
              <a:t>FP-</a:t>
            </a:r>
            <a:r>
              <a:rPr lang="ru-RU" b="0" i="0" dirty="0">
                <a:solidFill>
                  <a:srgbClr val="333333"/>
                </a:solidFill>
                <a:effectLst/>
                <a:latin typeface="Source Sans Pro" panose="020B0503030403020204" pitchFamily="34" charset="0"/>
              </a:rPr>
              <a:t>дерево для транзакции № 7</a:t>
            </a:r>
            <a:endParaRPr lang="ru-RU" dirty="0"/>
          </a:p>
        </p:txBody>
      </p:sp>
      <p:sp>
        <p:nvSpPr>
          <p:cNvPr id="3" name="Объект 2">
            <a:extLst>
              <a:ext uri="{FF2B5EF4-FFF2-40B4-BE49-F238E27FC236}">
                <a16:creationId xmlns:a16="http://schemas.microsoft.com/office/drawing/2014/main" id="{D6C28B95-D009-4E45-B750-788F35F011EC}"/>
              </a:ext>
            </a:extLst>
          </p:cNvPr>
          <p:cNvSpPr>
            <a:spLocks noGrp="1"/>
          </p:cNvSpPr>
          <p:nvPr>
            <p:ph idx="1"/>
          </p:nvPr>
        </p:nvSpPr>
        <p:spPr>
          <a:xfrm>
            <a:off x="628650" y="5187424"/>
            <a:ext cx="7886700" cy="1194756"/>
          </a:xfrm>
        </p:spPr>
        <p:txBody>
          <a:bodyPr>
            <a:normAutofit/>
          </a:bodyPr>
          <a:lstStyle/>
          <a:p>
            <a:pPr marL="0" indent="0" algn="just">
              <a:buNone/>
            </a:pPr>
            <a:r>
              <a:rPr lang="ru-RU" dirty="0">
                <a:solidFill>
                  <a:srgbClr val="333333"/>
                </a:solidFill>
                <a:latin typeface="Source Sans Pro" panose="020B0503030403020204" pitchFamily="34" charset="0"/>
              </a:rPr>
              <a:t>Т</a:t>
            </a:r>
            <a:r>
              <a:rPr lang="ru-RU" b="0" i="0" dirty="0">
                <a:solidFill>
                  <a:srgbClr val="333333"/>
                </a:solidFill>
                <a:effectLst/>
                <a:latin typeface="Source Sans Pro" panose="020B0503030403020204" pitchFamily="34" charset="0"/>
              </a:rPr>
              <a:t>ранзакция № 7, содержит предметный набор </a:t>
            </a:r>
            <a:r>
              <a:rPr lang="ru-RU" b="1" i="0" dirty="0">
                <a:solidFill>
                  <a:srgbClr val="333333"/>
                </a:solidFill>
                <a:effectLst/>
                <a:latin typeface="Source Sans Pro" panose="020B0503030403020204" pitchFamily="34" charset="0"/>
              </a:rPr>
              <a:t>(c d e)</a:t>
            </a:r>
            <a:r>
              <a:rPr lang="ru-RU" b="0" i="0" dirty="0">
                <a:solidFill>
                  <a:srgbClr val="333333"/>
                </a:solidFill>
                <a:effectLst/>
                <a:latin typeface="Source Sans Pro" panose="020B0503030403020204" pitchFamily="34" charset="0"/>
              </a:rPr>
              <a:t>, увеличит на 1 индексы соответствующих узлов. Получившееся дерево, является результирующим для всей БД транзакций.</a:t>
            </a:r>
            <a:endParaRPr lang="ru-RU" dirty="0"/>
          </a:p>
        </p:txBody>
      </p:sp>
      <p:sp>
        <p:nvSpPr>
          <p:cNvPr id="4" name="Нижний колонтитул 3">
            <a:extLst>
              <a:ext uri="{FF2B5EF4-FFF2-40B4-BE49-F238E27FC236}">
                <a16:creationId xmlns:a16="http://schemas.microsoft.com/office/drawing/2014/main" id="{45DE195F-986E-459C-9CFA-15DC5753419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5EB5365-9765-4584-91C2-48ADCCF3589E}"/>
              </a:ext>
            </a:extLst>
          </p:cNvPr>
          <p:cNvSpPr>
            <a:spLocks noGrp="1"/>
          </p:cNvSpPr>
          <p:nvPr>
            <p:ph type="sldNum" sz="quarter" idx="12"/>
          </p:nvPr>
        </p:nvSpPr>
        <p:spPr/>
        <p:txBody>
          <a:bodyPr/>
          <a:lstStyle/>
          <a:p>
            <a:fld id="{81C5FB71-5E9C-41B5-9BB8-3F1EBEAEB16A}" type="slidenum">
              <a:rPr lang="ru-RU" smtClean="0"/>
              <a:t>56</a:t>
            </a:fld>
            <a:endParaRPr lang="ru-RU"/>
          </a:p>
        </p:txBody>
      </p:sp>
      <p:pic>
        <p:nvPicPr>
          <p:cNvPr id="7" name="Рисунок 6">
            <a:extLst>
              <a:ext uri="{FF2B5EF4-FFF2-40B4-BE49-F238E27FC236}">
                <a16:creationId xmlns:a16="http://schemas.microsoft.com/office/drawing/2014/main" id="{F589EE2B-5BF9-4316-BE72-69397200132B}"/>
              </a:ext>
            </a:extLst>
          </p:cNvPr>
          <p:cNvPicPr>
            <a:picLocks noChangeAspect="1"/>
          </p:cNvPicPr>
          <p:nvPr/>
        </p:nvPicPr>
        <p:blipFill>
          <a:blip r:embed="rId2"/>
          <a:stretch>
            <a:fillRect/>
          </a:stretch>
        </p:blipFill>
        <p:spPr>
          <a:xfrm>
            <a:off x="376723" y="860162"/>
            <a:ext cx="8390553" cy="4152900"/>
          </a:xfrm>
          <a:prstGeom prst="rect">
            <a:avLst/>
          </a:prstGeom>
        </p:spPr>
      </p:pic>
    </p:spTree>
    <p:extLst>
      <p:ext uri="{BB962C8B-B14F-4D97-AF65-F5344CB8AC3E}">
        <p14:creationId xmlns:p14="http://schemas.microsoft.com/office/powerpoint/2010/main" val="13884187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39AF21-792D-4B75-BC5B-DDB16CBD86F2}"/>
              </a:ext>
            </a:extLst>
          </p:cNvPr>
          <p:cNvSpPr>
            <a:spLocks noGrp="1"/>
          </p:cNvSpPr>
          <p:nvPr>
            <p:ph type="title"/>
          </p:nvPr>
        </p:nvSpPr>
        <p:spPr/>
        <p:txBody>
          <a:bodyPr/>
          <a:lstStyle/>
          <a:p>
            <a:pPr algn="ctr"/>
            <a:r>
              <a:rPr lang="ru-RU" dirty="0"/>
              <a:t>Анализ результата построения </a:t>
            </a:r>
            <a:r>
              <a:rPr lang="en-US" dirty="0"/>
              <a:t>FP-</a:t>
            </a:r>
            <a:r>
              <a:rPr lang="ru-RU" dirty="0"/>
              <a:t>дерева</a:t>
            </a:r>
          </a:p>
        </p:txBody>
      </p:sp>
      <p:sp>
        <p:nvSpPr>
          <p:cNvPr id="3" name="Объект 2">
            <a:extLst>
              <a:ext uri="{FF2B5EF4-FFF2-40B4-BE49-F238E27FC236}">
                <a16:creationId xmlns:a16="http://schemas.microsoft.com/office/drawing/2014/main" id="{2C53A01B-9B0F-4713-9071-18E43198CEF3}"/>
              </a:ext>
            </a:extLst>
          </p:cNvPr>
          <p:cNvSpPr>
            <a:spLocks noGrp="1"/>
          </p:cNvSpPr>
          <p:nvPr>
            <p:ph idx="1"/>
          </p:nvPr>
        </p:nvSpPr>
        <p:spPr/>
        <p:txBody>
          <a:bodyPr/>
          <a:lstStyle/>
          <a:p>
            <a:pPr algn="just"/>
            <a:r>
              <a:rPr lang="ru-RU" b="0" i="0" dirty="0">
                <a:solidFill>
                  <a:srgbClr val="333333"/>
                </a:solidFill>
                <a:effectLst/>
                <a:latin typeface="Source Sans Pro" panose="020B0503030403020204" pitchFamily="34" charset="0"/>
              </a:rPr>
              <a:t>Таким образом, после первого прохода БД и выполнения соответствующих манипуляций с предметными наборами мы построили FP-дерево, которое в компактном виде представляет информацию о частых предметных наборах и позволяет производить их эффективное извлечение, что и делается на втором сканировании БД.</a:t>
            </a:r>
          </a:p>
          <a:p>
            <a:pPr algn="just"/>
            <a:r>
              <a:rPr lang="ru-RU" b="0" i="0" dirty="0">
                <a:solidFill>
                  <a:srgbClr val="333333"/>
                </a:solidFill>
                <a:effectLst/>
                <a:latin typeface="Source Sans Pro" panose="020B0503030403020204" pitchFamily="34" charset="0"/>
              </a:rPr>
              <a:t>Представление БД транзакций в виде FP-дерева очевидно. Если в исходной базе данных каждый предмет повторяется многократно, то в FP-дереве он представляется в виде узла, индекс которого указывает на то, сколько раз данный предмет появляется. Иными словами, если предмет в исходной БД транзакций появляется 100 раз, то в FP-дереве для него будет единственный узел с индексом 100.</a:t>
            </a:r>
          </a:p>
          <a:p>
            <a:pPr marL="0" indent="0">
              <a:buNone/>
            </a:pPr>
            <a:endParaRPr lang="ru-RU" dirty="0"/>
          </a:p>
        </p:txBody>
      </p:sp>
      <p:sp>
        <p:nvSpPr>
          <p:cNvPr id="4" name="Нижний колонтитул 3">
            <a:extLst>
              <a:ext uri="{FF2B5EF4-FFF2-40B4-BE49-F238E27FC236}">
                <a16:creationId xmlns:a16="http://schemas.microsoft.com/office/drawing/2014/main" id="{DE370AE5-785B-435C-874E-AFE95EDCFFF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BA004978-38EE-475E-A5D2-3E78C66541A4}"/>
              </a:ext>
            </a:extLst>
          </p:cNvPr>
          <p:cNvSpPr>
            <a:spLocks noGrp="1"/>
          </p:cNvSpPr>
          <p:nvPr>
            <p:ph type="sldNum" sz="quarter" idx="12"/>
          </p:nvPr>
        </p:nvSpPr>
        <p:spPr/>
        <p:txBody>
          <a:bodyPr/>
          <a:lstStyle/>
          <a:p>
            <a:fld id="{81C5FB71-5E9C-41B5-9BB8-3F1EBEAEB16A}" type="slidenum">
              <a:rPr lang="ru-RU" smtClean="0"/>
              <a:t>57</a:t>
            </a:fld>
            <a:endParaRPr lang="ru-RU"/>
          </a:p>
        </p:txBody>
      </p:sp>
    </p:spTree>
    <p:extLst>
      <p:ext uri="{BB962C8B-B14F-4D97-AF65-F5344CB8AC3E}">
        <p14:creationId xmlns:p14="http://schemas.microsoft.com/office/powerpoint/2010/main" val="556950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664CCC-761C-489B-AECD-DC151AAA5E84}"/>
              </a:ext>
            </a:extLst>
          </p:cNvPr>
          <p:cNvSpPr>
            <a:spLocks noGrp="1"/>
          </p:cNvSpPr>
          <p:nvPr>
            <p:ph type="title"/>
          </p:nvPr>
        </p:nvSpPr>
        <p:spPr>
          <a:xfrm>
            <a:off x="628650" y="70791"/>
            <a:ext cx="8058150" cy="1100056"/>
          </a:xfrm>
        </p:spPr>
        <p:txBody>
          <a:bodyPr>
            <a:normAutofit/>
          </a:bodyPr>
          <a:lstStyle/>
          <a:p>
            <a:pPr algn="ctr"/>
            <a:r>
              <a:rPr lang="ru-RU" sz="2400" dirty="0"/>
              <a:t>Извлечение частых предметных наборов из FP-дерева</a:t>
            </a:r>
          </a:p>
        </p:txBody>
      </p:sp>
      <p:sp>
        <p:nvSpPr>
          <p:cNvPr id="3" name="Объект 2">
            <a:extLst>
              <a:ext uri="{FF2B5EF4-FFF2-40B4-BE49-F238E27FC236}">
                <a16:creationId xmlns:a16="http://schemas.microsoft.com/office/drawing/2014/main" id="{A243A418-C80D-4612-8EBE-60CA73B7F023}"/>
              </a:ext>
            </a:extLst>
          </p:cNvPr>
          <p:cNvSpPr>
            <a:spLocks noGrp="1"/>
          </p:cNvSpPr>
          <p:nvPr>
            <p:ph idx="1"/>
          </p:nvPr>
        </p:nvSpPr>
        <p:spPr>
          <a:xfrm>
            <a:off x="533400" y="1358783"/>
            <a:ext cx="5581291" cy="2708821"/>
          </a:xfrm>
        </p:spPr>
        <p:txBody>
          <a:bodyPr>
            <a:normAutofit lnSpcReduction="10000"/>
          </a:bodyPr>
          <a:lstStyle/>
          <a:p>
            <a:pPr marL="0" indent="0" algn="just">
              <a:buNone/>
            </a:pPr>
            <a:r>
              <a:rPr lang="ru-RU" b="0" i="0" dirty="0">
                <a:solidFill>
                  <a:srgbClr val="333333"/>
                </a:solidFill>
                <a:effectLst/>
                <a:latin typeface="Source Sans Pro" panose="020B0503030403020204" pitchFamily="34" charset="0"/>
              </a:rPr>
              <a:t>Для каждого предмета в FP-дереве, представленного своим узлом, можно указать путь, т.е. последовательность узлов, которую надо пройти от корневого узла до узла, связанного с данным предметом. Если предмет представлен в нескольких ветвях FP-дерева (что чаще всего и происходит), то таких путей будет насколько. Например, для FP-дерева на рис. для предмета </a:t>
            </a:r>
            <a:r>
              <a:rPr lang="ru-RU" b="1" i="0" dirty="0">
                <a:solidFill>
                  <a:srgbClr val="333333"/>
                </a:solidFill>
                <a:effectLst/>
                <a:latin typeface="Source Sans Pro" panose="020B0503030403020204" pitchFamily="34" charset="0"/>
              </a:rPr>
              <a:t>a</a:t>
            </a:r>
            <a:r>
              <a:rPr lang="ru-RU" b="0" i="0" dirty="0">
                <a:solidFill>
                  <a:srgbClr val="333333"/>
                </a:solidFill>
                <a:effectLst/>
                <a:latin typeface="Source Sans Pro" panose="020B0503030403020204" pitchFamily="34" charset="0"/>
              </a:rPr>
              <a:t> можно указать 3 пути: { </a:t>
            </a:r>
            <a:r>
              <a:rPr lang="ru-RU" b="1" i="0" dirty="0" err="1">
                <a:solidFill>
                  <a:srgbClr val="333333"/>
                </a:solidFill>
                <a:effectLst/>
                <a:latin typeface="Source Sans Pro" panose="020B0503030403020204" pitchFamily="34" charset="0"/>
              </a:rPr>
              <a:t>cbde</a:t>
            </a:r>
            <a:r>
              <a:rPr lang="ru-RU" b="0" i="0" dirty="0" err="1">
                <a:solidFill>
                  <a:srgbClr val="333333"/>
                </a:solidFill>
                <a:effectLst/>
                <a:latin typeface="Source Sans Pro" panose="020B0503030403020204" pitchFamily="34" charset="0"/>
              </a:rPr>
              <a:t>a</a:t>
            </a:r>
            <a:r>
              <a:rPr lang="ru-RU" b="0" i="0" dirty="0">
                <a:solidFill>
                  <a:srgbClr val="333333"/>
                </a:solidFill>
                <a:effectLst/>
                <a:latin typeface="Source Sans Pro" panose="020B0503030403020204" pitchFamily="34" charset="0"/>
              </a:rPr>
              <a:t>, </a:t>
            </a:r>
            <a:r>
              <a:rPr lang="ru-RU" b="1" i="0" dirty="0" err="1">
                <a:solidFill>
                  <a:srgbClr val="333333"/>
                </a:solidFill>
                <a:effectLst/>
                <a:latin typeface="Source Sans Pro" panose="020B0503030403020204" pitchFamily="34" charset="0"/>
              </a:rPr>
              <a:t>cb</a:t>
            </a:r>
            <a:r>
              <a:rPr lang="ru-RU" b="0" i="0" dirty="0" err="1">
                <a:solidFill>
                  <a:srgbClr val="333333"/>
                </a:solidFill>
                <a:effectLst/>
                <a:latin typeface="Source Sans Pro" panose="020B0503030403020204" pitchFamily="34" charset="0"/>
              </a:rPr>
              <a:t>a</a:t>
            </a:r>
            <a:r>
              <a:rPr lang="ru-RU" b="0" i="0" dirty="0">
                <a:solidFill>
                  <a:srgbClr val="333333"/>
                </a:solidFill>
                <a:effectLst/>
                <a:latin typeface="Source Sans Pro" panose="020B0503030403020204" pitchFamily="34" charset="0"/>
              </a:rPr>
              <a:t>, </a:t>
            </a:r>
            <a:r>
              <a:rPr lang="ru-RU" b="1" i="0" dirty="0" err="1">
                <a:solidFill>
                  <a:srgbClr val="333333"/>
                </a:solidFill>
                <a:effectLst/>
                <a:latin typeface="Source Sans Pro" panose="020B0503030403020204" pitchFamily="34" charset="0"/>
              </a:rPr>
              <a:t>cde</a:t>
            </a:r>
            <a:r>
              <a:rPr lang="ru-RU" b="0" i="0" dirty="0" err="1">
                <a:solidFill>
                  <a:srgbClr val="333333"/>
                </a:solidFill>
                <a:effectLst/>
                <a:latin typeface="Source Sans Pro" panose="020B0503030403020204" pitchFamily="34" charset="0"/>
              </a:rPr>
              <a:t>a</a:t>
            </a:r>
            <a:r>
              <a:rPr lang="ru-RU" b="0" i="0" dirty="0">
                <a:solidFill>
                  <a:srgbClr val="333333"/>
                </a:solidFill>
                <a:effectLst/>
                <a:latin typeface="Source Sans Pro" panose="020B0503030403020204" pitchFamily="34" charset="0"/>
              </a:rPr>
              <a:t> }.</a:t>
            </a:r>
            <a:endParaRPr lang="ru-RU" dirty="0"/>
          </a:p>
          <a:p>
            <a:pPr>
              <a:tabLst>
                <a:tab pos="5022850" algn="r"/>
              </a:tabLst>
            </a:pPr>
            <a:endParaRPr lang="ru-RU" dirty="0"/>
          </a:p>
          <a:p>
            <a:pPr marL="0" indent="0">
              <a:buNone/>
            </a:pPr>
            <a:endParaRPr lang="ru-RU" dirty="0"/>
          </a:p>
        </p:txBody>
      </p:sp>
      <p:sp>
        <p:nvSpPr>
          <p:cNvPr id="4" name="Нижний колонтитул 3">
            <a:extLst>
              <a:ext uri="{FF2B5EF4-FFF2-40B4-BE49-F238E27FC236}">
                <a16:creationId xmlns:a16="http://schemas.microsoft.com/office/drawing/2014/main" id="{BF17BB6C-6543-4E00-9FE1-B27A2ABA231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25F529F3-F4E1-4C60-95DF-CFC065BB2343}"/>
              </a:ext>
            </a:extLst>
          </p:cNvPr>
          <p:cNvSpPr>
            <a:spLocks noGrp="1"/>
          </p:cNvSpPr>
          <p:nvPr>
            <p:ph type="sldNum" sz="quarter" idx="12"/>
          </p:nvPr>
        </p:nvSpPr>
        <p:spPr/>
        <p:txBody>
          <a:bodyPr/>
          <a:lstStyle/>
          <a:p>
            <a:fld id="{81C5FB71-5E9C-41B5-9BB8-3F1EBEAEB16A}" type="slidenum">
              <a:rPr lang="ru-RU" smtClean="0"/>
              <a:t>58</a:t>
            </a:fld>
            <a:endParaRPr lang="ru-RU"/>
          </a:p>
        </p:txBody>
      </p:sp>
      <p:pic>
        <p:nvPicPr>
          <p:cNvPr id="7" name="Рисунок 6">
            <a:extLst>
              <a:ext uri="{FF2B5EF4-FFF2-40B4-BE49-F238E27FC236}">
                <a16:creationId xmlns:a16="http://schemas.microsoft.com/office/drawing/2014/main" id="{BCA56873-21EC-45BA-BCCF-18AE3961BA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0595" y="990600"/>
            <a:ext cx="2572109" cy="3077004"/>
          </a:xfrm>
          <a:prstGeom prst="rect">
            <a:avLst/>
          </a:prstGeom>
        </p:spPr>
      </p:pic>
      <p:sp>
        <p:nvSpPr>
          <p:cNvPr id="8" name="Объект 2">
            <a:extLst>
              <a:ext uri="{FF2B5EF4-FFF2-40B4-BE49-F238E27FC236}">
                <a16:creationId xmlns:a16="http://schemas.microsoft.com/office/drawing/2014/main" id="{60CE095F-D04E-4B06-8206-1A18679F459D}"/>
              </a:ext>
            </a:extLst>
          </p:cNvPr>
          <p:cNvSpPr txBox="1">
            <a:spLocks/>
          </p:cNvSpPr>
          <p:nvPr/>
        </p:nvSpPr>
        <p:spPr>
          <a:xfrm>
            <a:off x="533400" y="4176877"/>
            <a:ext cx="7981950" cy="2384113"/>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buFont typeface="Arial" panose="020B0604020202020204" pitchFamily="34" charset="0"/>
              <a:buNone/>
            </a:pPr>
            <a:r>
              <a:rPr lang="ru-RU" b="0" i="0" dirty="0">
                <a:solidFill>
                  <a:srgbClr val="333333"/>
                </a:solidFill>
                <a:effectLst/>
                <a:latin typeface="Source Sans Pro" panose="020B0503030403020204" pitchFamily="34" charset="0"/>
              </a:rPr>
              <a:t>Такой набор путей называется </a:t>
            </a:r>
            <a:r>
              <a:rPr lang="ru-RU" b="1" i="0" dirty="0">
                <a:solidFill>
                  <a:srgbClr val="333333"/>
                </a:solidFill>
                <a:effectLst/>
                <a:latin typeface="Source Sans Pro" panose="020B0503030403020204" pitchFamily="34" charset="0"/>
              </a:rPr>
              <a:t>условным базисом предмета</a:t>
            </a:r>
            <a:r>
              <a:rPr lang="ru-RU" b="0" i="0" dirty="0">
                <a:solidFill>
                  <a:srgbClr val="333333"/>
                </a:solidFill>
                <a:effectLst/>
                <a:latin typeface="Source Sans Pro" panose="020B0503030403020204" pitchFamily="34" charset="0"/>
              </a:rPr>
              <a:t> (англ.: </a:t>
            </a:r>
            <a:r>
              <a:rPr lang="ru-RU" b="0" i="1" dirty="0" err="1">
                <a:solidFill>
                  <a:srgbClr val="333333"/>
                </a:solidFill>
                <a:effectLst/>
                <a:latin typeface="PT Sans" panose="020B0503020203020204" pitchFamily="34" charset="-52"/>
              </a:rPr>
              <a:t>conditional</a:t>
            </a:r>
            <a:r>
              <a:rPr lang="ru-RU" b="0" i="1" dirty="0">
                <a:solidFill>
                  <a:srgbClr val="333333"/>
                </a:solidFill>
                <a:effectLst/>
                <a:latin typeface="PT Sans" panose="020B0503020203020204" pitchFamily="34" charset="-52"/>
              </a:rPr>
              <a:t> </a:t>
            </a:r>
            <a:r>
              <a:rPr lang="ru-RU" b="0" i="1" dirty="0" err="1">
                <a:solidFill>
                  <a:srgbClr val="333333"/>
                </a:solidFill>
                <a:effectLst/>
                <a:latin typeface="PT Sans" panose="020B0503020203020204" pitchFamily="34" charset="-52"/>
              </a:rPr>
              <a:t>base</a:t>
            </a:r>
            <a:r>
              <a:rPr lang="ru-RU" b="0" i="0" dirty="0">
                <a:solidFill>
                  <a:srgbClr val="333333"/>
                </a:solidFill>
                <a:effectLst/>
                <a:latin typeface="Source Sans Pro" panose="020B0503030403020204" pitchFamily="34" charset="0"/>
              </a:rPr>
              <a:t>). Каждый путь в базисе состоит из двух частей — префикса и суффикса. </a:t>
            </a:r>
            <a:r>
              <a:rPr lang="ru-RU" b="1" i="0" dirty="0">
                <a:solidFill>
                  <a:srgbClr val="333333"/>
                </a:solidFill>
                <a:effectLst/>
                <a:latin typeface="Source Sans Pro" panose="020B0503030403020204" pitchFamily="34" charset="0"/>
              </a:rPr>
              <a:t>Префикс</a:t>
            </a:r>
            <a:r>
              <a:rPr lang="ru-RU" b="0" i="0" dirty="0">
                <a:solidFill>
                  <a:srgbClr val="333333"/>
                </a:solidFill>
                <a:effectLst/>
                <a:latin typeface="Source Sans Pro" panose="020B0503030403020204" pitchFamily="34" charset="0"/>
              </a:rPr>
              <a:t> — это собственно последовательность узлов, которые образуют путь. </a:t>
            </a:r>
            <a:r>
              <a:rPr lang="ru-RU" b="1" i="0" dirty="0">
                <a:solidFill>
                  <a:srgbClr val="333333"/>
                </a:solidFill>
                <a:effectLst/>
                <a:latin typeface="Source Sans Pro" panose="020B0503030403020204" pitchFamily="34" charset="0"/>
              </a:rPr>
              <a:t>Суффикс</a:t>
            </a:r>
            <a:r>
              <a:rPr lang="ru-RU" b="0" i="0" dirty="0">
                <a:solidFill>
                  <a:srgbClr val="333333"/>
                </a:solidFill>
                <a:effectLst/>
                <a:latin typeface="Source Sans Pro" panose="020B0503030403020204" pitchFamily="34" charset="0"/>
              </a:rPr>
              <a:t> — это сам узел, к которому «прокладывается» путь. Таким образом, в условном базисе все пути будут иметь различные префиксы и одинаковый суффикс. Например, в пути </a:t>
            </a:r>
            <a:r>
              <a:rPr lang="ru-RU" b="1" i="0" dirty="0" err="1">
                <a:solidFill>
                  <a:srgbClr val="333333"/>
                </a:solidFill>
                <a:effectLst/>
                <a:latin typeface="Source Sans Pro" panose="020B0503030403020204" pitchFamily="34" charset="0"/>
              </a:rPr>
              <a:t>cbdea</a:t>
            </a:r>
            <a:r>
              <a:rPr lang="ru-RU" b="0" i="0" dirty="0">
                <a:solidFill>
                  <a:srgbClr val="333333"/>
                </a:solidFill>
                <a:effectLst/>
                <a:latin typeface="Source Sans Pro" panose="020B0503030403020204" pitchFamily="34" charset="0"/>
              </a:rPr>
              <a:t> префиксом будет </a:t>
            </a:r>
            <a:r>
              <a:rPr lang="ru-RU" b="1" i="0" dirty="0" err="1">
                <a:solidFill>
                  <a:srgbClr val="333333"/>
                </a:solidFill>
                <a:effectLst/>
                <a:latin typeface="Source Sans Pro" panose="020B0503030403020204" pitchFamily="34" charset="0"/>
              </a:rPr>
              <a:t>cbde</a:t>
            </a:r>
            <a:r>
              <a:rPr lang="ru-RU" b="0" i="0" dirty="0">
                <a:solidFill>
                  <a:srgbClr val="333333"/>
                </a:solidFill>
                <a:effectLst/>
                <a:latin typeface="Source Sans Pro" panose="020B0503030403020204" pitchFamily="34" charset="0"/>
              </a:rPr>
              <a:t>, а суффиксом — </a:t>
            </a:r>
            <a:r>
              <a:rPr lang="ru-RU" b="1" i="0" dirty="0">
                <a:solidFill>
                  <a:srgbClr val="333333"/>
                </a:solidFill>
                <a:effectLst/>
                <a:latin typeface="Source Sans Pro" panose="020B0503030403020204" pitchFamily="34" charset="0"/>
              </a:rPr>
              <a:t>a</a:t>
            </a:r>
            <a:r>
              <a:rPr lang="ru-RU" b="0" i="0" dirty="0">
                <a:solidFill>
                  <a:srgbClr val="333333"/>
                </a:solidFill>
                <a:effectLst/>
                <a:latin typeface="Source Sans Pro" panose="020B0503030403020204" pitchFamily="34" charset="0"/>
              </a:rPr>
              <a:t>.</a:t>
            </a:r>
            <a:endParaRPr lang="ru-RU" dirty="0"/>
          </a:p>
        </p:txBody>
      </p:sp>
    </p:spTree>
    <p:extLst>
      <p:ext uri="{BB962C8B-B14F-4D97-AF65-F5344CB8AC3E}">
        <p14:creationId xmlns:p14="http://schemas.microsoft.com/office/powerpoint/2010/main" val="27910586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1AA123-9419-4412-8FAE-0271BBFD91E3}"/>
              </a:ext>
            </a:extLst>
          </p:cNvPr>
          <p:cNvSpPr>
            <a:spLocks noGrp="1"/>
          </p:cNvSpPr>
          <p:nvPr>
            <p:ph type="title"/>
          </p:nvPr>
        </p:nvSpPr>
        <p:spPr/>
        <p:txBody>
          <a:bodyPr>
            <a:normAutofit fontScale="90000"/>
          </a:bodyPr>
          <a:lstStyle/>
          <a:p>
            <a:pPr algn="ctr"/>
            <a:r>
              <a:rPr lang="ru-RU" dirty="0"/>
              <a:t>Процесс извлечения из FP-дерева частых предметных наборов будет заключаться в следующем</a:t>
            </a:r>
          </a:p>
        </p:txBody>
      </p:sp>
      <p:sp>
        <p:nvSpPr>
          <p:cNvPr id="3" name="Объект 2">
            <a:extLst>
              <a:ext uri="{FF2B5EF4-FFF2-40B4-BE49-F238E27FC236}">
                <a16:creationId xmlns:a16="http://schemas.microsoft.com/office/drawing/2014/main" id="{B85F828F-5572-4487-84FC-A27DD8FCEF04}"/>
              </a:ext>
            </a:extLst>
          </p:cNvPr>
          <p:cNvSpPr>
            <a:spLocks noGrp="1"/>
          </p:cNvSpPr>
          <p:nvPr>
            <p:ph idx="1"/>
          </p:nvPr>
        </p:nvSpPr>
        <p:spPr/>
        <p:txBody>
          <a:bodyPr>
            <a:normAutofit fontScale="77500" lnSpcReduction="20000"/>
          </a:bodyPr>
          <a:lstStyle/>
          <a:p>
            <a:pPr marL="457200" indent="-457200">
              <a:buFont typeface="+mj-lt"/>
              <a:buAutoNum type="arabicPeriod"/>
            </a:pPr>
            <a:r>
              <a:rPr lang="ru-RU" dirty="0"/>
              <a:t>Выбираем предмет (например, </a:t>
            </a:r>
            <a:r>
              <a:rPr lang="ru-RU" b="1" dirty="0">
                <a:solidFill>
                  <a:srgbClr val="C00000"/>
                </a:solidFill>
              </a:rPr>
              <a:t>a</a:t>
            </a:r>
            <a:r>
              <a:rPr lang="ru-RU" dirty="0"/>
              <a:t>) и находим в дереве все пути, которые ведут к узлам этого предмета Иными словами, для </a:t>
            </a:r>
            <a:r>
              <a:rPr lang="ru-RU" b="1" dirty="0">
                <a:solidFill>
                  <a:srgbClr val="C00000"/>
                </a:solidFill>
              </a:rPr>
              <a:t>a</a:t>
            </a:r>
            <a:r>
              <a:rPr lang="ru-RU" dirty="0">
                <a:solidFill>
                  <a:srgbClr val="C00000"/>
                </a:solidFill>
              </a:rPr>
              <a:t> </a:t>
            </a:r>
            <a:r>
              <a:rPr lang="ru-RU" dirty="0"/>
              <a:t>это будет набор { </a:t>
            </a:r>
            <a:r>
              <a:rPr lang="ru-RU" b="1" dirty="0" err="1">
                <a:solidFill>
                  <a:srgbClr val="C00000"/>
                </a:solidFill>
              </a:rPr>
              <a:t>cbde</a:t>
            </a:r>
            <a:r>
              <a:rPr lang="ru-RU" dirty="0" err="1"/>
              <a:t>a</a:t>
            </a:r>
            <a:r>
              <a:rPr lang="ru-RU" dirty="0"/>
              <a:t>, </a:t>
            </a:r>
            <a:r>
              <a:rPr lang="ru-RU" b="1" dirty="0" err="1">
                <a:solidFill>
                  <a:srgbClr val="C00000"/>
                </a:solidFill>
              </a:rPr>
              <a:t>cb</a:t>
            </a:r>
            <a:r>
              <a:rPr lang="ru-RU" dirty="0" err="1"/>
              <a:t>a</a:t>
            </a:r>
            <a:r>
              <a:rPr lang="ru-RU" dirty="0"/>
              <a:t>, </a:t>
            </a:r>
            <a:r>
              <a:rPr lang="ru-RU" b="1" dirty="0" err="1">
                <a:solidFill>
                  <a:srgbClr val="C00000"/>
                </a:solidFill>
              </a:rPr>
              <a:t>cde</a:t>
            </a:r>
            <a:r>
              <a:rPr lang="ru-RU" dirty="0" err="1"/>
              <a:t>a</a:t>
            </a:r>
            <a:r>
              <a:rPr lang="ru-RU" dirty="0"/>
              <a:t> }. Затем для каждого пути подсчитываем, сколько раз данный предмет встречается в нем, и записываем это в виде (</a:t>
            </a:r>
            <a:r>
              <a:rPr lang="ru-RU" b="1" dirty="0" err="1">
                <a:solidFill>
                  <a:srgbClr val="C00000"/>
                </a:solidFill>
              </a:rPr>
              <a:t>cbde</a:t>
            </a:r>
            <a:r>
              <a:rPr lang="ru-RU" dirty="0" err="1"/>
              <a:t>a</a:t>
            </a:r>
            <a:r>
              <a:rPr lang="ru-RU" dirty="0"/>
              <a:t>, 1), (</a:t>
            </a:r>
            <a:r>
              <a:rPr lang="ru-RU" b="1" dirty="0" err="1">
                <a:solidFill>
                  <a:srgbClr val="C00000"/>
                </a:solidFill>
              </a:rPr>
              <a:t>cb</a:t>
            </a:r>
            <a:r>
              <a:rPr lang="ru-RU" dirty="0" err="1"/>
              <a:t>a</a:t>
            </a:r>
            <a:r>
              <a:rPr lang="ru-RU" dirty="0"/>
              <a:t>, 1) и (</a:t>
            </a:r>
            <a:r>
              <a:rPr lang="ru-RU" b="1" dirty="0" err="1">
                <a:solidFill>
                  <a:srgbClr val="C00000"/>
                </a:solidFill>
              </a:rPr>
              <a:t>cde</a:t>
            </a:r>
            <a:r>
              <a:rPr lang="ru-RU" dirty="0" err="1"/>
              <a:t>a</a:t>
            </a:r>
            <a:r>
              <a:rPr lang="ru-RU" dirty="0"/>
              <a:t>, 1).</a:t>
            </a:r>
          </a:p>
          <a:p>
            <a:pPr marL="457200" indent="-457200">
              <a:buFont typeface="+mj-lt"/>
              <a:buAutoNum type="arabicPeriod"/>
            </a:pPr>
            <a:r>
              <a:rPr lang="ru-RU" dirty="0"/>
              <a:t>Удалим сам предмет (суффикс набора) из ведущих к нему путей, т.е. { </a:t>
            </a:r>
            <a:r>
              <a:rPr lang="ru-RU" dirty="0" err="1"/>
              <a:t>cbde</a:t>
            </a:r>
            <a:r>
              <a:rPr lang="ru-RU" strike="sngStrike" dirty="0" err="1">
                <a:solidFill>
                  <a:srgbClr val="C00000"/>
                </a:solidFill>
              </a:rPr>
              <a:t>a</a:t>
            </a:r>
            <a:r>
              <a:rPr lang="ru-RU" dirty="0"/>
              <a:t>, </a:t>
            </a:r>
            <a:r>
              <a:rPr lang="ru-RU" dirty="0" err="1"/>
              <a:t>cb</a:t>
            </a:r>
            <a:r>
              <a:rPr lang="ru-RU" strike="sngStrike" dirty="0" err="1">
                <a:solidFill>
                  <a:srgbClr val="C00000"/>
                </a:solidFill>
              </a:rPr>
              <a:t>a</a:t>
            </a:r>
            <a:r>
              <a:rPr lang="ru-RU" dirty="0"/>
              <a:t>, </a:t>
            </a:r>
            <a:r>
              <a:rPr lang="ru-RU" dirty="0" err="1"/>
              <a:t>cde</a:t>
            </a:r>
            <a:r>
              <a:rPr lang="ru-RU" strike="sngStrike" dirty="0" err="1">
                <a:solidFill>
                  <a:srgbClr val="C00000"/>
                </a:solidFill>
              </a:rPr>
              <a:t>a</a:t>
            </a:r>
            <a:r>
              <a:rPr lang="ru-RU" dirty="0"/>
              <a:t> }. После останутся только префиксы: { </a:t>
            </a:r>
            <a:r>
              <a:rPr lang="ru-RU" dirty="0" err="1"/>
              <a:t>cbde</a:t>
            </a:r>
            <a:r>
              <a:rPr lang="ru-RU" dirty="0"/>
              <a:t>, </a:t>
            </a:r>
            <a:r>
              <a:rPr lang="ru-RU" dirty="0" err="1"/>
              <a:t>cb</a:t>
            </a:r>
            <a:r>
              <a:rPr lang="ru-RU" dirty="0"/>
              <a:t>, </a:t>
            </a:r>
            <a:r>
              <a:rPr lang="ru-RU" dirty="0" err="1"/>
              <a:t>cde</a:t>
            </a:r>
            <a:r>
              <a:rPr lang="ru-RU" dirty="0"/>
              <a:t> }.</a:t>
            </a:r>
          </a:p>
          <a:p>
            <a:pPr marL="457200" indent="-457200">
              <a:buFont typeface="+mj-lt"/>
              <a:buAutoNum type="arabicPeriod"/>
            </a:pPr>
            <a:r>
              <a:rPr lang="ru-RU" dirty="0"/>
              <a:t>Подсчитаем, сколько раз каждый предмет появляется в префиксах путей, полученных на предыдущем шаге, и упорядочим в порядке убывания этих значений, получив новый набор транзакций.</a:t>
            </a:r>
          </a:p>
          <a:p>
            <a:pPr marL="457200" indent="-457200">
              <a:buFont typeface="+mj-lt"/>
              <a:buAutoNum type="arabicPeriod"/>
            </a:pPr>
            <a:r>
              <a:rPr lang="ru-RU" dirty="0"/>
              <a:t>На его основе построим новое FP-дерево, которое назовем условным FP-деревом (</a:t>
            </a:r>
            <a:r>
              <a:rPr lang="ru-RU" dirty="0" err="1"/>
              <a:t>conditional</a:t>
            </a:r>
            <a:r>
              <a:rPr lang="ru-RU" dirty="0"/>
              <a:t> FP-</a:t>
            </a:r>
            <a:r>
              <a:rPr lang="ru-RU" dirty="0" err="1"/>
              <a:t>tree</a:t>
            </a:r>
            <a:r>
              <a:rPr lang="ru-RU" dirty="0"/>
              <a:t>), поскольку оно связано только с одним объектом (в нашем случае, </a:t>
            </a:r>
            <a:r>
              <a:rPr lang="ru-RU" b="1" dirty="0">
                <a:solidFill>
                  <a:srgbClr val="C00000"/>
                </a:solidFill>
              </a:rPr>
              <a:t>a</a:t>
            </a:r>
            <a:r>
              <a:rPr lang="ru-RU" dirty="0"/>
              <a:t>).</a:t>
            </a:r>
          </a:p>
          <a:p>
            <a:pPr marL="457200" indent="-457200">
              <a:buFont typeface="+mj-lt"/>
              <a:buAutoNum type="arabicPeriod"/>
            </a:pPr>
            <a:r>
              <a:rPr lang="ru-RU" dirty="0"/>
              <a:t>В условном FP-дереве найдем все предметы (узлы), для которых поддержка (количество появлений в дереве) равна 3 и больше, что соответствует заданному уровню минимальной поддержки. Если узел встречается два или более раза, то его индексы, т.е. частоты появлений предмета в условном базисе, суммируются.</a:t>
            </a:r>
          </a:p>
          <a:p>
            <a:pPr marL="457200" indent="-457200">
              <a:buFont typeface="+mj-lt"/>
              <a:buAutoNum type="arabicPeriod"/>
            </a:pPr>
            <a:r>
              <a:rPr lang="ru-RU" dirty="0"/>
              <a:t>Начиная с корня дерева, записываем пути, которые ведут к каждому узлу, для которого поддержка/индекс больше или равны 3, возвращаем назад предмет (суффикс), удаленный на шаге 2, и подсчитываем индекс/поддержку, полученную в результате. Например, если предмет </a:t>
            </a:r>
            <a:r>
              <a:rPr lang="ru-RU" b="1" dirty="0">
                <a:solidFill>
                  <a:srgbClr val="C00000"/>
                </a:solidFill>
              </a:rPr>
              <a:t>a</a:t>
            </a:r>
            <a:r>
              <a:rPr lang="ru-RU" dirty="0"/>
              <a:t> имеет индекс 3, то можно записать (</a:t>
            </a:r>
            <a:r>
              <a:rPr lang="ru-RU" b="1" dirty="0">
                <a:solidFill>
                  <a:srgbClr val="C00000"/>
                </a:solidFill>
              </a:rPr>
              <a:t>c b </a:t>
            </a:r>
            <a:r>
              <a:rPr lang="ru-RU" dirty="0"/>
              <a:t>a, 3), что и будет являться популярным предметным набором.</a:t>
            </a:r>
          </a:p>
        </p:txBody>
      </p:sp>
      <p:sp>
        <p:nvSpPr>
          <p:cNvPr id="4" name="Нижний колонтитул 3">
            <a:extLst>
              <a:ext uri="{FF2B5EF4-FFF2-40B4-BE49-F238E27FC236}">
                <a16:creationId xmlns:a16="http://schemas.microsoft.com/office/drawing/2014/main" id="{AF5C386A-C56A-4507-B978-7E103A9D5C2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F2464F2A-A3AB-478F-8E6B-36CAF31D36BE}"/>
              </a:ext>
            </a:extLst>
          </p:cNvPr>
          <p:cNvSpPr>
            <a:spLocks noGrp="1"/>
          </p:cNvSpPr>
          <p:nvPr>
            <p:ph type="sldNum" sz="quarter" idx="12"/>
          </p:nvPr>
        </p:nvSpPr>
        <p:spPr/>
        <p:txBody>
          <a:bodyPr/>
          <a:lstStyle/>
          <a:p>
            <a:fld id="{81C5FB71-5E9C-41B5-9BB8-3F1EBEAEB16A}" type="slidenum">
              <a:rPr lang="ru-RU" smtClean="0"/>
              <a:t>59</a:t>
            </a:fld>
            <a:endParaRPr lang="ru-RU"/>
          </a:p>
        </p:txBody>
      </p:sp>
    </p:spTree>
    <p:extLst>
      <p:ext uri="{BB962C8B-B14F-4D97-AF65-F5344CB8AC3E}">
        <p14:creationId xmlns:p14="http://schemas.microsoft.com/office/powerpoint/2010/main" val="9217449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94D9F7-7D77-468C-9AA1-806516A5B423}"/>
              </a:ext>
            </a:extLst>
          </p:cNvPr>
          <p:cNvSpPr>
            <a:spLocks noGrp="1"/>
          </p:cNvSpPr>
          <p:nvPr>
            <p:ph type="title"/>
          </p:nvPr>
        </p:nvSpPr>
        <p:spPr>
          <a:xfrm>
            <a:off x="762000" y="3936"/>
            <a:ext cx="8382000" cy="758064"/>
          </a:xfrm>
        </p:spPr>
        <p:txBody>
          <a:bodyPr>
            <a:normAutofit/>
          </a:bodyPr>
          <a:lstStyle/>
          <a:p>
            <a:pPr algn="ctr"/>
            <a:r>
              <a:rPr lang="ru-RU" sz="2000" i="0" dirty="0">
                <a:solidFill>
                  <a:srgbClr val="333333"/>
                </a:solidFill>
                <a:effectLst/>
                <a:latin typeface="Source Sans Pro" panose="020B0503030403020204" pitchFamily="34" charset="0"/>
              </a:rPr>
              <a:t>Пояснения методики извлечения популярного набора из FP-дерева на примере для БД транзакций и построенного для неё FP-дерева</a:t>
            </a:r>
            <a:endParaRPr lang="ru-RU" sz="2000" dirty="0"/>
          </a:p>
        </p:txBody>
      </p:sp>
      <p:pic>
        <p:nvPicPr>
          <p:cNvPr id="9" name="Объект 8">
            <a:extLst>
              <a:ext uri="{FF2B5EF4-FFF2-40B4-BE49-F238E27FC236}">
                <a16:creationId xmlns:a16="http://schemas.microsoft.com/office/drawing/2014/main" id="{576A0D6B-5979-4ED0-9593-105F7DDED4C7}"/>
              </a:ext>
            </a:extLst>
          </p:cNvPr>
          <p:cNvPicPr>
            <a:picLocks noGrp="1" noChangeAspect="1"/>
          </p:cNvPicPr>
          <p:nvPr>
            <p:ph idx="1"/>
          </p:nvPr>
        </p:nvPicPr>
        <p:blipFill>
          <a:blip r:embed="rId3"/>
          <a:stretch>
            <a:fillRect/>
          </a:stretch>
        </p:blipFill>
        <p:spPr>
          <a:xfrm>
            <a:off x="3702686" y="862786"/>
            <a:ext cx="2572735" cy="3072650"/>
          </a:xfrm>
          <a:prstGeom prst="rect">
            <a:avLst/>
          </a:prstGeom>
        </p:spPr>
      </p:pic>
      <p:sp>
        <p:nvSpPr>
          <p:cNvPr id="4" name="Нижний колонтитул 3">
            <a:extLst>
              <a:ext uri="{FF2B5EF4-FFF2-40B4-BE49-F238E27FC236}">
                <a16:creationId xmlns:a16="http://schemas.microsoft.com/office/drawing/2014/main" id="{1E983146-8EB7-4D21-91F8-091F2B05D21F}"/>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9A35D81-12EB-46E5-9826-7C1DC7700EC3}"/>
              </a:ext>
            </a:extLst>
          </p:cNvPr>
          <p:cNvSpPr>
            <a:spLocks noGrp="1"/>
          </p:cNvSpPr>
          <p:nvPr>
            <p:ph type="sldNum" sz="quarter" idx="12"/>
          </p:nvPr>
        </p:nvSpPr>
        <p:spPr/>
        <p:txBody>
          <a:bodyPr/>
          <a:lstStyle/>
          <a:p>
            <a:fld id="{81C5FB71-5E9C-41B5-9BB8-3F1EBEAEB16A}" type="slidenum">
              <a:rPr lang="ru-RU" smtClean="0"/>
              <a:t>60</a:t>
            </a:fld>
            <a:endParaRPr lang="ru-RU"/>
          </a:p>
        </p:txBody>
      </p:sp>
      <p:graphicFrame>
        <p:nvGraphicFramePr>
          <p:cNvPr id="8" name="Таблица 7">
            <a:extLst>
              <a:ext uri="{FF2B5EF4-FFF2-40B4-BE49-F238E27FC236}">
                <a16:creationId xmlns:a16="http://schemas.microsoft.com/office/drawing/2014/main" id="{24D5896C-DCDE-472F-A775-A7C5C660F601}"/>
              </a:ext>
            </a:extLst>
          </p:cNvPr>
          <p:cNvGraphicFramePr>
            <a:graphicFrameLocks noGrp="1"/>
          </p:cNvGraphicFramePr>
          <p:nvPr>
            <p:extLst>
              <p:ext uri="{D42A27DB-BD31-4B8C-83A1-F6EECF244321}">
                <p14:modId xmlns:p14="http://schemas.microsoft.com/office/powerpoint/2010/main" val="1877565427"/>
              </p:ext>
            </p:extLst>
          </p:nvPr>
        </p:nvGraphicFramePr>
        <p:xfrm>
          <a:off x="620113" y="798328"/>
          <a:ext cx="1865393" cy="3523488"/>
        </p:xfrm>
        <a:graphic>
          <a:graphicData uri="http://schemas.openxmlformats.org/drawingml/2006/table">
            <a:tbl>
              <a:tblPr/>
              <a:tblGrid>
                <a:gridCol w="685571">
                  <a:extLst>
                    <a:ext uri="{9D8B030D-6E8A-4147-A177-3AD203B41FA5}">
                      <a16:colId xmlns:a16="http://schemas.microsoft.com/office/drawing/2014/main" val="2863359025"/>
                    </a:ext>
                  </a:extLst>
                </a:gridCol>
                <a:gridCol w="1179822">
                  <a:extLst>
                    <a:ext uri="{9D8B030D-6E8A-4147-A177-3AD203B41FA5}">
                      <a16:colId xmlns:a16="http://schemas.microsoft.com/office/drawing/2014/main" val="360506423"/>
                    </a:ext>
                  </a:extLst>
                </a:gridCol>
              </a:tblGrid>
              <a:tr h="629593">
                <a:tc>
                  <a:txBody>
                    <a:bodyPr/>
                    <a:lstStyle/>
                    <a:p>
                      <a:pPr algn="l" fontAlgn="ctr">
                        <a:lnSpc>
                          <a:spcPct val="20000"/>
                        </a:lnSpc>
                      </a:pPr>
                      <a:r>
                        <a:rPr lang="en-US" sz="1600" dirty="0">
                          <a:effectLst/>
                        </a:rPr>
                        <a:t>N</a:t>
                      </a:r>
                      <a:endParaRPr lang="en-US" sz="1600" b="1" dirty="0">
                        <a:solidFill>
                          <a:schemeClr val="tx1"/>
                        </a:solidFill>
                        <a:effectLst/>
                      </a:endParaRPr>
                    </a:p>
                  </a:txBody>
                  <a:tcPr marL="114300" marR="114300" marT="152400" marB="152400" anchor="ctr"/>
                </a:tc>
                <a:tc>
                  <a:txBody>
                    <a:bodyPr/>
                    <a:lstStyle/>
                    <a:p>
                      <a:pPr algn="l" fontAlgn="ctr">
                        <a:lnSpc>
                          <a:spcPct val="80000"/>
                        </a:lnSpc>
                      </a:pPr>
                      <a:r>
                        <a:rPr lang="ru-RU" sz="1600" dirty="0">
                          <a:effectLst/>
                        </a:rPr>
                        <a:t>Предметный набор</a:t>
                      </a:r>
                      <a:endParaRPr lang="ru-RU" sz="1600" b="1" dirty="0">
                        <a:solidFill>
                          <a:schemeClr val="tx1"/>
                        </a:solidFill>
                        <a:effectLst/>
                      </a:endParaRPr>
                    </a:p>
                  </a:txBody>
                  <a:tcPr marL="114300" marR="114300" marT="152400" marB="152400" anchor="ctr"/>
                </a:tc>
                <a:extLst>
                  <a:ext uri="{0D108BD9-81ED-4DB2-BD59-A6C34878D82A}">
                    <a16:rowId xmlns:a16="http://schemas.microsoft.com/office/drawing/2014/main" val="631694613"/>
                  </a:ext>
                </a:extLst>
              </a:tr>
              <a:tr h="358216">
                <a:tc>
                  <a:txBody>
                    <a:bodyPr/>
                    <a:lstStyle/>
                    <a:p>
                      <a:pPr algn="l" fontAlgn="ctr">
                        <a:lnSpc>
                          <a:spcPct val="20000"/>
                        </a:lnSpc>
                      </a:pPr>
                      <a:r>
                        <a:rPr lang="ru-RU" sz="1600" kern="0" baseline="0" dirty="0">
                          <a:effectLst/>
                        </a:rPr>
                        <a:t>1</a:t>
                      </a:r>
                      <a:endParaRPr lang="ru-RU" sz="1600" kern="0" baseline="0" dirty="0">
                        <a:solidFill>
                          <a:srgbClr val="333333"/>
                        </a:solidFill>
                        <a:effectLst/>
                      </a:endParaRPr>
                    </a:p>
                  </a:txBody>
                  <a:tcPr marL="114300" marR="114300" marT="152400" marB="152400" anchor="ctr"/>
                </a:tc>
                <a:tc>
                  <a:txBody>
                    <a:bodyPr/>
                    <a:lstStyle/>
                    <a:p>
                      <a:pPr algn="l" fontAlgn="ctr">
                        <a:lnSpc>
                          <a:spcPct val="20000"/>
                        </a:lnSpc>
                      </a:pPr>
                      <a:r>
                        <a:rPr lang="pt-BR" sz="1600" kern="0" baseline="0" dirty="0">
                          <a:effectLst/>
                        </a:rPr>
                        <a:t>a b c d e</a:t>
                      </a:r>
                      <a:endParaRPr lang="pt-BR" sz="1600" kern="0" baseline="0" dirty="0">
                        <a:solidFill>
                          <a:srgbClr val="333333"/>
                        </a:solidFill>
                        <a:effectLst/>
                      </a:endParaRPr>
                    </a:p>
                  </a:txBody>
                  <a:tcPr marL="114300" marR="114300" marT="152400" marB="152400" anchor="ctr"/>
                </a:tc>
                <a:extLst>
                  <a:ext uri="{0D108BD9-81ED-4DB2-BD59-A6C34878D82A}">
                    <a16:rowId xmlns:a16="http://schemas.microsoft.com/office/drawing/2014/main" val="3855501457"/>
                  </a:ext>
                </a:extLst>
              </a:tr>
              <a:tr h="358216">
                <a:tc>
                  <a:txBody>
                    <a:bodyPr/>
                    <a:lstStyle/>
                    <a:p>
                      <a:pPr algn="l" fontAlgn="ctr">
                        <a:lnSpc>
                          <a:spcPct val="20000"/>
                        </a:lnSpc>
                      </a:pPr>
                      <a:r>
                        <a:rPr lang="ru-RU" sz="1600" kern="0" baseline="0" dirty="0">
                          <a:effectLst/>
                        </a:rPr>
                        <a:t>2</a:t>
                      </a:r>
                      <a:endParaRPr lang="ru-RU" sz="1600" kern="0" baseline="0" dirty="0">
                        <a:solidFill>
                          <a:srgbClr val="333333"/>
                        </a:solidFill>
                        <a:effectLst/>
                      </a:endParaRPr>
                    </a:p>
                  </a:txBody>
                  <a:tcPr marL="114300" marR="114300" marT="152400" marB="152400" anchor="ctr"/>
                </a:tc>
                <a:tc>
                  <a:txBody>
                    <a:bodyPr/>
                    <a:lstStyle/>
                    <a:p>
                      <a:pPr algn="l" fontAlgn="ctr">
                        <a:lnSpc>
                          <a:spcPct val="20000"/>
                        </a:lnSpc>
                      </a:pPr>
                      <a:r>
                        <a:rPr lang="en-US" sz="1600" kern="0" baseline="0" dirty="0">
                          <a:effectLst/>
                        </a:rPr>
                        <a:t>a b c</a:t>
                      </a:r>
                      <a:endParaRPr lang="en-US" sz="1600" kern="0" baseline="0" dirty="0">
                        <a:solidFill>
                          <a:srgbClr val="333333"/>
                        </a:solidFill>
                        <a:effectLst/>
                      </a:endParaRPr>
                    </a:p>
                  </a:txBody>
                  <a:tcPr marL="114300" marR="114300" marT="152400" marB="152400" anchor="ctr"/>
                </a:tc>
                <a:extLst>
                  <a:ext uri="{0D108BD9-81ED-4DB2-BD59-A6C34878D82A}">
                    <a16:rowId xmlns:a16="http://schemas.microsoft.com/office/drawing/2014/main" val="3189619790"/>
                  </a:ext>
                </a:extLst>
              </a:tr>
              <a:tr h="358216">
                <a:tc>
                  <a:txBody>
                    <a:bodyPr/>
                    <a:lstStyle/>
                    <a:p>
                      <a:pPr algn="l" fontAlgn="ctr">
                        <a:lnSpc>
                          <a:spcPct val="20000"/>
                        </a:lnSpc>
                      </a:pPr>
                      <a:r>
                        <a:rPr lang="ru-RU" sz="1600" kern="0" baseline="0" dirty="0">
                          <a:effectLst/>
                        </a:rPr>
                        <a:t>3</a:t>
                      </a:r>
                      <a:endParaRPr lang="ru-RU" sz="1600" kern="0" baseline="0" dirty="0">
                        <a:solidFill>
                          <a:srgbClr val="333333"/>
                        </a:solidFill>
                        <a:effectLst/>
                      </a:endParaRPr>
                    </a:p>
                  </a:txBody>
                  <a:tcPr marL="114300" marR="114300" marT="152400" marB="152400" anchor="ctr"/>
                </a:tc>
                <a:tc>
                  <a:txBody>
                    <a:bodyPr/>
                    <a:lstStyle/>
                    <a:p>
                      <a:pPr algn="l" fontAlgn="ctr">
                        <a:lnSpc>
                          <a:spcPct val="20000"/>
                        </a:lnSpc>
                      </a:pPr>
                      <a:r>
                        <a:rPr lang="en-US" sz="1600" kern="0" baseline="0" dirty="0">
                          <a:effectLst/>
                        </a:rPr>
                        <a:t>a c d e</a:t>
                      </a:r>
                      <a:endParaRPr lang="en-US" sz="1600" kern="0" baseline="0" dirty="0">
                        <a:solidFill>
                          <a:srgbClr val="333333"/>
                        </a:solidFill>
                        <a:effectLst/>
                      </a:endParaRPr>
                    </a:p>
                  </a:txBody>
                  <a:tcPr marL="114300" marR="114300" marT="152400" marB="152400" anchor="ctr"/>
                </a:tc>
                <a:extLst>
                  <a:ext uri="{0D108BD9-81ED-4DB2-BD59-A6C34878D82A}">
                    <a16:rowId xmlns:a16="http://schemas.microsoft.com/office/drawing/2014/main" val="4159839411"/>
                  </a:ext>
                </a:extLst>
              </a:tr>
              <a:tr h="358216">
                <a:tc>
                  <a:txBody>
                    <a:bodyPr/>
                    <a:lstStyle/>
                    <a:p>
                      <a:pPr algn="l" fontAlgn="ctr">
                        <a:lnSpc>
                          <a:spcPct val="20000"/>
                        </a:lnSpc>
                      </a:pPr>
                      <a:r>
                        <a:rPr lang="ru-RU" sz="1600" kern="0" baseline="0">
                          <a:effectLst/>
                        </a:rPr>
                        <a:t>4</a:t>
                      </a:r>
                      <a:endParaRPr lang="ru-RU" sz="1600" kern="0" baseline="0">
                        <a:solidFill>
                          <a:srgbClr val="333333"/>
                        </a:solidFill>
                        <a:effectLst/>
                      </a:endParaRPr>
                    </a:p>
                  </a:txBody>
                  <a:tcPr marL="114300" marR="114300" marT="152400" marB="152400" anchor="ctr"/>
                </a:tc>
                <a:tc>
                  <a:txBody>
                    <a:bodyPr/>
                    <a:lstStyle/>
                    <a:p>
                      <a:pPr algn="l" fontAlgn="ctr">
                        <a:lnSpc>
                          <a:spcPct val="20000"/>
                        </a:lnSpc>
                      </a:pPr>
                      <a:r>
                        <a:rPr lang="en-US" sz="1600" kern="0" baseline="0" dirty="0">
                          <a:effectLst/>
                        </a:rPr>
                        <a:t>b c d e</a:t>
                      </a:r>
                      <a:endParaRPr lang="en-US" sz="1600" kern="0" baseline="0" dirty="0">
                        <a:solidFill>
                          <a:srgbClr val="333333"/>
                        </a:solidFill>
                        <a:effectLst/>
                      </a:endParaRPr>
                    </a:p>
                  </a:txBody>
                  <a:tcPr marL="114300" marR="114300" marT="152400" marB="152400" anchor="ctr"/>
                </a:tc>
                <a:extLst>
                  <a:ext uri="{0D108BD9-81ED-4DB2-BD59-A6C34878D82A}">
                    <a16:rowId xmlns:a16="http://schemas.microsoft.com/office/drawing/2014/main" val="3113820852"/>
                  </a:ext>
                </a:extLst>
              </a:tr>
              <a:tr h="358216">
                <a:tc>
                  <a:txBody>
                    <a:bodyPr/>
                    <a:lstStyle/>
                    <a:p>
                      <a:pPr algn="l" fontAlgn="ctr">
                        <a:lnSpc>
                          <a:spcPct val="20000"/>
                        </a:lnSpc>
                      </a:pPr>
                      <a:r>
                        <a:rPr lang="ru-RU" sz="1600" kern="0" baseline="0">
                          <a:effectLst/>
                        </a:rPr>
                        <a:t>5</a:t>
                      </a:r>
                      <a:endParaRPr lang="ru-RU" sz="1600" kern="0" baseline="0">
                        <a:solidFill>
                          <a:srgbClr val="333333"/>
                        </a:solidFill>
                        <a:effectLst/>
                      </a:endParaRPr>
                    </a:p>
                  </a:txBody>
                  <a:tcPr marL="114300" marR="114300" marT="152400" marB="152400" anchor="ctr"/>
                </a:tc>
                <a:tc>
                  <a:txBody>
                    <a:bodyPr/>
                    <a:lstStyle/>
                    <a:p>
                      <a:pPr algn="l" fontAlgn="ctr">
                        <a:lnSpc>
                          <a:spcPct val="20000"/>
                        </a:lnSpc>
                      </a:pPr>
                      <a:r>
                        <a:rPr lang="en-US" sz="1600" kern="0" baseline="0" dirty="0">
                          <a:effectLst/>
                        </a:rPr>
                        <a:t>b c</a:t>
                      </a:r>
                      <a:endParaRPr lang="en-US" sz="1600" kern="0" baseline="0" dirty="0">
                        <a:solidFill>
                          <a:srgbClr val="333333"/>
                        </a:solidFill>
                        <a:effectLst/>
                      </a:endParaRPr>
                    </a:p>
                  </a:txBody>
                  <a:tcPr marL="114300" marR="114300" marT="152400" marB="152400" anchor="ctr"/>
                </a:tc>
                <a:extLst>
                  <a:ext uri="{0D108BD9-81ED-4DB2-BD59-A6C34878D82A}">
                    <a16:rowId xmlns:a16="http://schemas.microsoft.com/office/drawing/2014/main" val="118409243"/>
                  </a:ext>
                </a:extLst>
              </a:tr>
              <a:tr h="358216">
                <a:tc>
                  <a:txBody>
                    <a:bodyPr/>
                    <a:lstStyle/>
                    <a:p>
                      <a:pPr algn="l" fontAlgn="ctr">
                        <a:lnSpc>
                          <a:spcPct val="20000"/>
                        </a:lnSpc>
                      </a:pPr>
                      <a:r>
                        <a:rPr lang="ru-RU" sz="1600" kern="0" baseline="0">
                          <a:effectLst/>
                        </a:rPr>
                        <a:t>6</a:t>
                      </a:r>
                      <a:endParaRPr lang="ru-RU" sz="1600" kern="0" baseline="0">
                        <a:solidFill>
                          <a:srgbClr val="333333"/>
                        </a:solidFill>
                        <a:effectLst/>
                      </a:endParaRPr>
                    </a:p>
                  </a:txBody>
                  <a:tcPr marL="114300" marR="114300" marT="152400" marB="152400" anchor="ctr"/>
                </a:tc>
                <a:tc>
                  <a:txBody>
                    <a:bodyPr/>
                    <a:lstStyle/>
                    <a:p>
                      <a:pPr algn="l" fontAlgn="ctr">
                        <a:lnSpc>
                          <a:spcPct val="20000"/>
                        </a:lnSpc>
                      </a:pPr>
                      <a:r>
                        <a:rPr lang="en-US" sz="1600" kern="0" baseline="0" dirty="0">
                          <a:effectLst/>
                        </a:rPr>
                        <a:t>b d e</a:t>
                      </a:r>
                      <a:endParaRPr lang="en-US" sz="1600" kern="0" baseline="0" dirty="0">
                        <a:solidFill>
                          <a:srgbClr val="333333"/>
                        </a:solidFill>
                        <a:effectLst/>
                      </a:endParaRPr>
                    </a:p>
                  </a:txBody>
                  <a:tcPr marL="114300" marR="114300" marT="152400" marB="152400" anchor="ctr"/>
                </a:tc>
                <a:extLst>
                  <a:ext uri="{0D108BD9-81ED-4DB2-BD59-A6C34878D82A}">
                    <a16:rowId xmlns:a16="http://schemas.microsoft.com/office/drawing/2014/main" val="3392509108"/>
                  </a:ext>
                </a:extLst>
              </a:tr>
              <a:tr h="358216">
                <a:tc>
                  <a:txBody>
                    <a:bodyPr/>
                    <a:lstStyle/>
                    <a:p>
                      <a:pPr algn="l" fontAlgn="ctr">
                        <a:lnSpc>
                          <a:spcPct val="20000"/>
                        </a:lnSpc>
                      </a:pPr>
                      <a:r>
                        <a:rPr lang="ru-RU" sz="1600" kern="0" baseline="0" dirty="0">
                          <a:effectLst/>
                        </a:rPr>
                        <a:t>7</a:t>
                      </a:r>
                      <a:endParaRPr lang="ru-RU" sz="1600" kern="0" baseline="0" dirty="0">
                        <a:solidFill>
                          <a:srgbClr val="333333"/>
                        </a:solidFill>
                        <a:effectLst/>
                      </a:endParaRPr>
                    </a:p>
                  </a:txBody>
                  <a:tcPr marL="114300" marR="114300" marT="152400" marB="152400" anchor="ctr"/>
                </a:tc>
                <a:tc>
                  <a:txBody>
                    <a:bodyPr/>
                    <a:lstStyle/>
                    <a:p>
                      <a:pPr algn="l" fontAlgn="ctr">
                        <a:lnSpc>
                          <a:spcPct val="20000"/>
                        </a:lnSpc>
                      </a:pPr>
                      <a:r>
                        <a:rPr lang="en-US" sz="1600" kern="0" baseline="0" dirty="0">
                          <a:effectLst/>
                        </a:rPr>
                        <a:t>c d e</a:t>
                      </a:r>
                      <a:endParaRPr lang="en-US" sz="1600" kern="0" baseline="0" dirty="0">
                        <a:solidFill>
                          <a:srgbClr val="333333"/>
                        </a:solidFill>
                        <a:effectLst/>
                      </a:endParaRPr>
                    </a:p>
                  </a:txBody>
                  <a:tcPr marL="114300" marR="114300" marT="152400" marB="152400" anchor="ctr"/>
                </a:tc>
                <a:extLst>
                  <a:ext uri="{0D108BD9-81ED-4DB2-BD59-A6C34878D82A}">
                    <a16:rowId xmlns:a16="http://schemas.microsoft.com/office/drawing/2014/main" val="1180116845"/>
                  </a:ext>
                </a:extLst>
              </a:tr>
            </a:tbl>
          </a:graphicData>
        </a:graphic>
      </p:graphicFrame>
      <p:pic>
        <p:nvPicPr>
          <p:cNvPr id="12" name="Рисунок 11">
            <a:extLst>
              <a:ext uri="{FF2B5EF4-FFF2-40B4-BE49-F238E27FC236}">
                <a16:creationId xmlns:a16="http://schemas.microsoft.com/office/drawing/2014/main" id="{7BDC1E2D-C877-416D-88E3-21014A8CA8E3}"/>
              </a:ext>
            </a:extLst>
          </p:cNvPr>
          <p:cNvPicPr>
            <a:picLocks noChangeAspect="1"/>
          </p:cNvPicPr>
          <p:nvPr/>
        </p:nvPicPr>
        <p:blipFill>
          <a:blip r:embed="rId4"/>
          <a:stretch>
            <a:fillRect/>
          </a:stretch>
        </p:blipFill>
        <p:spPr>
          <a:xfrm>
            <a:off x="6632570" y="1286893"/>
            <a:ext cx="2210108" cy="2514951"/>
          </a:xfrm>
          <a:prstGeom prst="rect">
            <a:avLst/>
          </a:prstGeom>
        </p:spPr>
      </p:pic>
      <p:sp>
        <p:nvSpPr>
          <p:cNvPr id="13" name="TextBox 12">
            <a:extLst>
              <a:ext uri="{FF2B5EF4-FFF2-40B4-BE49-F238E27FC236}">
                <a16:creationId xmlns:a16="http://schemas.microsoft.com/office/drawing/2014/main" id="{667D7F2D-18A9-42F3-9EE5-E1E906463687}"/>
              </a:ext>
            </a:extLst>
          </p:cNvPr>
          <p:cNvSpPr txBox="1"/>
          <p:nvPr/>
        </p:nvSpPr>
        <p:spPr>
          <a:xfrm>
            <a:off x="6420349" y="763673"/>
            <a:ext cx="2433413" cy="523220"/>
          </a:xfrm>
          <a:prstGeom prst="rect">
            <a:avLst/>
          </a:prstGeom>
          <a:noFill/>
        </p:spPr>
        <p:txBody>
          <a:bodyPr wrap="square" rtlCol="0">
            <a:spAutoFit/>
          </a:bodyPr>
          <a:lstStyle/>
          <a:p>
            <a:pPr algn="ctr"/>
            <a:r>
              <a:rPr lang="ru-RU" sz="1400" dirty="0"/>
              <a:t>Условное FP-дерево для предмета a</a:t>
            </a:r>
          </a:p>
        </p:txBody>
      </p:sp>
      <p:sp>
        <p:nvSpPr>
          <p:cNvPr id="14" name="TextBox 13">
            <a:extLst>
              <a:ext uri="{FF2B5EF4-FFF2-40B4-BE49-F238E27FC236}">
                <a16:creationId xmlns:a16="http://schemas.microsoft.com/office/drawing/2014/main" id="{ED0C08AD-0A85-45C5-9245-AE4C2F0F7B10}"/>
              </a:ext>
            </a:extLst>
          </p:cNvPr>
          <p:cNvSpPr txBox="1"/>
          <p:nvPr/>
        </p:nvSpPr>
        <p:spPr>
          <a:xfrm>
            <a:off x="166962" y="4331378"/>
            <a:ext cx="8686800" cy="2308324"/>
          </a:xfrm>
          <a:prstGeom prst="rect">
            <a:avLst/>
          </a:prstGeom>
          <a:noFill/>
        </p:spPr>
        <p:txBody>
          <a:bodyPr wrap="square" rtlCol="0">
            <a:spAutoFit/>
          </a:bodyPr>
          <a:lstStyle/>
          <a:p>
            <a:pPr algn="just"/>
            <a:r>
              <a:rPr lang="ru-RU" dirty="0">
                <a:latin typeface="+mn-lt"/>
              </a:rPr>
              <a:t>Начнем с предмета </a:t>
            </a:r>
            <a:r>
              <a:rPr lang="ru-RU" b="1" dirty="0">
                <a:solidFill>
                  <a:srgbClr val="C00000"/>
                </a:solidFill>
                <a:latin typeface="+mn-lt"/>
              </a:rPr>
              <a:t>a</a:t>
            </a:r>
            <a:r>
              <a:rPr lang="ru-RU" dirty="0">
                <a:latin typeface="+mn-lt"/>
              </a:rPr>
              <a:t>, который имеет поддержку 3. Префиксы путей, ведущих к узлам, связанным с </a:t>
            </a:r>
            <a:r>
              <a:rPr lang="ru-RU" b="1" dirty="0">
                <a:solidFill>
                  <a:srgbClr val="C00000"/>
                </a:solidFill>
                <a:latin typeface="+mn-lt"/>
              </a:rPr>
              <a:t>a</a:t>
            </a:r>
            <a:r>
              <a:rPr lang="ru-RU" dirty="0">
                <a:latin typeface="+mn-lt"/>
              </a:rPr>
              <a:t>, будут: (</a:t>
            </a:r>
            <a:r>
              <a:rPr lang="ru-RU" b="1" dirty="0">
                <a:solidFill>
                  <a:srgbClr val="C00000"/>
                </a:solidFill>
                <a:latin typeface="+mn-lt"/>
              </a:rPr>
              <a:t>c b d e </a:t>
            </a:r>
            <a:r>
              <a:rPr lang="ru-RU" strike="sngStrike" dirty="0">
                <a:latin typeface="+mn-lt"/>
              </a:rPr>
              <a:t>a</a:t>
            </a:r>
            <a:r>
              <a:rPr lang="ru-RU" dirty="0">
                <a:latin typeface="+mn-lt"/>
              </a:rPr>
              <a:t>, 1), (</a:t>
            </a:r>
            <a:r>
              <a:rPr lang="ru-RU" b="1" dirty="0">
                <a:solidFill>
                  <a:srgbClr val="C00000"/>
                </a:solidFill>
                <a:latin typeface="+mn-lt"/>
              </a:rPr>
              <a:t>c b</a:t>
            </a:r>
            <a:r>
              <a:rPr lang="ru-RU" dirty="0">
                <a:latin typeface="+mn-lt"/>
              </a:rPr>
              <a:t> </a:t>
            </a:r>
            <a:r>
              <a:rPr lang="ru-RU" strike="sngStrike" dirty="0">
                <a:latin typeface="+mn-lt"/>
              </a:rPr>
              <a:t>a</a:t>
            </a:r>
            <a:r>
              <a:rPr lang="ru-RU" dirty="0">
                <a:latin typeface="+mn-lt"/>
              </a:rPr>
              <a:t>, 1), (</a:t>
            </a:r>
            <a:r>
              <a:rPr lang="ru-RU" b="1" dirty="0">
                <a:solidFill>
                  <a:srgbClr val="C00000"/>
                </a:solidFill>
                <a:latin typeface="+mn-lt"/>
              </a:rPr>
              <a:t>c d e </a:t>
            </a:r>
            <a:r>
              <a:rPr lang="ru-RU" strike="sngStrike" dirty="0">
                <a:latin typeface="+mn-lt"/>
              </a:rPr>
              <a:t>a</a:t>
            </a:r>
            <a:r>
              <a:rPr lang="ru-RU" dirty="0">
                <a:latin typeface="+mn-lt"/>
              </a:rPr>
              <a:t>, 1). На основе полученного условного базиса для суффикса a, построим условное FP-дерево.</a:t>
            </a:r>
          </a:p>
          <a:p>
            <a:pPr algn="just"/>
            <a:r>
              <a:rPr lang="ru-RU" b="0" i="0" dirty="0">
                <a:solidFill>
                  <a:srgbClr val="333333"/>
                </a:solidFill>
                <a:effectLst/>
                <a:latin typeface="+mn-lt"/>
              </a:rPr>
              <a:t>Поскольку предметы </a:t>
            </a:r>
            <a:r>
              <a:rPr lang="ru-RU" b="1" i="0" dirty="0">
                <a:solidFill>
                  <a:srgbClr val="C00000"/>
                </a:solidFill>
                <a:effectLst/>
                <a:latin typeface="+mn-lt"/>
              </a:rPr>
              <a:t>d</a:t>
            </a:r>
            <a:r>
              <a:rPr lang="ru-RU" b="0" i="0" dirty="0">
                <a:solidFill>
                  <a:srgbClr val="333333"/>
                </a:solidFill>
                <a:effectLst/>
                <a:latin typeface="+mn-lt"/>
              </a:rPr>
              <a:t> и </a:t>
            </a:r>
            <a:r>
              <a:rPr lang="ru-RU" b="1" i="0" dirty="0">
                <a:solidFill>
                  <a:srgbClr val="C00000"/>
                </a:solidFill>
                <a:effectLst/>
                <a:latin typeface="+mn-lt"/>
              </a:rPr>
              <a:t>e</a:t>
            </a:r>
            <a:r>
              <a:rPr lang="ru-RU" b="0" i="0" dirty="0">
                <a:solidFill>
                  <a:srgbClr val="333333"/>
                </a:solidFill>
                <a:effectLst/>
                <a:latin typeface="+mn-lt"/>
              </a:rPr>
              <a:t> встречаются два раза, то их индексы суммируются, и в итоге мы получим следующий порядок предметов: (</a:t>
            </a:r>
            <a:r>
              <a:rPr lang="ru-RU" b="1" i="0" dirty="0">
                <a:solidFill>
                  <a:srgbClr val="C00000"/>
                </a:solidFill>
                <a:effectLst/>
                <a:latin typeface="+mn-lt"/>
              </a:rPr>
              <a:t>c</a:t>
            </a:r>
            <a:r>
              <a:rPr lang="ru-RU" b="0" i="0" dirty="0">
                <a:solidFill>
                  <a:srgbClr val="333333"/>
                </a:solidFill>
                <a:effectLst/>
                <a:latin typeface="+mn-lt"/>
              </a:rPr>
              <a:t>, 3), (</a:t>
            </a:r>
            <a:r>
              <a:rPr lang="ru-RU" b="1" i="0" dirty="0">
                <a:solidFill>
                  <a:srgbClr val="C00000"/>
                </a:solidFill>
                <a:effectLst/>
                <a:latin typeface="+mn-lt"/>
              </a:rPr>
              <a:t>b</a:t>
            </a:r>
            <a:r>
              <a:rPr lang="ru-RU" b="0" i="0" dirty="0">
                <a:solidFill>
                  <a:srgbClr val="333333"/>
                </a:solidFill>
                <a:effectLst/>
                <a:latin typeface="+mn-lt"/>
              </a:rPr>
              <a:t>, 2), (</a:t>
            </a:r>
            <a:r>
              <a:rPr lang="ru-RU" b="1" i="0" dirty="0">
                <a:solidFill>
                  <a:srgbClr val="C00000"/>
                </a:solidFill>
                <a:effectLst/>
                <a:latin typeface="+mn-lt"/>
              </a:rPr>
              <a:t>d</a:t>
            </a:r>
            <a:r>
              <a:rPr lang="ru-RU" b="0" i="0" dirty="0">
                <a:solidFill>
                  <a:srgbClr val="333333"/>
                </a:solidFill>
                <a:effectLst/>
                <a:latin typeface="+mn-lt"/>
              </a:rPr>
              <a:t>, 2), (</a:t>
            </a:r>
            <a:r>
              <a:rPr lang="ru-RU" b="1" i="0" dirty="0">
                <a:solidFill>
                  <a:srgbClr val="C00000"/>
                </a:solidFill>
                <a:effectLst/>
                <a:latin typeface="+mn-lt"/>
              </a:rPr>
              <a:t>e</a:t>
            </a:r>
            <a:r>
              <a:rPr lang="ru-RU" b="0" i="0" dirty="0">
                <a:solidFill>
                  <a:srgbClr val="333333"/>
                </a:solidFill>
                <a:effectLst/>
                <a:latin typeface="+mn-lt"/>
              </a:rPr>
              <a:t>, 2). Таким образом, только узел </a:t>
            </a:r>
            <a:r>
              <a:rPr lang="ru-RU" b="1" i="0" dirty="0">
                <a:solidFill>
                  <a:srgbClr val="333333"/>
                </a:solidFill>
                <a:effectLst/>
                <a:latin typeface="+mn-lt"/>
              </a:rPr>
              <a:t>c</a:t>
            </a:r>
            <a:r>
              <a:rPr lang="ru-RU" b="0" i="0" dirty="0">
                <a:solidFill>
                  <a:srgbClr val="333333"/>
                </a:solidFill>
                <a:effectLst/>
                <a:latin typeface="+mn-lt"/>
              </a:rPr>
              <a:t> удовлетворяет уровню минимальной поддержки 3. Следовательно, </a:t>
            </a:r>
            <a:r>
              <a:rPr lang="ru-RU" b="0" i="1" dirty="0">
                <a:solidFill>
                  <a:srgbClr val="333333"/>
                </a:solidFill>
                <a:effectLst/>
                <a:latin typeface="+mn-lt"/>
              </a:rPr>
              <a:t>для предмета </a:t>
            </a:r>
            <a:r>
              <a:rPr lang="ru-RU" b="1" i="1" dirty="0">
                <a:solidFill>
                  <a:srgbClr val="C00000"/>
                </a:solidFill>
                <a:effectLst/>
                <a:latin typeface="+mn-lt"/>
              </a:rPr>
              <a:t>a</a:t>
            </a:r>
            <a:r>
              <a:rPr lang="ru-RU" b="0" i="1" dirty="0">
                <a:solidFill>
                  <a:srgbClr val="333333"/>
                </a:solidFill>
                <a:effectLst/>
                <a:latin typeface="+mn-lt"/>
              </a:rPr>
              <a:t> может быть сгенерирован только один популярный набор</a:t>
            </a:r>
            <a:r>
              <a:rPr lang="ru-RU" b="0" i="0" dirty="0">
                <a:solidFill>
                  <a:srgbClr val="333333"/>
                </a:solidFill>
                <a:effectLst/>
                <a:latin typeface="+mn-lt"/>
              </a:rPr>
              <a:t> (</a:t>
            </a:r>
            <a:r>
              <a:rPr lang="ru-RU" b="1" i="0" dirty="0">
                <a:solidFill>
                  <a:srgbClr val="C00000"/>
                </a:solidFill>
                <a:effectLst/>
                <a:latin typeface="+mn-lt"/>
              </a:rPr>
              <a:t>c</a:t>
            </a:r>
            <a:r>
              <a:rPr lang="ru-RU" b="0" i="0" dirty="0">
                <a:solidFill>
                  <a:srgbClr val="333333"/>
                </a:solidFill>
                <a:effectLst/>
                <a:latin typeface="+mn-lt"/>
              </a:rPr>
              <a:t>,</a:t>
            </a:r>
            <a:r>
              <a:rPr lang="ru-RU" b="0" i="0" dirty="0">
                <a:solidFill>
                  <a:srgbClr val="C00000"/>
                </a:solidFill>
                <a:effectLst/>
                <a:latin typeface="+mn-lt"/>
              </a:rPr>
              <a:t> </a:t>
            </a:r>
            <a:r>
              <a:rPr lang="ru-RU" b="1" i="0" dirty="0">
                <a:solidFill>
                  <a:srgbClr val="C00000"/>
                </a:solidFill>
                <a:effectLst/>
                <a:latin typeface="+mn-lt"/>
              </a:rPr>
              <a:t>a</a:t>
            </a:r>
            <a:r>
              <a:rPr lang="ru-RU" b="0" i="0" dirty="0">
                <a:solidFill>
                  <a:srgbClr val="333333"/>
                </a:solidFill>
                <a:effectLst/>
                <a:latin typeface="+mn-lt"/>
              </a:rPr>
              <a:t>, 3).</a:t>
            </a:r>
            <a:endParaRPr lang="ru-RU" dirty="0">
              <a:latin typeface="+mn-lt"/>
            </a:endParaRPr>
          </a:p>
        </p:txBody>
      </p:sp>
      <p:sp>
        <p:nvSpPr>
          <p:cNvPr id="17" name="TextBox 16">
            <a:extLst>
              <a:ext uri="{FF2B5EF4-FFF2-40B4-BE49-F238E27FC236}">
                <a16:creationId xmlns:a16="http://schemas.microsoft.com/office/drawing/2014/main" id="{E339E82C-351C-4721-BF29-2F4C8C1775F9}"/>
              </a:ext>
            </a:extLst>
          </p:cNvPr>
          <p:cNvSpPr txBox="1"/>
          <p:nvPr/>
        </p:nvSpPr>
        <p:spPr>
          <a:xfrm>
            <a:off x="2486257" y="1244949"/>
            <a:ext cx="1400694" cy="2308324"/>
          </a:xfrm>
          <a:prstGeom prst="rect">
            <a:avLst/>
          </a:prstGeom>
          <a:noFill/>
        </p:spPr>
        <p:txBody>
          <a:bodyPr wrap="square" rtlCol="0">
            <a:spAutoFit/>
          </a:bodyPr>
          <a:lstStyle/>
          <a:p>
            <a:pPr algn="ctr"/>
            <a:r>
              <a:rPr lang="ru-RU" sz="1800" b="0" i="0" dirty="0">
                <a:solidFill>
                  <a:srgbClr val="333333"/>
                </a:solidFill>
                <a:effectLst/>
                <a:latin typeface="Source Sans Pro" panose="020B0503030403020204" pitchFamily="34" charset="0"/>
              </a:rPr>
              <a:t>Уровни </a:t>
            </a:r>
          </a:p>
          <a:p>
            <a:pPr algn="ctr"/>
            <a:r>
              <a:rPr lang="ru-RU" sz="1800" b="0" i="0" dirty="0">
                <a:solidFill>
                  <a:srgbClr val="333333"/>
                </a:solidFill>
                <a:effectLst/>
                <a:latin typeface="Source Sans Pro" panose="020B0503030403020204" pitchFamily="34" charset="0"/>
              </a:rPr>
              <a:t>поддержки </a:t>
            </a:r>
          </a:p>
          <a:p>
            <a:pPr algn="ctr"/>
            <a:r>
              <a:rPr lang="ru-RU" sz="1800" b="0" i="0" dirty="0">
                <a:solidFill>
                  <a:srgbClr val="333333"/>
                </a:solidFill>
                <a:effectLst/>
                <a:latin typeface="Source Sans Pro" panose="020B0503030403020204" pitchFamily="34" charset="0"/>
              </a:rPr>
              <a:t>(c, 6), </a:t>
            </a:r>
          </a:p>
          <a:p>
            <a:pPr algn="ctr"/>
            <a:r>
              <a:rPr lang="ru-RU" sz="1800" b="0" i="0" dirty="0">
                <a:solidFill>
                  <a:srgbClr val="333333"/>
                </a:solidFill>
                <a:effectLst/>
                <a:latin typeface="Source Sans Pro" panose="020B0503030403020204" pitchFamily="34" charset="0"/>
              </a:rPr>
              <a:t>(b, 5), </a:t>
            </a:r>
          </a:p>
          <a:p>
            <a:pPr algn="ctr"/>
            <a:r>
              <a:rPr lang="ru-RU" sz="1800" b="0" i="0" dirty="0">
                <a:solidFill>
                  <a:srgbClr val="333333"/>
                </a:solidFill>
                <a:effectLst/>
                <a:latin typeface="Source Sans Pro" panose="020B0503030403020204" pitchFamily="34" charset="0"/>
              </a:rPr>
              <a:t>(d, 5), </a:t>
            </a:r>
          </a:p>
          <a:p>
            <a:pPr algn="ctr"/>
            <a:r>
              <a:rPr lang="ru-RU" sz="1800" b="0" i="0" dirty="0">
                <a:solidFill>
                  <a:srgbClr val="333333"/>
                </a:solidFill>
                <a:effectLst/>
                <a:latin typeface="Source Sans Pro" panose="020B0503030403020204" pitchFamily="34" charset="0"/>
              </a:rPr>
              <a:t>(e, 5), </a:t>
            </a:r>
          </a:p>
          <a:p>
            <a:pPr algn="ctr"/>
            <a:r>
              <a:rPr lang="ru-RU" sz="1800" b="0" i="0" dirty="0">
                <a:solidFill>
                  <a:srgbClr val="333333"/>
                </a:solidFill>
                <a:effectLst/>
                <a:latin typeface="Source Sans Pro" panose="020B0503030403020204" pitchFamily="34" charset="0"/>
              </a:rPr>
              <a:t>(a, 3).</a:t>
            </a:r>
          </a:p>
          <a:p>
            <a:endParaRPr lang="ru-RU" dirty="0"/>
          </a:p>
        </p:txBody>
      </p:sp>
    </p:spTree>
    <p:extLst>
      <p:ext uri="{BB962C8B-B14F-4D97-AF65-F5344CB8AC3E}">
        <p14:creationId xmlns:p14="http://schemas.microsoft.com/office/powerpoint/2010/main" val="1963859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A3C33B-DE99-479B-87B0-F790D727E09E}"/>
              </a:ext>
            </a:extLst>
          </p:cNvPr>
          <p:cNvSpPr>
            <a:spLocks noGrp="1"/>
          </p:cNvSpPr>
          <p:nvPr>
            <p:ph type="title"/>
          </p:nvPr>
        </p:nvSpPr>
        <p:spPr/>
        <p:txBody>
          <a:bodyPr/>
          <a:lstStyle/>
          <a:p>
            <a:pPr algn="ctr"/>
            <a:r>
              <a:rPr lang="ru-RU" dirty="0"/>
              <a:t>Популярный набор для предмета b</a:t>
            </a:r>
          </a:p>
        </p:txBody>
      </p:sp>
      <p:sp>
        <p:nvSpPr>
          <p:cNvPr id="3" name="Объект 2">
            <a:extLst>
              <a:ext uri="{FF2B5EF4-FFF2-40B4-BE49-F238E27FC236}">
                <a16:creationId xmlns:a16="http://schemas.microsoft.com/office/drawing/2014/main" id="{638EA363-0133-41AC-AAA4-75CDFB67E416}"/>
              </a:ext>
            </a:extLst>
          </p:cNvPr>
          <p:cNvSpPr>
            <a:spLocks noGrp="1"/>
          </p:cNvSpPr>
          <p:nvPr>
            <p:ph idx="1"/>
          </p:nvPr>
        </p:nvSpPr>
        <p:spPr/>
        <p:txBody>
          <a:bodyPr/>
          <a:lstStyle/>
          <a:p>
            <a:pPr marL="0" indent="0" algn="just">
              <a:buNone/>
            </a:pPr>
            <a:r>
              <a:rPr lang="ru-RU" b="0" i="0" dirty="0">
                <a:solidFill>
                  <a:srgbClr val="333333"/>
                </a:solidFill>
                <a:effectLst/>
                <a:latin typeface="Source Sans Pro" panose="020B0503030403020204" pitchFamily="34" charset="0"/>
              </a:rPr>
              <a:t>Затем переходим к следующему предмету </a:t>
            </a:r>
            <a:r>
              <a:rPr lang="ru-RU" b="1" i="0" dirty="0">
                <a:solidFill>
                  <a:srgbClr val="333333"/>
                </a:solidFill>
                <a:effectLst/>
                <a:latin typeface="Source Sans Pro" panose="020B0503030403020204" pitchFamily="34" charset="0"/>
              </a:rPr>
              <a:t>b</a:t>
            </a:r>
            <a:r>
              <a:rPr lang="ru-RU" b="0" i="0" dirty="0">
                <a:solidFill>
                  <a:srgbClr val="333333"/>
                </a:solidFill>
                <a:effectLst/>
                <a:latin typeface="Source Sans Pro" panose="020B0503030403020204" pitchFamily="34" charset="0"/>
              </a:rPr>
              <a:t> с поддержкой 5. Условное FP-дерево, построенное для него, будет содержать только один узел </a:t>
            </a:r>
            <a:r>
              <a:rPr lang="ru-RU" b="1" i="0" dirty="0">
                <a:solidFill>
                  <a:srgbClr val="333333"/>
                </a:solidFill>
                <a:effectLst/>
                <a:latin typeface="Source Sans Pro" panose="020B0503030403020204" pitchFamily="34" charset="0"/>
              </a:rPr>
              <a:t>c</a:t>
            </a:r>
            <a:r>
              <a:rPr lang="ru-RU" b="0" i="0" dirty="0">
                <a:solidFill>
                  <a:srgbClr val="333333"/>
                </a:solidFill>
                <a:effectLst/>
                <a:latin typeface="Source Sans Pro" panose="020B0503030403020204" pitchFamily="34" charset="0"/>
              </a:rPr>
              <a:t>, поскольку в дереве присутствует один путь из </a:t>
            </a:r>
            <a:r>
              <a:rPr lang="ru-RU" b="1" i="0" dirty="0">
                <a:solidFill>
                  <a:srgbClr val="333333"/>
                </a:solidFill>
                <a:effectLst/>
                <a:latin typeface="Source Sans Pro" panose="020B0503030403020204" pitchFamily="34" charset="0"/>
              </a:rPr>
              <a:t>с </a:t>
            </a:r>
            <a:r>
              <a:rPr lang="ru-RU" i="0" dirty="0">
                <a:solidFill>
                  <a:srgbClr val="333333"/>
                </a:solidFill>
                <a:effectLst/>
                <a:latin typeface="Source Sans Pro" panose="020B0503030403020204" pitchFamily="34" charset="0"/>
              </a:rPr>
              <a:t>в</a:t>
            </a:r>
            <a:r>
              <a:rPr lang="ru-RU" b="1" i="0" dirty="0">
                <a:solidFill>
                  <a:srgbClr val="333333"/>
                </a:solidFill>
                <a:effectLst/>
                <a:latin typeface="Source Sans Pro" panose="020B0503030403020204" pitchFamily="34" charset="0"/>
              </a:rPr>
              <a:t> b</a:t>
            </a:r>
            <a:r>
              <a:rPr lang="ru-RU" b="0" i="0" dirty="0">
                <a:solidFill>
                  <a:srgbClr val="333333"/>
                </a:solidFill>
                <a:effectLst/>
                <a:latin typeface="Source Sans Pro" panose="020B0503030403020204" pitchFamily="34" charset="0"/>
              </a:rPr>
              <a:t>, а суффикс </a:t>
            </a:r>
            <a:r>
              <a:rPr lang="ru-RU" b="1" i="0" dirty="0">
                <a:solidFill>
                  <a:srgbClr val="333333"/>
                </a:solidFill>
                <a:effectLst/>
                <a:latin typeface="Source Sans Pro" panose="020B0503030403020204" pitchFamily="34" charset="0"/>
              </a:rPr>
              <a:t>b</a:t>
            </a:r>
            <a:r>
              <a:rPr lang="ru-RU" b="0" i="0" dirty="0">
                <a:solidFill>
                  <a:srgbClr val="333333"/>
                </a:solidFill>
                <a:effectLst/>
                <a:latin typeface="Source Sans Pro" panose="020B0503030403020204" pitchFamily="34" charset="0"/>
              </a:rPr>
              <a:t> исключается. </a:t>
            </a:r>
            <a:endParaRPr lang="ru-RU" dirty="0"/>
          </a:p>
        </p:txBody>
      </p:sp>
      <p:sp>
        <p:nvSpPr>
          <p:cNvPr id="4" name="Нижний колонтитул 3">
            <a:extLst>
              <a:ext uri="{FF2B5EF4-FFF2-40B4-BE49-F238E27FC236}">
                <a16:creationId xmlns:a16="http://schemas.microsoft.com/office/drawing/2014/main" id="{721700D8-72BE-4965-B656-4C947103B123}"/>
              </a:ext>
            </a:extLst>
          </p:cNvPr>
          <p:cNvSpPr>
            <a:spLocks noGrp="1"/>
          </p:cNvSpPr>
          <p:nvPr>
            <p:ph type="ftr" sz="quarter" idx="11"/>
          </p:nvPr>
        </p:nvSpPr>
        <p:spPr/>
        <p:txBody>
          <a:bodyPr/>
          <a:lstStyle/>
          <a:p>
            <a:endParaRPr lang="ru-RU" dirty="0"/>
          </a:p>
        </p:txBody>
      </p:sp>
      <p:sp>
        <p:nvSpPr>
          <p:cNvPr id="5" name="Номер слайда 4">
            <a:extLst>
              <a:ext uri="{FF2B5EF4-FFF2-40B4-BE49-F238E27FC236}">
                <a16:creationId xmlns:a16="http://schemas.microsoft.com/office/drawing/2014/main" id="{6B2F3331-F39F-4A67-9539-880095AC9D8A}"/>
              </a:ext>
            </a:extLst>
          </p:cNvPr>
          <p:cNvSpPr>
            <a:spLocks noGrp="1"/>
          </p:cNvSpPr>
          <p:nvPr>
            <p:ph type="sldNum" sz="quarter" idx="12"/>
          </p:nvPr>
        </p:nvSpPr>
        <p:spPr/>
        <p:txBody>
          <a:bodyPr/>
          <a:lstStyle/>
          <a:p>
            <a:fld id="{81C5FB71-5E9C-41B5-9BB8-3F1EBEAEB16A}" type="slidenum">
              <a:rPr lang="ru-RU" smtClean="0"/>
              <a:t>61</a:t>
            </a:fld>
            <a:endParaRPr lang="ru-RU"/>
          </a:p>
        </p:txBody>
      </p:sp>
      <p:pic>
        <p:nvPicPr>
          <p:cNvPr id="7" name="Рисунок 6">
            <a:extLst>
              <a:ext uri="{FF2B5EF4-FFF2-40B4-BE49-F238E27FC236}">
                <a16:creationId xmlns:a16="http://schemas.microsoft.com/office/drawing/2014/main" id="{1FDAC890-4FF9-4101-8F37-64649E2634BD}"/>
              </a:ext>
            </a:extLst>
          </p:cNvPr>
          <p:cNvPicPr>
            <a:picLocks noChangeAspect="1"/>
          </p:cNvPicPr>
          <p:nvPr/>
        </p:nvPicPr>
        <p:blipFill>
          <a:blip r:embed="rId2"/>
          <a:stretch>
            <a:fillRect/>
          </a:stretch>
        </p:blipFill>
        <p:spPr>
          <a:xfrm>
            <a:off x="3995657" y="3585550"/>
            <a:ext cx="1152686" cy="1409897"/>
          </a:xfrm>
          <a:prstGeom prst="rect">
            <a:avLst/>
          </a:prstGeom>
        </p:spPr>
      </p:pic>
      <p:sp>
        <p:nvSpPr>
          <p:cNvPr id="8" name="TextBox 7">
            <a:extLst>
              <a:ext uri="{FF2B5EF4-FFF2-40B4-BE49-F238E27FC236}">
                <a16:creationId xmlns:a16="http://schemas.microsoft.com/office/drawing/2014/main" id="{8E7A68DA-BFD0-4721-AFFF-8BF3ACAF506D}"/>
              </a:ext>
            </a:extLst>
          </p:cNvPr>
          <p:cNvSpPr txBox="1"/>
          <p:nvPr/>
        </p:nvSpPr>
        <p:spPr>
          <a:xfrm>
            <a:off x="3305175" y="2782669"/>
            <a:ext cx="2667000" cy="646331"/>
          </a:xfrm>
          <a:prstGeom prst="rect">
            <a:avLst/>
          </a:prstGeom>
          <a:noFill/>
        </p:spPr>
        <p:txBody>
          <a:bodyPr wrap="square" rtlCol="0">
            <a:spAutoFit/>
          </a:bodyPr>
          <a:lstStyle/>
          <a:p>
            <a:pPr algn="ctr"/>
            <a:r>
              <a:rPr lang="ru-RU" dirty="0"/>
              <a:t>Условное FP-дерево для суффикса b</a:t>
            </a:r>
          </a:p>
        </p:txBody>
      </p:sp>
      <p:sp>
        <p:nvSpPr>
          <p:cNvPr id="9" name="TextBox 8">
            <a:extLst>
              <a:ext uri="{FF2B5EF4-FFF2-40B4-BE49-F238E27FC236}">
                <a16:creationId xmlns:a16="http://schemas.microsoft.com/office/drawing/2014/main" id="{415166EA-AE92-408C-BC9A-DB26BF826522}"/>
              </a:ext>
            </a:extLst>
          </p:cNvPr>
          <p:cNvSpPr txBox="1"/>
          <p:nvPr/>
        </p:nvSpPr>
        <p:spPr>
          <a:xfrm>
            <a:off x="762000" y="5151998"/>
            <a:ext cx="7753350" cy="923330"/>
          </a:xfrm>
          <a:prstGeom prst="rect">
            <a:avLst/>
          </a:prstGeom>
          <a:noFill/>
        </p:spPr>
        <p:txBody>
          <a:bodyPr wrap="square" rtlCol="0">
            <a:spAutoFit/>
          </a:bodyPr>
          <a:lstStyle/>
          <a:p>
            <a:pPr algn="just"/>
            <a:r>
              <a:rPr lang="ru-RU" dirty="0"/>
              <a:t>Таким образом, префиксы путей будут (c b, 4) и (b, 1), и, следовательно, для предмета b будет иметь место только один популярный набор (c b, 4).</a:t>
            </a:r>
          </a:p>
        </p:txBody>
      </p:sp>
    </p:spTree>
    <p:extLst>
      <p:ext uri="{BB962C8B-B14F-4D97-AF65-F5344CB8AC3E}">
        <p14:creationId xmlns:p14="http://schemas.microsoft.com/office/powerpoint/2010/main" val="14260765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A3C33B-DE99-479B-87B0-F790D727E09E}"/>
              </a:ext>
            </a:extLst>
          </p:cNvPr>
          <p:cNvSpPr>
            <a:spLocks noGrp="1"/>
          </p:cNvSpPr>
          <p:nvPr>
            <p:ph type="title"/>
          </p:nvPr>
        </p:nvSpPr>
        <p:spPr/>
        <p:txBody>
          <a:bodyPr/>
          <a:lstStyle/>
          <a:p>
            <a:pPr algn="ctr"/>
            <a:r>
              <a:rPr lang="ru-RU" dirty="0"/>
              <a:t>Популярный набор для предмета </a:t>
            </a:r>
            <a:r>
              <a:rPr lang="en-US" dirty="0"/>
              <a:t>c</a:t>
            </a:r>
            <a:endParaRPr lang="ru-RU" dirty="0"/>
          </a:p>
        </p:txBody>
      </p:sp>
      <p:sp>
        <p:nvSpPr>
          <p:cNvPr id="3" name="Объект 2">
            <a:extLst>
              <a:ext uri="{FF2B5EF4-FFF2-40B4-BE49-F238E27FC236}">
                <a16:creationId xmlns:a16="http://schemas.microsoft.com/office/drawing/2014/main" id="{638EA363-0133-41AC-AAA4-75CDFB67E416}"/>
              </a:ext>
            </a:extLst>
          </p:cNvPr>
          <p:cNvSpPr>
            <a:spLocks noGrp="1"/>
          </p:cNvSpPr>
          <p:nvPr>
            <p:ph idx="1"/>
          </p:nvPr>
        </p:nvSpPr>
        <p:spPr/>
        <p:txBody>
          <a:bodyPr/>
          <a:lstStyle/>
          <a:p>
            <a:pPr marL="0" indent="0" algn="just">
              <a:buNone/>
            </a:pPr>
            <a:r>
              <a:rPr lang="ru-RU" b="0" i="0" dirty="0">
                <a:solidFill>
                  <a:srgbClr val="333333"/>
                </a:solidFill>
                <a:effectLst/>
                <a:latin typeface="Source Sans Pro" panose="020B0503030403020204" pitchFamily="34" charset="0"/>
              </a:rPr>
              <a:t>Для предмета </a:t>
            </a:r>
            <a:r>
              <a:rPr lang="ru-RU" b="1" i="0" dirty="0">
                <a:solidFill>
                  <a:srgbClr val="333333"/>
                </a:solidFill>
                <a:effectLst/>
                <a:latin typeface="Source Sans Pro" panose="020B0503030403020204" pitchFamily="34" charset="0"/>
              </a:rPr>
              <a:t>c</a:t>
            </a:r>
            <a:r>
              <a:rPr lang="ru-RU" b="0" i="0" dirty="0">
                <a:solidFill>
                  <a:srgbClr val="333333"/>
                </a:solidFill>
                <a:effectLst/>
                <a:latin typeface="Source Sans Pro" panose="020B0503030403020204" pitchFamily="34" charset="0"/>
              </a:rPr>
              <a:t>, поскольку он является непосредственным потомком корневого узла, нельзя указать путь (см. рис. 7). Значит, префикс путей для него будет пустым, из чего следует, что и популярные предметные наборы отсутствуют.</a:t>
            </a:r>
            <a:endParaRPr lang="ru-RU" dirty="0"/>
          </a:p>
        </p:txBody>
      </p:sp>
      <p:sp>
        <p:nvSpPr>
          <p:cNvPr id="4" name="Нижний колонтитул 3">
            <a:extLst>
              <a:ext uri="{FF2B5EF4-FFF2-40B4-BE49-F238E27FC236}">
                <a16:creationId xmlns:a16="http://schemas.microsoft.com/office/drawing/2014/main" id="{721700D8-72BE-4965-B656-4C947103B123}"/>
              </a:ext>
            </a:extLst>
          </p:cNvPr>
          <p:cNvSpPr>
            <a:spLocks noGrp="1"/>
          </p:cNvSpPr>
          <p:nvPr>
            <p:ph type="ftr" sz="quarter" idx="11"/>
          </p:nvPr>
        </p:nvSpPr>
        <p:spPr/>
        <p:txBody>
          <a:bodyPr/>
          <a:lstStyle/>
          <a:p>
            <a:endParaRPr lang="ru-RU" dirty="0"/>
          </a:p>
        </p:txBody>
      </p:sp>
      <p:sp>
        <p:nvSpPr>
          <p:cNvPr id="5" name="Номер слайда 4">
            <a:extLst>
              <a:ext uri="{FF2B5EF4-FFF2-40B4-BE49-F238E27FC236}">
                <a16:creationId xmlns:a16="http://schemas.microsoft.com/office/drawing/2014/main" id="{6B2F3331-F39F-4A67-9539-880095AC9D8A}"/>
              </a:ext>
            </a:extLst>
          </p:cNvPr>
          <p:cNvSpPr>
            <a:spLocks noGrp="1"/>
          </p:cNvSpPr>
          <p:nvPr>
            <p:ph type="sldNum" sz="quarter" idx="12"/>
          </p:nvPr>
        </p:nvSpPr>
        <p:spPr/>
        <p:txBody>
          <a:bodyPr/>
          <a:lstStyle/>
          <a:p>
            <a:fld id="{81C5FB71-5E9C-41B5-9BB8-3F1EBEAEB16A}" type="slidenum">
              <a:rPr lang="ru-RU" smtClean="0"/>
              <a:t>62</a:t>
            </a:fld>
            <a:endParaRPr lang="ru-RU"/>
          </a:p>
        </p:txBody>
      </p:sp>
    </p:spTree>
    <p:extLst>
      <p:ext uri="{BB962C8B-B14F-4D97-AF65-F5344CB8AC3E}">
        <p14:creationId xmlns:p14="http://schemas.microsoft.com/office/powerpoint/2010/main" val="15282440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A3C33B-DE99-479B-87B0-F790D727E09E}"/>
              </a:ext>
            </a:extLst>
          </p:cNvPr>
          <p:cNvSpPr>
            <a:spLocks noGrp="1"/>
          </p:cNvSpPr>
          <p:nvPr>
            <p:ph type="title"/>
          </p:nvPr>
        </p:nvSpPr>
        <p:spPr/>
        <p:txBody>
          <a:bodyPr/>
          <a:lstStyle/>
          <a:p>
            <a:pPr algn="ctr"/>
            <a:r>
              <a:rPr lang="ru-RU" dirty="0"/>
              <a:t>Популярный набор для предмета </a:t>
            </a:r>
            <a:r>
              <a:rPr lang="en-US" dirty="0"/>
              <a:t>d</a:t>
            </a:r>
            <a:endParaRPr lang="ru-RU" dirty="0"/>
          </a:p>
        </p:txBody>
      </p:sp>
      <p:sp>
        <p:nvSpPr>
          <p:cNvPr id="3" name="Объект 2">
            <a:extLst>
              <a:ext uri="{FF2B5EF4-FFF2-40B4-BE49-F238E27FC236}">
                <a16:creationId xmlns:a16="http://schemas.microsoft.com/office/drawing/2014/main" id="{638EA363-0133-41AC-AAA4-75CDFB67E416}"/>
              </a:ext>
            </a:extLst>
          </p:cNvPr>
          <p:cNvSpPr>
            <a:spLocks noGrp="1"/>
          </p:cNvSpPr>
          <p:nvPr>
            <p:ph idx="1"/>
          </p:nvPr>
        </p:nvSpPr>
        <p:spPr>
          <a:xfrm>
            <a:off x="542925" y="1176459"/>
            <a:ext cx="8058150" cy="4818181"/>
          </a:xfrm>
        </p:spPr>
        <p:txBody>
          <a:bodyPr/>
          <a:lstStyle/>
          <a:p>
            <a:pPr marL="0" indent="0" algn="just">
              <a:buNone/>
            </a:pPr>
            <a:r>
              <a:rPr lang="ru-RU" b="0" i="0" dirty="0">
                <a:solidFill>
                  <a:srgbClr val="333333"/>
                </a:solidFill>
                <a:effectLst/>
                <a:latin typeface="Source Sans Pro" panose="020B0503030403020204" pitchFamily="34" charset="0"/>
              </a:rPr>
              <a:t>Следующий предмет, для которого мы произведем поиск популярных предметных наборов, будет d с поддержкой равной 5.</a:t>
            </a:r>
            <a:endParaRPr lang="ru-RU" dirty="0"/>
          </a:p>
        </p:txBody>
      </p:sp>
      <p:sp>
        <p:nvSpPr>
          <p:cNvPr id="4" name="Нижний колонтитул 3">
            <a:extLst>
              <a:ext uri="{FF2B5EF4-FFF2-40B4-BE49-F238E27FC236}">
                <a16:creationId xmlns:a16="http://schemas.microsoft.com/office/drawing/2014/main" id="{721700D8-72BE-4965-B656-4C947103B123}"/>
              </a:ext>
            </a:extLst>
          </p:cNvPr>
          <p:cNvSpPr>
            <a:spLocks noGrp="1"/>
          </p:cNvSpPr>
          <p:nvPr>
            <p:ph type="ftr" sz="quarter" idx="11"/>
          </p:nvPr>
        </p:nvSpPr>
        <p:spPr/>
        <p:txBody>
          <a:bodyPr/>
          <a:lstStyle/>
          <a:p>
            <a:endParaRPr lang="ru-RU" dirty="0"/>
          </a:p>
        </p:txBody>
      </p:sp>
      <p:sp>
        <p:nvSpPr>
          <p:cNvPr id="5" name="Номер слайда 4">
            <a:extLst>
              <a:ext uri="{FF2B5EF4-FFF2-40B4-BE49-F238E27FC236}">
                <a16:creationId xmlns:a16="http://schemas.microsoft.com/office/drawing/2014/main" id="{6B2F3331-F39F-4A67-9539-880095AC9D8A}"/>
              </a:ext>
            </a:extLst>
          </p:cNvPr>
          <p:cNvSpPr>
            <a:spLocks noGrp="1"/>
          </p:cNvSpPr>
          <p:nvPr>
            <p:ph type="sldNum" sz="quarter" idx="12"/>
          </p:nvPr>
        </p:nvSpPr>
        <p:spPr/>
        <p:txBody>
          <a:bodyPr/>
          <a:lstStyle/>
          <a:p>
            <a:fld id="{81C5FB71-5E9C-41B5-9BB8-3F1EBEAEB16A}" type="slidenum">
              <a:rPr lang="ru-RU" smtClean="0"/>
              <a:t>63</a:t>
            </a:fld>
            <a:endParaRPr lang="ru-RU"/>
          </a:p>
        </p:txBody>
      </p:sp>
      <p:sp>
        <p:nvSpPr>
          <p:cNvPr id="8" name="TextBox 7">
            <a:extLst>
              <a:ext uri="{FF2B5EF4-FFF2-40B4-BE49-F238E27FC236}">
                <a16:creationId xmlns:a16="http://schemas.microsoft.com/office/drawing/2014/main" id="{8E7A68DA-BFD0-4721-AFFF-8BF3ACAF506D}"/>
              </a:ext>
            </a:extLst>
          </p:cNvPr>
          <p:cNvSpPr txBox="1"/>
          <p:nvPr/>
        </p:nvSpPr>
        <p:spPr>
          <a:xfrm>
            <a:off x="3064439" y="2149001"/>
            <a:ext cx="2574361" cy="646331"/>
          </a:xfrm>
          <a:prstGeom prst="rect">
            <a:avLst/>
          </a:prstGeom>
          <a:noFill/>
        </p:spPr>
        <p:txBody>
          <a:bodyPr wrap="square" rtlCol="0">
            <a:spAutoFit/>
          </a:bodyPr>
          <a:lstStyle/>
          <a:p>
            <a:pPr algn="ctr"/>
            <a:r>
              <a:rPr lang="ru-RU" b="0" i="0" dirty="0">
                <a:solidFill>
                  <a:srgbClr val="333333"/>
                </a:solidFill>
                <a:effectLst/>
                <a:latin typeface="Source Sans Pro" panose="020B0503030403020204" pitchFamily="34" charset="0"/>
              </a:rPr>
              <a:t>Условное FP-дерево, </a:t>
            </a:r>
            <a:r>
              <a:rPr lang="ru-RU" dirty="0">
                <a:solidFill>
                  <a:srgbClr val="333333"/>
                </a:solidFill>
                <a:latin typeface="Source Sans Pro" panose="020B0503030403020204" pitchFamily="34" charset="0"/>
              </a:rPr>
              <a:t>для</a:t>
            </a:r>
            <a:r>
              <a:rPr lang="ru-RU" b="0" i="0" dirty="0">
                <a:solidFill>
                  <a:srgbClr val="333333"/>
                </a:solidFill>
                <a:effectLst/>
                <a:latin typeface="Source Sans Pro" panose="020B0503030403020204" pitchFamily="34" charset="0"/>
              </a:rPr>
              <a:t> предмета </a:t>
            </a:r>
            <a:r>
              <a:rPr lang="ru-RU" b="1" i="0" dirty="0">
                <a:solidFill>
                  <a:srgbClr val="333333"/>
                </a:solidFill>
                <a:effectLst/>
                <a:latin typeface="Source Sans Pro" panose="020B0503030403020204" pitchFamily="34" charset="0"/>
              </a:rPr>
              <a:t>d</a:t>
            </a:r>
            <a:endParaRPr lang="ru-RU" dirty="0"/>
          </a:p>
        </p:txBody>
      </p:sp>
      <p:sp>
        <p:nvSpPr>
          <p:cNvPr id="9" name="TextBox 8">
            <a:extLst>
              <a:ext uri="{FF2B5EF4-FFF2-40B4-BE49-F238E27FC236}">
                <a16:creationId xmlns:a16="http://schemas.microsoft.com/office/drawing/2014/main" id="{415166EA-AE92-408C-BC9A-DB26BF826522}"/>
              </a:ext>
            </a:extLst>
          </p:cNvPr>
          <p:cNvSpPr txBox="1"/>
          <p:nvPr/>
        </p:nvSpPr>
        <p:spPr>
          <a:xfrm>
            <a:off x="762000" y="5151998"/>
            <a:ext cx="7753350" cy="1200329"/>
          </a:xfrm>
          <a:prstGeom prst="rect">
            <a:avLst/>
          </a:prstGeom>
          <a:noFill/>
        </p:spPr>
        <p:txBody>
          <a:bodyPr wrap="square" rtlCol="0">
            <a:spAutoFit/>
          </a:bodyPr>
          <a:lstStyle/>
          <a:p>
            <a:pPr algn="just"/>
            <a:r>
              <a:rPr lang="ru-RU" dirty="0"/>
              <a:t>Префиксы путей для условного дерева, связанного с предметом </a:t>
            </a:r>
            <a:r>
              <a:rPr lang="ru-RU" b="1" dirty="0">
                <a:solidFill>
                  <a:srgbClr val="C00000"/>
                </a:solidFill>
              </a:rPr>
              <a:t>d</a:t>
            </a:r>
            <a:r>
              <a:rPr lang="ru-RU" dirty="0"/>
              <a:t>, будут: (</a:t>
            </a:r>
            <a:r>
              <a:rPr lang="ru-RU" b="1" dirty="0">
                <a:solidFill>
                  <a:srgbClr val="C00000"/>
                </a:solidFill>
              </a:rPr>
              <a:t>c b</a:t>
            </a:r>
            <a:r>
              <a:rPr lang="ru-RU" dirty="0"/>
              <a:t> </a:t>
            </a:r>
            <a:r>
              <a:rPr lang="ru-RU" strike="sngStrike" dirty="0"/>
              <a:t>d</a:t>
            </a:r>
            <a:r>
              <a:rPr lang="ru-RU" dirty="0"/>
              <a:t>, 2), (</a:t>
            </a:r>
            <a:r>
              <a:rPr lang="ru-RU" b="1" dirty="0">
                <a:solidFill>
                  <a:srgbClr val="C00000"/>
                </a:solidFill>
              </a:rPr>
              <a:t>c</a:t>
            </a:r>
            <a:r>
              <a:rPr lang="ru-RU" dirty="0"/>
              <a:t> </a:t>
            </a:r>
            <a:r>
              <a:rPr lang="ru-RU" strike="sngStrike" dirty="0"/>
              <a:t>d</a:t>
            </a:r>
            <a:r>
              <a:rPr lang="ru-RU" dirty="0"/>
              <a:t>, 2) и (</a:t>
            </a:r>
            <a:r>
              <a:rPr lang="ru-RU" b="1" dirty="0">
                <a:solidFill>
                  <a:srgbClr val="C00000"/>
                </a:solidFill>
              </a:rPr>
              <a:t>b</a:t>
            </a:r>
            <a:r>
              <a:rPr lang="ru-RU" dirty="0"/>
              <a:t> </a:t>
            </a:r>
            <a:r>
              <a:rPr lang="ru-RU" strike="sngStrike" dirty="0"/>
              <a:t>d</a:t>
            </a:r>
            <a:r>
              <a:rPr lang="ru-RU" dirty="0"/>
              <a:t>, 1). Учитывая, что индексы для узлов b суммируются, то соответствующие популярные предметные наборы будут (</a:t>
            </a:r>
            <a:r>
              <a:rPr lang="ru-RU" b="1" dirty="0">
                <a:solidFill>
                  <a:srgbClr val="C00000"/>
                </a:solidFill>
              </a:rPr>
              <a:t>c</a:t>
            </a:r>
            <a:r>
              <a:rPr lang="ru-RU" dirty="0"/>
              <a:t>, </a:t>
            </a:r>
            <a:r>
              <a:rPr lang="ru-RU" b="1" dirty="0">
                <a:solidFill>
                  <a:srgbClr val="C00000"/>
                </a:solidFill>
              </a:rPr>
              <a:t>d</a:t>
            </a:r>
            <a:r>
              <a:rPr lang="ru-RU" dirty="0"/>
              <a:t>, 4) и (</a:t>
            </a:r>
            <a:r>
              <a:rPr lang="ru-RU" b="1" dirty="0">
                <a:solidFill>
                  <a:srgbClr val="C00000"/>
                </a:solidFill>
              </a:rPr>
              <a:t>b</a:t>
            </a:r>
            <a:r>
              <a:rPr lang="ru-RU" dirty="0"/>
              <a:t>, </a:t>
            </a:r>
            <a:r>
              <a:rPr lang="ru-RU" b="1" dirty="0">
                <a:solidFill>
                  <a:srgbClr val="C00000"/>
                </a:solidFill>
              </a:rPr>
              <a:t>d</a:t>
            </a:r>
            <a:r>
              <a:rPr lang="ru-RU" dirty="0"/>
              <a:t>, 3).</a:t>
            </a:r>
          </a:p>
        </p:txBody>
      </p:sp>
      <p:pic>
        <p:nvPicPr>
          <p:cNvPr id="10" name="Рисунок 9">
            <a:extLst>
              <a:ext uri="{FF2B5EF4-FFF2-40B4-BE49-F238E27FC236}">
                <a16:creationId xmlns:a16="http://schemas.microsoft.com/office/drawing/2014/main" id="{BC054C48-747B-494A-94F1-84AEFCEFD753}"/>
              </a:ext>
            </a:extLst>
          </p:cNvPr>
          <p:cNvPicPr>
            <a:picLocks noChangeAspect="1"/>
          </p:cNvPicPr>
          <p:nvPr/>
        </p:nvPicPr>
        <p:blipFill>
          <a:blip r:embed="rId2"/>
          <a:stretch>
            <a:fillRect/>
          </a:stretch>
        </p:blipFill>
        <p:spPr>
          <a:xfrm>
            <a:off x="3578664" y="2959111"/>
            <a:ext cx="1781424" cy="2029108"/>
          </a:xfrm>
          <a:prstGeom prst="rect">
            <a:avLst/>
          </a:prstGeom>
        </p:spPr>
      </p:pic>
    </p:spTree>
    <p:extLst>
      <p:ext uri="{BB962C8B-B14F-4D97-AF65-F5344CB8AC3E}">
        <p14:creationId xmlns:p14="http://schemas.microsoft.com/office/powerpoint/2010/main" val="7674079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A3C33B-DE99-479B-87B0-F790D727E09E}"/>
              </a:ext>
            </a:extLst>
          </p:cNvPr>
          <p:cNvSpPr>
            <a:spLocks noGrp="1"/>
          </p:cNvSpPr>
          <p:nvPr>
            <p:ph type="title"/>
          </p:nvPr>
        </p:nvSpPr>
        <p:spPr>
          <a:xfrm>
            <a:off x="628650" y="70791"/>
            <a:ext cx="7886700" cy="792568"/>
          </a:xfrm>
        </p:spPr>
        <p:txBody>
          <a:bodyPr/>
          <a:lstStyle/>
          <a:p>
            <a:pPr algn="ctr"/>
            <a:r>
              <a:rPr lang="ru-RU" dirty="0"/>
              <a:t>Популярный набор для предмета </a:t>
            </a:r>
            <a:r>
              <a:rPr lang="en-US" dirty="0"/>
              <a:t>e</a:t>
            </a:r>
            <a:endParaRPr lang="ru-RU" dirty="0"/>
          </a:p>
        </p:txBody>
      </p:sp>
      <p:sp>
        <p:nvSpPr>
          <p:cNvPr id="3" name="Объект 2">
            <a:extLst>
              <a:ext uri="{FF2B5EF4-FFF2-40B4-BE49-F238E27FC236}">
                <a16:creationId xmlns:a16="http://schemas.microsoft.com/office/drawing/2014/main" id="{638EA363-0133-41AC-AAA4-75CDFB67E416}"/>
              </a:ext>
            </a:extLst>
          </p:cNvPr>
          <p:cNvSpPr>
            <a:spLocks noGrp="1"/>
          </p:cNvSpPr>
          <p:nvPr>
            <p:ph idx="1"/>
          </p:nvPr>
        </p:nvSpPr>
        <p:spPr>
          <a:xfrm>
            <a:off x="542925" y="863359"/>
            <a:ext cx="8058150" cy="5131282"/>
          </a:xfrm>
        </p:spPr>
        <p:txBody>
          <a:bodyPr/>
          <a:lstStyle/>
          <a:p>
            <a:pPr marL="0" indent="0" algn="just">
              <a:buNone/>
            </a:pPr>
            <a:r>
              <a:rPr lang="ru-RU" b="0" i="0" dirty="0">
                <a:solidFill>
                  <a:srgbClr val="333333"/>
                </a:solidFill>
                <a:effectLst/>
              </a:rPr>
              <a:t>Следующий предмет, для которого мы произведем поиск популярных предметных наборов, будет предмет </a:t>
            </a:r>
            <a:r>
              <a:rPr lang="ru-RU" b="1" i="0" dirty="0">
                <a:solidFill>
                  <a:srgbClr val="333333"/>
                </a:solidFill>
                <a:effectLst/>
              </a:rPr>
              <a:t>е</a:t>
            </a:r>
            <a:r>
              <a:rPr lang="ru-RU" b="0" i="0" dirty="0">
                <a:solidFill>
                  <a:srgbClr val="333333"/>
                </a:solidFill>
                <a:effectLst/>
              </a:rPr>
              <a:t>, имеющ</a:t>
            </a:r>
            <a:r>
              <a:rPr lang="ru-RU" dirty="0">
                <a:solidFill>
                  <a:srgbClr val="333333"/>
                </a:solidFill>
              </a:rPr>
              <a:t>ий</a:t>
            </a:r>
            <a:r>
              <a:rPr lang="ru-RU" b="0" i="0" dirty="0">
                <a:solidFill>
                  <a:srgbClr val="333333"/>
                </a:solidFill>
                <a:effectLst/>
              </a:rPr>
              <a:t> поддержку 5.</a:t>
            </a:r>
            <a:endParaRPr lang="ru-RU" dirty="0"/>
          </a:p>
        </p:txBody>
      </p:sp>
      <p:sp>
        <p:nvSpPr>
          <p:cNvPr id="4" name="Нижний колонтитул 3">
            <a:extLst>
              <a:ext uri="{FF2B5EF4-FFF2-40B4-BE49-F238E27FC236}">
                <a16:creationId xmlns:a16="http://schemas.microsoft.com/office/drawing/2014/main" id="{721700D8-72BE-4965-B656-4C947103B123}"/>
              </a:ext>
            </a:extLst>
          </p:cNvPr>
          <p:cNvSpPr>
            <a:spLocks noGrp="1"/>
          </p:cNvSpPr>
          <p:nvPr>
            <p:ph type="ftr" sz="quarter" idx="11"/>
          </p:nvPr>
        </p:nvSpPr>
        <p:spPr/>
        <p:txBody>
          <a:bodyPr/>
          <a:lstStyle/>
          <a:p>
            <a:endParaRPr lang="ru-RU" dirty="0"/>
          </a:p>
        </p:txBody>
      </p:sp>
      <p:sp>
        <p:nvSpPr>
          <p:cNvPr id="5" name="Номер слайда 4">
            <a:extLst>
              <a:ext uri="{FF2B5EF4-FFF2-40B4-BE49-F238E27FC236}">
                <a16:creationId xmlns:a16="http://schemas.microsoft.com/office/drawing/2014/main" id="{6B2F3331-F39F-4A67-9539-880095AC9D8A}"/>
              </a:ext>
            </a:extLst>
          </p:cNvPr>
          <p:cNvSpPr>
            <a:spLocks noGrp="1"/>
          </p:cNvSpPr>
          <p:nvPr>
            <p:ph type="sldNum" sz="quarter" idx="12"/>
          </p:nvPr>
        </p:nvSpPr>
        <p:spPr/>
        <p:txBody>
          <a:bodyPr/>
          <a:lstStyle/>
          <a:p>
            <a:fld id="{81C5FB71-5E9C-41B5-9BB8-3F1EBEAEB16A}" type="slidenum">
              <a:rPr lang="ru-RU" smtClean="0"/>
              <a:t>64</a:t>
            </a:fld>
            <a:endParaRPr lang="ru-RU"/>
          </a:p>
        </p:txBody>
      </p:sp>
      <p:sp>
        <p:nvSpPr>
          <p:cNvPr id="8" name="TextBox 7">
            <a:extLst>
              <a:ext uri="{FF2B5EF4-FFF2-40B4-BE49-F238E27FC236}">
                <a16:creationId xmlns:a16="http://schemas.microsoft.com/office/drawing/2014/main" id="{8E7A68DA-BFD0-4721-AFFF-8BF3ACAF506D}"/>
              </a:ext>
            </a:extLst>
          </p:cNvPr>
          <p:cNvSpPr txBox="1"/>
          <p:nvPr/>
        </p:nvSpPr>
        <p:spPr>
          <a:xfrm>
            <a:off x="3060813" y="1699691"/>
            <a:ext cx="2574361" cy="646331"/>
          </a:xfrm>
          <a:prstGeom prst="rect">
            <a:avLst/>
          </a:prstGeom>
          <a:noFill/>
        </p:spPr>
        <p:txBody>
          <a:bodyPr wrap="square" rtlCol="0">
            <a:spAutoFit/>
          </a:bodyPr>
          <a:lstStyle/>
          <a:p>
            <a:pPr algn="ctr"/>
            <a:r>
              <a:rPr lang="ru-RU" b="0" i="0" dirty="0">
                <a:solidFill>
                  <a:srgbClr val="333333"/>
                </a:solidFill>
                <a:effectLst/>
                <a:latin typeface="+mn-lt"/>
              </a:rPr>
              <a:t>Условное FP-дерево, </a:t>
            </a:r>
            <a:r>
              <a:rPr lang="ru-RU" dirty="0">
                <a:solidFill>
                  <a:srgbClr val="333333"/>
                </a:solidFill>
                <a:latin typeface="+mn-lt"/>
              </a:rPr>
              <a:t>для</a:t>
            </a:r>
            <a:r>
              <a:rPr lang="ru-RU" b="0" i="0" dirty="0">
                <a:solidFill>
                  <a:srgbClr val="333333"/>
                </a:solidFill>
                <a:effectLst/>
                <a:latin typeface="+mn-lt"/>
              </a:rPr>
              <a:t> предмета </a:t>
            </a:r>
            <a:r>
              <a:rPr lang="en-US" b="1" i="0" dirty="0">
                <a:solidFill>
                  <a:srgbClr val="333333"/>
                </a:solidFill>
                <a:effectLst/>
                <a:latin typeface="+mn-lt"/>
              </a:rPr>
              <a:t>e</a:t>
            </a:r>
            <a:endParaRPr lang="ru-RU" dirty="0">
              <a:latin typeface="+mn-lt"/>
            </a:endParaRPr>
          </a:p>
        </p:txBody>
      </p:sp>
      <p:sp>
        <p:nvSpPr>
          <p:cNvPr id="9" name="TextBox 8">
            <a:extLst>
              <a:ext uri="{FF2B5EF4-FFF2-40B4-BE49-F238E27FC236}">
                <a16:creationId xmlns:a16="http://schemas.microsoft.com/office/drawing/2014/main" id="{415166EA-AE92-408C-BC9A-DB26BF826522}"/>
              </a:ext>
            </a:extLst>
          </p:cNvPr>
          <p:cNvSpPr txBox="1"/>
          <p:nvPr/>
        </p:nvSpPr>
        <p:spPr>
          <a:xfrm>
            <a:off x="542925" y="4871296"/>
            <a:ext cx="8220075" cy="1477328"/>
          </a:xfrm>
          <a:prstGeom prst="rect">
            <a:avLst/>
          </a:prstGeom>
          <a:noFill/>
        </p:spPr>
        <p:txBody>
          <a:bodyPr wrap="square" rtlCol="0">
            <a:spAutoFit/>
          </a:bodyPr>
          <a:lstStyle/>
          <a:p>
            <a:pPr algn="just"/>
            <a:r>
              <a:rPr lang="ru-RU" dirty="0">
                <a:latin typeface="+mn-lt"/>
              </a:rPr>
              <a:t>Префиксы путей, ведущих в условном дереве к узлам, связанным с предметом </a:t>
            </a:r>
            <a:r>
              <a:rPr lang="ru-RU" b="1" dirty="0">
                <a:solidFill>
                  <a:srgbClr val="C00000"/>
                </a:solidFill>
                <a:latin typeface="+mn-lt"/>
              </a:rPr>
              <a:t>e</a:t>
            </a:r>
            <a:r>
              <a:rPr lang="ru-RU" dirty="0">
                <a:latin typeface="+mn-lt"/>
              </a:rPr>
              <a:t>, будут: (</a:t>
            </a:r>
            <a:r>
              <a:rPr lang="ru-RU" b="1" dirty="0">
                <a:solidFill>
                  <a:srgbClr val="C00000"/>
                </a:solidFill>
                <a:latin typeface="+mn-lt"/>
              </a:rPr>
              <a:t>c b d </a:t>
            </a:r>
            <a:r>
              <a:rPr lang="ru-RU" strike="sngStrike" dirty="0">
                <a:latin typeface="+mn-lt"/>
              </a:rPr>
              <a:t>e</a:t>
            </a:r>
            <a:r>
              <a:rPr lang="ru-RU" dirty="0">
                <a:latin typeface="+mn-lt"/>
              </a:rPr>
              <a:t>, 2) (</a:t>
            </a:r>
            <a:r>
              <a:rPr lang="ru-RU" b="1" dirty="0">
                <a:solidFill>
                  <a:srgbClr val="C00000"/>
                </a:solidFill>
                <a:latin typeface="+mn-lt"/>
              </a:rPr>
              <a:t>c d</a:t>
            </a:r>
            <a:r>
              <a:rPr lang="ru-RU" dirty="0">
                <a:latin typeface="+mn-lt"/>
              </a:rPr>
              <a:t> </a:t>
            </a:r>
            <a:r>
              <a:rPr lang="ru-RU" strike="sngStrike" dirty="0">
                <a:latin typeface="+mn-lt"/>
              </a:rPr>
              <a:t>e</a:t>
            </a:r>
            <a:r>
              <a:rPr lang="ru-RU" dirty="0">
                <a:latin typeface="+mn-lt"/>
              </a:rPr>
              <a:t>, 2) (</a:t>
            </a:r>
            <a:r>
              <a:rPr lang="ru-RU" b="1" dirty="0">
                <a:solidFill>
                  <a:srgbClr val="C00000"/>
                </a:solidFill>
                <a:latin typeface="+mn-lt"/>
              </a:rPr>
              <a:t>b d</a:t>
            </a:r>
            <a:r>
              <a:rPr lang="ru-RU" dirty="0">
                <a:latin typeface="+mn-lt"/>
              </a:rPr>
              <a:t> </a:t>
            </a:r>
            <a:r>
              <a:rPr lang="ru-RU" strike="sngStrike" dirty="0">
                <a:latin typeface="+mn-lt"/>
              </a:rPr>
              <a:t>e</a:t>
            </a:r>
            <a:r>
              <a:rPr lang="ru-RU" dirty="0">
                <a:latin typeface="+mn-lt"/>
              </a:rPr>
              <a:t>, 1). Подсчитав суммарную поддержку каждого предмета в условном дереве и упорядочив предметы по ее убыванию, получим: (</a:t>
            </a:r>
            <a:r>
              <a:rPr lang="ru-RU" b="1" dirty="0">
                <a:solidFill>
                  <a:srgbClr val="C00000"/>
                </a:solidFill>
                <a:latin typeface="+mn-lt"/>
              </a:rPr>
              <a:t>d</a:t>
            </a:r>
            <a:r>
              <a:rPr lang="ru-RU" dirty="0">
                <a:latin typeface="+mn-lt"/>
              </a:rPr>
              <a:t>, 5), (</a:t>
            </a:r>
            <a:r>
              <a:rPr lang="ru-RU" b="1" dirty="0">
                <a:solidFill>
                  <a:srgbClr val="C00000"/>
                </a:solidFill>
                <a:latin typeface="+mn-lt"/>
              </a:rPr>
              <a:t>c</a:t>
            </a:r>
            <a:r>
              <a:rPr lang="ru-RU" dirty="0">
                <a:latin typeface="+mn-lt"/>
              </a:rPr>
              <a:t>, 4), (</a:t>
            </a:r>
            <a:r>
              <a:rPr lang="ru-RU" b="1" dirty="0">
                <a:solidFill>
                  <a:srgbClr val="C00000"/>
                </a:solidFill>
                <a:latin typeface="+mn-lt"/>
              </a:rPr>
              <a:t>b</a:t>
            </a:r>
            <a:r>
              <a:rPr lang="ru-RU" dirty="0">
                <a:latin typeface="+mn-lt"/>
              </a:rPr>
              <a:t>, 3). Следовательно, популярными предметными наборами для предмета e будут: (</a:t>
            </a:r>
            <a:r>
              <a:rPr lang="ru-RU" b="1" dirty="0">
                <a:solidFill>
                  <a:srgbClr val="C00000"/>
                </a:solidFill>
                <a:latin typeface="+mn-lt"/>
              </a:rPr>
              <a:t>d</a:t>
            </a:r>
            <a:r>
              <a:rPr lang="ru-RU" dirty="0">
                <a:solidFill>
                  <a:schemeClr val="tx1"/>
                </a:solidFill>
                <a:latin typeface="+mn-lt"/>
              </a:rPr>
              <a:t>,</a:t>
            </a:r>
            <a:r>
              <a:rPr lang="ru-RU" b="1" dirty="0">
                <a:solidFill>
                  <a:srgbClr val="C00000"/>
                </a:solidFill>
                <a:latin typeface="+mn-lt"/>
              </a:rPr>
              <a:t> e</a:t>
            </a:r>
            <a:r>
              <a:rPr lang="ru-RU" dirty="0">
                <a:latin typeface="+mn-lt"/>
              </a:rPr>
              <a:t>, 5), (</a:t>
            </a:r>
            <a:r>
              <a:rPr lang="ru-RU" b="1" dirty="0">
                <a:solidFill>
                  <a:srgbClr val="C00000"/>
                </a:solidFill>
                <a:latin typeface="+mn-lt"/>
              </a:rPr>
              <a:t>d</a:t>
            </a:r>
            <a:r>
              <a:rPr lang="ru-RU" dirty="0">
                <a:solidFill>
                  <a:schemeClr val="tx1"/>
                </a:solidFill>
                <a:latin typeface="+mn-lt"/>
              </a:rPr>
              <a:t>,</a:t>
            </a:r>
            <a:r>
              <a:rPr lang="ru-RU" b="1" dirty="0">
                <a:solidFill>
                  <a:srgbClr val="C00000"/>
                </a:solidFill>
                <a:latin typeface="+mn-lt"/>
              </a:rPr>
              <a:t> c</a:t>
            </a:r>
            <a:r>
              <a:rPr lang="ru-RU" dirty="0">
                <a:solidFill>
                  <a:schemeClr val="tx1"/>
                </a:solidFill>
                <a:latin typeface="+mn-lt"/>
              </a:rPr>
              <a:t>,</a:t>
            </a:r>
            <a:r>
              <a:rPr lang="ru-RU" dirty="0">
                <a:solidFill>
                  <a:srgbClr val="C00000"/>
                </a:solidFill>
                <a:latin typeface="+mn-lt"/>
              </a:rPr>
              <a:t> </a:t>
            </a:r>
            <a:r>
              <a:rPr lang="ru-RU" b="1" dirty="0">
                <a:solidFill>
                  <a:srgbClr val="C00000"/>
                </a:solidFill>
                <a:latin typeface="+mn-lt"/>
              </a:rPr>
              <a:t>e</a:t>
            </a:r>
            <a:r>
              <a:rPr lang="ru-RU" dirty="0">
                <a:latin typeface="+mn-lt"/>
              </a:rPr>
              <a:t>, 4), (</a:t>
            </a:r>
            <a:r>
              <a:rPr lang="ru-RU" b="1" dirty="0">
                <a:solidFill>
                  <a:srgbClr val="C00000"/>
                </a:solidFill>
                <a:latin typeface="+mn-lt"/>
              </a:rPr>
              <a:t>d</a:t>
            </a:r>
            <a:r>
              <a:rPr lang="ru-RU" dirty="0">
                <a:solidFill>
                  <a:schemeClr val="tx1"/>
                </a:solidFill>
                <a:latin typeface="+mn-lt"/>
              </a:rPr>
              <a:t>,</a:t>
            </a:r>
            <a:r>
              <a:rPr lang="ru-RU" b="1" dirty="0">
                <a:solidFill>
                  <a:srgbClr val="C00000"/>
                </a:solidFill>
                <a:latin typeface="+mn-lt"/>
              </a:rPr>
              <a:t> b</a:t>
            </a:r>
            <a:r>
              <a:rPr lang="ru-RU" dirty="0">
                <a:solidFill>
                  <a:schemeClr val="tx1"/>
                </a:solidFill>
                <a:latin typeface="+mn-lt"/>
              </a:rPr>
              <a:t>, </a:t>
            </a:r>
            <a:r>
              <a:rPr lang="ru-RU" b="1" dirty="0">
                <a:solidFill>
                  <a:srgbClr val="C00000"/>
                </a:solidFill>
                <a:latin typeface="+mn-lt"/>
              </a:rPr>
              <a:t>e</a:t>
            </a:r>
            <a:r>
              <a:rPr lang="ru-RU" dirty="0">
                <a:latin typeface="+mn-lt"/>
              </a:rPr>
              <a:t>, 3).</a:t>
            </a:r>
          </a:p>
        </p:txBody>
      </p:sp>
      <p:pic>
        <p:nvPicPr>
          <p:cNvPr id="7" name="Рисунок 6">
            <a:extLst>
              <a:ext uri="{FF2B5EF4-FFF2-40B4-BE49-F238E27FC236}">
                <a16:creationId xmlns:a16="http://schemas.microsoft.com/office/drawing/2014/main" id="{F7BB6B9C-9886-4A80-8906-20BF91643136}"/>
              </a:ext>
            </a:extLst>
          </p:cNvPr>
          <p:cNvPicPr>
            <a:picLocks noChangeAspect="1"/>
          </p:cNvPicPr>
          <p:nvPr/>
        </p:nvPicPr>
        <p:blipFill>
          <a:blip r:embed="rId2"/>
          <a:stretch>
            <a:fillRect/>
          </a:stretch>
        </p:blipFill>
        <p:spPr>
          <a:xfrm>
            <a:off x="3214361" y="2330672"/>
            <a:ext cx="2267266" cy="2553056"/>
          </a:xfrm>
          <a:prstGeom prst="rect">
            <a:avLst/>
          </a:prstGeom>
        </p:spPr>
      </p:pic>
    </p:spTree>
    <p:extLst>
      <p:ext uri="{BB962C8B-B14F-4D97-AF65-F5344CB8AC3E}">
        <p14:creationId xmlns:p14="http://schemas.microsoft.com/office/powerpoint/2010/main" val="99101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A8CBD57-58D4-46B8-B392-CEBD003B7DA4}"/>
              </a:ext>
            </a:extLst>
          </p:cNvPr>
          <p:cNvSpPr>
            <a:spLocks noGrp="1"/>
          </p:cNvSpPr>
          <p:nvPr>
            <p:ph type="title"/>
          </p:nvPr>
        </p:nvSpPr>
        <p:spPr/>
        <p:txBody>
          <a:bodyPr>
            <a:normAutofit/>
          </a:bodyPr>
          <a:lstStyle/>
          <a:p>
            <a:pPr algn="ctr"/>
            <a:r>
              <a:rPr lang="ru-RU" dirty="0"/>
              <a:t>Полученные популярные предметные наборы </a:t>
            </a:r>
          </a:p>
        </p:txBody>
      </p:sp>
      <p:sp>
        <p:nvSpPr>
          <p:cNvPr id="3" name="Объект 2">
            <a:extLst>
              <a:ext uri="{FF2B5EF4-FFF2-40B4-BE49-F238E27FC236}">
                <a16:creationId xmlns:a16="http://schemas.microsoft.com/office/drawing/2014/main" id="{64A1CEDB-BC8A-44B2-9FA3-8B8052050E82}"/>
              </a:ext>
            </a:extLst>
          </p:cNvPr>
          <p:cNvSpPr>
            <a:spLocks noGrp="1"/>
          </p:cNvSpPr>
          <p:nvPr>
            <p:ph idx="1"/>
          </p:nvPr>
        </p:nvSpPr>
        <p:spPr>
          <a:xfrm>
            <a:off x="628650" y="1447800"/>
            <a:ext cx="7886700" cy="4729163"/>
          </a:xfrm>
        </p:spPr>
        <p:txBody>
          <a:bodyPr/>
          <a:lstStyle/>
          <a:p>
            <a:pPr marL="0" indent="0" algn="l">
              <a:buNone/>
            </a:pPr>
            <a:r>
              <a:rPr lang="ru-RU" dirty="0"/>
              <a:t>Таким образом, мы получили следующие популярные предметные наборы</a:t>
            </a:r>
            <a:r>
              <a:rPr lang="en-US" dirty="0"/>
              <a:t> </a:t>
            </a:r>
            <a:r>
              <a:rPr lang="ru-RU" dirty="0"/>
              <a:t>для заданной БД транзакций с заданным уровнем минимальной поддержки 3.</a:t>
            </a:r>
            <a:br>
              <a:rPr lang="ru-RU" dirty="0"/>
            </a:br>
            <a:endParaRPr lang="en-US" dirty="0">
              <a:solidFill>
                <a:srgbClr val="333333"/>
              </a:solidFill>
              <a:latin typeface="Source Sans Pro" panose="020B0503030403020204" pitchFamily="34" charset="0"/>
            </a:endParaRPr>
          </a:p>
          <a:p>
            <a:pPr marL="0" indent="0" algn="l">
              <a:buNone/>
            </a:pPr>
            <a:r>
              <a:rPr lang="en-US" b="0" i="0" dirty="0">
                <a:solidFill>
                  <a:srgbClr val="333333"/>
                </a:solidFill>
                <a:effectLst/>
                <a:latin typeface="Source Sans Pro" panose="020B0503030403020204" pitchFamily="34" charset="0"/>
              </a:rPr>
              <a:t>(</a:t>
            </a:r>
            <a:r>
              <a:rPr lang="en-US" b="1" i="0" dirty="0">
                <a:solidFill>
                  <a:srgbClr val="333333"/>
                </a:solidFill>
                <a:effectLst/>
                <a:latin typeface="Source Sans Pro" panose="020B0503030403020204" pitchFamily="34" charset="0"/>
              </a:rPr>
              <a:t>c</a:t>
            </a:r>
            <a:r>
              <a:rPr lang="en-US" b="0" i="0" dirty="0">
                <a:solidFill>
                  <a:srgbClr val="333333"/>
                </a:solidFill>
                <a:effectLst/>
                <a:latin typeface="Source Sans Pro" panose="020B0503030403020204" pitchFamily="34" charset="0"/>
              </a:rPr>
              <a:t>, </a:t>
            </a:r>
            <a:r>
              <a:rPr lang="en-US" b="1" i="0" dirty="0">
                <a:solidFill>
                  <a:srgbClr val="333333"/>
                </a:solidFill>
                <a:effectLst/>
                <a:latin typeface="Source Sans Pro" panose="020B0503030403020204" pitchFamily="34" charset="0"/>
              </a:rPr>
              <a:t>a</a:t>
            </a:r>
            <a:r>
              <a:rPr lang="en-US" b="0" i="0" dirty="0">
                <a:solidFill>
                  <a:srgbClr val="333333"/>
                </a:solidFill>
                <a:effectLst/>
                <a:latin typeface="Source Sans Pro" panose="020B0503030403020204" pitchFamily="34" charset="0"/>
              </a:rPr>
              <a:t>, 3), (</a:t>
            </a:r>
            <a:r>
              <a:rPr lang="en-US" b="1" i="0" dirty="0">
                <a:solidFill>
                  <a:srgbClr val="333333"/>
                </a:solidFill>
                <a:effectLst/>
                <a:latin typeface="Source Sans Pro" panose="020B0503030403020204" pitchFamily="34" charset="0"/>
              </a:rPr>
              <a:t>c</a:t>
            </a:r>
            <a:r>
              <a:rPr lang="en-US" b="0" i="0" dirty="0">
                <a:solidFill>
                  <a:srgbClr val="333333"/>
                </a:solidFill>
                <a:effectLst/>
                <a:latin typeface="Source Sans Pro" panose="020B0503030403020204" pitchFamily="34" charset="0"/>
              </a:rPr>
              <a:t>, </a:t>
            </a:r>
            <a:r>
              <a:rPr lang="en-US" b="1" i="0" dirty="0">
                <a:solidFill>
                  <a:srgbClr val="333333"/>
                </a:solidFill>
                <a:effectLst/>
                <a:latin typeface="Source Sans Pro" panose="020B0503030403020204" pitchFamily="34" charset="0"/>
              </a:rPr>
              <a:t>b</a:t>
            </a:r>
            <a:r>
              <a:rPr lang="en-US" b="0" i="0" dirty="0">
                <a:solidFill>
                  <a:srgbClr val="333333"/>
                </a:solidFill>
                <a:effectLst/>
                <a:latin typeface="Source Sans Pro" panose="020B0503030403020204" pitchFamily="34" charset="0"/>
              </a:rPr>
              <a:t>, 4), (</a:t>
            </a:r>
            <a:r>
              <a:rPr lang="en-US" b="1" i="0" dirty="0">
                <a:solidFill>
                  <a:srgbClr val="333333"/>
                </a:solidFill>
                <a:effectLst/>
                <a:latin typeface="Source Sans Pro" panose="020B0503030403020204" pitchFamily="34" charset="0"/>
              </a:rPr>
              <a:t>c</a:t>
            </a:r>
            <a:r>
              <a:rPr lang="en-US" b="0" i="0" dirty="0">
                <a:solidFill>
                  <a:srgbClr val="333333"/>
                </a:solidFill>
                <a:effectLst/>
                <a:latin typeface="Source Sans Pro" panose="020B0503030403020204" pitchFamily="34" charset="0"/>
              </a:rPr>
              <a:t>, </a:t>
            </a:r>
            <a:r>
              <a:rPr lang="en-US" b="1" i="0" dirty="0">
                <a:solidFill>
                  <a:srgbClr val="333333"/>
                </a:solidFill>
                <a:effectLst/>
                <a:latin typeface="Source Sans Pro" panose="020B0503030403020204" pitchFamily="34" charset="0"/>
              </a:rPr>
              <a:t>d</a:t>
            </a:r>
            <a:r>
              <a:rPr lang="en-US" b="0" i="0" dirty="0">
                <a:solidFill>
                  <a:srgbClr val="333333"/>
                </a:solidFill>
                <a:effectLst/>
                <a:latin typeface="Source Sans Pro" panose="020B0503030403020204" pitchFamily="34" charset="0"/>
              </a:rPr>
              <a:t>, 4), (</a:t>
            </a:r>
            <a:r>
              <a:rPr lang="en-US" b="1" i="0" dirty="0">
                <a:solidFill>
                  <a:srgbClr val="333333"/>
                </a:solidFill>
                <a:effectLst/>
                <a:latin typeface="Source Sans Pro" panose="020B0503030403020204" pitchFamily="34" charset="0"/>
              </a:rPr>
              <a:t>b</a:t>
            </a:r>
            <a:r>
              <a:rPr lang="en-US" b="0" i="0" dirty="0">
                <a:solidFill>
                  <a:srgbClr val="333333"/>
                </a:solidFill>
                <a:effectLst/>
                <a:latin typeface="Source Sans Pro" panose="020B0503030403020204" pitchFamily="34" charset="0"/>
              </a:rPr>
              <a:t>, </a:t>
            </a:r>
            <a:r>
              <a:rPr lang="en-US" b="1" i="0" dirty="0">
                <a:solidFill>
                  <a:srgbClr val="333333"/>
                </a:solidFill>
                <a:effectLst/>
                <a:latin typeface="Source Sans Pro" panose="020B0503030403020204" pitchFamily="34" charset="0"/>
              </a:rPr>
              <a:t>d</a:t>
            </a:r>
            <a:r>
              <a:rPr lang="en-US" b="0" i="0" dirty="0">
                <a:solidFill>
                  <a:srgbClr val="333333"/>
                </a:solidFill>
                <a:effectLst/>
                <a:latin typeface="Source Sans Pro" panose="020B0503030403020204" pitchFamily="34" charset="0"/>
              </a:rPr>
              <a:t>, 3), (</a:t>
            </a:r>
            <a:r>
              <a:rPr lang="en-US" b="1" i="0" dirty="0">
                <a:solidFill>
                  <a:srgbClr val="333333"/>
                </a:solidFill>
                <a:effectLst/>
                <a:latin typeface="Source Sans Pro" panose="020B0503030403020204" pitchFamily="34" charset="0"/>
              </a:rPr>
              <a:t>d</a:t>
            </a:r>
            <a:r>
              <a:rPr lang="en-US" b="0" i="0" dirty="0">
                <a:solidFill>
                  <a:srgbClr val="333333"/>
                </a:solidFill>
                <a:effectLst/>
                <a:latin typeface="Source Sans Pro" panose="020B0503030403020204" pitchFamily="34" charset="0"/>
              </a:rPr>
              <a:t>, </a:t>
            </a:r>
            <a:r>
              <a:rPr lang="en-US" b="1" i="0" dirty="0">
                <a:solidFill>
                  <a:srgbClr val="333333"/>
                </a:solidFill>
                <a:effectLst/>
                <a:latin typeface="Source Sans Pro" panose="020B0503030403020204" pitchFamily="34" charset="0"/>
              </a:rPr>
              <a:t>e</a:t>
            </a:r>
            <a:r>
              <a:rPr lang="en-US" b="0" i="0" dirty="0">
                <a:solidFill>
                  <a:srgbClr val="333333"/>
                </a:solidFill>
                <a:effectLst/>
                <a:latin typeface="Source Sans Pro" panose="020B0503030403020204" pitchFamily="34" charset="0"/>
              </a:rPr>
              <a:t>, 5), (</a:t>
            </a:r>
            <a:r>
              <a:rPr lang="en-US" b="1" i="0" dirty="0">
                <a:solidFill>
                  <a:srgbClr val="333333"/>
                </a:solidFill>
                <a:effectLst/>
                <a:latin typeface="Source Sans Pro" panose="020B0503030403020204" pitchFamily="34" charset="0"/>
              </a:rPr>
              <a:t>d</a:t>
            </a:r>
            <a:r>
              <a:rPr lang="en-US" b="0" i="0" dirty="0">
                <a:solidFill>
                  <a:srgbClr val="333333"/>
                </a:solidFill>
                <a:effectLst/>
                <a:latin typeface="Source Sans Pro" panose="020B0503030403020204" pitchFamily="34" charset="0"/>
              </a:rPr>
              <a:t>, </a:t>
            </a:r>
            <a:r>
              <a:rPr lang="en-US" b="1" i="0" dirty="0">
                <a:solidFill>
                  <a:srgbClr val="333333"/>
                </a:solidFill>
                <a:effectLst/>
                <a:latin typeface="Source Sans Pro" panose="020B0503030403020204" pitchFamily="34" charset="0"/>
              </a:rPr>
              <a:t>c</a:t>
            </a:r>
            <a:r>
              <a:rPr lang="en-US" b="0" i="0" dirty="0">
                <a:solidFill>
                  <a:srgbClr val="333333"/>
                </a:solidFill>
                <a:effectLst/>
                <a:latin typeface="Source Sans Pro" panose="020B0503030403020204" pitchFamily="34" charset="0"/>
              </a:rPr>
              <a:t>, </a:t>
            </a:r>
            <a:r>
              <a:rPr lang="en-US" b="1" i="0" dirty="0">
                <a:solidFill>
                  <a:srgbClr val="333333"/>
                </a:solidFill>
                <a:effectLst/>
                <a:latin typeface="Source Sans Pro" panose="020B0503030403020204" pitchFamily="34" charset="0"/>
              </a:rPr>
              <a:t>e</a:t>
            </a:r>
            <a:r>
              <a:rPr lang="en-US" b="0" i="0" dirty="0">
                <a:solidFill>
                  <a:srgbClr val="333333"/>
                </a:solidFill>
                <a:effectLst/>
                <a:latin typeface="Source Sans Pro" panose="020B0503030403020204" pitchFamily="34" charset="0"/>
              </a:rPr>
              <a:t>, 4), (</a:t>
            </a:r>
            <a:r>
              <a:rPr lang="en-US" b="1" i="0" dirty="0">
                <a:solidFill>
                  <a:srgbClr val="333333"/>
                </a:solidFill>
                <a:effectLst/>
                <a:latin typeface="Source Sans Pro" panose="020B0503030403020204" pitchFamily="34" charset="0"/>
              </a:rPr>
              <a:t>d</a:t>
            </a:r>
            <a:r>
              <a:rPr lang="en-US" b="0" i="0" dirty="0">
                <a:solidFill>
                  <a:srgbClr val="333333"/>
                </a:solidFill>
                <a:effectLst/>
                <a:latin typeface="Source Sans Pro" panose="020B0503030403020204" pitchFamily="34" charset="0"/>
              </a:rPr>
              <a:t>, </a:t>
            </a:r>
            <a:r>
              <a:rPr lang="en-US" b="1" i="0" dirty="0">
                <a:solidFill>
                  <a:srgbClr val="333333"/>
                </a:solidFill>
                <a:effectLst/>
                <a:latin typeface="Source Sans Pro" panose="020B0503030403020204" pitchFamily="34" charset="0"/>
              </a:rPr>
              <a:t>b</a:t>
            </a:r>
            <a:r>
              <a:rPr lang="en-US" b="0" i="0" dirty="0">
                <a:solidFill>
                  <a:srgbClr val="333333"/>
                </a:solidFill>
                <a:effectLst/>
                <a:latin typeface="Source Sans Pro" panose="020B0503030403020204" pitchFamily="34" charset="0"/>
              </a:rPr>
              <a:t>, </a:t>
            </a:r>
            <a:r>
              <a:rPr lang="en-US" b="1" i="0" dirty="0">
                <a:solidFill>
                  <a:srgbClr val="333333"/>
                </a:solidFill>
                <a:effectLst/>
                <a:latin typeface="Source Sans Pro" panose="020B0503030403020204" pitchFamily="34" charset="0"/>
              </a:rPr>
              <a:t>e</a:t>
            </a:r>
            <a:r>
              <a:rPr lang="en-US" b="0" i="0" dirty="0">
                <a:solidFill>
                  <a:srgbClr val="333333"/>
                </a:solidFill>
                <a:effectLst/>
                <a:latin typeface="Source Sans Pro" panose="020B0503030403020204" pitchFamily="34" charset="0"/>
              </a:rPr>
              <a:t>, 3).</a:t>
            </a:r>
          </a:p>
          <a:p>
            <a:pPr marL="0" indent="0">
              <a:buNone/>
            </a:pPr>
            <a:br>
              <a:rPr lang="en-US" dirty="0"/>
            </a:br>
            <a:endParaRPr lang="ru-RU" dirty="0"/>
          </a:p>
        </p:txBody>
      </p:sp>
      <p:sp>
        <p:nvSpPr>
          <p:cNvPr id="4" name="Нижний колонтитул 3">
            <a:extLst>
              <a:ext uri="{FF2B5EF4-FFF2-40B4-BE49-F238E27FC236}">
                <a16:creationId xmlns:a16="http://schemas.microsoft.com/office/drawing/2014/main" id="{D6BE02C7-8CF4-4C5A-ABF3-7F5CE50F232E}"/>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F6003BA7-3E2C-4EC8-9359-C215C96186F4}"/>
              </a:ext>
            </a:extLst>
          </p:cNvPr>
          <p:cNvSpPr>
            <a:spLocks noGrp="1"/>
          </p:cNvSpPr>
          <p:nvPr>
            <p:ph type="sldNum" sz="quarter" idx="12"/>
          </p:nvPr>
        </p:nvSpPr>
        <p:spPr/>
        <p:txBody>
          <a:bodyPr/>
          <a:lstStyle/>
          <a:p>
            <a:fld id="{81C5FB71-5E9C-41B5-9BB8-3F1EBEAEB16A}" type="slidenum">
              <a:rPr lang="ru-RU" smtClean="0"/>
              <a:t>65</a:t>
            </a:fld>
            <a:endParaRPr lang="ru-RU"/>
          </a:p>
        </p:txBody>
      </p:sp>
    </p:spTree>
    <p:extLst>
      <p:ext uri="{BB962C8B-B14F-4D97-AF65-F5344CB8AC3E}">
        <p14:creationId xmlns:p14="http://schemas.microsoft.com/office/powerpoint/2010/main" val="95406225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94D9F7-7D77-468C-9AA1-806516A5B423}"/>
              </a:ext>
            </a:extLst>
          </p:cNvPr>
          <p:cNvSpPr>
            <a:spLocks noGrp="1"/>
          </p:cNvSpPr>
          <p:nvPr>
            <p:ph type="title"/>
          </p:nvPr>
        </p:nvSpPr>
        <p:spPr>
          <a:xfrm>
            <a:off x="762000" y="3936"/>
            <a:ext cx="8382000" cy="758064"/>
          </a:xfrm>
        </p:spPr>
        <p:txBody>
          <a:bodyPr>
            <a:normAutofit/>
          </a:bodyPr>
          <a:lstStyle/>
          <a:p>
            <a:pPr algn="ctr"/>
            <a:r>
              <a:rPr lang="ru-RU" sz="2000" i="0" dirty="0">
                <a:solidFill>
                  <a:srgbClr val="333333"/>
                </a:solidFill>
                <a:effectLst/>
                <a:latin typeface="Source Sans Pro" panose="020B0503030403020204" pitchFamily="34" charset="0"/>
              </a:rPr>
              <a:t>Полученные популярные предметные наборы </a:t>
            </a:r>
            <a:endParaRPr lang="ru-RU" sz="2000" dirty="0"/>
          </a:p>
        </p:txBody>
      </p:sp>
      <p:pic>
        <p:nvPicPr>
          <p:cNvPr id="9" name="Объект 8">
            <a:extLst>
              <a:ext uri="{FF2B5EF4-FFF2-40B4-BE49-F238E27FC236}">
                <a16:creationId xmlns:a16="http://schemas.microsoft.com/office/drawing/2014/main" id="{576A0D6B-5979-4ED0-9593-105F7DDED4C7}"/>
              </a:ext>
            </a:extLst>
          </p:cNvPr>
          <p:cNvPicPr>
            <a:picLocks noGrp="1" noChangeAspect="1"/>
          </p:cNvPicPr>
          <p:nvPr>
            <p:ph idx="1"/>
          </p:nvPr>
        </p:nvPicPr>
        <p:blipFill>
          <a:blip r:embed="rId3"/>
          <a:stretch>
            <a:fillRect/>
          </a:stretch>
        </p:blipFill>
        <p:spPr>
          <a:xfrm>
            <a:off x="5171582" y="1035703"/>
            <a:ext cx="2572735" cy="3072650"/>
          </a:xfrm>
          <a:prstGeom prst="rect">
            <a:avLst/>
          </a:prstGeom>
        </p:spPr>
      </p:pic>
      <p:sp>
        <p:nvSpPr>
          <p:cNvPr id="4" name="Нижний колонтитул 3">
            <a:extLst>
              <a:ext uri="{FF2B5EF4-FFF2-40B4-BE49-F238E27FC236}">
                <a16:creationId xmlns:a16="http://schemas.microsoft.com/office/drawing/2014/main" id="{1E983146-8EB7-4D21-91F8-091F2B05D21F}"/>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9A35D81-12EB-46E5-9826-7C1DC7700EC3}"/>
              </a:ext>
            </a:extLst>
          </p:cNvPr>
          <p:cNvSpPr>
            <a:spLocks noGrp="1"/>
          </p:cNvSpPr>
          <p:nvPr>
            <p:ph type="sldNum" sz="quarter" idx="12"/>
          </p:nvPr>
        </p:nvSpPr>
        <p:spPr/>
        <p:txBody>
          <a:bodyPr/>
          <a:lstStyle/>
          <a:p>
            <a:fld id="{81C5FB71-5E9C-41B5-9BB8-3F1EBEAEB16A}" type="slidenum">
              <a:rPr lang="ru-RU" smtClean="0"/>
              <a:t>66</a:t>
            </a:fld>
            <a:endParaRPr lang="ru-RU"/>
          </a:p>
        </p:txBody>
      </p:sp>
      <p:graphicFrame>
        <p:nvGraphicFramePr>
          <p:cNvPr id="8" name="Таблица 7">
            <a:extLst>
              <a:ext uri="{FF2B5EF4-FFF2-40B4-BE49-F238E27FC236}">
                <a16:creationId xmlns:a16="http://schemas.microsoft.com/office/drawing/2014/main" id="{24D5896C-DCDE-472F-A775-A7C5C660F601}"/>
              </a:ext>
            </a:extLst>
          </p:cNvPr>
          <p:cNvGraphicFramePr>
            <a:graphicFrameLocks noGrp="1"/>
          </p:cNvGraphicFramePr>
          <p:nvPr>
            <p:extLst>
              <p:ext uri="{D42A27DB-BD31-4B8C-83A1-F6EECF244321}">
                <p14:modId xmlns:p14="http://schemas.microsoft.com/office/powerpoint/2010/main" val="200683503"/>
              </p:ext>
            </p:extLst>
          </p:nvPr>
        </p:nvGraphicFramePr>
        <p:xfrm>
          <a:off x="620113" y="798328"/>
          <a:ext cx="1865393" cy="3608832"/>
        </p:xfrm>
        <a:graphic>
          <a:graphicData uri="http://schemas.openxmlformats.org/drawingml/2006/table">
            <a:tbl>
              <a:tblPr/>
              <a:tblGrid>
                <a:gridCol w="685571">
                  <a:extLst>
                    <a:ext uri="{9D8B030D-6E8A-4147-A177-3AD203B41FA5}">
                      <a16:colId xmlns:a16="http://schemas.microsoft.com/office/drawing/2014/main" val="2863359025"/>
                    </a:ext>
                  </a:extLst>
                </a:gridCol>
                <a:gridCol w="1179822">
                  <a:extLst>
                    <a:ext uri="{9D8B030D-6E8A-4147-A177-3AD203B41FA5}">
                      <a16:colId xmlns:a16="http://schemas.microsoft.com/office/drawing/2014/main" val="360506423"/>
                    </a:ext>
                  </a:extLst>
                </a:gridCol>
              </a:tblGrid>
              <a:tr h="356929">
                <a:tc>
                  <a:txBody>
                    <a:bodyPr/>
                    <a:lstStyle/>
                    <a:p>
                      <a:pPr algn="l" fontAlgn="ctr">
                        <a:lnSpc>
                          <a:spcPct val="20000"/>
                        </a:lnSpc>
                      </a:pPr>
                      <a:r>
                        <a:rPr lang="en-US" sz="1600" dirty="0">
                          <a:effectLst/>
                        </a:rPr>
                        <a:t>N</a:t>
                      </a:r>
                      <a:endParaRPr lang="en-US" sz="1600" b="1" dirty="0">
                        <a:solidFill>
                          <a:schemeClr val="tx1"/>
                        </a:solidFill>
                        <a:effectLst/>
                      </a:endParaRPr>
                    </a:p>
                  </a:txBody>
                  <a:tcPr marL="114300" marR="114300" marT="152400" marB="152400" anchor="ctr"/>
                </a:tc>
                <a:tc>
                  <a:txBody>
                    <a:bodyPr/>
                    <a:lstStyle/>
                    <a:p>
                      <a:pPr algn="l" fontAlgn="ctr">
                        <a:lnSpc>
                          <a:spcPct val="100000"/>
                        </a:lnSpc>
                      </a:pPr>
                      <a:r>
                        <a:rPr lang="ru-RU" sz="1600" dirty="0">
                          <a:effectLst/>
                        </a:rPr>
                        <a:t>Предметный набор</a:t>
                      </a:r>
                      <a:endParaRPr lang="ru-RU" sz="1600" b="1" dirty="0">
                        <a:solidFill>
                          <a:schemeClr val="tx1"/>
                        </a:solidFill>
                        <a:effectLst/>
                      </a:endParaRPr>
                    </a:p>
                  </a:txBody>
                  <a:tcPr marL="114300" marR="114300" marT="152400" marB="152400" anchor="ctr"/>
                </a:tc>
                <a:extLst>
                  <a:ext uri="{0D108BD9-81ED-4DB2-BD59-A6C34878D82A}">
                    <a16:rowId xmlns:a16="http://schemas.microsoft.com/office/drawing/2014/main" val="631694613"/>
                  </a:ext>
                </a:extLst>
              </a:tr>
              <a:tr h="0">
                <a:tc>
                  <a:txBody>
                    <a:bodyPr/>
                    <a:lstStyle/>
                    <a:p>
                      <a:pPr algn="l" fontAlgn="ctr">
                        <a:lnSpc>
                          <a:spcPct val="20000"/>
                        </a:lnSpc>
                      </a:pPr>
                      <a:r>
                        <a:rPr lang="ru-RU" sz="1600" kern="0" baseline="0" dirty="0">
                          <a:effectLst/>
                        </a:rPr>
                        <a:t>1</a:t>
                      </a:r>
                      <a:endParaRPr lang="ru-RU" sz="1600" kern="0" baseline="0" dirty="0">
                        <a:solidFill>
                          <a:srgbClr val="333333"/>
                        </a:solidFill>
                        <a:effectLst/>
                      </a:endParaRPr>
                    </a:p>
                  </a:txBody>
                  <a:tcPr marL="114300" marR="114300" marT="152400" marB="152400" anchor="ctr"/>
                </a:tc>
                <a:tc>
                  <a:txBody>
                    <a:bodyPr/>
                    <a:lstStyle/>
                    <a:p>
                      <a:pPr algn="l" fontAlgn="ctr">
                        <a:lnSpc>
                          <a:spcPct val="20000"/>
                        </a:lnSpc>
                      </a:pPr>
                      <a:r>
                        <a:rPr lang="pt-BR" sz="1600" kern="0" baseline="0" dirty="0">
                          <a:effectLst/>
                        </a:rPr>
                        <a:t>a b c d e</a:t>
                      </a:r>
                      <a:endParaRPr lang="pt-BR" sz="1600" kern="0" baseline="0" dirty="0">
                        <a:solidFill>
                          <a:srgbClr val="333333"/>
                        </a:solidFill>
                        <a:effectLst/>
                      </a:endParaRPr>
                    </a:p>
                  </a:txBody>
                  <a:tcPr marL="114300" marR="114300" marT="152400" marB="152400" anchor="ctr"/>
                </a:tc>
                <a:extLst>
                  <a:ext uri="{0D108BD9-81ED-4DB2-BD59-A6C34878D82A}">
                    <a16:rowId xmlns:a16="http://schemas.microsoft.com/office/drawing/2014/main" val="3855501457"/>
                  </a:ext>
                </a:extLst>
              </a:tr>
              <a:tr h="0">
                <a:tc>
                  <a:txBody>
                    <a:bodyPr/>
                    <a:lstStyle/>
                    <a:p>
                      <a:pPr algn="l" fontAlgn="ctr">
                        <a:lnSpc>
                          <a:spcPct val="20000"/>
                        </a:lnSpc>
                      </a:pPr>
                      <a:r>
                        <a:rPr lang="ru-RU" sz="1600" kern="0" baseline="0" dirty="0">
                          <a:effectLst/>
                        </a:rPr>
                        <a:t>2</a:t>
                      </a:r>
                      <a:endParaRPr lang="ru-RU" sz="1600" kern="0" baseline="0" dirty="0">
                        <a:solidFill>
                          <a:srgbClr val="333333"/>
                        </a:solidFill>
                        <a:effectLst/>
                      </a:endParaRPr>
                    </a:p>
                  </a:txBody>
                  <a:tcPr marL="114300" marR="114300" marT="152400" marB="152400" anchor="ctr"/>
                </a:tc>
                <a:tc>
                  <a:txBody>
                    <a:bodyPr/>
                    <a:lstStyle/>
                    <a:p>
                      <a:pPr algn="l" fontAlgn="ctr">
                        <a:lnSpc>
                          <a:spcPct val="20000"/>
                        </a:lnSpc>
                      </a:pPr>
                      <a:r>
                        <a:rPr lang="en-US" sz="1600" kern="0" baseline="0" dirty="0">
                          <a:effectLst/>
                        </a:rPr>
                        <a:t>a b c</a:t>
                      </a:r>
                      <a:endParaRPr lang="en-US" sz="1600" kern="0" baseline="0" dirty="0">
                        <a:solidFill>
                          <a:srgbClr val="333333"/>
                        </a:solidFill>
                        <a:effectLst/>
                      </a:endParaRPr>
                    </a:p>
                  </a:txBody>
                  <a:tcPr marL="114300" marR="114300" marT="152400" marB="152400" anchor="ctr"/>
                </a:tc>
                <a:extLst>
                  <a:ext uri="{0D108BD9-81ED-4DB2-BD59-A6C34878D82A}">
                    <a16:rowId xmlns:a16="http://schemas.microsoft.com/office/drawing/2014/main" val="3189619790"/>
                  </a:ext>
                </a:extLst>
              </a:tr>
              <a:tr h="0">
                <a:tc>
                  <a:txBody>
                    <a:bodyPr/>
                    <a:lstStyle/>
                    <a:p>
                      <a:pPr algn="l" fontAlgn="ctr">
                        <a:lnSpc>
                          <a:spcPct val="20000"/>
                        </a:lnSpc>
                      </a:pPr>
                      <a:r>
                        <a:rPr lang="ru-RU" sz="1600" kern="0" baseline="0" dirty="0">
                          <a:effectLst/>
                        </a:rPr>
                        <a:t>3</a:t>
                      </a:r>
                      <a:endParaRPr lang="ru-RU" sz="1600" kern="0" baseline="0" dirty="0">
                        <a:solidFill>
                          <a:srgbClr val="333333"/>
                        </a:solidFill>
                        <a:effectLst/>
                      </a:endParaRPr>
                    </a:p>
                  </a:txBody>
                  <a:tcPr marL="114300" marR="114300" marT="152400" marB="152400" anchor="ctr"/>
                </a:tc>
                <a:tc>
                  <a:txBody>
                    <a:bodyPr/>
                    <a:lstStyle/>
                    <a:p>
                      <a:pPr algn="l" fontAlgn="ctr">
                        <a:lnSpc>
                          <a:spcPct val="20000"/>
                        </a:lnSpc>
                      </a:pPr>
                      <a:r>
                        <a:rPr lang="en-US" sz="1600" kern="0" baseline="0" dirty="0">
                          <a:effectLst/>
                        </a:rPr>
                        <a:t>a c d e</a:t>
                      </a:r>
                      <a:endParaRPr lang="en-US" sz="1600" kern="0" baseline="0" dirty="0">
                        <a:solidFill>
                          <a:srgbClr val="333333"/>
                        </a:solidFill>
                        <a:effectLst/>
                      </a:endParaRPr>
                    </a:p>
                  </a:txBody>
                  <a:tcPr marL="114300" marR="114300" marT="152400" marB="152400" anchor="ctr"/>
                </a:tc>
                <a:extLst>
                  <a:ext uri="{0D108BD9-81ED-4DB2-BD59-A6C34878D82A}">
                    <a16:rowId xmlns:a16="http://schemas.microsoft.com/office/drawing/2014/main" val="4159839411"/>
                  </a:ext>
                </a:extLst>
              </a:tr>
              <a:tr h="0">
                <a:tc>
                  <a:txBody>
                    <a:bodyPr/>
                    <a:lstStyle/>
                    <a:p>
                      <a:pPr algn="l" fontAlgn="ctr">
                        <a:lnSpc>
                          <a:spcPct val="20000"/>
                        </a:lnSpc>
                      </a:pPr>
                      <a:r>
                        <a:rPr lang="ru-RU" sz="1600" kern="0" baseline="0">
                          <a:effectLst/>
                        </a:rPr>
                        <a:t>4</a:t>
                      </a:r>
                      <a:endParaRPr lang="ru-RU" sz="1600" kern="0" baseline="0">
                        <a:solidFill>
                          <a:srgbClr val="333333"/>
                        </a:solidFill>
                        <a:effectLst/>
                      </a:endParaRPr>
                    </a:p>
                  </a:txBody>
                  <a:tcPr marL="114300" marR="114300" marT="152400" marB="152400" anchor="ctr"/>
                </a:tc>
                <a:tc>
                  <a:txBody>
                    <a:bodyPr/>
                    <a:lstStyle/>
                    <a:p>
                      <a:pPr algn="l" fontAlgn="ctr">
                        <a:lnSpc>
                          <a:spcPct val="20000"/>
                        </a:lnSpc>
                      </a:pPr>
                      <a:r>
                        <a:rPr lang="en-US" sz="1600" kern="0" baseline="0" dirty="0">
                          <a:effectLst/>
                        </a:rPr>
                        <a:t>b c d e</a:t>
                      </a:r>
                      <a:endParaRPr lang="en-US" sz="1600" kern="0" baseline="0" dirty="0">
                        <a:solidFill>
                          <a:srgbClr val="333333"/>
                        </a:solidFill>
                        <a:effectLst/>
                      </a:endParaRPr>
                    </a:p>
                  </a:txBody>
                  <a:tcPr marL="114300" marR="114300" marT="152400" marB="152400" anchor="ctr"/>
                </a:tc>
                <a:extLst>
                  <a:ext uri="{0D108BD9-81ED-4DB2-BD59-A6C34878D82A}">
                    <a16:rowId xmlns:a16="http://schemas.microsoft.com/office/drawing/2014/main" val="3113820852"/>
                  </a:ext>
                </a:extLst>
              </a:tr>
              <a:tr h="0">
                <a:tc>
                  <a:txBody>
                    <a:bodyPr/>
                    <a:lstStyle/>
                    <a:p>
                      <a:pPr algn="l" fontAlgn="ctr">
                        <a:lnSpc>
                          <a:spcPct val="20000"/>
                        </a:lnSpc>
                      </a:pPr>
                      <a:r>
                        <a:rPr lang="ru-RU" sz="1600" kern="0" baseline="0">
                          <a:effectLst/>
                        </a:rPr>
                        <a:t>5</a:t>
                      </a:r>
                      <a:endParaRPr lang="ru-RU" sz="1600" kern="0" baseline="0">
                        <a:solidFill>
                          <a:srgbClr val="333333"/>
                        </a:solidFill>
                        <a:effectLst/>
                      </a:endParaRPr>
                    </a:p>
                  </a:txBody>
                  <a:tcPr marL="114300" marR="114300" marT="152400" marB="152400" anchor="ctr"/>
                </a:tc>
                <a:tc>
                  <a:txBody>
                    <a:bodyPr/>
                    <a:lstStyle/>
                    <a:p>
                      <a:pPr algn="l" fontAlgn="ctr">
                        <a:lnSpc>
                          <a:spcPct val="20000"/>
                        </a:lnSpc>
                      </a:pPr>
                      <a:r>
                        <a:rPr lang="en-US" sz="1600" kern="0" baseline="0" dirty="0">
                          <a:effectLst/>
                        </a:rPr>
                        <a:t>b c</a:t>
                      </a:r>
                      <a:endParaRPr lang="en-US" sz="1600" kern="0" baseline="0" dirty="0">
                        <a:solidFill>
                          <a:srgbClr val="333333"/>
                        </a:solidFill>
                        <a:effectLst/>
                      </a:endParaRPr>
                    </a:p>
                  </a:txBody>
                  <a:tcPr marL="114300" marR="114300" marT="152400" marB="152400" anchor="ctr"/>
                </a:tc>
                <a:extLst>
                  <a:ext uri="{0D108BD9-81ED-4DB2-BD59-A6C34878D82A}">
                    <a16:rowId xmlns:a16="http://schemas.microsoft.com/office/drawing/2014/main" val="118409243"/>
                  </a:ext>
                </a:extLst>
              </a:tr>
              <a:tr h="0">
                <a:tc>
                  <a:txBody>
                    <a:bodyPr/>
                    <a:lstStyle/>
                    <a:p>
                      <a:pPr algn="l" fontAlgn="ctr">
                        <a:lnSpc>
                          <a:spcPct val="20000"/>
                        </a:lnSpc>
                      </a:pPr>
                      <a:r>
                        <a:rPr lang="ru-RU" sz="1600" kern="0" baseline="0">
                          <a:effectLst/>
                        </a:rPr>
                        <a:t>6</a:t>
                      </a:r>
                      <a:endParaRPr lang="ru-RU" sz="1600" kern="0" baseline="0">
                        <a:solidFill>
                          <a:srgbClr val="333333"/>
                        </a:solidFill>
                        <a:effectLst/>
                      </a:endParaRPr>
                    </a:p>
                  </a:txBody>
                  <a:tcPr marL="114300" marR="114300" marT="152400" marB="152400" anchor="ctr"/>
                </a:tc>
                <a:tc>
                  <a:txBody>
                    <a:bodyPr/>
                    <a:lstStyle/>
                    <a:p>
                      <a:pPr algn="l" fontAlgn="ctr">
                        <a:lnSpc>
                          <a:spcPct val="20000"/>
                        </a:lnSpc>
                      </a:pPr>
                      <a:r>
                        <a:rPr lang="en-US" sz="1600" kern="0" baseline="0" dirty="0">
                          <a:effectLst/>
                        </a:rPr>
                        <a:t>b d e</a:t>
                      </a:r>
                      <a:endParaRPr lang="en-US" sz="1600" kern="0" baseline="0" dirty="0">
                        <a:solidFill>
                          <a:srgbClr val="333333"/>
                        </a:solidFill>
                        <a:effectLst/>
                      </a:endParaRPr>
                    </a:p>
                  </a:txBody>
                  <a:tcPr marL="114300" marR="114300" marT="152400" marB="152400" anchor="ctr"/>
                </a:tc>
                <a:extLst>
                  <a:ext uri="{0D108BD9-81ED-4DB2-BD59-A6C34878D82A}">
                    <a16:rowId xmlns:a16="http://schemas.microsoft.com/office/drawing/2014/main" val="3392509108"/>
                  </a:ext>
                </a:extLst>
              </a:tr>
              <a:tr h="0">
                <a:tc>
                  <a:txBody>
                    <a:bodyPr/>
                    <a:lstStyle/>
                    <a:p>
                      <a:pPr algn="l" fontAlgn="ctr">
                        <a:lnSpc>
                          <a:spcPct val="20000"/>
                        </a:lnSpc>
                      </a:pPr>
                      <a:r>
                        <a:rPr lang="ru-RU" sz="1600" kern="0" baseline="0" dirty="0">
                          <a:effectLst/>
                        </a:rPr>
                        <a:t>7</a:t>
                      </a:r>
                      <a:endParaRPr lang="ru-RU" sz="1600" kern="0" baseline="0" dirty="0">
                        <a:solidFill>
                          <a:srgbClr val="333333"/>
                        </a:solidFill>
                        <a:effectLst/>
                      </a:endParaRPr>
                    </a:p>
                  </a:txBody>
                  <a:tcPr marL="114300" marR="114300" marT="152400" marB="152400" anchor="ctr"/>
                </a:tc>
                <a:tc>
                  <a:txBody>
                    <a:bodyPr/>
                    <a:lstStyle/>
                    <a:p>
                      <a:pPr algn="l" fontAlgn="ctr">
                        <a:lnSpc>
                          <a:spcPct val="20000"/>
                        </a:lnSpc>
                      </a:pPr>
                      <a:r>
                        <a:rPr lang="en-US" sz="1600" kern="0" baseline="0" dirty="0">
                          <a:effectLst/>
                        </a:rPr>
                        <a:t>c d e</a:t>
                      </a:r>
                      <a:endParaRPr lang="en-US" sz="1600" kern="0" baseline="0" dirty="0">
                        <a:solidFill>
                          <a:srgbClr val="333333"/>
                        </a:solidFill>
                        <a:effectLst/>
                      </a:endParaRPr>
                    </a:p>
                  </a:txBody>
                  <a:tcPr marL="114300" marR="114300" marT="152400" marB="152400" anchor="ctr"/>
                </a:tc>
                <a:extLst>
                  <a:ext uri="{0D108BD9-81ED-4DB2-BD59-A6C34878D82A}">
                    <a16:rowId xmlns:a16="http://schemas.microsoft.com/office/drawing/2014/main" val="1180116845"/>
                  </a:ext>
                </a:extLst>
              </a:tr>
            </a:tbl>
          </a:graphicData>
        </a:graphic>
      </p:graphicFrame>
      <p:sp>
        <p:nvSpPr>
          <p:cNvPr id="14" name="TextBox 13">
            <a:extLst>
              <a:ext uri="{FF2B5EF4-FFF2-40B4-BE49-F238E27FC236}">
                <a16:creationId xmlns:a16="http://schemas.microsoft.com/office/drawing/2014/main" id="{ED0C08AD-0A85-45C5-9245-AE4C2F0F7B10}"/>
              </a:ext>
            </a:extLst>
          </p:cNvPr>
          <p:cNvSpPr txBox="1"/>
          <p:nvPr/>
        </p:nvSpPr>
        <p:spPr>
          <a:xfrm>
            <a:off x="620112" y="4486992"/>
            <a:ext cx="7895238" cy="1751762"/>
          </a:xfrm>
          <a:prstGeom prst="rect">
            <a:avLst/>
          </a:prstGeom>
          <a:noFill/>
        </p:spPr>
        <p:txBody>
          <a:bodyPr wrap="square" rtlCol="0">
            <a:spAutoFit/>
          </a:bodyPr>
          <a:lstStyle/>
          <a:p>
            <a:pPr marL="0" marR="0" lvl="0" indent="0" algn="just"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ru-RU" sz="2100" b="0" i="0" u="none" strike="noStrike" kern="1200" cap="none" spc="0" normalizeH="0" baseline="0" noProof="0" dirty="0">
                <a:ln>
                  <a:noFill/>
                </a:ln>
                <a:solidFill>
                  <a:prstClr val="black"/>
                </a:solidFill>
                <a:effectLst/>
                <a:uLnTx/>
                <a:uFillTx/>
                <a:latin typeface="Calibri" panose="020F0502020204030204"/>
                <a:ea typeface="+mn-ea"/>
                <a:cs typeface="+mn-cs"/>
              </a:rPr>
              <a:t>Таким образом, мы получили следующие популярные предметные наборы</a:t>
            </a:r>
            <a:r>
              <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2100" b="0" i="0" u="none" strike="noStrike" kern="1200" cap="none" spc="0" normalizeH="0" baseline="0" noProof="0" dirty="0">
                <a:ln>
                  <a:noFill/>
                </a:ln>
                <a:solidFill>
                  <a:prstClr val="black"/>
                </a:solidFill>
                <a:effectLst/>
                <a:uLnTx/>
                <a:uFillTx/>
                <a:latin typeface="Calibri" panose="020F0502020204030204"/>
                <a:ea typeface="+mn-ea"/>
                <a:cs typeface="+mn-cs"/>
              </a:rPr>
              <a:t>для заданной БД транзакций с заданным уровнем минимальной поддержки 3.</a:t>
            </a:r>
          </a:p>
          <a:p>
            <a:pPr marL="0" marR="0" lvl="0" indent="0" algn="just" defTabSz="685800" rtl="0" eaLnBrk="1" fontAlgn="auto" latinLnBrk="0" hangingPunct="1">
              <a:lnSpc>
                <a:spcPct val="90000"/>
              </a:lnSpc>
              <a:spcBef>
                <a:spcPts val="750"/>
              </a:spcBef>
              <a:spcAft>
                <a:spcPts val="0"/>
              </a:spcAft>
              <a:buClrTx/>
              <a:buSzTx/>
              <a:buFont typeface="Arial" panose="020B0604020202020204" pitchFamily="34" charset="0"/>
              <a:buNone/>
              <a:tabLst/>
              <a:defRPr/>
            </a:pPr>
            <a:endParaRPr kumimoji="0" lang="en-US" sz="2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endParaRPr>
          </a:p>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2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a:t>
            </a:r>
            <a:r>
              <a:rPr kumimoji="0" lang="en-US" sz="2100" b="1"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c</a:t>
            </a:r>
            <a:r>
              <a:rPr kumimoji="0" lang="en-US" sz="2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n-US" sz="2100" b="1"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a</a:t>
            </a:r>
            <a:r>
              <a:rPr kumimoji="0" lang="en-US" sz="2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3), (</a:t>
            </a:r>
            <a:r>
              <a:rPr kumimoji="0" lang="en-US" sz="2100" b="1"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c</a:t>
            </a:r>
            <a:r>
              <a:rPr kumimoji="0" lang="en-US" sz="2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n-US" sz="2100" b="1"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b</a:t>
            </a:r>
            <a:r>
              <a:rPr kumimoji="0" lang="en-US" sz="2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4), (</a:t>
            </a:r>
            <a:r>
              <a:rPr kumimoji="0" lang="en-US" sz="2100" b="1"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c</a:t>
            </a:r>
            <a:r>
              <a:rPr kumimoji="0" lang="en-US" sz="2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n-US" sz="2100" b="1"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d</a:t>
            </a:r>
            <a:r>
              <a:rPr kumimoji="0" lang="en-US" sz="2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4), (</a:t>
            </a:r>
            <a:r>
              <a:rPr kumimoji="0" lang="en-US" sz="2100" b="1"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b</a:t>
            </a:r>
            <a:r>
              <a:rPr kumimoji="0" lang="en-US" sz="2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n-US" sz="2100" b="1"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d</a:t>
            </a:r>
            <a:r>
              <a:rPr kumimoji="0" lang="en-US" sz="2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3), (</a:t>
            </a:r>
            <a:r>
              <a:rPr kumimoji="0" lang="en-US" sz="2100" b="1"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d</a:t>
            </a:r>
            <a:r>
              <a:rPr kumimoji="0" lang="en-US" sz="2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n-US" sz="2100" b="1"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e</a:t>
            </a:r>
            <a:r>
              <a:rPr kumimoji="0" lang="en-US" sz="2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5), (</a:t>
            </a:r>
            <a:r>
              <a:rPr kumimoji="0" lang="en-US" sz="2100" b="1"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d</a:t>
            </a:r>
            <a:r>
              <a:rPr kumimoji="0" lang="en-US" sz="2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n-US" sz="2100" b="1"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c</a:t>
            </a:r>
            <a:r>
              <a:rPr kumimoji="0" lang="en-US" sz="2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n-US" sz="2100" b="1"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e</a:t>
            </a:r>
            <a:r>
              <a:rPr kumimoji="0" lang="en-US" sz="2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4), (</a:t>
            </a:r>
            <a:r>
              <a:rPr kumimoji="0" lang="en-US" sz="2100" b="1"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d</a:t>
            </a:r>
            <a:r>
              <a:rPr kumimoji="0" lang="en-US" sz="2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n-US" sz="2100" b="1"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b</a:t>
            </a:r>
            <a:r>
              <a:rPr kumimoji="0" lang="en-US" sz="2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a:t>
            </a:r>
            <a:r>
              <a:rPr kumimoji="0" lang="en-US" sz="2100" b="1"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e</a:t>
            </a:r>
            <a:r>
              <a:rPr kumimoji="0" lang="en-US" sz="2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3).</a:t>
            </a:r>
            <a:endParaRPr kumimoji="0" lang="ru-RU"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E339E82C-351C-4721-BF29-2F4C8C1775F9}"/>
              </a:ext>
            </a:extLst>
          </p:cNvPr>
          <p:cNvSpPr txBox="1"/>
          <p:nvPr/>
        </p:nvSpPr>
        <p:spPr>
          <a:xfrm>
            <a:off x="3272072" y="1417866"/>
            <a:ext cx="1400694" cy="2308324"/>
          </a:xfrm>
          <a:prstGeom prst="rect">
            <a:avLst/>
          </a:prstGeom>
          <a:noFill/>
        </p:spPr>
        <p:txBody>
          <a:bodyPr wrap="square" rtlCol="0">
            <a:spAutoFit/>
          </a:bodyPr>
          <a:lstStyle/>
          <a:p>
            <a:pPr algn="ctr"/>
            <a:r>
              <a:rPr lang="ru-RU" sz="1800" b="0" i="0" dirty="0">
                <a:solidFill>
                  <a:srgbClr val="333333"/>
                </a:solidFill>
                <a:effectLst/>
                <a:latin typeface="Source Sans Pro" panose="020B0503030403020204" pitchFamily="34" charset="0"/>
              </a:rPr>
              <a:t>Уровни </a:t>
            </a:r>
          </a:p>
          <a:p>
            <a:pPr algn="ctr"/>
            <a:r>
              <a:rPr lang="ru-RU" sz="1800" b="0" i="0" dirty="0">
                <a:solidFill>
                  <a:srgbClr val="333333"/>
                </a:solidFill>
                <a:effectLst/>
                <a:latin typeface="Source Sans Pro" panose="020B0503030403020204" pitchFamily="34" charset="0"/>
              </a:rPr>
              <a:t>поддержки </a:t>
            </a:r>
          </a:p>
          <a:p>
            <a:pPr algn="ctr"/>
            <a:r>
              <a:rPr lang="ru-RU" sz="1800" b="0" i="0" dirty="0">
                <a:solidFill>
                  <a:srgbClr val="333333"/>
                </a:solidFill>
                <a:effectLst/>
                <a:latin typeface="Source Sans Pro" panose="020B0503030403020204" pitchFamily="34" charset="0"/>
              </a:rPr>
              <a:t>(c, 6), </a:t>
            </a:r>
          </a:p>
          <a:p>
            <a:pPr algn="ctr"/>
            <a:r>
              <a:rPr lang="ru-RU" sz="1800" b="0" i="0" dirty="0">
                <a:solidFill>
                  <a:srgbClr val="333333"/>
                </a:solidFill>
                <a:effectLst/>
                <a:latin typeface="Source Sans Pro" panose="020B0503030403020204" pitchFamily="34" charset="0"/>
              </a:rPr>
              <a:t>(b, 5), </a:t>
            </a:r>
          </a:p>
          <a:p>
            <a:pPr algn="ctr"/>
            <a:r>
              <a:rPr lang="ru-RU" sz="1800" b="0" i="0" dirty="0">
                <a:solidFill>
                  <a:srgbClr val="333333"/>
                </a:solidFill>
                <a:effectLst/>
                <a:latin typeface="Source Sans Pro" panose="020B0503030403020204" pitchFamily="34" charset="0"/>
              </a:rPr>
              <a:t>(d, 5), </a:t>
            </a:r>
          </a:p>
          <a:p>
            <a:pPr algn="ctr"/>
            <a:r>
              <a:rPr lang="ru-RU" sz="1800" b="0" i="0" dirty="0">
                <a:solidFill>
                  <a:srgbClr val="333333"/>
                </a:solidFill>
                <a:effectLst/>
                <a:latin typeface="Source Sans Pro" panose="020B0503030403020204" pitchFamily="34" charset="0"/>
              </a:rPr>
              <a:t>(e, 5), </a:t>
            </a:r>
          </a:p>
          <a:p>
            <a:pPr algn="ctr"/>
            <a:r>
              <a:rPr lang="ru-RU" sz="1800" b="0" i="0" dirty="0">
                <a:solidFill>
                  <a:srgbClr val="333333"/>
                </a:solidFill>
                <a:effectLst/>
                <a:latin typeface="Source Sans Pro" panose="020B0503030403020204" pitchFamily="34" charset="0"/>
              </a:rPr>
              <a:t>(a, 3).</a:t>
            </a:r>
          </a:p>
          <a:p>
            <a:endParaRPr lang="ru-RU" dirty="0"/>
          </a:p>
        </p:txBody>
      </p:sp>
    </p:spTree>
    <p:extLst>
      <p:ext uri="{BB962C8B-B14F-4D97-AF65-F5344CB8AC3E}">
        <p14:creationId xmlns:p14="http://schemas.microsoft.com/office/powerpoint/2010/main" val="1726555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C451A6-F684-4B37-A113-D051751FBB01}"/>
              </a:ext>
            </a:extLst>
          </p:cNvPr>
          <p:cNvSpPr>
            <a:spLocks noGrp="1"/>
          </p:cNvSpPr>
          <p:nvPr>
            <p:ph type="title"/>
          </p:nvPr>
        </p:nvSpPr>
        <p:spPr/>
        <p:txBody>
          <a:bodyPr/>
          <a:lstStyle/>
          <a:p>
            <a:pPr algn="ctr"/>
            <a:r>
              <a:rPr lang="ru-RU" dirty="0"/>
              <a:t>Сравнение алгоритмов FPG и Apriori</a:t>
            </a:r>
          </a:p>
        </p:txBody>
      </p:sp>
      <p:sp>
        <p:nvSpPr>
          <p:cNvPr id="3" name="Объект 2">
            <a:extLst>
              <a:ext uri="{FF2B5EF4-FFF2-40B4-BE49-F238E27FC236}">
                <a16:creationId xmlns:a16="http://schemas.microsoft.com/office/drawing/2014/main" id="{83E2F5AF-BF48-47DF-BD5B-DE57563DDFD4}"/>
              </a:ext>
            </a:extLst>
          </p:cNvPr>
          <p:cNvSpPr>
            <a:spLocks noGrp="1"/>
          </p:cNvSpPr>
          <p:nvPr>
            <p:ph idx="1"/>
          </p:nvPr>
        </p:nvSpPr>
        <p:spPr>
          <a:xfrm>
            <a:off x="628650" y="1066800"/>
            <a:ext cx="7886700" cy="5110163"/>
          </a:xfrm>
        </p:spPr>
        <p:txBody>
          <a:bodyPr/>
          <a:lstStyle/>
          <a:p>
            <a:pPr marL="0" indent="0" algn="just">
              <a:buNone/>
            </a:pPr>
            <a:r>
              <a:rPr lang="ru-RU" b="0" i="0" dirty="0">
                <a:solidFill>
                  <a:srgbClr val="333333"/>
                </a:solidFill>
                <a:effectLst/>
                <a:latin typeface="Source Sans Pro" panose="020B0503030403020204" pitchFamily="34" charset="0"/>
              </a:rPr>
              <a:t>Сравнительные исследования классического алгоритма Apriori и FPG показали, что с увеличением числа транзакций в БД временные затраты на поиск частых предметных наборов растут для FPG намного медленнее, чем для Apriori.</a:t>
            </a:r>
            <a:endParaRPr lang="ru-RU" dirty="0"/>
          </a:p>
        </p:txBody>
      </p:sp>
      <p:sp>
        <p:nvSpPr>
          <p:cNvPr id="4" name="Нижний колонтитул 3">
            <a:extLst>
              <a:ext uri="{FF2B5EF4-FFF2-40B4-BE49-F238E27FC236}">
                <a16:creationId xmlns:a16="http://schemas.microsoft.com/office/drawing/2014/main" id="{631E9818-5428-4C3C-9B0F-F07FE4168F5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A61C0DA-7A9C-4333-9258-353F1C0BC467}"/>
              </a:ext>
            </a:extLst>
          </p:cNvPr>
          <p:cNvSpPr>
            <a:spLocks noGrp="1"/>
          </p:cNvSpPr>
          <p:nvPr>
            <p:ph type="sldNum" sz="quarter" idx="12"/>
          </p:nvPr>
        </p:nvSpPr>
        <p:spPr/>
        <p:txBody>
          <a:bodyPr/>
          <a:lstStyle/>
          <a:p>
            <a:fld id="{81C5FB71-5E9C-41B5-9BB8-3F1EBEAEB16A}" type="slidenum">
              <a:rPr lang="ru-RU" smtClean="0"/>
              <a:t>67</a:t>
            </a:fld>
            <a:endParaRPr lang="ru-RU"/>
          </a:p>
        </p:txBody>
      </p:sp>
      <p:pic>
        <p:nvPicPr>
          <p:cNvPr id="7" name="Рисунок 6">
            <a:extLst>
              <a:ext uri="{FF2B5EF4-FFF2-40B4-BE49-F238E27FC236}">
                <a16:creationId xmlns:a16="http://schemas.microsoft.com/office/drawing/2014/main" id="{E4D8E78A-C609-4BAC-BA83-187447E09F31}"/>
              </a:ext>
            </a:extLst>
          </p:cNvPr>
          <p:cNvPicPr>
            <a:picLocks noChangeAspect="1"/>
          </p:cNvPicPr>
          <p:nvPr/>
        </p:nvPicPr>
        <p:blipFill>
          <a:blip r:embed="rId2"/>
          <a:stretch>
            <a:fillRect/>
          </a:stretch>
        </p:blipFill>
        <p:spPr>
          <a:xfrm>
            <a:off x="800100" y="2355851"/>
            <a:ext cx="7543800" cy="4000500"/>
          </a:xfrm>
          <a:prstGeom prst="rect">
            <a:avLst/>
          </a:prstGeom>
        </p:spPr>
      </p:pic>
    </p:spTree>
    <p:extLst>
      <p:ext uri="{BB962C8B-B14F-4D97-AF65-F5344CB8AC3E}">
        <p14:creationId xmlns:p14="http://schemas.microsoft.com/office/powerpoint/2010/main" val="41611037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D0B1413-EEF9-4E0F-9044-5247C30D399F}"/>
              </a:ext>
            </a:extLst>
          </p:cNvPr>
          <p:cNvSpPr>
            <a:spLocks noGrp="1"/>
          </p:cNvSpPr>
          <p:nvPr>
            <p:ph type="title"/>
          </p:nvPr>
        </p:nvSpPr>
        <p:spPr/>
        <p:txBody>
          <a:bodyPr/>
          <a:lstStyle/>
          <a:p>
            <a:r>
              <a:rPr lang="ru-RU" dirty="0"/>
              <a:t>Выводы</a:t>
            </a:r>
          </a:p>
        </p:txBody>
      </p:sp>
      <p:sp>
        <p:nvSpPr>
          <p:cNvPr id="3" name="Объект 2">
            <a:extLst>
              <a:ext uri="{FF2B5EF4-FFF2-40B4-BE49-F238E27FC236}">
                <a16:creationId xmlns:a16="http://schemas.microsoft.com/office/drawing/2014/main" id="{51CE7B4C-0749-4F40-AB2D-8127CC5E372C}"/>
              </a:ext>
            </a:extLst>
          </p:cNvPr>
          <p:cNvSpPr>
            <a:spLocks noGrp="1"/>
          </p:cNvSpPr>
          <p:nvPr>
            <p:ph idx="1"/>
          </p:nvPr>
        </p:nvSpPr>
        <p:spPr/>
        <p:txBody>
          <a:bodyPr/>
          <a:lstStyle/>
          <a:p>
            <a:r>
              <a:rPr lang="ru-RU" dirty="0"/>
              <a:t>Поиск ассоциативных правил — обучение без учителя.</a:t>
            </a:r>
          </a:p>
          <a:p>
            <a:r>
              <a:rPr lang="ru-RU" dirty="0"/>
              <a:t>Простые алгоритмы типа </a:t>
            </a:r>
            <a:r>
              <a:rPr lang="ru-RU" dirty="0" err="1"/>
              <a:t>APriory</a:t>
            </a:r>
            <a:r>
              <a:rPr lang="ru-RU" dirty="0"/>
              <a:t> вычислительно неэффективны на больших данных.</a:t>
            </a:r>
          </a:p>
          <a:p>
            <a:r>
              <a:rPr lang="ru-RU" dirty="0"/>
              <a:t>FP-</a:t>
            </a:r>
            <a:r>
              <a:rPr lang="ru-RU" dirty="0" err="1"/>
              <a:t>growth</a:t>
            </a:r>
            <a:r>
              <a:rPr lang="ru-RU" dirty="0"/>
              <a:t> — один из самых эффективных алгоритмов поиска ассоциативных правил.</a:t>
            </a:r>
          </a:p>
          <a:p>
            <a:r>
              <a:rPr lang="ru-RU" dirty="0"/>
              <a:t>Для практических приложений часто используются его инкрементные и/или иерархические обобщения.</a:t>
            </a:r>
          </a:p>
          <a:p>
            <a:pPr marL="0" indent="0">
              <a:buNone/>
            </a:pPr>
            <a:endParaRPr lang="ru-RU" dirty="0"/>
          </a:p>
        </p:txBody>
      </p:sp>
      <p:sp>
        <p:nvSpPr>
          <p:cNvPr id="4" name="Нижний колонтитул 3">
            <a:extLst>
              <a:ext uri="{FF2B5EF4-FFF2-40B4-BE49-F238E27FC236}">
                <a16:creationId xmlns:a16="http://schemas.microsoft.com/office/drawing/2014/main" id="{CBE38ABA-BC7C-4E74-A0B4-4A15C16F218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EEBD533-02D8-4EFD-9721-9DCF22EE8CA3}"/>
              </a:ext>
            </a:extLst>
          </p:cNvPr>
          <p:cNvSpPr>
            <a:spLocks noGrp="1"/>
          </p:cNvSpPr>
          <p:nvPr>
            <p:ph type="sldNum" sz="quarter" idx="12"/>
          </p:nvPr>
        </p:nvSpPr>
        <p:spPr/>
        <p:txBody>
          <a:bodyPr/>
          <a:lstStyle/>
          <a:p>
            <a:fld id="{81C5FB71-5E9C-41B5-9BB8-3F1EBEAEB16A}" type="slidenum">
              <a:rPr lang="ru-RU" smtClean="0"/>
              <a:t>68</a:t>
            </a:fld>
            <a:endParaRPr lang="ru-RU"/>
          </a:p>
        </p:txBody>
      </p:sp>
    </p:spTree>
    <p:extLst>
      <p:ext uri="{BB962C8B-B14F-4D97-AF65-F5344CB8AC3E}">
        <p14:creationId xmlns:p14="http://schemas.microsoft.com/office/powerpoint/2010/main" val="3772318583"/>
      </p:ext>
    </p:extLst>
  </p:cSld>
  <p:clrMapOvr>
    <a:masterClrMapping/>
  </p:clrMapOvr>
</p:sld>
</file>

<file path=ppt/theme/theme1.xml><?xml version="1.0" encoding="utf-8"?>
<a:theme xmlns:a="http://schemas.openxmlformats.org/drawingml/2006/main" name="Специальное оформление">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25787</TotalTime>
  <Words>8132</Words>
  <Application>Microsoft Office PowerPoint</Application>
  <PresentationFormat>Экран (4:3)</PresentationFormat>
  <Paragraphs>735</Paragraphs>
  <Slides>68</Slides>
  <Notes>13</Notes>
  <HiddenSlides>0</HiddenSlides>
  <MMClips>0</MMClips>
  <ScaleCrop>false</ScaleCrop>
  <HeadingPairs>
    <vt:vector size="6" baseType="variant">
      <vt:variant>
        <vt:lpstr>Использованные шрифты</vt:lpstr>
      </vt:variant>
      <vt:variant>
        <vt:i4>10</vt:i4>
      </vt:variant>
      <vt:variant>
        <vt:lpstr>Тема</vt:lpstr>
      </vt:variant>
      <vt:variant>
        <vt:i4>1</vt:i4>
      </vt:variant>
      <vt:variant>
        <vt:lpstr>Заголовки слайдов</vt:lpstr>
      </vt:variant>
      <vt:variant>
        <vt:i4>68</vt:i4>
      </vt:variant>
    </vt:vector>
  </HeadingPairs>
  <TitlesOfParts>
    <vt:vector size="79" baseType="lpstr">
      <vt:lpstr>-apple-system</vt:lpstr>
      <vt:lpstr>Arial</vt:lpstr>
      <vt:lpstr>Calibri</vt:lpstr>
      <vt:lpstr>Cambria Math</vt:lpstr>
      <vt:lpstr>KaTeX_Math</vt:lpstr>
      <vt:lpstr>lucida grande</vt:lpstr>
      <vt:lpstr>PT Sans</vt:lpstr>
      <vt:lpstr>Source Sans Pro</vt:lpstr>
      <vt:lpstr>Times New Roman</vt:lpstr>
      <vt:lpstr>YS Text</vt:lpstr>
      <vt:lpstr>Специальное оформление</vt:lpstr>
      <vt:lpstr>Презентация PowerPoint</vt:lpstr>
      <vt:lpstr>Лекция №8. Ассоциативные правила</vt:lpstr>
      <vt:lpstr>Цель и задачи анализа ассоциативных правил</vt:lpstr>
      <vt:lpstr>Применение анализа ассоциативных правил</vt:lpstr>
      <vt:lpstr>Задача анализа рыночной корзины</vt:lpstr>
      <vt:lpstr>Введение в ассоциативные правила</vt:lpstr>
      <vt:lpstr>Пример транзакционной базы данных, состоящей из покупательских транзакций</vt:lpstr>
      <vt:lpstr>Часто встречающиеся шаблоны или образцы</vt:lpstr>
      <vt:lpstr>Пример поддержки и достоверности</vt:lpstr>
      <vt:lpstr>Основные определения</vt:lpstr>
      <vt:lpstr>Метрики в задаче анализа ассоциативных правил</vt:lpstr>
      <vt:lpstr>Метрика Support</vt:lpstr>
      <vt:lpstr>Метрика Support</vt:lpstr>
      <vt:lpstr>Поддержка</vt:lpstr>
      <vt:lpstr>Поддержка правила</vt:lpstr>
      <vt:lpstr>Метрика Confidence</vt:lpstr>
      <vt:lpstr>Метрика Confidence</vt:lpstr>
      <vt:lpstr>Достоверность</vt:lpstr>
      <vt:lpstr>Метрика Lift</vt:lpstr>
      <vt:lpstr>Метрика Lift</vt:lpstr>
      <vt:lpstr>Задача нахождения ассоциативных правил разбивается на две подзадачи:</vt:lpstr>
      <vt:lpstr>Значения для параметров минимальная поддержка и минимальная достоверность</vt:lpstr>
      <vt:lpstr>Обобщенные ассоциативные правила  (Generalized Association Rules)</vt:lpstr>
      <vt:lpstr>Пример обобщенных ассоциативных правил</vt:lpstr>
      <vt:lpstr>Основные определения</vt:lpstr>
      <vt:lpstr>Введение дополнительной информации о группировке элементов в виде иерархии даст следующие преимущества:</vt:lpstr>
      <vt:lpstr>Введение дополнительной информации о группировке элементов в виде иерархии</vt:lpstr>
      <vt:lpstr>Численные ассоциативные правила  (Quantitative Association Rules)</vt:lpstr>
      <vt:lpstr>Методы поиска ассоциативных правил Алгоритм AIS </vt:lpstr>
      <vt:lpstr>Методы поиска ассоциативных правил Алгоритм SETM</vt:lpstr>
      <vt:lpstr>Алгоритм Apriori</vt:lpstr>
      <vt:lpstr>Алгоритм Apriori</vt:lpstr>
      <vt:lpstr>Алгоритм Apriori</vt:lpstr>
      <vt:lpstr>Методы поиска ассоциативных правил Алгоритм Apriori</vt:lpstr>
      <vt:lpstr>Рассмотрим работу алгоритма Apriori на примере базы данных покупательских транзакций с минимальным уровенем поддержки равным 3</vt:lpstr>
      <vt:lpstr>Предобработка данных для алгоритма Apriori</vt:lpstr>
      <vt:lpstr>Нормализованный вид  базы данных транзакций</vt:lpstr>
      <vt:lpstr>Свойство анти-монотонности</vt:lpstr>
      <vt:lpstr>Свойство анти-монотонности</vt:lpstr>
      <vt:lpstr>Свойство анти-монотонности</vt:lpstr>
      <vt:lpstr>Разновидности алгоритма Apriori AprioriTid </vt:lpstr>
      <vt:lpstr>Разновидности алгоритма Apriori DHP </vt:lpstr>
      <vt:lpstr>Разновидности алгоритма Apriori PARTITION, DIC</vt:lpstr>
      <vt:lpstr>Frequent Pattern-Growth (FPG)</vt:lpstr>
      <vt:lpstr>Frequent Pattern-Growth (FPG)</vt:lpstr>
      <vt:lpstr>Алгоритм Frequent Pattern-Growth Strategy (FPG)</vt:lpstr>
      <vt:lpstr>Рассмотрим работу алгоритма FPG на конкретном примере. Пусть имеется БД транзакций</vt:lpstr>
      <vt:lpstr>Упорядочим предметы в транзакциях по убыванию значений их поддержек</vt:lpstr>
      <vt:lpstr>Построим FP-дерево</vt:lpstr>
      <vt:lpstr>Построим FP-дерево для транзакции № 1</vt:lpstr>
      <vt:lpstr>Построим FP-дерево для транзакции № 2</vt:lpstr>
      <vt:lpstr>Построим FP-дерево для транзакции № 3</vt:lpstr>
      <vt:lpstr>Построим FP-дерево для транзакции № 4</vt:lpstr>
      <vt:lpstr>Построим FP-дерево для транзакции № 5</vt:lpstr>
      <vt:lpstr>Построим FP-дерево для транзакции № 6</vt:lpstr>
      <vt:lpstr>Построим FP-дерево для транзакции № 7</vt:lpstr>
      <vt:lpstr>Анализ результата построения FP-дерева</vt:lpstr>
      <vt:lpstr>Извлечение частых предметных наборов из FP-дерева</vt:lpstr>
      <vt:lpstr>Процесс извлечения из FP-дерева частых предметных наборов будет заключаться в следующем</vt:lpstr>
      <vt:lpstr>Пояснения методики извлечения популярного набора из FP-дерева на примере для БД транзакций и построенного для неё FP-дерева</vt:lpstr>
      <vt:lpstr>Популярный набор для предмета b</vt:lpstr>
      <vt:lpstr>Популярный набор для предмета c</vt:lpstr>
      <vt:lpstr>Популярный набор для предмета d</vt:lpstr>
      <vt:lpstr>Популярный набор для предмета e</vt:lpstr>
      <vt:lpstr>Полученные популярные предметные наборы </vt:lpstr>
      <vt:lpstr>Полученные популярные предметные наборы </vt:lpstr>
      <vt:lpstr>Сравнение алгоритмов FPG и Apriori</vt:lpstr>
      <vt:lpstr>Выводы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Mikhail Bocharov</dc:creator>
  <cp:lastModifiedBy>Иван Юрченков</cp:lastModifiedBy>
  <cp:revision>933</cp:revision>
  <dcterms:created xsi:type="dcterms:W3CDTF">2024-10-12T05:17:42Z</dcterms:created>
  <dcterms:modified xsi:type="dcterms:W3CDTF">2024-12-18T07:06:17Z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Saved">
    <vt:filetime>2024-10-12T00:00:00Z</vt:filetime>
  </property>
  <property fmtid="{D5CDD505-2E9C-101B-9397-08002B2CF9AE}" pid="3" name="Producer">
    <vt:lpwstr>3-Heights(TM) PDF Security Shell 4.8.25.2 (http://www.pdf-tools.com)</vt:lpwstr>
  </property>
</Properties>
</file>