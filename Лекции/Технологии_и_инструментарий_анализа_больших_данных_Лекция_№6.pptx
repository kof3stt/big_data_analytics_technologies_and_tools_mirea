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6" r:id="rId1"/>
  </p:sldMasterIdLst>
  <p:notesMasterIdLst>
    <p:notesMasterId r:id="rId67"/>
  </p:notesMasterIdLst>
  <p:sldIdLst>
    <p:sldId id="313" r:id="rId2"/>
    <p:sldId id="312" r:id="rId3"/>
    <p:sldId id="441" r:id="rId4"/>
    <p:sldId id="482" r:id="rId5"/>
    <p:sldId id="485" r:id="rId6"/>
    <p:sldId id="483" r:id="rId7"/>
    <p:sldId id="537" r:id="rId8"/>
    <p:sldId id="617" r:id="rId9"/>
    <p:sldId id="621" r:id="rId10"/>
    <p:sldId id="620" r:id="rId11"/>
    <p:sldId id="623" r:id="rId12"/>
    <p:sldId id="622" r:id="rId13"/>
    <p:sldId id="628" r:id="rId14"/>
    <p:sldId id="605" r:id="rId15"/>
    <p:sldId id="606" r:id="rId16"/>
    <p:sldId id="615" r:id="rId17"/>
    <p:sldId id="574" r:id="rId18"/>
    <p:sldId id="575" r:id="rId19"/>
    <p:sldId id="626" r:id="rId20"/>
    <p:sldId id="578" r:id="rId21"/>
    <p:sldId id="579" r:id="rId22"/>
    <p:sldId id="581" r:id="rId23"/>
    <p:sldId id="582" r:id="rId24"/>
    <p:sldId id="624" r:id="rId25"/>
    <p:sldId id="608" r:id="rId26"/>
    <p:sldId id="609" r:id="rId27"/>
    <p:sldId id="610" r:id="rId28"/>
    <p:sldId id="627" r:id="rId29"/>
    <p:sldId id="611" r:id="rId30"/>
    <p:sldId id="625" r:id="rId31"/>
    <p:sldId id="614" r:id="rId32"/>
    <p:sldId id="612" r:id="rId33"/>
    <p:sldId id="613" r:id="rId34"/>
    <p:sldId id="539" r:id="rId35"/>
    <p:sldId id="488" r:id="rId36"/>
    <p:sldId id="631" r:id="rId37"/>
    <p:sldId id="632" r:id="rId38"/>
    <p:sldId id="629" r:id="rId39"/>
    <p:sldId id="602" r:id="rId40"/>
    <p:sldId id="487" r:id="rId41"/>
    <p:sldId id="492" r:id="rId42"/>
    <p:sldId id="493" r:id="rId43"/>
    <p:sldId id="633" r:id="rId44"/>
    <p:sldId id="499" r:id="rId45"/>
    <p:sldId id="501" r:id="rId46"/>
    <p:sldId id="502" r:id="rId47"/>
    <p:sldId id="503" r:id="rId48"/>
    <p:sldId id="506" r:id="rId49"/>
    <p:sldId id="634" r:id="rId50"/>
    <p:sldId id="507" r:id="rId51"/>
    <p:sldId id="508" r:id="rId52"/>
    <p:sldId id="509" r:id="rId53"/>
    <p:sldId id="630" r:id="rId54"/>
    <p:sldId id="486" r:id="rId55"/>
    <p:sldId id="512" r:id="rId56"/>
    <p:sldId id="517" r:id="rId57"/>
    <p:sldId id="521" r:id="rId58"/>
    <p:sldId id="522" r:id="rId59"/>
    <p:sldId id="523" r:id="rId60"/>
    <p:sldId id="524" r:id="rId61"/>
    <p:sldId id="525" r:id="rId62"/>
    <p:sldId id="528" r:id="rId63"/>
    <p:sldId id="529" r:id="rId64"/>
    <p:sldId id="530" r:id="rId65"/>
    <p:sldId id="536" r:id="rId66"/>
  </p:sldIdLst>
  <p:sldSz cx="9144000" cy="6858000" type="screen4x3"/>
  <p:notesSz cx="9144000" cy="6858000"/>
  <p:defaultTextStyle>
    <a:defPPr>
      <a:defRPr kern="0"/>
    </a:defPPr>
  </p:defaultTextStyle>
  <p:extLst>
    <p:ext uri="{521415D9-36F7-43E2-AB2F-B90AF26B5E84}">
      <p14:sectionLst xmlns:p14="http://schemas.microsoft.com/office/powerpoint/2010/main">
        <p14:section name="Обучение без учителя" id="{2E521712-8874-4BC2-BBFE-B523B4F3C52E}">
          <p14:sldIdLst>
            <p14:sldId id="313"/>
            <p14:sldId id="312"/>
            <p14:sldId id="441"/>
            <p14:sldId id="482"/>
          </p14:sldIdLst>
        </p14:section>
        <p14:section name="Раздел без заголовка" id="{759594B0-93DD-4D17-8681-A18F4D465D6C}">
          <p14:sldIdLst>
            <p14:sldId id="485"/>
          </p14:sldIdLst>
        </p14:section>
        <p14:section name="Кластеризация" id="{1CF16D85-8935-47A3-A0FB-B7497BB9B31B}">
          <p14:sldIdLst>
            <p14:sldId id="483"/>
            <p14:sldId id="537"/>
            <p14:sldId id="617"/>
            <p14:sldId id="621"/>
            <p14:sldId id="620"/>
            <p14:sldId id="623"/>
            <p14:sldId id="622"/>
            <p14:sldId id="628"/>
            <p14:sldId id="605"/>
            <p14:sldId id="606"/>
            <p14:sldId id="615"/>
            <p14:sldId id="574"/>
            <p14:sldId id="575"/>
            <p14:sldId id="626"/>
            <p14:sldId id="578"/>
            <p14:sldId id="579"/>
            <p14:sldId id="581"/>
            <p14:sldId id="582"/>
            <p14:sldId id="624"/>
            <p14:sldId id="608"/>
            <p14:sldId id="609"/>
            <p14:sldId id="610"/>
            <p14:sldId id="627"/>
            <p14:sldId id="611"/>
            <p14:sldId id="625"/>
            <p14:sldId id="614"/>
            <p14:sldId id="612"/>
            <p14:sldId id="613"/>
            <p14:sldId id="539"/>
            <p14:sldId id="488"/>
            <p14:sldId id="631"/>
            <p14:sldId id="632"/>
          </p14:sldIdLst>
        </p14:section>
        <p14:section name="Сокращение размерности" id="{FCE0F7F0-3FCB-43DF-B812-CBFA3BF26FF1}">
          <p14:sldIdLst>
            <p14:sldId id="629"/>
            <p14:sldId id="602"/>
            <p14:sldId id="487"/>
            <p14:sldId id="492"/>
            <p14:sldId id="493"/>
            <p14:sldId id="633"/>
            <p14:sldId id="499"/>
            <p14:sldId id="501"/>
            <p14:sldId id="502"/>
            <p14:sldId id="503"/>
            <p14:sldId id="506"/>
            <p14:sldId id="634"/>
            <p14:sldId id="507"/>
            <p14:sldId id="508"/>
            <p14:sldId id="509"/>
            <p14:sldId id="630"/>
            <p14:sldId id="486"/>
          </p14:sldIdLst>
        </p14:section>
        <p14:section name="Отбор признаков" id="{03DA741D-873D-4F66-999C-8AFD7AE065B7}">
          <p14:sldIdLst>
            <p14:sldId id="512"/>
            <p14:sldId id="517"/>
            <p14:sldId id="521"/>
            <p14:sldId id="522"/>
            <p14:sldId id="523"/>
            <p14:sldId id="524"/>
            <p14:sldId id="525"/>
            <p14:sldId id="528"/>
            <p14:sldId id="529"/>
            <p14:sldId id="530"/>
            <p14:sldId id="536"/>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khail Bocharov" initials="MB" lastIdx="1" clrIdx="0">
    <p:extLst>
      <p:ext uri="{19B8F6BF-5375-455C-9EA6-DF929625EA0E}">
        <p15:presenceInfo xmlns:p15="http://schemas.microsoft.com/office/powerpoint/2012/main" userId="7adb6a7eedeb765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Светлый стиль 3 — акцент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5AB1C69-6EDB-4FF4-983F-18BD219EF322}" styleName="Средний стиль 2 — акцент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041" autoAdjust="0"/>
    <p:restoredTop sz="72422" autoAdjust="0"/>
  </p:normalViewPr>
  <p:slideViewPr>
    <p:cSldViewPr>
      <p:cViewPr varScale="1">
        <p:scale>
          <a:sx n="64" d="100"/>
          <a:sy n="64" d="100"/>
        </p:scale>
        <p:origin x="1661" y="67"/>
      </p:cViewPr>
      <p:guideLst>
        <p:guide orient="horz" pos="2880"/>
        <p:guide pos="2160"/>
      </p:guideLst>
    </p:cSldViewPr>
  </p:slideViewPr>
  <p:notesTextViewPr>
    <p:cViewPr>
      <p:scale>
        <a:sx n="100" d="100"/>
        <a:sy n="100" d="100"/>
      </p:scale>
      <p:origin x="0" y="-1949"/>
    </p:cViewPr>
  </p:notesTextViewPr>
  <p:notesViewPr>
    <p:cSldViewPr>
      <p:cViewPr varScale="1">
        <p:scale>
          <a:sx n="100" d="100"/>
          <a:sy n="100" d="100"/>
        </p:scale>
        <p:origin x="1404"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884D3DCB-A1F6-4D77-B944-BA104682E2A1}" type="datetimeFigureOut">
              <a:rPr lang="ru-RU" smtClean="0"/>
              <a:t>12.11.2024</a:t>
            </a:fld>
            <a:endParaRPr lang="ru-RU"/>
          </a:p>
        </p:txBody>
      </p:sp>
      <p:sp>
        <p:nvSpPr>
          <p:cNvPr id="4" name="Образ слайда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DECB8B1E-725D-4009-AE77-F13A2082C589}" type="slidenum">
              <a:rPr lang="ru-RU" smtClean="0"/>
              <a:t>‹#›</a:t>
            </a:fld>
            <a:endParaRPr lang="ru-RU"/>
          </a:p>
        </p:txBody>
      </p:sp>
    </p:spTree>
    <p:extLst>
      <p:ext uri="{BB962C8B-B14F-4D97-AF65-F5344CB8AC3E}">
        <p14:creationId xmlns:p14="http://schemas.microsoft.com/office/powerpoint/2010/main" val="3827504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DF4ECBE7-4487-4615-A10C-5FECAADA1E8C}" type="slidenum">
              <a:rPr lang="ru-RU" smtClean="0"/>
              <a:t>1</a:t>
            </a:fld>
            <a:endParaRPr lang="ru-RU"/>
          </a:p>
        </p:txBody>
      </p:sp>
    </p:spTree>
    <p:extLst>
      <p:ext uri="{BB962C8B-B14F-4D97-AF65-F5344CB8AC3E}">
        <p14:creationId xmlns:p14="http://schemas.microsoft.com/office/powerpoint/2010/main" val="39665757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DF4ECBE7-4487-4615-A10C-5FECAADA1E8C}" type="slidenum">
              <a:rPr kumimoji="0" lang="ru-R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2</a:t>
            </a:fld>
            <a:endParaRPr kumimoji="0" lang="ru-R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1735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lgn="just">
              <a:buNone/>
            </a:pPr>
            <a:r>
              <a:rPr lang="ru-RU" sz="1200" dirty="0"/>
              <a:t>В обучении с учителем, когда мы тренируем нашу модель, мы знаем правильный ответ заранее, а в обучении с подкреплением мы определяем меру вознаграждения за выполненные агентом отдельно взятые действия. </a:t>
            </a:r>
          </a:p>
          <a:p>
            <a:pPr marL="0" indent="0" algn="just">
              <a:buNone/>
            </a:pPr>
            <a:r>
              <a:rPr lang="ru-RU" sz="1200" dirty="0"/>
              <a:t>С другой стороны, в обучении без учителя мы имеем дело с немаркированными данными или данными с неизвестной структурой. Используя методы обучения без учителя, мы можем разведать структуру данных с целью выделения содержательной информации без контроля со стороны известной результирующей переменной или функции вознаграждения.</a:t>
            </a:r>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3</a:t>
            </a:fld>
            <a:endParaRPr lang="ru-RU"/>
          </a:p>
        </p:txBody>
      </p:sp>
    </p:spTree>
    <p:extLst>
      <p:ext uri="{BB962C8B-B14F-4D97-AF65-F5344CB8AC3E}">
        <p14:creationId xmlns:p14="http://schemas.microsoft.com/office/powerpoint/2010/main" val="19155472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4</a:t>
            </a:fld>
            <a:endParaRPr lang="ru-RU"/>
          </a:p>
        </p:txBody>
      </p:sp>
    </p:spTree>
    <p:extLst>
      <p:ext uri="{BB962C8B-B14F-4D97-AF65-F5344CB8AC3E}">
        <p14:creationId xmlns:p14="http://schemas.microsoft.com/office/powerpoint/2010/main" val="27191749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lgn="just">
              <a:buNone/>
            </a:pPr>
            <a:r>
              <a:rPr lang="ru-RU" sz="2000" b="1" dirty="0">
                <a:solidFill>
                  <a:schemeClr val="accent2">
                    <a:lumMod val="75000"/>
                  </a:schemeClr>
                </a:solidFill>
                <a:latin typeface="system-ui"/>
              </a:rPr>
              <a:t> </a:t>
            </a:r>
            <a:r>
              <a:rPr lang="ru-RU" sz="2000" b="1" i="0" dirty="0">
                <a:solidFill>
                  <a:schemeClr val="accent2">
                    <a:lumMod val="75000"/>
                  </a:schemeClr>
                </a:solidFill>
                <a:effectLst/>
                <a:latin typeface="system-ui"/>
              </a:rPr>
              <a:t>Кластеризация</a:t>
            </a:r>
            <a:r>
              <a:rPr lang="en-US" sz="2000" b="1" i="0" dirty="0">
                <a:solidFill>
                  <a:schemeClr val="accent2">
                    <a:lumMod val="75000"/>
                  </a:schemeClr>
                </a:solidFill>
                <a:effectLst/>
                <a:latin typeface="system-ui"/>
              </a:rPr>
              <a:t>:</a:t>
            </a:r>
            <a:endParaRPr lang="ru-RU" sz="2000" b="1" i="0" dirty="0">
              <a:solidFill>
                <a:schemeClr val="accent2">
                  <a:lumMod val="75000"/>
                </a:schemeClr>
              </a:solidFill>
              <a:effectLst/>
              <a:latin typeface="system-ui"/>
            </a:endParaRPr>
          </a:p>
          <a:p>
            <a:pPr lvl="1"/>
            <a:r>
              <a:rPr lang="ru-RU" sz="1700" b="0" i="0" dirty="0">
                <a:effectLst/>
                <a:latin typeface="system-ui"/>
              </a:rPr>
              <a:t>k-средние (k-</a:t>
            </a:r>
            <a:r>
              <a:rPr lang="ru-RU" sz="1700" b="0" i="0" dirty="0" err="1">
                <a:effectLst/>
                <a:latin typeface="system-ui"/>
              </a:rPr>
              <a:t>means</a:t>
            </a:r>
            <a:r>
              <a:rPr lang="ru-RU" sz="1700" b="0" i="0" dirty="0">
                <a:effectLst/>
                <a:latin typeface="system-ui"/>
              </a:rPr>
              <a:t>)</a:t>
            </a:r>
          </a:p>
          <a:p>
            <a:pPr lvl="1"/>
            <a:r>
              <a:rPr lang="ru-RU" sz="1700" b="0" i="0" dirty="0">
                <a:effectLst/>
                <a:latin typeface="system-ui"/>
              </a:rPr>
              <a:t>иерархический кластерный анализ (</a:t>
            </a:r>
            <a:r>
              <a:rPr lang="ru-RU" sz="1700" b="0" i="0" dirty="0" err="1">
                <a:effectLst/>
                <a:latin typeface="system-ui"/>
              </a:rPr>
              <a:t>Hierarchical</a:t>
            </a:r>
            <a:r>
              <a:rPr lang="ru-RU" sz="1700" b="0" i="0" dirty="0">
                <a:effectLst/>
                <a:latin typeface="system-ui"/>
              </a:rPr>
              <a:t> Cluster Analysis - НСА)</a:t>
            </a:r>
          </a:p>
          <a:p>
            <a:pPr lvl="1"/>
            <a:r>
              <a:rPr lang="ru-RU" sz="1700" b="0" i="0" dirty="0">
                <a:effectLst/>
                <a:latin typeface="system-ui"/>
              </a:rPr>
              <a:t>максимизация ожиданий ( </a:t>
            </a:r>
            <a:r>
              <a:rPr lang="ru-RU" sz="1700" b="0" i="0" dirty="0" err="1">
                <a:effectLst/>
                <a:latin typeface="system-ui"/>
              </a:rPr>
              <a:t>expectation</a:t>
            </a:r>
            <a:r>
              <a:rPr lang="ru-RU" sz="1700" b="0" i="0" dirty="0">
                <a:effectLst/>
                <a:latin typeface="system-ui"/>
              </a:rPr>
              <a:t> </a:t>
            </a:r>
            <a:r>
              <a:rPr lang="ru-RU" sz="1700" b="0" i="0" dirty="0" err="1">
                <a:effectLst/>
                <a:latin typeface="system-ui"/>
              </a:rPr>
              <a:t>maximization</a:t>
            </a:r>
            <a:r>
              <a:rPr lang="ru-RU" sz="1700" b="0" i="0" dirty="0">
                <a:effectLst/>
                <a:latin typeface="system-ui"/>
              </a:rPr>
              <a:t>) </a:t>
            </a:r>
            <a:endParaRPr lang="ru-RU" sz="1700" dirty="0">
              <a:latin typeface="system-ui"/>
            </a:endParaRPr>
          </a:p>
          <a:p>
            <a:pPr marL="342900" lvl="1" indent="0">
              <a:buNone/>
            </a:pPr>
            <a:r>
              <a:rPr lang="ru-RU" sz="2000" b="1" i="0" dirty="0">
                <a:solidFill>
                  <a:schemeClr val="accent2">
                    <a:lumMod val="75000"/>
                  </a:schemeClr>
                </a:solidFill>
                <a:effectLst/>
                <a:latin typeface="system-ui"/>
              </a:rPr>
              <a:t>Визуализация и понижение размерности</a:t>
            </a:r>
            <a:r>
              <a:rPr lang="en-US" sz="2000" b="1" i="0" dirty="0">
                <a:solidFill>
                  <a:schemeClr val="accent2">
                    <a:lumMod val="75000"/>
                  </a:schemeClr>
                </a:solidFill>
                <a:effectLst/>
                <a:latin typeface="system-ui"/>
              </a:rPr>
              <a:t>:</a:t>
            </a:r>
            <a:endParaRPr lang="ru-RU" sz="2000" b="1" i="0" dirty="0">
              <a:solidFill>
                <a:schemeClr val="accent2">
                  <a:lumMod val="75000"/>
                </a:schemeClr>
              </a:solidFill>
              <a:effectLst/>
              <a:latin typeface="system-ui"/>
            </a:endParaRPr>
          </a:p>
          <a:p>
            <a:pPr lvl="1"/>
            <a:r>
              <a:rPr lang="ru-RU" sz="1700" b="0" i="0" dirty="0">
                <a:effectLst/>
                <a:latin typeface="system-ui"/>
              </a:rPr>
              <a:t>анализ главных компонентов (</a:t>
            </a:r>
            <a:r>
              <a:rPr lang="ru-RU" sz="1700" b="0" i="0" dirty="0" err="1">
                <a:effectLst/>
                <a:latin typeface="system-ui"/>
              </a:rPr>
              <a:t>Principal</a:t>
            </a:r>
            <a:r>
              <a:rPr lang="ru-RU" sz="1700" b="0" i="0" dirty="0">
                <a:effectLst/>
                <a:latin typeface="system-ui"/>
              </a:rPr>
              <a:t> </a:t>
            </a:r>
            <a:r>
              <a:rPr lang="ru-RU" sz="1700" b="0" i="0" dirty="0" err="1">
                <a:effectLst/>
                <a:latin typeface="system-ui"/>
              </a:rPr>
              <a:t>Component</a:t>
            </a:r>
            <a:r>
              <a:rPr lang="ru-RU" sz="1700" b="0" i="0" dirty="0">
                <a:effectLst/>
                <a:latin typeface="system-ui"/>
              </a:rPr>
              <a:t> Analysis - РСА)</a:t>
            </a:r>
          </a:p>
          <a:p>
            <a:pPr lvl="1"/>
            <a:r>
              <a:rPr lang="ru-RU" sz="1700" b="0" i="0" dirty="0">
                <a:effectLst/>
                <a:latin typeface="system-ui"/>
              </a:rPr>
              <a:t>ядерный анализ главных компонентов (</a:t>
            </a:r>
            <a:r>
              <a:rPr lang="ru-RU" sz="1700" b="0" i="0" dirty="0" err="1">
                <a:effectLst/>
                <a:latin typeface="system-ui"/>
              </a:rPr>
              <a:t>kernel</a:t>
            </a:r>
            <a:r>
              <a:rPr lang="ru-RU" sz="1700" b="0" i="0" dirty="0">
                <a:effectLst/>
                <a:latin typeface="system-ui"/>
              </a:rPr>
              <a:t> РСА)</a:t>
            </a:r>
          </a:p>
          <a:p>
            <a:pPr lvl="1"/>
            <a:r>
              <a:rPr lang="ru-RU" sz="1700" b="0" i="0" dirty="0">
                <a:effectLst/>
                <a:latin typeface="system-ui"/>
              </a:rPr>
              <a:t>локальное линейное вложение (</a:t>
            </a:r>
            <a:r>
              <a:rPr lang="ru-RU" sz="1700" b="0" i="0" dirty="0" err="1">
                <a:effectLst/>
                <a:latin typeface="system-ui"/>
              </a:rPr>
              <a:t>Locally-Linear</a:t>
            </a:r>
            <a:r>
              <a:rPr lang="ru-RU" sz="1700" b="0" i="0" dirty="0">
                <a:effectLst/>
                <a:latin typeface="system-ui"/>
              </a:rPr>
              <a:t> </a:t>
            </a:r>
            <a:r>
              <a:rPr lang="ru-RU" sz="1700" b="0" i="0" dirty="0" err="1">
                <a:effectLst/>
                <a:latin typeface="system-ui"/>
              </a:rPr>
              <a:t>Embedding</a:t>
            </a:r>
            <a:r>
              <a:rPr lang="ru-RU" sz="1700" b="0" i="0" dirty="0">
                <a:effectLst/>
                <a:latin typeface="system-ui"/>
              </a:rPr>
              <a:t> - LLE)</a:t>
            </a:r>
          </a:p>
          <a:p>
            <a:pPr lvl="1"/>
            <a:r>
              <a:rPr lang="ru-RU" sz="1700" b="0" i="0" dirty="0">
                <a:effectLst/>
                <a:latin typeface="system-ui"/>
              </a:rPr>
              <a:t>стохастическое вложение соседей с t-распределением (t-</a:t>
            </a:r>
            <a:r>
              <a:rPr lang="ru-RU" sz="1700" b="0" i="0" dirty="0" err="1">
                <a:effectLst/>
                <a:latin typeface="system-ui"/>
              </a:rPr>
              <a:t>distributed</a:t>
            </a:r>
            <a:r>
              <a:rPr lang="ru-RU" sz="1700" b="0" i="0" dirty="0">
                <a:effectLst/>
                <a:latin typeface="system-ui"/>
              </a:rPr>
              <a:t> </a:t>
            </a:r>
            <a:r>
              <a:rPr lang="ru-RU" sz="1700" b="0" i="0" dirty="0" err="1">
                <a:effectLst/>
                <a:latin typeface="system-ui"/>
              </a:rPr>
              <a:t>Stochastic</a:t>
            </a:r>
            <a:r>
              <a:rPr lang="ru-RU" sz="1700" b="0" i="0" dirty="0">
                <a:effectLst/>
                <a:latin typeface="system-ui"/>
              </a:rPr>
              <a:t> </a:t>
            </a:r>
            <a:r>
              <a:rPr lang="ru-RU" sz="1700" b="0" i="0" dirty="0" err="1">
                <a:effectLst/>
                <a:latin typeface="system-ui"/>
              </a:rPr>
              <a:t>Neighbor</a:t>
            </a:r>
            <a:r>
              <a:rPr lang="ru-RU" sz="1700" b="0" i="0" dirty="0">
                <a:effectLst/>
                <a:latin typeface="system-ui"/>
              </a:rPr>
              <a:t> </a:t>
            </a:r>
            <a:r>
              <a:rPr lang="ru-RU" sz="1700" b="0" i="0" dirty="0" err="1">
                <a:effectLst/>
                <a:latin typeface="system-ui"/>
              </a:rPr>
              <a:t>Embedding</a:t>
            </a:r>
            <a:r>
              <a:rPr lang="ru-RU" sz="1700" b="0" i="0" dirty="0">
                <a:effectLst/>
                <a:latin typeface="system-ui"/>
              </a:rPr>
              <a:t> - t-SNE) </a:t>
            </a:r>
            <a:endParaRPr lang="ru-RU" sz="1700" i="0" dirty="0">
              <a:effectLst/>
              <a:latin typeface="system-ui"/>
            </a:endParaRPr>
          </a:p>
          <a:p>
            <a:pPr marL="342900" lvl="1" indent="0">
              <a:buNone/>
            </a:pPr>
            <a:r>
              <a:rPr lang="ru-RU" sz="2000" b="1" dirty="0">
                <a:solidFill>
                  <a:schemeClr val="accent2">
                    <a:lumMod val="75000"/>
                  </a:schemeClr>
                </a:solidFill>
                <a:latin typeface="system-ui"/>
              </a:rPr>
              <a:t>Ассоциативные правила</a:t>
            </a:r>
          </a:p>
          <a:p>
            <a:pPr lvl="1"/>
            <a:r>
              <a:rPr lang="ru-RU" sz="1700" b="0" i="0" dirty="0">
                <a:effectLst/>
                <a:latin typeface="system-ui"/>
              </a:rPr>
              <a:t>Обучение ассоциативным правилам (</a:t>
            </a:r>
            <a:r>
              <a:rPr lang="ru-RU" sz="1700" b="0" i="0" dirty="0" err="1">
                <a:effectLst/>
                <a:latin typeface="system-ui"/>
              </a:rPr>
              <a:t>association</a:t>
            </a:r>
            <a:r>
              <a:rPr lang="ru-RU" sz="1700" b="0" i="0" dirty="0">
                <a:effectLst/>
                <a:latin typeface="system-ui"/>
              </a:rPr>
              <a:t> </a:t>
            </a:r>
            <a:r>
              <a:rPr lang="ru-RU" sz="1700" b="0" i="0" dirty="0" err="1">
                <a:effectLst/>
                <a:latin typeface="system-ui"/>
              </a:rPr>
              <a:t>rule</a:t>
            </a:r>
            <a:r>
              <a:rPr lang="ru-RU" sz="1700" b="0" i="0" dirty="0">
                <a:effectLst/>
                <a:latin typeface="system-ui"/>
              </a:rPr>
              <a:t> </a:t>
            </a:r>
            <a:r>
              <a:rPr lang="ru-RU" sz="1700" b="0" i="0" dirty="0" err="1">
                <a:effectLst/>
                <a:latin typeface="system-ui"/>
              </a:rPr>
              <a:t>learning</a:t>
            </a:r>
            <a:r>
              <a:rPr lang="ru-RU" sz="1700" b="0" i="0" dirty="0">
                <a:effectLst/>
                <a:latin typeface="system-ui"/>
              </a:rPr>
              <a:t>)</a:t>
            </a:r>
          </a:p>
          <a:p>
            <a:pPr lvl="1"/>
            <a:r>
              <a:rPr lang="ru-RU" sz="1700" b="0" i="0" dirty="0" err="1">
                <a:effectLst/>
                <a:latin typeface="system-ui"/>
              </a:rPr>
              <a:t>Apriori</a:t>
            </a:r>
            <a:endParaRPr lang="ru-RU" sz="1700" b="0" i="0" dirty="0">
              <a:effectLst/>
              <a:latin typeface="system-ui"/>
            </a:endParaRPr>
          </a:p>
          <a:p>
            <a:pPr lvl="1"/>
            <a:r>
              <a:rPr lang="ru-RU" sz="1700" dirty="0">
                <a:latin typeface="system-ui"/>
              </a:rPr>
              <a:t>Ускоренный поиск в глубину (</a:t>
            </a:r>
            <a:r>
              <a:rPr lang="ru-RU" sz="1700" b="0" i="0" dirty="0" err="1">
                <a:effectLst/>
                <a:latin typeface="system-ui"/>
              </a:rPr>
              <a:t>Eclat</a:t>
            </a:r>
            <a:r>
              <a:rPr lang="ru-RU" sz="1700" b="0" i="0" dirty="0">
                <a:effectLst/>
                <a:latin typeface="system-ui"/>
              </a:rPr>
              <a:t>)</a:t>
            </a:r>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5</a:t>
            </a:fld>
            <a:endParaRPr lang="ru-RU"/>
          </a:p>
        </p:txBody>
      </p:sp>
    </p:spTree>
    <p:extLst>
      <p:ext uri="{BB962C8B-B14F-4D97-AF65-F5344CB8AC3E}">
        <p14:creationId xmlns:p14="http://schemas.microsoft.com/office/powerpoint/2010/main" val="11257821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lgn="just">
              <a:buNone/>
            </a:pPr>
            <a:r>
              <a:rPr lang="ru-RU" sz="1200" dirty="0"/>
              <a:t>– Кластеризация (</a:t>
            </a:r>
            <a:r>
              <a:rPr lang="ru-RU" sz="1200" dirty="0" err="1"/>
              <a:t>clustering</a:t>
            </a:r>
            <a:r>
              <a:rPr lang="ru-RU" sz="1200" dirty="0"/>
              <a:t>). Входные признаки используются для обнаружения в данных сходных черт и последующего разделения этих данных на группы. Сюда относятся метод k-средних, модели гауссовых смесей и иерархическая кластеризация. </a:t>
            </a:r>
          </a:p>
          <a:p>
            <a:pPr marL="0" indent="0" algn="just">
              <a:buNone/>
            </a:pPr>
            <a:r>
              <a:rPr lang="ru-RU" sz="1200" dirty="0"/>
              <a:t>Кластеризация — это метод разведочного анализа данных, который позволяет организовать груду информации в содержательные подгруппы (кластеры), не имея никаких предварительных сведений о принадлежности к группе. Каждый кластер, который может появиться во время анализа, обозначает группу объектов, которые обладают определенной степенью подобия и одновременно больше отличаются от объектов в других кластерах, поэтому кластеризацию также иногда называют «классификацией без учителя». Кластеризация незаменима для структурирования информации и получения содержательных связей внутри данных. </a:t>
            </a:r>
          </a:p>
          <a:p>
            <a:pPr marL="0" indent="0" algn="just">
              <a:buNone/>
            </a:pPr>
            <a:r>
              <a:rPr lang="ru-RU" sz="1200" dirty="0"/>
              <a:t>Например, этот метод позволяет специалистам по маркетингу обнаруживать группы потребителей на основе их интересов с целью разработки конкретных маркетинговых программ. </a:t>
            </a:r>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6</a:t>
            </a:fld>
            <a:endParaRPr lang="ru-RU"/>
          </a:p>
        </p:txBody>
      </p:sp>
    </p:spTree>
    <p:extLst>
      <p:ext uri="{BB962C8B-B14F-4D97-AF65-F5344CB8AC3E}">
        <p14:creationId xmlns:p14="http://schemas.microsoft.com/office/powerpoint/2010/main" val="40174407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buNone/>
            </a:pPr>
            <a:r>
              <a:rPr lang="ru-RU" dirty="0"/>
              <a:t>1. </a:t>
            </a:r>
            <a:r>
              <a:rPr lang="ru-RU" b="1" dirty="0"/>
              <a:t>Кластерный анализ</a:t>
            </a:r>
            <a:r>
              <a:rPr lang="ru-RU" dirty="0"/>
              <a:t> предназначен для разбиения исходных данных на поддающиеся интерпретации группы, таким образом, чтобы элементы, входящие в одну группу были максимально «схожи», а элементы из разных групп были максимально «отличными» друг от друга.</a:t>
            </a:r>
          </a:p>
          <a:p>
            <a:pPr marL="0" indent="0" algn="just">
              <a:buNone/>
            </a:pPr>
            <a:r>
              <a:rPr lang="ru-RU" dirty="0"/>
              <a:t>2. </a:t>
            </a:r>
            <a:r>
              <a:rPr lang="ru-RU" b="1" dirty="0"/>
              <a:t>Кластерный анализ</a:t>
            </a:r>
            <a:r>
              <a:rPr lang="ru-RU" dirty="0"/>
              <a:t> – группа методов, используемых для классификации объектов или событий в относительно гомогенные (однородные) группы, которые называют кластерами (</a:t>
            </a:r>
            <a:r>
              <a:rPr lang="ru-RU" dirty="0" err="1"/>
              <a:t>clusters</a:t>
            </a:r>
            <a:r>
              <a:rPr lang="ru-RU" dirty="0"/>
              <a:t>).</a:t>
            </a:r>
          </a:p>
          <a:p>
            <a:pPr marL="0" indent="0" algn="just">
              <a:buNone/>
            </a:pPr>
            <a:endParaRPr lang="ru-RU" dirty="0"/>
          </a:p>
          <a:p>
            <a:pPr marL="0" indent="0" algn="just">
              <a:buNone/>
            </a:pPr>
            <a:r>
              <a:rPr lang="ru-RU" dirty="0"/>
              <a:t>В факторном анализе группируются столбцы, т.е. цель – анализ структуры множества признаков и выявление обобщенных факторов.</a:t>
            </a:r>
          </a:p>
          <a:p>
            <a:pPr marL="0" indent="0" algn="just">
              <a:buNone/>
            </a:pPr>
            <a:r>
              <a:rPr lang="ru-RU" dirty="0"/>
              <a:t>В кластерном анализе – группируются строки, т.е. цель – анализ структуры множества объектов.</a:t>
            </a:r>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7</a:t>
            </a:fld>
            <a:endParaRPr lang="ru-RU"/>
          </a:p>
        </p:txBody>
      </p:sp>
    </p:spTree>
    <p:extLst>
      <p:ext uri="{BB962C8B-B14F-4D97-AF65-F5344CB8AC3E}">
        <p14:creationId xmlns:p14="http://schemas.microsoft.com/office/powerpoint/2010/main" val="14208997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just"/>
            <a:r>
              <a:rPr lang="ru-RU" b="1" i="0" u="none" strike="noStrike" baseline="0" dirty="0"/>
              <a:t>Межгрупповая связь (</a:t>
            </a:r>
            <a:r>
              <a:rPr lang="en-US" b="1" i="0" u="none" strike="noStrike" baseline="0" dirty="0"/>
              <a:t>average </a:t>
            </a:r>
            <a:r>
              <a:rPr lang="ru-RU" b="1" i="0" u="none" strike="noStrike" baseline="0" dirty="0" err="1"/>
              <a:t>group</a:t>
            </a:r>
            <a:r>
              <a:rPr lang="ru-RU" b="1" i="0" u="none" strike="noStrike" baseline="0" dirty="0"/>
              <a:t> </a:t>
            </a:r>
            <a:r>
              <a:rPr lang="ru-RU" b="1" i="0" u="none" strike="noStrike" baseline="0" dirty="0" err="1"/>
              <a:t>linkage</a:t>
            </a:r>
            <a:r>
              <a:rPr lang="ru-RU" b="1" i="0" u="none" strike="noStrike" baseline="0" dirty="0"/>
              <a:t>) </a:t>
            </a:r>
            <a:r>
              <a:rPr lang="ru-RU" b="0" i="0" u="none" strike="noStrike" baseline="0" dirty="0"/>
              <a:t>- дистанция между кластерами, которая равна среднему значению всех расстояний между всеми возможными парами точек из обоих кластеров. Информация, необходимая для расчёта дистанции, находится на основании всех теоретически возможных пар наблюдений. Данный метод устанавливается по умолчанию.</a:t>
            </a:r>
          </a:p>
          <a:p>
            <a:pPr algn="just"/>
            <a:r>
              <a:rPr lang="ru-RU" b="1" dirty="0"/>
              <a:t>Внутригрупповая связь (</a:t>
            </a:r>
            <a:r>
              <a:rPr lang="ru-RU" b="1" dirty="0" err="1"/>
              <a:t>Within-groups</a:t>
            </a:r>
            <a:r>
              <a:rPr lang="ru-RU" b="1" dirty="0"/>
              <a:t> </a:t>
            </a:r>
            <a:r>
              <a:rPr lang="ru-RU" b="1" dirty="0" err="1"/>
              <a:t>linkage</a:t>
            </a:r>
            <a:r>
              <a:rPr lang="ru-RU" b="1" dirty="0"/>
              <a:t>) </a:t>
            </a:r>
            <a:r>
              <a:rPr lang="ru-RU" dirty="0"/>
              <a:t>- дистанция между двумя кластерами рассчитывается на основании суммарного расстояния между всеми возможными парами наблюдений, принадлежащих кластерам, причём учитываются пары наблюдений, образующиеся внутри кластеров.</a:t>
            </a:r>
          </a:p>
          <a:p>
            <a:pPr algn="just"/>
            <a:r>
              <a:rPr lang="ru-RU" b="1" i="0" u="none" strike="noStrike" baseline="0" dirty="0"/>
              <a:t>Ближайший сосед (</a:t>
            </a:r>
            <a:r>
              <a:rPr lang="en-US" b="1" i="0" u="none" strike="noStrike" baseline="0" dirty="0"/>
              <a:t>Nearest neighbor) -</a:t>
            </a:r>
            <a:r>
              <a:rPr lang="ru-RU" b="0" i="0" u="none" strike="noStrike" baseline="0" dirty="0">
                <a:solidFill>
                  <a:srgbClr val="000000"/>
                </a:solidFill>
              </a:rPr>
              <a:t> дистанция между двумя кластерами определяется как расстояние между парой наблюдений, расположенных друг к другу ближе всего, причём каждое наблюдение берётся из своего кластера.</a:t>
            </a:r>
          </a:p>
          <a:p>
            <a:pPr algn="l"/>
            <a:r>
              <a:rPr lang="ru-RU" b="1" i="0" u="none" strike="noStrike" baseline="0" dirty="0"/>
              <a:t>Самый дальний сосед (</a:t>
            </a:r>
            <a:r>
              <a:rPr lang="ru-RU" b="1" i="0" u="none" strike="noStrike" baseline="0" dirty="0" err="1"/>
              <a:t>Furthest</a:t>
            </a:r>
            <a:r>
              <a:rPr lang="ru-RU" b="1" i="0" u="none" strike="noStrike" baseline="0" dirty="0"/>
              <a:t> </a:t>
            </a:r>
            <a:r>
              <a:rPr lang="ru-RU" b="1" i="0" u="none" strike="noStrike" baseline="0" dirty="0" err="1"/>
              <a:t>neighbor</a:t>
            </a:r>
            <a:r>
              <a:rPr lang="ru-RU" b="1" i="0" u="none" strike="noStrike" baseline="0" dirty="0"/>
              <a:t>) </a:t>
            </a:r>
            <a:r>
              <a:rPr lang="ru-RU" b="1" i="0" u="none" strike="noStrike" baseline="0" dirty="0">
                <a:solidFill>
                  <a:srgbClr val="000000"/>
                </a:solidFill>
              </a:rPr>
              <a:t>- </a:t>
            </a:r>
            <a:r>
              <a:rPr lang="ru-RU" b="0" i="0" u="none" strike="noStrike" baseline="0" dirty="0">
                <a:solidFill>
                  <a:srgbClr val="000000"/>
                </a:solidFill>
              </a:rPr>
              <a:t>дистанция между двумя кластерами определяется как расстояние между самыми удалёнными друг от друга значениями наблюдений, причём каждое наблюдение берётся из своего кластера.</a:t>
            </a:r>
            <a:endParaRPr lang="ru-RU" b="1" dirty="0"/>
          </a:p>
          <a:p>
            <a:pPr algn="just"/>
            <a:r>
              <a:rPr lang="ru-RU" b="1" dirty="0" err="1"/>
              <a:t>Центроидная</a:t>
            </a:r>
            <a:r>
              <a:rPr lang="ru-RU" b="1" dirty="0"/>
              <a:t> кластеризация (</a:t>
            </a:r>
            <a:r>
              <a:rPr lang="ru-RU" b="1" dirty="0" err="1"/>
              <a:t>Centroid</a:t>
            </a:r>
            <a:r>
              <a:rPr lang="ru-RU" b="1" dirty="0"/>
              <a:t> </a:t>
            </a:r>
            <a:r>
              <a:rPr lang="ru-RU" b="1" dirty="0" err="1"/>
              <a:t>clustering</a:t>
            </a:r>
            <a:r>
              <a:rPr lang="ru-RU" b="1" dirty="0"/>
              <a:t>)</a:t>
            </a:r>
            <a:r>
              <a:rPr lang="ru-RU" dirty="0"/>
              <a:t> - в обоих кластерах рассчитываются средние значения переменных относящихся к ним наблюдений. Затем расстояние между двумя кластерами рассчитывается как дистанция между двумя осредненными наблюдениями.</a:t>
            </a:r>
          </a:p>
          <a:p>
            <a:pPr algn="just"/>
            <a:r>
              <a:rPr lang="ru-RU" b="1" dirty="0"/>
              <a:t>Медианная кластеризация (</a:t>
            </a:r>
            <a:r>
              <a:rPr lang="ru-RU" b="1" dirty="0" err="1"/>
              <a:t>Median</a:t>
            </a:r>
            <a:r>
              <a:rPr lang="ru-RU" b="1" dirty="0"/>
              <a:t> </a:t>
            </a:r>
            <a:r>
              <a:rPr lang="ru-RU" b="1" dirty="0" err="1"/>
              <a:t>clustering</a:t>
            </a:r>
            <a:r>
              <a:rPr lang="ru-RU" b="1" dirty="0"/>
              <a:t>)</a:t>
            </a:r>
            <a:r>
              <a:rPr lang="ru-RU" dirty="0"/>
              <a:t> - тот же </a:t>
            </a:r>
            <a:r>
              <a:rPr lang="ru-RU" dirty="0" err="1"/>
              <a:t>центроидный</a:t>
            </a:r>
            <a:r>
              <a:rPr lang="ru-RU" dirty="0"/>
              <a:t> метод, но центр объединенного кластера вычисляется как среднее всех объектов.</a:t>
            </a:r>
          </a:p>
          <a:p>
            <a:pPr algn="just"/>
            <a:r>
              <a:rPr lang="ru-RU" b="1" dirty="0"/>
              <a:t>Метод Варда (Ward-</a:t>
            </a:r>
            <a:r>
              <a:rPr lang="ru-RU" b="1" dirty="0" err="1"/>
              <a:t>Method</a:t>
            </a:r>
            <a:r>
              <a:rPr lang="ru-RU" b="1" dirty="0"/>
              <a:t>)</a:t>
            </a:r>
            <a:r>
              <a:rPr lang="ru-RU" dirty="0"/>
              <a:t> - сначала в обоих кластерах для всех имеющихся наблюдений производится расчёт средних значений отдельных переменных. Затем вычисляются квадраты евклидовых расстояний от отдельных наблюдений каждого кластера до этого кластерного среднего значения. Эти дистанции суммируются. Потом в один новый кластер объединяются те кластеры, которые дают наименьший прирост общей суммы дистанций.</a:t>
            </a:r>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9</a:t>
            </a:fld>
            <a:endParaRPr lang="ru-RU"/>
          </a:p>
        </p:txBody>
      </p:sp>
    </p:spTree>
    <p:extLst>
      <p:ext uri="{BB962C8B-B14F-4D97-AF65-F5344CB8AC3E}">
        <p14:creationId xmlns:p14="http://schemas.microsoft.com/office/powerpoint/2010/main" val="13936267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l">
              <a:spcAft>
                <a:spcPts val="600"/>
              </a:spcAft>
            </a:pPr>
            <a:r>
              <a:rPr lang="ru-RU" b="1" i="0" dirty="0">
                <a:effectLst/>
                <a:latin typeface="YS Text"/>
              </a:rPr>
              <a:t>Некоторые метрики кластеризации:</a:t>
            </a:r>
          </a:p>
          <a:p>
            <a:pPr algn="l">
              <a:spcAft>
                <a:spcPts val="600"/>
              </a:spcAft>
              <a:buFont typeface="Arial" panose="020B0604020202020204" pitchFamily="34" charset="0"/>
              <a:buChar char="•"/>
            </a:pPr>
            <a:r>
              <a:rPr lang="ru-RU" b="1" i="0" dirty="0">
                <a:effectLst/>
                <a:latin typeface="YS Text"/>
              </a:rPr>
              <a:t>Индекс Дэвиса-</a:t>
            </a:r>
            <a:r>
              <a:rPr lang="ru-RU" b="1" i="0" dirty="0" err="1">
                <a:effectLst/>
                <a:latin typeface="YS Text"/>
              </a:rPr>
              <a:t>Булдина</a:t>
            </a:r>
            <a:r>
              <a:rPr lang="ru-RU" b="0" i="0" dirty="0">
                <a:effectLst/>
                <a:latin typeface="YS Text"/>
              </a:rPr>
              <a:t>. Оценка определяется как средний показатель сходства каждого кластера с наиболее похожим кластером, где сходство представляет собой отношение расстояний внутри кластера к расстояниям между кластерами. </a:t>
            </a:r>
          </a:p>
          <a:p>
            <a:pPr algn="l">
              <a:spcAft>
                <a:spcPts val="600"/>
              </a:spcAft>
              <a:buFont typeface="Arial" panose="020B0604020202020204" pitchFamily="34" charset="0"/>
              <a:buNone/>
            </a:pPr>
            <a:r>
              <a:rPr lang="ru-RU" b="1" i="0" dirty="0">
                <a:solidFill>
                  <a:srgbClr val="333333"/>
                </a:solidFill>
                <a:effectLst/>
                <a:latin typeface="YS Text"/>
              </a:rPr>
              <a:t>Более низкие значения индекса указывают на лучший результат кластеризации</a:t>
            </a:r>
            <a:r>
              <a:rPr lang="ru-RU" b="0" i="0" dirty="0">
                <a:solidFill>
                  <a:srgbClr val="333333"/>
                </a:solidFill>
                <a:effectLst/>
                <a:latin typeface="YS Text"/>
              </a:rPr>
              <a:t>. Индекс улучшается за счёт увеличения разделения между кластерами и уменьшения вариаций внутри кластеров</a:t>
            </a:r>
            <a:endParaRPr lang="en-US" b="0" i="0" dirty="0">
              <a:effectLst/>
              <a:latin typeface="YS Text"/>
            </a:endParaRPr>
          </a:p>
          <a:p>
            <a:pPr algn="l">
              <a:spcAft>
                <a:spcPts val="600"/>
              </a:spcAft>
              <a:buFont typeface="Arial" panose="020B0604020202020204" pitchFamily="34" charset="0"/>
              <a:buChar char="•"/>
            </a:pPr>
            <a:endParaRPr lang="ru-RU" b="0" i="0" dirty="0">
              <a:effectLst/>
              <a:latin typeface="YS Text"/>
            </a:endParaRPr>
          </a:p>
          <a:p>
            <a:pPr algn="l">
              <a:spcAft>
                <a:spcPts val="600"/>
              </a:spcAft>
              <a:buFont typeface="Arial" panose="020B0604020202020204" pitchFamily="34" charset="0"/>
              <a:buChar char="•"/>
            </a:pPr>
            <a:r>
              <a:rPr lang="ru-RU" b="1" i="0" dirty="0">
                <a:effectLst/>
                <a:latin typeface="YS Text"/>
              </a:rPr>
              <a:t>Коэффициент силуэта</a:t>
            </a:r>
            <a:r>
              <a:rPr lang="ru-RU" b="0" i="0" dirty="0">
                <a:effectLst/>
                <a:latin typeface="YS Text"/>
              </a:rPr>
              <a:t>. Показывает, насколько среднее расстояние до объектов своего кластера отличается от среднего расстояния до объектов других кластеров. </a:t>
            </a:r>
            <a:r>
              <a:rPr lang="en-US" b="0" i="0" dirty="0">
                <a:effectLst/>
                <a:latin typeface="YS Text"/>
              </a:rPr>
              <a:t> </a:t>
            </a:r>
            <a:r>
              <a:rPr lang="ru-RU" b="0" i="0" dirty="0">
                <a:solidFill>
                  <a:srgbClr val="323232"/>
                </a:solidFill>
                <a:effectLst/>
                <a:latin typeface="__CoFoSans_363e29"/>
              </a:rPr>
              <a:t>Изначально коэффициент определяется для каждого объекта выборки, а метрика для результатов кластеризации всей выборки вводится как средний коэффициент силуэта для всех объектов выборки.</a:t>
            </a:r>
            <a:endParaRPr lang="en-US" b="0" i="0" dirty="0">
              <a:solidFill>
                <a:srgbClr val="323232"/>
              </a:solidFill>
              <a:effectLst/>
              <a:latin typeface="__CoFoSans_363e29"/>
            </a:endParaRPr>
          </a:p>
          <a:p>
            <a:pPr algn="l">
              <a:spcAft>
                <a:spcPts val="600"/>
              </a:spcAft>
              <a:buFont typeface="Arial" panose="020B0604020202020204" pitchFamily="34" charset="0"/>
              <a:buChar char="•"/>
            </a:pPr>
            <a:endParaRPr lang="en-US" b="0" i="0" dirty="0">
              <a:solidFill>
                <a:srgbClr val="323232"/>
              </a:solidFill>
              <a:effectLst/>
              <a:latin typeface="__CoFoSans_363e29"/>
            </a:endParaRPr>
          </a:p>
          <a:p>
            <a:pPr algn="l">
              <a:spcAft>
                <a:spcPts val="600"/>
              </a:spcAft>
              <a:buFont typeface="Arial" panose="020B0604020202020204" pitchFamily="34" charset="0"/>
              <a:buNone/>
            </a:pPr>
            <a:r>
              <a:rPr lang="ru-RU" b="0" i="0" dirty="0">
                <a:solidFill>
                  <a:srgbClr val="323232"/>
                </a:solidFill>
                <a:effectLst/>
                <a:latin typeface="__CoFoSans_363e29"/>
              </a:rPr>
              <a:t>Чтобы ввести коэффициент силуэта </a:t>
            </a:r>
            <a:r>
              <a:rPr lang="ru-RU" b="0" i="0" dirty="0">
                <a:solidFill>
                  <a:srgbClr val="323232"/>
                </a:solidFill>
                <a:effectLst/>
                <a:latin typeface="KaTeX_Main"/>
              </a:rPr>
              <a:t>S(</a:t>
            </a:r>
            <a:r>
              <a:rPr lang="ru-RU" b="0" i="0" dirty="0" err="1">
                <a:solidFill>
                  <a:srgbClr val="323232"/>
                </a:solidFill>
                <a:effectLst/>
                <a:latin typeface="KaTeX_Main"/>
              </a:rPr>
              <a:t>xi</a:t>
            </a:r>
            <a:r>
              <a:rPr lang="ru-RU" b="0" i="0" dirty="0">
                <a:solidFill>
                  <a:srgbClr val="323232"/>
                </a:solidFill>
                <a:effectLst/>
                <a:latin typeface="KaTeX_Main"/>
              </a:rPr>
              <a:t>)</a:t>
            </a:r>
            <a:r>
              <a:rPr lang="ru-RU" b="0" i="0" dirty="0">
                <a:solidFill>
                  <a:srgbClr val="323232"/>
                </a:solidFill>
                <a:effectLst/>
                <a:latin typeface="__CoFoSans_363e29"/>
              </a:rPr>
              <a:t>, нам потребуются две вспомогательные величины. Первая, </a:t>
            </a:r>
            <a:r>
              <a:rPr lang="ru-RU" b="0" i="0" dirty="0">
                <a:solidFill>
                  <a:srgbClr val="323232"/>
                </a:solidFill>
                <a:effectLst/>
                <a:latin typeface="KaTeX_Main"/>
              </a:rPr>
              <a:t>A(</a:t>
            </a:r>
            <a:r>
              <a:rPr lang="ru-RU" b="0" i="0" dirty="0" err="1">
                <a:solidFill>
                  <a:srgbClr val="323232"/>
                </a:solidFill>
                <a:effectLst/>
                <a:latin typeface="KaTeX_Main"/>
              </a:rPr>
              <a:t>xi</a:t>
            </a:r>
            <a:r>
              <a:rPr lang="ru-RU" b="0" i="0" dirty="0">
                <a:solidFill>
                  <a:srgbClr val="323232"/>
                </a:solidFill>
                <a:effectLst/>
                <a:latin typeface="KaTeX_Main"/>
              </a:rPr>
              <a:t>)</a:t>
            </a:r>
            <a:r>
              <a:rPr lang="ru-RU" b="0" i="0" dirty="0">
                <a:solidFill>
                  <a:srgbClr val="323232"/>
                </a:solidFill>
                <a:effectLst/>
                <a:latin typeface="__CoFoSans_363e29"/>
              </a:rPr>
              <a:t>, — это среднее расстояние между </a:t>
            </a:r>
            <a:r>
              <a:rPr lang="ru-RU" b="0" i="1" dirty="0" err="1">
                <a:solidFill>
                  <a:srgbClr val="323232"/>
                </a:solidFill>
                <a:effectLst/>
                <a:latin typeface="KaTeX_Math"/>
              </a:rPr>
              <a:t>xi</a:t>
            </a:r>
            <a:r>
              <a:rPr lang="ru-RU" b="0" i="0" dirty="0">
                <a:solidFill>
                  <a:srgbClr val="323232"/>
                </a:solidFill>
                <a:effectLst/>
                <a:latin typeface="KaTeX_Main"/>
              </a:rPr>
              <a:t>​</a:t>
            </a:r>
            <a:r>
              <a:rPr lang="ru-RU" b="0" i="0" dirty="0">
                <a:solidFill>
                  <a:srgbClr val="323232"/>
                </a:solidFill>
                <a:effectLst/>
                <a:latin typeface="__CoFoSans_363e29"/>
              </a:rPr>
              <a:t> и объектами того же кластера. Вторая, </a:t>
            </a:r>
            <a:r>
              <a:rPr lang="ru-RU" b="0" i="1" dirty="0">
                <a:solidFill>
                  <a:srgbClr val="323232"/>
                </a:solidFill>
                <a:effectLst/>
                <a:latin typeface="KaTeX_Math"/>
              </a:rPr>
              <a:t>B</a:t>
            </a:r>
            <a:r>
              <a:rPr lang="ru-RU" b="0" i="0" dirty="0">
                <a:solidFill>
                  <a:srgbClr val="323232"/>
                </a:solidFill>
                <a:effectLst/>
                <a:latin typeface="KaTeX_Main"/>
              </a:rPr>
              <a:t>(</a:t>
            </a:r>
            <a:r>
              <a:rPr lang="ru-RU" b="0" i="1" dirty="0" err="1">
                <a:solidFill>
                  <a:srgbClr val="323232"/>
                </a:solidFill>
                <a:effectLst/>
                <a:latin typeface="KaTeX_Math"/>
              </a:rPr>
              <a:t>xi</a:t>
            </a:r>
            <a:r>
              <a:rPr lang="ru-RU" b="0" i="0" dirty="0">
                <a:solidFill>
                  <a:srgbClr val="323232"/>
                </a:solidFill>
                <a:effectLst/>
                <a:latin typeface="KaTeX_Main"/>
              </a:rPr>
              <a:t>​)</a:t>
            </a:r>
            <a:r>
              <a:rPr lang="ru-RU" b="0" i="0" dirty="0">
                <a:solidFill>
                  <a:srgbClr val="323232"/>
                </a:solidFill>
                <a:effectLst/>
                <a:latin typeface="__CoFoSans_363e29"/>
              </a:rPr>
              <a:t>, — это среднее расстояние между </a:t>
            </a:r>
            <a:r>
              <a:rPr lang="ru-RU" b="0" i="0" dirty="0" err="1">
                <a:solidFill>
                  <a:srgbClr val="323232"/>
                </a:solidFill>
                <a:effectLst/>
                <a:latin typeface="KaTeX_Main"/>
              </a:rPr>
              <a:t>xi</a:t>
            </a:r>
            <a:r>
              <a:rPr lang="ru-RU" b="0" i="0" dirty="0">
                <a:solidFill>
                  <a:srgbClr val="323232"/>
                </a:solidFill>
                <a:effectLst/>
                <a:latin typeface="__CoFoSans_363e29"/>
              </a:rPr>
              <a:t> и объектами следующего ближайшего кластера.</a:t>
            </a:r>
            <a:endParaRPr lang="en-US" b="0" i="0" dirty="0">
              <a:effectLst/>
              <a:latin typeface="YS Text"/>
            </a:endParaRPr>
          </a:p>
          <a:p>
            <a:pPr algn="l">
              <a:spcAft>
                <a:spcPts val="600"/>
              </a:spcAft>
              <a:buFont typeface="Arial" panose="020B0604020202020204" pitchFamily="34" charset="0"/>
              <a:buNone/>
            </a:pPr>
            <a:endParaRPr lang="en-US" b="0" i="0" dirty="0">
              <a:effectLst/>
              <a:latin typeface="YS Text"/>
            </a:endParaRPr>
          </a:p>
          <a:p>
            <a:pPr algn="l">
              <a:spcAft>
                <a:spcPts val="600"/>
              </a:spcAft>
              <a:buFont typeface="Arial" panose="020B0604020202020204" pitchFamily="34" charset="0"/>
              <a:buNone/>
            </a:pPr>
            <a:r>
              <a:rPr lang="ru-RU" b="0" i="0" dirty="0">
                <a:solidFill>
                  <a:srgbClr val="323232"/>
                </a:solidFill>
                <a:effectLst/>
                <a:latin typeface="__CoFoSans_363e29"/>
              </a:rPr>
              <a:t>В идеальном случае объекты «родного» кластера </a:t>
            </a:r>
            <a:r>
              <a:rPr lang="ru-RU" b="0" i="0" dirty="0" err="1">
                <a:solidFill>
                  <a:srgbClr val="323232"/>
                </a:solidFill>
                <a:effectLst/>
                <a:latin typeface="KaTeX_Main"/>
              </a:rPr>
              <a:t>xi</a:t>
            </a:r>
            <a:r>
              <a:rPr lang="ru-RU" b="0" i="1" dirty="0" err="1">
                <a:solidFill>
                  <a:srgbClr val="323232"/>
                </a:solidFill>
                <a:effectLst/>
                <a:latin typeface="KaTeX_Math"/>
              </a:rPr>
              <a:t>xi</a:t>
            </a:r>
            <a:r>
              <a:rPr lang="ru-RU" b="0" i="0" dirty="0">
                <a:solidFill>
                  <a:srgbClr val="323232"/>
                </a:solidFill>
                <a:effectLst/>
                <a:latin typeface="KaTeX_Main"/>
              </a:rPr>
              <a:t>​</a:t>
            </a:r>
            <a:r>
              <a:rPr lang="ru-RU" b="0" i="0" dirty="0">
                <a:solidFill>
                  <a:srgbClr val="323232"/>
                </a:solidFill>
                <a:effectLst/>
                <a:latin typeface="__CoFoSans_363e29"/>
              </a:rPr>
              <a:t> должны быть ближе к </a:t>
            </a:r>
            <a:r>
              <a:rPr lang="ru-RU" b="0" i="0" dirty="0" err="1">
                <a:solidFill>
                  <a:srgbClr val="323232"/>
                </a:solidFill>
                <a:effectLst/>
                <a:latin typeface="KaTeX_Main"/>
              </a:rPr>
              <a:t>xi</a:t>
            </a:r>
            <a:r>
              <a:rPr lang="ru-RU" b="0" i="1" dirty="0" err="1">
                <a:solidFill>
                  <a:srgbClr val="323232"/>
                </a:solidFill>
                <a:effectLst/>
                <a:latin typeface="KaTeX_Math"/>
              </a:rPr>
              <a:t>xi</a:t>
            </a:r>
            <a:r>
              <a:rPr lang="ru-RU" b="0" i="0" dirty="0">
                <a:solidFill>
                  <a:srgbClr val="323232"/>
                </a:solidFill>
                <a:effectLst/>
                <a:latin typeface="KaTeX_Main"/>
              </a:rPr>
              <a:t>​</a:t>
            </a:r>
            <a:r>
              <a:rPr lang="ru-RU" b="0" i="0" dirty="0">
                <a:solidFill>
                  <a:srgbClr val="323232"/>
                </a:solidFill>
                <a:effectLst/>
                <a:latin typeface="__CoFoSans_363e29"/>
              </a:rPr>
              <a:t>, чем объекты соседнего кластера, то есть </a:t>
            </a:r>
            <a:r>
              <a:rPr lang="ru-RU" b="0" i="0" dirty="0">
                <a:solidFill>
                  <a:srgbClr val="323232"/>
                </a:solidFill>
                <a:effectLst/>
                <a:latin typeface="KaTeX_Main"/>
              </a:rPr>
              <a:t>A(</a:t>
            </a:r>
            <a:r>
              <a:rPr lang="ru-RU" b="0" i="0" dirty="0" err="1">
                <a:solidFill>
                  <a:srgbClr val="323232"/>
                </a:solidFill>
                <a:effectLst/>
                <a:latin typeface="KaTeX_Main"/>
              </a:rPr>
              <a:t>xi</a:t>
            </a:r>
            <a:r>
              <a:rPr lang="ru-RU" b="0" i="0" dirty="0">
                <a:solidFill>
                  <a:srgbClr val="323232"/>
                </a:solidFill>
                <a:effectLst/>
                <a:latin typeface="KaTeX_Main"/>
              </a:rPr>
              <a:t>)&lt;B(</a:t>
            </a:r>
            <a:r>
              <a:rPr lang="ru-RU" b="0" i="0" dirty="0" err="1">
                <a:solidFill>
                  <a:srgbClr val="323232"/>
                </a:solidFill>
                <a:effectLst/>
                <a:latin typeface="KaTeX_Main"/>
              </a:rPr>
              <a:t>xi</a:t>
            </a:r>
            <a:r>
              <a:rPr lang="ru-RU" b="0" i="0" dirty="0">
                <a:solidFill>
                  <a:srgbClr val="323232"/>
                </a:solidFill>
                <a:effectLst/>
                <a:latin typeface="KaTeX_Main"/>
              </a:rPr>
              <a:t>)</a:t>
            </a:r>
            <a:r>
              <a:rPr lang="ru-RU" b="0" i="1" dirty="0">
                <a:solidFill>
                  <a:srgbClr val="323232"/>
                </a:solidFill>
                <a:effectLst/>
                <a:latin typeface="KaTeX_Math"/>
              </a:rPr>
              <a:t>A</a:t>
            </a:r>
            <a:r>
              <a:rPr lang="ru-RU" b="0" i="0" dirty="0">
                <a:solidFill>
                  <a:srgbClr val="323232"/>
                </a:solidFill>
                <a:effectLst/>
                <a:latin typeface="KaTeX_Main"/>
              </a:rPr>
              <a:t>(</a:t>
            </a:r>
            <a:r>
              <a:rPr lang="ru-RU" b="0" i="1" dirty="0" err="1">
                <a:solidFill>
                  <a:srgbClr val="323232"/>
                </a:solidFill>
                <a:effectLst/>
                <a:latin typeface="KaTeX_Math"/>
              </a:rPr>
              <a:t>xi</a:t>
            </a:r>
            <a:r>
              <a:rPr lang="ru-RU" b="0" i="0" dirty="0">
                <a:solidFill>
                  <a:srgbClr val="323232"/>
                </a:solidFill>
                <a:effectLst/>
                <a:latin typeface="KaTeX_Main"/>
              </a:rPr>
              <a:t>​)&lt;</a:t>
            </a:r>
            <a:r>
              <a:rPr lang="ru-RU" b="0" i="1" dirty="0">
                <a:solidFill>
                  <a:srgbClr val="323232"/>
                </a:solidFill>
                <a:effectLst/>
                <a:latin typeface="KaTeX_Math"/>
              </a:rPr>
              <a:t>B</a:t>
            </a:r>
            <a:r>
              <a:rPr lang="ru-RU" b="0" i="0" dirty="0">
                <a:solidFill>
                  <a:srgbClr val="323232"/>
                </a:solidFill>
                <a:effectLst/>
                <a:latin typeface="KaTeX_Main"/>
              </a:rPr>
              <a:t>(</a:t>
            </a:r>
            <a:r>
              <a:rPr lang="ru-RU" b="0" i="1" dirty="0" err="1">
                <a:solidFill>
                  <a:srgbClr val="323232"/>
                </a:solidFill>
                <a:effectLst/>
                <a:latin typeface="KaTeX_Math"/>
              </a:rPr>
              <a:t>xi</a:t>
            </a:r>
            <a:r>
              <a:rPr lang="ru-RU" b="0" i="0" dirty="0">
                <a:solidFill>
                  <a:srgbClr val="323232"/>
                </a:solidFill>
                <a:effectLst/>
                <a:latin typeface="KaTeX_Main"/>
              </a:rPr>
              <a:t>​)</a:t>
            </a:r>
            <a:r>
              <a:rPr lang="ru-RU" b="0" i="0" dirty="0">
                <a:solidFill>
                  <a:srgbClr val="323232"/>
                </a:solidFill>
                <a:effectLst/>
                <a:latin typeface="__CoFoSans_363e29"/>
              </a:rPr>
              <a:t>. Однако это неравенство выполняется далеко не всегда. Если «родной» кластер </a:t>
            </a:r>
            <a:r>
              <a:rPr lang="ru-RU" b="0" i="0" dirty="0" err="1">
                <a:solidFill>
                  <a:srgbClr val="323232"/>
                </a:solidFill>
                <a:effectLst/>
                <a:latin typeface="KaTeX_Main"/>
              </a:rPr>
              <a:t>xi</a:t>
            </a:r>
            <a:r>
              <a:rPr lang="ru-RU" b="0" i="1" dirty="0" err="1">
                <a:solidFill>
                  <a:srgbClr val="323232"/>
                </a:solidFill>
                <a:effectLst/>
                <a:latin typeface="KaTeX_Math"/>
              </a:rPr>
              <a:t>xi</a:t>
            </a:r>
            <a:r>
              <a:rPr lang="ru-RU" b="0" i="0" dirty="0">
                <a:solidFill>
                  <a:srgbClr val="323232"/>
                </a:solidFill>
                <a:effectLst/>
                <a:latin typeface="KaTeX_Main"/>
              </a:rPr>
              <a:t>​</a:t>
            </a:r>
            <a:r>
              <a:rPr lang="ru-RU" b="0" i="0" dirty="0">
                <a:solidFill>
                  <a:srgbClr val="323232"/>
                </a:solidFill>
                <a:effectLst/>
                <a:latin typeface="__CoFoSans_363e29"/>
              </a:rPr>
              <a:t>, например, имеет форму очень протяжённой ленты или просто большой размер, а недалеко от </a:t>
            </a:r>
            <a:r>
              <a:rPr lang="ru-RU" b="0" i="0" dirty="0" err="1">
                <a:solidFill>
                  <a:srgbClr val="323232"/>
                </a:solidFill>
                <a:effectLst/>
                <a:latin typeface="KaTeX_Main"/>
              </a:rPr>
              <a:t>xi</a:t>
            </a:r>
            <a:r>
              <a:rPr lang="ru-RU" b="0" i="1" dirty="0" err="1">
                <a:solidFill>
                  <a:srgbClr val="323232"/>
                </a:solidFill>
                <a:effectLst/>
                <a:latin typeface="KaTeX_Math"/>
              </a:rPr>
              <a:t>xi</a:t>
            </a:r>
            <a:r>
              <a:rPr lang="ru-RU" b="0" i="0" dirty="0">
                <a:solidFill>
                  <a:srgbClr val="323232"/>
                </a:solidFill>
                <a:effectLst/>
                <a:latin typeface="KaTeX_Main"/>
              </a:rPr>
              <a:t>​</a:t>
            </a:r>
            <a:r>
              <a:rPr lang="ru-RU" b="0" i="0" dirty="0">
                <a:solidFill>
                  <a:srgbClr val="323232"/>
                </a:solidFill>
                <a:effectLst/>
                <a:latin typeface="__CoFoSans_363e29"/>
              </a:rPr>
              <a:t> есть кластер поменьше, может оказаться, что </a:t>
            </a:r>
            <a:r>
              <a:rPr lang="ru-RU" b="0" i="0" dirty="0">
                <a:solidFill>
                  <a:srgbClr val="323232"/>
                </a:solidFill>
                <a:effectLst/>
                <a:latin typeface="KaTeX_Main"/>
              </a:rPr>
              <a:t>A(</a:t>
            </a:r>
            <a:r>
              <a:rPr lang="ru-RU" b="0" i="0" dirty="0" err="1">
                <a:solidFill>
                  <a:srgbClr val="323232"/>
                </a:solidFill>
                <a:effectLst/>
                <a:latin typeface="KaTeX_Main"/>
              </a:rPr>
              <a:t>xi</a:t>
            </a:r>
            <a:r>
              <a:rPr lang="ru-RU" b="0" i="0" dirty="0">
                <a:solidFill>
                  <a:srgbClr val="323232"/>
                </a:solidFill>
                <a:effectLst/>
                <a:latin typeface="KaTeX_Main"/>
              </a:rPr>
              <a:t>)&gt;B(</a:t>
            </a:r>
            <a:r>
              <a:rPr lang="ru-RU" b="0" i="0" dirty="0" err="1">
                <a:solidFill>
                  <a:srgbClr val="323232"/>
                </a:solidFill>
                <a:effectLst/>
                <a:latin typeface="KaTeX_Main"/>
              </a:rPr>
              <a:t>xi</a:t>
            </a:r>
            <a:r>
              <a:rPr lang="ru-RU" b="0" i="0" dirty="0">
                <a:solidFill>
                  <a:srgbClr val="323232"/>
                </a:solidFill>
                <a:effectLst/>
                <a:latin typeface="KaTeX_Main"/>
              </a:rPr>
              <a:t>)</a:t>
            </a:r>
            <a:r>
              <a:rPr lang="ru-RU" b="0" i="1" dirty="0">
                <a:solidFill>
                  <a:srgbClr val="323232"/>
                </a:solidFill>
                <a:effectLst/>
                <a:latin typeface="KaTeX_Math"/>
              </a:rPr>
              <a:t>A</a:t>
            </a:r>
            <a:r>
              <a:rPr lang="ru-RU" b="0" i="0" dirty="0">
                <a:solidFill>
                  <a:srgbClr val="323232"/>
                </a:solidFill>
                <a:effectLst/>
                <a:latin typeface="KaTeX_Main"/>
              </a:rPr>
              <a:t>(</a:t>
            </a:r>
            <a:r>
              <a:rPr lang="ru-RU" b="0" i="1" dirty="0" err="1">
                <a:solidFill>
                  <a:srgbClr val="323232"/>
                </a:solidFill>
                <a:effectLst/>
                <a:latin typeface="KaTeX_Math"/>
              </a:rPr>
              <a:t>xi</a:t>
            </a:r>
            <a:r>
              <a:rPr lang="ru-RU" b="0" i="0" dirty="0">
                <a:solidFill>
                  <a:srgbClr val="323232"/>
                </a:solidFill>
                <a:effectLst/>
                <a:latin typeface="KaTeX_Main"/>
              </a:rPr>
              <a:t>​)&gt;</a:t>
            </a:r>
            <a:r>
              <a:rPr lang="ru-RU" b="0" i="1" dirty="0">
                <a:solidFill>
                  <a:srgbClr val="323232"/>
                </a:solidFill>
                <a:effectLst/>
                <a:latin typeface="KaTeX_Math"/>
              </a:rPr>
              <a:t>B</a:t>
            </a:r>
            <a:r>
              <a:rPr lang="ru-RU" b="0" i="0" dirty="0">
                <a:solidFill>
                  <a:srgbClr val="323232"/>
                </a:solidFill>
                <a:effectLst/>
                <a:latin typeface="KaTeX_Main"/>
              </a:rPr>
              <a:t>(</a:t>
            </a:r>
            <a:r>
              <a:rPr lang="ru-RU" b="0" i="1" dirty="0" err="1">
                <a:solidFill>
                  <a:srgbClr val="323232"/>
                </a:solidFill>
                <a:effectLst/>
                <a:latin typeface="KaTeX_Math"/>
              </a:rPr>
              <a:t>xi</a:t>
            </a:r>
            <a:r>
              <a:rPr lang="ru-RU" b="0" i="0" dirty="0">
                <a:solidFill>
                  <a:srgbClr val="323232"/>
                </a:solidFill>
                <a:effectLst/>
                <a:latin typeface="KaTeX_Main"/>
              </a:rPr>
              <a:t>​)</a:t>
            </a:r>
            <a:r>
              <a:rPr lang="ru-RU" b="0" i="0" dirty="0">
                <a:solidFill>
                  <a:srgbClr val="323232"/>
                </a:solidFill>
                <a:effectLst/>
                <a:latin typeface="__CoFoSans_363e29"/>
              </a:rPr>
              <a:t>. Таким образом, если мы посмотрим на разность </a:t>
            </a:r>
            <a:r>
              <a:rPr lang="ru-RU" b="0" i="0" dirty="0">
                <a:solidFill>
                  <a:srgbClr val="323232"/>
                </a:solidFill>
                <a:effectLst/>
                <a:latin typeface="KaTeX_Main"/>
              </a:rPr>
              <a:t>B(</a:t>
            </a:r>
            <a:r>
              <a:rPr lang="ru-RU" b="0" i="0" dirty="0" err="1">
                <a:solidFill>
                  <a:srgbClr val="323232"/>
                </a:solidFill>
                <a:effectLst/>
                <a:latin typeface="KaTeX_Main"/>
              </a:rPr>
              <a:t>xi</a:t>
            </a:r>
            <a:r>
              <a:rPr lang="ru-RU" b="0" i="0" dirty="0">
                <a:solidFill>
                  <a:srgbClr val="323232"/>
                </a:solidFill>
                <a:effectLst/>
                <a:latin typeface="KaTeX_Main"/>
              </a:rPr>
              <a:t>)−A(</a:t>
            </a:r>
            <a:r>
              <a:rPr lang="ru-RU" b="0" i="0" dirty="0" err="1">
                <a:solidFill>
                  <a:srgbClr val="323232"/>
                </a:solidFill>
                <a:effectLst/>
                <a:latin typeface="KaTeX_Main"/>
              </a:rPr>
              <a:t>xi</a:t>
            </a:r>
            <a:r>
              <a:rPr lang="ru-RU" b="0" i="0" dirty="0">
                <a:solidFill>
                  <a:srgbClr val="323232"/>
                </a:solidFill>
                <a:effectLst/>
                <a:latin typeface="KaTeX_Main"/>
              </a:rPr>
              <a:t>)</a:t>
            </a:r>
            <a:r>
              <a:rPr lang="ru-RU" b="0" i="1" dirty="0">
                <a:solidFill>
                  <a:srgbClr val="323232"/>
                </a:solidFill>
                <a:effectLst/>
                <a:latin typeface="KaTeX_Math"/>
              </a:rPr>
              <a:t>B</a:t>
            </a:r>
            <a:r>
              <a:rPr lang="ru-RU" b="0" i="0" dirty="0">
                <a:solidFill>
                  <a:srgbClr val="323232"/>
                </a:solidFill>
                <a:effectLst/>
                <a:latin typeface="KaTeX_Main"/>
              </a:rPr>
              <a:t>(</a:t>
            </a:r>
            <a:r>
              <a:rPr lang="ru-RU" b="0" i="1" dirty="0" err="1">
                <a:solidFill>
                  <a:srgbClr val="323232"/>
                </a:solidFill>
                <a:effectLst/>
                <a:latin typeface="KaTeX_Math"/>
              </a:rPr>
              <a:t>xi</a:t>
            </a:r>
            <a:r>
              <a:rPr lang="ru-RU" b="0" i="0" dirty="0">
                <a:solidFill>
                  <a:srgbClr val="323232"/>
                </a:solidFill>
                <a:effectLst/>
                <a:latin typeface="KaTeX_Main"/>
              </a:rPr>
              <a:t>​)−</a:t>
            </a:r>
            <a:r>
              <a:rPr lang="ru-RU" b="0" i="1" dirty="0">
                <a:solidFill>
                  <a:srgbClr val="323232"/>
                </a:solidFill>
                <a:effectLst/>
                <a:latin typeface="KaTeX_Math"/>
              </a:rPr>
              <a:t>A</a:t>
            </a:r>
            <a:r>
              <a:rPr lang="ru-RU" b="0" i="0" dirty="0">
                <a:solidFill>
                  <a:srgbClr val="323232"/>
                </a:solidFill>
                <a:effectLst/>
                <a:latin typeface="KaTeX_Main"/>
              </a:rPr>
              <a:t>(</a:t>
            </a:r>
            <a:r>
              <a:rPr lang="ru-RU" b="0" i="1" dirty="0" err="1">
                <a:solidFill>
                  <a:srgbClr val="323232"/>
                </a:solidFill>
                <a:effectLst/>
                <a:latin typeface="KaTeX_Math"/>
              </a:rPr>
              <a:t>xi</a:t>
            </a:r>
            <a:r>
              <a:rPr lang="ru-RU" b="0" i="0" dirty="0">
                <a:solidFill>
                  <a:srgbClr val="323232"/>
                </a:solidFill>
                <a:effectLst/>
                <a:latin typeface="KaTeX_Main"/>
              </a:rPr>
              <a:t>​)</a:t>
            </a:r>
            <a:r>
              <a:rPr lang="ru-RU" b="0" i="0" dirty="0">
                <a:solidFill>
                  <a:srgbClr val="323232"/>
                </a:solidFill>
                <a:effectLst/>
                <a:latin typeface="__CoFoSans_363e29"/>
              </a:rPr>
              <a:t>, она может оказаться как положительной, так и отрицательной, но в идеальном сценарии всё же следует ожидать положительное значение. Сам же коэффициент </a:t>
            </a:r>
            <a:r>
              <a:rPr lang="ru-RU" b="0" i="0" dirty="0">
                <a:solidFill>
                  <a:srgbClr val="323232"/>
                </a:solidFill>
                <a:effectLst/>
                <a:latin typeface="KaTeX_Main"/>
              </a:rPr>
              <a:t>S(</a:t>
            </a:r>
            <a:r>
              <a:rPr lang="ru-RU" b="0" i="0" dirty="0" err="1">
                <a:solidFill>
                  <a:srgbClr val="323232"/>
                </a:solidFill>
                <a:effectLst/>
                <a:latin typeface="KaTeX_Main"/>
              </a:rPr>
              <a:t>xi</a:t>
            </a:r>
            <a:r>
              <a:rPr lang="ru-RU" b="0" i="0" dirty="0">
                <a:solidFill>
                  <a:srgbClr val="323232"/>
                </a:solidFill>
                <a:effectLst/>
                <a:latin typeface="KaTeX_Main"/>
              </a:rPr>
              <a:t>)</a:t>
            </a:r>
            <a:r>
              <a:rPr lang="ru-RU" b="0" i="1" dirty="0">
                <a:solidFill>
                  <a:srgbClr val="323232"/>
                </a:solidFill>
                <a:effectLst/>
                <a:latin typeface="KaTeX_Math"/>
              </a:rPr>
              <a:t>S</a:t>
            </a:r>
            <a:r>
              <a:rPr lang="ru-RU" b="0" i="0" dirty="0">
                <a:solidFill>
                  <a:srgbClr val="323232"/>
                </a:solidFill>
                <a:effectLst/>
                <a:latin typeface="KaTeX_Main"/>
              </a:rPr>
              <a:t>(</a:t>
            </a:r>
            <a:r>
              <a:rPr lang="ru-RU" b="0" i="1" dirty="0" err="1">
                <a:solidFill>
                  <a:srgbClr val="323232"/>
                </a:solidFill>
                <a:effectLst/>
                <a:latin typeface="KaTeX_Math"/>
              </a:rPr>
              <a:t>xi</a:t>
            </a:r>
            <a:r>
              <a:rPr lang="ru-RU" b="0" i="0" dirty="0">
                <a:solidFill>
                  <a:srgbClr val="323232"/>
                </a:solidFill>
                <a:effectLst/>
                <a:latin typeface="KaTeX_Main"/>
              </a:rPr>
              <a:t>​)</a:t>
            </a:r>
            <a:r>
              <a:rPr lang="ru-RU" b="0" i="0" dirty="0">
                <a:solidFill>
                  <a:srgbClr val="323232"/>
                </a:solidFill>
                <a:effectLst/>
                <a:latin typeface="__CoFoSans_363e29"/>
              </a:rPr>
              <a:t> принимает значения от –1 до +1 и максимизируется, когда кластеры кучные и хорошо отделены друг от друга.</a:t>
            </a:r>
            <a:endParaRPr lang="en-US" b="0" i="0" dirty="0">
              <a:effectLst/>
              <a:latin typeface="YS Text"/>
            </a:endParaRPr>
          </a:p>
          <a:p>
            <a:pPr algn="l">
              <a:spcAft>
                <a:spcPts val="600"/>
              </a:spcAft>
              <a:buFont typeface="Arial" panose="020B0604020202020204" pitchFamily="34" charset="0"/>
              <a:buNone/>
            </a:pPr>
            <a:endParaRPr lang="ru-RU" b="0" i="0" dirty="0">
              <a:effectLst/>
              <a:latin typeface="YS Text"/>
            </a:endParaRPr>
          </a:p>
          <a:p>
            <a:pPr algn="l">
              <a:spcAft>
                <a:spcPts val="600"/>
              </a:spcAft>
              <a:buFont typeface="Arial" panose="020B0604020202020204" pitchFamily="34" charset="0"/>
              <a:buChar char="•"/>
            </a:pPr>
            <a:r>
              <a:rPr lang="ru-RU" b="1" i="0" dirty="0">
                <a:effectLst/>
                <a:latin typeface="YS Text"/>
              </a:rPr>
              <a:t>Индекс Данна</a:t>
            </a:r>
            <a:r>
              <a:rPr lang="ru-RU" b="0" i="0" dirty="0">
                <a:effectLst/>
                <a:latin typeface="YS Text"/>
              </a:rPr>
              <a:t>. Позволяет оценить качество кластеризации ключевых запросов, группируя их по степени близости </a:t>
            </a:r>
            <a:r>
              <a:rPr lang="ru-RU" b="0" i="0" dirty="0" err="1">
                <a:effectLst/>
                <a:latin typeface="YS Text"/>
              </a:rPr>
              <a:t>внутрикластерного</a:t>
            </a:r>
            <a:r>
              <a:rPr lang="ru-RU" b="0" i="0" dirty="0">
                <a:effectLst/>
                <a:latin typeface="YS Text"/>
              </a:rPr>
              <a:t> расстояния.</a:t>
            </a:r>
          </a:p>
          <a:p>
            <a:pPr algn="l">
              <a:spcAft>
                <a:spcPts val="600"/>
              </a:spcAft>
            </a:pPr>
            <a:r>
              <a:rPr lang="ru-RU" b="1" i="0" dirty="0">
                <a:solidFill>
                  <a:srgbClr val="333333"/>
                </a:solidFill>
                <a:effectLst/>
                <a:latin typeface="YS Text"/>
              </a:rPr>
              <a:t>Индекс Данна равен минимальному расстоянию между кластерами, делённому на максимальный размер кластера</a:t>
            </a:r>
            <a:r>
              <a:rPr lang="ru-RU" b="0" i="0" dirty="0">
                <a:solidFill>
                  <a:srgbClr val="333333"/>
                </a:solidFill>
                <a:effectLst/>
                <a:latin typeface="YS Text"/>
              </a:rPr>
              <a:t>. Большие расстояния между кластерами и меньшие размеры кластеров приводят к более высокому значению индекса. </a:t>
            </a:r>
          </a:p>
          <a:p>
            <a:pPr algn="l">
              <a:spcAft>
                <a:spcPts val="600"/>
              </a:spcAft>
            </a:pPr>
            <a:r>
              <a:rPr lang="ru-RU" b="1" i="0" dirty="0">
                <a:solidFill>
                  <a:srgbClr val="333333"/>
                </a:solidFill>
                <a:effectLst/>
                <a:latin typeface="YS Text"/>
              </a:rPr>
              <a:t>Цель индекса Данна</a:t>
            </a:r>
            <a:r>
              <a:rPr lang="ru-RU" b="0" i="0" dirty="0">
                <a:solidFill>
                  <a:srgbClr val="333333"/>
                </a:solidFill>
                <a:effectLst/>
                <a:latin typeface="YS Text"/>
              </a:rPr>
              <a:t> — идентифицировать наборы кластеров, которые компактны, с небольшой дисперсией между членами кластера, и хорошо разделены, где средние значения разных кластеров находятся на достаточном расстоянии друг от друга по сравнению с дисперсией внутри кластера. </a:t>
            </a:r>
          </a:p>
          <a:p>
            <a:pPr algn="l">
              <a:spcAft>
                <a:spcPts val="600"/>
              </a:spcAft>
            </a:pPr>
            <a:r>
              <a:rPr lang="ru-RU" b="1" i="0" dirty="0">
                <a:solidFill>
                  <a:srgbClr val="333333"/>
                </a:solidFill>
                <a:effectLst/>
                <a:latin typeface="YS Text"/>
              </a:rPr>
              <a:t>Чем выше значение индекса Данна, тем лучше кластеризация</a:t>
            </a:r>
            <a:r>
              <a:rPr lang="ru-RU" b="0" i="0" dirty="0">
                <a:solidFill>
                  <a:srgbClr val="333333"/>
                </a:solidFill>
                <a:effectLst/>
                <a:latin typeface="YS Text"/>
              </a:rPr>
              <a:t>. Количество кластеров, максимизирующее индекс Данна, принимается за оптимальное количество кластеров. </a:t>
            </a:r>
            <a:endParaRPr lang="ru-RU" b="0" i="0" dirty="0">
              <a:effectLst/>
              <a:latin typeface="YS Text"/>
            </a:endParaRPr>
          </a:p>
          <a:p>
            <a:pPr algn="l">
              <a:spcAft>
                <a:spcPts val="600"/>
              </a:spcAft>
              <a:buFont typeface="Arial" panose="020B0604020202020204" pitchFamily="34" charset="0"/>
              <a:buChar char="•"/>
            </a:pPr>
            <a:endParaRPr lang="ru-RU" b="0" i="0" dirty="0">
              <a:effectLst/>
              <a:latin typeface="YS Text"/>
            </a:endParaRPr>
          </a:p>
          <a:p>
            <a:pPr algn="l">
              <a:spcAft>
                <a:spcPts val="600"/>
              </a:spcAft>
            </a:pPr>
            <a:r>
              <a:rPr lang="ru-RU" b="0" i="0" dirty="0">
                <a:effectLst/>
                <a:latin typeface="YS Text"/>
              </a:rPr>
              <a:t>Выбор метрики зависит от конкретной задачи и требований. </a:t>
            </a:r>
          </a:p>
        </p:txBody>
      </p:sp>
      <p:sp>
        <p:nvSpPr>
          <p:cNvPr id="4" name="Номер слайда 3"/>
          <p:cNvSpPr>
            <a:spLocks noGrp="1"/>
          </p:cNvSpPr>
          <p:nvPr>
            <p:ph type="sldNum" sz="quarter" idx="5"/>
          </p:nvPr>
        </p:nvSpPr>
        <p:spPr/>
        <p:txBody>
          <a:bodyPr/>
          <a:lstStyle/>
          <a:p>
            <a:fld id="{DECB8B1E-725D-4009-AE77-F13A2082C589}" type="slidenum">
              <a:rPr lang="ru-RU" smtClean="0"/>
              <a:t>12</a:t>
            </a:fld>
            <a:endParaRPr lang="ru-RU"/>
          </a:p>
        </p:txBody>
      </p:sp>
    </p:spTree>
    <p:extLst>
      <p:ext uri="{BB962C8B-B14F-4D97-AF65-F5344CB8AC3E}">
        <p14:creationId xmlns:p14="http://schemas.microsoft.com/office/powerpoint/2010/main" val="6274009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just"/>
            <a:endParaRPr lang="ru-RU" sz="1200" b="0" i="0" u="none" strike="noStrike" baseline="0" dirty="0">
              <a:latin typeface="Arial" panose="020B0604020202020204" pitchFamily="34" charset="0"/>
            </a:endParaRPr>
          </a:p>
          <a:p>
            <a:pPr algn="just"/>
            <a:endParaRPr lang="ru-RU" sz="1200" b="0" i="0" u="none" strike="noStrike" baseline="0" dirty="0">
              <a:latin typeface="Arial" panose="020B0604020202020204" pitchFamily="34" charset="0"/>
            </a:endParaRPr>
          </a:p>
          <a:p>
            <a:pPr algn="just"/>
            <a:r>
              <a:rPr lang="ru-RU" sz="1200" b="0" i="0" u="none" strike="noStrike" baseline="0" dirty="0">
                <a:latin typeface="Arial" panose="020B0604020202020204" pitchFamily="34" charset="0"/>
              </a:rPr>
              <a:t>Алгоритмы плоской кластеризации разбивают множество сообщений на несколько кластеров, никак несвязанных между собой. Цель проста – найти такое разбиение, чтобы все сообщения, попавшие в один кластер, были похожи друг на друга и в то же время отличались от сообщений из других кластеров. Во многих алгоритмах плоской кластеризации требуется задавать число кластеров заранее.</a:t>
            </a:r>
          </a:p>
          <a:p>
            <a:pPr algn="just"/>
            <a:endParaRPr lang="ru-RU" sz="1200" b="0" i="0" u="none" strike="noStrike" baseline="0" dirty="0">
              <a:latin typeface="Arial" panose="020B0604020202020204" pitchFamily="34" charset="0"/>
            </a:endParaRPr>
          </a:p>
          <a:p>
            <a:pPr algn="just"/>
            <a:r>
              <a:rPr lang="ru-RU" sz="1200" b="0" i="0" u="none" strike="noStrike" baseline="0" dirty="0">
                <a:latin typeface="Arial" panose="020B0604020202020204" pitchFamily="34" charset="0"/>
              </a:rPr>
              <a:t>В алгоритмах иерархической кластеризации число кластеров задавать не нужно – алгоритм сам строит иерархию кластеров. Похожие сообщения собираются в одном кластере, а затем похожие кластеры объединяются в </a:t>
            </a:r>
            <a:r>
              <a:rPr lang="ru-RU" sz="1200" b="0" i="0" u="none" strike="noStrike" baseline="0" dirty="0" err="1">
                <a:latin typeface="Arial" panose="020B0604020202020204" pitchFamily="34" charset="0"/>
              </a:rPr>
              <a:t>суперкластер</a:t>
            </a:r>
            <a:r>
              <a:rPr lang="ru-RU" sz="1200" b="0" i="0" u="none" strike="noStrike" baseline="0" dirty="0">
                <a:latin typeface="Arial" panose="020B0604020202020204" pitchFamily="34" charset="0"/>
              </a:rPr>
              <a:t>. Это делается рекурсивно, пока не останется один кластер, содержащий все сообщения. По завершении процесса можно выбрать нужное число кластеров из построенной иерархии. Однако эффективность такого процесса невысока.</a:t>
            </a:r>
          </a:p>
          <a:p>
            <a:pPr algn="just"/>
            <a:endParaRPr lang="ru-RU" sz="1200" b="0" i="0" u="none" strike="noStrike" baseline="0" dirty="0">
              <a:latin typeface="Arial" panose="020B0604020202020204" pitchFamily="34" charset="0"/>
            </a:endParaRPr>
          </a:p>
          <a:p>
            <a:pPr algn="just"/>
            <a:r>
              <a:rPr lang="ru-RU" sz="1200" b="0" i="0" u="none" strike="noStrike" baseline="0" dirty="0">
                <a:latin typeface="Arial" panose="020B0604020202020204" pitchFamily="34" charset="0"/>
              </a:rPr>
              <a:t>Кластеризация на основе плотности определяет области концентрации точек, отделяя их от пустых и разреженных областей. Точки, не являющиеся частью кластера, помечаются, как шум.</a:t>
            </a:r>
            <a:endParaRPr lang="ru-RU" dirty="0"/>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15</a:t>
            </a:fld>
            <a:endParaRPr lang="ru-RU"/>
          </a:p>
        </p:txBody>
      </p:sp>
    </p:spTree>
    <p:extLst>
      <p:ext uri="{BB962C8B-B14F-4D97-AF65-F5344CB8AC3E}">
        <p14:creationId xmlns:p14="http://schemas.microsoft.com/office/powerpoint/2010/main" val="10705628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l">
              <a:spcAft>
                <a:spcPts val="600"/>
              </a:spcAft>
            </a:pPr>
            <a:r>
              <a:rPr lang="ru-RU" b="1" i="0" dirty="0">
                <a:effectLst/>
                <a:latin typeface="YS Text"/>
              </a:rPr>
              <a:t>K-</a:t>
            </a:r>
            <a:r>
              <a:rPr lang="ru-RU" b="1" i="0" dirty="0" err="1">
                <a:effectLst/>
                <a:latin typeface="YS Text"/>
              </a:rPr>
              <a:t>Means</a:t>
            </a:r>
            <a:r>
              <a:rPr lang="ru-RU" b="0" i="0" dirty="0">
                <a:effectLst/>
                <a:latin typeface="YS Text"/>
              </a:rPr>
              <a:t> — </a:t>
            </a:r>
            <a:r>
              <a:rPr lang="ru-RU" b="1" i="0" dirty="0">
                <a:effectLst/>
                <a:latin typeface="YS Text"/>
              </a:rPr>
              <a:t>наиболее популярный метод кластеризации</a:t>
            </a:r>
            <a:r>
              <a:rPr lang="ru-RU" b="0" i="0" dirty="0">
                <a:effectLst/>
                <a:latin typeface="YS Text"/>
              </a:rPr>
              <a:t>. Был изобретён в 1950-х годах математиком Гуго </a:t>
            </a:r>
            <a:r>
              <a:rPr lang="ru-RU" b="0" i="0" dirty="0" err="1">
                <a:effectLst/>
                <a:latin typeface="YS Text"/>
              </a:rPr>
              <a:t>Штейнгаузом</a:t>
            </a:r>
            <a:r>
              <a:rPr lang="ru-RU" b="0" i="0" dirty="0">
                <a:effectLst/>
                <a:latin typeface="YS Text"/>
              </a:rPr>
              <a:t> и почти одновременно Стюартом Ллойдом.</a:t>
            </a:r>
          </a:p>
          <a:p>
            <a:pPr algn="l">
              <a:spcAft>
                <a:spcPts val="600"/>
              </a:spcAft>
            </a:pPr>
            <a:r>
              <a:rPr lang="ru-RU" b="1" i="0" dirty="0">
                <a:effectLst/>
                <a:latin typeface="YS Text"/>
              </a:rPr>
              <a:t>Суть алгоритма</a:t>
            </a:r>
            <a:r>
              <a:rPr lang="ru-RU" b="0" i="0" dirty="0">
                <a:effectLst/>
                <a:latin typeface="YS Text"/>
              </a:rPr>
              <a:t> заключается в итеративной инициализации </a:t>
            </a:r>
            <a:r>
              <a:rPr lang="ru-RU" b="0" i="0" dirty="0" err="1">
                <a:effectLst/>
                <a:latin typeface="YS Text"/>
              </a:rPr>
              <a:t>центроидов</a:t>
            </a:r>
            <a:r>
              <a:rPr lang="ru-RU" b="0" i="0" dirty="0">
                <a:effectLst/>
                <a:latin typeface="YS Text"/>
              </a:rPr>
              <a:t> для каждого кластера на основе среднего арифметического расположенных в нём наблюдений, а также их переопределении путём минимизации суммарного квадратичного отклонения от </a:t>
            </a:r>
            <a:r>
              <a:rPr lang="ru-RU" b="0" i="0" dirty="0" err="1">
                <a:effectLst/>
                <a:latin typeface="YS Text"/>
              </a:rPr>
              <a:t>центроидов</a:t>
            </a:r>
            <a:r>
              <a:rPr lang="ru-RU" b="0" i="0" dirty="0">
                <a:effectLst/>
                <a:latin typeface="YS Text"/>
              </a:rPr>
              <a:t> кластеров.</a:t>
            </a:r>
          </a:p>
          <a:p>
            <a:pPr algn="l">
              <a:spcAft>
                <a:spcPts val="600"/>
              </a:spcAft>
            </a:pPr>
            <a:r>
              <a:rPr lang="ru-RU" b="1" i="0" dirty="0">
                <a:effectLst/>
                <a:latin typeface="YS Text"/>
              </a:rPr>
              <a:t>Алгоритм работает следующим образом</a:t>
            </a:r>
            <a:r>
              <a:rPr lang="ru-RU" b="0" i="0" dirty="0">
                <a:effectLst/>
                <a:latin typeface="YS Text"/>
              </a:rPr>
              <a:t>: </a:t>
            </a:r>
          </a:p>
          <a:p>
            <a:pPr algn="l">
              <a:spcBef>
                <a:spcPts val="600"/>
              </a:spcBef>
              <a:spcAft>
                <a:spcPts val="600"/>
              </a:spcAft>
              <a:buFont typeface="+mj-lt"/>
              <a:buAutoNum type="arabicPeriod"/>
            </a:pPr>
            <a:r>
              <a:rPr lang="ru-RU" b="1" i="0" dirty="0">
                <a:effectLst/>
                <a:latin typeface="YS Text"/>
              </a:rPr>
              <a:t>Инициализация</a:t>
            </a:r>
            <a:r>
              <a:rPr lang="ru-RU" b="0" i="0" dirty="0">
                <a:effectLst/>
                <a:latin typeface="YS Text"/>
              </a:rPr>
              <a:t>. Случайным образом выбираются k </a:t>
            </a:r>
            <a:r>
              <a:rPr lang="ru-RU" b="0" i="0" dirty="0" err="1">
                <a:effectLst/>
                <a:latin typeface="YS Text"/>
              </a:rPr>
              <a:t>центроидов</a:t>
            </a:r>
            <a:r>
              <a:rPr lang="ru-RU" b="0" i="0" dirty="0">
                <a:effectLst/>
                <a:latin typeface="YS Text"/>
              </a:rPr>
              <a:t> (центров кластеров).</a:t>
            </a:r>
          </a:p>
          <a:p>
            <a:pPr algn="l">
              <a:spcAft>
                <a:spcPts val="600"/>
              </a:spcAft>
              <a:buFont typeface="+mj-lt"/>
              <a:buAutoNum type="arabicPeriod"/>
            </a:pPr>
            <a:r>
              <a:rPr lang="ru-RU" b="1" i="0" dirty="0">
                <a:effectLst/>
                <a:latin typeface="YS Text"/>
              </a:rPr>
              <a:t>Назначение кластеров</a:t>
            </a:r>
            <a:r>
              <a:rPr lang="ru-RU" b="0" i="0" dirty="0">
                <a:effectLst/>
                <a:latin typeface="YS Text"/>
              </a:rPr>
              <a:t>. Каждый объект данных назначается к ближайшему </a:t>
            </a:r>
            <a:r>
              <a:rPr lang="ru-RU" b="0" i="0" dirty="0" err="1">
                <a:effectLst/>
                <a:latin typeface="YS Text"/>
              </a:rPr>
              <a:t>центроиду</a:t>
            </a:r>
            <a:r>
              <a:rPr lang="ru-RU" b="0" i="0" dirty="0">
                <a:effectLst/>
                <a:latin typeface="YS Text"/>
              </a:rPr>
              <a:t>. Это делается путём вычисления расстояния от каждого объекта до всех </a:t>
            </a:r>
            <a:r>
              <a:rPr lang="ru-RU" b="0" i="0" dirty="0" err="1">
                <a:effectLst/>
                <a:latin typeface="YS Text"/>
              </a:rPr>
              <a:t>центроидов</a:t>
            </a:r>
            <a:r>
              <a:rPr lang="ru-RU" b="0" i="0" dirty="0">
                <a:effectLst/>
                <a:latin typeface="YS Text"/>
              </a:rPr>
              <a:t> и выбора минимального расстояния.</a:t>
            </a:r>
          </a:p>
          <a:p>
            <a:pPr algn="l">
              <a:spcAft>
                <a:spcPts val="600"/>
              </a:spcAft>
              <a:buFont typeface="+mj-lt"/>
              <a:buAutoNum type="arabicPeriod"/>
            </a:pPr>
            <a:r>
              <a:rPr lang="ru-RU" b="1" i="0" dirty="0">
                <a:effectLst/>
                <a:latin typeface="YS Text"/>
              </a:rPr>
              <a:t>Обновление </a:t>
            </a:r>
            <a:r>
              <a:rPr lang="ru-RU" b="1" i="0" dirty="0" err="1">
                <a:effectLst/>
                <a:latin typeface="YS Text"/>
              </a:rPr>
              <a:t>центроидов</a:t>
            </a:r>
            <a:r>
              <a:rPr lang="ru-RU" b="0" i="0" dirty="0">
                <a:effectLst/>
                <a:latin typeface="YS Text"/>
              </a:rPr>
              <a:t>. </a:t>
            </a:r>
            <a:r>
              <a:rPr lang="ru-RU" b="0" i="0" dirty="0" err="1">
                <a:effectLst/>
                <a:latin typeface="YS Text"/>
              </a:rPr>
              <a:t>Центроиды</a:t>
            </a:r>
            <a:r>
              <a:rPr lang="ru-RU" b="0" i="0" dirty="0">
                <a:effectLst/>
                <a:latin typeface="YS Text"/>
              </a:rPr>
              <a:t> пересчитываются как среднее значение всех объектов, принадлежащих к кластеру.</a:t>
            </a:r>
          </a:p>
          <a:p>
            <a:pPr algn="l">
              <a:spcAft>
                <a:spcPts val="600"/>
              </a:spcAft>
              <a:buFont typeface="+mj-lt"/>
              <a:buAutoNum type="arabicPeriod"/>
            </a:pPr>
            <a:r>
              <a:rPr lang="ru-RU" b="1" i="0" dirty="0">
                <a:effectLst/>
                <a:latin typeface="YS Text"/>
              </a:rPr>
              <a:t>Повторение</a:t>
            </a:r>
            <a:r>
              <a:rPr lang="ru-RU" b="0" i="0" dirty="0">
                <a:effectLst/>
                <a:latin typeface="YS Text"/>
              </a:rPr>
              <a:t>. Шаги 2 и 3 повторяются до тех пор, пока </a:t>
            </a:r>
            <a:r>
              <a:rPr lang="ru-RU" b="0" i="0" dirty="0" err="1">
                <a:effectLst/>
                <a:latin typeface="YS Text"/>
              </a:rPr>
              <a:t>центроиды</a:t>
            </a:r>
            <a:r>
              <a:rPr lang="ru-RU" b="0" i="0" dirty="0">
                <a:effectLst/>
                <a:latin typeface="YS Text"/>
              </a:rPr>
              <a:t> не перестанут изменяться или не будет достигнуто максимальное количество итераций.</a:t>
            </a:r>
          </a:p>
          <a:p>
            <a:pPr algn="l">
              <a:spcAft>
                <a:spcPts val="600"/>
              </a:spcAft>
            </a:pPr>
            <a:r>
              <a:rPr lang="ru-RU" b="1" i="0" dirty="0">
                <a:effectLst/>
                <a:latin typeface="YS Text"/>
              </a:rPr>
              <a:t>Алгоритм требует заранее задать количество кластеров</a:t>
            </a:r>
            <a:r>
              <a:rPr lang="ru-RU" b="0" i="0" dirty="0">
                <a:effectLst/>
                <a:latin typeface="YS Text"/>
              </a:rPr>
              <a:t> (k), что может быть недостатком в некоторых случаях. Однако для большинства задач это не является критической проблемой.</a:t>
            </a:r>
          </a:p>
          <a:p>
            <a:pPr algn="l">
              <a:spcAft>
                <a:spcPts val="600"/>
              </a:spcAft>
            </a:pPr>
            <a:r>
              <a:rPr lang="ru-RU" b="1" i="0" dirty="0">
                <a:effectLst/>
                <a:latin typeface="YS Text"/>
              </a:rPr>
              <a:t>В алгоритмах глубокого обучения</a:t>
            </a:r>
            <a:r>
              <a:rPr lang="ru-RU" b="0" i="0" dirty="0">
                <a:effectLst/>
                <a:latin typeface="YS Text"/>
              </a:rPr>
              <a:t> метод k-средних иногда применяют не по прямому назначению (классификация разбивкой на кластеры), а для создания так называемых фильтров (ядер свёртки, словарей). </a:t>
            </a:r>
            <a:endParaRPr lang="en-US" b="0" i="0" dirty="0">
              <a:effectLst/>
              <a:latin typeface="YS Text"/>
            </a:endParaRPr>
          </a:p>
          <a:p>
            <a:pPr algn="l">
              <a:spcAft>
                <a:spcPts val="600"/>
              </a:spcAft>
            </a:pPr>
            <a:endParaRPr lang="en-US" b="0" i="0" dirty="0">
              <a:effectLst/>
              <a:latin typeface="YS Tex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b="0" i="0" dirty="0">
                <a:effectLst/>
                <a:latin typeface="system-ui"/>
              </a:rPr>
              <a:t>Несмотря на то, что алгоритм k-средних хорошо показал себя на этом миниатюрном наборе данных, стоит отметить некоторые из основных трудностей алгоритма k-средних. Один из недостатков алгоритма k-средних состоит в том, что нам приходится указывать число кластеров k, что не всегда может быть настолько очевидным в реальных приложениях, в особенности если мы работаем с набором данных более высокой размерности, который невозможно визуализировать. Другие свойства k-средних состоят в том, что </a:t>
            </a:r>
            <a:r>
              <a:rPr lang="ru-RU" b="0" i="0" dirty="0" err="1">
                <a:effectLst/>
                <a:latin typeface="system-ui"/>
              </a:rPr>
              <a:t>алгоитм</a:t>
            </a:r>
            <a:r>
              <a:rPr lang="ru-RU" b="0" i="0" dirty="0">
                <a:effectLst/>
                <a:latin typeface="system-ui"/>
              </a:rPr>
              <a:t> k-средних подразумевает то, что кластеры не накладываются и не иерархичны, и мы также исходим из допущения, что в каждом кластере имеется, по крайней мере, один элемент.</a:t>
            </a:r>
            <a:endParaRPr lang="ru-RU"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effectLst/>
              <a:latin typeface="system-u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effectLst/>
              <a:latin typeface="system-u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b="0" i="0" dirty="0">
                <a:effectLst/>
                <a:latin typeface="system-ui"/>
              </a:rPr>
              <a:t>Даже если мы знаем «правильное» количество кластеров для конкретного набора данных, алгоритм k-средних не всегда может выделить их. Каждый кластер определяется исключительно его центром, это означает, что каждый кластер имеет выпуклую форму. В результате этого алгоритм k-средних может описать относительно простые формы. Кроме того, алгоритм k-средних предполагает, что все кластеры в определенном смысле имеют одинаковый «диаметр», он всегда проводит границу между кластерами так, чтобы она проходила точно посередине между центрами кластеров. Это иногда может привести к неожиданным результатам.</a:t>
            </a:r>
            <a:endParaRPr lang="ru-RU"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effectLst/>
              <a:latin typeface="system-u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effectLst/>
              <a:latin typeface="system-u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b="0" i="0" dirty="0">
                <a:effectLst/>
                <a:latin typeface="system-ui"/>
              </a:rPr>
              <a:t>Кроме того, алгоритм k-средних предполагает, что все направления одинаково важны для каждого кластера. Следующий график показывает двумерный набор данных с тремя четко обособленными группами данных. Однако эти группы вытянуты по диагонали. Поскольку алгоритм k-средних учитывает лишь расстояние до ближайшего центра кластера, он не может обработать данные такого рода. Кроме того, алгоритм k-средних плохо работает, когда кластеры имеют более сложную форму, как в случае с данными </a:t>
            </a:r>
            <a:r>
              <a:rPr lang="ru-RU" b="0" i="0" dirty="0" err="1">
                <a:effectLst/>
                <a:latin typeface="system-ui"/>
              </a:rPr>
              <a:t>two_moons</a:t>
            </a:r>
            <a:r>
              <a:rPr lang="ru-RU" b="0" i="0" dirty="0">
                <a:effectLst/>
                <a:latin typeface="system-ui"/>
              </a:rPr>
              <a:t>. Отобразим данные такого рода на графике.</a:t>
            </a:r>
            <a:endParaRPr lang="ru-RU" dirty="0"/>
          </a:p>
          <a:p>
            <a:endParaRPr lang="ru-RU" dirty="0"/>
          </a:p>
          <a:p>
            <a:pPr algn="l">
              <a:spcAft>
                <a:spcPts val="600"/>
              </a:spcAft>
            </a:pPr>
            <a:endParaRPr lang="ru-RU" b="0" i="0" dirty="0">
              <a:effectLst/>
              <a:latin typeface="YS Text"/>
            </a:endParaRPr>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16</a:t>
            </a:fld>
            <a:endParaRPr lang="ru-RU"/>
          </a:p>
        </p:txBody>
      </p:sp>
    </p:spTree>
    <p:extLst>
      <p:ext uri="{BB962C8B-B14F-4D97-AF65-F5344CB8AC3E}">
        <p14:creationId xmlns:p14="http://schemas.microsoft.com/office/powerpoint/2010/main" val="1959626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b="0" i="0" dirty="0">
                <a:effectLst/>
                <a:latin typeface="system-ui"/>
              </a:rPr>
              <a:t>Диаграмма Вороного (конечного множества точек S на плоскости) представляет такое разбиение плоскости, при котором каждая область этого разбиения образует множество точек, более близких к одному из элементов множества S, чем к любому другому элементу множества. Отобразим полученные данные на диаграмме Вороного.</a:t>
            </a:r>
            <a:endParaRPr lang="ru-RU" dirty="0"/>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17</a:t>
            </a:fld>
            <a:endParaRPr lang="ru-RU"/>
          </a:p>
        </p:txBody>
      </p:sp>
    </p:spTree>
    <p:extLst>
      <p:ext uri="{BB962C8B-B14F-4D97-AF65-F5344CB8AC3E}">
        <p14:creationId xmlns:p14="http://schemas.microsoft.com/office/powerpoint/2010/main" val="27603009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При увеличении качества разделения данных в случае, если данные не являются размеченными, коэффициент силуэта начинает расти вплоть до точки насыщения, ровно как и коэффициент Дэвиса Болдуина начинает падать, следовательно в точке максимума и минимума метрик соответственно найдем оптимальное число кластеров</a:t>
            </a:r>
          </a:p>
        </p:txBody>
      </p:sp>
      <p:sp>
        <p:nvSpPr>
          <p:cNvPr id="4" name="Номер слайда 3"/>
          <p:cNvSpPr>
            <a:spLocks noGrp="1"/>
          </p:cNvSpPr>
          <p:nvPr>
            <p:ph type="sldNum" sz="quarter" idx="5"/>
          </p:nvPr>
        </p:nvSpPr>
        <p:spPr/>
        <p:txBody>
          <a:bodyPr/>
          <a:lstStyle/>
          <a:p>
            <a:fld id="{DECB8B1E-725D-4009-AE77-F13A2082C589}" type="slidenum">
              <a:rPr lang="ru-RU" smtClean="0"/>
              <a:t>19</a:t>
            </a:fld>
            <a:endParaRPr lang="ru-RU"/>
          </a:p>
        </p:txBody>
      </p:sp>
    </p:spTree>
    <p:extLst>
      <p:ext uri="{BB962C8B-B14F-4D97-AF65-F5344CB8AC3E}">
        <p14:creationId xmlns:p14="http://schemas.microsoft.com/office/powerpoint/2010/main" val="36543118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b="0" i="0" dirty="0">
                <a:effectLst/>
                <a:latin typeface="system-ui"/>
              </a:rPr>
              <a:t>Для обнаружения наилучшей величины числа k разработано несколько методов. Некоторые из них основываются на перекрестной проверке и метриках конечных результатов; они могут использоваться на всех методах кластеризации, но только когда имеются сведения, полученные в результате непосредственных наблюдений (это так называемые контролируемые метрики). Некоторые другие основываются на внутренне присущих параметрах алгоритма кластеризации и могут использоваться независимо от присутствия или отсутствия непосредственных наблюдений (это так называемые неконтролируемые метрики). Ни один из этих методов не гарантирует стопроцентную точность нахождения правильного результата.</a:t>
            </a:r>
            <a:endParaRPr lang="ru-RU" dirty="0"/>
          </a:p>
          <a:p>
            <a:endParaRPr lang="ru-RU" dirty="0"/>
          </a:p>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Контролируемые метрики требуют меток наблюдений (наборы содержащие истинные ассоциации), и они обычно объединяются с анализом на основе сеточного поиска для понимания того, какая величина k будет оптимальной. Некоторые из этих метрик вытекают из эквивалентных классификационных метрик, но они позволяют иметь разное число неупорядоченных наборов в качестве предсказанных меток.</a:t>
            </a:r>
          </a:p>
          <a:p>
            <a:endParaRPr lang="ru-RU" dirty="0"/>
          </a:p>
          <a:p>
            <a:pPr algn="just"/>
            <a:r>
              <a:rPr lang="ru-RU" b="0" i="0" dirty="0">
                <a:effectLst/>
                <a:latin typeface="system-ui"/>
              </a:rPr>
              <a:t>Первая метрика, которую мы рассмотрим, называется однородностью (</a:t>
            </a:r>
            <a:r>
              <a:rPr lang="ru-RU" b="0" i="0" dirty="0" err="1">
                <a:effectLst/>
                <a:latin typeface="system-ui"/>
              </a:rPr>
              <a:t>homogeneity</a:t>
            </a:r>
            <a:r>
              <a:rPr lang="ru-RU" b="0" i="0" dirty="0">
                <a:effectLst/>
                <a:latin typeface="system-ui"/>
              </a:rPr>
              <a:t>). Как можно ожидать, она дает меру того, сколько из предсказанных кластеров содержат точки одного класса. Данная мера основана на энтропии и является кластерным эквивалентом прецизионности (</a:t>
            </a:r>
            <a:r>
              <a:rPr lang="ru-RU" b="0" i="0" dirty="0" err="1">
                <a:effectLst/>
                <a:latin typeface="system-ui"/>
              </a:rPr>
              <a:t>prescision</a:t>
            </a:r>
            <a:r>
              <a:rPr lang="ru-RU" b="0" i="0" dirty="0">
                <a:effectLst/>
                <a:latin typeface="system-ui"/>
              </a:rPr>
              <a:t> - точность измерений, степень близости друг к другу независимых результатов измерений, полученных в конкретных установленных условиях) в классификации. Значения этой метрики лежат между 0 (худший) и 1 (лучший), а ее математическая формула следующая:</a:t>
            </a:r>
          </a:p>
          <a:p>
            <a:pPr algn="l"/>
            <a:endParaRPr lang="ru-RU" b="0" i="0" dirty="0">
              <a:effectLst/>
              <a:latin typeface="system-ui"/>
            </a:endParaRPr>
          </a:p>
          <a:p>
            <a:pPr algn="l"/>
            <a:r>
              <a:rPr lang="ru-RU" b="0" i="0" dirty="0">
                <a:effectLst/>
                <a:latin typeface="system-ui"/>
              </a:rPr>
              <a:t>h = 1-H(C|K)/H(C)</a:t>
            </a:r>
          </a:p>
          <a:p>
            <a:pPr algn="just"/>
            <a:endParaRPr lang="ru-RU" b="0" i="0" dirty="0">
              <a:effectLst/>
              <a:latin typeface="system-ui"/>
            </a:endParaRPr>
          </a:p>
          <a:p>
            <a:pPr algn="just"/>
            <a:r>
              <a:rPr lang="ru-RU" b="0" i="0" dirty="0">
                <a:effectLst/>
                <a:latin typeface="system-ui"/>
              </a:rPr>
              <a:t>Здесь H(C|K) - это условная энтропия распределения классов при наличии предложенного назначения кластеров, и Н(С) — энтропия классов. Н(C|K) максимальна и равна H(C), когда кластеризация не предоставляет новой информации, и равна нулю, когда каждый кластер содержит член только одного класса.</a:t>
            </a:r>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20</a:t>
            </a:fld>
            <a:endParaRPr lang="ru-RU"/>
          </a:p>
        </p:txBody>
      </p:sp>
    </p:spTree>
    <p:extLst>
      <p:ext uri="{BB962C8B-B14F-4D97-AF65-F5344CB8AC3E}">
        <p14:creationId xmlns:p14="http://schemas.microsoft.com/office/powerpoint/2010/main" val="21095304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l">
              <a:spcAft>
                <a:spcPts val="600"/>
              </a:spcAft>
            </a:pPr>
            <a:r>
              <a:rPr lang="ru-RU" b="1" i="0" dirty="0">
                <a:effectLst/>
                <a:latin typeface="YS Text"/>
              </a:rPr>
              <a:t>Сдвиг среднего значения</a:t>
            </a:r>
            <a:r>
              <a:rPr lang="ru-RU" b="0" i="0" dirty="0">
                <a:effectLst/>
                <a:latin typeface="YS Text"/>
              </a:rPr>
              <a:t> — это непараметрическая техника анализа пространства признаков для определения местоположения максимума плотности вероятности. </a:t>
            </a:r>
            <a:endParaRPr lang="ru-RU" b="0" i="0" u="none" strike="noStrike" dirty="0">
              <a:effectLst/>
              <a:latin typeface="YS Text"/>
            </a:endParaRPr>
          </a:p>
          <a:p>
            <a:pPr algn="l">
              <a:spcAft>
                <a:spcPts val="600"/>
              </a:spcAft>
            </a:pPr>
            <a:endParaRPr lang="ru-RU" b="0" i="0" dirty="0">
              <a:effectLst/>
              <a:latin typeface="YS Text"/>
            </a:endParaRPr>
          </a:p>
          <a:p>
            <a:pPr algn="l">
              <a:spcAft>
                <a:spcPts val="600"/>
              </a:spcAft>
            </a:pPr>
            <a:r>
              <a:rPr lang="ru-RU" b="1" i="0" dirty="0">
                <a:effectLst/>
                <a:latin typeface="YS Text"/>
              </a:rPr>
              <a:t>Основная идея</a:t>
            </a:r>
            <a:r>
              <a:rPr lang="ru-RU" b="0" i="0" dirty="0">
                <a:effectLst/>
                <a:latin typeface="YS Text"/>
              </a:rPr>
              <a:t> заключается в смещении каждой точки данных в сторону режима (т.е. наибольшей плотности) распределения точек в пределах определённого радиуса. Алгоритм итеративно выполняет эти сдвиги до тех пор, пока точки не сойдутся к локальному максимуму функции плотности. Эти локальные максимумы представляют кластеры в данных.</a:t>
            </a:r>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24</a:t>
            </a:fld>
            <a:endParaRPr lang="ru-RU"/>
          </a:p>
        </p:txBody>
      </p:sp>
    </p:spTree>
    <p:extLst>
      <p:ext uri="{BB962C8B-B14F-4D97-AF65-F5344CB8AC3E}">
        <p14:creationId xmlns:p14="http://schemas.microsoft.com/office/powerpoint/2010/main" val="25058178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l">
              <a:spcAft>
                <a:spcPts val="600"/>
              </a:spcAft>
            </a:pPr>
            <a:r>
              <a:rPr lang="ru-RU" b="1" i="0" dirty="0">
                <a:effectLst/>
                <a:latin typeface="YS Text"/>
              </a:rPr>
              <a:t>Алгоритм сдвига среднего значения</a:t>
            </a:r>
            <a:r>
              <a:rPr lang="ru-RU" b="0" i="0" dirty="0">
                <a:effectLst/>
                <a:latin typeface="YS Text"/>
              </a:rPr>
              <a:t> можно использовать для:</a:t>
            </a:r>
          </a:p>
          <a:p>
            <a:pPr algn="l">
              <a:spcBef>
                <a:spcPts val="600"/>
              </a:spcBef>
              <a:spcAft>
                <a:spcPts val="600"/>
              </a:spcAft>
              <a:buFont typeface="Arial" panose="020B0604020202020204" pitchFamily="34" charset="0"/>
              <a:buChar char="•"/>
            </a:pPr>
            <a:r>
              <a:rPr lang="ru-RU" b="1" i="0" dirty="0">
                <a:effectLst/>
                <a:latin typeface="YS Text"/>
              </a:rPr>
              <a:t>Кластеризации</a:t>
            </a:r>
            <a:r>
              <a:rPr lang="ru-RU" b="0" i="0" dirty="0">
                <a:effectLst/>
                <a:latin typeface="YS Text"/>
              </a:rPr>
              <a:t>. Он не требует предварительного знания количества кластеров и особенно полезен для наборов данных, где кластеры имеют произвольную форму и недостаточно чётко разделены линейными границами.</a:t>
            </a:r>
          </a:p>
          <a:p>
            <a:pPr algn="l">
              <a:spcAft>
                <a:spcPts val="600"/>
              </a:spcAft>
              <a:buFont typeface="Arial" panose="020B0604020202020204" pitchFamily="34" charset="0"/>
              <a:buChar char="•"/>
            </a:pPr>
            <a:r>
              <a:rPr lang="ru-RU" b="1" i="0" dirty="0">
                <a:effectLst/>
                <a:latin typeface="YS Text"/>
              </a:rPr>
              <a:t>Визуального отслеживания</a:t>
            </a:r>
            <a:r>
              <a:rPr lang="ru-RU" b="0" i="0" dirty="0">
                <a:effectLst/>
                <a:latin typeface="YS Text"/>
              </a:rPr>
              <a:t>. Например, алгоритм может создавать карту согласованности в новом изображении, основываясь на цветовой гистограмме объекта в предыдущем изображении, и использовать сдвиг среднего значения для нахождения пика карты согласованности рядом со старой позицией объекта. </a:t>
            </a:r>
          </a:p>
          <a:p>
            <a:pPr algn="l">
              <a:spcAft>
                <a:spcPts val="600"/>
              </a:spcAft>
            </a:pPr>
            <a:endParaRPr lang="ru-RU" b="1" i="0" dirty="0">
              <a:effectLst/>
              <a:latin typeface="YS Text"/>
            </a:endParaRPr>
          </a:p>
          <a:p>
            <a:pPr algn="l">
              <a:spcAft>
                <a:spcPts val="600"/>
              </a:spcAft>
            </a:pPr>
            <a:r>
              <a:rPr lang="ru-RU" b="1" i="0" dirty="0">
                <a:effectLst/>
                <a:latin typeface="YS Text"/>
              </a:rPr>
              <a:t>Важный параметр</a:t>
            </a:r>
            <a:r>
              <a:rPr lang="ru-RU" b="0" i="0" dirty="0">
                <a:effectLst/>
                <a:latin typeface="YS Text"/>
              </a:rPr>
              <a:t> алгоритма — пропускная способность (радиус круга). Для реализации этого алгоритма можно использовать библиотеку </a:t>
            </a:r>
            <a:r>
              <a:rPr lang="ru-RU" b="0" i="0" dirty="0" err="1">
                <a:effectLst/>
                <a:latin typeface="YS Text"/>
              </a:rPr>
              <a:t>scikit-learn</a:t>
            </a:r>
            <a:r>
              <a:rPr lang="ru-RU" b="0" i="0" dirty="0">
                <a:effectLst/>
                <a:latin typeface="YS Text"/>
              </a:rPr>
              <a:t> в Python, которая предоставляет класс </a:t>
            </a:r>
            <a:r>
              <a:rPr lang="ru-RU" b="0" i="0" dirty="0" err="1">
                <a:effectLst/>
                <a:latin typeface="YS Text"/>
              </a:rPr>
              <a:t>MeanShift</a:t>
            </a:r>
            <a:r>
              <a:rPr lang="ru-RU" b="0" i="0" dirty="0">
                <a:effectLst/>
                <a:latin typeface="YS Text"/>
              </a:rPr>
              <a:t>().</a:t>
            </a:r>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25</a:t>
            </a:fld>
            <a:endParaRPr lang="ru-RU"/>
          </a:p>
        </p:txBody>
      </p:sp>
    </p:spTree>
    <p:extLst>
      <p:ext uri="{BB962C8B-B14F-4D97-AF65-F5344CB8AC3E}">
        <p14:creationId xmlns:p14="http://schemas.microsoft.com/office/powerpoint/2010/main" val="13692505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l">
              <a:spcAft>
                <a:spcPts val="600"/>
              </a:spcAft>
            </a:pPr>
            <a:r>
              <a:rPr lang="ru-RU" b="1" i="0" dirty="0">
                <a:effectLst/>
                <a:latin typeface="YS Text"/>
              </a:rPr>
              <a:t>Спектральная кластеризация</a:t>
            </a:r>
            <a:r>
              <a:rPr lang="ru-RU" b="0" i="0" dirty="0">
                <a:effectLst/>
                <a:latin typeface="YS Text"/>
              </a:rPr>
              <a:t> — </a:t>
            </a:r>
            <a:r>
              <a:rPr lang="ru-RU" b="1" i="0" dirty="0">
                <a:effectLst/>
                <a:latin typeface="YS Text"/>
              </a:rPr>
              <a:t>метод кластеризации на основе спектральных свойств матрицы сходства графа</a:t>
            </a:r>
            <a:r>
              <a:rPr lang="ru-RU" b="0" i="0" dirty="0">
                <a:effectLst/>
                <a:latin typeface="YS Text"/>
              </a:rPr>
              <a:t>, который представляет собой набор точек данных, связанных друг с другом в зависимости от их сходства.</a:t>
            </a:r>
          </a:p>
          <a:p>
            <a:pPr algn="l">
              <a:spcAft>
                <a:spcPts val="600"/>
              </a:spcAft>
            </a:pPr>
            <a:endParaRPr lang="ru-RU" b="0" i="0" dirty="0">
              <a:effectLst/>
              <a:latin typeface="YS Text"/>
            </a:endParaRPr>
          </a:p>
          <a:p>
            <a:pPr algn="l">
              <a:spcAft>
                <a:spcPts val="600"/>
              </a:spcAft>
            </a:pPr>
            <a:r>
              <a:rPr lang="ru-RU" b="1" i="0" dirty="0">
                <a:effectLst/>
                <a:latin typeface="YS Text"/>
              </a:rPr>
              <a:t>Основная идея</a:t>
            </a:r>
            <a:r>
              <a:rPr lang="ru-RU" b="0" i="0" dirty="0">
                <a:effectLst/>
                <a:latin typeface="YS Text"/>
              </a:rPr>
              <a:t> заключается в преобразовании матрицы сходства графа в </a:t>
            </a:r>
            <a:r>
              <a:rPr lang="ru-RU" b="0" i="0" dirty="0" err="1">
                <a:effectLst/>
                <a:latin typeface="YS Text"/>
              </a:rPr>
              <a:t>лаплассиан</a:t>
            </a:r>
            <a:r>
              <a:rPr lang="ru-RU" b="0" i="0" dirty="0">
                <a:effectLst/>
                <a:latin typeface="YS Text"/>
              </a:rPr>
              <a:t> для получения его собственных векторов, которые в дальнейшем используются для проекции данных в новое пространство более низкой размерности для лучшей разделимости, где затем применяется другой метод кластеризации, например, такой как K-средних. </a:t>
            </a:r>
          </a:p>
          <a:p>
            <a:pPr algn="l">
              <a:spcAft>
                <a:spcPts val="600"/>
              </a:spcAft>
            </a:pPr>
            <a:r>
              <a:rPr lang="ru-RU" b="1" i="0" dirty="0">
                <a:effectLst/>
                <a:latin typeface="YS Text"/>
              </a:rPr>
              <a:t>Некоторые области применения спектральной кластеризации</a:t>
            </a:r>
            <a:r>
              <a:rPr lang="ru-RU" b="0" i="0" dirty="0">
                <a:effectLst/>
                <a:latin typeface="YS Text"/>
              </a:rPr>
              <a:t>:</a:t>
            </a:r>
          </a:p>
          <a:p>
            <a:pPr algn="l">
              <a:spcBef>
                <a:spcPts val="600"/>
              </a:spcBef>
              <a:spcAft>
                <a:spcPts val="600"/>
              </a:spcAft>
              <a:buFont typeface="Arial" panose="020B0604020202020204" pitchFamily="34" charset="0"/>
              <a:buChar char="•"/>
            </a:pPr>
            <a:r>
              <a:rPr lang="ru-RU" b="1" i="0" dirty="0">
                <a:effectLst/>
                <a:latin typeface="YS Text"/>
              </a:rPr>
              <a:t>Сегментация изображений</a:t>
            </a:r>
            <a:r>
              <a:rPr lang="ru-RU" b="0" i="0" dirty="0">
                <a:effectLst/>
                <a:latin typeface="YS Text"/>
              </a:rPr>
              <a:t>. В компьютерном зрении спектральная кластеризация позволяет сегментировать изображение на области на основе сходства пикселей. </a:t>
            </a:r>
          </a:p>
          <a:p>
            <a:pPr algn="l">
              <a:spcAft>
                <a:spcPts val="600"/>
              </a:spcAft>
              <a:buFont typeface="Arial" panose="020B0604020202020204" pitchFamily="34" charset="0"/>
              <a:buChar char="•"/>
            </a:pPr>
            <a:r>
              <a:rPr lang="ru-RU" b="1" i="0" dirty="0">
                <a:effectLst/>
                <a:latin typeface="YS Text"/>
              </a:rPr>
              <a:t>Анализ социальных сетей</a:t>
            </a:r>
            <a:r>
              <a:rPr lang="ru-RU" b="0" i="0" dirty="0">
                <a:effectLst/>
                <a:latin typeface="YS Text"/>
              </a:rPr>
              <a:t>. Можно применять для обнаружения сообществ в социальных сетях, </a:t>
            </a:r>
            <a:r>
              <a:rPr lang="ru-RU" b="0" i="0" dirty="0" err="1">
                <a:effectLst/>
                <a:latin typeface="YS Text"/>
              </a:rPr>
              <a:t>кластеризируя</a:t>
            </a:r>
            <a:r>
              <a:rPr lang="ru-RU" b="0" i="0" dirty="0">
                <a:effectLst/>
                <a:latin typeface="YS Text"/>
              </a:rPr>
              <a:t> пользователей на основе их взаимодействий. </a:t>
            </a:r>
          </a:p>
          <a:p>
            <a:pPr algn="l">
              <a:spcAft>
                <a:spcPts val="600"/>
              </a:spcAft>
              <a:buFont typeface="Arial" panose="020B0604020202020204" pitchFamily="34" charset="0"/>
              <a:buChar char="•"/>
            </a:pPr>
            <a:r>
              <a:rPr lang="ru-RU" b="1" i="0" dirty="0">
                <a:effectLst/>
                <a:latin typeface="YS Text"/>
              </a:rPr>
              <a:t>Кластеризация документов</a:t>
            </a:r>
            <a:r>
              <a:rPr lang="ru-RU" b="0" i="0" dirty="0">
                <a:effectLst/>
                <a:latin typeface="YS Text"/>
              </a:rPr>
              <a:t>. Спектральная кластеризация позволяет группировать документы по темам на основе сходства их содержания. </a:t>
            </a:r>
          </a:p>
          <a:p>
            <a:pPr algn="l">
              <a:spcAft>
                <a:spcPts val="600"/>
              </a:spcAft>
              <a:buFont typeface="Arial" panose="020B0604020202020204" pitchFamily="34" charset="0"/>
              <a:buChar char="•"/>
            </a:pPr>
            <a:r>
              <a:rPr lang="ru-RU" b="1" i="0" dirty="0">
                <a:effectLst/>
                <a:latin typeface="YS Text"/>
              </a:rPr>
              <a:t>Анализ биологических данных</a:t>
            </a:r>
            <a:r>
              <a:rPr lang="ru-RU" b="0" i="0" dirty="0">
                <a:effectLst/>
                <a:latin typeface="YS Text"/>
              </a:rPr>
              <a:t>. В биоинформатике её можно использовать для выявления функциональных групп или структур внутри биологических сетей. </a:t>
            </a:r>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26</a:t>
            </a:fld>
            <a:endParaRPr lang="ru-RU"/>
          </a:p>
        </p:txBody>
      </p:sp>
    </p:spTree>
    <p:extLst>
      <p:ext uri="{BB962C8B-B14F-4D97-AF65-F5344CB8AC3E}">
        <p14:creationId xmlns:p14="http://schemas.microsoft.com/office/powerpoint/2010/main" val="3631986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l">
              <a:spcAft>
                <a:spcPts val="600"/>
              </a:spcAft>
            </a:pPr>
            <a:r>
              <a:rPr lang="ru-RU" b="1" i="0" dirty="0">
                <a:effectLst/>
                <a:latin typeface="YS Text"/>
              </a:rPr>
              <a:t>Иерархическая кластеризация</a:t>
            </a:r>
            <a:r>
              <a:rPr lang="ru-RU" b="0" i="0" dirty="0">
                <a:effectLst/>
                <a:latin typeface="YS Text"/>
              </a:rPr>
              <a:t> — это метод анализа данных, который используется для группировки объектов в кластеры на основе их сходства. </a:t>
            </a:r>
          </a:p>
          <a:p>
            <a:pPr algn="l">
              <a:spcAft>
                <a:spcPts val="600"/>
              </a:spcAft>
            </a:pPr>
            <a:r>
              <a:rPr lang="ru-RU" b="1" i="0" dirty="0">
                <a:effectLst/>
                <a:latin typeface="YS Text"/>
              </a:rPr>
              <a:t>Существует два основных подхода к иерархической кластеризации</a:t>
            </a:r>
            <a:r>
              <a:rPr lang="ru-RU" b="0" i="0" dirty="0">
                <a:effectLst/>
                <a:latin typeface="YS Text"/>
              </a:rPr>
              <a:t>: </a:t>
            </a:r>
          </a:p>
          <a:p>
            <a:pPr algn="l">
              <a:spcBef>
                <a:spcPts val="600"/>
              </a:spcBef>
              <a:spcAft>
                <a:spcPts val="600"/>
              </a:spcAft>
              <a:buFont typeface="+mj-lt"/>
              <a:buAutoNum type="arabicPeriod"/>
            </a:pPr>
            <a:r>
              <a:rPr lang="ru-RU" b="1" i="0" dirty="0" err="1">
                <a:effectLst/>
                <a:latin typeface="YS Text"/>
              </a:rPr>
              <a:t>Агломеративный</a:t>
            </a:r>
            <a:r>
              <a:rPr lang="ru-RU" b="0" i="0" dirty="0">
                <a:effectLst/>
                <a:latin typeface="YS Text"/>
              </a:rPr>
              <a:t>. Начинается с того, что каждый объект рассматривается как отдельный кластер. Затем кластеры последовательно объединяются на основе их сходства, пока все объекты не окажутся в одном большом кластере. </a:t>
            </a:r>
          </a:p>
          <a:p>
            <a:r>
              <a:rPr lang="ru-RU" sz="1200" b="0" i="0" u="none" strike="noStrike" baseline="0" dirty="0">
                <a:solidFill>
                  <a:srgbClr val="000000"/>
                </a:solidFill>
                <a:latin typeface="ArialMT"/>
              </a:rPr>
              <a:t>Каждое наблюдение образовывает сначала свой </a:t>
            </a:r>
            <a:r>
              <a:rPr lang="ru-RU" sz="1200" b="1" i="0" u="none" strike="noStrike" baseline="0" dirty="0">
                <a:solidFill>
                  <a:srgbClr val="F3AA00"/>
                </a:solidFill>
                <a:latin typeface="Arial-BoldMT"/>
              </a:rPr>
              <a:t>отдельный кластер.</a:t>
            </a:r>
          </a:p>
          <a:p>
            <a:r>
              <a:rPr lang="ru-RU" sz="1200" b="0" i="0" u="none" strike="noStrike" baseline="0" dirty="0">
                <a:solidFill>
                  <a:srgbClr val="000000"/>
                </a:solidFill>
                <a:latin typeface="ArialMT"/>
              </a:rPr>
              <a:t>На первом шаге анализа </a:t>
            </a:r>
            <a:r>
              <a:rPr lang="ru-RU" sz="1200" b="1" i="0" u="none" strike="noStrike" baseline="0" dirty="0">
                <a:solidFill>
                  <a:srgbClr val="F3AA00"/>
                </a:solidFill>
                <a:latin typeface="Arial-BoldMT"/>
              </a:rPr>
              <a:t>два соседних кластера объединяются в один</a:t>
            </a:r>
            <a:r>
              <a:rPr lang="ru-RU" sz="1200" b="0" i="0" u="none" strike="noStrike" baseline="0" dirty="0">
                <a:solidFill>
                  <a:srgbClr val="000000"/>
                </a:solidFill>
                <a:latin typeface="Arial" panose="020B0604020202020204" pitchFamily="34" charset="0"/>
              </a:rPr>
              <a:t>.</a:t>
            </a:r>
          </a:p>
          <a:p>
            <a:r>
              <a:rPr lang="ru-RU" sz="1200" b="0" i="0" u="none" strike="noStrike" baseline="0" dirty="0">
                <a:solidFill>
                  <a:srgbClr val="000000"/>
                </a:solidFill>
                <a:latin typeface="ArialMT"/>
              </a:rPr>
              <a:t>Этот процесс продолжается до тех пор, пока не останутся </a:t>
            </a:r>
            <a:r>
              <a:rPr lang="ru-RU" sz="1200" b="1" i="0" u="none" strike="noStrike" baseline="0" dirty="0">
                <a:solidFill>
                  <a:srgbClr val="F3AA00"/>
                </a:solidFill>
                <a:latin typeface="Arial-BoldMT"/>
              </a:rPr>
              <a:t>только два кластера.</a:t>
            </a:r>
          </a:p>
          <a:p>
            <a:r>
              <a:rPr lang="ru-RU" sz="1200" b="0" i="0" u="none" strike="noStrike" baseline="0" dirty="0">
                <a:solidFill>
                  <a:srgbClr val="000000"/>
                </a:solidFill>
                <a:latin typeface="ArialMT"/>
              </a:rPr>
              <a:t>Расстояние между кластерами является средним значением всех расстояний между всеми возможными парами точек из обоих кластеров (</a:t>
            </a:r>
            <a:r>
              <a:rPr lang="en-US" sz="1200" b="0" i="0" u="none" strike="noStrike" baseline="0" dirty="0">
                <a:solidFill>
                  <a:srgbClr val="000000"/>
                </a:solidFill>
                <a:latin typeface="Arial" panose="020B0604020202020204" pitchFamily="34" charset="0"/>
              </a:rPr>
              <a:t>Between-groups linkage (</a:t>
            </a:r>
            <a:r>
              <a:rPr lang="ru-RU" sz="1200" b="0" i="0" u="none" strike="noStrike" baseline="0" dirty="0">
                <a:solidFill>
                  <a:srgbClr val="000000"/>
                </a:solidFill>
                <a:latin typeface="ArialMT"/>
              </a:rPr>
              <a:t>Связь между группами))</a:t>
            </a:r>
            <a:endParaRPr lang="ru-RU" b="0" i="0" dirty="0">
              <a:effectLst/>
              <a:latin typeface="YS Text"/>
            </a:endParaRPr>
          </a:p>
          <a:p>
            <a:pPr algn="l">
              <a:spcBef>
                <a:spcPts val="600"/>
              </a:spcBef>
              <a:spcAft>
                <a:spcPts val="600"/>
              </a:spcAft>
              <a:buFont typeface="+mj-lt"/>
              <a:buAutoNum type="arabicPeriod"/>
            </a:pPr>
            <a:endParaRPr lang="ru-RU" b="0" i="0" dirty="0">
              <a:effectLst/>
              <a:latin typeface="YS Text"/>
            </a:endParaRPr>
          </a:p>
          <a:p>
            <a:pPr algn="l">
              <a:spcAft>
                <a:spcPts val="600"/>
              </a:spcAft>
              <a:buFont typeface="+mj-lt"/>
              <a:buNone/>
            </a:pPr>
            <a:r>
              <a:rPr lang="ru-RU" b="1" i="0" dirty="0">
                <a:effectLst/>
                <a:latin typeface="YS Text"/>
              </a:rPr>
              <a:t>2. </a:t>
            </a:r>
            <a:r>
              <a:rPr lang="ru-RU" b="1" i="0" dirty="0" err="1">
                <a:effectLst/>
                <a:latin typeface="YS Text"/>
              </a:rPr>
              <a:t>Дивизивный</a:t>
            </a:r>
            <a:r>
              <a:rPr lang="ru-RU" b="0" i="0" dirty="0">
                <a:effectLst/>
                <a:latin typeface="YS Text"/>
              </a:rPr>
              <a:t>. Начинается с одного большого кластера, который включает все объекты. Затем этот кластер последовательно делится на более мелкие кластеры, пока каждый объект не окажется в отдельном кластере.</a:t>
            </a:r>
            <a:endParaRPr lang="en-US" b="0" i="0" dirty="0">
              <a:effectLst/>
              <a:latin typeface="YS Text"/>
            </a:endParaRPr>
          </a:p>
          <a:p>
            <a:pPr algn="l">
              <a:spcAft>
                <a:spcPts val="600"/>
              </a:spcAft>
              <a:buFont typeface="+mj-lt"/>
              <a:buAutoNum type="arabicPeriod"/>
            </a:pPr>
            <a:endParaRPr lang="ru-RU" b="0" i="0" dirty="0">
              <a:effectLst/>
              <a:latin typeface="YS Text"/>
            </a:endParaRPr>
          </a:p>
          <a:p>
            <a:pPr algn="l">
              <a:spcAft>
                <a:spcPts val="600"/>
              </a:spcAft>
            </a:pPr>
            <a:r>
              <a:rPr lang="ru-RU" b="1" i="0" dirty="0">
                <a:effectLst/>
                <a:latin typeface="YS Text"/>
              </a:rPr>
              <a:t>Для работы этих алгоритмов определяется матрица близости</a:t>
            </a:r>
            <a:r>
              <a:rPr lang="ru-RU" b="0" i="0" dirty="0">
                <a:effectLst/>
                <a:latin typeface="YS Text"/>
              </a:rPr>
              <a:t>, которая содержит попарные расстояния между всеми объектами. На основании неё происходит объединение или разделение объектов. Когда в одном кластере более одного объекта, берётся среднее расстояние. После каждой итерации заново рассчитывается матрица близости. </a:t>
            </a:r>
          </a:p>
          <a:p>
            <a:pPr algn="l">
              <a:spcAft>
                <a:spcPts val="600"/>
              </a:spcAft>
            </a:pPr>
            <a:r>
              <a:rPr lang="ru-RU" b="1" i="0" dirty="0">
                <a:effectLst/>
                <a:latin typeface="YS Text"/>
              </a:rPr>
              <a:t>Иерархическая кластеризация широко используется</a:t>
            </a:r>
            <a:r>
              <a:rPr lang="ru-RU" b="0" i="0" dirty="0">
                <a:effectLst/>
                <a:latin typeface="YS Text"/>
              </a:rPr>
              <a:t> в различных областях, включая биоинформатику, маркетинг, текстовый анализ и многие другие. </a:t>
            </a:r>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27</a:t>
            </a:fld>
            <a:endParaRPr lang="ru-RU"/>
          </a:p>
        </p:txBody>
      </p:sp>
    </p:spTree>
    <p:extLst>
      <p:ext uri="{BB962C8B-B14F-4D97-AF65-F5344CB8AC3E}">
        <p14:creationId xmlns:p14="http://schemas.microsoft.com/office/powerpoint/2010/main" val="27488985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0" i="0" dirty="0">
                <a:solidFill>
                  <a:srgbClr val="323232"/>
                </a:solidFill>
                <a:effectLst/>
                <a:latin typeface="__CoFoSans_363e29"/>
              </a:rPr>
              <a:t>По мере объединения кластеров, каждой итерации алгоритма соответствует пара объединяемых на этой итерации кластеров, а также расстояние между кластерами в момент слияния. Расстояния с ростом итерации будут только увеличиваться, поэтому возникает возможность построить следующую схему, называемую </a:t>
            </a:r>
            <a:r>
              <a:rPr lang="ru-RU" b="0" i="0" dirty="0" err="1">
                <a:solidFill>
                  <a:srgbClr val="323232"/>
                </a:solidFill>
                <a:effectLst/>
                <a:latin typeface="__CoFoSans_363e29"/>
              </a:rPr>
              <a:t>дендрограммой</a:t>
            </a:r>
            <a:r>
              <a:rPr lang="ru-RU" b="0" i="0" dirty="0">
                <a:solidFill>
                  <a:srgbClr val="323232"/>
                </a:solidFill>
                <a:effectLst/>
                <a:latin typeface="__CoFoSans_363e29"/>
              </a:rPr>
              <a:t>:</a:t>
            </a:r>
          </a:p>
          <a:p>
            <a:endParaRPr lang="ru-RU" b="0" i="0" dirty="0">
              <a:solidFill>
                <a:srgbClr val="323232"/>
              </a:solidFill>
              <a:effectLst/>
              <a:latin typeface="__CoFoSans_363e29"/>
            </a:endParaRPr>
          </a:p>
          <a:p>
            <a:pPr algn="l">
              <a:spcBef>
                <a:spcPts val="1200"/>
              </a:spcBef>
            </a:pPr>
            <a:r>
              <a:rPr lang="ru-RU" b="0" i="0" dirty="0">
                <a:solidFill>
                  <a:srgbClr val="323232"/>
                </a:solidFill>
                <a:effectLst/>
                <a:latin typeface="__CoFoSans_363e29"/>
              </a:rPr>
              <a:t>Здесь по горизонтали внизу отмечены объекты </a:t>
            </a:r>
            <a:r>
              <a:rPr lang="ru-RU" b="0" i="0" dirty="0" err="1">
                <a:solidFill>
                  <a:srgbClr val="323232"/>
                </a:solidFill>
                <a:effectLst/>
                <a:latin typeface="__CoFoSans_363e29"/>
              </a:rPr>
              <a:t>кластеризуемой</a:t>
            </a:r>
            <a:r>
              <a:rPr lang="ru-RU" b="0" i="0" dirty="0">
                <a:solidFill>
                  <a:srgbClr val="323232"/>
                </a:solidFill>
                <a:effectLst/>
                <a:latin typeface="__CoFoSans_363e29"/>
              </a:rPr>
              <a:t> выборки, под горизонтальной осью подписаны номера объектов, а их расположение вдоль оси продиктовано только эстетическими соображениями: нам удобно строить </a:t>
            </a:r>
            <a:r>
              <a:rPr lang="ru-RU" b="0" i="0" dirty="0" err="1">
                <a:solidFill>
                  <a:srgbClr val="323232"/>
                </a:solidFill>
                <a:effectLst/>
                <a:latin typeface="__CoFoSans_363e29"/>
              </a:rPr>
              <a:t>дендрограмму</a:t>
            </a:r>
            <a:r>
              <a:rPr lang="ru-RU" b="0" i="0" dirty="0">
                <a:solidFill>
                  <a:srgbClr val="323232"/>
                </a:solidFill>
                <a:effectLst/>
                <a:latin typeface="__CoFoSans_363e29"/>
              </a:rPr>
              <a:t> так, чтобы никакие дуги в ней не пересекались. По вертикали отложены расстояния между кластерами в момент слияния. Когда происходит объединение кластеров, состоящих из нескольких объектов, соответствующая этой итерации алгоритма дуга идёт не до конкретных объектов выборки, а до дуги другого кластера.</a:t>
            </a:r>
          </a:p>
          <a:p>
            <a:pPr algn="l">
              <a:spcBef>
                <a:spcPts val="1200"/>
              </a:spcBef>
            </a:pPr>
            <a:endParaRPr lang="ru-RU" b="0" i="0" dirty="0">
              <a:solidFill>
                <a:srgbClr val="323232"/>
              </a:solidFill>
              <a:effectLst/>
              <a:latin typeface="__CoFoSans_363e29"/>
            </a:endParaRPr>
          </a:p>
          <a:p>
            <a:pPr algn="l">
              <a:spcBef>
                <a:spcPts val="1200"/>
              </a:spcBef>
            </a:pPr>
            <a:r>
              <a:rPr lang="ru-RU" b="0" i="0" dirty="0">
                <a:solidFill>
                  <a:srgbClr val="323232"/>
                </a:solidFill>
                <a:effectLst/>
                <a:latin typeface="__CoFoSans_363e29"/>
              </a:rPr>
              <a:t>Таким образом мы получаем наглядную визуализацию древовидной структуры процесса кластеризации. В частности, на </a:t>
            </a:r>
            <a:r>
              <a:rPr lang="ru-RU" b="0" i="0" dirty="0" err="1">
                <a:solidFill>
                  <a:srgbClr val="323232"/>
                </a:solidFill>
                <a:effectLst/>
                <a:latin typeface="__CoFoSans_363e29"/>
              </a:rPr>
              <a:t>дендрограмме</a:t>
            </a:r>
            <a:r>
              <a:rPr lang="ru-RU" b="0" i="0" dirty="0">
                <a:solidFill>
                  <a:srgbClr val="323232"/>
                </a:solidFill>
                <a:effectLst/>
                <a:latin typeface="__CoFoSans_363e29"/>
              </a:rPr>
              <a:t> мы можем визуально заметить, в какой момент происходит скачок расстояний между кластерами, и попытаться определить «естественное» количество кластеров в нашей задаче. На практике же это соображение, как правило, остаётся лишь красивой теорией, так как любую кластеризацию можно делать в разной степени «мелкой» и «естественного» количества кластеров в практических задачах часто не существует. В случае же если данные были получены таким образом, что в них действительно есть какое-то естественное количество кластеров, иерархическая кластеризация обычно справляется с определением числа кластеров по </a:t>
            </a:r>
            <a:r>
              <a:rPr lang="ru-RU" b="0" i="0" dirty="0" err="1">
                <a:solidFill>
                  <a:srgbClr val="323232"/>
                </a:solidFill>
                <a:effectLst/>
                <a:latin typeface="__CoFoSans_363e29"/>
              </a:rPr>
              <a:t>дендрограмме</a:t>
            </a:r>
            <a:r>
              <a:rPr lang="ru-RU" b="0" i="0" dirty="0">
                <a:solidFill>
                  <a:srgbClr val="323232"/>
                </a:solidFill>
                <a:effectLst/>
                <a:latin typeface="__CoFoSans_363e29"/>
              </a:rPr>
              <a:t> заметно хуже, чем DBSCAN. </a:t>
            </a:r>
          </a:p>
          <a:p>
            <a:endParaRPr lang="ru-RU" b="0" i="0" dirty="0">
              <a:solidFill>
                <a:srgbClr val="323232"/>
              </a:solidFill>
              <a:effectLst/>
              <a:latin typeface="__CoFoSans_363e29"/>
            </a:endParaRPr>
          </a:p>
          <a:p>
            <a:r>
              <a:rPr lang="ru-RU" b="0" i="0" dirty="0">
                <a:solidFill>
                  <a:srgbClr val="323232"/>
                </a:solidFill>
                <a:effectLst/>
                <a:latin typeface="__CoFoSans_363e29"/>
              </a:rPr>
              <a:t>В качестве условия для завершения работы алгоритма можем выбрать либо получение нужного количества кластеров (количество кластеров может быть </a:t>
            </a:r>
            <a:r>
              <a:rPr lang="ru-RU" b="0" i="0" dirty="0" err="1">
                <a:solidFill>
                  <a:srgbClr val="323232"/>
                </a:solidFill>
                <a:effectLst/>
                <a:latin typeface="__CoFoSans_363e29"/>
              </a:rPr>
              <a:t>гиперпараметром</a:t>
            </a:r>
            <a:r>
              <a:rPr lang="ru-RU" b="0" i="0" dirty="0">
                <a:solidFill>
                  <a:srgbClr val="323232"/>
                </a:solidFill>
                <a:effectLst/>
                <a:latin typeface="__CoFoSans_363e29"/>
              </a:rPr>
              <a:t> алгоритма), либо выполнение эвристик на основе расстояния между объединяемыми кластерами (например, если расстояние сливаемых кластеров значительно выросло по сравнению с прошлой итерацией). На практике же обычно кластеризацию проводят вплоть до одного кластера, включающего в себя всю выборку, а затем анализируют получившуюся иерархическую структуру с помощью </a:t>
            </a:r>
            <a:r>
              <a:rPr lang="ru-RU" b="0" i="0" dirty="0" err="1">
                <a:solidFill>
                  <a:srgbClr val="323232"/>
                </a:solidFill>
                <a:effectLst/>
                <a:latin typeface="__CoFoSans_363e29"/>
              </a:rPr>
              <a:t>дендрограммы</a:t>
            </a:r>
            <a:r>
              <a:rPr lang="ru-RU" b="0" i="0" dirty="0">
                <a:solidFill>
                  <a:srgbClr val="323232"/>
                </a:solidFill>
                <a:effectLst/>
                <a:latin typeface="__CoFoSans_363e29"/>
              </a:rPr>
              <a:t>.</a:t>
            </a:r>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28</a:t>
            </a:fld>
            <a:endParaRPr lang="ru-RU"/>
          </a:p>
        </p:txBody>
      </p:sp>
    </p:spTree>
    <p:extLst>
      <p:ext uri="{BB962C8B-B14F-4D97-AF65-F5344CB8AC3E}">
        <p14:creationId xmlns:p14="http://schemas.microsoft.com/office/powerpoint/2010/main" val="40731501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l">
              <a:spcAft>
                <a:spcPts val="600"/>
              </a:spcAft>
            </a:pPr>
            <a:r>
              <a:rPr lang="ru-RU" b="1" i="0" dirty="0">
                <a:effectLst/>
                <a:latin typeface="YS Text"/>
              </a:rPr>
              <a:t>DBSCAN</a:t>
            </a:r>
            <a:r>
              <a:rPr lang="ru-RU" b="0" i="0" dirty="0">
                <a:effectLst/>
                <a:latin typeface="YS Text"/>
              </a:rPr>
              <a:t> (основанная на плотности пространственная кластеризация для приложений с шумами) — </a:t>
            </a:r>
            <a:r>
              <a:rPr lang="ru-RU" b="1" i="0" dirty="0">
                <a:effectLst/>
                <a:latin typeface="YS Text"/>
              </a:rPr>
              <a:t>это алгоритм кластеризации данных</a:t>
            </a:r>
            <a:r>
              <a:rPr lang="ru-RU" b="0" i="0" dirty="0">
                <a:effectLst/>
                <a:latin typeface="YS Text"/>
              </a:rPr>
              <a:t>, который предложили Мартин Эстер, Ганс-Петер </a:t>
            </a:r>
            <a:r>
              <a:rPr lang="ru-RU" b="0" i="0" dirty="0" err="1">
                <a:effectLst/>
                <a:latin typeface="YS Text"/>
              </a:rPr>
              <a:t>Кригель</a:t>
            </a:r>
            <a:r>
              <a:rPr lang="ru-RU" b="0" i="0" dirty="0">
                <a:effectLst/>
                <a:latin typeface="YS Text"/>
              </a:rPr>
              <a:t>, </a:t>
            </a:r>
            <a:r>
              <a:rPr lang="ru-RU" b="0" i="0" dirty="0" err="1">
                <a:effectLst/>
                <a:latin typeface="YS Text"/>
              </a:rPr>
              <a:t>Йёрг</a:t>
            </a:r>
            <a:r>
              <a:rPr lang="ru-RU" b="0" i="0" dirty="0">
                <a:effectLst/>
                <a:latin typeface="YS Text"/>
              </a:rPr>
              <a:t> Сандер и Сюй </a:t>
            </a:r>
            <a:r>
              <a:rPr lang="ru-RU" b="0" i="0" dirty="0" err="1">
                <a:effectLst/>
                <a:latin typeface="YS Text"/>
              </a:rPr>
              <a:t>Сяовэй</a:t>
            </a:r>
            <a:r>
              <a:rPr lang="ru-RU" b="0" i="0" dirty="0">
                <a:effectLst/>
                <a:latin typeface="YS Text"/>
              </a:rPr>
              <a:t> в 1996 году.</a:t>
            </a:r>
          </a:p>
          <a:p>
            <a:pPr algn="l">
              <a:spcAft>
                <a:spcPts val="600"/>
              </a:spcAft>
            </a:pPr>
            <a:r>
              <a:rPr lang="ru-RU" b="1" i="0" dirty="0">
                <a:effectLst/>
                <a:latin typeface="YS Text"/>
              </a:rPr>
              <a:t>Алгоритм кластеризации, основанный на плотности</a:t>
            </a:r>
            <a:r>
              <a:rPr lang="ru-RU" b="0" i="0" dirty="0">
                <a:effectLst/>
                <a:latin typeface="YS Text"/>
              </a:rPr>
              <a:t>: если дан набор точек в некотором пространстве, алгоритм группирует вместе точки, которые тесно расположены, помечая как выбросы точки, которые находятся одиноко в областях с малой плотностью (ближайшие соседи которых лежат далеко). </a:t>
            </a:r>
          </a:p>
          <a:p>
            <a:pPr algn="l">
              <a:spcAft>
                <a:spcPts val="600"/>
              </a:spcAft>
            </a:pPr>
            <a:r>
              <a:rPr lang="ru-RU" b="1" i="0" dirty="0">
                <a:effectLst/>
                <a:latin typeface="YS Text"/>
              </a:rPr>
              <a:t>Некоторые особенности DBSCAN</a:t>
            </a:r>
            <a:r>
              <a:rPr lang="ru-RU" b="0" i="0" dirty="0">
                <a:effectLst/>
                <a:latin typeface="YS Text"/>
              </a:rPr>
              <a:t>:</a:t>
            </a:r>
          </a:p>
          <a:p>
            <a:pPr algn="l">
              <a:spcBef>
                <a:spcPts val="600"/>
              </a:spcBef>
              <a:spcAft>
                <a:spcPts val="600"/>
              </a:spcAft>
              <a:buFont typeface="Arial" panose="020B0604020202020204" pitchFamily="34" charset="0"/>
              <a:buChar char="•"/>
            </a:pPr>
            <a:r>
              <a:rPr lang="ru-RU" b="0" i="0" dirty="0">
                <a:effectLst/>
                <a:latin typeface="YS Text"/>
              </a:rPr>
              <a:t>не требует априорного указания числа кластеров в данных, в отличие от метода k-средних; </a:t>
            </a:r>
          </a:p>
          <a:p>
            <a:pPr algn="l">
              <a:spcAft>
                <a:spcPts val="600"/>
              </a:spcAft>
              <a:buFont typeface="Arial" panose="020B0604020202020204" pitchFamily="34" charset="0"/>
              <a:buChar char="•"/>
            </a:pPr>
            <a:r>
              <a:rPr lang="ru-RU" b="0" i="0" dirty="0">
                <a:effectLst/>
                <a:latin typeface="YS Text"/>
              </a:rPr>
              <a:t>может найти кластеры произвольной формы; </a:t>
            </a:r>
          </a:p>
          <a:p>
            <a:pPr algn="l">
              <a:spcAft>
                <a:spcPts val="600"/>
              </a:spcAft>
              <a:buFont typeface="Arial" panose="020B0604020202020204" pitchFamily="34" charset="0"/>
              <a:buChar char="•"/>
            </a:pPr>
            <a:r>
              <a:rPr lang="ru-RU" b="0" i="0" dirty="0">
                <a:effectLst/>
                <a:latin typeface="YS Text"/>
              </a:rPr>
              <a:t>имеет понятие шума и устойчив к выбросам; </a:t>
            </a:r>
          </a:p>
          <a:p>
            <a:pPr algn="l">
              <a:spcAft>
                <a:spcPts val="600"/>
              </a:spcAft>
              <a:buFont typeface="Arial" panose="020B0604020202020204" pitchFamily="34" charset="0"/>
              <a:buChar char="•"/>
            </a:pPr>
            <a:r>
              <a:rPr lang="ru-RU" b="0" i="0" dirty="0">
                <a:effectLst/>
                <a:latin typeface="YS Text"/>
              </a:rPr>
              <a:t>требует лишь двух параметров и большей частью нечувствителен к порядку точек в базе данных. </a:t>
            </a:r>
          </a:p>
          <a:p>
            <a:pPr algn="l">
              <a:spcAft>
                <a:spcPts val="600"/>
              </a:spcAft>
            </a:pPr>
            <a:r>
              <a:rPr lang="ru-RU" b="1" i="0" dirty="0">
                <a:effectLst/>
                <a:latin typeface="YS Text"/>
              </a:rPr>
              <a:t>DBSCAN требует только два параметра</a:t>
            </a:r>
            <a:r>
              <a:rPr lang="ru-RU" b="0" i="0" dirty="0">
                <a:effectLst/>
                <a:latin typeface="YS Text"/>
              </a:rPr>
              <a:t>: </a:t>
            </a:r>
            <a:r>
              <a:rPr lang="ru-RU" b="0" i="0" dirty="0" err="1">
                <a:effectLst/>
                <a:latin typeface="YS Text"/>
              </a:rPr>
              <a:t>epsilon</a:t>
            </a:r>
            <a:r>
              <a:rPr lang="ru-RU" b="0" i="0" dirty="0">
                <a:effectLst/>
                <a:latin typeface="YS Text"/>
              </a:rPr>
              <a:t> (радиус круга, который должен быть создан вокруг каждой точки данных для проверки плотности) и </a:t>
            </a:r>
            <a:r>
              <a:rPr lang="ru-RU" b="0" i="0" dirty="0" err="1">
                <a:effectLst/>
                <a:latin typeface="YS Text"/>
              </a:rPr>
              <a:t>minPoints</a:t>
            </a:r>
            <a:r>
              <a:rPr lang="ru-RU" b="0" i="0" dirty="0">
                <a:effectLst/>
                <a:latin typeface="YS Text"/>
              </a:rPr>
              <a:t> (минимальное количество точек данных, необходимых внутри этого круга для того, чтобы эта точка данных была классифицирована как базовая). </a:t>
            </a:r>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29</a:t>
            </a:fld>
            <a:endParaRPr lang="ru-RU"/>
          </a:p>
        </p:txBody>
      </p:sp>
    </p:spTree>
    <p:extLst>
      <p:ext uri="{BB962C8B-B14F-4D97-AF65-F5344CB8AC3E}">
        <p14:creationId xmlns:p14="http://schemas.microsoft.com/office/powerpoint/2010/main" val="29986968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l">
              <a:spcAft>
                <a:spcPts val="600"/>
              </a:spcAft>
            </a:pPr>
            <a:r>
              <a:rPr lang="ru-RU" b="1" i="0" dirty="0">
                <a:effectLst/>
                <a:latin typeface="YS Text"/>
              </a:rPr>
              <a:t>Более подробно алгоритм работает так</a:t>
            </a:r>
            <a:r>
              <a:rPr lang="ru-RU" b="0" i="0" dirty="0">
                <a:effectLst/>
                <a:latin typeface="YS Text"/>
              </a:rPr>
              <a:t>: </a:t>
            </a:r>
          </a:p>
          <a:p>
            <a:pPr algn="l">
              <a:spcBef>
                <a:spcPts val="600"/>
              </a:spcBef>
              <a:spcAft>
                <a:spcPts val="600"/>
              </a:spcAft>
              <a:buFont typeface="+mj-lt"/>
              <a:buAutoNum type="arabicPeriod"/>
            </a:pPr>
            <a:r>
              <a:rPr lang="ru-RU" b="0" i="0" dirty="0">
                <a:effectLst/>
                <a:latin typeface="YS Text"/>
              </a:rPr>
              <a:t>Алгоритм берёт точку и строит от неё буфер указанного радиуса. Если в буфер попадает количество точек больше, чем минимальное количество точек в радиусе, то эта точка становится корневой и от неё строится новый кластер. Так выбираются все корневые точки. </a:t>
            </a:r>
          </a:p>
          <a:p>
            <a:pPr algn="l">
              <a:spcAft>
                <a:spcPts val="600"/>
              </a:spcAft>
              <a:buFont typeface="+mj-lt"/>
              <a:buAutoNum type="arabicPeriod"/>
            </a:pPr>
            <a:r>
              <a:rPr lang="ru-RU" b="0" i="0" dirty="0">
                <a:effectLst/>
                <a:latin typeface="YS Text"/>
              </a:rPr>
              <a:t>Далее алгоритм находит точки, у которых в буфере меньше заданного количества соседей, но есть хотя бы одна корневая точка. Эти точки становятся пограничными. </a:t>
            </a:r>
          </a:p>
          <a:p>
            <a:pPr algn="l">
              <a:spcAft>
                <a:spcPts val="600"/>
              </a:spcAft>
              <a:buFont typeface="+mj-lt"/>
              <a:buAutoNum type="arabicPeriod"/>
            </a:pPr>
            <a:r>
              <a:rPr lang="ru-RU" b="0" i="0" dirty="0">
                <a:effectLst/>
                <a:latin typeface="YS Text"/>
              </a:rPr>
              <a:t>Остались точки, в буфере от которых меньше указанного числа соседей и нет корневых элементов. Эти точки будут считаться выбросами. </a:t>
            </a:r>
          </a:p>
          <a:p>
            <a:pPr algn="l">
              <a:spcAft>
                <a:spcPts val="600"/>
              </a:spcAft>
              <a:buFont typeface="+mj-lt"/>
              <a:buAutoNum type="arabicPeriod"/>
            </a:pPr>
            <a:r>
              <a:rPr lang="ru-RU" b="0" i="0" dirty="0">
                <a:effectLst/>
                <a:latin typeface="YS Text"/>
              </a:rPr>
              <a:t>Если два корневых элемента находятся рядом, то они объединяются в один кластер. </a:t>
            </a:r>
          </a:p>
          <a:p>
            <a:pPr algn="l">
              <a:spcAft>
                <a:spcPts val="600"/>
              </a:spcAft>
              <a:buFont typeface="+mj-lt"/>
              <a:buAutoNum type="arabicPeriod"/>
            </a:pPr>
            <a:r>
              <a:rPr lang="ru-RU" b="0" i="0" dirty="0">
                <a:effectLst/>
                <a:latin typeface="YS Text"/>
              </a:rPr>
              <a:t>Пограничные элементы будут отнесены к группе корневого элемента из своей окрестности. </a:t>
            </a:r>
          </a:p>
          <a:p>
            <a:pPr algn="l">
              <a:spcAft>
                <a:spcPts val="600"/>
              </a:spcAft>
              <a:buFont typeface="+mj-lt"/>
              <a:buAutoNum type="arabicPeriod"/>
            </a:pPr>
            <a:r>
              <a:rPr lang="ru-RU" b="0" i="0" dirty="0">
                <a:effectLst/>
                <a:latin typeface="YS Text"/>
              </a:rPr>
              <a:t>Процесс завершается, когда ни к одному кластеру не может быть добавлено ни одного нового объекта. </a:t>
            </a:r>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30</a:t>
            </a:fld>
            <a:endParaRPr lang="ru-RU"/>
          </a:p>
        </p:txBody>
      </p:sp>
    </p:spTree>
    <p:extLst>
      <p:ext uri="{BB962C8B-B14F-4D97-AF65-F5344CB8AC3E}">
        <p14:creationId xmlns:p14="http://schemas.microsoft.com/office/powerpoint/2010/main" val="38119279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31</a:t>
            </a:fld>
            <a:endParaRPr lang="ru-RU"/>
          </a:p>
        </p:txBody>
      </p:sp>
    </p:spTree>
    <p:extLst>
      <p:ext uri="{BB962C8B-B14F-4D97-AF65-F5344CB8AC3E}">
        <p14:creationId xmlns:p14="http://schemas.microsoft.com/office/powerpoint/2010/main" val="40634808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l">
              <a:spcAft>
                <a:spcPts val="600"/>
              </a:spcAft>
            </a:pPr>
            <a:r>
              <a:rPr lang="ru-RU" b="1" i="0" dirty="0">
                <a:effectLst/>
                <a:latin typeface="YS Text"/>
              </a:rPr>
              <a:t>OPTICS (</a:t>
            </a:r>
            <a:r>
              <a:rPr lang="ru-RU" b="1" i="0" dirty="0" err="1">
                <a:effectLst/>
                <a:latin typeface="YS Text"/>
              </a:rPr>
              <a:t>Ordering</a:t>
            </a:r>
            <a:r>
              <a:rPr lang="ru-RU" b="1" i="0" dirty="0">
                <a:effectLst/>
                <a:latin typeface="YS Text"/>
              </a:rPr>
              <a:t> </a:t>
            </a:r>
            <a:r>
              <a:rPr lang="ru-RU" b="1" i="0" dirty="0" err="1">
                <a:effectLst/>
                <a:latin typeface="YS Text"/>
              </a:rPr>
              <a:t>Points</a:t>
            </a:r>
            <a:r>
              <a:rPr lang="ru-RU" b="1" i="0" dirty="0">
                <a:effectLst/>
                <a:latin typeface="YS Text"/>
              </a:rPr>
              <a:t> To </a:t>
            </a:r>
            <a:r>
              <a:rPr lang="ru-RU" b="1" i="0" dirty="0" err="1">
                <a:effectLst/>
                <a:latin typeface="YS Text"/>
              </a:rPr>
              <a:t>Identify</a:t>
            </a:r>
            <a:r>
              <a:rPr lang="ru-RU" b="1" i="0" dirty="0">
                <a:effectLst/>
                <a:latin typeface="YS Text"/>
              </a:rPr>
              <a:t> </a:t>
            </a:r>
            <a:r>
              <a:rPr lang="ru-RU" b="1" i="0" dirty="0" err="1">
                <a:effectLst/>
                <a:latin typeface="YS Text"/>
              </a:rPr>
              <a:t>the</a:t>
            </a:r>
            <a:r>
              <a:rPr lang="ru-RU" b="1" i="0" dirty="0">
                <a:effectLst/>
                <a:latin typeface="YS Text"/>
              </a:rPr>
              <a:t> </a:t>
            </a:r>
            <a:r>
              <a:rPr lang="ru-RU" b="1" i="0" dirty="0" err="1">
                <a:effectLst/>
                <a:latin typeface="YS Text"/>
              </a:rPr>
              <a:t>Clustering</a:t>
            </a:r>
            <a:r>
              <a:rPr lang="ru-RU" b="1" i="0" dirty="0">
                <a:effectLst/>
                <a:latin typeface="YS Text"/>
              </a:rPr>
              <a:t> </a:t>
            </a:r>
            <a:r>
              <a:rPr lang="ru-RU" b="1" i="0" dirty="0" err="1">
                <a:effectLst/>
                <a:latin typeface="YS Text"/>
              </a:rPr>
              <a:t>Structure</a:t>
            </a:r>
            <a:r>
              <a:rPr lang="ru-RU" b="1" i="0" dirty="0">
                <a:effectLst/>
                <a:latin typeface="YS Text"/>
              </a:rPr>
              <a:t>)</a:t>
            </a:r>
            <a:r>
              <a:rPr lang="ru-RU" b="0" i="0" dirty="0">
                <a:effectLst/>
                <a:latin typeface="YS Text"/>
              </a:rPr>
              <a:t> — это </a:t>
            </a:r>
            <a:r>
              <a:rPr lang="ru-RU" b="1" i="0" dirty="0">
                <a:effectLst/>
                <a:latin typeface="YS Text"/>
              </a:rPr>
              <a:t>алгоритм нахождения кластеров в пространственных данных на основе плотности</a:t>
            </a:r>
            <a:r>
              <a:rPr lang="ru-RU" b="0" i="0" dirty="0">
                <a:effectLst/>
                <a:latin typeface="YS Text"/>
              </a:rPr>
              <a:t>. </a:t>
            </a:r>
          </a:p>
          <a:p>
            <a:pPr algn="l">
              <a:spcAft>
                <a:spcPts val="600"/>
              </a:spcAft>
            </a:pPr>
            <a:r>
              <a:rPr lang="ru-RU" b="1" i="0" dirty="0">
                <a:solidFill>
                  <a:srgbClr val="333333"/>
                </a:solidFill>
                <a:effectLst/>
                <a:latin typeface="YS Text"/>
              </a:rPr>
              <a:t>Основная идея</a:t>
            </a:r>
            <a:r>
              <a:rPr lang="ru-RU" b="0" i="0" dirty="0">
                <a:solidFill>
                  <a:srgbClr val="333333"/>
                </a:solidFill>
                <a:effectLst/>
                <a:latin typeface="YS Text"/>
              </a:rPr>
              <a:t> заключается в извлечении структуры кластеризации набора данных путём идентификации точек, связанных плотностью. Алгоритм строит упорядоченный список точек, называемый графиком достижимости. Каждая точка в списке связана с расстоянием достижимости, которое является мерой того, насколько легко добраться до этой точки из других точек набора данных. Точки с одинаковыми расстояниями досягаемости, скорее всего, находятся в одном кластере. </a:t>
            </a:r>
            <a:endParaRPr lang="en-US" b="0" i="0" dirty="0">
              <a:solidFill>
                <a:srgbClr val="333333"/>
              </a:solidFill>
              <a:effectLst/>
              <a:latin typeface="YS Text"/>
            </a:endParaRPr>
          </a:p>
          <a:p>
            <a:pPr algn="l">
              <a:spcAft>
                <a:spcPts val="600"/>
              </a:spcAft>
            </a:pPr>
            <a:endParaRPr lang="en-US" b="0" i="0" dirty="0">
              <a:solidFill>
                <a:srgbClr val="333333"/>
              </a:solidFill>
              <a:effectLst/>
              <a:latin typeface="YS Text"/>
            </a:endParaRPr>
          </a:p>
          <a:p>
            <a:pPr algn="l">
              <a:spcAft>
                <a:spcPts val="600"/>
              </a:spcAft>
            </a:pPr>
            <a:r>
              <a:rPr lang="ru-RU" b="1" i="0" dirty="0">
                <a:effectLst/>
                <a:latin typeface="YS Text"/>
              </a:rPr>
              <a:t>Алгоритм требует два параметра</a:t>
            </a:r>
            <a:r>
              <a:rPr lang="ru-RU" b="0" i="0" dirty="0">
                <a:effectLst/>
                <a:latin typeface="YS Text"/>
              </a:rPr>
              <a:t>: параметр ε описывает максимальное расстояние (радиус), принимаемое во внимание, а параметр </a:t>
            </a:r>
            <a:r>
              <a:rPr lang="ru-RU" b="0" i="0" dirty="0" err="1">
                <a:effectLst/>
                <a:latin typeface="YS Text"/>
              </a:rPr>
              <a:t>MinPts</a:t>
            </a:r>
            <a:r>
              <a:rPr lang="ru-RU" b="0" i="0" dirty="0">
                <a:effectLst/>
                <a:latin typeface="YS Text"/>
              </a:rPr>
              <a:t> описывает число точек, требующихся для образования кластера. </a:t>
            </a:r>
          </a:p>
          <a:p>
            <a:pPr algn="l">
              <a:spcAft>
                <a:spcPts val="600"/>
              </a:spcAft>
            </a:pPr>
            <a:endParaRPr lang="en-US" b="1" i="0" dirty="0">
              <a:effectLst/>
              <a:latin typeface="YS Text"/>
            </a:endParaRPr>
          </a:p>
          <a:p>
            <a:pPr algn="l">
              <a:spcAft>
                <a:spcPts val="600"/>
              </a:spcAft>
            </a:pPr>
            <a:r>
              <a:rPr lang="ru-RU" b="1" i="0" dirty="0">
                <a:effectLst/>
                <a:latin typeface="YS Text"/>
              </a:rPr>
              <a:t>Результаты визуализируются</a:t>
            </a:r>
            <a:r>
              <a:rPr lang="ru-RU" b="0" i="0" dirty="0">
                <a:effectLst/>
                <a:latin typeface="YS Text"/>
              </a:rPr>
              <a:t> с помощью графика достижимости (</a:t>
            </a:r>
            <a:r>
              <a:rPr lang="ru-RU" b="0" i="0" dirty="0" err="1">
                <a:effectLst/>
                <a:latin typeface="YS Text"/>
              </a:rPr>
              <a:t>reachability</a:t>
            </a:r>
            <a:r>
              <a:rPr lang="ru-RU" b="0" i="0" dirty="0">
                <a:effectLst/>
                <a:latin typeface="YS Text"/>
              </a:rPr>
              <a:t> </a:t>
            </a:r>
            <a:r>
              <a:rPr lang="ru-RU" b="0" i="0" dirty="0" err="1">
                <a:effectLst/>
                <a:latin typeface="YS Text"/>
              </a:rPr>
              <a:t>plot</a:t>
            </a:r>
            <a:r>
              <a:rPr lang="ru-RU" b="0" i="0" dirty="0">
                <a:effectLst/>
                <a:latin typeface="YS Text"/>
              </a:rPr>
              <a:t>), который может быть использован для определения кластера на различных уровнях плотности.</a:t>
            </a:r>
          </a:p>
          <a:p>
            <a:pPr algn="l">
              <a:spcAft>
                <a:spcPts val="600"/>
              </a:spcAft>
            </a:pPr>
            <a:endParaRPr lang="en-US" b="1" i="0" dirty="0">
              <a:effectLst/>
              <a:latin typeface="YS Text"/>
            </a:endParaRPr>
          </a:p>
          <a:p>
            <a:pPr algn="l">
              <a:spcAft>
                <a:spcPts val="600"/>
              </a:spcAft>
            </a:pPr>
            <a:r>
              <a:rPr lang="ru-RU" b="1" i="0" dirty="0">
                <a:solidFill>
                  <a:srgbClr val="333333"/>
                </a:solidFill>
                <a:effectLst/>
                <a:latin typeface="YS Text"/>
              </a:rPr>
              <a:t>Основные этапы оптического алгоритма</a:t>
            </a:r>
            <a:r>
              <a:rPr lang="ru-RU" b="0" i="0" dirty="0">
                <a:solidFill>
                  <a:srgbClr val="333333"/>
                </a:solidFill>
                <a:effectLst/>
                <a:latin typeface="YS Text"/>
              </a:rPr>
              <a:t>:</a:t>
            </a:r>
          </a:p>
          <a:p>
            <a:pPr algn="l">
              <a:spcBef>
                <a:spcPts val="600"/>
              </a:spcBef>
              <a:spcAft>
                <a:spcPts val="600"/>
              </a:spcAft>
              <a:buFont typeface="+mj-lt"/>
              <a:buAutoNum type="arabicPeriod"/>
            </a:pPr>
            <a:r>
              <a:rPr lang="ru-RU" b="0" i="0" dirty="0">
                <a:solidFill>
                  <a:srgbClr val="333333"/>
                </a:solidFill>
                <a:effectLst/>
                <a:latin typeface="YS Text"/>
              </a:rPr>
              <a:t>Определить параметр порога плотности (</a:t>
            </a:r>
            <a:r>
              <a:rPr lang="ru-RU" b="0" i="0" dirty="0" err="1">
                <a:solidFill>
                  <a:srgbClr val="333333"/>
                </a:solidFill>
                <a:effectLst/>
                <a:latin typeface="YS Text"/>
              </a:rPr>
              <a:t>Eps</a:t>
            </a:r>
            <a:r>
              <a:rPr lang="ru-RU" b="0" i="0" dirty="0">
                <a:solidFill>
                  <a:srgbClr val="333333"/>
                </a:solidFill>
                <a:effectLst/>
                <a:latin typeface="YS Text"/>
              </a:rPr>
              <a:t>), который управляет минимальной плотностью кластеров. </a:t>
            </a:r>
          </a:p>
          <a:p>
            <a:pPr algn="l">
              <a:spcAft>
                <a:spcPts val="600"/>
              </a:spcAft>
              <a:buFont typeface="+mj-lt"/>
              <a:buAutoNum type="arabicPeriod"/>
            </a:pPr>
            <a:r>
              <a:rPr lang="ru-RU" b="0" i="0" dirty="0">
                <a:solidFill>
                  <a:srgbClr val="333333"/>
                </a:solidFill>
                <a:effectLst/>
                <a:latin typeface="YS Text"/>
              </a:rPr>
              <a:t>Для каждой точки в наборе данных вычислить расстояние до её k ближайших соседей. </a:t>
            </a:r>
          </a:p>
          <a:p>
            <a:pPr algn="l">
              <a:spcAft>
                <a:spcPts val="600"/>
              </a:spcAft>
              <a:buFont typeface="+mj-lt"/>
              <a:buAutoNum type="arabicPeriod"/>
            </a:pPr>
            <a:r>
              <a:rPr lang="ru-RU" b="0" i="0" dirty="0">
                <a:solidFill>
                  <a:srgbClr val="333333"/>
                </a:solidFill>
                <a:effectLst/>
                <a:latin typeface="YS Text"/>
              </a:rPr>
              <a:t>Начиная с произвольной точки, рассчитать расстояние достижимости каждой точки в наборе данных на основе плотности её соседей. </a:t>
            </a:r>
          </a:p>
          <a:p>
            <a:pPr algn="l">
              <a:spcAft>
                <a:spcPts val="600"/>
              </a:spcAft>
              <a:buFont typeface="+mj-lt"/>
              <a:buAutoNum type="arabicPeriod"/>
            </a:pPr>
            <a:r>
              <a:rPr lang="ru-RU" b="0" i="0" dirty="0">
                <a:solidFill>
                  <a:srgbClr val="333333"/>
                </a:solidFill>
                <a:effectLst/>
                <a:latin typeface="YS Text"/>
              </a:rPr>
              <a:t>Расположить точки в соответствии с расстоянием их достижимости и создать график достижимости. </a:t>
            </a:r>
          </a:p>
          <a:p>
            <a:pPr algn="l">
              <a:spcAft>
                <a:spcPts val="600"/>
              </a:spcAft>
              <a:buFont typeface="+mj-lt"/>
              <a:buAutoNum type="arabicPeriod"/>
            </a:pPr>
            <a:r>
              <a:rPr lang="ru-RU" b="0" i="0" dirty="0">
                <a:solidFill>
                  <a:srgbClr val="333333"/>
                </a:solidFill>
                <a:effectLst/>
                <a:latin typeface="YS Text"/>
              </a:rPr>
              <a:t>Извлечь кластеры из графика достижимости, сгруппировав точки, расположенные близко друг к другу и имеющие одинаковые расстояния достижимости</a:t>
            </a:r>
            <a:endParaRPr lang="en-US" b="1" i="0" dirty="0">
              <a:effectLst/>
              <a:latin typeface="YS Text"/>
            </a:endParaRPr>
          </a:p>
          <a:p>
            <a:pPr algn="l">
              <a:spcAft>
                <a:spcPts val="600"/>
              </a:spcAft>
            </a:pPr>
            <a:endParaRPr lang="en-US" b="1" i="0" dirty="0">
              <a:effectLst/>
              <a:latin typeface="YS Text"/>
            </a:endParaRPr>
          </a:p>
          <a:p>
            <a:pPr algn="l">
              <a:spcAft>
                <a:spcPts val="600"/>
              </a:spcAft>
            </a:pPr>
            <a:r>
              <a:rPr lang="ru-RU" b="1" i="0" dirty="0">
                <a:effectLst/>
                <a:latin typeface="YS Text"/>
              </a:rPr>
              <a:t>OPTICS используется</a:t>
            </a:r>
            <a:r>
              <a:rPr lang="ru-RU" b="0" i="0" dirty="0">
                <a:effectLst/>
                <a:latin typeface="YS Text"/>
              </a:rPr>
              <a:t> для анализа социальных сетей, транспортных сетей и других сетевых структур для выявления кластеров и аномалий. Также применяется в биоинформатике для кластеризации геномных данных, выявления генных паттернов и классификации биологических образцов. </a:t>
            </a:r>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32</a:t>
            </a:fld>
            <a:endParaRPr lang="ru-RU"/>
          </a:p>
        </p:txBody>
      </p:sp>
    </p:spTree>
    <p:extLst>
      <p:ext uri="{BB962C8B-B14F-4D97-AF65-F5344CB8AC3E}">
        <p14:creationId xmlns:p14="http://schemas.microsoft.com/office/powerpoint/2010/main" val="39688316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l">
              <a:spcAft>
                <a:spcPts val="600"/>
              </a:spcAft>
            </a:pPr>
            <a:r>
              <a:rPr lang="ru-RU" b="1" i="0" dirty="0" err="1">
                <a:effectLst/>
                <a:latin typeface="YS Text"/>
              </a:rPr>
              <a:t>Gaussian</a:t>
            </a:r>
            <a:r>
              <a:rPr lang="ru-RU" b="1" i="0" dirty="0">
                <a:effectLst/>
                <a:latin typeface="YS Text"/>
              </a:rPr>
              <a:t> </a:t>
            </a:r>
            <a:r>
              <a:rPr lang="ru-RU" b="1" i="0" dirty="0" err="1">
                <a:effectLst/>
                <a:latin typeface="YS Text"/>
              </a:rPr>
              <a:t>mixture</a:t>
            </a:r>
            <a:r>
              <a:rPr lang="ru-RU" b="1" i="0" dirty="0">
                <a:effectLst/>
                <a:latin typeface="YS Text"/>
              </a:rPr>
              <a:t> </a:t>
            </a:r>
            <a:r>
              <a:rPr lang="ru-RU" b="1" i="0" dirty="0" err="1">
                <a:effectLst/>
                <a:latin typeface="YS Text"/>
              </a:rPr>
              <a:t>model</a:t>
            </a:r>
            <a:r>
              <a:rPr lang="ru-RU" b="1" i="0" dirty="0">
                <a:effectLst/>
                <a:latin typeface="YS Text"/>
              </a:rPr>
              <a:t> (GMM)</a:t>
            </a:r>
            <a:r>
              <a:rPr lang="ru-RU" b="0" i="0" dirty="0">
                <a:effectLst/>
                <a:latin typeface="YS Text"/>
              </a:rPr>
              <a:t> — это </a:t>
            </a:r>
            <a:r>
              <a:rPr lang="ru-RU" b="1" i="0" dirty="0">
                <a:effectLst/>
                <a:latin typeface="YS Text"/>
              </a:rPr>
              <a:t>метод машинного обучения, который определяет вероятность принадлежности каждой точки данных к определённому кластеру</a:t>
            </a:r>
            <a:r>
              <a:rPr lang="ru-RU" b="0" i="0" dirty="0">
                <a:effectLst/>
                <a:latin typeface="YS Text"/>
              </a:rPr>
              <a:t>. Модель используется в обучении без учителя. </a:t>
            </a:r>
          </a:p>
          <a:p>
            <a:pPr algn="l">
              <a:spcAft>
                <a:spcPts val="600"/>
              </a:spcAft>
            </a:pPr>
            <a:r>
              <a:rPr lang="ru-RU" b="0" i="0" dirty="0">
                <a:effectLst/>
                <a:latin typeface="YS Text"/>
              </a:rPr>
              <a:t>В GMM предполагается, что все точки данных генерируются из смеси конечного числа гауссовых распределений с неизвестными параметрами. </a:t>
            </a:r>
          </a:p>
          <a:p>
            <a:endParaRPr lang="ru-RU" dirty="0"/>
          </a:p>
          <a:p>
            <a:pPr algn="l">
              <a:spcAft>
                <a:spcPts val="600"/>
              </a:spcAft>
            </a:pPr>
            <a:r>
              <a:rPr lang="ru-RU" b="1" i="0" dirty="0">
                <a:effectLst/>
                <a:latin typeface="YS Text"/>
              </a:rPr>
              <a:t>EM-кластеризация</a:t>
            </a:r>
            <a:r>
              <a:rPr lang="ru-RU" b="0" i="0" dirty="0">
                <a:effectLst/>
                <a:latin typeface="YS Text"/>
              </a:rPr>
              <a:t> (</a:t>
            </a:r>
            <a:r>
              <a:rPr lang="ru-RU" b="0" i="0" dirty="0" err="1">
                <a:effectLst/>
                <a:latin typeface="YS Text"/>
              </a:rPr>
              <a:t>Expectation-maximization</a:t>
            </a:r>
            <a:r>
              <a:rPr lang="ru-RU" b="0" i="0" dirty="0">
                <a:effectLst/>
                <a:latin typeface="YS Text"/>
              </a:rPr>
              <a:t>) — </a:t>
            </a:r>
            <a:r>
              <a:rPr lang="ru-RU" b="1" i="0" dirty="0">
                <a:effectLst/>
                <a:latin typeface="YS Text"/>
              </a:rPr>
              <a:t>популярный алгоритм кластеризации, позволяющий эффективно работать с большими объёмами данных</a:t>
            </a:r>
            <a:r>
              <a:rPr lang="ru-RU" b="0" i="0" dirty="0">
                <a:effectLst/>
                <a:latin typeface="YS Text"/>
              </a:rPr>
              <a:t>.</a:t>
            </a:r>
          </a:p>
          <a:p>
            <a:pPr algn="l">
              <a:spcAft>
                <a:spcPts val="600"/>
              </a:spcAft>
            </a:pPr>
            <a:r>
              <a:rPr lang="ru-RU" b="1" i="0" dirty="0">
                <a:effectLst/>
                <a:latin typeface="YS Text"/>
              </a:rPr>
              <a:t>В основе идеи EM-алгоритма лежит предположение</a:t>
            </a:r>
            <a:r>
              <a:rPr lang="ru-RU" b="0" i="0" dirty="0">
                <a:effectLst/>
                <a:latin typeface="YS Text"/>
              </a:rPr>
              <a:t>, что любое наблюдение принадлежит ко всем кластерам, но с разной вероятностью. Поэтому на выходе формируются два дополнительных столбца: номер кластера и вероятность принадлежности. Объект должен быть отнесён к тому кластеру, для которого данная вероятность выше. </a:t>
            </a:r>
            <a:endParaRPr lang="en-US" b="0" i="0" dirty="0">
              <a:effectLst/>
              <a:latin typeface="YS Text"/>
            </a:endParaRPr>
          </a:p>
          <a:p>
            <a:pPr algn="l">
              <a:spcAft>
                <a:spcPts val="600"/>
              </a:spcAft>
            </a:pPr>
            <a:endParaRPr lang="en-US" b="0" i="0" dirty="0">
              <a:effectLst/>
              <a:latin typeface="YS Text"/>
            </a:endParaRPr>
          </a:p>
          <a:p>
            <a:pPr algn="l">
              <a:spcAft>
                <a:spcPts val="600"/>
              </a:spcAft>
            </a:pPr>
            <a:r>
              <a:rPr lang="ru-RU" b="1" i="0" dirty="0">
                <a:solidFill>
                  <a:srgbClr val="333333"/>
                </a:solidFill>
                <a:effectLst/>
                <a:latin typeface="-apple-system"/>
              </a:rPr>
              <a:t>E-шаг</a:t>
            </a:r>
            <a:r>
              <a:rPr lang="ru-RU" b="0" i="0" dirty="0">
                <a:solidFill>
                  <a:srgbClr val="333333"/>
                </a:solidFill>
                <a:effectLst/>
                <a:latin typeface="-apple-system"/>
              </a:rPr>
              <a:t>. На первом E-шаге мы каким-либо образом, например, случайным, выбираем скрытые переменные, в нашем случае это будут математическое ожидание —  и стандартное отклонение — . Используя выбранные переменные, рассчитываем вероятность отнесения каждого объекта к тому или иному кластеру. При последующих E-шагах используются скрытые переменные, определенные на M-шагах.</a:t>
            </a:r>
            <a:endParaRPr lang="en-US" b="0" i="0" dirty="0">
              <a:solidFill>
                <a:srgbClr val="333333"/>
              </a:solidFill>
              <a:effectLst/>
              <a:latin typeface="-apple-system"/>
            </a:endParaRPr>
          </a:p>
          <a:p>
            <a:pPr algn="l">
              <a:spcAft>
                <a:spcPts val="600"/>
              </a:spcAft>
            </a:pPr>
            <a:r>
              <a:rPr lang="ru-RU" b="1" i="0" dirty="0">
                <a:solidFill>
                  <a:srgbClr val="333333"/>
                </a:solidFill>
                <a:effectLst/>
                <a:latin typeface="-apple-system"/>
              </a:rPr>
              <a:t>M-шаг</a:t>
            </a:r>
            <a:r>
              <a:rPr lang="ru-RU" b="0" i="0" dirty="0">
                <a:solidFill>
                  <a:srgbClr val="333333"/>
                </a:solidFill>
                <a:effectLst/>
                <a:latin typeface="-apple-system"/>
              </a:rPr>
              <a:t>. На M-шаге мы, в соответствии с полученными на E-шаге значениями вероятностей отнесения каждого объекта к тому или иному кластеру, пересчитываем скрытые переменные </a:t>
            </a:r>
            <a:endParaRPr lang="en-US" b="0" i="0" dirty="0">
              <a:effectLst/>
              <a:latin typeface="YS Text"/>
            </a:endParaRPr>
          </a:p>
          <a:p>
            <a:pPr algn="l">
              <a:spcAft>
                <a:spcPts val="600"/>
              </a:spcAft>
            </a:pPr>
            <a:endParaRPr lang="ru-RU" b="0" i="0" dirty="0">
              <a:effectLst/>
              <a:latin typeface="YS Text"/>
            </a:endParaRPr>
          </a:p>
          <a:p>
            <a:pPr algn="l">
              <a:spcAft>
                <a:spcPts val="600"/>
              </a:spcAft>
            </a:pPr>
            <a:r>
              <a:rPr lang="ru-RU" b="1" i="0" dirty="0">
                <a:effectLst/>
                <a:latin typeface="YS Text"/>
              </a:rPr>
              <a:t>EM-алгоритм основан на предположении</a:t>
            </a:r>
            <a:r>
              <a:rPr lang="ru-RU" b="0" i="0" dirty="0">
                <a:effectLst/>
                <a:latin typeface="YS Text"/>
              </a:rPr>
              <a:t>, что </a:t>
            </a:r>
            <a:r>
              <a:rPr lang="ru-RU" b="0" i="0" dirty="0" err="1">
                <a:effectLst/>
                <a:latin typeface="YS Text"/>
              </a:rPr>
              <a:t>кластеризуемые</a:t>
            </a:r>
            <a:r>
              <a:rPr lang="ru-RU" b="0" i="0" dirty="0">
                <a:effectLst/>
                <a:latin typeface="YS Text"/>
              </a:rPr>
              <a:t> данные подчиняются линейной комбинации (смеси) нормальных (гауссовых) распределений. Его целью является определение и оценка параметров распределения — математическое ожидание и дисперсию, которые максимизируют функцию правдоподобия, используемую как меру качества модели. </a:t>
            </a:r>
          </a:p>
          <a:p>
            <a:pPr algn="l">
              <a:spcAft>
                <a:spcPts val="600"/>
              </a:spcAft>
            </a:pPr>
            <a:r>
              <a:rPr lang="ru-RU" b="1" i="0" dirty="0">
                <a:effectLst/>
                <a:latin typeface="YS Text"/>
              </a:rPr>
              <a:t>Среди преимуществ EM-алгоритма можно выделить следующие</a:t>
            </a:r>
            <a:r>
              <a:rPr lang="ru-RU" b="0" i="0" dirty="0">
                <a:effectLst/>
                <a:latin typeface="YS Text"/>
              </a:rPr>
              <a:t>:</a:t>
            </a:r>
          </a:p>
          <a:p>
            <a:pPr algn="l">
              <a:spcBef>
                <a:spcPts val="600"/>
              </a:spcBef>
              <a:spcAft>
                <a:spcPts val="600"/>
              </a:spcAft>
              <a:buFont typeface="Arial" panose="020B0604020202020204" pitchFamily="34" charset="0"/>
              <a:buChar char="•"/>
            </a:pPr>
            <a:r>
              <a:rPr lang="ru-RU" b="0" i="0" dirty="0">
                <a:effectLst/>
                <a:latin typeface="YS Text"/>
              </a:rPr>
              <a:t>эффективная обработка больших объёмов данных (Big Data); </a:t>
            </a:r>
          </a:p>
          <a:p>
            <a:pPr algn="l">
              <a:spcAft>
                <a:spcPts val="600"/>
              </a:spcAft>
              <a:buFont typeface="Arial" panose="020B0604020202020204" pitchFamily="34" charset="0"/>
              <a:buChar char="•"/>
            </a:pPr>
            <a:r>
              <a:rPr lang="ru-RU" b="0" i="0" dirty="0">
                <a:effectLst/>
                <a:latin typeface="YS Text"/>
              </a:rPr>
              <a:t>устойчивость к шумам и пропускам в данных; </a:t>
            </a:r>
          </a:p>
          <a:p>
            <a:pPr algn="l">
              <a:spcAft>
                <a:spcPts val="600"/>
              </a:spcAft>
              <a:buFont typeface="Arial" panose="020B0604020202020204" pitchFamily="34" charset="0"/>
              <a:buChar char="•"/>
            </a:pPr>
            <a:r>
              <a:rPr lang="ru-RU" b="0" i="0" dirty="0">
                <a:effectLst/>
                <a:latin typeface="YS Text"/>
              </a:rPr>
              <a:t>возможность построения желаемого числа кластеров; </a:t>
            </a:r>
          </a:p>
          <a:p>
            <a:pPr algn="l">
              <a:spcAft>
                <a:spcPts val="600"/>
              </a:spcAft>
              <a:buFont typeface="Arial" panose="020B0604020202020204" pitchFamily="34" charset="0"/>
              <a:buChar char="•"/>
            </a:pPr>
            <a:r>
              <a:rPr lang="ru-RU" b="0" i="0" dirty="0">
                <a:effectLst/>
                <a:latin typeface="YS Text"/>
              </a:rPr>
              <a:t>быстрая сходимость при удачной инициализации. </a:t>
            </a:r>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33</a:t>
            </a:fld>
            <a:endParaRPr lang="ru-RU"/>
          </a:p>
        </p:txBody>
      </p:sp>
    </p:spTree>
    <p:extLst>
      <p:ext uri="{BB962C8B-B14F-4D97-AF65-F5344CB8AC3E}">
        <p14:creationId xmlns:p14="http://schemas.microsoft.com/office/powerpoint/2010/main" val="37427218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Еще одной важной задачей обучения без учителя является обнаружение аномалий - например, выявление необычных транзакций на кредитных картах в целях предотвращения мошенничества, отлавливание производственных дефектов или автоматическое удаление выбросов из набора данных перед его передачей другому алгоритму обучения. Система обучалась на нормальных образцах, и когда она видит новый образец, то может сообщить, выглядит он как нормальный или вероятно представляет собой аномалию. </a:t>
            </a:r>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35</a:t>
            </a:fld>
            <a:endParaRPr lang="ru-RU"/>
          </a:p>
        </p:txBody>
      </p:sp>
    </p:spTree>
    <p:extLst>
      <p:ext uri="{BB962C8B-B14F-4D97-AF65-F5344CB8AC3E}">
        <p14:creationId xmlns:p14="http://schemas.microsoft.com/office/powerpoint/2010/main" val="36668721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l">
              <a:spcAft>
                <a:spcPts val="600"/>
              </a:spcAft>
            </a:pPr>
            <a:r>
              <a:rPr lang="ru-RU" b="1" i="0" dirty="0" err="1">
                <a:solidFill>
                  <a:srgbClr val="333333"/>
                </a:solidFill>
                <a:effectLst/>
                <a:latin typeface="YS Text"/>
              </a:rPr>
              <a:t>MeanShift</a:t>
            </a:r>
            <a:r>
              <a:rPr lang="ru-RU" b="0" i="0" dirty="0">
                <a:solidFill>
                  <a:srgbClr val="333333"/>
                </a:solidFill>
                <a:effectLst/>
                <a:latin typeface="YS Text"/>
              </a:rPr>
              <a:t> — это непараметрический алгоритм трекинга объектов, который использует цветовую гистограмму. Он работает, находя </a:t>
            </a:r>
            <a:r>
              <a:rPr lang="ru-RU" b="0" i="0" dirty="0" err="1">
                <a:solidFill>
                  <a:srgbClr val="333333"/>
                </a:solidFill>
                <a:effectLst/>
                <a:latin typeface="YS Text"/>
              </a:rPr>
              <a:t>центроид</a:t>
            </a:r>
            <a:r>
              <a:rPr lang="ru-RU" b="0" i="0" dirty="0">
                <a:solidFill>
                  <a:srgbClr val="333333"/>
                </a:solidFill>
                <a:effectLst/>
                <a:latin typeface="YS Text"/>
              </a:rPr>
              <a:t> объекта в текущей кадру, а затем смещая окно вокруг этого </a:t>
            </a:r>
            <a:r>
              <a:rPr lang="ru-RU" b="0" i="0" dirty="0" err="1">
                <a:solidFill>
                  <a:srgbClr val="333333"/>
                </a:solidFill>
                <a:effectLst/>
                <a:latin typeface="YS Text"/>
              </a:rPr>
              <a:t>центроида</a:t>
            </a:r>
            <a:r>
              <a:rPr lang="ru-RU" b="0" i="0" dirty="0">
                <a:solidFill>
                  <a:srgbClr val="333333"/>
                </a:solidFill>
                <a:effectLst/>
                <a:latin typeface="YS Text"/>
              </a:rPr>
              <a:t> в следующей кадру, чтобы найти новое положение объекта. </a:t>
            </a:r>
          </a:p>
          <a:p>
            <a:pPr algn="l">
              <a:spcAft>
                <a:spcPts val="600"/>
              </a:spcAft>
            </a:pPr>
            <a:r>
              <a:rPr lang="ru-RU" b="1" i="0" dirty="0">
                <a:solidFill>
                  <a:srgbClr val="333333"/>
                </a:solidFill>
                <a:effectLst/>
                <a:latin typeface="YS Text"/>
              </a:rPr>
              <a:t>Для трекинга объектов с помощью алгоритма </a:t>
            </a:r>
            <a:r>
              <a:rPr lang="ru-RU" b="1" i="0" dirty="0" err="1">
                <a:solidFill>
                  <a:srgbClr val="333333"/>
                </a:solidFill>
                <a:effectLst/>
                <a:latin typeface="YS Text"/>
              </a:rPr>
              <a:t>MeanShift</a:t>
            </a:r>
            <a:r>
              <a:rPr lang="ru-RU" b="1" i="0" dirty="0">
                <a:solidFill>
                  <a:srgbClr val="333333"/>
                </a:solidFill>
                <a:effectLst/>
                <a:latin typeface="YS Text"/>
              </a:rPr>
              <a:t> необходимо выполнить следующие шаги</a:t>
            </a:r>
            <a:r>
              <a:rPr lang="ru-RU" b="0" i="0" dirty="0">
                <a:solidFill>
                  <a:srgbClr val="333333"/>
                </a:solidFill>
                <a:effectLst/>
                <a:latin typeface="YS Text"/>
              </a:rPr>
              <a:t>: </a:t>
            </a:r>
          </a:p>
          <a:p>
            <a:pPr algn="l">
              <a:spcBef>
                <a:spcPts val="600"/>
              </a:spcBef>
              <a:spcAft>
                <a:spcPts val="600"/>
              </a:spcAft>
              <a:buFont typeface="+mj-lt"/>
              <a:buAutoNum type="arabicPeriod"/>
            </a:pPr>
            <a:r>
              <a:rPr lang="ru-RU" b="0" i="0" dirty="0">
                <a:solidFill>
                  <a:srgbClr val="333333"/>
                </a:solidFill>
                <a:effectLst/>
                <a:latin typeface="YS Text"/>
              </a:rPr>
              <a:t>Инициализировать расположение объекта в первой кадру. </a:t>
            </a:r>
          </a:p>
          <a:p>
            <a:pPr algn="l">
              <a:spcAft>
                <a:spcPts val="600"/>
              </a:spcAft>
              <a:buFont typeface="+mj-lt"/>
              <a:buAutoNum type="arabicPeriod"/>
            </a:pPr>
            <a:r>
              <a:rPr lang="ru-RU" b="0" i="0" dirty="0">
                <a:solidFill>
                  <a:srgbClr val="333333"/>
                </a:solidFill>
                <a:effectLst/>
                <a:latin typeface="YS Text"/>
              </a:rPr>
              <a:t>Вычислить цветовую гистограмму объекта в первой кадру.</a:t>
            </a:r>
          </a:p>
          <a:p>
            <a:pPr algn="l">
              <a:spcAft>
                <a:spcPts val="600"/>
              </a:spcAft>
              <a:buFont typeface="+mj-lt"/>
              <a:buAutoNum type="arabicPeriod"/>
            </a:pPr>
            <a:r>
              <a:rPr lang="ru-RU" b="0" i="0" dirty="0">
                <a:solidFill>
                  <a:srgbClr val="333333"/>
                </a:solidFill>
                <a:effectLst/>
                <a:latin typeface="YS Text"/>
              </a:rPr>
              <a:t>В каждой последующей кадру вычислить цветовую гистограмму области объекта. </a:t>
            </a:r>
          </a:p>
          <a:p>
            <a:pPr algn="l">
              <a:spcAft>
                <a:spcPts val="600"/>
              </a:spcAft>
              <a:buFont typeface="+mj-lt"/>
              <a:buAutoNum type="arabicPeriod"/>
            </a:pPr>
            <a:r>
              <a:rPr lang="ru-RU" b="0" i="0" dirty="0">
                <a:solidFill>
                  <a:srgbClr val="333333"/>
                </a:solidFill>
                <a:effectLst/>
                <a:latin typeface="YS Text"/>
              </a:rPr>
              <a:t>Вычислить расстояние </a:t>
            </a:r>
            <a:r>
              <a:rPr lang="ru-RU" b="0" i="0" dirty="0" err="1">
                <a:solidFill>
                  <a:srgbClr val="333333"/>
                </a:solidFill>
                <a:effectLst/>
                <a:latin typeface="YS Text"/>
              </a:rPr>
              <a:t>Бхаттачарьи</a:t>
            </a:r>
            <a:r>
              <a:rPr lang="ru-RU" b="0" i="0" dirty="0">
                <a:solidFill>
                  <a:srgbClr val="333333"/>
                </a:solidFill>
                <a:effectLst/>
                <a:latin typeface="YS Text"/>
              </a:rPr>
              <a:t> между гистограммой объекта в предыдущей кадру и текущей кадру. </a:t>
            </a:r>
          </a:p>
          <a:p>
            <a:pPr algn="l">
              <a:spcAft>
                <a:spcPts val="600"/>
              </a:spcAft>
              <a:buFont typeface="+mj-lt"/>
              <a:buAutoNum type="arabicPeriod"/>
            </a:pPr>
            <a:r>
              <a:rPr lang="ru-RU" b="0" i="0" dirty="0">
                <a:solidFill>
                  <a:srgbClr val="333333"/>
                </a:solidFill>
                <a:effectLst/>
                <a:latin typeface="YS Text"/>
              </a:rPr>
              <a:t>Обновить расположение объекта на основе максимальной вероятности гистограммы</a:t>
            </a:r>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36</a:t>
            </a:fld>
            <a:endParaRPr lang="ru-RU"/>
          </a:p>
        </p:txBody>
      </p:sp>
    </p:spTree>
    <p:extLst>
      <p:ext uri="{BB962C8B-B14F-4D97-AF65-F5344CB8AC3E}">
        <p14:creationId xmlns:p14="http://schemas.microsoft.com/office/powerpoint/2010/main" val="25381000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lgn="just">
              <a:buNone/>
            </a:pPr>
            <a:r>
              <a:rPr lang="ru-RU" b="0" i="0" dirty="0">
                <a:effectLst/>
                <a:latin typeface="system-ui"/>
              </a:rPr>
              <a:t>Снижение размерности подразумевает уменьшение количества признаков с небольшой потерей способности наших данных генерировать высококачественные предсказания. Рассмотрим ряд методов выделения признаков, которые уменьшают количество признаков. Одним из недостатков методов выделения признаков, является то, что новые признаки, которые мы генерируем, не поддаются интерпретированию людьми. Они будут содержать столько же или почти столько же возможностей для тренировки наших моделей, но для человеческого глаза будут выглядеть как набор случайных чисел. </a:t>
            </a:r>
          </a:p>
          <a:p>
            <a:pPr marL="0" indent="0" algn="just">
              <a:buNone/>
            </a:pPr>
            <a:r>
              <a:rPr lang="ru-RU" b="0" i="0" dirty="0">
                <a:effectLst/>
                <a:latin typeface="system-ui"/>
              </a:rPr>
              <a:t>Если мы хотим сохранить нашу способность интерпретировать наши модели, то лучше применить другой метод снижения размерности — уменьшение размерности посредством отбора признаков.</a:t>
            </a:r>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38</a:t>
            </a:fld>
            <a:endParaRPr lang="ru-RU"/>
          </a:p>
        </p:txBody>
      </p:sp>
    </p:spTree>
    <p:extLst>
      <p:ext uri="{BB962C8B-B14F-4D97-AF65-F5344CB8AC3E}">
        <p14:creationId xmlns:p14="http://schemas.microsoft.com/office/powerpoint/2010/main" val="17189224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32FC8-4F17-B177-56A6-F8DCC24385B3}"/>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FA5A4B57-40D8-39A1-9BF5-9B74D8BA057F}"/>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21B5B5F9-B5B1-256E-32E6-82B6731F2634}"/>
              </a:ext>
            </a:extLst>
          </p:cNvPr>
          <p:cNvSpPr>
            <a:spLocks noGrp="1"/>
          </p:cNvSpPr>
          <p:nvPr>
            <p:ph type="body" idx="1"/>
          </p:nvPr>
        </p:nvSpPr>
        <p:spPr/>
        <p:txBody>
          <a:bodyPr/>
          <a:lstStyle/>
          <a:p>
            <a:pPr algn="just"/>
            <a:r>
              <a:rPr lang="ru-RU" sz="1200" dirty="0"/>
              <a:t>Подход на основе снижения размерности без учителя широко используется во время предобработки признаков с целью удаления из данных шума, который тоже может ухудшить предсказательную способность некоторых алгоритмов,</a:t>
            </a:r>
          </a:p>
          <a:p>
            <a:pPr algn="just"/>
            <a:r>
              <a:rPr lang="ru-RU" sz="1200" dirty="0"/>
              <a:t>Для сжатия данных в подпространство меньшей размерности при сохранении большей части релевантной информации.</a:t>
            </a:r>
          </a:p>
          <a:p>
            <a:pPr algn="just"/>
            <a:r>
              <a:rPr lang="ru-RU" sz="1200" dirty="0"/>
              <a:t>Снижение размерности может быть полезно для визуализации данных - например, </a:t>
            </a:r>
            <a:r>
              <a:rPr lang="ru-RU" sz="1200" dirty="0" err="1"/>
              <a:t>высокоразмерный</a:t>
            </a:r>
            <a:r>
              <a:rPr lang="ru-RU" sz="1200" dirty="0"/>
              <a:t> набор признаков может быть спроецирован на одно - , двух- или трехмерные пространства признаков с целью их визуализации при помощи трех - или двухмерных точечных графиков или гистограмм. Входные признаки преобразуются в небольшое количество координат с сохранением существующей информации об объектах. </a:t>
            </a:r>
          </a:p>
          <a:p>
            <a:pPr marL="0" indent="0" algn="just">
              <a:buNone/>
            </a:pPr>
            <a:r>
              <a:rPr lang="ru-RU" sz="1200" dirty="0"/>
              <a:t>В группу методов сокращения размерности попадают: метод главных компонент, многомерное шкалирование, моделирование многообразий.</a:t>
            </a:r>
          </a:p>
          <a:p>
            <a:endParaRPr lang="ru-RU" dirty="0"/>
          </a:p>
        </p:txBody>
      </p:sp>
      <p:sp>
        <p:nvSpPr>
          <p:cNvPr id="4" name="Номер слайда 3">
            <a:extLst>
              <a:ext uri="{FF2B5EF4-FFF2-40B4-BE49-F238E27FC236}">
                <a16:creationId xmlns:a16="http://schemas.microsoft.com/office/drawing/2014/main" id="{6FEB6F2F-B20B-AB7F-15BB-6C4FA6E1E863}"/>
              </a:ext>
            </a:extLst>
          </p:cNvPr>
          <p:cNvSpPr>
            <a:spLocks noGrp="1"/>
          </p:cNvSpPr>
          <p:nvPr>
            <p:ph type="sldNum" sz="quarter" idx="5"/>
          </p:nvPr>
        </p:nvSpPr>
        <p:spPr/>
        <p:txBody>
          <a:bodyPr/>
          <a:lstStyle/>
          <a:p>
            <a:fld id="{DECB8B1E-725D-4009-AE77-F13A2082C589}" type="slidenum">
              <a:rPr lang="ru-RU" smtClean="0"/>
              <a:t>39</a:t>
            </a:fld>
            <a:endParaRPr lang="ru-RU"/>
          </a:p>
        </p:txBody>
      </p:sp>
    </p:spTree>
    <p:extLst>
      <p:ext uri="{BB962C8B-B14F-4D97-AF65-F5344CB8AC3E}">
        <p14:creationId xmlns:p14="http://schemas.microsoft.com/office/powerpoint/2010/main" val="19323592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i="0" dirty="0">
                <a:effectLst/>
                <a:latin typeface="system-ui"/>
              </a:rPr>
              <a:t>Алгоритмы визуализации тоже являются хорошими примерами алгоритмов обучения без учителя: вы обеспечиваете их большим объемом сложных и непомеченных данных, а они выводят двухмерное или трехмерное представление данных, которое легко вычерчивать. Такие алгоритмы стараются сохранить столько структуры, сколько могут (например, пытаются не допустить наложения при визуализации отдельных кластеров во входном пространстве), поэтому вы можете понять, как данные организованы, и возможно идентифицировать непредвиденные паттерны.</a:t>
            </a:r>
            <a:endParaRPr lang="ru-RU" sz="1400" dirty="0"/>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40</a:t>
            </a:fld>
            <a:endParaRPr lang="ru-RU"/>
          </a:p>
        </p:txBody>
      </p:sp>
    </p:spTree>
    <p:extLst>
      <p:ext uri="{BB962C8B-B14F-4D97-AF65-F5344CB8AC3E}">
        <p14:creationId xmlns:p14="http://schemas.microsoft.com/office/powerpoint/2010/main" val="28511393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41</a:t>
            </a:fld>
            <a:endParaRPr lang="ru-RU"/>
          </a:p>
        </p:txBody>
      </p:sp>
    </p:spTree>
    <p:extLst>
      <p:ext uri="{BB962C8B-B14F-4D97-AF65-F5344CB8AC3E}">
        <p14:creationId xmlns:p14="http://schemas.microsoft.com/office/powerpoint/2010/main" val="42187708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lgn="just">
              <a:buNone/>
            </a:pPr>
            <a:r>
              <a:rPr lang="ru-RU" b="0" i="0" dirty="0">
                <a:effectLst/>
                <a:latin typeface="system-ui"/>
              </a:rPr>
              <a:t>Анализ главных компонент ( РСА, </a:t>
            </a:r>
            <a:r>
              <a:rPr lang="ru-RU" b="0" i="0" dirty="0" err="1">
                <a:effectLst/>
                <a:latin typeface="system-ui"/>
              </a:rPr>
              <a:t>principal</a:t>
            </a:r>
            <a:r>
              <a:rPr lang="ru-RU" b="0" i="0" dirty="0">
                <a:effectLst/>
                <a:latin typeface="system-ui"/>
              </a:rPr>
              <a:t> </a:t>
            </a:r>
            <a:r>
              <a:rPr lang="ru-RU" b="0" i="0" dirty="0" err="1">
                <a:effectLst/>
                <a:latin typeface="system-ui"/>
              </a:rPr>
              <a:t>component</a:t>
            </a:r>
            <a:r>
              <a:rPr lang="ru-RU" b="0" i="0" dirty="0">
                <a:effectLst/>
                <a:latin typeface="system-ui"/>
              </a:rPr>
              <a:t> </a:t>
            </a:r>
            <a:r>
              <a:rPr lang="ru-RU" b="0" i="0" dirty="0" err="1">
                <a:effectLst/>
                <a:latin typeface="system-ui"/>
              </a:rPr>
              <a:t>analysis</a:t>
            </a:r>
            <a:r>
              <a:rPr lang="ru-RU" b="0" i="0" dirty="0">
                <a:effectLst/>
                <a:latin typeface="system-ui"/>
              </a:rPr>
              <a:t>) — это популярный метод уменьшения линейной размерности. Метод РСА проецирует наблюдения на главные компоненты матрицы признаков, которые сохраняют наибольшую дисперсию. РСА является неконтролируемым методом (без учителя), т. е. он не использует информацию из вектора целей и вместо этого рассматривает только матрицу признаков.</a:t>
            </a:r>
          </a:p>
          <a:p>
            <a:endParaRPr lang="ru-RU" dirty="0"/>
          </a:p>
          <a:p>
            <a:pPr marL="0" marR="0" lvl="0" indent="0" algn="l" defTabSz="914400" rtl="0" eaLnBrk="1" fontAlgn="auto" latinLnBrk="0" hangingPunct="1">
              <a:lnSpc>
                <a:spcPct val="100000"/>
              </a:lnSpc>
              <a:spcBef>
                <a:spcPts val="0"/>
              </a:spcBef>
              <a:spcAft>
                <a:spcPts val="0"/>
              </a:spcAft>
              <a:buClrTx/>
              <a:buSzTx/>
              <a:buFontTx/>
              <a:buNone/>
              <a:tabLst/>
              <a:defRPr/>
            </a:pPr>
            <a:r>
              <a:rPr lang="ru-RU" b="0" i="0" dirty="0">
                <a:effectLst/>
                <a:latin typeface="system-ui"/>
              </a:rPr>
              <a:t>Анализ главных компонент реализуется в библиотеке </a:t>
            </a:r>
            <a:r>
              <a:rPr lang="ru-RU" b="0" i="0" dirty="0" err="1">
                <a:effectLst/>
                <a:latin typeface="system-ui"/>
              </a:rPr>
              <a:t>scikit-leam</a:t>
            </a:r>
            <a:r>
              <a:rPr lang="ru-RU" b="0" i="0" dirty="0">
                <a:effectLst/>
                <a:latin typeface="system-ui"/>
              </a:rPr>
              <a:t> с использованием класса </a:t>
            </a:r>
            <a:r>
              <a:rPr lang="ru-RU" b="0" i="0" dirty="0" err="1">
                <a:effectLst/>
                <a:latin typeface="system-ui"/>
              </a:rPr>
              <a:t>рса</a:t>
            </a:r>
            <a:r>
              <a:rPr lang="ru-RU" b="0" i="0" dirty="0">
                <a:effectLst/>
                <a:latin typeface="system-ui"/>
              </a:rPr>
              <a:t>. У аргумента </a:t>
            </a:r>
            <a:r>
              <a:rPr lang="ru-RU" b="0" i="0" dirty="0" err="1">
                <a:effectLst/>
                <a:latin typeface="system-ui"/>
              </a:rPr>
              <a:t>n_components</a:t>
            </a:r>
            <a:r>
              <a:rPr lang="ru-RU" b="0" i="0" dirty="0">
                <a:effectLst/>
                <a:latin typeface="system-ui"/>
              </a:rPr>
              <a:t> есть две операции в зависимости от заданного значения. Если значение этого аргумента больше 1, то n </a:t>
            </a:r>
            <a:r>
              <a:rPr lang="ru-RU" b="0" i="0" dirty="0" err="1">
                <a:effectLst/>
                <a:latin typeface="system-ui"/>
              </a:rPr>
              <a:t>components</a:t>
            </a:r>
            <a:r>
              <a:rPr lang="ru-RU" b="0" i="0" dirty="0">
                <a:effectLst/>
                <a:latin typeface="system-ui"/>
              </a:rPr>
              <a:t> вернет указанное количество признаков. Это приводит к вопросу выбора оптимального количества признаков. Если значение аргумента n </a:t>
            </a:r>
            <a:r>
              <a:rPr lang="ru-RU" b="0" i="0" dirty="0" err="1">
                <a:effectLst/>
                <a:latin typeface="system-ui"/>
              </a:rPr>
              <a:t>components</a:t>
            </a:r>
            <a:r>
              <a:rPr lang="ru-RU" b="0" i="0" dirty="0">
                <a:effectLst/>
                <a:latin typeface="system-ui"/>
              </a:rPr>
              <a:t> находится между 0 и 1, то объект, созданный на основе класса </a:t>
            </a:r>
            <a:r>
              <a:rPr lang="ru-RU" b="0" i="0" dirty="0" err="1">
                <a:effectLst/>
                <a:latin typeface="system-ui"/>
              </a:rPr>
              <a:t>рса</a:t>
            </a:r>
            <a:r>
              <a:rPr lang="ru-RU" b="0" i="0" dirty="0">
                <a:effectLst/>
                <a:latin typeface="system-ui"/>
              </a:rPr>
              <a:t>, возвращает минимальное количество признаков, которые сохраняют указанную дисперсию. Обычно используются значения 0.95 и 0.99, т. е. 95 и 99% дисперсии исходных признаков будут сохранены в результате сокращения размерности. Аргумент </a:t>
            </a:r>
            <a:r>
              <a:rPr lang="ru-RU" b="0" i="0" dirty="0" err="1">
                <a:effectLst/>
                <a:latin typeface="system-ui"/>
              </a:rPr>
              <a:t>whiten</a:t>
            </a:r>
            <a:r>
              <a:rPr lang="ru-RU" b="0" i="0" dirty="0">
                <a:effectLst/>
                <a:latin typeface="system-ui"/>
              </a:rPr>
              <a:t>=True преобразует значения каждой главной компоненты таким образом, чтобы они имели нулевое среднее и единичную дисперсию. Еще одним аргументом является </a:t>
            </a:r>
            <a:r>
              <a:rPr lang="ru-RU" b="0" i="0" dirty="0" err="1">
                <a:effectLst/>
                <a:latin typeface="system-ui"/>
              </a:rPr>
              <a:t>svd_solver</a:t>
            </a:r>
            <a:r>
              <a:rPr lang="ru-RU" b="0" i="0" dirty="0">
                <a:effectLst/>
                <a:latin typeface="system-ui"/>
              </a:rPr>
              <a:t>="</a:t>
            </a:r>
            <a:r>
              <a:rPr lang="ru-RU" b="0" i="0" dirty="0" err="1">
                <a:effectLst/>
                <a:latin typeface="system-ui"/>
              </a:rPr>
              <a:t>randomized</a:t>
            </a:r>
            <a:r>
              <a:rPr lang="ru-RU" b="0" i="0" dirty="0">
                <a:effectLst/>
                <a:latin typeface="system-ui"/>
              </a:rPr>
              <a:t>", который реализует стохастический алгоритм нахождения первых главных компонент, который, как правило, занимает значительно меньше времени.</a:t>
            </a:r>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42</a:t>
            </a:fld>
            <a:endParaRPr lang="ru-RU"/>
          </a:p>
        </p:txBody>
      </p:sp>
    </p:spTree>
    <p:extLst>
      <p:ext uri="{BB962C8B-B14F-4D97-AF65-F5344CB8AC3E}">
        <p14:creationId xmlns:p14="http://schemas.microsoft.com/office/powerpoint/2010/main" val="315517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Метод анализа главных компонент (РСА) способен уменьшить размерность нашей матрицы признаков (например, количество признаков). В стандартном методе РСА для уменьшения количества признаков используется линейная проекция. Если данные линейно разделимы (т. е. вы можете прочертить прямую или гиперплоскость между разными классами), то РСА работает хорошо. Однако, если данные не являются линейно разделимыми (например, вы можете разделить классы только с помощью изогнутого контура), линейное преобразование работать не будет. В нашем решении для генерирования симулированного набора данных с вектором целей из двух классов и двумя признаками мы использовали функцию </a:t>
            </a:r>
            <a:r>
              <a:rPr lang="ru-RU" b="1" dirty="0" err="1"/>
              <a:t>make_circies</a:t>
            </a:r>
            <a:r>
              <a:rPr lang="ru-RU" b="1" dirty="0"/>
              <a:t>()</a:t>
            </a:r>
            <a:r>
              <a:rPr lang="ru-RU" dirty="0"/>
              <a:t> библиотеки </a:t>
            </a:r>
            <a:r>
              <a:rPr lang="ru-RU" dirty="0" err="1"/>
              <a:t>scikit-leam</a:t>
            </a:r>
            <a:r>
              <a:rPr lang="ru-RU" dirty="0"/>
              <a:t>. Функция </a:t>
            </a:r>
            <a:r>
              <a:rPr lang="ru-RU" b="1" dirty="0" err="1"/>
              <a:t>make_circies</a:t>
            </a:r>
            <a:r>
              <a:rPr lang="ru-RU" b="1" dirty="0"/>
              <a:t>()</a:t>
            </a:r>
            <a:r>
              <a:rPr lang="ru-RU" dirty="0"/>
              <a:t> создает линейно неразделимые данные, например, когда элементы одного класса со всех сторон окружают элементы другого класса. Ядерный РСА способен выполнять преобразование, которое сокращало бы размерности, а также делало бы данные линейно разделимыми. Ядра позволяют проецировать линейно неразделимые данные в более высокую размерность, где они линейно разделимы; этот подход называется ядерным трюком.</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dirty="0"/>
          </a:p>
          <a:p>
            <a:pPr marL="0" marR="0" lvl="0" indent="0" algn="l" defTabSz="914400" rtl="0" eaLnBrk="1" fontAlgn="auto" latinLnBrk="0" hangingPunct="1">
              <a:lnSpc>
                <a:spcPct val="100000"/>
              </a:lnSpc>
              <a:spcBef>
                <a:spcPts val="0"/>
              </a:spcBef>
              <a:spcAft>
                <a:spcPts val="0"/>
              </a:spcAft>
              <a:buClrTx/>
              <a:buSzTx/>
              <a:buFontTx/>
              <a:buNone/>
              <a:tabLst/>
              <a:defRPr/>
            </a:pPr>
            <a:r>
              <a:rPr lang="ru-RU" b="0" i="0" dirty="0">
                <a:effectLst/>
                <a:latin typeface="system-ui"/>
              </a:rPr>
              <a:t>В объекте, созданном из класса </a:t>
            </a:r>
            <a:r>
              <a:rPr lang="ru-RU" b="0" i="0" dirty="0" err="1">
                <a:effectLst/>
                <a:latin typeface="system-ui"/>
              </a:rPr>
              <a:t>KernelPCA</a:t>
            </a:r>
            <a:r>
              <a:rPr lang="ru-RU" b="0" i="0" dirty="0">
                <a:effectLst/>
                <a:latin typeface="system-ui"/>
              </a:rPr>
              <a:t> библиотеки </a:t>
            </a:r>
            <a:r>
              <a:rPr lang="ru-RU" b="0" i="0" dirty="0" err="1">
                <a:effectLst/>
                <a:latin typeface="system-ui"/>
              </a:rPr>
              <a:t>scikit-learn</a:t>
            </a:r>
            <a:r>
              <a:rPr lang="ru-RU" b="0" i="0" dirty="0">
                <a:effectLst/>
                <a:latin typeface="system-ui"/>
              </a:rPr>
              <a:t> можно использовать несколько ядер, задаваемых с помощью параметра </a:t>
            </a:r>
            <a:r>
              <a:rPr lang="ru-RU" b="0" i="0" dirty="0" err="1">
                <a:effectLst/>
                <a:latin typeface="system-ui"/>
              </a:rPr>
              <a:t>kernel</a:t>
            </a:r>
            <a:r>
              <a:rPr lang="ru-RU" b="0" i="0" dirty="0">
                <a:effectLst/>
                <a:latin typeface="system-ui"/>
              </a:rPr>
              <a:t>. Широко используемым ядром является гауссово радиально-базисное функциональное ядро </a:t>
            </a:r>
            <a:r>
              <a:rPr lang="ru-RU" b="0" i="0" dirty="0" err="1">
                <a:effectLst/>
                <a:latin typeface="system-ui"/>
              </a:rPr>
              <a:t>rbf</a:t>
            </a:r>
            <a:r>
              <a:rPr lang="ru-RU" b="0" i="0" dirty="0">
                <a:effectLst/>
                <a:latin typeface="system-ui"/>
              </a:rPr>
              <a:t>, но есть и другие варианты — полиномиальное ядро (</a:t>
            </a:r>
            <a:r>
              <a:rPr lang="ru-RU" b="0" i="0" dirty="0" err="1">
                <a:effectLst/>
                <a:latin typeface="system-ui"/>
              </a:rPr>
              <a:t>poly</a:t>
            </a:r>
            <a:r>
              <a:rPr lang="ru-RU" b="0" i="0" dirty="0">
                <a:effectLst/>
                <a:latin typeface="system-ui"/>
              </a:rPr>
              <a:t>) и </a:t>
            </a:r>
            <a:r>
              <a:rPr lang="ru-RU" b="0" i="0" dirty="0" err="1">
                <a:effectLst/>
                <a:latin typeface="system-ui"/>
              </a:rPr>
              <a:t>сигмоидное</a:t>
            </a:r>
            <a:r>
              <a:rPr lang="ru-RU" b="0" i="0" dirty="0">
                <a:effectLst/>
                <a:latin typeface="system-ui"/>
              </a:rPr>
              <a:t> ядро (</a:t>
            </a:r>
            <a:r>
              <a:rPr lang="ru-RU" b="0" i="0" dirty="0" err="1">
                <a:effectLst/>
                <a:latin typeface="system-ui"/>
              </a:rPr>
              <a:t>sigmoid</a:t>
            </a:r>
            <a:r>
              <a:rPr lang="ru-RU" b="0" i="0" dirty="0">
                <a:effectLst/>
                <a:latin typeface="system-ui"/>
              </a:rPr>
              <a:t>). Может быть применена и линейная проекция (</a:t>
            </a:r>
            <a:r>
              <a:rPr lang="ru-RU" b="0" i="0" dirty="0" err="1">
                <a:effectLst/>
                <a:latin typeface="system-ui"/>
              </a:rPr>
              <a:t>linear</a:t>
            </a:r>
            <a:r>
              <a:rPr lang="ru-RU" b="0" i="0" dirty="0">
                <a:effectLst/>
                <a:latin typeface="system-ui"/>
              </a:rPr>
              <a:t>), которая даст те же результаты, что и стандартный метод РСА. Одним из недостатков ядерного метода РСА является то, что мы должны указать ряд параметров. Например, в стандартном методе РСА мы задаем </a:t>
            </a:r>
            <a:r>
              <a:rPr lang="ru-RU" b="0" i="0" dirty="0" err="1">
                <a:effectLst/>
                <a:latin typeface="system-ui"/>
              </a:rPr>
              <a:t>n_components</a:t>
            </a:r>
            <a:r>
              <a:rPr lang="ru-RU" b="0" i="0" dirty="0">
                <a:effectLst/>
                <a:latin typeface="system-ui"/>
              </a:rPr>
              <a:t> равным 0.99, чтобы РСА отбирал количество компонент с сохранением 99% дисперсии. Такая возможность в ядерном методе РСА отсутствует. Вместо этого мы должны задать ряд параметров (например, </a:t>
            </a:r>
            <a:r>
              <a:rPr lang="ru-RU" b="0" i="0" dirty="0" err="1">
                <a:effectLst/>
                <a:latin typeface="system-ui"/>
              </a:rPr>
              <a:t>n_components</a:t>
            </a:r>
            <a:r>
              <a:rPr lang="ru-RU" b="0" i="0" dirty="0">
                <a:effectLst/>
                <a:latin typeface="system-ui"/>
              </a:rPr>
              <a:t>=1). Более того, ядра сопровождаются своими </a:t>
            </a:r>
            <a:r>
              <a:rPr lang="ru-RU" b="0" i="0" dirty="0" err="1">
                <a:effectLst/>
                <a:latin typeface="system-ui"/>
              </a:rPr>
              <a:t>гиперпараметрами</a:t>
            </a:r>
            <a:r>
              <a:rPr lang="ru-RU" b="0" i="0" dirty="0">
                <a:effectLst/>
                <a:latin typeface="system-ui"/>
              </a:rPr>
              <a:t>, которые нам придется устанавливать, например, </a:t>
            </a:r>
            <a:r>
              <a:rPr lang="ru-RU" b="0" i="0" dirty="0" err="1">
                <a:effectLst/>
                <a:latin typeface="system-ui"/>
              </a:rPr>
              <a:t>радиальнобазисная</a:t>
            </a:r>
            <a:r>
              <a:rPr lang="ru-RU" b="0" i="0" dirty="0">
                <a:effectLst/>
                <a:latin typeface="system-ui"/>
              </a:rPr>
              <a:t> функция требует значения </a:t>
            </a:r>
            <a:r>
              <a:rPr lang="ru-RU" b="0" i="0" dirty="0" err="1">
                <a:effectLst/>
                <a:latin typeface="system-ui"/>
              </a:rPr>
              <a:t>gamma</a:t>
            </a:r>
            <a:r>
              <a:rPr lang="ru-RU" b="0" i="0" dirty="0">
                <a:effectLst/>
                <a:latin typeface="system-ui"/>
              </a:rPr>
              <a:t>. Методом проб и ошибок подбираем нужные значения, т.е., мы можем натренировать нашу машинно-обучающуюся модель несколько раз, каждый раз с другим ядром или другим значением параметра. Как только мы находим комбинацию параметров, которая производит предсказанные лучшего значения, то на этом процесс завершается.</a:t>
            </a:r>
            <a:endParaRPr lang="ru-RU"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ru-RU" dirty="0"/>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44</a:t>
            </a:fld>
            <a:endParaRPr lang="ru-RU"/>
          </a:p>
        </p:txBody>
      </p:sp>
    </p:spTree>
    <p:extLst>
      <p:ext uri="{BB962C8B-B14F-4D97-AF65-F5344CB8AC3E}">
        <p14:creationId xmlns:p14="http://schemas.microsoft.com/office/powerpoint/2010/main" val="23319187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lgn="just">
              <a:buNone/>
            </a:pPr>
            <a:r>
              <a:rPr lang="ru-RU" b="0" i="0" dirty="0">
                <a:effectLst/>
                <a:latin typeface="system-ui"/>
              </a:rPr>
              <a:t>Линейный дискриминантный анализ (LDA) — это классификационный метод, который так же популярен, как метод уменьшения размерности. Метод LDA работает аналогично анализу главных компонент (РСА): он проецирует пространство признаков на пространство более низкой размерности. Однако в РСА нас интересовали только те оси компонент, которые максимизируют дисперсию данных, в то время как в LDA есть дополнительная цель максимизировать различия между классами.</a:t>
            </a:r>
          </a:p>
          <a:p>
            <a:pPr marL="0" indent="0" algn="just">
              <a:buNone/>
            </a:pPr>
            <a:r>
              <a:rPr lang="ru-RU" b="0" i="0" dirty="0">
                <a:effectLst/>
                <a:latin typeface="system-ui"/>
              </a:rPr>
              <a:t>В библиотеке </a:t>
            </a:r>
            <a:r>
              <a:rPr lang="ru-RU" b="0" i="0" dirty="0" err="1">
                <a:effectLst/>
                <a:latin typeface="system-ui"/>
              </a:rPr>
              <a:t>scikit-learn</a:t>
            </a:r>
            <a:r>
              <a:rPr lang="ru-RU" b="0" i="0" dirty="0">
                <a:effectLst/>
                <a:latin typeface="system-ui"/>
              </a:rPr>
              <a:t> метод LDA реализован с использованием класса </a:t>
            </a:r>
            <a:r>
              <a:rPr lang="ru-RU" b="0" i="0" dirty="0" err="1">
                <a:effectLst/>
                <a:latin typeface="system-ui"/>
              </a:rPr>
              <a:t>LinearDiscriminantAnalysis</a:t>
            </a:r>
            <a:r>
              <a:rPr lang="ru-RU" b="0" i="0" dirty="0">
                <a:effectLst/>
                <a:latin typeface="system-ui"/>
              </a:rPr>
              <a:t>, который включает параметр </a:t>
            </a:r>
            <a:r>
              <a:rPr lang="ru-RU" b="0" i="0" dirty="0" err="1">
                <a:effectLst/>
                <a:latin typeface="system-ui"/>
              </a:rPr>
              <a:t>n_components</a:t>
            </a:r>
            <a:r>
              <a:rPr lang="ru-RU" b="0" i="0" dirty="0">
                <a:effectLst/>
                <a:latin typeface="system-ui"/>
              </a:rPr>
              <a:t>, указывающий на количество признаков, которые требуется вернуть. Для того чтобы выяснить, какое значение аргумента использовать в </a:t>
            </a:r>
            <a:r>
              <a:rPr lang="ru-RU" b="0" i="0" dirty="0" err="1">
                <a:effectLst/>
                <a:latin typeface="system-ui"/>
              </a:rPr>
              <a:t>n_components</a:t>
            </a:r>
            <a:r>
              <a:rPr lang="ru-RU" b="0" i="0" dirty="0">
                <a:effectLst/>
                <a:latin typeface="system-ui"/>
              </a:rPr>
              <a:t> (например, сколько параметров сохранить), можно воспользоваться тем фактом, что коэффициент </a:t>
            </a:r>
            <a:r>
              <a:rPr lang="ru-RU" b="0" i="0" dirty="0" err="1">
                <a:effectLst/>
                <a:latin typeface="system-ui"/>
              </a:rPr>
              <a:t>explained_variance_ratio</a:t>
            </a:r>
            <a:r>
              <a:rPr lang="ru-RU" b="0" i="0" dirty="0">
                <a:effectLst/>
                <a:latin typeface="system-ui"/>
              </a:rPr>
              <a:t>_ сообщает нам дисперсию, объясняемую каждым выводимым признаком, и является отсортированным массивом.</a:t>
            </a:r>
            <a:endParaRPr lang="ru-RU" dirty="0"/>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46</a:t>
            </a:fld>
            <a:endParaRPr lang="ru-RU"/>
          </a:p>
        </p:txBody>
      </p:sp>
    </p:spTree>
    <p:extLst>
      <p:ext uri="{BB962C8B-B14F-4D97-AF65-F5344CB8AC3E}">
        <p14:creationId xmlns:p14="http://schemas.microsoft.com/office/powerpoint/2010/main" val="38267287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b="0" i="0" dirty="0">
                <a:effectLst/>
                <a:latin typeface="system-ui"/>
              </a:rPr>
              <a:t>Попробуем уменьшить количество признаков, используя линейный дискриминантный анализ (</a:t>
            </a:r>
            <a:r>
              <a:rPr lang="ru-RU" b="0" i="0" dirty="0" err="1">
                <a:effectLst/>
                <a:latin typeface="system-ui"/>
              </a:rPr>
              <a:t>linear</a:t>
            </a:r>
            <a:r>
              <a:rPr lang="ru-RU" b="0" i="0" dirty="0">
                <a:effectLst/>
                <a:latin typeface="system-ui"/>
              </a:rPr>
              <a:t> </a:t>
            </a:r>
            <a:r>
              <a:rPr lang="ru-RU" b="0" i="0" dirty="0" err="1">
                <a:effectLst/>
                <a:latin typeface="system-ui"/>
              </a:rPr>
              <a:t>discriminant</a:t>
            </a:r>
            <a:r>
              <a:rPr lang="ru-RU" b="0" i="0" dirty="0">
                <a:effectLst/>
                <a:latin typeface="system-ui"/>
              </a:rPr>
              <a:t> </a:t>
            </a:r>
            <a:r>
              <a:rPr lang="ru-RU" b="0" i="0" dirty="0" err="1">
                <a:effectLst/>
                <a:latin typeface="system-ui"/>
              </a:rPr>
              <a:t>analysis</a:t>
            </a:r>
            <a:r>
              <a:rPr lang="ru-RU" b="0" i="0" dirty="0">
                <a:effectLst/>
                <a:latin typeface="system-ui"/>
              </a:rPr>
              <a:t>, LDA), чтобы спроецировать объекты на оси компонент, которые максимизируют разделение классов:</a:t>
            </a:r>
            <a:endParaRPr lang="ru-RU" dirty="0"/>
          </a:p>
          <a:p>
            <a:pPr marL="0" indent="0">
              <a:buNone/>
            </a:pPr>
            <a:br>
              <a:rPr lang="ru-RU" b="0" i="0" dirty="0">
                <a:effectLst/>
                <a:latin typeface="system-ui"/>
              </a:rPr>
            </a:br>
            <a:r>
              <a:rPr lang="ru-RU" b="0" i="0" dirty="0">
                <a:effectLst/>
                <a:latin typeface="system-ui"/>
              </a:rPr>
              <a:t>Для просмотра объема дисперсии, объясненной каждой компонентой можно использовать атрибут </a:t>
            </a:r>
            <a:r>
              <a:rPr lang="ru-RU" b="0" i="0" dirty="0" err="1">
                <a:effectLst/>
                <a:latin typeface="system-ui"/>
              </a:rPr>
              <a:t>expiained_variance_ratio</a:t>
            </a:r>
            <a:r>
              <a:rPr lang="ru-RU" b="0" i="0" dirty="0">
                <a:effectLst/>
                <a:latin typeface="system-ui"/>
              </a:rPr>
              <a:t>_. В нашем решении одна компонента объяснила более 99% дисперсии:</a:t>
            </a:r>
          </a:p>
          <a:p>
            <a:pPr marL="0" indent="0">
              <a:buNone/>
            </a:pPr>
            <a:endParaRPr lang="ru-RU" dirty="0">
              <a:latin typeface="system-ui"/>
            </a:endParaRPr>
          </a:p>
          <a:p>
            <a:pPr marL="0" indent="0" algn="just">
              <a:buNone/>
            </a:pPr>
            <a:r>
              <a:rPr lang="ru-RU" b="0" i="0" dirty="0">
                <a:effectLst/>
                <a:latin typeface="system-ui"/>
              </a:rPr>
              <a:t>В частности, можно выполнить линейный дискриминантный анализ на основе класса </a:t>
            </a:r>
            <a:r>
              <a:rPr lang="ru-RU" b="0" i="0" dirty="0" err="1">
                <a:effectLst/>
                <a:latin typeface="system-ui"/>
              </a:rPr>
              <a:t>LinearDiscriminantAnalysis</a:t>
            </a:r>
            <a:r>
              <a:rPr lang="ru-RU" b="0" i="0" dirty="0">
                <a:effectLst/>
                <a:latin typeface="system-ui"/>
              </a:rPr>
              <a:t> с компонентами </a:t>
            </a:r>
            <a:r>
              <a:rPr lang="ru-RU" b="0" i="0" dirty="0" err="1">
                <a:effectLst/>
                <a:latin typeface="system-ui"/>
              </a:rPr>
              <a:t>n_components</a:t>
            </a:r>
            <a:r>
              <a:rPr lang="ru-RU" b="0" i="0" dirty="0">
                <a:effectLst/>
                <a:latin typeface="system-ui"/>
              </a:rPr>
              <a:t>, заданными как </a:t>
            </a:r>
            <a:r>
              <a:rPr lang="ru-RU" b="0" i="0" dirty="0" err="1">
                <a:effectLst/>
                <a:latin typeface="system-ui"/>
              </a:rPr>
              <a:t>None</a:t>
            </a:r>
            <a:r>
              <a:rPr lang="ru-RU" b="0" i="0" dirty="0">
                <a:effectLst/>
                <a:latin typeface="system-ui"/>
              </a:rPr>
              <a:t>, чтобы вернуть коэффициент дисперсии, объясненный каждой компонентой, а затем вычислить, сколько требуется компонент, чтобы превысить некоторый порог дисперсии (часто 0.95 или 0.99).</a:t>
            </a:r>
            <a:endParaRPr lang="ru-RU" dirty="0"/>
          </a:p>
          <a:p>
            <a:endParaRPr lang="ru-RU" dirty="0"/>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47</a:t>
            </a:fld>
            <a:endParaRPr lang="ru-RU"/>
          </a:p>
        </p:txBody>
      </p:sp>
    </p:spTree>
    <p:extLst>
      <p:ext uri="{BB962C8B-B14F-4D97-AF65-F5344CB8AC3E}">
        <p14:creationId xmlns:p14="http://schemas.microsoft.com/office/powerpoint/2010/main" val="65693831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b="0" i="0" dirty="0">
                <a:effectLst/>
                <a:latin typeface="system-ui"/>
              </a:rPr>
              <a:t>Разложение неотрицательной матрицы (NMF, </a:t>
            </a:r>
            <a:r>
              <a:rPr lang="ru-RU" b="0" i="0" dirty="0" err="1">
                <a:effectLst/>
                <a:latin typeface="system-ui"/>
              </a:rPr>
              <a:t>non-negative</a:t>
            </a:r>
            <a:r>
              <a:rPr lang="ru-RU" b="0" i="0" dirty="0">
                <a:effectLst/>
                <a:latin typeface="system-ui"/>
              </a:rPr>
              <a:t> </a:t>
            </a:r>
            <a:r>
              <a:rPr lang="ru-RU" b="0" i="0" dirty="0" err="1">
                <a:effectLst/>
                <a:latin typeface="system-ui"/>
              </a:rPr>
              <a:t>matrix</a:t>
            </a:r>
            <a:r>
              <a:rPr lang="ru-RU" b="0" i="0" dirty="0">
                <a:effectLst/>
                <a:latin typeface="system-ui"/>
              </a:rPr>
              <a:t> </a:t>
            </a:r>
            <a:r>
              <a:rPr lang="ru-RU" b="0" i="0" dirty="0" err="1">
                <a:effectLst/>
                <a:latin typeface="system-ui"/>
              </a:rPr>
              <a:t>factorization</a:t>
            </a:r>
            <a:r>
              <a:rPr lang="ru-RU" b="0" i="0" dirty="0">
                <a:effectLst/>
                <a:latin typeface="system-ui"/>
              </a:rPr>
              <a:t>) является неконтролируемым методом уменьшения линейной размерности(без учителя), который факторизует (т. е. разбивает на несколько матриц, произведение которых соответствует исходной матрице) матрицу признаков в матрицы, представляющие скрытую связь между наблюдениями и их признаками. Интуитивно понятно, что метод NMF может сократить размерность, поскольку в матричном умножении два сомножителя (умножаемые матрицы) могут иметь значительно меньшие размерности, чем матрица произведения. Одно из основных требований метода разложения неотрицательной матрицы состоит в том, что, как следует из названия, матрица признаков не может содержать отрицательные значения. Кроме того, в отличие от методе PCА и других методов, которые мы рассмотрели, он не предоставляет нам объясненную дисперсию результирующих признаков. Таким образом, лучший способ найти оптимальное значение компонент </a:t>
            </a:r>
            <a:r>
              <a:rPr lang="ru-RU" b="0" i="0" dirty="0" err="1">
                <a:effectLst/>
                <a:latin typeface="system-ui"/>
              </a:rPr>
              <a:t>n_components</a:t>
            </a:r>
            <a:r>
              <a:rPr lang="ru-RU" b="0" i="0" dirty="0">
                <a:effectLst/>
                <a:latin typeface="system-ui"/>
              </a:rPr>
              <a:t> — это попытаться найти в диапазоне значений то, которое дает наилучший результат в нашей конечной модели.</a:t>
            </a:r>
            <a:endParaRPr lang="ru-RU" dirty="0"/>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48</a:t>
            </a:fld>
            <a:endParaRPr lang="ru-RU"/>
          </a:p>
        </p:txBody>
      </p:sp>
    </p:spTree>
    <p:extLst>
      <p:ext uri="{BB962C8B-B14F-4D97-AF65-F5344CB8AC3E}">
        <p14:creationId xmlns:p14="http://schemas.microsoft.com/office/powerpoint/2010/main" val="356058549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b="0" i="0" dirty="0">
                <a:effectLst/>
                <a:latin typeface="system-ui"/>
              </a:rPr>
              <a:t>Усеченное сингулярное разложение (TSVD) похоже на анализ главных компонент (РСА), и действительно в РСА на одном из своих шагов часто используется не усечённое сингулярное разложение (</a:t>
            </a:r>
            <a:r>
              <a:rPr lang="en-US" b="0" i="0" dirty="0">
                <a:effectLst/>
                <a:latin typeface="system-ui"/>
              </a:rPr>
              <a:t>Singular Value Decomposition</a:t>
            </a:r>
            <a:r>
              <a:rPr lang="ru-RU" b="0" i="0" dirty="0">
                <a:effectLst/>
                <a:latin typeface="system-ui"/>
              </a:rPr>
              <a:t>, SVD). В обычном сингулярном разложении при наличии d признаков создаются матрицы-сомножители размера d х d , тогда как усеченное сингулярное разложение вернет сомножители, которые имеют размер n х n , где n предварительно заданы параметром. Практическое преимущество TSVD заключается в том, что в отличие от РСА, этот метод работает на разреженных матрицах признаков. Одна из проблем с методом TSVD связана с тем, что в зависимости от того, как этот метод использует генератор случайных чисел, знаки результата могут меняться от подгонки к подгонке. Простым решением будет использовать метод </a:t>
            </a:r>
            <a:r>
              <a:rPr lang="ru-RU" b="0" i="0" dirty="0" err="1">
                <a:effectLst/>
                <a:latin typeface="system-ui"/>
              </a:rPr>
              <a:t>fit</a:t>
            </a:r>
            <a:r>
              <a:rPr lang="ru-RU" b="0" i="0" dirty="0">
                <a:effectLst/>
                <a:latin typeface="system-ui"/>
              </a:rPr>
              <a:t>() в конвейере предобработки всего один раз, а затем несколько раз использовать метод </a:t>
            </a:r>
            <a:r>
              <a:rPr lang="ru-RU" b="0" i="0" dirty="0" err="1">
                <a:effectLst/>
                <a:latin typeface="system-ui"/>
              </a:rPr>
              <a:t>transform</a:t>
            </a:r>
            <a:r>
              <a:rPr lang="ru-RU" b="0" i="0" dirty="0">
                <a:effectLst/>
                <a:latin typeface="system-ui"/>
              </a:rPr>
              <a:t>(). Как и в случае линейного дискриминантного анализа, мы должны указать количество признаков (компонент), которые мы хотим вывести. Это делается с помощью параметра </a:t>
            </a:r>
            <a:r>
              <a:rPr lang="ru-RU" b="0" i="0" dirty="0" err="1">
                <a:effectLst/>
                <a:latin typeface="system-ui"/>
              </a:rPr>
              <a:t>n_components</a:t>
            </a:r>
            <a:r>
              <a:rPr lang="ru-RU" b="0" i="0" dirty="0">
                <a:effectLst/>
                <a:latin typeface="system-ui"/>
              </a:rPr>
              <a:t>. Отсюда возникает естественный вопрос: каково оптимальное количество компонент? Одна стратегия состоит в том, чтобы включить </a:t>
            </a:r>
            <a:r>
              <a:rPr lang="ru-RU" b="0" i="0" dirty="0" err="1">
                <a:effectLst/>
                <a:latin typeface="system-ui"/>
              </a:rPr>
              <a:t>n_components</a:t>
            </a:r>
            <a:r>
              <a:rPr lang="ru-RU" b="0" i="0" dirty="0">
                <a:effectLst/>
                <a:latin typeface="system-ui"/>
              </a:rPr>
              <a:t> как </a:t>
            </a:r>
            <a:r>
              <a:rPr lang="ru-RU" b="0" i="0" dirty="0" err="1">
                <a:effectLst/>
                <a:latin typeface="system-ui"/>
              </a:rPr>
              <a:t>гиперпараметр</a:t>
            </a:r>
            <a:r>
              <a:rPr lang="ru-RU" b="0" i="0" dirty="0">
                <a:effectLst/>
                <a:latin typeface="system-ui"/>
              </a:rPr>
              <a:t> для оптимизации при отборе модели (т. е. выбрать значение для </a:t>
            </a:r>
            <a:r>
              <a:rPr lang="ru-RU" b="0" i="0" dirty="0" err="1">
                <a:effectLst/>
                <a:latin typeface="system-ui"/>
              </a:rPr>
              <a:t>n_components</a:t>
            </a:r>
            <a:r>
              <a:rPr lang="ru-RU" b="0" i="0" dirty="0">
                <a:effectLst/>
                <a:latin typeface="system-ui"/>
              </a:rPr>
              <a:t>, которое производит наилучшую натренированную модель).</a:t>
            </a:r>
            <a:endParaRPr lang="ru-RU" dirty="0"/>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51</a:t>
            </a:fld>
            <a:endParaRPr lang="ru-RU"/>
          </a:p>
        </p:txBody>
      </p:sp>
    </p:spTree>
    <p:extLst>
      <p:ext uri="{BB962C8B-B14F-4D97-AF65-F5344CB8AC3E}">
        <p14:creationId xmlns:p14="http://schemas.microsoft.com/office/powerpoint/2010/main" val="69098589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lgn="just">
              <a:buNone/>
            </a:pPr>
            <a:r>
              <a:rPr lang="ru-RU" b="0" i="0" dirty="0">
                <a:effectLst/>
                <a:latin typeface="system-ui"/>
              </a:rPr>
              <a:t>В качестве альтернативы, поскольку метод TSVD предоставляет нам коэффициент объясненной дисперсии каждой компоненты исходной матрицы признаков, мы можем выделить ряд компонент, которые объясняют желаемый объем дисперсии (общепринято использовать значения 95 или 99%). Например, в нашем решении первые три выводимые компоненты объясняют примерно 30% дисперсии исходных данных:</a:t>
            </a:r>
          </a:p>
          <a:p>
            <a:pPr marL="0" indent="0" algn="just">
              <a:buNone/>
            </a:pPr>
            <a:endParaRPr lang="ru-RU" dirty="0">
              <a:latin typeface="system-ui"/>
            </a:endParaRPr>
          </a:p>
          <a:p>
            <a:pPr marL="0" indent="0" algn="just">
              <a:buNone/>
            </a:pPr>
            <a:r>
              <a:rPr lang="ru-RU" b="0" i="0" dirty="0">
                <a:effectLst/>
                <a:latin typeface="system-ui"/>
              </a:rPr>
              <a:t>Этот процесс можно автоматизировать, создав функцию, которая выполняет усеченное сингулярное разложение с компонентами </a:t>
            </a:r>
            <a:r>
              <a:rPr lang="ru-RU" b="0" i="0" dirty="0" err="1">
                <a:effectLst/>
                <a:latin typeface="system-ui"/>
              </a:rPr>
              <a:t>n_components</a:t>
            </a:r>
            <a:r>
              <a:rPr lang="ru-RU" b="0" i="0" dirty="0">
                <a:effectLst/>
                <a:latin typeface="system-ui"/>
              </a:rPr>
              <a:t>, установленными на единицу меньше, чем количество исходных признаков, а затем вычислить количество компонент, которые объясняют желаемый объем дисперсии исходных данных:</a:t>
            </a:r>
            <a:endParaRPr lang="ru-RU" dirty="0"/>
          </a:p>
          <a:p>
            <a:endParaRPr lang="ru-RU" dirty="0"/>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52</a:t>
            </a:fld>
            <a:endParaRPr lang="ru-RU"/>
          </a:p>
        </p:txBody>
      </p:sp>
    </p:spTree>
    <p:extLst>
      <p:ext uri="{BB962C8B-B14F-4D97-AF65-F5344CB8AC3E}">
        <p14:creationId xmlns:p14="http://schemas.microsoft.com/office/powerpoint/2010/main" val="317209125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lgn="just">
              <a:buNone/>
            </a:pPr>
            <a:r>
              <a:rPr lang="ru-RU" sz="1200" dirty="0"/>
              <a:t>Как кластеризация, так и сокращение размерности крайне популярны (особенно метод k-средних и метод главных компонент), поэтому зачастую ими злоупотребляют и используют даже в случаях, когда целесообразнее воспользоваться обучением с учителем. Методы обучения без учителя могут играть вспомогательную роль при решении задач классификации и регрессии.</a:t>
            </a:r>
          </a:p>
          <a:p>
            <a:pPr marL="0" indent="0" algn="just">
              <a:buNone/>
            </a:pPr>
            <a:r>
              <a:rPr lang="ru-RU" sz="1200" b="0" i="0" dirty="0">
                <a:effectLst/>
              </a:rPr>
              <a:t>Рассмотрим пример задачи понижения размерности, цель которой - упростить данные без потери слишком большого количества информации. Один из способов предусматривает слияние нескольких связанных признаков в один. Например, пробег автомобиля может находиться в тесной связи с его возрастом, так что алгоритм понижения размерности объединит их в один признак, который представляет степень износа автомобиля. Это называется выделением признаков (</a:t>
            </a:r>
            <a:r>
              <a:rPr lang="ru-RU" sz="1200" b="0" i="0" dirty="0" err="1">
                <a:effectLst/>
              </a:rPr>
              <a:t>feature</a:t>
            </a:r>
            <a:r>
              <a:rPr lang="ru-RU" sz="1200" b="0" i="0" dirty="0">
                <a:effectLst/>
              </a:rPr>
              <a:t> </a:t>
            </a:r>
            <a:r>
              <a:rPr lang="ru-RU" sz="1200" b="0" i="0" dirty="0" err="1">
                <a:effectLst/>
              </a:rPr>
              <a:t>extraction</a:t>
            </a:r>
            <a:r>
              <a:rPr lang="ru-RU" sz="1200" b="0" i="0" dirty="0">
                <a:effectLst/>
              </a:rPr>
              <a:t>). Часто имеет смысл попытаться сократить размерность обучающих данных, используя алгоритм понижения размерности, до их передачи в другой алгоритм МО (такой как алгоритм обучения с учителем). В итоге другой алгоритм МО станет намного быстрее, данные будут занимать меньше места на диске и в памяти, а в ряде случаев он может также эффективнее выполняться.</a:t>
            </a:r>
            <a:endParaRPr lang="ru-RU" sz="1200" dirty="0"/>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54</a:t>
            </a:fld>
            <a:endParaRPr lang="ru-RU"/>
          </a:p>
        </p:txBody>
      </p:sp>
    </p:spTree>
    <p:extLst>
      <p:ext uri="{BB962C8B-B14F-4D97-AF65-F5344CB8AC3E}">
        <p14:creationId xmlns:p14="http://schemas.microsoft.com/office/powerpoint/2010/main" val="38724356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lgn="just">
              <a:buNone/>
            </a:pPr>
            <a:r>
              <a:rPr lang="ru-RU" b="0" i="0" dirty="0">
                <a:effectLst/>
                <a:latin typeface="system-ui"/>
              </a:rPr>
              <a:t>Существует три типа методов отбора признаков: </a:t>
            </a:r>
          </a:p>
          <a:p>
            <a:pPr algn="just"/>
            <a:r>
              <a:rPr lang="ru-RU" b="0" i="0" dirty="0">
                <a:effectLst/>
                <a:latin typeface="system-ui"/>
              </a:rPr>
              <a:t>фильтрующие, </a:t>
            </a:r>
          </a:p>
          <a:p>
            <a:pPr algn="just"/>
            <a:r>
              <a:rPr lang="ru-RU" b="0" i="0" dirty="0">
                <a:effectLst/>
                <a:latin typeface="system-ui"/>
              </a:rPr>
              <a:t>циклические,</a:t>
            </a:r>
          </a:p>
          <a:p>
            <a:pPr algn="just"/>
            <a:r>
              <a:rPr lang="ru-RU" b="0" i="0" dirty="0">
                <a:effectLst/>
                <a:latin typeface="system-ui"/>
              </a:rPr>
              <a:t>вложенные. </a:t>
            </a:r>
          </a:p>
          <a:p>
            <a:pPr marL="0" indent="0" algn="just">
              <a:buNone/>
            </a:pPr>
            <a:r>
              <a:rPr lang="ru-RU" b="0" i="0" dirty="0">
                <a:effectLst/>
                <a:latin typeface="system-ui"/>
              </a:rPr>
              <a:t>Фильтрующие(</a:t>
            </a:r>
            <a:r>
              <a:rPr lang="ru-RU" b="0" i="0" dirty="0" err="1">
                <a:effectLst/>
                <a:latin typeface="system-ui"/>
              </a:rPr>
              <a:t>filter</a:t>
            </a:r>
            <a:r>
              <a:rPr lang="ru-RU" b="0" i="0" dirty="0">
                <a:effectLst/>
                <a:latin typeface="system-ui"/>
              </a:rPr>
              <a:t>) методы отбирают наилучшие признаки, изучая их статистические свойства. </a:t>
            </a:r>
          </a:p>
          <a:p>
            <a:pPr marL="0" indent="0" algn="just">
              <a:buNone/>
            </a:pPr>
            <a:r>
              <a:rPr lang="ru-RU" b="0" i="0" dirty="0">
                <a:effectLst/>
                <a:latin typeface="system-ui"/>
              </a:rPr>
              <a:t>Циклические (</a:t>
            </a:r>
            <a:r>
              <a:rPr lang="ru-RU" b="0" i="0" dirty="0" err="1">
                <a:effectLst/>
                <a:latin typeface="system-ui"/>
              </a:rPr>
              <a:t>wrapper</a:t>
            </a:r>
            <a:r>
              <a:rPr lang="ru-RU" b="0" i="0" dirty="0">
                <a:effectLst/>
                <a:latin typeface="system-ui"/>
              </a:rPr>
              <a:t>) методы для поиска подмножества признаков, которые создают модели с предсказаниями самого высокого качества, используют метод проб и ошибок. </a:t>
            </a:r>
          </a:p>
          <a:p>
            <a:pPr marL="0" indent="0" algn="just">
              <a:buNone/>
            </a:pPr>
            <a:r>
              <a:rPr lang="ru-RU" dirty="0">
                <a:latin typeface="system-ui"/>
              </a:rPr>
              <a:t>В</a:t>
            </a:r>
            <a:r>
              <a:rPr lang="ru-RU" b="0" i="0" dirty="0">
                <a:effectLst/>
                <a:latin typeface="system-ui"/>
              </a:rPr>
              <a:t>ложенные (</a:t>
            </a:r>
            <a:r>
              <a:rPr lang="ru-RU" b="0" i="0" dirty="0" err="1">
                <a:effectLst/>
                <a:latin typeface="system-ui"/>
              </a:rPr>
              <a:t>embedded</a:t>
            </a:r>
            <a:r>
              <a:rPr lang="ru-RU" b="0" i="0" dirty="0">
                <a:effectLst/>
                <a:latin typeface="system-ui"/>
              </a:rPr>
              <a:t>) методы отбирают наилучшее подмножество признаков как часть или как продолжение процесса тренировки обучающегося алгоритма. Поскольку вложенные методы тесно переплетены с конкретными обучающимися алгоритмами, их трудно объяснить без более глубокого погружения в сами алгоритмы. Поэтому мы рассмотрим только фильтрующие и циклические методы отбора.</a:t>
            </a:r>
            <a:endParaRPr lang="ru-RU" dirty="0"/>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55</a:t>
            </a:fld>
            <a:endParaRPr lang="ru-RU"/>
          </a:p>
        </p:txBody>
      </p:sp>
    </p:spTree>
    <p:extLst>
      <p:ext uri="{BB962C8B-B14F-4D97-AF65-F5344CB8AC3E}">
        <p14:creationId xmlns:p14="http://schemas.microsoft.com/office/powerpoint/2010/main" val="241518217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b="0" i="0" dirty="0">
                <a:effectLst/>
                <a:latin typeface="system-ui"/>
              </a:rPr>
              <a:t>Основная идея этого метод отбора признаков заключается в том, что если признак содержит одинаковые значения (т.е. имеет дисперсию равную 0 ), то он не может быть использована для поиска каких-либо интересных зависимостей и может быть удален из набора данных. Таким образом данный подход к устранению признаков состоит в том, чтобы удалить все признаки, отклонения которых ниже некоторого (минимального) порога. </a:t>
            </a:r>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56</a:t>
            </a:fld>
            <a:endParaRPr lang="ru-RU"/>
          </a:p>
        </p:txBody>
      </p:sp>
    </p:spTree>
    <p:extLst>
      <p:ext uri="{BB962C8B-B14F-4D97-AF65-F5344CB8AC3E}">
        <p14:creationId xmlns:p14="http://schemas.microsoft.com/office/powerpoint/2010/main" val="154538470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lgn="just">
              <a:buNone/>
            </a:pPr>
            <a:r>
              <a:rPr lang="ru-RU" b="0" i="0" dirty="0">
                <a:effectLst/>
                <a:latin typeface="system-ui"/>
              </a:rPr>
              <a:t>Статистический показатель хи-квадрат проверяет независимость двух категориальных векторов. То есть этот статистический показатель является разницей между наблюдаемым числом наблюдений в каждом классе категориального признака и тем, что мы ожидали бы, если бы этот объект был независимым от вектора целей (т. е. не связанным с ним).</a:t>
            </a:r>
          </a:p>
          <a:p>
            <a:pPr marL="0" indent="0" algn="just">
              <a:buNone/>
            </a:pPr>
            <a:r>
              <a:rPr lang="ru-RU" b="0" i="0" dirty="0">
                <a:effectLst/>
                <a:latin typeface="system-ui"/>
              </a:rPr>
              <a:t>Статистический показатель хи-квадрат представляет собой единственное число, которое говорит о том, насколько велика разница между наблюдаемым количеством элементов и количеством ожидаемых элементов, если бы в данных не было никакой связи вообще. Вычисляя статистический показатель хи-квадрат между признаком и вектором целей, мы получаем меру независимости между ними. Если вектор целей не зависит от признаковой переменной, то она не годится для нас, поскольку не содержит информации, которую мы можем использовать для классификации. С другой стороны, если две величины сильно зависят, то они, скорее всего, очень информативны для тренировки нашей модели.</a:t>
            </a:r>
          </a:p>
          <a:p>
            <a:endParaRPr lang="ru-RU" dirty="0"/>
          </a:p>
          <a:p>
            <a:pPr marL="0" indent="0" algn="just">
              <a:buNone/>
            </a:pPr>
            <a:r>
              <a:rPr lang="ru-RU" b="0" i="0" dirty="0">
                <a:effectLst/>
                <a:latin typeface="system-ui"/>
              </a:rPr>
              <a:t>Важно отметить, что статистический показатель хи-квадрат может быть вычислен только между двумя категориальными векторами. По этой причине хи-квадрат для выбора признаков требует, чтобы и вектор целей, и признаки были категориальными. Однако если у нас числовой признак, то можно применить метод хи-квадрат, сначала преобразовав количественный признак в категориальный. Чтобы использовать наш подход на основе хи-квадрат, все значения должны быть неотрицательными.</a:t>
            </a:r>
          </a:p>
          <a:p>
            <a:pPr marL="0" indent="0" algn="just">
              <a:buNone/>
            </a:pPr>
            <a:r>
              <a:rPr lang="ru-RU" b="0" i="0" dirty="0">
                <a:effectLst/>
                <a:latin typeface="system-ui"/>
              </a:rPr>
              <a:t>В качестве альтернативы, если имеется числовой признак, можно использовать метод </a:t>
            </a:r>
            <a:r>
              <a:rPr lang="ru-RU" b="0" i="0" dirty="0" err="1">
                <a:effectLst/>
                <a:latin typeface="system-ui"/>
              </a:rPr>
              <a:t>f_classif</a:t>
            </a:r>
            <a:r>
              <a:rPr lang="ru-RU" b="0" i="0" dirty="0">
                <a:effectLst/>
                <a:latin typeface="system-ui"/>
              </a:rPr>
              <a:t> для вычисления статистического показателя F дисперсионного анализа (ANOVA) с каждым признаком и вектором целей. Оценочные значения F проверяют, различаются ли значимо средние значения для каждой группы, когда мы группируем этот числовой признак по вектору целей. Например, если бы у нас был бинарный вектор целей — пол и количественный признак — экзаменационные баллы, то оценочный показатель F говорил бы нам о том, отличается ли средний экзаменационный балл для мужчин от среднего экзаменационного балла для женщин. Если нет, то экзаменационный балл не помогает нам предсказывать пол, и поэтому этот признак не имеет значения.</a:t>
            </a:r>
          </a:p>
          <a:p>
            <a:pPr marL="0" indent="0">
              <a:buNone/>
            </a:pPr>
            <a:endParaRPr lang="ru-RU" dirty="0"/>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61</a:t>
            </a:fld>
            <a:endParaRPr lang="ru-RU"/>
          </a:p>
        </p:txBody>
      </p:sp>
    </p:spTree>
    <p:extLst>
      <p:ext uri="{BB962C8B-B14F-4D97-AF65-F5344CB8AC3E}">
        <p14:creationId xmlns:p14="http://schemas.microsoft.com/office/powerpoint/2010/main" val="3857904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лектор слева">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A1E5457D-1A65-4814-B82B-2C09539FDD7D}"/>
              </a:ext>
            </a:extLst>
          </p:cNvPr>
          <p:cNvSpPr>
            <a:spLocks noGrp="1"/>
          </p:cNvSpPr>
          <p:nvPr>
            <p:ph type="body" sz="quarter" idx="10" hasCustomPrompt="1"/>
          </p:nvPr>
        </p:nvSpPr>
        <p:spPr>
          <a:xfrm>
            <a:off x="646834" y="212653"/>
            <a:ext cx="8412133" cy="2145987"/>
          </a:xfrm>
          <a:prstGeom prst="rect">
            <a:avLst/>
          </a:prstGeom>
        </p:spPr>
        <p:txBody>
          <a:bodyPr/>
          <a:lstStyle>
            <a:lvl1pPr marL="0" indent="0" algn="ctr">
              <a:buNone/>
              <a:defRPr sz="4050" b="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defRPr>
            </a:lvl1pPr>
          </a:lstStyle>
          <a:p>
            <a:pPr lvl="0"/>
            <a:r>
              <a:rPr lang="ru-RU" dirty="0"/>
              <a:t>Название дисциплины</a:t>
            </a:r>
          </a:p>
        </p:txBody>
      </p:sp>
      <p:sp>
        <p:nvSpPr>
          <p:cNvPr id="6" name="Текст 4">
            <a:extLst>
              <a:ext uri="{FF2B5EF4-FFF2-40B4-BE49-F238E27FC236}">
                <a16:creationId xmlns:a16="http://schemas.microsoft.com/office/drawing/2014/main" id="{243EB0EA-B14F-4F7C-A662-195D09977AC2}"/>
              </a:ext>
            </a:extLst>
          </p:cNvPr>
          <p:cNvSpPr>
            <a:spLocks noGrp="1"/>
          </p:cNvSpPr>
          <p:nvPr>
            <p:ph type="body" sz="quarter" idx="11" hasCustomPrompt="1"/>
          </p:nvPr>
        </p:nvSpPr>
        <p:spPr>
          <a:xfrm>
            <a:off x="646833" y="4433107"/>
            <a:ext cx="8412133" cy="689986"/>
          </a:xfrm>
          <a:prstGeom prst="rect">
            <a:avLst/>
          </a:prstGeom>
        </p:spPr>
        <p:txBody>
          <a:bodyPr/>
          <a:lstStyle>
            <a:lvl1pPr marL="0" indent="0" algn="r">
              <a:buNone/>
              <a:defRPr sz="3000" b="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defRPr>
            </a:lvl1pPr>
          </a:lstStyle>
          <a:p>
            <a:pPr lvl="0"/>
            <a:r>
              <a:rPr lang="ru-RU" dirty="0"/>
              <a:t>ФИО лектора</a:t>
            </a:r>
          </a:p>
        </p:txBody>
      </p:sp>
      <p:sp>
        <p:nvSpPr>
          <p:cNvPr id="8" name="Текст 4">
            <a:extLst>
              <a:ext uri="{FF2B5EF4-FFF2-40B4-BE49-F238E27FC236}">
                <a16:creationId xmlns:a16="http://schemas.microsoft.com/office/drawing/2014/main" id="{6657CA8C-522E-4429-B65F-6D6FE560E4B1}"/>
              </a:ext>
            </a:extLst>
          </p:cNvPr>
          <p:cNvSpPr>
            <a:spLocks noGrp="1"/>
          </p:cNvSpPr>
          <p:nvPr>
            <p:ph type="body" sz="quarter" idx="13" hasCustomPrompt="1"/>
          </p:nvPr>
        </p:nvSpPr>
        <p:spPr>
          <a:xfrm>
            <a:off x="646832" y="6034875"/>
            <a:ext cx="8412133" cy="513908"/>
          </a:xfrm>
          <a:prstGeom prst="rect">
            <a:avLst/>
          </a:prstGeom>
        </p:spPr>
        <p:txBody>
          <a:bodyPr/>
          <a:lstStyle>
            <a:lvl1pPr marL="0" indent="0" algn="r">
              <a:buNone/>
              <a:defRPr sz="1500" b="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defRPr>
            </a:lvl1pPr>
          </a:lstStyle>
          <a:p>
            <a:pPr lvl="0"/>
            <a:r>
              <a:rPr lang="ru-RU" dirty="0"/>
              <a:t>Контактный </a:t>
            </a:r>
            <a:r>
              <a:rPr lang="en-US" dirty="0"/>
              <a:t>e-mail</a:t>
            </a:r>
            <a:endParaRPr lang="ru-RU" dirty="0"/>
          </a:p>
        </p:txBody>
      </p:sp>
      <p:sp>
        <p:nvSpPr>
          <p:cNvPr id="9" name="Текст 4">
            <a:extLst>
              <a:ext uri="{FF2B5EF4-FFF2-40B4-BE49-F238E27FC236}">
                <a16:creationId xmlns:a16="http://schemas.microsoft.com/office/drawing/2014/main" id="{7D9F4617-139A-49F3-B340-15C00D7D3994}"/>
              </a:ext>
            </a:extLst>
          </p:cNvPr>
          <p:cNvSpPr>
            <a:spLocks noGrp="1"/>
          </p:cNvSpPr>
          <p:nvPr>
            <p:ph type="body" sz="quarter" idx="14" hasCustomPrompt="1"/>
          </p:nvPr>
        </p:nvSpPr>
        <p:spPr>
          <a:xfrm>
            <a:off x="646833" y="5344889"/>
            <a:ext cx="8412133" cy="513908"/>
          </a:xfrm>
          <a:prstGeom prst="rect">
            <a:avLst/>
          </a:prstGeom>
        </p:spPr>
        <p:txBody>
          <a:bodyPr/>
          <a:lstStyle>
            <a:lvl1pPr marL="0" indent="0" algn="r">
              <a:buNone/>
              <a:defRPr sz="1500" b="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defRPr>
            </a:lvl1pPr>
          </a:lstStyle>
          <a:p>
            <a:pPr lvl="0"/>
            <a:r>
              <a:rPr lang="ru-RU" dirty="0"/>
              <a:t>Звание, должность, место работы</a:t>
            </a:r>
          </a:p>
        </p:txBody>
      </p:sp>
      <p:sp>
        <p:nvSpPr>
          <p:cNvPr id="3" name="Прямоугольник 2"/>
          <p:cNvSpPr/>
          <p:nvPr userDrawn="1"/>
        </p:nvSpPr>
        <p:spPr>
          <a:xfrm>
            <a:off x="6952895" y="5800782"/>
            <a:ext cx="2106069" cy="45719"/>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latin typeface="Calibri" panose="020F0502020204030204" pitchFamily="34" charset="0"/>
              <a:cs typeface="Calibri" panose="020F0502020204030204" pitchFamily="34" charset="0"/>
            </a:endParaRPr>
          </a:p>
        </p:txBody>
      </p:sp>
      <p:pic>
        <p:nvPicPr>
          <p:cNvPr id="10" name="Рисунок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367" y="70793"/>
            <a:ext cx="480272" cy="707923"/>
          </a:xfrm>
          <a:prstGeom prst="rect">
            <a:avLst/>
          </a:prstGeom>
        </p:spPr>
      </p:pic>
    </p:spTree>
    <p:extLst>
      <p:ext uri="{BB962C8B-B14F-4D97-AF65-F5344CB8AC3E}">
        <p14:creationId xmlns:p14="http://schemas.microsoft.com/office/powerpoint/2010/main" val="338501875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244FFBC-5083-5772-781F-FA8FFDCAFFCA}"/>
              </a:ext>
            </a:extLst>
          </p:cNvPr>
          <p:cNvSpPr>
            <a:spLocks noGrp="1"/>
          </p:cNvSpPr>
          <p:nvPr>
            <p:ph type="title"/>
          </p:nvPr>
        </p:nvSpPr>
        <p:spPr/>
        <p:txBody>
          <a:bodyPr/>
          <a:lstStyle>
            <a:lvl1pPr>
              <a:defRPr b="1">
                <a:latin typeface="+mn-lt"/>
              </a:defRPr>
            </a:lvl1pPr>
          </a:lstStyle>
          <a:p>
            <a:r>
              <a:rPr lang="ru-RU" dirty="0"/>
              <a:t>Образец заголовка</a:t>
            </a:r>
          </a:p>
        </p:txBody>
      </p:sp>
      <p:sp>
        <p:nvSpPr>
          <p:cNvPr id="3" name="Объект 2">
            <a:extLst>
              <a:ext uri="{FF2B5EF4-FFF2-40B4-BE49-F238E27FC236}">
                <a16:creationId xmlns:a16="http://schemas.microsoft.com/office/drawing/2014/main" id="{4E133F82-3BB3-7EDF-7536-20AF304CA626}"/>
              </a:ext>
            </a:extLst>
          </p:cNvPr>
          <p:cNvSpPr>
            <a:spLocks noGrp="1"/>
          </p:cNvSpPr>
          <p:nvPr>
            <p:ph idx="1"/>
          </p:nvPr>
        </p:nvSpPr>
        <p:spPr>
          <a:xfrm>
            <a:off x="628650" y="1358782"/>
            <a:ext cx="7886700" cy="4818181"/>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a:extLst>
              <a:ext uri="{FF2B5EF4-FFF2-40B4-BE49-F238E27FC236}">
                <a16:creationId xmlns:a16="http://schemas.microsoft.com/office/drawing/2014/main" id="{558AC38B-5A39-332A-B892-1C5B3FBB8588}"/>
              </a:ext>
            </a:extLst>
          </p:cNvPr>
          <p:cNvSpPr>
            <a:spLocks noGrp="1"/>
          </p:cNvSpPr>
          <p:nvPr>
            <p:ph type="dt" sz="half" idx="10"/>
          </p:nvPr>
        </p:nvSpPr>
        <p:spPr/>
        <p:txBody>
          <a:bodyPr/>
          <a:lstStyle/>
          <a:p>
            <a:endParaRPr lang="ru-RU"/>
          </a:p>
        </p:txBody>
      </p:sp>
      <p:sp>
        <p:nvSpPr>
          <p:cNvPr id="5" name="Нижний колонтитул 4">
            <a:extLst>
              <a:ext uri="{FF2B5EF4-FFF2-40B4-BE49-F238E27FC236}">
                <a16:creationId xmlns:a16="http://schemas.microsoft.com/office/drawing/2014/main" id="{7AA438C3-09F7-C37D-6E65-4491F577CAE1}"/>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BEC83835-A57E-A742-987C-C776B6ED1513}"/>
              </a:ext>
            </a:extLst>
          </p:cNvPr>
          <p:cNvSpPr>
            <a:spLocks noGrp="1"/>
          </p:cNvSpPr>
          <p:nvPr>
            <p:ph type="sldNum" sz="quarter" idx="12"/>
          </p:nvPr>
        </p:nvSpPr>
        <p:spPr/>
        <p:txBody>
          <a:bodyPr/>
          <a:lstStyle/>
          <a:p>
            <a:fld id="{81C5FB71-5E9C-41B5-9BB8-3F1EBEAEB16A}" type="slidenum">
              <a:rPr lang="ru-RU" smtClean="0"/>
              <a:t>‹#›</a:t>
            </a:fld>
            <a:endParaRPr lang="ru-RU"/>
          </a:p>
        </p:txBody>
      </p:sp>
      <p:pic>
        <p:nvPicPr>
          <p:cNvPr id="7" name="Рисунок 6">
            <a:extLst>
              <a:ext uri="{FF2B5EF4-FFF2-40B4-BE49-F238E27FC236}">
                <a16:creationId xmlns:a16="http://schemas.microsoft.com/office/drawing/2014/main" id="{FB905A05-7552-49FE-9E77-7F0D9D97E0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367" y="70793"/>
            <a:ext cx="480272" cy="707923"/>
          </a:xfrm>
          <a:prstGeom prst="rect">
            <a:avLst/>
          </a:prstGeom>
        </p:spPr>
      </p:pic>
    </p:spTree>
    <p:extLst>
      <p:ext uri="{BB962C8B-B14F-4D97-AF65-F5344CB8AC3E}">
        <p14:creationId xmlns:p14="http://schemas.microsoft.com/office/powerpoint/2010/main" val="12506501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78FF1D-6E2D-5C37-1EF9-3C33C8D4FA83}"/>
              </a:ext>
            </a:extLst>
          </p:cNvPr>
          <p:cNvSpPr>
            <a:spLocks noGrp="1"/>
          </p:cNvSpPr>
          <p:nvPr>
            <p:ph type="title"/>
          </p:nvPr>
        </p:nvSpPr>
        <p:spPr>
          <a:xfrm>
            <a:off x="623888" y="1709739"/>
            <a:ext cx="7886700" cy="2852737"/>
          </a:xfrm>
        </p:spPr>
        <p:txBody>
          <a:bodyPr anchor="b"/>
          <a:lstStyle>
            <a:lvl1pPr>
              <a:defRPr sz="4500"/>
            </a:lvl1pPr>
          </a:lstStyle>
          <a:p>
            <a:r>
              <a:rPr lang="ru-RU" dirty="0"/>
              <a:t>Образец заголовка</a:t>
            </a:r>
          </a:p>
        </p:txBody>
      </p:sp>
      <p:sp>
        <p:nvSpPr>
          <p:cNvPr id="3" name="Текст 2">
            <a:extLst>
              <a:ext uri="{FF2B5EF4-FFF2-40B4-BE49-F238E27FC236}">
                <a16:creationId xmlns:a16="http://schemas.microsoft.com/office/drawing/2014/main" id="{F0582E55-3C82-8981-AD35-5BE1CAF78103}"/>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ru-RU" dirty="0"/>
              <a:t>Образец текста</a:t>
            </a:r>
          </a:p>
        </p:txBody>
      </p:sp>
      <p:sp>
        <p:nvSpPr>
          <p:cNvPr id="4" name="Дата 3">
            <a:extLst>
              <a:ext uri="{FF2B5EF4-FFF2-40B4-BE49-F238E27FC236}">
                <a16:creationId xmlns:a16="http://schemas.microsoft.com/office/drawing/2014/main" id="{05C24C26-5FFB-10BC-7F6B-DD086C3D3B2F}"/>
              </a:ext>
            </a:extLst>
          </p:cNvPr>
          <p:cNvSpPr>
            <a:spLocks noGrp="1"/>
          </p:cNvSpPr>
          <p:nvPr>
            <p:ph type="dt" sz="half" idx="10"/>
          </p:nvPr>
        </p:nvSpPr>
        <p:spPr/>
        <p:txBody>
          <a:bodyPr/>
          <a:lstStyle/>
          <a:p>
            <a:endParaRPr lang="ru-RU"/>
          </a:p>
        </p:txBody>
      </p:sp>
      <p:sp>
        <p:nvSpPr>
          <p:cNvPr id="5" name="Нижний колонтитул 4">
            <a:extLst>
              <a:ext uri="{FF2B5EF4-FFF2-40B4-BE49-F238E27FC236}">
                <a16:creationId xmlns:a16="http://schemas.microsoft.com/office/drawing/2014/main" id="{9D785404-A40E-C6B4-B1AF-346CA25363D8}"/>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9FEA0686-FE00-F77C-4961-0D4916B1D1EF}"/>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1493748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03BFC52-ACF7-50D2-B236-F3AD0C764E31}"/>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063D935F-6E1D-704A-FFD9-95880A32F611}"/>
              </a:ext>
            </a:extLst>
          </p:cNvPr>
          <p:cNvSpPr>
            <a:spLocks noGrp="1"/>
          </p:cNvSpPr>
          <p:nvPr>
            <p:ph sz="half" idx="1"/>
          </p:nvPr>
        </p:nvSpPr>
        <p:spPr>
          <a:xfrm>
            <a:off x="628650" y="1350234"/>
            <a:ext cx="3886200" cy="4826729"/>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Объект 3">
            <a:extLst>
              <a:ext uri="{FF2B5EF4-FFF2-40B4-BE49-F238E27FC236}">
                <a16:creationId xmlns:a16="http://schemas.microsoft.com/office/drawing/2014/main" id="{C45F5B83-C11F-C63E-19F8-F170305E7390}"/>
              </a:ext>
            </a:extLst>
          </p:cNvPr>
          <p:cNvSpPr>
            <a:spLocks noGrp="1"/>
          </p:cNvSpPr>
          <p:nvPr>
            <p:ph sz="half" idx="2"/>
          </p:nvPr>
        </p:nvSpPr>
        <p:spPr>
          <a:xfrm>
            <a:off x="4629150" y="1350233"/>
            <a:ext cx="3886200" cy="4826730"/>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5" name="Дата 4">
            <a:extLst>
              <a:ext uri="{FF2B5EF4-FFF2-40B4-BE49-F238E27FC236}">
                <a16:creationId xmlns:a16="http://schemas.microsoft.com/office/drawing/2014/main" id="{816558B0-F06F-5D3F-D4CE-12FEA6CA58DA}"/>
              </a:ext>
            </a:extLst>
          </p:cNvPr>
          <p:cNvSpPr>
            <a:spLocks noGrp="1"/>
          </p:cNvSpPr>
          <p:nvPr>
            <p:ph type="dt" sz="half" idx="10"/>
          </p:nvPr>
        </p:nvSpPr>
        <p:spPr/>
        <p:txBody>
          <a:bodyPr/>
          <a:lstStyle/>
          <a:p>
            <a:endParaRPr lang="ru-RU"/>
          </a:p>
        </p:txBody>
      </p:sp>
      <p:sp>
        <p:nvSpPr>
          <p:cNvPr id="6" name="Нижний колонтитул 5">
            <a:extLst>
              <a:ext uri="{FF2B5EF4-FFF2-40B4-BE49-F238E27FC236}">
                <a16:creationId xmlns:a16="http://schemas.microsoft.com/office/drawing/2014/main" id="{D5CA1470-A32E-0878-FF54-B467D3734615}"/>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823D6CAE-E104-B509-30C5-5F816DC34D74}"/>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3073781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9662FB2-61E9-B090-DDF5-637C0F11674A}"/>
              </a:ext>
            </a:extLst>
          </p:cNvPr>
          <p:cNvSpPr>
            <a:spLocks noGrp="1"/>
          </p:cNvSpPr>
          <p:nvPr>
            <p:ph type="title"/>
          </p:nvPr>
        </p:nvSpPr>
        <p:spPr>
          <a:xfrm>
            <a:off x="629841" y="365126"/>
            <a:ext cx="78867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8B13BEC1-5CE1-39A0-5F98-DF1F88A9A1B9}"/>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ru-RU"/>
              <a:t>Образец текста</a:t>
            </a:r>
          </a:p>
        </p:txBody>
      </p:sp>
      <p:sp>
        <p:nvSpPr>
          <p:cNvPr id="4" name="Объект 3">
            <a:extLst>
              <a:ext uri="{FF2B5EF4-FFF2-40B4-BE49-F238E27FC236}">
                <a16:creationId xmlns:a16="http://schemas.microsoft.com/office/drawing/2014/main" id="{7B468AB7-7222-8D12-74BF-6E3FB9D6FFE1}"/>
              </a:ext>
            </a:extLst>
          </p:cNvPr>
          <p:cNvSpPr>
            <a:spLocks noGrp="1"/>
          </p:cNvSpPr>
          <p:nvPr>
            <p:ph sz="half" idx="2"/>
          </p:nvPr>
        </p:nvSpPr>
        <p:spPr>
          <a:xfrm>
            <a:off x="629842" y="2505075"/>
            <a:ext cx="3868340" cy="3684588"/>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5" name="Текст 4">
            <a:extLst>
              <a:ext uri="{FF2B5EF4-FFF2-40B4-BE49-F238E27FC236}">
                <a16:creationId xmlns:a16="http://schemas.microsoft.com/office/drawing/2014/main" id="{36F43AB0-793E-04C0-7572-90E3AE8BD6EA}"/>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ru-RU"/>
              <a:t>Образец текста</a:t>
            </a:r>
          </a:p>
        </p:txBody>
      </p:sp>
      <p:sp>
        <p:nvSpPr>
          <p:cNvPr id="6" name="Объект 5">
            <a:extLst>
              <a:ext uri="{FF2B5EF4-FFF2-40B4-BE49-F238E27FC236}">
                <a16:creationId xmlns:a16="http://schemas.microsoft.com/office/drawing/2014/main" id="{23145C1A-E56D-D9A4-49F4-0E7DE8CF2B49}"/>
              </a:ext>
            </a:extLst>
          </p:cNvPr>
          <p:cNvSpPr>
            <a:spLocks noGrp="1"/>
          </p:cNvSpPr>
          <p:nvPr>
            <p:ph sz="quarter" idx="4"/>
          </p:nvPr>
        </p:nvSpPr>
        <p:spPr>
          <a:xfrm>
            <a:off x="4629150" y="2505075"/>
            <a:ext cx="3887391"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D740FE84-A485-926E-EB2F-9B3A823DB8E8}"/>
              </a:ext>
            </a:extLst>
          </p:cNvPr>
          <p:cNvSpPr>
            <a:spLocks noGrp="1"/>
          </p:cNvSpPr>
          <p:nvPr>
            <p:ph type="dt" sz="half" idx="10"/>
          </p:nvPr>
        </p:nvSpPr>
        <p:spPr/>
        <p:txBody>
          <a:bodyPr/>
          <a:lstStyle/>
          <a:p>
            <a:endParaRPr lang="ru-RU"/>
          </a:p>
        </p:txBody>
      </p:sp>
      <p:sp>
        <p:nvSpPr>
          <p:cNvPr id="8" name="Нижний колонтитул 7">
            <a:extLst>
              <a:ext uri="{FF2B5EF4-FFF2-40B4-BE49-F238E27FC236}">
                <a16:creationId xmlns:a16="http://schemas.microsoft.com/office/drawing/2014/main" id="{4ADDA50C-CC20-F389-1487-E639ADD36B0E}"/>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9EDB0A96-E301-1128-9118-CB1ADB6AF5BF}"/>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717382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F0D036-AD2A-1CBA-C6F3-7B4578499C98}"/>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2C548B4E-17C4-CF0D-4E01-1DC835F2F11A}"/>
              </a:ext>
            </a:extLst>
          </p:cNvPr>
          <p:cNvSpPr>
            <a:spLocks noGrp="1"/>
          </p:cNvSpPr>
          <p:nvPr>
            <p:ph type="dt" sz="half" idx="10"/>
          </p:nvPr>
        </p:nvSpPr>
        <p:spPr/>
        <p:txBody>
          <a:bodyPr/>
          <a:lstStyle/>
          <a:p>
            <a:endParaRPr lang="ru-RU"/>
          </a:p>
        </p:txBody>
      </p:sp>
      <p:sp>
        <p:nvSpPr>
          <p:cNvPr id="4" name="Нижний колонтитул 3">
            <a:extLst>
              <a:ext uri="{FF2B5EF4-FFF2-40B4-BE49-F238E27FC236}">
                <a16:creationId xmlns:a16="http://schemas.microsoft.com/office/drawing/2014/main" id="{05E4C0D2-8219-4FB3-36A6-B7D7FBAE0074}"/>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B480AC24-E8CC-84DB-8B56-18C72FA88379}"/>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42798177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1828864F-9629-DBDC-6AA3-5D97BFEFB2E4}"/>
              </a:ext>
            </a:extLst>
          </p:cNvPr>
          <p:cNvSpPr>
            <a:spLocks noGrp="1"/>
          </p:cNvSpPr>
          <p:nvPr>
            <p:ph type="dt" sz="half" idx="10"/>
          </p:nvPr>
        </p:nvSpPr>
        <p:spPr/>
        <p:txBody>
          <a:bodyPr/>
          <a:lstStyle/>
          <a:p>
            <a:endParaRPr lang="ru-RU"/>
          </a:p>
        </p:txBody>
      </p:sp>
      <p:sp>
        <p:nvSpPr>
          <p:cNvPr id="3" name="Нижний колонтитул 2">
            <a:extLst>
              <a:ext uri="{FF2B5EF4-FFF2-40B4-BE49-F238E27FC236}">
                <a16:creationId xmlns:a16="http://schemas.microsoft.com/office/drawing/2014/main" id="{E5DC655F-3247-CCB5-ACC2-F50126E46CEB}"/>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A322E155-6080-BCFA-E59A-34FCD9CD2F0C}"/>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3802324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ABC904-DE7E-1195-CDF6-0A530BBDF000}"/>
              </a:ext>
            </a:extLst>
          </p:cNvPr>
          <p:cNvSpPr>
            <a:spLocks noGrp="1"/>
          </p:cNvSpPr>
          <p:nvPr>
            <p:ph type="title"/>
          </p:nvPr>
        </p:nvSpPr>
        <p:spPr>
          <a:xfrm>
            <a:off x="629841" y="457200"/>
            <a:ext cx="2949178" cy="1600200"/>
          </a:xfrm>
        </p:spPr>
        <p:txBody>
          <a:bodyPr anchor="b"/>
          <a:lstStyle>
            <a:lvl1pPr>
              <a:defRPr sz="2400"/>
            </a:lvl1pPr>
          </a:lstStyle>
          <a:p>
            <a:r>
              <a:rPr lang="ru-RU"/>
              <a:t>Образец заголовка</a:t>
            </a:r>
          </a:p>
        </p:txBody>
      </p:sp>
      <p:sp>
        <p:nvSpPr>
          <p:cNvPr id="3" name="Объект 2">
            <a:extLst>
              <a:ext uri="{FF2B5EF4-FFF2-40B4-BE49-F238E27FC236}">
                <a16:creationId xmlns:a16="http://schemas.microsoft.com/office/drawing/2014/main" id="{EABC21CB-E5B3-D11E-2E38-ECCD7B0B1D06}"/>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C5E67837-24BE-30FB-FD14-64C3E801CD2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ru-RU"/>
              <a:t>Образец текста</a:t>
            </a:r>
          </a:p>
        </p:txBody>
      </p:sp>
      <p:sp>
        <p:nvSpPr>
          <p:cNvPr id="5" name="Дата 4">
            <a:extLst>
              <a:ext uri="{FF2B5EF4-FFF2-40B4-BE49-F238E27FC236}">
                <a16:creationId xmlns:a16="http://schemas.microsoft.com/office/drawing/2014/main" id="{76F30326-BFB0-8F27-BDF9-353C631FD3D0}"/>
              </a:ext>
            </a:extLst>
          </p:cNvPr>
          <p:cNvSpPr>
            <a:spLocks noGrp="1"/>
          </p:cNvSpPr>
          <p:nvPr>
            <p:ph type="dt" sz="half" idx="10"/>
          </p:nvPr>
        </p:nvSpPr>
        <p:spPr/>
        <p:txBody>
          <a:bodyPr/>
          <a:lstStyle/>
          <a:p>
            <a:endParaRPr lang="ru-RU"/>
          </a:p>
        </p:txBody>
      </p:sp>
      <p:sp>
        <p:nvSpPr>
          <p:cNvPr id="6" name="Нижний колонтитул 5">
            <a:extLst>
              <a:ext uri="{FF2B5EF4-FFF2-40B4-BE49-F238E27FC236}">
                <a16:creationId xmlns:a16="http://schemas.microsoft.com/office/drawing/2014/main" id="{538C1939-F636-863E-84C1-530A04A8AFB5}"/>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2153206C-50B3-2EDC-8517-7704146F07EB}"/>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3098352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80F850-BF2A-5E90-C014-05D89F8466AC}"/>
              </a:ext>
            </a:extLst>
          </p:cNvPr>
          <p:cNvSpPr>
            <a:spLocks noGrp="1"/>
          </p:cNvSpPr>
          <p:nvPr>
            <p:ph type="title"/>
          </p:nvPr>
        </p:nvSpPr>
        <p:spPr>
          <a:xfrm>
            <a:off x="629841" y="457200"/>
            <a:ext cx="2949178" cy="1600200"/>
          </a:xfrm>
        </p:spPr>
        <p:txBody>
          <a:bodyPr anchor="b"/>
          <a:lstStyle>
            <a:lvl1pPr>
              <a:defRPr sz="2400"/>
            </a:lvl1pPr>
          </a:lstStyle>
          <a:p>
            <a:r>
              <a:rPr lang="ru-RU"/>
              <a:t>Образец заголовка</a:t>
            </a:r>
          </a:p>
        </p:txBody>
      </p:sp>
      <p:sp>
        <p:nvSpPr>
          <p:cNvPr id="3" name="Рисунок 2">
            <a:extLst>
              <a:ext uri="{FF2B5EF4-FFF2-40B4-BE49-F238E27FC236}">
                <a16:creationId xmlns:a16="http://schemas.microsoft.com/office/drawing/2014/main" id="{65ED2E89-03E3-6279-B0B8-5B70A09CD472}"/>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ru-RU"/>
          </a:p>
        </p:txBody>
      </p:sp>
      <p:sp>
        <p:nvSpPr>
          <p:cNvPr id="4" name="Текст 3">
            <a:extLst>
              <a:ext uri="{FF2B5EF4-FFF2-40B4-BE49-F238E27FC236}">
                <a16:creationId xmlns:a16="http://schemas.microsoft.com/office/drawing/2014/main" id="{688B8B21-B9FB-6209-49AE-287EA61C5CA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ru-RU"/>
              <a:t>Образец текста</a:t>
            </a:r>
          </a:p>
        </p:txBody>
      </p:sp>
      <p:sp>
        <p:nvSpPr>
          <p:cNvPr id="5" name="Дата 4">
            <a:extLst>
              <a:ext uri="{FF2B5EF4-FFF2-40B4-BE49-F238E27FC236}">
                <a16:creationId xmlns:a16="http://schemas.microsoft.com/office/drawing/2014/main" id="{03AF0344-3C4D-162C-D2C6-3EC83808A152}"/>
              </a:ext>
            </a:extLst>
          </p:cNvPr>
          <p:cNvSpPr>
            <a:spLocks noGrp="1"/>
          </p:cNvSpPr>
          <p:nvPr>
            <p:ph type="dt" sz="half" idx="10"/>
          </p:nvPr>
        </p:nvSpPr>
        <p:spPr/>
        <p:txBody>
          <a:bodyPr/>
          <a:lstStyle/>
          <a:p>
            <a:endParaRPr lang="ru-RU"/>
          </a:p>
        </p:txBody>
      </p:sp>
      <p:sp>
        <p:nvSpPr>
          <p:cNvPr id="6" name="Нижний колонтитул 5">
            <a:extLst>
              <a:ext uri="{FF2B5EF4-FFF2-40B4-BE49-F238E27FC236}">
                <a16:creationId xmlns:a16="http://schemas.microsoft.com/office/drawing/2014/main" id="{F531DDED-EC2F-5D31-C4FB-58BF1C1C65E1}"/>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8A915E6D-61CA-F55A-221D-E7DDED9F27AE}"/>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28298640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D2E7370-4728-F9E8-C914-18F0F1D5ADDF}"/>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0939D510-D502-390D-92B5-3838FC4CC0D9}"/>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AC79971B-94C9-FEEC-4C09-AC621444383B}"/>
              </a:ext>
            </a:extLst>
          </p:cNvPr>
          <p:cNvSpPr>
            <a:spLocks noGrp="1"/>
          </p:cNvSpPr>
          <p:nvPr>
            <p:ph type="dt" sz="half" idx="10"/>
          </p:nvPr>
        </p:nvSpPr>
        <p:spPr/>
        <p:txBody>
          <a:bodyPr/>
          <a:lstStyle/>
          <a:p>
            <a:endParaRPr lang="ru-RU"/>
          </a:p>
        </p:txBody>
      </p:sp>
      <p:sp>
        <p:nvSpPr>
          <p:cNvPr id="5" name="Нижний колонтитул 4">
            <a:extLst>
              <a:ext uri="{FF2B5EF4-FFF2-40B4-BE49-F238E27FC236}">
                <a16:creationId xmlns:a16="http://schemas.microsoft.com/office/drawing/2014/main" id="{B9135BFA-5492-23C4-E6A2-1A5B50DB849B}"/>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9AF740CD-9E9E-D419-05AF-685E0B4E5908}"/>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1611975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1703B8D4-FFFB-51BC-0095-F6912432DD2C}"/>
              </a:ext>
            </a:extLst>
          </p:cNvPr>
          <p:cNvSpPr>
            <a:spLocks noGrp="1"/>
          </p:cNvSpPr>
          <p:nvPr>
            <p:ph type="title" orient="vert"/>
          </p:nvPr>
        </p:nvSpPr>
        <p:spPr>
          <a:xfrm>
            <a:off x="6543675" y="365125"/>
            <a:ext cx="1971675"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6EE6D829-078B-B5F1-ADE1-33C94626B733}"/>
              </a:ext>
            </a:extLst>
          </p:cNvPr>
          <p:cNvSpPr>
            <a:spLocks noGrp="1"/>
          </p:cNvSpPr>
          <p:nvPr>
            <p:ph type="body" orient="vert" idx="1"/>
          </p:nvPr>
        </p:nvSpPr>
        <p:spPr>
          <a:xfrm>
            <a:off x="628650" y="365125"/>
            <a:ext cx="5800725"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62FE88C0-8BC2-47C8-E4DC-B700D95EBC03}"/>
              </a:ext>
            </a:extLst>
          </p:cNvPr>
          <p:cNvSpPr>
            <a:spLocks noGrp="1"/>
          </p:cNvSpPr>
          <p:nvPr>
            <p:ph type="dt" sz="half" idx="10"/>
          </p:nvPr>
        </p:nvSpPr>
        <p:spPr/>
        <p:txBody>
          <a:bodyPr/>
          <a:lstStyle/>
          <a:p>
            <a:endParaRPr lang="ru-RU"/>
          </a:p>
        </p:txBody>
      </p:sp>
      <p:sp>
        <p:nvSpPr>
          <p:cNvPr id="5" name="Нижний колонтитул 4">
            <a:extLst>
              <a:ext uri="{FF2B5EF4-FFF2-40B4-BE49-F238E27FC236}">
                <a16:creationId xmlns:a16="http://schemas.microsoft.com/office/drawing/2014/main" id="{8A85BF16-D79D-ED36-0BF9-885AFC7FB323}"/>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E41666F3-33E7-6CB8-C181-1FE2342AAC90}"/>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13028287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лектор слева">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A1E5457D-1A65-4814-B82B-2C09539FDD7D}"/>
              </a:ext>
            </a:extLst>
          </p:cNvPr>
          <p:cNvSpPr>
            <a:spLocks noGrp="1"/>
          </p:cNvSpPr>
          <p:nvPr>
            <p:ph type="body" sz="quarter" idx="10" hasCustomPrompt="1"/>
          </p:nvPr>
        </p:nvSpPr>
        <p:spPr>
          <a:xfrm>
            <a:off x="646834" y="212652"/>
            <a:ext cx="8412133" cy="2472070"/>
          </a:xfrm>
          <a:prstGeom prst="rect">
            <a:avLst/>
          </a:prstGeom>
        </p:spPr>
        <p:txBody>
          <a:bodyPr/>
          <a:lstStyle>
            <a:lvl1pPr marL="0" indent="0" algn="ctr">
              <a:buNone/>
              <a:defRPr sz="4050" b="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defRPr>
            </a:lvl1pPr>
          </a:lstStyle>
          <a:p>
            <a:pPr lvl="0"/>
            <a:r>
              <a:rPr lang="ru-RU" dirty="0"/>
              <a:t>Название дисциплины</a:t>
            </a:r>
          </a:p>
        </p:txBody>
      </p:sp>
      <p:sp>
        <p:nvSpPr>
          <p:cNvPr id="6" name="Текст 4">
            <a:extLst>
              <a:ext uri="{FF2B5EF4-FFF2-40B4-BE49-F238E27FC236}">
                <a16:creationId xmlns:a16="http://schemas.microsoft.com/office/drawing/2014/main" id="{243EB0EA-B14F-4F7C-A662-195D09977AC2}"/>
              </a:ext>
            </a:extLst>
          </p:cNvPr>
          <p:cNvSpPr>
            <a:spLocks noGrp="1"/>
          </p:cNvSpPr>
          <p:nvPr>
            <p:ph type="body" sz="quarter" idx="11" hasCustomPrompt="1"/>
          </p:nvPr>
        </p:nvSpPr>
        <p:spPr>
          <a:xfrm>
            <a:off x="646833" y="4433107"/>
            <a:ext cx="8412133" cy="689986"/>
          </a:xfrm>
          <a:prstGeom prst="rect">
            <a:avLst/>
          </a:prstGeom>
        </p:spPr>
        <p:txBody>
          <a:bodyPr/>
          <a:lstStyle>
            <a:lvl1pPr marL="0" indent="0" algn="r">
              <a:buNone/>
              <a:defRPr sz="3000" b="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defRPr>
            </a:lvl1pPr>
          </a:lstStyle>
          <a:p>
            <a:pPr lvl="0"/>
            <a:r>
              <a:rPr lang="ru-RU" dirty="0"/>
              <a:t>ФИО лектора</a:t>
            </a:r>
          </a:p>
        </p:txBody>
      </p:sp>
      <p:sp>
        <p:nvSpPr>
          <p:cNvPr id="8" name="Текст 4">
            <a:extLst>
              <a:ext uri="{FF2B5EF4-FFF2-40B4-BE49-F238E27FC236}">
                <a16:creationId xmlns:a16="http://schemas.microsoft.com/office/drawing/2014/main" id="{6657CA8C-522E-4429-B65F-6D6FE560E4B1}"/>
              </a:ext>
            </a:extLst>
          </p:cNvPr>
          <p:cNvSpPr>
            <a:spLocks noGrp="1"/>
          </p:cNvSpPr>
          <p:nvPr>
            <p:ph type="body" sz="quarter" idx="13" hasCustomPrompt="1"/>
          </p:nvPr>
        </p:nvSpPr>
        <p:spPr>
          <a:xfrm>
            <a:off x="646832" y="6034875"/>
            <a:ext cx="8412133" cy="513908"/>
          </a:xfrm>
          <a:prstGeom prst="rect">
            <a:avLst/>
          </a:prstGeom>
        </p:spPr>
        <p:txBody>
          <a:bodyPr/>
          <a:lstStyle>
            <a:lvl1pPr marL="0" indent="0" algn="r">
              <a:buNone/>
              <a:defRPr sz="1500" b="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defRPr>
            </a:lvl1pPr>
          </a:lstStyle>
          <a:p>
            <a:pPr lvl="0"/>
            <a:r>
              <a:rPr lang="ru-RU" dirty="0"/>
              <a:t>Контактный </a:t>
            </a:r>
            <a:r>
              <a:rPr lang="en-US" dirty="0"/>
              <a:t>e-mail</a:t>
            </a:r>
            <a:endParaRPr lang="ru-RU" dirty="0"/>
          </a:p>
        </p:txBody>
      </p:sp>
      <p:sp>
        <p:nvSpPr>
          <p:cNvPr id="9" name="Текст 4">
            <a:extLst>
              <a:ext uri="{FF2B5EF4-FFF2-40B4-BE49-F238E27FC236}">
                <a16:creationId xmlns:a16="http://schemas.microsoft.com/office/drawing/2014/main" id="{7D9F4617-139A-49F3-B340-15C00D7D3994}"/>
              </a:ext>
            </a:extLst>
          </p:cNvPr>
          <p:cNvSpPr>
            <a:spLocks noGrp="1"/>
          </p:cNvSpPr>
          <p:nvPr>
            <p:ph type="body" sz="quarter" idx="14" hasCustomPrompt="1"/>
          </p:nvPr>
        </p:nvSpPr>
        <p:spPr>
          <a:xfrm>
            <a:off x="646833" y="5344889"/>
            <a:ext cx="8412133" cy="513908"/>
          </a:xfrm>
          <a:prstGeom prst="rect">
            <a:avLst/>
          </a:prstGeom>
        </p:spPr>
        <p:txBody>
          <a:bodyPr/>
          <a:lstStyle>
            <a:lvl1pPr marL="0" indent="0" algn="r">
              <a:buNone/>
              <a:defRPr sz="1500" b="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defRPr>
            </a:lvl1pPr>
          </a:lstStyle>
          <a:p>
            <a:pPr lvl="0"/>
            <a:r>
              <a:rPr lang="ru-RU" dirty="0"/>
              <a:t>Звание, должность, место работы</a:t>
            </a:r>
          </a:p>
        </p:txBody>
      </p:sp>
      <p:sp>
        <p:nvSpPr>
          <p:cNvPr id="3" name="Прямоугольник 2"/>
          <p:cNvSpPr/>
          <p:nvPr userDrawn="1"/>
        </p:nvSpPr>
        <p:spPr>
          <a:xfrm>
            <a:off x="6952895" y="5800782"/>
            <a:ext cx="2106069" cy="45719"/>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latin typeface="Calibri" panose="020F0502020204030204" pitchFamily="34" charset="0"/>
              <a:cs typeface="Calibri" panose="020F0502020204030204" pitchFamily="34" charset="0"/>
            </a:endParaRPr>
          </a:p>
        </p:txBody>
      </p:sp>
      <p:pic>
        <p:nvPicPr>
          <p:cNvPr id="10" name="Рисунок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367" y="70793"/>
            <a:ext cx="480272" cy="707923"/>
          </a:xfrm>
          <a:prstGeom prst="rect">
            <a:avLst/>
          </a:prstGeom>
        </p:spPr>
      </p:pic>
    </p:spTree>
    <p:extLst>
      <p:ext uri="{BB962C8B-B14F-4D97-AF65-F5344CB8AC3E}">
        <p14:creationId xmlns:p14="http://schemas.microsoft.com/office/powerpoint/2010/main" val="118798989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лектор слева">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A1E5457D-1A65-4814-B82B-2C09539FDD7D}"/>
              </a:ext>
            </a:extLst>
          </p:cNvPr>
          <p:cNvSpPr>
            <a:spLocks noGrp="1"/>
          </p:cNvSpPr>
          <p:nvPr>
            <p:ph type="body" sz="quarter" idx="10" hasCustomPrompt="1"/>
          </p:nvPr>
        </p:nvSpPr>
        <p:spPr>
          <a:xfrm>
            <a:off x="670214" y="212653"/>
            <a:ext cx="8388753" cy="1161898"/>
          </a:xfrm>
          <a:prstGeom prst="rect">
            <a:avLst/>
          </a:prstGeom>
        </p:spPr>
        <p:txBody>
          <a:bodyPr/>
          <a:lstStyle>
            <a:lvl1pPr marL="0" indent="0" algn="ctr">
              <a:buNone/>
              <a:defRPr sz="4050" b="0" cap="none" spc="0">
                <a:ln w="0"/>
                <a:solidFill>
                  <a:schemeClr val="tx1"/>
                </a:solidFill>
                <a:effectLst>
                  <a:outerShdw blurRad="38100" dist="19050" dir="2700000" algn="tl" rotWithShape="0">
                    <a:schemeClr val="dk1">
                      <a:alpha val="40000"/>
                    </a:schemeClr>
                  </a:outerShdw>
                </a:effectLst>
              </a:defRPr>
            </a:lvl1pPr>
          </a:lstStyle>
          <a:p>
            <a:pPr lvl="0"/>
            <a:r>
              <a:rPr lang="ru-RU" dirty="0"/>
              <a:t>Название слайда</a:t>
            </a:r>
          </a:p>
        </p:txBody>
      </p:sp>
      <p:sp>
        <p:nvSpPr>
          <p:cNvPr id="4" name="Текст 3">
            <a:extLst>
              <a:ext uri="{FF2B5EF4-FFF2-40B4-BE49-F238E27FC236}">
                <a16:creationId xmlns:a16="http://schemas.microsoft.com/office/drawing/2014/main" id="{6EAB95B9-19B9-409F-B0C0-80242AEA1C51}"/>
              </a:ext>
            </a:extLst>
          </p:cNvPr>
          <p:cNvSpPr>
            <a:spLocks noGrp="1"/>
          </p:cNvSpPr>
          <p:nvPr>
            <p:ph type="body" sz="quarter" idx="11"/>
          </p:nvPr>
        </p:nvSpPr>
        <p:spPr>
          <a:xfrm>
            <a:off x="670214" y="1830183"/>
            <a:ext cx="8388753" cy="4487862"/>
          </a:xfrm>
          <a:prstGeom prst="rect">
            <a:avLst/>
          </a:prstGeom>
        </p:spPr>
        <p:txBody>
          <a:bodyPr/>
          <a:lstStyle>
            <a:lvl1pPr>
              <a:defRPr sz="2700"/>
            </a:lvl1pPr>
            <a:lvl2pPr>
              <a:defRPr sz="2400"/>
            </a:lvl2pPr>
            <a:lvl3pPr>
              <a:defRPr sz="1800"/>
            </a:lvl3pPr>
            <a:lvl4pPr>
              <a:defRPr sz="1500"/>
            </a:lvl4pPr>
            <a:lvl5pPr>
              <a:defRPr sz="1500"/>
            </a:lvl5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pic>
        <p:nvPicPr>
          <p:cNvPr id="6" name="Рисунок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367" y="70793"/>
            <a:ext cx="480272" cy="707923"/>
          </a:xfrm>
          <a:prstGeom prst="rect">
            <a:avLst/>
          </a:prstGeom>
        </p:spPr>
      </p:pic>
    </p:spTree>
    <p:extLst>
      <p:ext uri="{BB962C8B-B14F-4D97-AF65-F5344CB8AC3E}">
        <p14:creationId xmlns:p14="http://schemas.microsoft.com/office/powerpoint/2010/main" val="2066955911"/>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лектор слева">
    <p:spTree>
      <p:nvGrpSpPr>
        <p:cNvPr id="1" name=""/>
        <p:cNvGrpSpPr/>
        <p:nvPr/>
      </p:nvGrpSpPr>
      <p:grpSpPr>
        <a:xfrm>
          <a:off x="0" y="0"/>
          <a:ext cx="0" cy="0"/>
          <a:chOff x="0" y="0"/>
          <a:chExt cx="0" cy="0"/>
        </a:xfrm>
      </p:grpSpPr>
      <p:pic>
        <p:nvPicPr>
          <p:cNvPr id="3" name="Рисунок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367" y="70793"/>
            <a:ext cx="480272" cy="707923"/>
          </a:xfrm>
          <a:prstGeom prst="rect">
            <a:avLst/>
          </a:prstGeom>
        </p:spPr>
      </p:pic>
    </p:spTree>
    <p:extLst>
      <p:ext uri="{BB962C8B-B14F-4D97-AF65-F5344CB8AC3E}">
        <p14:creationId xmlns:p14="http://schemas.microsoft.com/office/powerpoint/2010/main" val="240148441"/>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лектор в центре">
    <p:spTree>
      <p:nvGrpSpPr>
        <p:cNvPr id="1" name=""/>
        <p:cNvGrpSpPr/>
        <p:nvPr/>
      </p:nvGrpSpPr>
      <p:grpSpPr>
        <a:xfrm>
          <a:off x="0" y="0"/>
          <a:ext cx="0" cy="0"/>
          <a:chOff x="0" y="0"/>
          <a:chExt cx="0" cy="0"/>
        </a:xfrm>
      </p:grpSpPr>
      <p:pic>
        <p:nvPicPr>
          <p:cNvPr id="3" name="Рисунок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367" y="70793"/>
            <a:ext cx="480272" cy="707923"/>
          </a:xfrm>
          <a:prstGeom prst="rect">
            <a:avLst/>
          </a:prstGeom>
        </p:spPr>
      </p:pic>
    </p:spTree>
    <p:extLst>
      <p:ext uri="{BB962C8B-B14F-4D97-AF65-F5344CB8AC3E}">
        <p14:creationId xmlns:p14="http://schemas.microsoft.com/office/powerpoint/2010/main" val="1526191577"/>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лектор справа">
    <p:spTree>
      <p:nvGrpSpPr>
        <p:cNvPr id="1" name=""/>
        <p:cNvGrpSpPr/>
        <p:nvPr/>
      </p:nvGrpSpPr>
      <p:grpSpPr>
        <a:xfrm>
          <a:off x="0" y="0"/>
          <a:ext cx="0" cy="0"/>
          <a:chOff x="0" y="0"/>
          <a:chExt cx="0" cy="0"/>
        </a:xfrm>
      </p:grpSpPr>
      <p:pic>
        <p:nvPicPr>
          <p:cNvPr id="4" name="Рисунок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367" y="70793"/>
            <a:ext cx="480272" cy="707923"/>
          </a:xfrm>
          <a:prstGeom prst="rect">
            <a:avLst/>
          </a:prstGeom>
        </p:spPr>
      </p:pic>
    </p:spTree>
    <p:extLst>
      <p:ext uri="{BB962C8B-B14F-4D97-AF65-F5344CB8AC3E}">
        <p14:creationId xmlns:p14="http://schemas.microsoft.com/office/powerpoint/2010/main" val="4147588072"/>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без лектора">
    <p:spTree>
      <p:nvGrpSpPr>
        <p:cNvPr id="1" name=""/>
        <p:cNvGrpSpPr/>
        <p:nvPr/>
      </p:nvGrpSpPr>
      <p:grpSpPr>
        <a:xfrm>
          <a:off x="0" y="0"/>
          <a:ext cx="0" cy="0"/>
          <a:chOff x="0" y="0"/>
          <a:chExt cx="0" cy="0"/>
        </a:xfrm>
      </p:grpSpPr>
      <p:pic>
        <p:nvPicPr>
          <p:cNvPr id="4" name="Рисунок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367" y="70793"/>
            <a:ext cx="480272" cy="707923"/>
          </a:xfrm>
          <a:prstGeom prst="rect">
            <a:avLst/>
          </a:prstGeom>
        </p:spPr>
      </p:pic>
    </p:spTree>
    <p:extLst>
      <p:ext uri="{BB962C8B-B14F-4D97-AF65-F5344CB8AC3E}">
        <p14:creationId xmlns:p14="http://schemas.microsoft.com/office/powerpoint/2010/main" val="29982243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титульный лист">
    <p:spTree>
      <p:nvGrpSpPr>
        <p:cNvPr id="1" name=""/>
        <p:cNvGrpSpPr/>
        <p:nvPr/>
      </p:nvGrpSpPr>
      <p:grpSpPr>
        <a:xfrm>
          <a:off x="0" y="0"/>
          <a:ext cx="0" cy="0"/>
          <a:chOff x="0" y="0"/>
          <a:chExt cx="0" cy="0"/>
        </a:xfrm>
      </p:grpSpPr>
      <p:pic>
        <p:nvPicPr>
          <p:cNvPr id="4" name="Рисунок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367" y="70793"/>
            <a:ext cx="480272" cy="707923"/>
          </a:xfrm>
          <a:prstGeom prst="rect">
            <a:avLst/>
          </a:prstGeom>
        </p:spPr>
      </p:pic>
    </p:spTree>
    <p:extLst>
      <p:ext uri="{BB962C8B-B14F-4D97-AF65-F5344CB8AC3E}">
        <p14:creationId xmlns:p14="http://schemas.microsoft.com/office/powerpoint/2010/main" val="4026837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83F0DFB-F6BC-AF29-BE7E-4E3216FC72C1}"/>
              </a:ext>
            </a:extLst>
          </p:cNvPr>
          <p:cNvSpPr>
            <a:spLocks noGrp="1"/>
          </p:cNvSpPr>
          <p:nvPr>
            <p:ph type="title"/>
          </p:nvPr>
        </p:nvSpPr>
        <p:spPr>
          <a:xfrm>
            <a:off x="628650" y="70791"/>
            <a:ext cx="7886700" cy="1100056"/>
          </a:xfrm>
          <a:prstGeom prst="rect">
            <a:avLst/>
          </a:prstGeom>
        </p:spPr>
        <p:txBody>
          <a:bodyPr vert="horz" lIns="91440" tIns="45720" rIns="91440" bIns="45720" rtlCol="0" anchor="ctr">
            <a:normAutofit/>
          </a:bodyPr>
          <a:lstStyle/>
          <a:p>
            <a:r>
              <a:rPr lang="ru-RU" dirty="0"/>
              <a:t>Образец заголовка</a:t>
            </a:r>
          </a:p>
        </p:txBody>
      </p:sp>
      <p:sp>
        <p:nvSpPr>
          <p:cNvPr id="3" name="Текст 2">
            <a:extLst>
              <a:ext uri="{FF2B5EF4-FFF2-40B4-BE49-F238E27FC236}">
                <a16:creationId xmlns:a16="http://schemas.microsoft.com/office/drawing/2014/main" id="{AC8C1FDE-157F-0CF9-6678-361FB41BEF8F}"/>
              </a:ext>
            </a:extLst>
          </p:cNvPr>
          <p:cNvSpPr>
            <a:spLocks noGrp="1"/>
          </p:cNvSpPr>
          <p:nvPr>
            <p:ph type="body" idx="1"/>
          </p:nvPr>
        </p:nvSpPr>
        <p:spPr>
          <a:xfrm>
            <a:off x="628650" y="1350236"/>
            <a:ext cx="7886700" cy="4826727"/>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a:extLst>
              <a:ext uri="{FF2B5EF4-FFF2-40B4-BE49-F238E27FC236}">
                <a16:creationId xmlns:a16="http://schemas.microsoft.com/office/drawing/2014/main" id="{EEFCC27C-378E-A92F-E57E-3D7AA4E23EB4}"/>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ru-RU" dirty="0"/>
          </a:p>
        </p:txBody>
      </p:sp>
      <p:sp>
        <p:nvSpPr>
          <p:cNvPr id="5" name="Нижний колонтитул 4">
            <a:extLst>
              <a:ext uri="{FF2B5EF4-FFF2-40B4-BE49-F238E27FC236}">
                <a16:creationId xmlns:a16="http://schemas.microsoft.com/office/drawing/2014/main" id="{7D90D05E-2ECB-3FE6-00DA-ABD9FD37424D}"/>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050">
                <a:solidFill>
                  <a:schemeClr val="tx1">
                    <a:tint val="75000"/>
                  </a:schemeClr>
                </a:solidFill>
              </a:defRPr>
            </a:lvl1pPr>
          </a:lstStyle>
          <a:p>
            <a:endParaRPr lang="ru-RU" dirty="0"/>
          </a:p>
        </p:txBody>
      </p:sp>
      <p:sp>
        <p:nvSpPr>
          <p:cNvPr id="6" name="Номер слайда 5">
            <a:extLst>
              <a:ext uri="{FF2B5EF4-FFF2-40B4-BE49-F238E27FC236}">
                <a16:creationId xmlns:a16="http://schemas.microsoft.com/office/drawing/2014/main" id="{99280FC2-FB5C-C830-013D-02D6917C456B}"/>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500">
                <a:solidFill>
                  <a:schemeClr val="tx1">
                    <a:tint val="75000"/>
                  </a:schemeClr>
                </a:solidFill>
              </a:defRPr>
            </a:lvl1pPr>
          </a:lstStyle>
          <a:p>
            <a:fld id="{81C5FB71-5E9C-41B5-9BB8-3F1EBEAEB16A}" type="slidenum">
              <a:rPr lang="ru-RU" smtClean="0"/>
              <a:pPr/>
              <a:t>‹#›</a:t>
            </a:fld>
            <a:endParaRPr lang="ru-RU" dirty="0"/>
          </a:p>
        </p:txBody>
      </p:sp>
      <p:pic>
        <p:nvPicPr>
          <p:cNvPr id="7" name="Рисунок 6">
            <a:extLst>
              <a:ext uri="{FF2B5EF4-FFF2-40B4-BE49-F238E27FC236}">
                <a16:creationId xmlns:a16="http://schemas.microsoft.com/office/drawing/2014/main" id="{EEDEDD01-40D1-3A00-9058-486237677F41}"/>
              </a:ext>
            </a:extLst>
          </p:cNvPr>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66367" y="70793"/>
            <a:ext cx="480272" cy="707923"/>
          </a:xfrm>
          <a:prstGeom prst="rect">
            <a:avLst/>
          </a:prstGeom>
        </p:spPr>
      </p:pic>
    </p:spTree>
    <p:extLst>
      <p:ext uri="{BB962C8B-B14F-4D97-AF65-F5344CB8AC3E}">
        <p14:creationId xmlns:p14="http://schemas.microsoft.com/office/powerpoint/2010/main" val="604130211"/>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Lst>
  <p:hf hdr="0" dt="0"/>
  <p:txStyles>
    <p:titleStyle>
      <a:lvl1pPr algn="l" defTabSz="685800" rtl="0" eaLnBrk="1" latinLnBrk="0" hangingPunct="1">
        <a:lnSpc>
          <a:spcPct val="90000"/>
        </a:lnSpc>
        <a:spcBef>
          <a:spcPct val="0"/>
        </a:spcBef>
        <a:buNone/>
        <a:defRPr sz="2700" b="1" kern="1200">
          <a:solidFill>
            <a:schemeClr val="tx1"/>
          </a:solidFill>
          <a:latin typeface="+mn-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ru-RU"/>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Yurchenkov@mirea.ru"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hyperlink" Target="mailto:qwerty29544@gmail.com" TargetMode="Externa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gif"/><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3.jpeg"/></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5.gi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6.xml.rels><?xml version="1.0" encoding="UTF-8" standalone="yes"?>
<Relationships xmlns="http://schemas.openxmlformats.org/package/2006/relationships"><Relationship Id="rId3" Type="http://schemas.openxmlformats.org/officeDocument/2006/relationships/hyperlink" Target="https://www.cim.mcgill.ca/~dmeger/mrlRead/papers/meanShift/comaniciuMeanShiftCVPR2000.pdf" TargetMode="External"/><Relationship Id="rId7" Type="http://schemas.openxmlformats.org/officeDocument/2006/relationships/image" Target="../media/image43.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37.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6.jpeg"/></Relationships>
</file>

<file path=ppt/slides/_rels/slide39.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50.jpeg"/><Relationship Id="rId4" Type="http://schemas.openxmlformats.org/officeDocument/2006/relationships/image" Target="../media/image49.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png"/><Relationship Id="rId1" Type="http://schemas.openxmlformats.org/officeDocument/2006/relationships/slideLayout" Target="../slideLayouts/slideLayout2.xml"/><Relationship Id="rId5" Type="http://schemas.openxmlformats.org/officeDocument/2006/relationships/image" Target="../media/image55.jpeg"/><Relationship Id="rId4" Type="http://schemas.openxmlformats.org/officeDocument/2006/relationships/image" Target="../media/image54.png"/></Relationships>
</file>

<file path=ppt/slides/_rels/slide44.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4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jpeg"/></Relationships>
</file>

<file path=ppt/slides/_rels/slide4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65.jpeg"/><Relationship Id="rId4" Type="http://schemas.openxmlformats.org/officeDocument/2006/relationships/image" Target="../media/image64.png"/></Relationships>
</file>

<file path=ppt/slides/_rels/slide4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55.jpeg"/><Relationship Id="rId5" Type="http://schemas.openxmlformats.org/officeDocument/2006/relationships/image" Target="../media/image54.png"/><Relationship Id="rId4" Type="http://schemas.openxmlformats.org/officeDocument/2006/relationships/image" Target="../media/image53.jpeg"/></Relationships>
</file>

<file path=ppt/slides/_rels/slide5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5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hyperlink" Target="http://localhost:8888/notebooks/MIREA/Lek6/Klaster12%20(%D0%91%D0%BE%D1%87%D0%B0%D1%80%D0%BE%D0%B2%20%D0%9C.%D0%98.)/klaster12%20(%D0%BF%D0%BE%D0%BB%D0%BD%D1%8B%D0%B9).ipynb#3.-%D0%9E%D0%B1%D1%80%D0%B0%D0%B1%D0%BE%D1%82%D0%BA%D0%B0-%D0%B2%D1%8B%D1%81%D0%BE%D0%BA%D0%BE%D0%BA%D0%BE%D1%80%D1%80%D0%B5%D0%BB%D0%B8%D1%80%D0%BE%D0%B2%D0%B0%D0%BD%D0%BD%D1%8B%D1%85-%D0%BF%D1%80%D0%B8%D0%B7%D0%BD%D0%B0%D0%BA%D0%BE%D0%B2-(Handling-Highly-Correlated-Features)"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 2">
            <a:extLst>
              <a:ext uri="{FF2B5EF4-FFF2-40B4-BE49-F238E27FC236}">
                <a16:creationId xmlns:a16="http://schemas.microsoft.com/office/drawing/2014/main" id="{D02A7036-67AC-4B6E-933D-0EBEFC2F148D}"/>
              </a:ext>
            </a:extLst>
          </p:cNvPr>
          <p:cNvSpPr>
            <a:spLocks noGrp="1"/>
          </p:cNvSpPr>
          <p:nvPr>
            <p:ph type="body" sz="quarter" idx="10"/>
          </p:nvPr>
        </p:nvSpPr>
        <p:spPr/>
        <p:txBody>
          <a:bodyPr/>
          <a:lstStyle/>
          <a:p>
            <a:r>
              <a:rPr lang="ru-RU" dirty="0"/>
              <a:t>Технологии и инструментарий анализа больших данных</a:t>
            </a:r>
          </a:p>
        </p:txBody>
      </p:sp>
      <p:sp>
        <p:nvSpPr>
          <p:cNvPr id="4" name="Текст 3">
            <a:extLst>
              <a:ext uri="{FF2B5EF4-FFF2-40B4-BE49-F238E27FC236}">
                <a16:creationId xmlns:a16="http://schemas.microsoft.com/office/drawing/2014/main" id="{4304D1FC-3C2B-40AC-AC46-5ADB2B78FD76}"/>
              </a:ext>
            </a:extLst>
          </p:cNvPr>
          <p:cNvSpPr>
            <a:spLocks noGrp="1"/>
          </p:cNvSpPr>
          <p:nvPr>
            <p:ph type="body" sz="quarter" idx="11"/>
          </p:nvPr>
        </p:nvSpPr>
        <p:spPr>
          <a:xfrm>
            <a:off x="675407" y="4419600"/>
            <a:ext cx="8412133" cy="689986"/>
          </a:xfrm>
        </p:spPr>
        <p:txBody>
          <a:bodyPr/>
          <a:lstStyle/>
          <a:p>
            <a:r>
              <a:rPr lang="ru-RU" dirty="0"/>
              <a:t>Юрченков Иван Александрович</a:t>
            </a:r>
          </a:p>
        </p:txBody>
      </p:sp>
      <p:sp>
        <p:nvSpPr>
          <p:cNvPr id="5" name="Текст 4">
            <a:extLst>
              <a:ext uri="{FF2B5EF4-FFF2-40B4-BE49-F238E27FC236}">
                <a16:creationId xmlns:a16="http://schemas.microsoft.com/office/drawing/2014/main" id="{85920733-DC10-4100-9E5C-5EBB2D00AEC4}"/>
              </a:ext>
            </a:extLst>
          </p:cNvPr>
          <p:cNvSpPr>
            <a:spLocks noGrp="1"/>
          </p:cNvSpPr>
          <p:nvPr>
            <p:ph type="body" sz="quarter" idx="13"/>
          </p:nvPr>
        </p:nvSpPr>
        <p:spPr/>
        <p:txBody>
          <a:bodyPr/>
          <a:lstStyle/>
          <a:p>
            <a:r>
              <a:rPr lang="en-US" dirty="0">
                <a:hlinkClick r:id="rId3"/>
              </a:rPr>
              <a:t>Yurchenkov@mirea.ru</a:t>
            </a:r>
            <a:r>
              <a:rPr lang="en-US" dirty="0"/>
              <a:t>	</a:t>
            </a:r>
            <a:r>
              <a:rPr lang="en-US" dirty="0">
                <a:hlinkClick r:id="rId4"/>
              </a:rPr>
              <a:t>qwerty29544@gmail.com</a:t>
            </a:r>
            <a:r>
              <a:rPr lang="en-US" dirty="0"/>
              <a:t> 	</a:t>
            </a:r>
            <a:r>
              <a:rPr lang="en-US" dirty="0" err="1"/>
              <a:t>tg</a:t>
            </a:r>
            <a:r>
              <a:rPr lang="en-US" dirty="0"/>
              <a:t>:</a:t>
            </a:r>
            <a:r>
              <a:rPr lang="ru-RU" dirty="0"/>
              <a:t> </a:t>
            </a:r>
            <a:r>
              <a:rPr lang="en-US" dirty="0"/>
              <a:t>@ivanyurchenkov</a:t>
            </a:r>
            <a:endParaRPr lang="ru-RU" dirty="0"/>
          </a:p>
        </p:txBody>
      </p:sp>
      <p:sp>
        <p:nvSpPr>
          <p:cNvPr id="6" name="Текст 5">
            <a:extLst>
              <a:ext uri="{FF2B5EF4-FFF2-40B4-BE49-F238E27FC236}">
                <a16:creationId xmlns:a16="http://schemas.microsoft.com/office/drawing/2014/main" id="{936B0D40-C816-44EC-A3D6-5CA90F8CE9F3}"/>
              </a:ext>
            </a:extLst>
          </p:cNvPr>
          <p:cNvSpPr>
            <a:spLocks noGrp="1"/>
          </p:cNvSpPr>
          <p:nvPr>
            <p:ph type="body" sz="quarter" idx="14"/>
          </p:nvPr>
        </p:nvSpPr>
        <p:spPr/>
        <p:txBody>
          <a:bodyPr/>
          <a:lstStyle/>
          <a:p>
            <a:r>
              <a:rPr lang="ru-RU" dirty="0"/>
              <a:t>Старший преподаватель кафедры прикладной математики ИИТ</a:t>
            </a:r>
          </a:p>
        </p:txBody>
      </p:sp>
    </p:spTree>
    <p:extLst>
      <p:ext uri="{BB962C8B-B14F-4D97-AF65-F5344CB8AC3E}">
        <p14:creationId xmlns:p14="http://schemas.microsoft.com/office/powerpoint/2010/main" val="13911731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1B725C7C-1A33-D3B6-C8C0-BB5D3E01856E}"/>
              </a:ext>
            </a:extLst>
          </p:cNvPr>
          <p:cNvSpPr>
            <a:spLocks noGrp="1"/>
          </p:cNvSpPr>
          <p:nvPr>
            <p:ph type="title"/>
          </p:nvPr>
        </p:nvSpPr>
        <p:spPr>
          <a:xfrm>
            <a:off x="628650" y="910344"/>
            <a:ext cx="7886700" cy="942625"/>
          </a:xfrm>
        </p:spPr>
        <p:txBody>
          <a:bodyPr>
            <a:noAutofit/>
          </a:bodyPr>
          <a:lstStyle/>
          <a:p>
            <a:pPr algn="ctr"/>
            <a:r>
              <a:rPr lang="ru-RU" dirty="0">
                <a:latin typeface="+mn-lt"/>
              </a:rPr>
              <a:t>Лекция №6. Кластеризация и сокращение размерности</a:t>
            </a:r>
          </a:p>
        </p:txBody>
      </p:sp>
      <p:sp>
        <p:nvSpPr>
          <p:cNvPr id="7" name="Номер слайда 6">
            <a:extLst>
              <a:ext uri="{FF2B5EF4-FFF2-40B4-BE49-F238E27FC236}">
                <a16:creationId xmlns:a16="http://schemas.microsoft.com/office/drawing/2014/main" id="{03F8E211-449D-C68C-8389-CD803EC9EDAA}"/>
              </a:ext>
            </a:extLst>
          </p:cNvPr>
          <p:cNvSpPr>
            <a:spLocks noGrp="1"/>
          </p:cNvSpPr>
          <p:nvPr>
            <p:ph type="sldNum" sz="quarter" idx="12"/>
          </p:nvPr>
        </p:nvSpPr>
        <p:spPr/>
        <p:txBody>
          <a:bodyPr/>
          <a:lstStyle/>
          <a:p>
            <a:pPr defTabSz="685783" rtl="0"/>
            <a:fld id="{81C5FB71-5E9C-41B5-9BB8-3F1EBEAEB16A}" type="slidenum">
              <a:rPr lang="ru-RU" kern="1200" smtClean="0">
                <a:solidFill>
                  <a:prstClr val="black">
                    <a:tint val="75000"/>
                  </a:prstClr>
                </a:solidFill>
                <a:latin typeface="Calibri" panose="020F0502020204030204"/>
                <a:ea typeface="+mn-ea"/>
                <a:cs typeface="+mn-cs"/>
              </a:rPr>
              <a:pPr defTabSz="685783" rtl="0"/>
              <a:t>2</a:t>
            </a:fld>
            <a:endParaRPr lang="ru-RU" kern="1200" dirty="0">
              <a:solidFill>
                <a:prstClr val="black">
                  <a:tint val="75000"/>
                </a:prstClr>
              </a:solidFill>
              <a:latin typeface="Calibri" panose="020F0502020204030204"/>
              <a:ea typeface="+mn-ea"/>
              <a:cs typeface="+mn-cs"/>
            </a:endParaRPr>
          </a:p>
        </p:txBody>
      </p:sp>
      <p:sp>
        <p:nvSpPr>
          <p:cNvPr id="4" name="Нижний колонтитул 3">
            <a:extLst>
              <a:ext uri="{FF2B5EF4-FFF2-40B4-BE49-F238E27FC236}">
                <a16:creationId xmlns:a16="http://schemas.microsoft.com/office/drawing/2014/main" id="{E8952643-8B4F-47D3-9D67-B26A3ECB68E7}"/>
              </a:ext>
            </a:extLst>
          </p:cNvPr>
          <p:cNvSpPr>
            <a:spLocks noGrp="1"/>
          </p:cNvSpPr>
          <p:nvPr>
            <p:ph type="ftr" sz="quarter" idx="11"/>
          </p:nvPr>
        </p:nvSpPr>
        <p:spPr/>
        <p:txBody>
          <a:bodyPr/>
          <a:lstStyle/>
          <a:p>
            <a:endParaRPr lang="ru-RU"/>
          </a:p>
        </p:txBody>
      </p:sp>
      <p:sp>
        <p:nvSpPr>
          <p:cNvPr id="8" name="Объект 7">
            <a:extLst>
              <a:ext uri="{FF2B5EF4-FFF2-40B4-BE49-F238E27FC236}">
                <a16:creationId xmlns:a16="http://schemas.microsoft.com/office/drawing/2014/main" id="{220B1964-8E5E-4D59-8C01-BF398FDDBA98}"/>
              </a:ext>
            </a:extLst>
          </p:cNvPr>
          <p:cNvSpPr>
            <a:spLocks noGrp="1"/>
          </p:cNvSpPr>
          <p:nvPr>
            <p:ph idx="1"/>
          </p:nvPr>
        </p:nvSpPr>
        <p:spPr>
          <a:xfrm>
            <a:off x="628650" y="2438400"/>
            <a:ext cx="7886700" cy="3738563"/>
          </a:xfrm>
        </p:spPr>
        <p:txBody>
          <a:bodyPr>
            <a:normAutofit/>
          </a:bodyPr>
          <a:lstStyle/>
          <a:p>
            <a:pPr marL="457200" indent="-457200">
              <a:buFont typeface="+mj-lt"/>
              <a:buAutoNum type="arabicPeriod"/>
            </a:pPr>
            <a:r>
              <a:rPr lang="ru-RU" sz="2400" dirty="0"/>
              <a:t>Обучение без учителя</a:t>
            </a:r>
          </a:p>
          <a:p>
            <a:pPr marL="457200" indent="-457200">
              <a:buFont typeface="+mj-lt"/>
              <a:buAutoNum type="arabicPeriod"/>
            </a:pPr>
            <a:r>
              <a:rPr lang="ru-RU" sz="2400" dirty="0"/>
              <a:t>Виды алгоритмов обучения без учителя</a:t>
            </a:r>
          </a:p>
          <a:p>
            <a:pPr marL="457200" indent="-457200">
              <a:buFont typeface="+mj-lt"/>
              <a:buAutoNum type="arabicPeriod"/>
            </a:pPr>
            <a:r>
              <a:rPr lang="ru-RU" sz="2400" dirty="0"/>
              <a:t>Кластеризация</a:t>
            </a:r>
          </a:p>
          <a:p>
            <a:pPr marL="457200" indent="-457200">
              <a:buFont typeface="+mj-lt"/>
              <a:buAutoNum type="arabicPeriod"/>
            </a:pPr>
            <a:r>
              <a:rPr lang="ru-RU" sz="2400" dirty="0"/>
              <a:t>Сокращение размерности</a:t>
            </a:r>
          </a:p>
          <a:p>
            <a:pPr marL="457200" indent="-457200">
              <a:buFont typeface="+mj-lt"/>
              <a:buAutoNum type="arabicPeriod"/>
            </a:pPr>
            <a:r>
              <a:rPr lang="ru-RU" sz="2400" dirty="0"/>
              <a:t>Снижение размерности с помощью выделения признаков</a:t>
            </a:r>
          </a:p>
          <a:p>
            <a:pPr marL="457200" indent="-457200">
              <a:buFont typeface="+mj-lt"/>
              <a:buAutoNum type="arabicPeriod"/>
            </a:pPr>
            <a:r>
              <a:rPr lang="ru-RU" sz="2400" dirty="0"/>
              <a:t>Снижение размерности с помощью отбора признаков</a:t>
            </a:r>
          </a:p>
          <a:p>
            <a:pPr marL="457200" indent="-457200">
              <a:buFont typeface="+mj-lt"/>
              <a:buAutoNum type="arabicPeriod"/>
            </a:pPr>
            <a:r>
              <a:rPr lang="ru-RU" sz="2400" dirty="0"/>
              <a:t>Подбор оптимального количества кластеров</a:t>
            </a:r>
          </a:p>
        </p:txBody>
      </p:sp>
    </p:spTree>
    <p:extLst>
      <p:ext uri="{BB962C8B-B14F-4D97-AF65-F5344CB8AC3E}">
        <p14:creationId xmlns:p14="http://schemas.microsoft.com/office/powerpoint/2010/main" val="2997528550"/>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8D6D1-0FB7-0C56-1831-60631F82016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327DD3-093A-5D5E-F451-12D20828F4FB}"/>
              </a:ext>
            </a:extLst>
          </p:cNvPr>
          <p:cNvSpPr>
            <a:spLocks noGrp="1"/>
          </p:cNvSpPr>
          <p:nvPr>
            <p:ph type="title"/>
          </p:nvPr>
        </p:nvSpPr>
        <p:spPr>
          <a:xfrm>
            <a:off x="628650" y="70791"/>
            <a:ext cx="7886700" cy="691209"/>
          </a:xfrm>
        </p:spPr>
        <p:txBody>
          <a:bodyPr/>
          <a:lstStyle/>
          <a:p>
            <a:pPr algn="ctr"/>
            <a:r>
              <a:rPr lang="ru-RU" dirty="0"/>
              <a:t>Обучение без учителя</a:t>
            </a:r>
          </a:p>
        </p:txBody>
      </p:sp>
      <p:sp>
        <p:nvSpPr>
          <p:cNvPr id="4" name="Нижний колонтитул 3">
            <a:extLst>
              <a:ext uri="{FF2B5EF4-FFF2-40B4-BE49-F238E27FC236}">
                <a16:creationId xmlns:a16="http://schemas.microsoft.com/office/drawing/2014/main" id="{B2DE5DF7-A6D7-2379-788B-DBFFF84E6ABA}"/>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831E9ABF-ED92-13A5-9956-CA6D78FD2DCC}"/>
              </a:ext>
            </a:extLst>
          </p:cNvPr>
          <p:cNvSpPr>
            <a:spLocks noGrp="1"/>
          </p:cNvSpPr>
          <p:nvPr>
            <p:ph type="sldNum" sz="quarter" idx="12"/>
          </p:nvPr>
        </p:nvSpPr>
        <p:spPr/>
        <p:txBody>
          <a:bodyPr/>
          <a:lstStyle/>
          <a:p>
            <a:fld id="{81C5FB71-5E9C-41B5-9BB8-3F1EBEAEB16A}" type="slidenum">
              <a:rPr lang="ru-RU" smtClean="0"/>
              <a:t>3</a:t>
            </a:fld>
            <a:endParaRPr lang="ru-RU"/>
          </a:p>
        </p:txBody>
      </p:sp>
      <p:pic>
        <p:nvPicPr>
          <p:cNvPr id="4098" name="Picture 2" descr="Picture background">
            <a:extLst>
              <a:ext uri="{FF2B5EF4-FFF2-40B4-BE49-F238E27FC236}">
                <a16:creationId xmlns:a16="http://schemas.microsoft.com/office/drawing/2014/main" id="{EC2159D4-5CCB-2E4A-3855-C1812C91C39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57957" y="1018228"/>
            <a:ext cx="7028085" cy="5488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1990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8D6D1-0FB7-0C56-1831-60631F82016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327DD3-093A-5D5E-F451-12D20828F4FB}"/>
              </a:ext>
            </a:extLst>
          </p:cNvPr>
          <p:cNvSpPr>
            <a:spLocks noGrp="1"/>
          </p:cNvSpPr>
          <p:nvPr>
            <p:ph type="title"/>
          </p:nvPr>
        </p:nvSpPr>
        <p:spPr>
          <a:xfrm>
            <a:off x="628650" y="70791"/>
            <a:ext cx="7886700" cy="691209"/>
          </a:xfrm>
        </p:spPr>
        <p:txBody>
          <a:bodyPr/>
          <a:lstStyle/>
          <a:p>
            <a:pPr algn="ctr"/>
            <a:r>
              <a:rPr lang="ru-RU" dirty="0"/>
              <a:t>Особенность методов обучения без учителя</a:t>
            </a:r>
          </a:p>
        </p:txBody>
      </p:sp>
      <p:sp>
        <p:nvSpPr>
          <p:cNvPr id="4" name="Нижний колонтитул 3">
            <a:extLst>
              <a:ext uri="{FF2B5EF4-FFF2-40B4-BE49-F238E27FC236}">
                <a16:creationId xmlns:a16="http://schemas.microsoft.com/office/drawing/2014/main" id="{B2DE5DF7-A6D7-2379-788B-DBFFF84E6ABA}"/>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831E9ABF-ED92-13A5-9956-CA6D78FD2DCC}"/>
              </a:ext>
            </a:extLst>
          </p:cNvPr>
          <p:cNvSpPr>
            <a:spLocks noGrp="1"/>
          </p:cNvSpPr>
          <p:nvPr>
            <p:ph type="sldNum" sz="quarter" idx="12"/>
          </p:nvPr>
        </p:nvSpPr>
        <p:spPr/>
        <p:txBody>
          <a:bodyPr/>
          <a:lstStyle/>
          <a:p>
            <a:fld id="{81C5FB71-5E9C-41B5-9BB8-3F1EBEAEB16A}" type="slidenum">
              <a:rPr lang="ru-RU" smtClean="0"/>
              <a:t>4</a:t>
            </a:fld>
            <a:endParaRPr lang="ru-RU"/>
          </a:p>
        </p:txBody>
      </p:sp>
      <p:sp>
        <p:nvSpPr>
          <p:cNvPr id="3" name="Объект 2">
            <a:extLst>
              <a:ext uri="{FF2B5EF4-FFF2-40B4-BE49-F238E27FC236}">
                <a16:creationId xmlns:a16="http://schemas.microsoft.com/office/drawing/2014/main" id="{059D92E3-635A-48CE-B858-2AFAE9D66BB0}"/>
              </a:ext>
            </a:extLst>
          </p:cNvPr>
          <p:cNvSpPr>
            <a:spLocks noGrp="1"/>
          </p:cNvSpPr>
          <p:nvPr>
            <p:ph idx="1"/>
          </p:nvPr>
        </p:nvSpPr>
        <p:spPr>
          <a:xfrm>
            <a:off x="628650" y="990600"/>
            <a:ext cx="7886700" cy="5186363"/>
          </a:xfrm>
        </p:spPr>
        <p:txBody>
          <a:bodyPr>
            <a:normAutofit/>
          </a:bodyPr>
          <a:lstStyle/>
          <a:p>
            <a:pPr marL="0" indent="0" algn="just">
              <a:buNone/>
            </a:pPr>
            <a:r>
              <a:rPr lang="ru-RU" sz="2400" b="0" i="0" dirty="0">
                <a:effectLst/>
                <a:latin typeface="system-ui"/>
              </a:rPr>
              <a:t>При обучении без учителя доступны только входные признаки, а связанная с ним целевая переменная отсутствует</a:t>
            </a:r>
            <a:endParaRPr lang="ru-RU" sz="2400" dirty="0"/>
          </a:p>
        </p:txBody>
      </p:sp>
      <p:pic>
        <p:nvPicPr>
          <p:cNvPr id="8194" name="Picture 2" descr="Picture background">
            <a:extLst>
              <a:ext uri="{FF2B5EF4-FFF2-40B4-BE49-F238E27FC236}">
                <a16:creationId xmlns:a16="http://schemas.microsoft.com/office/drawing/2014/main" id="{530D6E5D-B6DE-8840-40A1-62C8D4AC87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1646" y="2221696"/>
            <a:ext cx="4460708" cy="44997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1067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8D6D1-0FB7-0C56-1831-60631F82016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327DD3-093A-5D5E-F451-12D20828F4FB}"/>
              </a:ext>
            </a:extLst>
          </p:cNvPr>
          <p:cNvSpPr>
            <a:spLocks noGrp="1"/>
          </p:cNvSpPr>
          <p:nvPr>
            <p:ph type="title"/>
          </p:nvPr>
        </p:nvSpPr>
        <p:spPr>
          <a:xfrm>
            <a:off x="628650" y="70791"/>
            <a:ext cx="7886700" cy="691209"/>
          </a:xfrm>
        </p:spPr>
        <p:txBody>
          <a:bodyPr>
            <a:normAutofit fontScale="90000"/>
          </a:bodyPr>
          <a:lstStyle/>
          <a:p>
            <a:pPr algn="ctr"/>
            <a:r>
              <a:rPr lang="ru-RU" sz="2800" dirty="0"/>
              <a:t>Методы кластеризации, </a:t>
            </a:r>
            <a:br>
              <a:rPr lang="ru-RU" sz="2800" dirty="0"/>
            </a:br>
            <a:r>
              <a:rPr lang="ru-RU" sz="2800" dirty="0"/>
              <a:t>визуализации и сокращения размерности</a:t>
            </a:r>
            <a:endParaRPr lang="ru-RU" dirty="0"/>
          </a:p>
        </p:txBody>
      </p:sp>
      <p:sp>
        <p:nvSpPr>
          <p:cNvPr id="4" name="Нижний колонтитул 3">
            <a:extLst>
              <a:ext uri="{FF2B5EF4-FFF2-40B4-BE49-F238E27FC236}">
                <a16:creationId xmlns:a16="http://schemas.microsoft.com/office/drawing/2014/main" id="{B2DE5DF7-A6D7-2379-788B-DBFFF84E6ABA}"/>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831E9ABF-ED92-13A5-9956-CA6D78FD2DCC}"/>
              </a:ext>
            </a:extLst>
          </p:cNvPr>
          <p:cNvSpPr>
            <a:spLocks noGrp="1"/>
          </p:cNvSpPr>
          <p:nvPr>
            <p:ph type="sldNum" sz="quarter" idx="12"/>
          </p:nvPr>
        </p:nvSpPr>
        <p:spPr/>
        <p:txBody>
          <a:bodyPr/>
          <a:lstStyle/>
          <a:p>
            <a:fld id="{81C5FB71-5E9C-41B5-9BB8-3F1EBEAEB16A}" type="slidenum">
              <a:rPr lang="ru-RU" smtClean="0"/>
              <a:t>5</a:t>
            </a:fld>
            <a:endParaRPr lang="ru-RU"/>
          </a:p>
        </p:txBody>
      </p:sp>
      <p:sp>
        <p:nvSpPr>
          <p:cNvPr id="3" name="Объект 2">
            <a:extLst>
              <a:ext uri="{FF2B5EF4-FFF2-40B4-BE49-F238E27FC236}">
                <a16:creationId xmlns:a16="http://schemas.microsoft.com/office/drawing/2014/main" id="{059D92E3-635A-48CE-B858-2AFAE9D66BB0}"/>
              </a:ext>
            </a:extLst>
          </p:cNvPr>
          <p:cNvSpPr>
            <a:spLocks noGrp="1"/>
          </p:cNvSpPr>
          <p:nvPr>
            <p:ph idx="1"/>
          </p:nvPr>
        </p:nvSpPr>
        <p:spPr/>
        <p:txBody>
          <a:bodyPr>
            <a:normAutofit/>
          </a:bodyPr>
          <a:lstStyle/>
          <a:p>
            <a:pPr marL="0" indent="0" algn="just">
              <a:buNone/>
            </a:pPr>
            <a:r>
              <a:rPr lang="ru-RU" sz="1900" b="0" i="0" dirty="0">
                <a:solidFill>
                  <a:srgbClr val="202122"/>
                </a:solidFill>
                <a:effectLst/>
              </a:rPr>
              <a:t> </a:t>
            </a:r>
            <a:r>
              <a:rPr lang="ru-RU" sz="2000" b="1" dirty="0">
                <a:solidFill>
                  <a:schemeClr val="accent2">
                    <a:lumMod val="75000"/>
                  </a:schemeClr>
                </a:solidFill>
                <a:latin typeface="system-ui"/>
              </a:rPr>
              <a:t>     </a:t>
            </a:r>
            <a:r>
              <a:rPr lang="ru-RU" sz="2000" b="1" i="0" dirty="0">
                <a:solidFill>
                  <a:schemeClr val="accent2">
                    <a:lumMod val="75000"/>
                  </a:schemeClr>
                </a:solidFill>
                <a:effectLst/>
                <a:latin typeface="system-ui"/>
              </a:rPr>
              <a:t>Кластеризация</a:t>
            </a:r>
            <a:r>
              <a:rPr lang="en-US" sz="2000" b="1" i="0" dirty="0">
                <a:solidFill>
                  <a:schemeClr val="accent2">
                    <a:lumMod val="75000"/>
                  </a:schemeClr>
                </a:solidFill>
                <a:effectLst/>
                <a:latin typeface="system-ui"/>
              </a:rPr>
              <a:t>:</a:t>
            </a:r>
            <a:endParaRPr lang="ru-RU" sz="2000" b="1" i="0" dirty="0">
              <a:solidFill>
                <a:schemeClr val="accent2">
                  <a:lumMod val="75000"/>
                </a:schemeClr>
              </a:solidFill>
              <a:effectLst/>
              <a:latin typeface="system-ui"/>
            </a:endParaRPr>
          </a:p>
          <a:p>
            <a:pPr lvl="1"/>
            <a:r>
              <a:rPr lang="ru-RU" sz="1700" b="0" i="0" dirty="0">
                <a:effectLst/>
                <a:latin typeface="system-ui"/>
              </a:rPr>
              <a:t>k-средние (k-</a:t>
            </a:r>
            <a:r>
              <a:rPr lang="ru-RU" sz="1700" b="0" i="0" dirty="0" err="1">
                <a:effectLst/>
                <a:latin typeface="system-ui"/>
              </a:rPr>
              <a:t>means</a:t>
            </a:r>
            <a:r>
              <a:rPr lang="ru-RU" sz="1700" b="0" i="0" dirty="0">
                <a:effectLst/>
                <a:latin typeface="system-ui"/>
              </a:rPr>
              <a:t>)</a:t>
            </a:r>
          </a:p>
          <a:p>
            <a:pPr lvl="1"/>
            <a:r>
              <a:rPr lang="ru-RU" sz="1700" b="0" i="0" dirty="0">
                <a:effectLst/>
                <a:latin typeface="system-ui"/>
              </a:rPr>
              <a:t>иерархический кластерный анализ (</a:t>
            </a:r>
            <a:r>
              <a:rPr lang="ru-RU" sz="1700" b="0" i="0" dirty="0" err="1">
                <a:effectLst/>
                <a:latin typeface="system-ui"/>
              </a:rPr>
              <a:t>Hierarchical</a:t>
            </a:r>
            <a:r>
              <a:rPr lang="ru-RU" sz="1700" b="0" i="0" dirty="0">
                <a:effectLst/>
                <a:latin typeface="system-ui"/>
              </a:rPr>
              <a:t> Cluster Analysis - НСА)</a:t>
            </a:r>
          </a:p>
          <a:p>
            <a:pPr lvl="1"/>
            <a:r>
              <a:rPr lang="ru-RU" sz="1700" b="0" i="0" dirty="0">
                <a:effectLst/>
                <a:latin typeface="system-ui"/>
              </a:rPr>
              <a:t>максимизация ожиданий ( </a:t>
            </a:r>
            <a:r>
              <a:rPr lang="ru-RU" sz="1700" b="0" i="0" dirty="0" err="1">
                <a:effectLst/>
                <a:latin typeface="system-ui"/>
              </a:rPr>
              <a:t>expectation</a:t>
            </a:r>
            <a:r>
              <a:rPr lang="ru-RU" sz="1700" b="0" i="0" dirty="0">
                <a:effectLst/>
                <a:latin typeface="system-ui"/>
              </a:rPr>
              <a:t> </a:t>
            </a:r>
            <a:r>
              <a:rPr lang="ru-RU" sz="1700" b="0" i="0" dirty="0" err="1">
                <a:effectLst/>
                <a:latin typeface="system-ui"/>
              </a:rPr>
              <a:t>maximization</a:t>
            </a:r>
            <a:r>
              <a:rPr lang="ru-RU" sz="1700" b="0" i="0" dirty="0">
                <a:effectLst/>
                <a:latin typeface="system-ui"/>
              </a:rPr>
              <a:t>) </a:t>
            </a:r>
            <a:endParaRPr lang="ru-RU" sz="1700" dirty="0">
              <a:latin typeface="system-ui"/>
            </a:endParaRPr>
          </a:p>
          <a:p>
            <a:pPr marL="342900" lvl="1" indent="0">
              <a:buNone/>
            </a:pPr>
            <a:r>
              <a:rPr lang="ru-RU" sz="2000" b="1" i="0" dirty="0">
                <a:solidFill>
                  <a:schemeClr val="accent2">
                    <a:lumMod val="75000"/>
                  </a:schemeClr>
                </a:solidFill>
                <a:effectLst/>
                <a:latin typeface="system-ui"/>
              </a:rPr>
              <a:t>Визуализация и понижение размерности</a:t>
            </a:r>
            <a:r>
              <a:rPr lang="en-US" sz="2000" b="1" i="0" dirty="0">
                <a:solidFill>
                  <a:schemeClr val="accent2">
                    <a:lumMod val="75000"/>
                  </a:schemeClr>
                </a:solidFill>
                <a:effectLst/>
                <a:latin typeface="system-ui"/>
              </a:rPr>
              <a:t>:</a:t>
            </a:r>
            <a:endParaRPr lang="ru-RU" sz="2000" b="1" i="0" dirty="0">
              <a:solidFill>
                <a:schemeClr val="accent2">
                  <a:lumMod val="75000"/>
                </a:schemeClr>
              </a:solidFill>
              <a:effectLst/>
              <a:latin typeface="system-ui"/>
            </a:endParaRPr>
          </a:p>
          <a:p>
            <a:pPr lvl="1"/>
            <a:r>
              <a:rPr lang="ru-RU" sz="1700" b="0" i="0" dirty="0">
                <a:effectLst/>
                <a:latin typeface="system-ui"/>
              </a:rPr>
              <a:t>анализ главных компонентов (</a:t>
            </a:r>
            <a:r>
              <a:rPr lang="ru-RU" sz="1700" b="0" i="0" dirty="0" err="1">
                <a:effectLst/>
                <a:latin typeface="system-ui"/>
              </a:rPr>
              <a:t>Principal</a:t>
            </a:r>
            <a:r>
              <a:rPr lang="ru-RU" sz="1700" b="0" i="0" dirty="0">
                <a:effectLst/>
                <a:latin typeface="system-ui"/>
              </a:rPr>
              <a:t> </a:t>
            </a:r>
            <a:r>
              <a:rPr lang="ru-RU" sz="1700" b="0" i="0" dirty="0" err="1">
                <a:effectLst/>
                <a:latin typeface="system-ui"/>
              </a:rPr>
              <a:t>Component</a:t>
            </a:r>
            <a:r>
              <a:rPr lang="ru-RU" sz="1700" b="0" i="0" dirty="0">
                <a:effectLst/>
                <a:latin typeface="system-ui"/>
              </a:rPr>
              <a:t> Analysis - РСА)</a:t>
            </a:r>
          </a:p>
          <a:p>
            <a:pPr lvl="1"/>
            <a:r>
              <a:rPr lang="ru-RU" sz="1700" b="0" i="0" dirty="0">
                <a:effectLst/>
                <a:latin typeface="system-ui"/>
              </a:rPr>
              <a:t>ядерный анализ главных компонентов (</a:t>
            </a:r>
            <a:r>
              <a:rPr lang="ru-RU" sz="1700" b="0" i="0" dirty="0" err="1">
                <a:effectLst/>
                <a:latin typeface="system-ui"/>
              </a:rPr>
              <a:t>kernel</a:t>
            </a:r>
            <a:r>
              <a:rPr lang="ru-RU" sz="1700" b="0" i="0" dirty="0">
                <a:effectLst/>
                <a:latin typeface="system-ui"/>
              </a:rPr>
              <a:t> РСА)</a:t>
            </a:r>
          </a:p>
          <a:p>
            <a:pPr lvl="1"/>
            <a:r>
              <a:rPr lang="ru-RU" sz="1700" b="0" i="0" dirty="0">
                <a:effectLst/>
                <a:latin typeface="system-ui"/>
              </a:rPr>
              <a:t>локальное линейное вложение (</a:t>
            </a:r>
            <a:r>
              <a:rPr lang="ru-RU" sz="1700" b="0" i="0" dirty="0" err="1">
                <a:effectLst/>
                <a:latin typeface="system-ui"/>
              </a:rPr>
              <a:t>Locally-Linear</a:t>
            </a:r>
            <a:r>
              <a:rPr lang="ru-RU" sz="1700" b="0" i="0" dirty="0">
                <a:effectLst/>
                <a:latin typeface="system-ui"/>
              </a:rPr>
              <a:t> </a:t>
            </a:r>
            <a:r>
              <a:rPr lang="ru-RU" sz="1700" b="0" i="0" dirty="0" err="1">
                <a:effectLst/>
                <a:latin typeface="system-ui"/>
              </a:rPr>
              <a:t>Embedding</a:t>
            </a:r>
            <a:r>
              <a:rPr lang="ru-RU" sz="1700" b="0" i="0" dirty="0">
                <a:effectLst/>
                <a:latin typeface="system-ui"/>
              </a:rPr>
              <a:t> - LLE)</a:t>
            </a:r>
          </a:p>
          <a:p>
            <a:pPr lvl="1"/>
            <a:r>
              <a:rPr lang="ru-RU" sz="1700" b="0" i="0" dirty="0">
                <a:effectLst/>
                <a:latin typeface="system-ui"/>
              </a:rPr>
              <a:t>стохастическое вложение соседей с t-распределением (t-</a:t>
            </a:r>
            <a:r>
              <a:rPr lang="ru-RU" sz="1700" b="0" i="0" dirty="0" err="1">
                <a:effectLst/>
                <a:latin typeface="system-ui"/>
              </a:rPr>
              <a:t>distributed</a:t>
            </a:r>
            <a:r>
              <a:rPr lang="ru-RU" sz="1700" b="0" i="0" dirty="0">
                <a:effectLst/>
                <a:latin typeface="system-ui"/>
              </a:rPr>
              <a:t> </a:t>
            </a:r>
            <a:r>
              <a:rPr lang="ru-RU" sz="1700" b="0" i="0" dirty="0" err="1">
                <a:effectLst/>
                <a:latin typeface="system-ui"/>
              </a:rPr>
              <a:t>Stochastic</a:t>
            </a:r>
            <a:r>
              <a:rPr lang="ru-RU" sz="1700" b="0" i="0" dirty="0">
                <a:effectLst/>
                <a:latin typeface="system-ui"/>
              </a:rPr>
              <a:t> </a:t>
            </a:r>
            <a:r>
              <a:rPr lang="ru-RU" sz="1700" b="0" i="0" dirty="0" err="1">
                <a:effectLst/>
                <a:latin typeface="system-ui"/>
              </a:rPr>
              <a:t>Neighbor</a:t>
            </a:r>
            <a:r>
              <a:rPr lang="ru-RU" sz="1700" b="0" i="0" dirty="0">
                <a:effectLst/>
                <a:latin typeface="system-ui"/>
              </a:rPr>
              <a:t> </a:t>
            </a:r>
            <a:r>
              <a:rPr lang="ru-RU" sz="1700" b="0" i="0" dirty="0" err="1">
                <a:effectLst/>
                <a:latin typeface="system-ui"/>
              </a:rPr>
              <a:t>Embedding</a:t>
            </a:r>
            <a:r>
              <a:rPr lang="ru-RU" sz="1700" b="0" i="0" dirty="0">
                <a:effectLst/>
                <a:latin typeface="system-ui"/>
              </a:rPr>
              <a:t> - t-SNE) </a:t>
            </a:r>
            <a:endParaRPr lang="ru-RU" sz="1700" i="0" dirty="0">
              <a:effectLst/>
              <a:latin typeface="system-ui"/>
            </a:endParaRPr>
          </a:p>
          <a:p>
            <a:pPr marL="342900" lvl="1" indent="0">
              <a:buNone/>
            </a:pPr>
            <a:r>
              <a:rPr lang="ru-RU" sz="2000" b="1" dirty="0">
                <a:solidFill>
                  <a:schemeClr val="accent2">
                    <a:lumMod val="75000"/>
                  </a:schemeClr>
                </a:solidFill>
                <a:latin typeface="system-ui"/>
              </a:rPr>
              <a:t>Ассоциативные правила</a:t>
            </a:r>
          </a:p>
          <a:p>
            <a:pPr lvl="1"/>
            <a:r>
              <a:rPr lang="ru-RU" sz="1700" b="0" i="0" dirty="0">
                <a:effectLst/>
                <a:latin typeface="system-ui"/>
              </a:rPr>
              <a:t>Обучение ассоциативным правилам (</a:t>
            </a:r>
            <a:r>
              <a:rPr lang="ru-RU" sz="1700" b="0" i="0" dirty="0" err="1">
                <a:effectLst/>
                <a:latin typeface="system-ui"/>
              </a:rPr>
              <a:t>association</a:t>
            </a:r>
            <a:r>
              <a:rPr lang="ru-RU" sz="1700" b="0" i="0" dirty="0">
                <a:effectLst/>
                <a:latin typeface="system-ui"/>
              </a:rPr>
              <a:t> </a:t>
            </a:r>
            <a:r>
              <a:rPr lang="ru-RU" sz="1700" b="0" i="0" dirty="0" err="1">
                <a:effectLst/>
                <a:latin typeface="system-ui"/>
              </a:rPr>
              <a:t>rule</a:t>
            </a:r>
            <a:r>
              <a:rPr lang="ru-RU" sz="1700" b="0" i="0" dirty="0">
                <a:effectLst/>
                <a:latin typeface="system-ui"/>
              </a:rPr>
              <a:t> </a:t>
            </a:r>
            <a:r>
              <a:rPr lang="ru-RU" sz="1700" b="0" i="0" dirty="0" err="1">
                <a:effectLst/>
                <a:latin typeface="system-ui"/>
              </a:rPr>
              <a:t>learning</a:t>
            </a:r>
            <a:r>
              <a:rPr lang="ru-RU" sz="1700" b="0" i="0" dirty="0">
                <a:effectLst/>
                <a:latin typeface="system-ui"/>
              </a:rPr>
              <a:t>)</a:t>
            </a:r>
          </a:p>
          <a:p>
            <a:pPr lvl="1"/>
            <a:r>
              <a:rPr lang="ru-RU" sz="1700" b="0" i="0" dirty="0" err="1">
                <a:effectLst/>
                <a:latin typeface="system-ui"/>
              </a:rPr>
              <a:t>Apriori</a:t>
            </a:r>
            <a:endParaRPr lang="ru-RU" sz="1700" b="0" i="0" dirty="0">
              <a:effectLst/>
              <a:latin typeface="system-ui"/>
            </a:endParaRPr>
          </a:p>
          <a:p>
            <a:pPr lvl="1"/>
            <a:r>
              <a:rPr lang="ru-RU" sz="1700" dirty="0">
                <a:latin typeface="system-ui"/>
              </a:rPr>
              <a:t>Ускоренный поиск в глубину (</a:t>
            </a:r>
            <a:r>
              <a:rPr lang="ru-RU" sz="1700" b="0" i="0" dirty="0" err="1">
                <a:effectLst/>
                <a:latin typeface="system-ui"/>
              </a:rPr>
              <a:t>Eclat</a:t>
            </a:r>
            <a:r>
              <a:rPr lang="ru-RU" sz="1700" b="0" i="0" dirty="0">
                <a:effectLst/>
                <a:latin typeface="system-ui"/>
              </a:rPr>
              <a:t>)</a:t>
            </a:r>
          </a:p>
          <a:p>
            <a:pPr marL="0" indent="0" algn="just">
              <a:buNone/>
            </a:pPr>
            <a:endParaRPr lang="ru-RU" sz="2400" dirty="0"/>
          </a:p>
        </p:txBody>
      </p:sp>
    </p:spTree>
    <p:extLst>
      <p:ext uri="{BB962C8B-B14F-4D97-AF65-F5344CB8AC3E}">
        <p14:creationId xmlns:p14="http://schemas.microsoft.com/office/powerpoint/2010/main" val="30138985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8D6D1-0FB7-0C56-1831-60631F82016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327DD3-093A-5D5E-F451-12D20828F4FB}"/>
              </a:ext>
            </a:extLst>
          </p:cNvPr>
          <p:cNvSpPr>
            <a:spLocks noGrp="1"/>
          </p:cNvSpPr>
          <p:nvPr>
            <p:ph type="title"/>
          </p:nvPr>
        </p:nvSpPr>
        <p:spPr>
          <a:xfrm>
            <a:off x="628650" y="70791"/>
            <a:ext cx="7886700" cy="691209"/>
          </a:xfrm>
        </p:spPr>
        <p:txBody>
          <a:bodyPr>
            <a:normAutofit fontScale="90000"/>
          </a:bodyPr>
          <a:lstStyle/>
          <a:p>
            <a:pPr algn="ctr"/>
            <a:r>
              <a:rPr lang="ru-RU" dirty="0"/>
              <a:t>Кластеризация</a:t>
            </a:r>
            <a:br>
              <a:rPr lang="ru-RU" dirty="0"/>
            </a:br>
            <a:r>
              <a:rPr lang="ru-RU" sz="2800" dirty="0"/>
              <a:t>(</a:t>
            </a:r>
            <a:r>
              <a:rPr lang="en-US" sz="2800" dirty="0"/>
              <a:t>clustering)</a:t>
            </a:r>
            <a:endParaRPr lang="ru-RU" dirty="0"/>
          </a:p>
        </p:txBody>
      </p:sp>
      <p:sp>
        <p:nvSpPr>
          <p:cNvPr id="4" name="Нижний колонтитул 3">
            <a:extLst>
              <a:ext uri="{FF2B5EF4-FFF2-40B4-BE49-F238E27FC236}">
                <a16:creationId xmlns:a16="http://schemas.microsoft.com/office/drawing/2014/main" id="{B2DE5DF7-A6D7-2379-788B-DBFFF84E6ABA}"/>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831E9ABF-ED92-13A5-9956-CA6D78FD2DCC}"/>
              </a:ext>
            </a:extLst>
          </p:cNvPr>
          <p:cNvSpPr>
            <a:spLocks noGrp="1"/>
          </p:cNvSpPr>
          <p:nvPr>
            <p:ph type="sldNum" sz="quarter" idx="12"/>
          </p:nvPr>
        </p:nvSpPr>
        <p:spPr/>
        <p:txBody>
          <a:bodyPr/>
          <a:lstStyle/>
          <a:p>
            <a:fld id="{81C5FB71-5E9C-41B5-9BB8-3F1EBEAEB16A}" type="slidenum">
              <a:rPr lang="ru-RU" smtClean="0"/>
              <a:t>6</a:t>
            </a:fld>
            <a:endParaRPr lang="ru-RU"/>
          </a:p>
        </p:txBody>
      </p:sp>
      <p:pic>
        <p:nvPicPr>
          <p:cNvPr id="3074" name="Picture 2" descr="Picture background">
            <a:extLst>
              <a:ext uri="{FF2B5EF4-FFF2-40B4-BE49-F238E27FC236}">
                <a16:creationId xmlns:a16="http://schemas.microsoft.com/office/drawing/2014/main" id="{090C45C7-C479-5B73-D371-3E300E430C28}"/>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102" t="11481" r="102" b="7360"/>
          <a:stretch/>
        </p:blipFill>
        <p:spPr bwMode="auto">
          <a:xfrm>
            <a:off x="304800" y="3124200"/>
            <a:ext cx="7886700" cy="3733800"/>
          </a:xfrm>
          <a:prstGeom prst="rect">
            <a:avLst/>
          </a:prstGeom>
          <a:noFill/>
          <a:extLst>
            <a:ext uri="{909E8E84-426E-40DD-AFC4-6F175D3DCCD1}">
              <a14:hiddenFill xmlns:a14="http://schemas.microsoft.com/office/drawing/2010/main">
                <a:solidFill>
                  <a:srgbClr val="FFFFFF"/>
                </a:solidFill>
              </a14:hiddenFill>
            </a:ext>
          </a:extLst>
        </p:spPr>
      </p:pic>
      <p:sp>
        <p:nvSpPr>
          <p:cNvPr id="6" name="Объект 2">
            <a:extLst>
              <a:ext uri="{FF2B5EF4-FFF2-40B4-BE49-F238E27FC236}">
                <a16:creationId xmlns:a16="http://schemas.microsoft.com/office/drawing/2014/main" id="{6E4695B0-1E62-9DC1-B3E4-A0B4EB8B1DE9}"/>
              </a:ext>
            </a:extLst>
          </p:cNvPr>
          <p:cNvSpPr txBox="1">
            <a:spLocks/>
          </p:cNvSpPr>
          <p:nvPr/>
        </p:nvSpPr>
        <p:spPr>
          <a:xfrm>
            <a:off x="628650" y="1223044"/>
            <a:ext cx="7886700" cy="175260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buFont typeface="Arial" panose="020B0604020202020204" pitchFamily="34" charset="0"/>
              <a:buNone/>
            </a:pPr>
            <a:r>
              <a:rPr lang="ru-RU" sz="2400" dirty="0"/>
              <a:t>Кластеризация — это метод разведочного анализа данных, который позволяет организовать груду информации в содержательные подгруппы (кластеры), не имея никаких предварительных сведений о принадлежности к группе. </a:t>
            </a:r>
          </a:p>
        </p:txBody>
      </p:sp>
    </p:spTree>
    <p:extLst>
      <p:ext uri="{BB962C8B-B14F-4D97-AF65-F5344CB8AC3E}">
        <p14:creationId xmlns:p14="http://schemas.microsoft.com/office/powerpoint/2010/main" val="1624842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8D6D1-0FB7-0C56-1831-60631F82016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327DD3-093A-5D5E-F451-12D20828F4FB}"/>
              </a:ext>
            </a:extLst>
          </p:cNvPr>
          <p:cNvSpPr>
            <a:spLocks noGrp="1"/>
          </p:cNvSpPr>
          <p:nvPr>
            <p:ph type="title"/>
          </p:nvPr>
        </p:nvSpPr>
        <p:spPr>
          <a:xfrm>
            <a:off x="628650" y="70791"/>
            <a:ext cx="7886700" cy="816621"/>
          </a:xfrm>
        </p:spPr>
        <p:txBody>
          <a:bodyPr>
            <a:normAutofit/>
          </a:bodyPr>
          <a:lstStyle/>
          <a:p>
            <a:pPr algn="ctr"/>
            <a:r>
              <a:rPr lang="ru-RU" dirty="0"/>
              <a:t>Кластерный анализ</a:t>
            </a:r>
          </a:p>
        </p:txBody>
      </p:sp>
      <p:sp>
        <p:nvSpPr>
          <p:cNvPr id="3" name="Объект 2">
            <a:extLst>
              <a:ext uri="{FF2B5EF4-FFF2-40B4-BE49-F238E27FC236}">
                <a16:creationId xmlns:a16="http://schemas.microsoft.com/office/drawing/2014/main" id="{059D92E3-635A-48CE-B858-2AFAE9D66BB0}"/>
              </a:ext>
            </a:extLst>
          </p:cNvPr>
          <p:cNvSpPr>
            <a:spLocks noGrp="1"/>
          </p:cNvSpPr>
          <p:nvPr>
            <p:ph idx="1"/>
          </p:nvPr>
        </p:nvSpPr>
        <p:spPr>
          <a:xfrm>
            <a:off x="628650" y="762000"/>
            <a:ext cx="7886700" cy="5414963"/>
          </a:xfrm>
        </p:spPr>
        <p:txBody>
          <a:bodyPr>
            <a:normAutofit lnSpcReduction="10000"/>
          </a:bodyPr>
          <a:lstStyle/>
          <a:p>
            <a:pPr marL="0" indent="0" algn="just">
              <a:buNone/>
            </a:pPr>
            <a:r>
              <a:rPr lang="ru-RU" b="1" dirty="0"/>
              <a:t>Кластерный анализ</a:t>
            </a:r>
            <a:r>
              <a:rPr lang="ru-RU" dirty="0"/>
              <a:t> – группа методов, используемых для классификации объектов или событий в относительно гомогенные (однородные) группы, которые называют кластерами (</a:t>
            </a:r>
            <a:r>
              <a:rPr lang="ru-RU" dirty="0" err="1"/>
              <a:t>clusters</a:t>
            </a:r>
            <a:r>
              <a:rPr lang="ru-RU" dirty="0"/>
              <a:t>).</a:t>
            </a:r>
          </a:p>
          <a:p>
            <a:pPr marL="0" indent="0" algn="just">
              <a:buNone/>
            </a:pPr>
            <a:r>
              <a:rPr lang="ru-RU" dirty="0"/>
              <a:t>В кластерном анализе – группируются </a:t>
            </a:r>
            <a:r>
              <a:rPr lang="ru-RU" b="1" dirty="0"/>
              <a:t>строки</a:t>
            </a:r>
            <a:r>
              <a:rPr lang="ru-RU" dirty="0"/>
              <a:t>, т.е. цель – анализ структуры множества объектов. Каждый объект (респондент) – </a:t>
            </a:r>
            <a:r>
              <a:rPr lang="ru-RU" b="1" dirty="0"/>
              <a:t>точка в пространстве признаков</a:t>
            </a:r>
            <a:r>
              <a:rPr lang="ru-RU" dirty="0"/>
              <a:t>.</a:t>
            </a:r>
          </a:p>
          <a:p>
            <a:pPr marL="0" indent="0" algn="just">
              <a:buNone/>
            </a:pPr>
            <a:r>
              <a:rPr lang="ru-RU" b="1" dirty="0"/>
              <a:t>Задача кластерного анализа </a:t>
            </a:r>
            <a:r>
              <a:rPr lang="ru-RU" dirty="0"/>
              <a:t>– выделение «сгущений» точек, разбиение совокупности на однородные подмножества объектов (сегментация).</a:t>
            </a:r>
          </a:p>
          <a:p>
            <a:pPr marL="0" indent="0" algn="just">
              <a:buNone/>
            </a:pPr>
            <a:r>
              <a:rPr lang="ru-RU" b="1" dirty="0"/>
              <a:t>Этапы:</a:t>
            </a:r>
          </a:p>
          <a:p>
            <a:pPr marL="358775" indent="-358775">
              <a:buFont typeface="+mj-lt"/>
              <a:buAutoNum type="arabicPeriod"/>
            </a:pPr>
            <a:r>
              <a:rPr lang="ru-RU" dirty="0"/>
              <a:t>Формулировка проблемы</a:t>
            </a:r>
          </a:p>
          <a:p>
            <a:pPr marL="358775" indent="-358775">
              <a:buFont typeface="+mj-lt"/>
              <a:buAutoNum type="arabicPeriod"/>
            </a:pPr>
            <a:r>
              <a:rPr lang="ru-RU" dirty="0"/>
              <a:t>Выбор способа измерения расстояния (определение меры сходства объектов)</a:t>
            </a:r>
          </a:p>
          <a:p>
            <a:pPr marL="358775" indent="-358775">
              <a:buFont typeface="+mj-lt"/>
              <a:buAutoNum type="arabicPeriod"/>
            </a:pPr>
            <a:r>
              <a:rPr lang="ru-RU" dirty="0"/>
              <a:t>Выбор метода кластеризации</a:t>
            </a:r>
          </a:p>
          <a:p>
            <a:pPr marL="358775" indent="-358775" algn="l">
              <a:buFont typeface="+mj-lt"/>
              <a:buAutoNum type="arabicPeriod"/>
            </a:pPr>
            <a:r>
              <a:rPr lang="ru-RU" dirty="0"/>
              <a:t>Принятие решения о количестве кластеров</a:t>
            </a:r>
          </a:p>
          <a:p>
            <a:pPr marL="358775" indent="-358775" algn="l">
              <a:buFont typeface="+mj-lt"/>
              <a:buAutoNum type="arabicPeriod"/>
            </a:pPr>
            <a:r>
              <a:rPr lang="ru-RU" dirty="0"/>
              <a:t>Интерпретация и профилирование кластеров</a:t>
            </a:r>
          </a:p>
          <a:p>
            <a:pPr marL="358775" indent="-358775" algn="l">
              <a:buFont typeface="+mj-lt"/>
              <a:buAutoNum type="arabicPeriod"/>
            </a:pPr>
            <a:r>
              <a:rPr lang="ru-RU" dirty="0"/>
              <a:t>Оценка достоверности кластеризации</a:t>
            </a:r>
          </a:p>
          <a:p>
            <a:pPr marL="0" indent="0" algn="just">
              <a:buNone/>
            </a:pPr>
            <a:endParaRPr lang="ru-RU" b="1" dirty="0"/>
          </a:p>
          <a:p>
            <a:pPr marL="0" indent="0" algn="just">
              <a:buNone/>
            </a:pPr>
            <a:endParaRPr lang="ru-RU" dirty="0"/>
          </a:p>
        </p:txBody>
      </p:sp>
      <p:sp>
        <p:nvSpPr>
          <p:cNvPr id="4" name="Нижний колонтитул 3">
            <a:extLst>
              <a:ext uri="{FF2B5EF4-FFF2-40B4-BE49-F238E27FC236}">
                <a16:creationId xmlns:a16="http://schemas.microsoft.com/office/drawing/2014/main" id="{B2DE5DF7-A6D7-2379-788B-DBFFF84E6ABA}"/>
              </a:ext>
            </a:extLst>
          </p:cNvPr>
          <p:cNvSpPr>
            <a:spLocks noGrp="1"/>
          </p:cNvSpPr>
          <p:nvPr>
            <p:ph type="ftr" sz="quarter" idx="11"/>
          </p:nvPr>
        </p:nvSpPr>
        <p:spPr>
          <a:xfrm>
            <a:off x="3028950" y="6356351"/>
            <a:ext cx="3086100" cy="365125"/>
          </a:xfrm>
        </p:spPr>
        <p:txBody>
          <a:bodyPr/>
          <a:lstStyle/>
          <a:p>
            <a:endParaRPr lang="ru-RU"/>
          </a:p>
        </p:txBody>
      </p:sp>
      <p:sp>
        <p:nvSpPr>
          <p:cNvPr id="5" name="Номер слайда 4">
            <a:extLst>
              <a:ext uri="{FF2B5EF4-FFF2-40B4-BE49-F238E27FC236}">
                <a16:creationId xmlns:a16="http://schemas.microsoft.com/office/drawing/2014/main" id="{831E9ABF-ED92-13A5-9956-CA6D78FD2DCC}"/>
              </a:ext>
            </a:extLst>
          </p:cNvPr>
          <p:cNvSpPr>
            <a:spLocks noGrp="1"/>
          </p:cNvSpPr>
          <p:nvPr>
            <p:ph type="sldNum" sz="quarter" idx="12"/>
          </p:nvPr>
        </p:nvSpPr>
        <p:spPr>
          <a:xfrm>
            <a:off x="6457950" y="6356351"/>
            <a:ext cx="2057400" cy="365125"/>
          </a:xfrm>
        </p:spPr>
        <p:txBody>
          <a:bodyPr/>
          <a:lstStyle/>
          <a:p>
            <a:fld id="{81C5FB71-5E9C-41B5-9BB8-3F1EBEAEB16A}" type="slidenum">
              <a:rPr lang="ru-RU" smtClean="0"/>
              <a:pPr/>
              <a:t>7</a:t>
            </a:fld>
            <a:endParaRPr lang="ru-RU"/>
          </a:p>
        </p:txBody>
      </p:sp>
    </p:spTree>
    <p:extLst>
      <p:ext uri="{BB962C8B-B14F-4D97-AF65-F5344CB8AC3E}">
        <p14:creationId xmlns:p14="http://schemas.microsoft.com/office/powerpoint/2010/main" val="2489155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62944FC-D04F-D078-0FA9-57067728C349}"/>
              </a:ext>
            </a:extLst>
          </p:cNvPr>
          <p:cNvSpPr>
            <a:spLocks noGrp="1"/>
          </p:cNvSpPr>
          <p:nvPr>
            <p:ph type="title"/>
          </p:nvPr>
        </p:nvSpPr>
        <p:spPr/>
        <p:txBody>
          <a:bodyPr/>
          <a:lstStyle/>
          <a:p>
            <a:r>
              <a:rPr lang="ru-RU" dirty="0"/>
              <a:t>Способы измерения расстояния</a:t>
            </a:r>
          </a:p>
        </p:txBody>
      </p:sp>
      <mc:AlternateContent xmlns:mc="http://schemas.openxmlformats.org/markup-compatibility/2006" xmlns:a14="http://schemas.microsoft.com/office/drawing/2010/main">
        <mc:Choice Requires="a14">
          <p:graphicFrame>
            <p:nvGraphicFramePr>
              <p:cNvPr id="6" name="Объект 5">
                <a:extLst>
                  <a:ext uri="{FF2B5EF4-FFF2-40B4-BE49-F238E27FC236}">
                    <a16:creationId xmlns:a16="http://schemas.microsoft.com/office/drawing/2014/main" id="{3DC5EEA2-4662-9748-204A-11175F08C5AF}"/>
                  </a:ext>
                </a:extLst>
              </p:cNvPr>
              <p:cNvGraphicFramePr>
                <a:graphicFrameLocks noGrp="1"/>
              </p:cNvGraphicFramePr>
              <p:nvPr>
                <p:ph idx="1"/>
                <p:extLst>
                  <p:ext uri="{D42A27DB-BD31-4B8C-83A1-F6EECF244321}">
                    <p14:modId xmlns:p14="http://schemas.microsoft.com/office/powerpoint/2010/main" val="3273278305"/>
                  </p:ext>
                </p:extLst>
              </p:nvPr>
            </p:nvGraphicFramePr>
            <p:xfrm>
              <a:off x="-4012" y="2422778"/>
              <a:ext cx="9144000" cy="4398540"/>
            </p:xfrm>
            <a:graphic>
              <a:graphicData uri="http://schemas.openxmlformats.org/drawingml/2006/table">
                <a:tbl>
                  <a:tblPr firstRow="1" bandRow="1">
                    <a:tableStyleId>{2D5ABB26-0587-4C30-8999-92F81FD0307C}</a:tableStyleId>
                  </a:tblPr>
                  <a:tblGrid>
                    <a:gridCol w="1744870">
                      <a:extLst>
                        <a:ext uri="{9D8B030D-6E8A-4147-A177-3AD203B41FA5}">
                          <a16:colId xmlns:a16="http://schemas.microsoft.com/office/drawing/2014/main" val="2078950790"/>
                        </a:ext>
                      </a:extLst>
                    </a:gridCol>
                    <a:gridCol w="4126541">
                      <a:extLst>
                        <a:ext uri="{9D8B030D-6E8A-4147-A177-3AD203B41FA5}">
                          <a16:colId xmlns:a16="http://schemas.microsoft.com/office/drawing/2014/main" val="534842838"/>
                        </a:ext>
                      </a:extLst>
                    </a:gridCol>
                    <a:gridCol w="3272589">
                      <a:extLst>
                        <a:ext uri="{9D8B030D-6E8A-4147-A177-3AD203B41FA5}">
                          <a16:colId xmlns:a16="http://schemas.microsoft.com/office/drawing/2014/main" val="56767085"/>
                        </a:ext>
                      </a:extLst>
                    </a:gridCol>
                  </a:tblGrid>
                  <a:tr h="493871">
                    <a:tc>
                      <a:txBody>
                        <a:bodyPr/>
                        <a:lstStyle/>
                        <a:p>
                          <a:pPr algn="ctr"/>
                          <a:r>
                            <a:rPr lang="ru-RU" sz="2400" b="1" dirty="0"/>
                            <a:t>Название</a:t>
                          </a:r>
                        </a:p>
                      </a:txBody>
                      <a:tcPr anchor="ctr"/>
                    </a:tc>
                    <a:tc>
                      <a:txBody>
                        <a:bodyPr/>
                        <a:lstStyle/>
                        <a:p>
                          <a:pPr algn="ctr"/>
                          <a:r>
                            <a:rPr lang="ru-RU" sz="2400" b="1" dirty="0"/>
                            <a:t>Формула</a:t>
                          </a:r>
                        </a:p>
                      </a:txBody>
                      <a:tcPr anchor="ctr"/>
                    </a:tc>
                    <a:tc>
                      <a:txBody>
                        <a:bodyPr/>
                        <a:lstStyle/>
                        <a:p>
                          <a:pPr algn="ctr"/>
                          <a:r>
                            <a:rPr lang="ru-RU" sz="2400" b="1" dirty="0"/>
                            <a:t>Смысл</a:t>
                          </a:r>
                        </a:p>
                      </a:txBody>
                      <a:tcPr anchor="ctr"/>
                    </a:tc>
                    <a:extLst>
                      <a:ext uri="{0D108BD9-81ED-4DB2-BD59-A6C34878D82A}">
                        <a16:rowId xmlns:a16="http://schemas.microsoft.com/office/drawing/2014/main" val="759780478"/>
                      </a:ext>
                    </a:extLst>
                  </a:tr>
                  <a:tr h="1321169">
                    <a:tc>
                      <a:txBody>
                        <a:bodyPr/>
                        <a:lstStyle/>
                        <a:p>
                          <a:pPr algn="ctr"/>
                          <a:r>
                            <a:rPr lang="ru-RU" sz="1800" dirty="0"/>
                            <a:t>Обобщенное расстояние Минковского</a:t>
                          </a: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smtClean="0">
                                        <a:latin typeface="Cambria Math" panose="02040503050406030204" pitchFamily="18" charset="0"/>
                                      </a:rPr>
                                      <m:t>𝜌</m:t>
                                    </m:r>
                                  </m:e>
                                  <m:sub>
                                    <m:r>
                                      <a:rPr lang="en-US" sz="1800" b="0" smtClean="0">
                                        <a:latin typeface="Cambria Math" panose="02040503050406030204" pitchFamily="18" charset="0"/>
                                      </a:rPr>
                                      <m:t>𝐿𝑃</m:t>
                                    </m:r>
                                  </m:sub>
                                </m:sSub>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smtClean="0">
                                            <a:latin typeface="Cambria Math" panose="02040503050406030204" pitchFamily="18" charset="0"/>
                                          </a:rPr>
                                          <m:t>𝑥</m:t>
                                        </m:r>
                                      </m:e>
                                      <m:sub>
                                        <m:r>
                                          <a:rPr lang="en-US" sz="1800" b="0" smtClean="0">
                                            <a:latin typeface="Cambria Math" panose="02040503050406030204" pitchFamily="18" charset="0"/>
                                          </a:rPr>
                                          <m:t>𝑖</m:t>
                                        </m:r>
                                      </m:sub>
                                    </m:sSub>
                                    <m:r>
                                      <a:rPr lang="en-US" sz="1800" b="0"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smtClean="0">
                                            <a:latin typeface="Cambria Math" panose="02040503050406030204" pitchFamily="18" charset="0"/>
                                          </a:rPr>
                                          <m:t>𝑥</m:t>
                                        </m:r>
                                      </m:e>
                                      <m:sub>
                                        <m:r>
                                          <a:rPr lang="en-US" sz="1800" b="0" smtClean="0">
                                            <a:latin typeface="Cambria Math" panose="02040503050406030204" pitchFamily="18" charset="0"/>
                                          </a:rPr>
                                          <m:t>𝑗</m:t>
                                        </m:r>
                                      </m:sub>
                                    </m:sSub>
                                  </m:e>
                                </m:d>
                                <m:r>
                                  <a:rPr lang="en-US" sz="1800" b="0" smtClean="0">
                                    <a:latin typeface="Cambria Math" panose="02040503050406030204" pitchFamily="18" charset="0"/>
                                  </a:rPr>
                                  <m:t>=</m:t>
                                </m:r>
                                <m:sSub>
                                  <m:sSubPr>
                                    <m:ctrlPr>
                                      <a:rPr lang="en-US" sz="1800" b="0" i="1" smtClean="0">
                                        <a:latin typeface="Cambria Math" panose="02040503050406030204" pitchFamily="18" charset="0"/>
                                      </a:rPr>
                                    </m:ctrlPr>
                                  </m:sSubPr>
                                  <m:e>
                                    <m:d>
                                      <m:dPr>
                                        <m:begChr m:val="‖"/>
                                        <m:endChr m:val="‖"/>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smtClean="0">
                                                <a:latin typeface="Cambria Math" panose="02040503050406030204" pitchFamily="18" charset="0"/>
                                              </a:rPr>
                                              <m:t>𝑥</m:t>
                                            </m:r>
                                          </m:e>
                                          <m:sub>
                                            <m:r>
                                              <a:rPr lang="en-US" sz="1800" b="0" smtClean="0">
                                                <a:latin typeface="Cambria Math" panose="02040503050406030204" pitchFamily="18" charset="0"/>
                                              </a:rPr>
                                              <m:t>𝑖</m:t>
                                            </m:r>
                                          </m:sub>
                                        </m:sSub>
                                        <m:r>
                                          <a:rPr lang="en-US" sz="1800" b="0"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smtClean="0">
                                                <a:latin typeface="Cambria Math" panose="02040503050406030204" pitchFamily="18" charset="0"/>
                                              </a:rPr>
                                              <m:t>𝑥</m:t>
                                            </m:r>
                                          </m:e>
                                          <m:sub>
                                            <m:r>
                                              <a:rPr lang="en-US" sz="1800" b="0" smtClean="0">
                                                <a:latin typeface="Cambria Math" panose="02040503050406030204" pitchFamily="18" charset="0"/>
                                              </a:rPr>
                                              <m:t>𝑗</m:t>
                                            </m:r>
                                          </m:sub>
                                        </m:sSub>
                                      </m:e>
                                    </m:d>
                                  </m:e>
                                  <m:sub>
                                    <m:r>
                                      <a:rPr lang="en-US" sz="1800" b="0" smtClean="0">
                                        <a:latin typeface="Cambria Math" panose="02040503050406030204" pitchFamily="18" charset="0"/>
                                      </a:rPr>
                                      <m:t>𝑝</m:t>
                                    </m:r>
                                  </m:sub>
                                </m:sSub>
                                <m:r>
                                  <a:rPr lang="en-US" sz="1800" b="0" smtClean="0">
                                    <a:latin typeface="Cambria Math" panose="02040503050406030204" pitchFamily="18" charset="0"/>
                                  </a:rPr>
                                  <m:t>=</m:t>
                                </m:r>
                                <m:sSup>
                                  <m:sSupPr>
                                    <m:ctrlPr>
                                      <a:rPr lang="en-US" sz="1800" b="0" i="1" smtClean="0">
                                        <a:latin typeface="Cambria Math" panose="02040503050406030204" pitchFamily="18" charset="0"/>
                                      </a:rPr>
                                    </m:ctrlPr>
                                  </m:sSupPr>
                                  <m:e>
                                    <m:d>
                                      <m:dPr>
                                        <m:ctrlPr>
                                          <a:rPr lang="en-US" sz="1800" b="0" i="1" smtClean="0">
                                            <a:latin typeface="Cambria Math" panose="02040503050406030204" pitchFamily="18" charset="0"/>
                                          </a:rPr>
                                        </m:ctrlPr>
                                      </m:dPr>
                                      <m:e>
                                        <m:nary>
                                          <m:naryPr>
                                            <m:chr m:val="∑"/>
                                            <m:ctrlPr>
                                              <a:rPr lang="en-US" sz="1800" b="0" i="1" smtClean="0">
                                                <a:latin typeface="Cambria Math" panose="02040503050406030204" pitchFamily="18" charset="0"/>
                                              </a:rPr>
                                            </m:ctrlPr>
                                          </m:naryPr>
                                          <m:sub>
                                            <m:r>
                                              <a:rPr lang="en-US" sz="1800" b="0" smtClean="0">
                                                <a:latin typeface="Cambria Math" panose="02040503050406030204" pitchFamily="18" charset="0"/>
                                              </a:rPr>
                                              <m:t>𝑐𝑜𝑙</m:t>
                                            </m:r>
                                            <m:r>
                                              <a:rPr lang="en-US" sz="1800" b="0" smtClean="0">
                                                <a:latin typeface="Cambria Math" panose="02040503050406030204" pitchFamily="18" charset="0"/>
                                              </a:rPr>
                                              <m:t>=1</m:t>
                                            </m:r>
                                          </m:sub>
                                          <m:sup>
                                            <m:r>
                                              <a:rPr lang="en-US" sz="1800" b="0" smtClean="0">
                                                <a:latin typeface="Cambria Math" panose="02040503050406030204" pitchFamily="18" charset="0"/>
                                              </a:rPr>
                                              <m:t>𝑚</m:t>
                                            </m:r>
                                          </m:sup>
                                          <m:e>
                                            <m:sSup>
                                              <m:sSupPr>
                                                <m:ctrlPr>
                                                  <a:rPr lang="en-US" sz="1800" b="0" i="1" smtClean="0">
                                                    <a:latin typeface="Cambria Math" panose="02040503050406030204" pitchFamily="18" charset="0"/>
                                                  </a:rPr>
                                                </m:ctrlPr>
                                              </m:sSupPr>
                                              <m:e>
                                                <m:d>
                                                  <m:dPr>
                                                    <m:begChr m:val="|"/>
                                                    <m:endChr m:val="|"/>
                                                    <m:ctrlPr>
                                                      <a:rPr lang="en-US" sz="1800" b="0" i="1" smtClean="0">
                                                        <a:latin typeface="Cambria Math" panose="02040503050406030204" pitchFamily="18" charset="0"/>
                                                      </a:rPr>
                                                    </m:ctrlPr>
                                                  </m:dPr>
                                                  <m:e>
                                                    <m:sSubSup>
                                                      <m:sSubSupPr>
                                                        <m:ctrlPr>
                                                          <a:rPr lang="en-US" sz="1800" b="0" i="1" smtClean="0">
                                                            <a:latin typeface="Cambria Math" panose="02040503050406030204" pitchFamily="18" charset="0"/>
                                                          </a:rPr>
                                                        </m:ctrlPr>
                                                      </m:sSubSupPr>
                                                      <m:e>
                                                        <m:r>
                                                          <a:rPr lang="en-US" sz="1800" b="0" smtClean="0">
                                                            <a:latin typeface="Cambria Math" panose="02040503050406030204" pitchFamily="18" charset="0"/>
                                                          </a:rPr>
                                                          <m:t>𝑥</m:t>
                                                        </m:r>
                                                      </m:e>
                                                      <m:sub>
                                                        <m:r>
                                                          <a:rPr lang="en-US" sz="1800" b="0" smtClean="0">
                                                            <a:latin typeface="Cambria Math" panose="02040503050406030204" pitchFamily="18" charset="0"/>
                                                          </a:rPr>
                                                          <m:t>𝑖</m:t>
                                                        </m:r>
                                                      </m:sub>
                                                      <m:sup>
                                                        <m:r>
                                                          <a:rPr lang="en-US" sz="1800" b="0" smtClean="0">
                                                            <a:latin typeface="Cambria Math" panose="02040503050406030204" pitchFamily="18" charset="0"/>
                                                          </a:rPr>
                                                          <m:t>&lt;</m:t>
                                                        </m:r>
                                                        <m:r>
                                                          <a:rPr lang="en-US" sz="1800" b="0" smtClean="0">
                                                            <a:latin typeface="Cambria Math" panose="02040503050406030204" pitchFamily="18" charset="0"/>
                                                          </a:rPr>
                                                          <m:t>𝑐𝑜𝑙</m:t>
                                                        </m:r>
                                                        <m:r>
                                                          <a:rPr lang="en-US" sz="1800" b="0" smtClean="0">
                                                            <a:latin typeface="Cambria Math" panose="02040503050406030204" pitchFamily="18" charset="0"/>
                                                          </a:rPr>
                                                          <m:t>&gt;</m:t>
                                                        </m:r>
                                                      </m:sup>
                                                    </m:sSubSup>
                                                    <m:r>
                                                      <a:rPr lang="en-US" sz="1800" b="0" smtClean="0">
                                                        <a:latin typeface="Cambria Math" panose="02040503050406030204" pitchFamily="18" charset="0"/>
                                                      </a:rPr>
                                                      <m:t>−</m:t>
                                                    </m:r>
                                                    <m:sSubSup>
                                                      <m:sSubSupPr>
                                                        <m:ctrlPr>
                                                          <a:rPr lang="en-US" sz="1800" b="0" i="1" smtClean="0">
                                                            <a:latin typeface="Cambria Math" panose="02040503050406030204" pitchFamily="18" charset="0"/>
                                                          </a:rPr>
                                                        </m:ctrlPr>
                                                      </m:sSubSupPr>
                                                      <m:e>
                                                        <m:r>
                                                          <a:rPr lang="en-US" sz="1800" b="0" smtClean="0">
                                                            <a:latin typeface="Cambria Math" panose="02040503050406030204" pitchFamily="18" charset="0"/>
                                                          </a:rPr>
                                                          <m:t>𝑥</m:t>
                                                        </m:r>
                                                      </m:e>
                                                      <m:sub>
                                                        <m:r>
                                                          <a:rPr lang="en-US" sz="1800" b="0" smtClean="0">
                                                            <a:latin typeface="Cambria Math" panose="02040503050406030204" pitchFamily="18" charset="0"/>
                                                          </a:rPr>
                                                          <m:t>𝑗</m:t>
                                                        </m:r>
                                                      </m:sub>
                                                      <m:sup>
                                                        <m:r>
                                                          <a:rPr lang="en-US" sz="1800" b="0" smtClean="0">
                                                            <a:latin typeface="Cambria Math" panose="02040503050406030204" pitchFamily="18" charset="0"/>
                                                          </a:rPr>
                                                          <m:t>&lt;</m:t>
                                                        </m:r>
                                                        <m:r>
                                                          <a:rPr lang="en-US" sz="1800" b="0" smtClean="0">
                                                            <a:latin typeface="Cambria Math" panose="02040503050406030204" pitchFamily="18" charset="0"/>
                                                          </a:rPr>
                                                          <m:t>𝑐𝑜𝑙</m:t>
                                                        </m:r>
                                                        <m:r>
                                                          <a:rPr lang="en-US" sz="1800" b="0" smtClean="0">
                                                            <a:latin typeface="Cambria Math" panose="02040503050406030204" pitchFamily="18" charset="0"/>
                                                          </a:rPr>
                                                          <m:t>&gt;</m:t>
                                                        </m:r>
                                                      </m:sup>
                                                    </m:sSubSup>
                                                  </m:e>
                                                </m:d>
                                              </m:e>
                                              <m:sup>
                                                <m:r>
                                                  <a:rPr lang="en-US" sz="1800" b="0" smtClean="0">
                                                    <a:latin typeface="Cambria Math" panose="02040503050406030204" pitchFamily="18" charset="0"/>
                                                  </a:rPr>
                                                  <m:t>𝑝</m:t>
                                                </m:r>
                                              </m:sup>
                                            </m:sSup>
                                          </m:e>
                                        </m:nary>
                                      </m:e>
                                    </m:d>
                                  </m:e>
                                  <m:sup>
                                    <m:f>
                                      <m:fPr>
                                        <m:ctrlPr>
                                          <a:rPr lang="en-US" sz="1800" b="0" i="1" smtClean="0">
                                            <a:latin typeface="Cambria Math" panose="02040503050406030204" pitchFamily="18" charset="0"/>
                                          </a:rPr>
                                        </m:ctrlPr>
                                      </m:fPr>
                                      <m:num>
                                        <m:r>
                                          <a:rPr lang="en-US" sz="1800" b="0" smtClean="0">
                                            <a:latin typeface="Cambria Math" panose="02040503050406030204" pitchFamily="18" charset="0"/>
                                          </a:rPr>
                                          <m:t>1</m:t>
                                        </m:r>
                                      </m:num>
                                      <m:den>
                                        <m:r>
                                          <a:rPr lang="en-US" sz="1800" b="0" smtClean="0">
                                            <a:latin typeface="Cambria Math" panose="02040503050406030204" pitchFamily="18" charset="0"/>
                                          </a:rPr>
                                          <m:t>𝑝</m:t>
                                        </m:r>
                                      </m:den>
                                    </m:f>
                                  </m:sup>
                                </m:sSup>
                              </m:oMath>
                            </m:oMathPara>
                          </a14:m>
                          <a:endParaRPr lang="ru-RU" sz="1800" dirty="0"/>
                        </a:p>
                      </a:txBody>
                      <a:tcPr anchor="ctr"/>
                    </a:tc>
                    <a:tc>
                      <a:txBody>
                        <a:bodyPr/>
                        <a:lstStyle/>
                        <a:p>
                          <a:pPr algn="ctr"/>
                          <a:r>
                            <a:rPr lang="ru-RU" sz="1800" dirty="0"/>
                            <a:t>Общий вид Евклидового расстояния, кратчайший путь между двумя точками в криволинейном пространстве</a:t>
                          </a:r>
                        </a:p>
                      </a:txBody>
                      <a:tcPr anchor="ctr"/>
                    </a:tc>
                    <a:extLst>
                      <a:ext uri="{0D108BD9-81ED-4DB2-BD59-A6C34878D82A}">
                        <a16:rowId xmlns:a16="http://schemas.microsoft.com/office/drawing/2014/main" val="1878718467"/>
                      </a:ext>
                    </a:extLst>
                  </a:tr>
                  <a:tr h="1142421">
                    <a:tc>
                      <a:txBody>
                        <a:bodyPr/>
                        <a:lstStyle/>
                        <a:p>
                          <a:pPr algn="ctr"/>
                          <a:r>
                            <a:rPr lang="ru-RU" sz="1800" dirty="0"/>
                            <a:t>Косинусная мера близости</a:t>
                          </a: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sz="1800" b="0" i="1" dirty="0" smtClean="0">
                                        <a:latin typeface="Cambria Math" panose="02040503050406030204" pitchFamily="18" charset="0"/>
                                      </a:rPr>
                                    </m:ctrlPr>
                                  </m:sSubPr>
                                  <m:e>
                                    <m:r>
                                      <a:rPr lang="en-US" sz="1800" b="0" dirty="0" smtClean="0">
                                        <a:latin typeface="Cambria Math" panose="02040503050406030204" pitchFamily="18" charset="0"/>
                                      </a:rPr>
                                      <m:t>𝜌</m:t>
                                    </m:r>
                                  </m:e>
                                  <m:sub>
                                    <m:r>
                                      <a:rPr lang="en-US" sz="1800" b="0" dirty="0" smtClean="0">
                                        <a:latin typeface="Cambria Math" panose="02040503050406030204" pitchFamily="18" charset="0"/>
                                      </a:rPr>
                                      <m:t>𝑐𝑜𝑠</m:t>
                                    </m:r>
                                  </m:sub>
                                </m:sSub>
                                <m:d>
                                  <m:dPr>
                                    <m:ctrlPr>
                                      <a:rPr lang="en-US" sz="1800" i="1" dirty="0" smtClean="0">
                                        <a:latin typeface="Cambria Math" panose="02040503050406030204" pitchFamily="18" charset="0"/>
                                      </a:rPr>
                                    </m:ctrlPr>
                                  </m:dPr>
                                  <m:e>
                                    <m:sSub>
                                      <m:sSubPr>
                                        <m:ctrlPr>
                                          <a:rPr lang="en-US" sz="1800" i="1" dirty="0" err="1" smtClean="0">
                                            <a:latin typeface="Cambria Math" panose="02040503050406030204" pitchFamily="18" charset="0"/>
                                          </a:rPr>
                                        </m:ctrlPr>
                                      </m:sSubPr>
                                      <m:e>
                                        <m:r>
                                          <a:rPr lang="en-US" sz="1800" dirty="0" err="1" smtClean="0">
                                            <a:latin typeface="Cambria Math" panose="02040503050406030204" pitchFamily="18" charset="0"/>
                                          </a:rPr>
                                          <m:t>𝑥</m:t>
                                        </m:r>
                                      </m:e>
                                      <m:sub>
                                        <m:r>
                                          <a:rPr lang="en-US" sz="1800" dirty="0" err="1" smtClean="0">
                                            <a:latin typeface="Cambria Math" panose="02040503050406030204" pitchFamily="18" charset="0"/>
                                          </a:rPr>
                                          <m:t>𝑖</m:t>
                                        </m:r>
                                      </m:sub>
                                    </m:sSub>
                                    <m:r>
                                      <a:rPr lang="en-US" sz="1800" dirty="0" smtClean="0">
                                        <a:latin typeface="Cambria Math" panose="02040503050406030204" pitchFamily="18" charset="0"/>
                                      </a:rPr>
                                      <m:t>,</m:t>
                                    </m:r>
                                    <m:sSub>
                                      <m:sSubPr>
                                        <m:ctrlPr>
                                          <a:rPr lang="en-US" sz="1800" b="0" i="1" dirty="0" smtClean="0">
                                            <a:latin typeface="Cambria Math" panose="02040503050406030204" pitchFamily="18" charset="0"/>
                                          </a:rPr>
                                        </m:ctrlPr>
                                      </m:sSubPr>
                                      <m:e>
                                        <m:r>
                                          <a:rPr lang="en-US" sz="1800" b="0" dirty="0" smtClean="0">
                                            <a:latin typeface="Cambria Math" panose="02040503050406030204" pitchFamily="18" charset="0"/>
                                          </a:rPr>
                                          <m:t>𝑥</m:t>
                                        </m:r>
                                      </m:e>
                                      <m:sub>
                                        <m:r>
                                          <a:rPr lang="en-US" sz="1800" b="0" dirty="0" smtClean="0">
                                            <a:latin typeface="Cambria Math" panose="02040503050406030204" pitchFamily="18" charset="0"/>
                                          </a:rPr>
                                          <m:t>𝑗</m:t>
                                        </m:r>
                                      </m:sub>
                                    </m:sSub>
                                  </m:e>
                                </m:d>
                                <m:r>
                                  <a:rPr lang="en-US" sz="1800" b="0" dirty="0" smtClean="0">
                                    <a:latin typeface="Cambria Math" panose="02040503050406030204" pitchFamily="18" charset="0"/>
                                  </a:rPr>
                                  <m:t>=</m:t>
                                </m:r>
                                <m:f>
                                  <m:fPr>
                                    <m:ctrlPr>
                                      <a:rPr lang="en-US" sz="1800" b="0" i="1" dirty="0" smtClean="0">
                                        <a:latin typeface="Cambria Math" panose="02040503050406030204" pitchFamily="18" charset="0"/>
                                      </a:rPr>
                                    </m:ctrlPr>
                                  </m:fPr>
                                  <m:num>
                                    <m:r>
                                      <a:rPr lang="en-US" sz="1800" b="0" dirty="0" smtClean="0">
                                        <a:latin typeface="Cambria Math" panose="02040503050406030204" pitchFamily="18" charset="0"/>
                                      </a:rPr>
                                      <m:t>(</m:t>
                                    </m:r>
                                    <m:sSub>
                                      <m:sSubPr>
                                        <m:ctrlPr>
                                          <a:rPr lang="en-US" sz="1800" b="0" i="1" dirty="0" smtClean="0">
                                            <a:latin typeface="Cambria Math" panose="02040503050406030204" pitchFamily="18" charset="0"/>
                                          </a:rPr>
                                        </m:ctrlPr>
                                      </m:sSubPr>
                                      <m:e>
                                        <m:r>
                                          <a:rPr lang="en-US" sz="1800" b="0" dirty="0" smtClean="0">
                                            <a:latin typeface="Cambria Math" panose="02040503050406030204" pitchFamily="18" charset="0"/>
                                          </a:rPr>
                                          <m:t>𝑥</m:t>
                                        </m:r>
                                      </m:e>
                                      <m:sub>
                                        <m:r>
                                          <a:rPr lang="en-US" sz="1800" b="0" dirty="0" smtClean="0">
                                            <a:latin typeface="Cambria Math" panose="02040503050406030204" pitchFamily="18" charset="0"/>
                                          </a:rPr>
                                          <m:t>𝑖</m:t>
                                        </m:r>
                                      </m:sub>
                                    </m:sSub>
                                    <m:r>
                                      <a:rPr lang="en-US" sz="1800" b="0" dirty="0" smtClean="0">
                                        <a:latin typeface="Cambria Math" panose="02040503050406030204" pitchFamily="18" charset="0"/>
                                      </a:rPr>
                                      <m:t>,</m:t>
                                    </m:r>
                                    <m:sSub>
                                      <m:sSubPr>
                                        <m:ctrlPr>
                                          <a:rPr lang="en-US" sz="1800" b="0" i="1" dirty="0" smtClean="0">
                                            <a:latin typeface="Cambria Math" panose="02040503050406030204" pitchFamily="18" charset="0"/>
                                          </a:rPr>
                                        </m:ctrlPr>
                                      </m:sSubPr>
                                      <m:e>
                                        <m:r>
                                          <a:rPr lang="en-US" sz="1800" b="0" dirty="0" smtClean="0">
                                            <a:latin typeface="Cambria Math" panose="02040503050406030204" pitchFamily="18" charset="0"/>
                                          </a:rPr>
                                          <m:t>𝑥</m:t>
                                        </m:r>
                                      </m:e>
                                      <m:sub>
                                        <m:r>
                                          <a:rPr lang="en-US" sz="1800" b="0" dirty="0" smtClean="0">
                                            <a:latin typeface="Cambria Math" panose="02040503050406030204" pitchFamily="18" charset="0"/>
                                          </a:rPr>
                                          <m:t>𝑗</m:t>
                                        </m:r>
                                      </m:sub>
                                    </m:sSub>
                                    <m:r>
                                      <a:rPr lang="en-US" sz="1800" b="0" dirty="0" smtClean="0">
                                        <a:latin typeface="Cambria Math" panose="02040503050406030204" pitchFamily="18" charset="0"/>
                                      </a:rPr>
                                      <m:t>)</m:t>
                                    </m:r>
                                  </m:num>
                                  <m:den>
                                    <m:sSub>
                                      <m:sSubPr>
                                        <m:ctrlPr>
                                          <a:rPr lang="en-US" sz="1800" b="0" i="1" dirty="0" smtClean="0">
                                            <a:latin typeface="Cambria Math" panose="02040503050406030204" pitchFamily="18" charset="0"/>
                                          </a:rPr>
                                        </m:ctrlPr>
                                      </m:sSubPr>
                                      <m:e>
                                        <m:d>
                                          <m:dPr>
                                            <m:begChr m:val="‖"/>
                                            <m:endChr m:val="‖"/>
                                            <m:ctrlPr>
                                              <a:rPr lang="en-US" sz="1800" b="0" i="1" dirty="0" smtClean="0">
                                                <a:latin typeface="Cambria Math" panose="02040503050406030204" pitchFamily="18" charset="0"/>
                                              </a:rPr>
                                            </m:ctrlPr>
                                          </m:dPr>
                                          <m:e>
                                            <m:sSub>
                                              <m:sSubPr>
                                                <m:ctrlPr>
                                                  <a:rPr lang="en-US" sz="1800" b="0" i="1" dirty="0" smtClean="0">
                                                    <a:latin typeface="Cambria Math" panose="02040503050406030204" pitchFamily="18" charset="0"/>
                                                  </a:rPr>
                                                </m:ctrlPr>
                                              </m:sSubPr>
                                              <m:e>
                                                <m:r>
                                                  <a:rPr lang="en-US" sz="1800" b="0" dirty="0" smtClean="0">
                                                    <a:latin typeface="Cambria Math" panose="02040503050406030204" pitchFamily="18" charset="0"/>
                                                  </a:rPr>
                                                  <m:t>𝑥</m:t>
                                                </m:r>
                                              </m:e>
                                              <m:sub>
                                                <m:r>
                                                  <a:rPr lang="en-US" sz="1800" b="0" dirty="0" smtClean="0">
                                                    <a:latin typeface="Cambria Math" panose="02040503050406030204" pitchFamily="18" charset="0"/>
                                                  </a:rPr>
                                                  <m:t>𝑖</m:t>
                                                </m:r>
                                              </m:sub>
                                            </m:sSub>
                                          </m:e>
                                        </m:d>
                                      </m:e>
                                      <m:sub>
                                        <m:r>
                                          <a:rPr lang="en-US" sz="1800" b="0" dirty="0" smtClean="0">
                                            <a:latin typeface="Cambria Math" panose="02040503050406030204" pitchFamily="18" charset="0"/>
                                          </a:rPr>
                                          <m:t>𝑝</m:t>
                                        </m:r>
                                      </m:sub>
                                    </m:sSub>
                                    <m:r>
                                      <a:rPr lang="en-US" sz="1800" b="0" dirty="0" smtClean="0">
                                        <a:latin typeface="Cambria Math" panose="02040503050406030204" pitchFamily="18" charset="0"/>
                                      </a:rPr>
                                      <m:t>⋅</m:t>
                                    </m:r>
                                    <m:sSub>
                                      <m:sSubPr>
                                        <m:ctrlPr>
                                          <a:rPr lang="en-US" sz="1800" b="0" i="1" dirty="0" smtClean="0">
                                            <a:latin typeface="Cambria Math" panose="02040503050406030204" pitchFamily="18" charset="0"/>
                                          </a:rPr>
                                        </m:ctrlPr>
                                      </m:sSubPr>
                                      <m:e>
                                        <m:d>
                                          <m:dPr>
                                            <m:begChr m:val="‖"/>
                                            <m:endChr m:val="‖"/>
                                            <m:ctrlPr>
                                              <a:rPr lang="en-US" sz="1800" b="0" i="1" dirty="0" smtClean="0">
                                                <a:latin typeface="Cambria Math" panose="02040503050406030204" pitchFamily="18" charset="0"/>
                                              </a:rPr>
                                            </m:ctrlPr>
                                          </m:dPr>
                                          <m:e>
                                            <m:sSub>
                                              <m:sSubPr>
                                                <m:ctrlPr>
                                                  <a:rPr lang="en-US" sz="1800" b="0" i="1" dirty="0" smtClean="0">
                                                    <a:latin typeface="Cambria Math" panose="02040503050406030204" pitchFamily="18" charset="0"/>
                                                  </a:rPr>
                                                </m:ctrlPr>
                                              </m:sSubPr>
                                              <m:e>
                                                <m:r>
                                                  <a:rPr lang="en-US" sz="1800" b="0" dirty="0" smtClean="0">
                                                    <a:latin typeface="Cambria Math" panose="02040503050406030204" pitchFamily="18" charset="0"/>
                                                  </a:rPr>
                                                  <m:t>𝑥</m:t>
                                                </m:r>
                                              </m:e>
                                              <m:sub>
                                                <m:r>
                                                  <a:rPr lang="en-US" sz="1800" b="0" dirty="0" smtClean="0">
                                                    <a:latin typeface="Cambria Math" panose="02040503050406030204" pitchFamily="18" charset="0"/>
                                                  </a:rPr>
                                                  <m:t>𝑗</m:t>
                                                </m:r>
                                              </m:sub>
                                            </m:sSub>
                                          </m:e>
                                        </m:d>
                                      </m:e>
                                      <m:sub>
                                        <m:r>
                                          <a:rPr lang="en-US" sz="1800" b="0" dirty="0" smtClean="0">
                                            <a:latin typeface="Cambria Math" panose="02040503050406030204" pitchFamily="18" charset="0"/>
                                          </a:rPr>
                                          <m:t>𝑝</m:t>
                                        </m:r>
                                      </m:sub>
                                    </m:sSub>
                                  </m:den>
                                </m:f>
                              </m:oMath>
                            </m:oMathPara>
                          </a14:m>
                          <a:endParaRPr lang="ru-RU" sz="1800" dirty="0"/>
                        </a:p>
                      </a:txBody>
                      <a:tcPr anchor="ctr"/>
                    </a:tc>
                    <a:tc>
                      <a:txBody>
                        <a:bodyPr/>
                        <a:lstStyle/>
                        <a:p>
                          <a:pPr algn="ctr"/>
                          <a:r>
                            <a:rPr lang="ru-RU" sz="1800" dirty="0"/>
                            <a:t>Общий вид углового расстояния</a:t>
                          </a:r>
                          <a:r>
                            <a:rPr lang="en-US" sz="1800" dirty="0"/>
                            <a:t> </a:t>
                          </a:r>
                          <a:r>
                            <a:rPr lang="ru-RU" sz="1800" dirty="0"/>
                            <a:t>между двумя радиус-векторами в криволинейном пространстве </a:t>
                          </a:r>
                        </a:p>
                      </a:txBody>
                      <a:tcPr anchor="ctr"/>
                    </a:tc>
                    <a:extLst>
                      <a:ext uri="{0D108BD9-81ED-4DB2-BD59-A6C34878D82A}">
                        <a16:rowId xmlns:a16="http://schemas.microsoft.com/office/drawing/2014/main" val="3452450807"/>
                      </a:ext>
                    </a:extLst>
                  </a:tr>
                  <a:tr h="1341237">
                    <a:tc>
                      <a:txBody>
                        <a:bodyPr/>
                        <a:lstStyle/>
                        <a:p>
                          <a:pPr algn="ctr"/>
                          <a:r>
                            <a:rPr lang="ru-RU" sz="1800" dirty="0"/>
                            <a:t>Расстояние Чебышева</a:t>
                          </a: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smtClean="0">
                                        <a:latin typeface="Cambria Math" panose="02040503050406030204" pitchFamily="18" charset="0"/>
                                      </a:rPr>
                                      <m:t>𝜌</m:t>
                                    </m:r>
                                  </m:e>
                                  <m:sub>
                                    <m:r>
                                      <a:rPr lang="en-US" sz="1800" b="0" smtClean="0">
                                        <a:latin typeface="Cambria Math" panose="02040503050406030204" pitchFamily="18" charset="0"/>
                                      </a:rPr>
                                      <m:t>𝑐h𝑒𝑏</m:t>
                                    </m:r>
                                  </m:sub>
                                </m:sSub>
                                <m:r>
                                  <a:rPr lang="en-US" sz="1800" b="0"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smtClean="0">
                                        <a:latin typeface="Cambria Math" panose="02040503050406030204" pitchFamily="18" charset="0"/>
                                      </a:rPr>
                                      <m:t>𝑥</m:t>
                                    </m:r>
                                  </m:e>
                                  <m:sub>
                                    <m:r>
                                      <a:rPr lang="en-US" sz="1800" b="0" smtClean="0">
                                        <a:latin typeface="Cambria Math" panose="02040503050406030204" pitchFamily="18" charset="0"/>
                                      </a:rPr>
                                      <m:t>𝑖</m:t>
                                    </m:r>
                                  </m:sub>
                                </m:sSub>
                                <m:r>
                                  <a:rPr lang="en-US" sz="1800" b="0"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smtClean="0">
                                        <a:latin typeface="Cambria Math" panose="02040503050406030204" pitchFamily="18" charset="0"/>
                                      </a:rPr>
                                      <m:t>𝑥</m:t>
                                    </m:r>
                                  </m:e>
                                  <m:sub>
                                    <m:r>
                                      <a:rPr lang="en-US" sz="1800" b="0" smtClean="0">
                                        <a:latin typeface="Cambria Math" panose="02040503050406030204" pitchFamily="18" charset="0"/>
                                      </a:rPr>
                                      <m:t>𝑗</m:t>
                                    </m:r>
                                  </m:sub>
                                </m:sSub>
                                <m:r>
                                  <a:rPr lang="en-US" sz="1800" b="0" smtClean="0">
                                    <a:latin typeface="Cambria Math" panose="02040503050406030204" pitchFamily="18" charset="0"/>
                                  </a:rPr>
                                  <m:t>)=</m:t>
                                </m:r>
                                <m:limLow>
                                  <m:limLowPr>
                                    <m:ctrlPr>
                                      <a:rPr lang="en-US" sz="1800" b="0" i="1" smtClean="0">
                                        <a:latin typeface="Cambria Math" panose="02040503050406030204" pitchFamily="18" charset="0"/>
                                      </a:rPr>
                                    </m:ctrlPr>
                                  </m:limLowPr>
                                  <m:e>
                                    <m:r>
                                      <m:rPr>
                                        <m:sty m:val="p"/>
                                      </m:rPr>
                                      <a:rPr lang="en-US" sz="1800" b="0" smtClean="0">
                                        <a:latin typeface="Cambria Math" panose="02040503050406030204" pitchFamily="18" charset="0"/>
                                      </a:rPr>
                                      <m:t>max</m:t>
                                    </m:r>
                                  </m:e>
                                  <m:lim>
                                    <m:r>
                                      <m:rPr>
                                        <m:sty m:val="p"/>
                                      </m:rPr>
                                      <a:rPr lang="en-US" sz="1800" b="0" smtClean="0">
                                        <a:latin typeface="Cambria Math" panose="02040503050406030204" pitchFamily="18" charset="0"/>
                                      </a:rPr>
                                      <m:t>col</m:t>
                                    </m:r>
                                    <m:r>
                                      <a:rPr lang="en-US" sz="1800" b="0" smtClean="0">
                                        <a:latin typeface="Cambria Math" panose="02040503050406030204" pitchFamily="18" charset="0"/>
                                      </a:rPr>
                                      <m:t>=1,…,</m:t>
                                    </m:r>
                                    <m:r>
                                      <a:rPr lang="en-US" sz="1800" b="0" smtClean="0">
                                        <a:latin typeface="Cambria Math" panose="02040503050406030204" pitchFamily="18" charset="0"/>
                                      </a:rPr>
                                      <m:t>𝑚</m:t>
                                    </m:r>
                                  </m:lim>
                                </m:limLow>
                                <m:r>
                                  <a:rPr lang="en-US" sz="1800" b="0" smtClean="0">
                                    <a:latin typeface="Cambria Math" panose="02040503050406030204" pitchFamily="18" charset="0"/>
                                  </a:rPr>
                                  <m:t>|</m:t>
                                </m:r>
                                <m:sSubSup>
                                  <m:sSubSupPr>
                                    <m:ctrlPr>
                                      <a:rPr lang="en-US" sz="1800" b="0" i="1" smtClean="0">
                                        <a:latin typeface="Cambria Math" panose="02040503050406030204" pitchFamily="18" charset="0"/>
                                      </a:rPr>
                                    </m:ctrlPr>
                                  </m:sSubSupPr>
                                  <m:e>
                                    <m:r>
                                      <m:rPr>
                                        <m:sty m:val="p"/>
                                      </m:rPr>
                                      <a:rPr lang="en-US" sz="1800" b="0" smtClean="0">
                                        <a:latin typeface="Cambria Math" panose="02040503050406030204" pitchFamily="18" charset="0"/>
                                      </a:rPr>
                                      <m:t>x</m:t>
                                    </m:r>
                                  </m:e>
                                  <m:sub>
                                    <m:r>
                                      <m:rPr>
                                        <m:sty m:val="p"/>
                                      </m:rPr>
                                      <a:rPr lang="en-US" sz="1800" b="0" smtClean="0">
                                        <a:latin typeface="Cambria Math" panose="02040503050406030204" pitchFamily="18" charset="0"/>
                                      </a:rPr>
                                      <m:t>i</m:t>
                                    </m:r>
                                  </m:sub>
                                  <m:sup>
                                    <m:r>
                                      <a:rPr lang="en-US" sz="1800" b="0" smtClean="0">
                                        <a:latin typeface="Cambria Math" panose="02040503050406030204" pitchFamily="18" charset="0"/>
                                      </a:rPr>
                                      <m:t>&lt;</m:t>
                                    </m:r>
                                    <m:r>
                                      <m:rPr>
                                        <m:sty m:val="p"/>
                                      </m:rPr>
                                      <a:rPr lang="en-US" sz="1800" b="0" smtClean="0">
                                        <a:latin typeface="Cambria Math" panose="02040503050406030204" pitchFamily="18" charset="0"/>
                                      </a:rPr>
                                      <m:t>col</m:t>
                                    </m:r>
                                    <m:r>
                                      <a:rPr lang="en-US" sz="1800" b="0" smtClean="0">
                                        <a:latin typeface="Cambria Math" panose="02040503050406030204" pitchFamily="18" charset="0"/>
                                      </a:rPr>
                                      <m:t>&gt;</m:t>
                                    </m:r>
                                  </m:sup>
                                </m:sSubSup>
                                <m:r>
                                  <a:rPr lang="en-US" sz="1800" b="0" smtClean="0">
                                    <a:latin typeface="Cambria Math" panose="02040503050406030204" pitchFamily="18" charset="0"/>
                                  </a:rPr>
                                  <m:t>−</m:t>
                                </m:r>
                                <m:sSubSup>
                                  <m:sSubSupPr>
                                    <m:ctrlPr>
                                      <a:rPr lang="en-US" sz="1800" b="0" i="1" smtClean="0">
                                        <a:latin typeface="Cambria Math" panose="02040503050406030204" pitchFamily="18" charset="0"/>
                                      </a:rPr>
                                    </m:ctrlPr>
                                  </m:sSubSupPr>
                                  <m:e>
                                    <m:r>
                                      <m:rPr>
                                        <m:sty m:val="p"/>
                                      </m:rPr>
                                      <a:rPr lang="en-US" sz="1800" b="0" smtClean="0">
                                        <a:latin typeface="Cambria Math" panose="02040503050406030204" pitchFamily="18" charset="0"/>
                                      </a:rPr>
                                      <m:t>x</m:t>
                                    </m:r>
                                  </m:e>
                                  <m:sub>
                                    <m:r>
                                      <m:rPr>
                                        <m:sty m:val="p"/>
                                      </m:rPr>
                                      <a:rPr lang="en-US" sz="1800" b="0" smtClean="0">
                                        <a:latin typeface="Cambria Math" panose="02040503050406030204" pitchFamily="18" charset="0"/>
                                      </a:rPr>
                                      <m:t>j</m:t>
                                    </m:r>
                                  </m:sub>
                                  <m:sup>
                                    <m:r>
                                      <a:rPr lang="en-US" sz="1800" b="0" smtClean="0">
                                        <a:latin typeface="Cambria Math" panose="02040503050406030204" pitchFamily="18" charset="0"/>
                                      </a:rPr>
                                      <m:t>&lt;</m:t>
                                    </m:r>
                                    <m:r>
                                      <m:rPr>
                                        <m:sty m:val="p"/>
                                      </m:rPr>
                                      <a:rPr lang="en-US" sz="1800" b="0" smtClean="0">
                                        <a:latin typeface="Cambria Math" panose="02040503050406030204" pitchFamily="18" charset="0"/>
                                      </a:rPr>
                                      <m:t>col</m:t>
                                    </m:r>
                                    <m:r>
                                      <a:rPr lang="en-US" sz="1800" b="0" smtClean="0">
                                        <a:latin typeface="Cambria Math" panose="02040503050406030204" pitchFamily="18" charset="0"/>
                                      </a:rPr>
                                      <m:t>&gt;</m:t>
                                    </m:r>
                                  </m:sup>
                                </m:sSubSup>
                                <m:r>
                                  <a:rPr lang="en-US" sz="1800" b="0" smtClean="0">
                                    <a:latin typeface="Cambria Math" panose="02040503050406030204" pitchFamily="18" charset="0"/>
                                  </a:rPr>
                                  <m:t>|</m:t>
                                </m:r>
                              </m:oMath>
                            </m:oMathPara>
                          </a14:m>
                          <a:endParaRPr lang="ru-RU" sz="1800" dirty="0"/>
                        </a:p>
                      </a:txBody>
                      <a:tcPr anchor="ctr"/>
                    </a:tc>
                    <a:tc>
                      <a:txBody>
                        <a:bodyPr/>
                        <a:lstStyle/>
                        <a:p>
                          <a:pPr algn="ctr"/>
                          <a:r>
                            <a:rPr lang="ru-RU" sz="1800" dirty="0"/>
                            <a:t>Расстояние, определяющееся максимальным отклонением соответствующих координат двух объектов в пространстве</a:t>
                          </a:r>
                        </a:p>
                      </a:txBody>
                      <a:tcPr anchor="ctr"/>
                    </a:tc>
                    <a:extLst>
                      <a:ext uri="{0D108BD9-81ED-4DB2-BD59-A6C34878D82A}">
                        <a16:rowId xmlns:a16="http://schemas.microsoft.com/office/drawing/2014/main" val="55115068"/>
                      </a:ext>
                    </a:extLst>
                  </a:tr>
                </a:tbl>
              </a:graphicData>
            </a:graphic>
          </p:graphicFrame>
        </mc:Choice>
        <mc:Fallback xmlns="">
          <p:graphicFrame>
            <p:nvGraphicFramePr>
              <p:cNvPr id="6" name="Объект 5">
                <a:extLst>
                  <a:ext uri="{FF2B5EF4-FFF2-40B4-BE49-F238E27FC236}">
                    <a16:creationId xmlns:a16="http://schemas.microsoft.com/office/drawing/2014/main" id="{3DC5EEA2-4662-9748-204A-11175F08C5AF}"/>
                  </a:ext>
                </a:extLst>
              </p:cNvPr>
              <p:cNvGraphicFramePr>
                <a:graphicFrameLocks noGrp="1"/>
              </p:cNvGraphicFramePr>
              <p:nvPr>
                <p:ph idx="1"/>
                <p:extLst>
                  <p:ext uri="{D42A27DB-BD31-4B8C-83A1-F6EECF244321}">
                    <p14:modId xmlns:p14="http://schemas.microsoft.com/office/powerpoint/2010/main" val="3273278305"/>
                  </p:ext>
                </p:extLst>
              </p:nvPr>
            </p:nvGraphicFramePr>
            <p:xfrm>
              <a:off x="-4012" y="2422778"/>
              <a:ext cx="9144000" cy="4409398"/>
            </p:xfrm>
            <a:graphic>
              <a:graphicData uri="http://schemas.openxmlformats.org/drawingml/2006/table">
                <a:tbl>
                  <a:tblPr firstRow="1" bandRow="1">
                    <a:tableStyleId>{2D5ABB26-0587-4C30-8999-92F81FD0307C}</a:tableStyleId>
                  </a:tblPr>
                  <a:tblGrid>
                    <a:gridCol w="1744870">
                      <a:extLst>
                        <a:ext uri="{9D8B030D-6E8A-4147-A177-3AD203B41FA5}">
                          <a16:colId xmlns:a16="http://schemas.microsoft.com/office/drawing/2014/main" val="2078950790"/>
                        </a:ext>
                      </a:extLst>
                    </a:gridCol>
                    <a:gridCol w="4126541">
                      <a:extLst>
                        <a:ext uri="{9D8B030D-6E8A-4147-A177-3AD203B41FA5}">
                          <a16:colId xmlns:a16="http://schemas.microsoft.com/office/drawing/2014/main" val="534842838"/>
                        </a:ext>
                      </a:extLst>
                    </a:gridCol>
                    <a:gridCol w="3272589">
                      <a:extLst>
                        <a:ext uri="{9D8B030D-6E8A-4147-A177-3AD203B41FA5}">
                          <a16:colId xmlns:a16="http://schemas.microsoft.com/office/drawing/2014/main" val="56767085"/>
                        </a:ext>
                      </a:extLst>
                    </a:gridCol>
                  </a:tblGrid>
                  <a:tr h="493871">
                    <a:tc>
                      <a:txBody>
                        <a:bodyPr/>
                        <a:lstStyle/>
                        <a:p>
                          <a:pPr algn="ctr"/>
                          <a:r>
                            <a:rPr lang="ru-RU" sz="2400" b="1" dirty="0"/>
                            <a:t>Название</a:t>
                          </a:r>
                        </a:p>
                      </a:txBody>
                      <a:tcPr anchor="ctr"/>
                    </a:tc>
                    <a:tc>
                      <a:txBody>
                        <a:bodyPr/>
                        <a:lstStyle/>
                        <a:p>
                          <a:pPr algn="ctr"/>
                          <a:r>
                            <a:rPr lang="ru-RU" sz="2400" b="1" dirty="0"/>
                            <a:t>Формула</a:t>
                          </a:r>
                        </a:p>
                      </a:txBody>
                      <a:tcPr anchor="ctr"/>
                    </a:tc>
                    <a:tc>
                      <a:txBody>
                        <a:bodyPr/>
                        <a:lstStyle/>
                        <a:p>
                          <a:pPr algn="ctr"/>
                          <a:r>
                            <a:rPr lang="ru-RU" sz="2400" b="1" dirty="0"/>
                            <a:t>Смысл</a:t>
                          </a:r>
                        </a:p>
                      </a:txBody>
                      <a:tcPr anchor="ctr"/>
                    </a:tc>
                    <a:extLst>
                      <a:ext uri="{0D108BD9-81ED-4DB2-BD59-A6C34878D82A}">
                        <a16:rowId xmlns:a16="http://schemas.microsoft.com/office/drawing/2014/main" val="759780478"/>
                      </a:ext>
                    </a:extLst>
                  </a:tr>
                  <a:tr h="1385570">
                    <a:tc>
                      <a:txBody>
                        <a:bodyPr/>
                        <a:lstStyle/>
                        <a:p>
                          <a:pPr algn="ctr"/>
                          <a:r>
                            <a:rPr lang="ru-RU" sz="1800" dirty="0"/>
                            <a:t>Обобщенное расстояние Минковского</a:t>
                          </a:r>
                        </a:p>
                      </a:txBody>
                      <a:tcPr anchor="ctr"/>
                    </a:tc>
                    <a:tc>
                      <a:txBody>
                        <a:bodyPr/>
                        <a:lstStyle/>
                        <a:p>
                          <a:endParaRPr lang="ru-RU"/>
                        </a:p>
                      </a:txBody>
                      <a:tcPr anchor="ctr">
                        <a:blipFill>
                          <a:blip r:embed="rId2"/>
                          <a:stretch>
                            <a:fillRect l="-42183" t="-37719" r="-79204" b="-183333"/>
                          </a:stretch>
                        </a:blipFill>
                      </a:tcPr>
                    </a:tc>
                    <a:tc>
                      <a:txBody>
                        <a:bodyPr/>
                        <a:lstStyle/>
                        <a:p>
                          <a:pPr algn="ctr"/>
                          <a:r>
                            <a:rPr lang="ru-RU" sz="1800" dirty="0"/>
                            <a:t>Общий вид Евклидового расстояния, кратчайший путь между двумя точками в криволинейном пространстве</a:t>
                          </a:r>
                        </a:p>
                      </a:txBody>
                      <a:tcPr anchor="ctr"/>
                    </a:tc>
                    <a:extLst>
                      <a:ext uri="{0D108BD9-81ED-4DB2-BD59-A6C34878D82A}">
                        <a16:rowId xmlns:a16="http://schemas.microsoft.com/office/drawing/2014/main" val="1878718467"/>
                      </a:ext>
                    </a:extLst>
                  </a:tr>
                  <a:tr h="1188720">
                    <a:tc>
                      <a:txBody>
                        <a:bodyPr/>
                        <a:lstStyle/>
                        <a:p>
                          <a:pPr algn="ctr"/>
                          <a:r>
                            <a:rPr lang="ru-RU" sz="1800" dirty="0"/>
                            <a:t>Косинусная мера близости</a:t>
                          </a:r>
                        </a:p>
                      </a:txBody>
                      <a:tcPr anchor="ctr"/>
                    </a:tc>
                    <a:tc>
                      <a:txBody>
                        <a:bodyPr/>
                        <a:lstStyle/>
                        <a:p>
                          <a:endParaRPr lang="ru-RU"/>
                        </a:p>
                      </a:txBody>
                      <a:tcPr anchor="ctr">
                        <a:blipFill>
                          <a:blip r:embed="rId2"/>
                          <a:stretch>
                            <a:fillRect l="-42183" t="-161026" r="-79204" b="-114359"/>
                          </a:stretch>
                        </a:blipFill>
                      </a:tcPr>
                    </a:tc>
                    <a:tc>
                      <a:txBody>
                        <a:bodyPr/>
                        <a:lstStyle/>
                        <a:p>
                          <a:pPr algn="ctr"/>
                          <a:r>
                            <a:rPr lang="ru-RU" sz="1800" dirty="0"/>
                            <a:t>Общий вид углового расстояния</a:t>
                          </a:r>
                          <a:r>
                            <a:rPr lang="en-US" sz="1800" dirty="0"/>
                            <a:t> </a:t>
                          </a:r>
                          <a:r>
                            <a:rPr lang="ru-RU" sz="1800" dirty="0"/>
                            <a:t>между двумя радиус-векторами в криволинейном пространстве </a:t>
                          </a:r>
                        </a:p>
                      </a:txBody>
                      <a:tcPr anchor="ctr"/>
                    </a:tc>
                    <a:extLst>
                      <a:ext uri="{0D108BD9-81ED-4DB2-BD59-A6C34878D82A}">
                        <a16:rowId xmlns:a16="http://schemas.microsoft.com/office/drawing/2014/main" val="3452450807"/>
                      </a:ext>
                    </a:extLst>
                  </a:tr>
                  <a:tr h="1341237">
                    <a:tc>
                      <a:txBody>
                        <a:bodyPr/>
                        <a:lstStyle/>
                        <a:p>
                          <a:pPr algn="ctr"/>
                          <a:r>
                            <a:rPr lang="ru-RU" sz="1800" dirty="0"/>
                            <a:t>Расстояние Чебышева</a:t>
                          </a:r>
                        </a:p>
                      </a:txBody>
                      <a:tcPr anchor="ctr"/>
                    </a:tc>
                    <a:tc>
                      <a:txBody>
                        <a:bodyPr/>
                        <a:lstStyle/>
                        <a:p>
                          <a:endParaRPr lang="ru-RU"/>
                        </a:p>
                      </a:txBody>
                      <a:tcPr anchor="ctr">
                        <a:blipFill>
                          <a:blip r:embed="rId2"/>
                          <a:stretch>
                            <a:fillRect l="-42183" t="-231364" r="-79204" b="-1364"/>
                          </a:stretch>
                        </a:blipFill>
                      </a:tcPr>
                    </a:tc>
                    <a:tc>
                      <a:txBody>
                        <a:bodyPr/>
                        <a:lstStyle/>
                        <a:p>
                          <a:pPr algn="ctr"/>
                          <a:r>
                            <a:rPr lang="ru-RU" sz="1800" dirty="0"/>
                            <a:t>Расстояние, определяющееся максимальным отклонением соответствующих координат двух объектов в пространстве</a:t>
                          </a:r>
                        </a:p>
                      </a:txBody>
                      <a:tcPr anchor="ctr"/>
                    </a:tc>
                    <a:extLst>
                      <a:ext uri="{0D108BD9-81ED-4DB2-BD59-A6C34878D82A}">
                        <a16:rowId xmlns:a16="http://schemas.microsoft.com/office/drawing/2014/main" val="55115068"/>
                      </a:ext>
                    </a:extLst>
                  </a:tr>
                </a:tbl>
              </a:graphicData>
            </a:graphic>
          </p:graphicFrame>
        </mc:Fallback>
      </mc:AlternateContent>
      <p:sp>
        <p:nvSpPr>
          <p:cNvPr id="4" name="Нижний колонтитул 3">
            <a:extLst>
              <a:ext uri="{FF2B5EF4-FFF2-40B4-BE49-F238E27FC236}">
                <a16:creationId xmlns:a16="http://schemas.microsoft.com/office/drawing/2014/main" id="{6C50D298-67FE-8175-DA84-06E60350C93F}"/>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0684B27E-D79B-8123-3139-F00882514F8B}"/>
              </a:ext>
            </a:extLst>
          </p:cNvPr>
          <p:cNvSpPr>
            <a:spLocks noGrp="1"/>
          </p:cNvSpPr>
          <p:nvPr>
            <p:ph type="sldNum" sz="quarter" idx="12"/>
          </p:nvPr>
        </p:nvSpPr>
        <p:spPr/>
        <p:txBody>
          <a:bodyPr/>
          <a:lstStyle/>
          <a:p>
            <a:fld id="{81C5FB71-5E9C-41B5-9BB8-3F1EBEAEB16A}" type="slidenum">
              <a:rPr lang="ru-RU" smtClean="0"/>
              <a:t>8</a:t>
            </a:fld>
            <a:endParaRPr lang="ru-RU"/>
          </a:p>
        </p:txBody>
      </p:sp>
      <mc:AlternateContent xmlns:mc="http://schemas.openxmlformats.org/markup-compatibility/2006" xmlns:a14="http://schemas.microsoft.com/office/drawing/2010/main">
        <mc:Choice Requires="a14">
          <p:sp>
            <p:nvSpPr>
              <p:cNvPr id="7" name="Объект 2">
                <a:extLst>
                  <a:ext uri="{FF2B5EF4-FFF2-40B4-BE49-F238E27FC236}">
                    <a16:creationId xmlns:a16="http://schemas.microsoft.com/office/drawing/2014/main" id="{8E3E439A-6A3D-01BE-F8E5-90813302A076}"/>
                  </a:ext>
                </a:extLst>
              </p:cNvPr>
              <p:cNvSpPr txBox="1">
                <a:spLocks/>
              </p:cNvSpPr>
              <p:nvPr/>
            </p:nvSpPr>
            <p:spPr>
              <a:xfrm>
                <a:off x="186489" y="1066800"/>
                <a:ext cx="8762999" cy="175260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buFont typeface="Arial" panose="020B0604020202020204" pitchFamily="34" charset="0"/>
                  <a:buNone/>
                </a:pPr>
                <a:r>
                  <a:rPr lang="ru-RU" sz="2400" dirty="0"/>
                  <a:t>Рассмотрим способы измерения расстояния между объектами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𝑗</m:t>
                        </m:r>
                      </m:sub>
                    </m:sSub>
                    <m:r>
                      <a:rPr lang="en-US" sz="2400" b="0" i="1" smtClean="0">
                        <a:latin typeface="Cambria Math" panose="02040503050406030204" pitchFamily="18" charset="0"/>
                      </a:rPr>
                      <m:t>, </m:t>
                    </m:r>
                    <m:r>
                      <a:rPr lang="en-US" sz="2400" b="0" i="1" smtClean="0">
                        <a:latin typeface="Cambria Math" panose="02040503050406030204" pitchFamily="18" charset="0"/>
                      </a:rPr>
                      <m:t>𝑖</m:t>
                    </m:r>
                    <m:r>
                      <a:rPr lang="en-US" sz="2400" b="0" i="1" smtClean="0">
                        <a:latin typeface="Cambria Math" panose="02040503050406030204" pitchFamily="18" charset="0"/>
                      </a:rPr>
                      <m:t>≠</m:t>
                    </m:r>
                    <m:r>
                      <a:rPr lang="en-US" sz="2400" b="0" i="1" smtClean="0">
                        <a:latin typeface="Cambria Math" panose="02040503050406030204" pitchFamily="18" charset="0"/>
                      </a:rPr>
                      <m:t>𝑗</m:t>
                    </m:r>
                  </m:oMath>
                </a14:m>
                <a:r>
                  <a:rPr lang="ru-RU" sz="2400" dirty="0"/>
                  <a:t> в пространстве</a:t>
                </a:r>
                <a:r>
                  <a:rPr lang="en-US" sz="2400" dirty="0"/>
                  <a:t> </a:t>
                </a:r>
                <a:r>
                  <a:rPr lang="ru-RU" sz="2400" dirty="0"/>
                  <a:t>размерности </a:t>
                </a:r>
                <a14:m>
                  <m:oMath xmlns:m="http://schemas.openxmlformats.org/officeDocument/2006/math">
                    <m:r>
                      <a:rPr lang="en-US" sz="2400" b="0" i="1" smtClean="0">
                        <a:latin typeface="Cambria Math" panose="02040503050406030204" pitchFamily="18" charset="0"/>
                      </a:rPr>
                      <m:t>𝑚</m:t>
                    </m:r>
                  </m:oMath>
                </a14:m>
                <a:r>
                  <a:rPr lang="ru-RU" sz="2400" dirty="0"/>
                  <a:t> с заданной на нем метрикой </a:t>
                </a:r>
                <a14:m>
                  <m:oMath xmlns:m="http://schemas.openxmlformats.org/officeDocument/2006/math">
                    <m:r>
                      <a:rPr lang="ru-RU" sz="2400" b="0" i="1" smtClean="0">
                        <a:latin typeface="Cambria Math" panose="02040503050406030204" pitchFamily="18" charset="0"/>
                      </a:rPr>
                      <m:t>𝜌</m:t>
                    </m:r>
                  </m:oMath>
                </a14:m>
                <a:r>
                  <a:rPr lang="ru-RU" sz="2400" dirty="0"/>
                  <a:t>. Возможные виды метрик приведены ниже</a:t>
                </a:r>
              </a:p>
            </p:txBody>
          </p:sp>
        </mc:Choice>
        <mc:Fallback xmlns="">
          <p:sp>
            <p:nvSpPr>
              <p:cNvPr id="7" name="Объект 2">
                <a:extLst>
                  <a:ext uri="{FF2B5EF4-FFF2-40B4-BE49-F238E27FC236}">
                    <a16:creationId xmlns:a16="http://schemas.microsoft.com/office/drawing/2014/main" id="{8E3E439A-6A3D-01BE-F8E5-90813302A076}"/>
                  </a:ext>
                </a:extLst>
              </p:cNvPr>
              <p:cNvSpPr txBox="1">
                <a:spLocks noRot="1" noChangeAspect="1" noMove="1" noResize="1" noEditPoints="1" noAdjustHandles="1" noChangeArrowheads="1" noChangeShapeType="1" noTextEdit="1"/>
              </p:cNvSpPr>
              <p:nvPr/>
            </p:nvSpPr>
            <p:spPr>
              <a:xfrm>
                <a:off x="186489" y="1066800"/>
                <a:ext cx="8762999" cy="1752600"/>
              </a:xfrm>
              <a:prstGeom prst="rect">
                <a:avLst/>
              </a:prstGeom>
              <a:blipFill>
                <a:blip r:embed="rId3"/>
                <a:stretch>
                  <a:fillRect l="-1113" t="-4861" r="-1044"/>
                </a:stretch>
              </a:blipFill>
            </p:spPr>
            <p:txBody>
              <a:bodyPr/>
              <a:lstStyle/>
              <a:p>
                <a:r>
                  <a:rPr lang="ru-RU">
                    <a:noFill/>
                  </a:rPr>
                  <a:t> </a:t>
                </a:r>
              </a:p>
            </p:txBody>
          </p:sp>
        </mc:Fallback>
      </mc:AlternateContent>
    </p:spTree>
    <p:extLst>
      <p:ext uri="{BB962C8B-B14F-4D97-AF65-F5344CB8AC3E}">
        <p14:creationId xmlns:p14="http://schemas.microsoft.com/office/powerpoint/2010/main" val="1770110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E48C01F-C202-7D95-9B99-3B7EEE525D8D}"/>
              </a:ext>
            </a:extLst>
          </p:cNvPr>
          <p:cNvSpPr>
            <a:spLocks noGrp="1"/>
          </p:cNvSpPr>
          <p:nvPr>
            <p:ph type="title"/>
          </p:nvPr>
        </p:nvSpPr>
        <p:spPr/>
        <p:txBody>
          <a:bodyPr/>
          <a:lstStyle/>
          <a:p>
            <a:r>
              <a:rPr lang="ru-RU" dirty="0"/>
              <a:t>Методы измерения расстояния между кластерами</a:t>
            </a:r>
          </a:p>
        </p:txBody>
      </p:sp>
      <p:sp>
        <p:nvSpPr>
          <p:cNvPr id="4" name="Нижний колонтитул 3">
            <a:extLst>
              <a:ext uri="{FF2B5EF4-FFF2-40B4-BE49-F238E27FC236}">
                <a16:creationId xmlns:a16="http://schemas.microsoft.com/office/drawing/2014/main" id="{38A0FD73-7409-5621-8A96-1B98BD827DC8}"/>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0E653C9E-1E6F-C7F2-2CF0-3A269DF9084C}"/>
              </a:ext>
            </a:extLst>
          </p:cNvPr>
          <p:cNvSpPr>
            <a:spLocks noGrp="1"/>
          </p:cNvSpPr>
          <p:nvPr>
            <p:ph type="sldNum" sz="quarter" idx="12"/>
          </p:nvPr>
        </p:nvSpPr>
        <p:spPr/>
        <p:txBody>
          <a:bodyPr/>
          <a:lstStyle/>
          <a:p>
            <a:fld id="{81C5FB71-5E9C-41B5-9BB8-3F1EBEAEB16A}" type="slidenum">
              <a:rPr lang="ru-RU" smtClean="0"/>
              <a:t>9</a:t>
            </a:fld>
            <a:endParaRPr lang="ru-RU"/>
          </a:p>
        </p:txBody>
      </p:sp>
      <p:pic>
        <p:nvPicPr>
          <p:cNvPr id="11266" name="Picture 2" descr="Picture background">
            <a:extLst>
              <a:ext uri="{FF2B5EF4-FFF2-40B4-BE49-F238E27FC236}">
                <a16:creationId xmlns:a16="http://schemas.microsoft.com/office/drawing/2014/main" id="{26C1BE46-AE90-9A2D-4D94-1F68C7093D3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0" y="1568056"/>
            <a:ext cx="5442864" cy="4131069"/>
          </a:xfrm>
          <a:prstGeom prst="rect">
            <a:avLst/>
          </a:prstGeom>
          <a:noFill/>
          <a:extLst>
            <a:ext uri="{909E8E84-426E-40DD-AFC4-6F175D3DCCD1}">
              <a14:hiddenFill xmlns:a14="http://schemas.microsoft.com/office/drawing/2010/main">
                <a:solidFill>
                  <a:srgbClr val="FFFFFF"/>
                </a:solidFill>
              </a14:hiddenFill>
            </a:ext>
          </a:extLst>
        </p:spPr>
      </p:pic>
      <p:pic>
        <p:nvPicPr>
          <p:cNvPr id="7" name="Рисунок 6">
            <a:extLst>
              <a:ext uri="{FF2B5EF4-FFF2-40B4-BE49-F238E27FC236}">
                <a16:creationId xmlns:a16="http://schemas.microsoft.com/office/drawing/2014/main" id="{B2697BFC-2E39-EF7C-FEC6-67A0984B5B12}"/>
              </a:ext>
            </a:extLst>
          </p:cNvPr>
          <p:cNvPicPr>
            <a:picLocks noChangeAspect="1"/>
          </p:cNvPicPr>
          <p:nvPr/>
        </p:nvPicPr>
        <p:blipFill>
          <a:blip r:embed="rId4"/>
          <a:stretch>
            <a:fillRect/>
          </a:stretch>
        </p:blipFill>
        <p:spPr>
          <a:xfrm>
            <a:off x="5715000" y="2514600"/>
            <a:ext cx="3289806" cy="2471737"/>
          </a:xfrm>
          <a:prstGeom prst="rect">
            <a:avLst/>
          </a:prstGeom>
        </p:spPr>
      </p:pic>
    </p:spTree>
    <p:extLst>
      <p:ext uri="{BB962C8B-B14F-4D97-AF65-F5344CB8AC3E}">
        <p14:creationId xmlns:p14="http://schemas.microsoft.com/office/powerpoint/2010/main" val="5204893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86EED3A-B2C4-9D60-CC03-EE85AA3E3D58}"/>
              </a:ext>
            </a:extLst>
          </p:cNvPr>
          <p:cNvSpPr>
            <a:spLocks noGrp="1"/>
          </p:cNvSpPr>
          <p:nvPr>
            <p:ph type="title"/>
          </p:nvPr>
        </p:nvSpPr>
        <p:spPr/>
        <p:txBody>
          <a:bodyPr/>
          <a:lstStyle/>
          <a:p>
            <a:r>
              <a:rPr lang="ru-RU" dirty="0"/>
              <a:t>Способы формирования кластеров</a:t>
            </a:r>
          </a:p>
        </p:txBody>
      </p:sp>
      <p:sp>
        <p:nvSpPr>
          <p:cNvPr id="3" name="Объект 2">
            <a:extLst>
              <a:ext uri="{FF2B5EF4-FFF2-40B4-BE49-F238E27FC236}">
                <a16:creationId xmlns:a16="http://schemas.microsoft.com/office/drawing/2014/main" id="{4D1A14C3-2CD9-C7FB-734F-EB198F932310}"/>
              </a:ext>
            </a:extLst>
          </p:cNvPr>
          <p:cNvSpPr>
            <a:spLocks noGrp="1"/>
          </p:cNvSpPr>
          <p:nvPr>
            <p:ph idx="1"/>
          </p:nvPr>
        </p:nvSpPr>
        <p:spPr/>
        <p:txBody>
          <a:bodyPr>
            <a:normAutofit fontScale="92500"/>
          </a:bodyPr>
          <a:lstStyle/>
          <a:p>
            <a:pPr algn="l">
              <a:spcBef>
                <a:spcPts val="900"/>
              </a:spcBef>
              <a:spcAft>
                <a:spcPts val="450"/>
              </a:spcAft>
              <a:buFont typeface="Arial" panose="020B0604020202020204" pitchFamily="34" charset="0"/>
              <a:buChar char="•"/>
            </a:pPr>
            <a:r>
              <a:rPr lang="ru-RU" b="1" i="0" dirty="0">
                <a:solidFill>
                  <a:srgbClr val="333333"/>
                </a:solidFill>
                <a:effectLst/>
              </a:rPr>
              <a:t>Разделительные (</a:t>
            </a:r>
            <a:r>
              <a:rPr lang="ru-RU" b="1" i="0" dirty="0" err="1">
                <a:solidFill>
                  <a:srgbClr val="333333"/>
                </a:solidFill>
                <a:effectLst/>
              </a:rPr>
              <a:t>partitioning</a:t>
            </a:r>
            <a:r>
              <a:rPr lang="ru-RU" b="1" i="0" dirty="0">
                <a:solidFill>
                  <a:srgbClr val="333333"/>
                </a:solidFill>
                <a:effectLst/>
              </a:rPr>
              <a:t>) </a:t>
            </a:r>
            <a:r>
              <a:rPr lang="ru-RU" b="0" i="0" dirty="0">
                <a:solidFill>
                  <a:srgbClr val="333333"/>
                </a:solidFill>
                <a:effectLst/>
              </a:rPr>
              <a:t>— разбивают данные на заданное число кластеров, минимизируя расстояние внутри кластера и максимизируя расстояние между кластерами (например, K-</a:t>
            </a:r>
            <a:r>
              <a:rPr lang="ru-RU" b="0" i="0" dirty="0" err="1">
                <a:solidFill>
                  <a:srgbClr val="333333"/>
                </a:solidFill>
                <a:effectLst/>
              </a:rPr>
              <a:t>means</a:t>
            </a:r>
            <a:r>
              <a:rPr lang="ru-RU" b="0" i="0" dirty="0">
                <a:solidFill>
                  <a:srgbClr val="333333"/>
                </a:solidFill>
                <a:effectLst/>
              </a:rPr>
              <a:t>).</a:t>
            </a:r>
          </a:p>
          <a:p>
            <a:pPr algn="l">
              <a:spcBef>
                <a:spcPts val="900"/>
              </a:spcBef>
              <a:buFont typeface="Arial" panose="020B0604020202020204" pitchFamily="34" charset="0"/>
              <a:buChar char="•"/>
            </a:pPr>
            <a:r>
              <a:rPr lang="ru-RU" b="1" i="0" dirty="0">
                <a:solidFill>
                  <a:srgbClr val="333333"/>
                </a:solidFill>
                <a:effectLst/>
              </a:rPr>
              <a:t>Основанные на плотности (</a:t>
            </a:r>
            <a:r>
              <a:rPr lang="ru-RU" b="1" i="0" dirty="0" err="1">
                <a:solidFill>
                  <a:srgbClr val="333333"/>
                </a:solidFill>
                <a:effectLst/>
              </a:rPr>
              <a:t>density-based</a:t>
            </a:r>
            <a:r>
              <a:rPr lang="ru-RU" b="1" i="0" dirty="0">
                <a:solidFill>
                  <a:srgbClr val="333333"/>
                </a:solidFill>
                <a:effectLst/>
              </a:rPr>
              <a:t>) </a:t>
            </a:r>
            <a:r>
              <a:rPr lang="ru-RU" b="0" i="0" dirty="0">
                <a:solidFill>
                  <a:srgbClr val="333333"/>
                </a:solidFill>
                <a:effectLst/>
              </a:rPr>
              <a:t>— группируют точки, которые находятся в областях с высокой плотностью и отделяют их от областей с низкой плотностью (например, DBSCAN).</a:t>
            </a:r>
          </a:p>
          <a:p>
            <a:pPr algn="l">
              <a:spcBef>
                <a:spcPts val="900"/>
              </a:spcBef>
              <a:buFont typeface="Arial" panose="020B0604020202020204" pitchFamily="34" charset="0"/>
              <a:buChar char="•"/>
            </a:pPr>
            <a:r>
              <a:rPr lang="ru-RU" b="1" i="0" dirty="0">
                <a:solidFill>
                  <a:srgbClr val="333333"/>
                </a:solidFill>
                <a:effectLst/>
              </a:rPr>
              <a:t>Основанные на сетке (</a:t>
            </a:r>
            <a:r>
              <a:rPr lang="ru-RU" b="1" i="0" dirty="0" err="1">
                <a:solidFill>
                  <a:srgbClr val="333333"/>
                </a:solidFill>
                <a:effectLst/>
              </a:rPr>
              <a:t>grid-based</a:t>
            </a:r>
            <a:r>
              <a:rPr lang="ru-RU" b="1" i="0" dirty="0">
                <a:solidFill>
                  <a:srgbClr val="333333"/>
                </a:solidFill>
                <a:effectLst/>
              </a:rPr>
              <a:t>) </a:t>
            </a:r>
            <a:r>
              <a:rPr lang="ru-RU" b="0" i="0" dirty="0">
                <a:solidFill>
                  <a:srgbClr val="333333"/>
                </a:solidFill>
                <a:effectLst/>
              </a:rPr>
              <a:t>— разбивают пространство на ячейки сетки и анализируют плотность данных в каждой ячейке (например, STING).</a:t>
            </a:r>
          </a:p>
          <a:p>
            <a:pPr algn="l">
              <a:spcBef>
                <a:spcPts val="900"/>
              </a:spcBef>
              <a:buFont typeface="Arial" panose="020B0604020202020204" pitchFamily="34" charset="0"/>
              <a:buChar char="•"/>
            </a:pPr>
            <a:r>
              <a:rPr lang="ru-RU" b="1" i="0" dirty="0">
                <a:solidFill>
                  <a:srgbClr val="333333"/>
                </a:solidFill>
                <a:effectLst/>
              </a:rPr>
              <a:t>Основанные на модели (</a:t>
            </a:r>
            <a:r>
              <a:rPr lang="ru-RU" b="1" i="0" dirty="0" err="1">
                <a:solidFill>
                  <a:srgbClr val="333333"/>
                </a:solidFill>
                <a:effectLst/>
              </a:rPr>
              <a:t>model-based</a:t>
            </a:r>
            <a:r>
              <a:rPr lang="ru-RU" b="1" i="0" dirty="0">
                <a:solidFill>
                  <a:srgbClr val="333333"/>
                </a:solidFill>
                <a:effectLst/>
              </a:rPr>
              <a:t>)</a:t>
            </a:r>
            <a:r>
              <a:rPr lang="ru-RU" b="0" i="0" dirty="0">
                <a:solidFill>
                  <a:srgbClr val="333333"/>
                </a:solidFill>
                <a:effectLst/>
              </a:rPr>
              <a:t> — предполагают, что данные порождены некоторой статистической моделью и пытаются подобрать параметры этой модели (например, смеси </a:t>
            </a:r>
            <a:r>
              <a:rPr lang="ru-RU" b="0" i="0" dirty="0" err="1">
                <a:solidFill>
                  <a:srgbClr val="333333"/>
                </a:solidFill>
                <a:effectLst/>
              </a:rPr>
              <a:t>Гауссианов</a:t>
            </a:r>
            <a:r>
              <a:rPr lang="ru-RU" b="0" i="0" dirty="0">
                <a:solidFill>
                  <a:srgbClr val="333333"/>
                </a:solidFill>
                <a:effectLst/>
              </a:rPr>
              <a:t>).</a:t>
            </a:r>
          </a:p>
          <a:p>
            <a:pPr algn="l">
              <a:spcBef>
                <a:spcPts val="900"/>
              </a:spcBef>
              <a:buFont typeface="Arial" panose="020B0604020202020204" pitchFamily="34" charset="0"/>
              <a:buChar char="•"/>
            </a:pPr>
            <a:r>
              <a:rPr lang="ru-RU" b="1" i="0" dirty="0">
                <a:solidFill>
                  <a:srgbClr val="333333"/>
                </a:solidFill>
                <a:effectLst/>
              </a:rPr>
              <a:t>Основанные на графах (</a:t>
            </a:r>
            <a:r>
              <a:rPr lang="ru-RU" b="1" i="0" dirty="0" err="1">
                <a:solidFill>
                  <a:srgbClr val="333333"/>
                </a:solidFill>
                <a:effectLst/>
              </a:rPr>
              <a:t>graph-based</a:t>
            </a:r>
            <a:r>
              <a:rPr lang="ru-RU" b="1" i="0" dirty="0">
                <a:solidFill>
                  <a:srgbClr val="333333"/>
                </a:solidFill>
                <a:effectLst/>
              </a:rPr>
              <a:t>) </a:t>
            </a:r>
            <a:r>
              <a:rPr lang="ru-RU" b="0" i="0" dirty="0">
                <a:solidFill>
                  <a:srgbClr val="333333"/>
                </a:solidFill>
                <a:effectLst/>
              </a:rPr>
              <a:t>— используют </a:t>
            </a:r>
            <a:r>
              <a:rPr lang="ru-RU" b="0" i="0" dirty="0" err="1">
                <a:solidFill>
                  <a:srgbClr val="333333"/>
                </a:solidFill>
                <a:effectLst/>
              </a:rPr>
              <a:t>графовое</a:t>
            </a:r>
            <a:r>
              <a:rPr lang="ru-RU" b="0" i="0" dirty="0">
                <a:solidFill>
                  <a:srgbClr val="333333"/>
                </a:solidFill>
                <a:effectLst/>
              </a:rPr>
              <a:t> представление данных и разбивают его на подграфы, соответствующие кластерам (например, спектральная кластеризация).</a:t>
            </a:r>
          </a:p>
          <a:p>
            <a:endParaRPr lang="ru-RU" dirty="0"/>
          </a:p>
        </p:txBody>
      </p:sp>
      <p:sp>
        <p:nvSpPr>
          <p:cNvPr id="4" name="Нижний колонтитул 3">
            <a:extLst>
              <a:ext uri="{FF2B5EF4-FFF2-40B4-BE49-F238E27FC236}">
                <a16:creationId xmlns:a16="http://schemas.microsoft.com/office/drawing/2014/main" id="{E35BD965-A0D0-668F-1996-84B35E7B46F0}"/>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7201A7D5-D57D-80AB-C036-AC89022A1C28}"/>
              </a:ext>
            </a:extLst>
          </p:cNvPr>
          <p:cNvSpPr>
            <a:spLocks noGrp="1"/>
          </p:cNvSpPr>
          <p:nvPr>
            <p:ph type="sldNum" sz="quarter" idx="12"/>
          </p:nvPr>
        </p:nvSpPr>
        <p:spPr/>
        <p:txBody>
          <a:bodyPr/>
          <a:lstStyle/>
          <a:p>
            <a:fld id="{81C5FB71-5E9C-41B5-9BB8-3F1EBEAEB16A}" type="slidenum">
              <a:rPr lang="ru-RU" smtClean="0"/>
              <a:t>10</a:t>
            </a:fld>
            <a:endParaRPr lang="ru-RU"/>
          </a:p>
        </p:txBody>
      </p:sp>
    </p:spTree>
    <p:extLst>
      <p:ext uri="{BB962C8B-B14F-4D97-AF65-F5344CB8AC3E}">
        <p14:creationId xmlns:p14="http://schemas.microsoft.com/office/powerpoint/2010/main" val="6882230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F63531B-8723-52F0-31A0-CEB91F09EC53}"/>
              </a:ext>
            </a:extLst>
          </p:cNvPr>
          <p:cNvSpPr>
            <a:spLocks noGrp="1"/>
          </p:cNvSpPr>
          <p:nvPr>
            <p:ph type="title"/>
          </p:nvPr>
        </p:nvSpPr>
        <p:spPr/>
        <p:txBody>
          <a:bodyPr/>
          <a:lstStyle/>
          <a:p>
            <a:r>
              <a:rPr lang="ru-RU" dirty="0"/>
              <a:t>Средние кластерные метрики</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040AB215-9975-8FA1-CD41-700667A746BC}"/>
                  </a:ext>
                </a:extLst>
              </p:cNvPr>
              <p:cNvSpPr>
                <a:spLocks noGrp="1"/>
              </p:cNvSpPr>
              <p:nvPr>
                <p:ph idx="1"/>
              </p:nvPr>
            </p:nvSpPr>
            <p:spPr/>
            <p:txBody>
              <a:bodyPr/>
              <a:lstStyle/>
              <a:p>
                <a:r>
                  <a:rPr lang="ru-RU" dirty="0"/>
                  <a:t>Среднее </a:t>
                </a:r>
                <a:r>
                  <a:rPr lang="ru-RU" dirty="0" err="1"/>
                  <a:t>внутрикластерное</a:t>
                </a:r>
                <a:r>
                  <a:rPr lang="ru-RU" dirty="0"/>
                  <a:t> расстояние</a:t>
                </a:r>
                <a:r>
                  <a:rPr lang="en-US" dirty="0"/>
                  <a:t> (k </a:t>
                </a:r>
                <a:r>
                  <a:rPr lang="ru-RU" dirty="0"/>
                  <a:t>- кластер</a:t>
                </a:r>
                <a:r>
                  <a:rPr lang="en-US" dirty="0"/>
                  <a:t>)</a:t>
                </a:r>
              </a:p>
              <a:p>
                <a:endParaRPr lang="ru-RU" dirty="0"/>
              </a:p>
              <a:p>
                <a:pPr marL="0" indent="0">
                  <a:buNone/>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𝐷</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m:t>
                      </m:r>
                      <m:r>
                        <a:rPr lang="en-US" sz="2000" b="0" i="1" smtClean="0">
                          <a:latin typeface="Cambria Math" panose="02040503050406030204" pitchFamily="18" charset="0"/>
                        </a:rPr>
                        <m:t>𝑘</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nary>
                            <m:naryPr>
                              <m:chr m:val="∑"/>
                              <m:ctrlPr>
                                <a:rPr lang="en-US" sz="2000" b="0" i="1" smtClean="0">
                                  <a:latin typeface="Cambria Math" panose="02040503050406030204" pitchFamily="18" charset="0"/>
                                </a:rPr>
                              </m:ctrlPr>
                            </m:naryPr>
                            <m:sub>
                              <m:r>
                                <a:rPr lang="en-US" sz="2000" b="0" i="1" smtClean="0">
                                  <a:latin typeface="Cambria Math" panose="02040503050406030204" pitchFamily="18" charset="0"/>
                                </a:rPr>
                                <m:t>𝑖</m:t>
                              </m:r>
                              <m:r>
                                <a:rPr lang="en-US" sz="2000" b="0" i="1" smtClean="0">
                                  <a:latin typeface="Cambria Math" panose="02040503050406030204" pitchFamily="18" charset="0"/>
                                </a:rPr>
                                <m:t>=1</m:t>
                              </m:r>
                            </m:sub>
                            <m:sup>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𝑁</m:t>
                                  </m:r>
                                </m:e>
                                <m:sub>
                                  <m:r>
                                    <a:rPr lang="en-US" sz="2000" b="0" i="1" smtClean="0">
                                      <a:latin typeface="Cambria Math" panose="02040503050406030204" pitchFamily="18" charset="0"/>
                                    </a:rPr>
                                    <m:t>𝑘</m:t>
                                  </m:r>
                                </m:sub>
                              </m:sSub>
                              <m:r>
                                <a:rPr lang="en-US" sz="2000" b="0" i="1" smtClean="0">
                                  <a:latin typeface="Cambria Math" panose="02040503050406030204" pitchFamily="18" charset="0"/>
                                </a:rPr>
                                <m:t>−1</m:t>
                              </m:r>
                            </m:sup>
                            <m:e>
                              <m:nary>
                                <m:naryPr>
                                  <m:chr m:val="∑"/>
                                  <m:ctrlPr>
                                    <a:rPr lang="en-US" sz="2000" b="0" i="1" smtClean="0">
                                      <a:latin typeface="Cambria Math" panose="02040503050406030204" pitchFamily="18" charset="0"/>
                                    </a:rPr>
                                  </m:ctrlPr>
                                </m:naryPr>
                                <m:sub>
                                  <m:r>
                                    <a:rPr lang="en-US" sz="2000" b="0" i="1" smtClean="0">
                                      <a:latin typeface="Cambria Math" panose="02040503050406030204" pitchFamily="18" charset="0"/>
                                    </a:rPr>
                                    <m:t>𝑗</m:t>
                                  </m:r>
                                  <m:r>
                                    <a:rPr lang="en-US" sz="2000" b="0" i="1" smtClean="0">
                                      <a:latin typeface="Cambria Math" panose="02040503050406030204" pitchFamily="18" charset="0"/>
                                    </a:rPr>
                                    <m:t>=</m:t>
                                  </m:r>
                                  <m:r>
                                    <a:rPr lang="en-US" sz="2000" b="0" i="1" smtClean="0">
                                      <a:latin typeface="Cambria Math" panose="02040503050406030204" pitchFamily="18" charset="0"/>
                                    </a:rPr>
                                    <m:t>𝑖</m:t>
                                  </m:r>
                                  <m:r>
                                    <a:rPr lang="en-US" sz="2000" b="0" i="1" smtClean="0">
                                      <a:latin typeface="Cambria Math" panose="02040503050406030204" pitchFamily="18" charset="0"/>
                                    </a:rPr>
                                    <m:t>+1</m:t>
                                  </m:r>
                                </m:sub>
                                <m:sup>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𝑁</m:t>
                                      </m:r>
                                    </m:e>
                                    <m:sub>
                                      <m:r>
                                        <a:rPr lang="en-US" sz="2000" b="0" i="1" smtClean="0">
                                          <a:latin typeface="Cambria Math" panose="02040503050406030204" pitchFamily="18" charset="0"/>
                                        </a:rPr>
                                        <m:t>𝑘</m:t>
                                      </m:r>
                                    </m:sub>
                                  </m:sSub>
                                </m:sup>
                                <m:e>
                                  <m:r>
                                    <a:rPr lang="en-US" sz="2000" b="0" i="1" smtClean="0">
                                      <a:latin typeface="Cambria Math" panose="02040503050406030204" pitchFamily="18" charset="0"/>
                                    </a:rPr>
                                    <m:t>𝜌</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𝑗</m:t>
                                      </m:r>
                                    </m:sub>
                                  </m:sSub>
                                  <m:r>
                                    <a:rPr lang="en-US" sz="2000" b="0" i="1" smtClean="0">
                                      <a:latin typeface="Cambria Math" panose="02040503050406030204" pitchFamily="18" charset="0"/>
                                    </a:rPr>
                                    <m:t>)</m:t>
                                  </m:r>
                                </m:e>
                              </m:nary>
                            </m:e>
                          </m:nary>
                        </m:num>
                        <m:den>
                          <m:nary>
                            <m:naryPr>
                              <m:chr m:val="∑"/>
                              <m:ctrlPr>
                                <a:rPr lang="en-US" sz="2000" i="1">
                                  <a:latin typeface="Cambria Math" panose="02040503050406030204" pitchFamily="18" charset="0"/>
                                </a:rPr>
                              </m:ctrlPr>
                            </m:naryPr>
                            <m:sub>
                              <m:r>
                                <a:rPr lang="en-US" sz="2000" i="1">
                                  <a:latin typeface="Cambria Math" panose="02040503050406030204" pitchFamily="18" charset="0"/>
                                </a:rPr>
                                <m:t>𝑖</m:t>
                              </m:r>
                              <m:r>
                                <a:rPr lang="en-US" sz="2000" i="1">
                                  <a:latin typeface="Cambria Math" panose="02040503050406030204" pitchFamily="18" charset="0"/>
                                </a:rPr>
                                <m:t>=1</m:t>
                              </m:r>
                            </m:sub>
                            <m:sup>
                              <m:sSub>
                                <m:sSubPr>
                                  <m:ctrlPr>
                                    <a:rPr lang="en-US" sz="2000" b="0" i="1" smtClean="0">
                                      <a:latin typeface="Cambria Math" panose="02040503050406030204" pitchFamily="18" charset="0"/>
                                    </a:rPr>
                                  </m:ctrlPr>
                                </m:sSubPr>
                                <m:e>
                                  <m:r>
                                    <a:rPr lang="en-US" sz="2000" i="1">
                                      <a:latin typeface="Cambria Math" panose="02040503050406030204" pitchFamily="18" charset="0"/>
                                    </a:rPr>
                                    <m:t>𝑁</m:t>
                                  </m:r>
                                </m:e>
                                <m:sub>
                                  <m:r>
                                    <a:rPr lang="en-US" sz="2000" b="0" i="1" smtClean="0">
                                      <a:latin typeface="Cambria Math" panose="02040503050406030204" pitchFamily="18" charset="0"/>
                                    </a:rPr>
                                    <m:t>𝑘</m:t>
                                  </m:r>
                                </m:sub>
                              </m:sSub>
                              <m:r>
                                <a:rPr lang="en-US" sz="2000" i="1">
                                  <a:latin typeface="Cambria Math" panose="02040503050406030204" pitchFamily="18" charset="0"/>
                                </a:rPr>
                                <m:t>−1</m:t>
                              </m:r>
                            </m:sup>
                            <m:e>
                              <m:nary>
                                <m:naryPr>
                                  <m:chr m:val="∑"/>
                                  <m:ctrlPr>
                                    <a:rPr lang="en-US" sz="2000" i="1">
                                      <a:latin typeface="Cambria Math" panose="02040503050406030204" pitchFamily="18" charset="0"/>
                                    </a:rPr>
                                  </m:ctrlPr>
                                </m:naryPr>
                                <m:sub>
                                  <m:r>
                                    <a:rPr lang="en-US" sz="2000" i="1">
                                      <a:latin typeface="Cambria Math" panose="02040503050406030204" pitchFamily="18" charset="0"/>
                                    </a:rPr>
                                    <m:t>𝑗</m:t>
                                  </m:r>
                                  <m:r>
                                    <a:rPr lang="en-US" sz="2000" i="1">
                                      <a:latin typeface="Cambria Math" panose="02040503050406030204" pitchFamily="18" charset="0"/>
                                    </a:rPr>
                                    <m:t>=</m:t>
                                  </m:r>
                                  <m:r>
                                    <a:rPr lang="en-US" sz="2000" i="1">
                                      <a:latin typeface="Cambria Math" panose="02040503050406030204" pitchFamily="18" charset="0"/>
                                    </a:rPr>
                                    <m:t>𝑖</m:t>
                                  </m:r>
                                  <m:r>
                                    <a:rPr lang="en-US" sz="2000" i="1">
                                      <a:latin typeface="Cambria Math" panose="02040503050406030204" pitchFamily="18" charset="0"/>
                                    </a:rPr>
                                    <m:t>+1</m:t>
                                  </m:r>
                                </m:sub>
                                <m:sup>
                                  <m:sSub>
                                    <m:sSubPr>
                                      <m:ctrlPr>
                                        <a:rPr lang="en-US" sz="2000" b="0" i="1" smtClean="0">
                                          <a:latin typeface="Cambria Math" panose="02040503050406030204" pitchFamily="18" charset="0"/>
                                        </a:rPr>
                                      </m:ctrlPr>
                                    </m:sSubPr>
                                    <m:e>
                                      <m:r>
                                        <a:rPr lang="en-US" sz="2000" i="1">
                                          <a:latin typeface="Cambria Math" panose="02040503050406030204" pitchFamily="18" charset="0"/>
                                        </a:rPr>
                                        <m:t>𝑁</m:t>
                                      </m:r>
                                    </m:e>
                                    <m:sub>
                                      <m:r>
                                        <a:rPr lang="en-US" sz="2000" b="0" i="1" smtClean="0">
                                          <a:latin typeface="Cambria Math" panose="02040503050406030204" pitchFamily="18" charset="0"/>
                                        </a:rPr>
                                        <m:t>𝑘</m:t>
                                      </m:r>
                                    </m:sub>
                                  </m:sSub>
                                </m:sup>
                                <m:e>
                                  <m:r>
                                    <a:rPr lang="en-US" sz="2000" b="0" i="1" smtClean="0">
                                      <a:latin typeface="Cambria Math" panose="02040503050406030204" pitchFamily="18" charset="0"/>
                                    </a:rPr>
                                    <m:t>1</m:t>
                                  </m:r>
                                </m:e>
                              </m:nary>
                            </m:e>
                          </m:nary>
                        </m:den>
                      </m:f>
                      <m:r>
                        <a:rPr lang="ru-RU" sz="2000" b="0" i="0" smtClean="0">
                          <a:latin typeface="Cambria Math" panose="02040503050406030204" pitchFamily="18" charset="0"/>
                        </a:rPr>
                        <m:t>=</m:t>
                      </m:r>
                      <m:f>
                        <m:fPr>
                          <m:ctrlPr>
                            <a:rPr lang="en-US" sz="2000" b="0" i="1" smtClean="0">
                              <a:latin typeface="Cambria Math" panose="02040503050406030204" pitchFamily="18" charset="0"/>
                            </a:rPr>
                          </m:ctrlPr>
                        </m:fPr>
                        <m:num>
                          <m:nary>
                            <m:naryPr>
                              <m:chr m:val="∑"/>
                              <m:ctrlPr>
                                <a:rPr lang="en-US" sz="2000" i="1">
                                  <a:latin typeface="Cambria Math" panose="02040503050406030204" pitchFamily="18" charset="0"/>
                                </a:rPr>
                              </m:ctrlPr>
                            </m:naryPr>
                            <m:sub>
                              <m:r>
                                <a:rPr lang="en-US" sz="2000" i="1">
                                  <a:latin typeface="Cambria Math" panose="02040503050406030204" pitchFamily="18" charset="0"/>
                                </a:rPr>
                                <m:t>𝑖</m:t>
                              </m:r>
                              <m:r>
                                <a:rPr lang="en-US" sz="2000" i="1">
                                  <a:latin typeface="Cambria Math" panose="02040503050406030204" pitchFamily="18" charset="0"/>
                                </a:rPr>
                                <m:t>=1</m:t>
                              </m:r>
                            </m:sub>
                            <m:sup>
                              <m:sSub>
                                <m:sSubPr>
                                  <m:ctrlPr>
                                    <a:rPr lang="en-US" sz="2000" i="1">
                                      <a:latin typeface="Cambria Math" panose="02040503050406030204" pitchFamily="18" charset="0"/>
                                    </a:rPr>
                                  </m:ctrlPr>
                                </m:sSubPr>
                                <m:e>
                                  <m:r>
                                    <a:rPr lang="en-US" sz="2000" i="1">
                                      <a:latin typeface="Cambria Math" panose="02040503050406030204" pitchFamily="18" charset="0"/>
                                    </a:rPr>
                                    <m:t>𝑁</m:t>
                                  </m:r>
                                </m:e>
                                <m:sub>
                                  <m:r>
                                    <a:rPr lang="en-US" sz="2000" i="1">
                                      <a:latin typeface="Cambria Math" panose="02040503050406030204" pitchFamily="18" charset="0"/>
                                    </a:rPr>
                                    <m:t>𝑘</m:t>
                                  </m:r>
                                </m:sub>
                              </m:sSub>
                              <m:r>
                                <a:rPr lang="en-US" sz="2000" i="1">
                                  <a:latin typeface="Cambria Math" panose="02040503050406030204" pitchFamily="18" charset="0"/>
                                </a:rPr>
                                <m:t>−1</m:t>
                              </m:r>
                            </m:sup>
                            <m:e>
                              <m:nary>
                                <m:naryPr>
                                  <m:chr m:val="∑"/>
                                  <m:ctrlPr>
                                    <a:rPr lang="en-US" sz="2000" i="1">
                                      <a:latin typeface="Cambria Math" panose="02040503050406030204" pitchFamily="18" charset="0"/>
                                    </a:rPr>
                                  </m:ctrlPr>
                                </m:naryPr>
                                <m:sub>
                                  <m:r>
                                    <a:rPr lang="en-US" sz="2000" i="1">
                                      <a:latin typeface="Cambria Math" panose="02040503050406030204" pitchFamily="18" charset="0"/>
                                    </a:rPr>
                                    <m:t>𝑗</m:t>
                                  </m:r>
                                  <m:r>
                                    <a:rPr lang="en-US" sz="2000" i="1">
                                      <a:latin typeface="Cambria Math" panose="02040503050406030204" pitchFamily="18" charset="0"/>
                                    </a:rPr>
                                    <m:t>=</m:t>
                                  </m:r>
                                  <m:r>
                                    <a:rPr lang="en-US" sz="2000" i="1">
                                      <a:latin typeface="Cambria Math" panose="02040503050406030204" pitchFamily="18" charset="0"/>
                                    </a:rPr>
                                    <m:t>𝑖</m:t>
                                  </m:r>
                                  <m:r>
                                    <a:rPr lang="en-US" sz="2000" i="1">
                                      <a:latin typeface="Cambria Math" panose="02040503050406030204" pitchFamily="18" charset="0"/>
                                    </a:rPr>
                                    <m:t>+1</m:t>
                                  </m:r>
                                </m:sub>
                                <m:sup>
                                  <m:sSub>
                                    <m:sSubPr>
                                      <m:ctrlPr>
                                        <a:rPr lang="en-US" sz="2000" i="1">
                                          <a:latin typeface="Cambria Math" panose="02040503050406030204" pitchFamily="18" charset="0"/>
                                        </a:rPr>
                                      </m:ctrlPr>
                                    </m:sSubPr>
                                    <m:e>
                                      <m:r>
                                        <a:rPr lang="en-US" sz="2000" i="1">
                                          <a:latin typeface="Cambria Math" panose="02040503050406030204" pitchFamily="18" charset="0"/>
                                        </a:rPr>
                                        <m:t>𝑁</m:t>
                                      </m:r>
                                    </m:e>
                                    <m:sub>
                                      <m:r>
                                        <a:rPr lang="en-US" sz="2000" i="1">
                                          <a:latin typeface="Cambria Math" panose="02040503050406030204" pitchFamily="18" charset="0"/>
                                        </a:rPr>
                                        <m:t>𝑘</m:t>
                                      </m:r>
                                    </m:sub>
                                  </m:sSub>
                                </m:sup>
                                <m:e>
                                  <m:r>
                                    <a:rPr lang="en-US" sz="2000" i="1">
                                      <a:latin typeface="Cambria Math" panose="02040503050406030204" pitchFamily="18" charset="0"/>
                                    </a:rPr>
                                    <m:t>𝜌</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sub>
                                  </m:sSub>
                                  <m:r>
                                    <a:rPr lang="en-US" sz="2000" i="1">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𝑗</m:t>
                                      </m:r>
                                    </m:sub>
                                  </m:sSub>
                                  <m:r>
                                    <a:rPr lang="en-US" sz="2000" i="1">
                                      <a:latin typeface="Cambria Math" panose="02040503050406030204" pitchFamily="18" charset="0"/>
                                    </a:rPr>
                                    <m:t>)</m:t>
                                  </m:r>
                                </m:e>
                              </m:nary>
                            </m:e>
                          </m:nary>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𝑁</m:t>
                              </m:r>
                            </m:e>
                            <m:sub>
                              <m:r>
                                <a:rPr lang="en-US" sz="2000" b="0" i="1" smtClean="0">
                                  <a:latin typeface="Cambria Math" panose="02040503050406030204" pitchFamily="18" charset="0"/>
                                </a:rPr>
                                <m:t>𝑘</m:t>
                              </m:r>
                            </m:sub>
                          </m:sSub>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𝑁</m:t>
                                  </m:r>
                                </m:e>
                                <m:sub>
                                  <m:r>
                                    <a:rPr lang="en-US" sz="2000" i="1">
                                      <a:latin typeface="Cambria Math" panose="02040503050406030204" pitchFamily="18" charset="0"/>
                                    </a:rPr>
                                    <m:t>𝑘</m:t>
                                  </m:r>
                                </m:sub>
                              </m:sSub>
                              <m:r>
                                <a:rPr lang="en-US" sz="2000" b="0" i="1" smtClean="0">
                                  <a:latin typeface="Cambria Math" panose="02040503050406030204" pitchFamily="18" charset="0"/>
                                </a:rPr>
                                <m:t>−1</m:t>
                              </m:r>
                            </m:e>
                          </m:d>
                          <m:r>
                            <a:rPr lang="en-US" sz="2000" b="0" i="1" smtClean="0">
                              <a:latin typeface="Cambria Math" panose="02040503050406030204" pitchFamily="18" charset="0"/>
                            </a:rPr>
                            <m:t>/2</m:t>
                          </m:r>
                        </m:den>
                      </m:f>
                      <m:r>
                        <a:rPr lang="en-US" sz="2000" b="0" i="0" smtClean="0">
                          <a:latin typeface="Cambria Math" panose="02040503050406030204" pitchFamily="18" charset="0"/>
                        </a:rPr>
                        <m:t>, </m:t>
                      </m:r>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x</m:t>
                          </m:r>
                        </m:e>
                        <m:sub>
                          <m:r>
                            <m:rPr>
                              <m:sty m:val="p"/>
                            </m:rPr>
                            <a:rPr lang="en-US" sz="2000" b="0" i="0" smtClean="0">
                              <a:latin typeface="Cambria Math" panose="02040503050406030204" pitchFamily="18" charset="0"/>
                            </a:rPr>
                            <m:t>i</m:t>
                          </m:r>
                        </m:sub>
                      </m:sSub>
                      <m:r>
                        <a:rPr lang="en-US" sz="2000" b="0" i="0" smtClean="0">
                          <a:latin typeface="Cambria Math" panose="02040503050406030204" pitchFamily="18" charset="0"/>
                        </a:rPr>
                        <m:t>,</m:t>
                      </m:r>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x</m:t>
                          </m:r>
                        </m:e>
                        <m:sub>
                          <m:r>
                            <m:rPr>
                              <m:sty m:val="p"/>
                            </m:rPr>
                            <a:rPr lang="en-US" sz="2000" b="0" i="0" smtClean="0">
                              <a:latin typeface="Cambria Math" panose="02040503050406030204" pitchFamily="18" charset="0"/>
                            </a:rPr>
                            <m:t>j</m:t>
                          </m:r>
                        </m:sub>
                      </m:sSub>
                      <m:r>
                        <a:rPr lang="en-US" sz="2000" b="0" i="1" smtClean="0">
                          <a:latin typeface="Cambria Math" panose="02040503050406030204" pitchFamily="18" charset="0"/>
                        </a:rPr>
                        <m:t>∈</m:t>
                      </m:r>
                      <m:r>
                        <a:rPr lang="en-US" sz="2000" b="0" i="1" smtClean="0">
                          <a:latin typeface="Cambria Math" panose="02040503050406030204" pitchFamily="18" charset="0"/>
                        </a:rPr>
                        <m:t>𝑘</m:t>
                      </m:r>
                    </m:oMath>
                  </m:oMathPara>
                </a14:m>
                <a:endParaRPr lang="en-US" sz="2000" dirty="0"/>
              </a:p>
              <a:p>
                <a:pPr marL="0" indent="0">
                  <a:buNone/>
                </a:pPr>
                <a:endParaRPr lang="ru-RU" dirty="0"/>
              </a:p>
              <a:p>
                <a:r>
                  <a:rPr lang="ru-RU" dirty="0"/>
                  <a:t>Среднее </a:t>
                </a:r>
                <a:r>
                  <a:rPr lang="ru-RU" dirty="0" err="1"/>
                  <a:t>межкластерное</a:t>
                </a:r>
                <a:r>
                  <a:rPr lang="ru-RU" dirty="0"/>
                  <a:t> расстояние</a:t>
                </a: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2</m:t>
                        </m:r>
                      </m:sub>
                    </m:sSub>
                  </m:oMath>
                </a14:m>
                <a:r>
                  <a:rPr lang="ru-RU" dirty="0"/>
                  <a:t> - кластеры</a:t>
                </a:r>
                <a:r>
                  <a:rPr lang="en-US" dirty="0"/>
                  <a:t>)</a:t>
                </a:r>
                <a:endParaRPr lang="ru-RU" dirty="0"/>
              </a:p>
              <a:p>
                <a:endParaRPr lang="ru-RU"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ru-RU"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2</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=1</m:t>
                              </m:r>
                            </m:sub>
                            <m:sup>
                              <m:sSub>
                                <m:sSubPr>
                                  <m:ctrlPr>
                                    <a:rPr lang="ru-RU" b="0" i="1" smtClean="0">
                                      <a:latin typeface="Cambria Math" panose="02040503050406030204" pitchFamily="18" charset="0"/>
                                    </a:rPr>
                                  </m:ctrlPr>
                                </m:sSub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𝑘</m:t>
                                      </m:r>
                                    </m:sub>
                                  </m:sSub>
                                </m:e>
                                <m:sub>
                                  <m:r>
                                    <a:rPr lang="ru-RU" b="0" i="1" smtClean="0">
                                      <a:latin typeface="Cambria Math" panose="02040503050406030204" pitchFamily="18" charset="0"/>
                                    </a:rPr>
                                    <m:t>1</m:t>
                                  </m:r>
                                </m:sub>
                              </m:sSub>
                            </m:sup>
                            <m:e>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𝑗</m:t>
                                  </m:r>
                                  <m:r>
                                    <a:rPr lang="en-US" b="0" i="1" smtClean="0">
                                      <a:latin typeface="Cambria Math" panose="02040503050406030204" pitchFamily="18" charset="0"/>
                                    </a:rPr>
                                    <m:t>=1</m:t>
                                  </m:r>
                                </m:sub>
                                <m:sup>
                                  <m:sSub>
                                    <m:sSubPr>
                                      <m:ctrlPr>
                                        <a:rPr lang="ru-RU" b="0" i="1" smtClean="0">
                                          <a:latin typeface="Cambria Math" panose="02040503050406030204" pitchFamily="18" charset="0"/>
                                        </a:rPr>
                                      </m:ctrlPr>
                                    </m:sSub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𝑘</m:t>
                                          </m:r>
                                        </m:sub>
                                      </m:sSub>
                                    </m:e>
                                    <m:sub>
                                      <m:r>
                                        <a:rPr lang="ru-RU" b="0" i="1" smtClean="0">
                                          <a:latin typeface="Cambria Math" panose="02040503050406030204" pitchFamily="18" charset="0"/>
                                        </a:rPr>
                                        <m:t>2</m:t>
                                      </m:r>
                                    </m:sub>
                                  </m:sSub>
                                </m:sup>
                                <m:e>
                                  <m:r>
                                    <a:rPr lang="en-US" b="0" i="1" smtClean="0">
                                      <a:latin typeface="Cambria Math" panose="02040503050406030204" pitchFamily="18" charset="0"/>
                                    </a:rPr>
                                    <m:t>𝜌</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r>
                                    <a:rPr lang="en-US" b="0" i="1" smtClean="0">
                                      <a:latin typeface="Cambria Math" panose="02040503050406030204" pitchFamily="18" charset="0"/>
                                    </a:rPr>
                                    <m:t>)</m:t>
                                  </m:r>
                                </m:e>
                              </m:nary>
                            </m:e>
                          </m:nary>
                        </m:num>
                        <m:den>
                          <m:nary>
                            <m:naryPr>
                              <m:chr m:val="∑"/>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sSub>
                                <m:sSubPr>
                                  <m:ctrlPr>
                                    <a:rPr lang="en-US" b="0" i="1" smtClean="0">
                                      <a:latin typeface="Cambria Math" panose="02040503050406030204" pitchFamily="18" charset="0"/>
                                    </a:rPr>
                                  </m:ctrlPr>
                                </m:sSubPr>
                                <m:e>
                                  <m:sSub>
                                    <m:sSubPr>
                                      <m:ctrlPr>
                                        <a:rPr lang="en-US" b="0" i="1" smtClean="0">
                                          <a:latin typeface="Cambria Math" panose="02040503050406030204" pitchFamily="18" charset="0"/>
                                        </a:rPr>
                                      </m:ctrlPr>
                                    </m:sSubPr>
                                    <m:e>
                                      <m:r>
                                        <a:rPr lang="en-US" i="1">
                                          <a:latin typeface="Cambria Math" panose="02040503050406030204" pitchFamily="18" charset="0"/>
                                        </a:rPr>
                                        <m:t>𝑁</m:t>
                                      </m:r>
                                    </m:e>
                                    <m:sub>
                                      <m:r>
                                        <a:rPr lang="en-US" b="0" i="1" smtClean="0">
                                          <a:latin typeface="Cambria Math" panose="02040503050406030204" pitchFamily="18" charset="0"/>
                                        </a:rPr>
                                        <m:t>𝑘</m:t>
                                      </m:r>
                                    </m:sub>
                                  </m:sSub>
                                </m:e>
                                <m:sub>
                                  <m:r>
                                    <a:rPr lang="en-US" b="0" i="1" smtClean="0">
                                      <a:latin typeface="Cambria Math" panose="02040503050406030204" pitchFamily="18" charset="0"/>
                                    </a:rPr>
                                    <m:t>1</m:t>
                                  </m:r>
                                </m:sub>
                              </m:sSub>
                            </m:sup>
                            <m:e>
                              <m:nary>
                                <m:naryPr>
                                  <m:chr m:val="∑"/>
                                  <m:ctrlPr>
                                    <a:rPr lang="en-US" i="1">
                                      <a:latin typeface="Cambria Math" panose="02040503050406030204" pitchFamily="18" charset="0"/>
                                    </a:rPr>
                                  </m:ctrlPr>
                                </m:naryPr>
                                <m:sub>
                                  <m:r>
                                    <a:rPr lang="en-US" i="1">
                                      <a:latin typeface="Cambria Math" panose="02040503050406030204" pitchFamily="18" charset="0"/>
                                    </a:rPr>
                                    <m:t>𝑗</m:t>
                                  </m:r>
                                  <m:r>
                                    <a:rPr lang="en-US" i="1">
                                      <a:latin typeface="Cambria Math" panose="02040503050406030204" pitchFamily="18" charset="0"/>
                                    </a:rPr>
                                    <m:t>=1</m:t>
                                  </m:r>
                                </m:sub>
                                <m:sup>
                                  <m:sSub>
                                    <m:sSubPr>
                                      <m:ctrlPr>
                                        <a:rPr lang="en-US" b="0" i="1" smtClean="0">
                                          <a:latin typeface="Cambria Math" panose="02040503050406030204" pitchFamily="18" charset="0"/>
                                        </a:rPr>
                                      </m:ctrlPr>
                                    </m:sSubPr>
                                    <m:e>
                                      <m:r>
                                        <a:rPr lang="en-US" i="1">
                                          <a:latin typeface="Cambria Math" panose="02040503050406030204" pitchFamily="18" charset="0"/>
                                        </a:rPr>
                                        <m:t>𝑁</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2</m:t>
                                          </m:r>
                                        </m:sub>
                                      </m:sSub>
                                    </m:sub>
                                  </m:sSub>
                                </m:sup>
                                <m:e>
                                  <m:r>
                                    <a:rPr lang="en-US" b="0" i="1" smtClean="0">
                                      <a:latin typeface="Cambria Math" panose="02040503050406030204" pitchFamily="18" charset="0"/>
                                    </a:rPr>
                                    <m:t>1</m:t>
                                  </m:r>
                                </m:e>
                              </m:nary>
                            </m:e>
                          </m:nary>
                        </m:den>
                      </m:f>
                      <m:r>
                        <a:rPr lang="en-US" b="0" i="0" smtClean="0">
                          <a:latin typeface="Cambria Math" panose="02040503050406030204" pitchFamily="18" charset="0"/>
                        </a:rPr>
                        <m:t>,   </m:t>
                      </m:r>
                      <m:r>
                        <a:rPr lang="ru-RU" b="0" i="0" smtClean="0">
                          <a:latin typeface="Cambria Math" panose="02040503050406030204" pitchFamily="18" charset="0"/>
                        </a:rPr>
                        <m:t>где </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x</m:t>
                          </m:r>
                        </m:e>
                        <m:sub>
                          <m:r>
                            <m:rPr>
                              <m:sty m:val="p"/>
                            </m:rPr>
                            <a:rPr lang="en-US" b="0" i="0" smtClean="0">
                              <a:latin typeface="Cambria Math" panose="02040503050406030204" pitchFamily="18" charset="0"/>
                            </a:rPr>
                            <m:t>i</m:t>
                          </m:r>
                        </m:sub>
                      </m:sSub>
                      <m:r>
                        <a:rPr lang="ru-RU"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k</m:t>
                          </m:r>
                        </m:e>
                        <m:sub>
                          <m:r>
                            <a:rPr lang="en-US" b="0" i="0" smtClean="0">
                              <a:latin typeface="Cambria Math" panose="02040503050406030204" pitchFamily="18" charset="0"/>
                            </a:rPr>
                            <m:t>1</m:t>
                          </m:r>
                        </m:sub>
                      </m:sSub>
                      <m:r>
                        <a:rPr lang="en-US" b="0" i="0" smtClean="0">
                          <a:latin typeface="Cambria Math" panose="02040503050406030204" pitchFamily="18" charset="0"/>
                        </a:rPr>
                        <m:t>,</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x</m:t>
                          </m:r>
                        </m:e>
                        <m:sub>
                          <m:r>
                            <m:rPr>
                              <m:sty m:val="p"/>
                            </m:rPr>
                            <a:rPr lang="en-US" b="0" i="0" smtClean="0">
                              <a:latin typeface="Cambria Math" panose="02040503050406030204" pitchFamily="18" charset="0"/>
                            </a:rPr>
                            <m:t>j</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2</m:t>
                          </m:r>
                        </m:sub>
                      </m:sSub>
                    </m:oMath>
                  </m:oMathPara>
                </a14:m>
                <a:endParaRPr lang="ru-RU" dirty="0"/>
              </a:p>
              <a:p>
                <a:pPr marL="0" indent="0">
                  <a:buNone/>
                </a:pPr>
                <a:endParaRPr lang="en-US" dirty="0"/>
              </a:p>
              <a:p>
                <a:endParaRPr lang="ru-RU" dirty="0"/>
              </a:p>
            </p:txBody>
          </p:sp>
        </mc:Choice>
        <mc:Fallback xmlns="">
          <p:sp>
            <p:nvSpPr>
              <p:cNvPr id="3" name="Объект 2">
                <a:extLst>
                  <a:ext uri="{FF2B5EF4-FFF2-40B4-BE49-F238E27FC236}">
                    <a16:creationId xmlns:a16="http://schemas.microsoft.com/office/drawing/2014/main" id="{040AB215-9975-8FA1-CD41-700667A746BC}"/>
                  </a:ext>
                </a:extLst>
              </p:cNvPr>
              <p:cNvSpPr>
                <a:spLocks noGrp="1" noRot="1" noChangeAspect="1" noMove="1" noResize="1" noEditPoints="1" noAdjustHandles="1" noChangeArrowheads="1" noChangeShapeType="1" noTextEdit="1"/>
              </p:cNvSpPr>
              <p:nvPr>
                <p:ph idx="1"/>
              </p:nvPr>
            </p:nvSpPr>
            <p:spPr>
              <a:blipFill>
                <a:blip r:embed="rId2"/>
                <a:stretch>
                  <a:fillRect l="-773" t="-1392"/>
                </a:stretch>
              </a:blipFill>
            </p:spPr>
            <p:txBody>
              <a:bodyPr/>
              <a:lstStyle/>
              <a:p>
                <a:r>
                  <a:rPr lang="ru-RU">
                    <a:noFill/>
                  </a:rPr>
                  <a:t> </a:t>
                </a:r>
              </a:p>
            </p:txBody>
          </p:sp>
        </mc:Fallback>
      </mc:AlternateContent>
      <p:sp>
        <p:nvSpPr>
          <p:cNvPr id="4" name="Нижний колонтитул 3">
            <a:extLst>
              <a:ext uri="{FF2B5EF4-FFF2-40B4-BE49-F238E27FC236}">
                <a16:creationId xmlns:a16="http://schemas.microsoft.com/office/drawing/2014/main" id="{397B266F-5C6D-6DDF-1E98-2702D80BA22F}"/>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150F03B3-08DA-FB16-778F-F4A243F7AE71}"/>
              </a:ext>
            </a:extLst>
          </p:cNvPr>
          <p:cNvSpPr>
            <a:spLocks noGrp="1"/>
          </p:cNvSpPr>
          <p:nvPr>
            <p:ph type="sldNum" sz="quarter" idx="12"/>
          </p:nvPr>
        </p:nvSpPr>
        <p:spPr/>
        <p:txBody>
          <a:bodyPr/>
          <a:lstStyle/>
          <a:p>
            <a:fld id="{81C5FB71-5E9C-41B5-9BB8-3F1EBEAEB16A}" type="slidenum">
              <a:rPr lang="ru-RU" smtClean="0"/>
              <a:t>11</a:t>
            </a:fld>
            <a:endParaRPr lang="ru-RU"/>
          </a:p>
        </p:txBody>
      </p:sp>
    </p:spTree>
    <p:extLst>
      <p:ext uri="{BB962C8B-B14F-4D97-AF65-F5344CB8AC3E}">
        <p14:creationId xmlns:p14="http://schemas.microsoft.com/office/powerpoint/2010/main" val="34352032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8DA3EF4-ECBF-BA09-545A-6774CE13496E}"/>
              </a:ext>
            </a:extLst>
          </p:cNvPr>
          <p:cNvSpPr>
            <a:spLocks noGrp="1"/>
          </p:cNvSpPr>
          <p:nvPr>
            <p:ph type="title"/>
          </p:nvPr>
        </p:nvSpPr>
        <p:spPr>
          <a:xfrm>
            <a:off x="628650" y="70791"/>
            <a:ext cx="7886700" cy="843609"/>
          </a:xfrm>
        </p:spPr>
        <p:txBody>
          <a:bodyPr/>
          <a:lstStyle/>
          <a:p>
            <a:r>
              <a:rPr lang="ru-RU" dirty="0"/>
              <a:t>Метрики качества кластеризации без разметки</a:t>
            </a:r>
          </a:p>
        </p:txBody>
      </p:sp>
      <mc:AlternateContent xmlns:mc="http://schemas.openxmlformats.org/markup-compatibility/2006">
        <mc:Choice xmlns:a14="http://schemas.microsoft.com/office/drawing/2010/main" Requires="a14">
          <p:sp>
            <p:nvSpPr>
              <p:cNvPr id="3" name="Объект 2">
                <a:extLst>
                  <a:ext uri="{FF2B5EF4-FFF2-40B4-BE49-F238E27FC236}">
                    <a16:creationId xmlns:a16="http://schemas.microsoft.com/office/drawing/2014/main" id="{EDF37A93-AE60-195C-3562-38D21D5F22C9}"/>
                  </a:ext>
                </a:extLst>
              </p:cNvPr>
              <p:cNvSpPr>
                <a:spLocks noGrp="1"/>
              </p:cNvSpPr>
              <p:nvPr>
                <p:ph idx="1"/>
              </p:nvPr>
            </p:nvSpPr>
            <p:spPr>
              <a:xfrm>
                <a:off x="628650" y="914400"/>
                <a:ext cx="7886700" cy="5262563"/>
              </a:xfrm>
            </p:spPr>
            <p:txBody>
              <a:bodyPr>
                <a:normAutofit/>
              </a:bodyPr>
              <a:lstStyle/>
              <a:p>
                <a:r>
                  <a:rPr lang="ru-RU" b="1" i="0" dirty="0">
                    <a:effectLst/>
                    <a:latin typeface="YS Text"/>
                  </a:rPr>
                  <a:t>Индекс Дэвиса-</a:t>
                </a:r>
                <a:r>
                  <a:rPr lang="ru-RU" b="1" i="0" dirty="0" err="1">
                    <a:effectLst/>
                    <a:latin typeface="YS Text"/>
                  </a:rPr>
                  <a:t>Булдина</a:t>
                </a:r>
                <a:r>
                  <a:rPr lang="ru-RU" b="1" i="0" dirty="0">
                    <a:effectLst/>
                    <a:latin typeface="YS Text"/>
                  </a:rPr>
                  <a:t> (ниже лучше)</a:t>
                </a:r>
              </a:p>
              <a:p>
                <a:pPr marL="0" indent="0">
                  <a:lnSpc>
                    <a:spcPct val="120000"/>
                  </a:lnSpc>
                  <a:spcBef>
                    <a:spcPts val="0"/>
                  </a:spcBef>
                  <a:buNone/>
                </a:pPr>
                <a14:m>
                  <m:oMathPara xmlns:m="http://schemas.openxmlformats.org/officeDocument/2006/math">
                    <m:oMathParaPr>
                      <m:jc m:val="centerGroup"/>
                    </m:oMathParaPr>
                    <m:oMath xmlns:m="http://schemas.openxmlformats.org/officeDocument/2006/math">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𝐴</m:t>
                          </m:r>
                        </m:e>
                        <m:sub>
                          <m:r>
                            <a:rPr lang="en-US" b="0" i="1" smtClean="0">
                              <a:effectLst/>
                              <a:latin typeface="Cambria Math" panose="02040503050406030204" pitchFamily="18" charset="0"/>
                            </a:rPr>
                            <m:t>𝑖</m:t>
                          </m:r>
                        </m:sub>
                      </m:sSub>
                      <m:r>
                        <a:rPr lang="en-US" b="0" i="1" smtClean="0">
                          <a:effectLst/>
                          <a:latin typeface="Cambria Math" panose="02040503050406030204" pitchFamily="18" charset="0"/>
                        </a:rPr>
                        <m:t>=</m:t>
                      </m:r>
                      <m:r>
                        <a:rPr lang="en-US" b="0" i="1" smtClean="0">
                          <a:effectLst/>
                          <a:latin typeface="Cambria Math" panose="02040503050406030204" pitchFamily="18" charset="0"/>
                        </a:rPr>
                        <m:t>𝐴</m:t>
                      </m:r>
                      <m:d>
                        <m:dPr>
                          <m:ctrlPr>
                            <a:rPr lang="en-US" b="0" i="1" smtClean="0">
                              <a:effectLst/>
                              <a:latin typeface="Cambria Math" panose="02040503050406030204" pitchFamily="18" charset="0"/>
                            </a:rPr>
                          </m:ctrlPr>
                        </m:dPr>
                        <m:e>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𝑥</m:t>
                              </m:r>
                            </m:e>
                            <m:sub>
                              <m:r>
                                <a:rPr lang="en-US" b="0" i="1" smtClean="0">
                                  <a:effectLst/>
                                  <a:latin typeface="Cambria Math" panose="02040503050406030204" pitchFamily="18" charset="0"/>
                                </a:rPr>
                                <m:t>𝑖</m:t>
                              </m:r>
                            </m:sub>
                          </m:sSub>
                        </m:e>
                      </m:d>
                      <m:r>
                        <a:rPr lang="en-US" b="0" i="1" smtClean="0">
                          <a:effectLst/>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b="0" i="1" smtClean="0">
                                  <a:latin typeface="Cambria Math" panose="02040503050406030204" pitchFamily="18" charset="0"/>
                                </a:rPr>
                                <m:t>𝑘</m:t>
                              </m:r>
                            </m:sub>
                          </m:sSub>
                          <m:r>
                            <a:rPr lang="en-US" i="1">
                              <a:latin typeface="Cambria Math" panose="02040503050406030204" pitchFamily="18" charset="0"/>
                            </a:rPr>
                            <m:t>−1</m:t>
                          </m:r>
                        </m:den>
                      </m:f>
                      <m:nary>
                        <m:naryPr>
                          <m:chr m:val="∑"/>
                          <m:ctrlPr>
                            <a:rPr lang="en-US" i="1">
                              <a:latin typeface="Cambria Math" panose="02040503050406030204" pitchFamily="18" charset="0"/>
                            </a:rPr>
                          </m:ctrlPr>
                        </m:naryPr>
                        <m:sub>
                          <m:r>
                            <a:rPr lang="en-US" i="1">
                              <a:latin typeface="Cambria Math" panose="02040503050406030204" pitchFamily="18" charset="0"/>
                            </a:rPr>
                            <m:t>𝑗</m:t>
                          </m:r>
                          <m:r>
                            <a:rPr lang="en-US" i="1">
                              <a:latin typeface="Cambria Math" panose="02040503050406030204" pitchFamily="18" charset="0"/>
                            </a:rPr>
                            <m:t>=1,</m:t>
                          </m:r>
                          <m:r>
                            <a:rPr lang="en-US" i="1">
                              <a:latin typeface="Cambria Math" panose="02040503050406030204" pitchFamily="18" charset="0"/>
                            </a:rPr>
                            <m:t>𝑗</m:t>
                          </m:r>
                          <m:r>
                            <a:rPr lang="en-US" i="1">
                              <a:latin typeface="Cambria Math" panose="02040503050406030204" pitchFamily="18" charset="0"/>
                            </a:rPr>
                            <m:t>≠</m:t>
                          </m:r>
                          <m:r>
                            <m:rPr>
                              <m:sty m:val="p"/>
                            </m:rPr>
                            <a:rPr lang="en-US" i="1">
                              <a:latin typeface="Cambria Math" panose="02040503050406030204" pitchFamily="18" charset="0"/>
                            </a:rPr>
                            <m:t>i</m:t>
                          </m:r>
                        </m:sub>
                        <m:sup>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b="0" i="1" smtClean="0">
                                  <a:latin typeface="Cambria Math" panose="02040503050406030204" pitchFamily="18" charset="0"/>
                                </a:rPr>
                                <m:t>𝑘</m:t>
                              </m:r>
                            </m:sub>
                          </m:sSub>
                        </m:sup>
                        <m:e>
                          <m:r>
                            <a:rPr lang="en-US" i="1">
                              <a:latin typeface="Cambria Math" panose="02040503050406030204" pitchFamily="18" charset="0"/>
                            </a:rPr>
                            <m:t>𝜌</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𝑗</m:t>
                              </m:r>
                            </m:sub>
                          </m:sSub>
                          <m:r>
                            <a:rPr lang="en-US" i="1">
                              <a:latin typeface="Cambria Math" panose="02040503050406030204" pitchFamily="18" charset="0"/>
                            </a:rPr>
                            <m:t>)</m:t>
                          </m:r>
                        </m:e>
                      </m:nary>
                      <m:r>
                        <a:rPr lang="en-US" b="0" i="1" smtClean="0">
                          <a:latin typeface="Cambria Math" panose="02040503050406030204" pitchFamily="18" charset="0"/>
                        </a:rPr>
                        <m:t>,  </m:t>
                      </m:r>
                      <m:sSub>
                        <m:sSubPr>
                          <m:ctrlPr>
                            <a:rPr lang="en-US" i="1" smtClean="0">
                              <a:effectLst/>
                              <a:latin typeface="Cambria Math" panose="02040503050406030204" pitchFamily="18" charset="0"/>
                            </a:rPr>
                          </m:ctrlPr>
                        </m:sSubPr>
                        <m:e>
                          <m:r>
                            <a:rPr lang="en-US" b="0" i="1" smtClean="0">
                              <a:effectLst/>
                              <a:latin typeface="Cambria Math" panose="02040503050406030204" pitchFamily="18" charset="0"/>
                            </a:rPr>
                            <m:t>𝑀</m:t>
                          </m:r>
                        </m:e>
                        <m:sub>
                          <m:r>
                            <a:rPr lang="en-US" b="0" i="1" smtClean="0">
                              <a:effectLst/>
                              <a:latin typeface="Cambria Math" panose="02040503050406030204" pitchFamily="18" charset="0"/>
                            </a:rPr>
                            <m:t>𝑖𝑗</m:t>
                          </m:r>
                        </m:sub>
                      </m:sSub>
                      <m:r>
                        <a:rPr lang="en-US" b="0" i="1" smtClean="0">
                          <a:effectLst/>
                          <a:latin typeface="Cambria Math" panose="02040503050406030204" pitchFamily="18" charset="0"/>
                        </a:rPr>
                        <m:t>=</m:t>
                      </m:r>
                      <m:sSub>
                        <m:sSubPr>
                          <m:ctrlPr>
                            <a:rPr lang="en-US" b="0" i="1" smtClean="0">
                              <a:effectLst/>
                              <a:latin typeface="Cambria Math" panose="02040503050406030204" pitchFamily="18" charset="0"/>
                            </a:rPr>
                          </m:ctrlPr>
                        </m:sSubPr>
                        <m:e>
                          <m:d>
                            <m:dPr>
                              <m:begChr m:val="‖"/>
                              <m:endChr m:val="‖"/>
                              <m:ctrlPr>
                                <a:rPr lang="en-US" b="0" i="1" smtClean="0">
                                  <a:effectLst/>
                                  <a:latin typeface="Cambria Math" panose="02040503050406030204" pitchFamily="18" charset="0"/>
                                </a:rPr>
                              </m:ctrlPr>
                            </m:dPr>
                            <m:e>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𝐶</m:t>
                                  </m:r>
                                </m:e>
                                <m:sub>
                                  <m:r>
                                    <a:rPr lang="en-US" b="0" i="1" smtClean="0">
                                      <a:effectLst/>
                                      <a:latin typeface="Cambria Math" panose="02040503050406030204" pitchFamily="18" charset="0"/>
                                    </a:rPr>
                                    <m:t>𝑖</m:t>
                                  </m:r>
                                </m:sub>
                              </m:sSub>
                              <m:r>
                                <a:rPr lang="en-US" b="0" i="1" smtClean="0">
                                  <a:effectLst/>
                                  <a:latin typeface="Cambria Math" panose="02040503050406030204" pitchFamily="18" charset="0"/>
                                </a:rPr>
                                <m:t>−</m:t>
                              </m:r>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𝐶</m:t>
                                  </m:r>
                                </m:e>
                                <m:sub>
                                  <m:r>
                                    <a:rPr lang="en-US" b="0" i="1" smtClean="0">
                                      <a:effectLst/>
                                      <a:latin typeface="Cambria Math" panose="02040503050406030204" pitchFamily="18" charset="0"/>
                                    </a:rPr>
                                    <m:t>𝑗</m:t>
                                  </m:r>
                                </m:sub>
                              </m:sSub>
                            </m:e>
                          </m:d>
                        </m:e>
                        <m:sub>
                          <m:r>
                            <a:rPr lang="en-US" b="0" i="1" smtClean="0">
                              <a:effectLst/>
                              <a:latin typeface="Cambria Math" panose="02040503050406030204" pitchFamily="18" charset="0"/>
                            </a:rPr>
                            <m:t>𝑝</m:t>
                          </m:r>
                        </m:sub>
                      </m:sSub>
                    </m:oMath>
                  </m:oMathPara>
                </a14:m>
                <a:endParaRPr lang="en-US" b="0" i="0" dirty="0">
                  <a:effectLst/>
                  <a:latin typeface="YS Text"/>
                </a:endParaRPr>
              </a:p>
              <a:p>
                <a:pPr marL="0" indent="0">
                  <a:lnSpc>
                    <a:spcPct val="120000"/>
                  </a:lnSpc>
                  <a:spcBef>
                    <a:spcPts val="0"/>
                  </a:spcBef>
                  <a:buNone/>
                </a:pPr>
                <a14:m>
                  <m:oMathPara xmlns:m="http://schemas.openxmlformats.org/officeDocument/2006/math">
                    <m:oMathParaPr>
                      <m:jc m:val="centerGroup"/>
                    </m:oMathParaPr>
                    <m:oMath xmlns:m="http://schemas.openxmlformats.org/officeDocument/2006/math">
                      <m:r>
                        <a:rPr lang="en-US" b="0" i="1" smtClean="0">
                          <a:effectLst/>
                          <a:latin typeface="Cambria Math" panose="02040503050406030204" pitchFamily="18" charset="0"/>
                        </a:rPr>
                        <m:t>𝐷𝐵</m:t>
                      </m:r>
                      <m:r>
                        <a:rPr lang="en-US" b="0" i="1" smtClean="0">
                          <a:effectLst/>
                          <a:latin typeface="Cambria Math" panose="02040503050406030204" pitchFamily="18" charset="0"/>
                        </a:rPr>
                        <m:t>=</m:t>
                      </m:r>
                      <m:f>
                        <m:fPr>
                          <m:ctrlPr>
                            <a:rPr lang="en-US" b="0" i="1" smtClean="0">
                              <a:effectLst/>
                              <a:latin typeface="Cambria Math" panose="02040503050406030204" pitchFamily="18" charset="0"/>
                            </a:rPr>
                          </m:ctrlPr>
                        </m:fPr>
                        <m:num>
                          <m:r>
                            <a:rPr lang="en-US" b="0" i="1" smtClean="0">
                              <a:effectLst/>
                              <a:latin typeface="Cambria Math" panose="02040503050406030204" pitchFamily="18" charset="0"/>
                            </a:rPr>
                            <m:t>1</m:t>
                          </m:r>
                        </m:num>
                        <m:den>
                          <m:r>
                            <a:rPr lang="en-US" b="0" i="1" smtClean="0">
                              <a:effectLst/>
                              <a:latin typeface="Cambria Math" panose="02040503050406030204" pitchFamily="18" charset="0"/>
                            </a:rPr>
                            <m:t>𝐾</m:t>
                          </m:r>
                        </m:den>
                      </m:f>
                      <m:r>
                        <a:rPr lang="en-US" b="0" i="1" smtClean="0">
                          <a:effectLst/>
                          <a:latin typeface="Cambria Math" panose="02040503050406030204" pitchFamily="18" charset="0"/>
                        </a:rPr>
                        <m:t>⋅</m:t>
                      </m:r>
                      <m:nary>
                        <m:naryPr>
                          <m:chr m:val="∑"/>
                          <m:ctrlPr>
                            <a:rPr lang="en-US" b="0" i="1" smtClean="0">
                              <a:effectLst/>
                              <a:latin typeface="Cambria Math" panose="02040503050406030204" pitchFamily="18" charset="0"/>
                            </a:rPr>
                          </m:ctrlPr>
                        </m:naryPr>
                        <m:sub>
                          <m:r>
                            <a:rPr lang="en-US" b="0" i="1" smtClean="0">
                              <a:effectLst/>
                              <a:latin typeface="Cambria Math" panose="02040503050406030204" pitchFamily="18" charset="0"/>
                            </a:rPr>
                            <m:t>𝑖</m:t>
                          </m:r>
                          <m:r>
                            <a:rPr lang="en-US" b="0" i="1" smtClean="0">
                              <a:effectLst/>
                              <a:latin typeface="Cambria Math" panose="02040503050406030204" pitchFamily="18" charset="0"/>
                            </a:rPr>
                            <m:t>=1</m:t>
                          </m:r>
                        </m:sub>
                        <m:sup>
                          <m:r>
                            <a:rPr lang="en-US" b="0" i="1" smtClean="0">
                              <a:effectLst/>
                              <a:latin typeface="Cambria Math" panose="02040503050406030204" pitchFamily="18" charset="0"/>
                            </a:rPr>
                            <m:t>𝐾</m:t>
                          </m:r>
                        </m:sup>
                        <m:e>
                          <m:func>
                            <m:funcPr>
                              <m:ctrlPr>
                                <a:rPr lang="en-US" b="0" i="1" smtClean="0">
                                  <a:effectLst/>
                                  <a:latin typeface="Cambria Math" panose="02040503050406030204" pitchFamily="18" charset="0"/>
                                </a:rPr>
                              </m:ctrlPr>
                            </m:funcPr>
                            <m:fName>
                              <m:limLow>
                                <m:limLowPr>
                                  <m:ctrlPr>
                                    <a:rPr lang="en-US" b="0" i="1" smtClean="0">
                                      <a:effectLst/>
                                      <a:latin typeface="Cambria Math" panose="02040503050406030204" pitchFamily="18" charset="0"/>
                                    </a:rPr>
                                  </m:ctrlPr>
                                </m:limLowPr>
                                <m:e>
                                  <m:r>
                                    <m:rPr>
                                      <m:sty m:val="p"/>
                                    </m:rPr>
                                    <a:rPr lang="en-US" b="0" i="0" smtClean="0">
                                      <a:effectLst/>
                                      <a:latin typeface="Cambria Math" panose="02040503050406030204" pitchFamily="18" charset="0"/>
                                    </a:rPr>
                                    <m:t>max</m:t>
                                  </m:r>
                                </m:e>
                                <m:lim>
                                  <m:r>
                                    <a:rPr lang="en-US" b="0" i="1" smtClean="0">
                                      <a:effectLst/>
                                      <a:latin typeface="Cambria Math" panose="02040503050406030204" pitchFamily="18" charset="0"/>
                                    </a:rPr>
                                    <m:t>𝑗</m:t>
                                  </m:r>
                                  <m:r>
                                    <a:rPr lang="en-US" b="0" i="1" smtClean="0">
                                      <a:effectLst/>
                                      <a:latin typeface="Cambria Math" panose="02040503050406030204" pitchFamily="18" charset="0"/>
                                    </a:rPr>
                                    <m:t>≠</m:t>
                                  </m:r>
                                  <m:r>
                                    <a:rPr lang="en-US" b="0" i="1" smtClean="0">
                                      <a:effectLst/>
                                      <a:latin typeface="Cambria Math" panose="02040503050406030204" pitchFamily="18" charset="0"/>
                                    </a:rPr>
                                    <m:t>𝑖</m:t>
                                  </m:r>
                                </m:lim>
                              </m:limLow>
                            </m:fName>
                            <m:e>
                              <m:d>
                                <m:dPr>
                                  <m:ctrlPr>
                                    <a:rPr lang="en-US" b="0" i="1" smtClean="0">
                                      <a:effectLst/>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𝑗</m:t>
                                          </m:r>
                                        </m:sub>
                                      </m:sSub>
                                    </m:num>
                                    <m:den>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𝑖𝑗</m:t>
                                          </m:r>
                                        </m:sub>
                                      </m:sSub>
                                    </m:den>
                                  </m:f>
                                </m:e>
                              </m:d>
                            </m:e>
                          </m:func>
                        </m:e>
                      </m:nary>
                    </m:oMath>
                  </m:oMathPara>
                </a14:m>
                <a:endParaRPr lang="ru-RU" i="0" dirty="0">
                  <a:effectLst/>
                  <a:latin typeface="YS Text"/>
                </a:endParaRPr>
              </a:p>
              <a:p>
                <a:r>
                  <a:rPr lang="ru-RU" b="1" i="0" dirty="0">
                    <a:effectLst/>
                    <a:latin typeface="YS Text"/>
                  </a:rPr>
                  <a:t>Коэффициент силуэта (выше лучше)</a:t>
                </a:r>
                <a:endParaRPr lang="en-US" b="1" i="0" dirty="0">
                  <a:effectLst/>
                  <a:latin typeface="YS Text"/>
                </a:endParaRPr>
              </a:p>
              <a:p>
                <a:pPr marL="0" indent="0">
                  <a:buNone/>
                </a:pPr>
                <a14:m>
                  <m:oMathPara xmlns:m="http://schemas.openxmlformats.org/officeDocument/2006/math">
                    <m:oMathParaPr>
                      <m:jc m:val="centerGroup"/>
                    </m:oMathParaPr>
                    <m:oMath xmlns:m="http://schemas.openxmlformats.org/officeDocument/2006/math">
                      <m:r>
                        <a:rPr lang="en-US" b="0" i="1" smtClean="0">
                          <a:effectLst/>
                          <a:latin typeface="Cambria Math" panose="02040503050406030204" pitchFamily="18" charset="0"/>
                        </a:rPr>
                        <m:t>𝑆</m:t>
                      </m:r>
                      <m:d>
                        <m:dPr>
                          <m:ctrlPr>
                            <a:rPr lang="en-US" b="0" i="1" smtClean="0">
                              <a:effectLst/>
                              <a:latin typeface="Cambria Math" panose="02040503050406030204" pitchFamily="18" charset="0"/>
                            </a:rPr>
                          </m:ctrlPr>
                        </m:dPr>
                        <m:e>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𝑥</m:t>
                              </m:r>
                            </m:e>
                            <m:sub>
                              <m:r>
                                <a:rPr lang="en-US" b="0" i="1" smtClean="0">
                                  <a:effectLst/>
                                  <a:latin typeface="Cambria Math" panose="02040503050406030204" pitchFamily="18" charset="0"/>
                                </a:rPr>
                                <m:t>𝑖</m:t>
                              </m:r>
                            </m:sub>
                          </m:sSub>
                        </m:e>
                      </m:d>
                      <m:r>
                        <a:rPr lang="en-US" b="0" i="1" smtClean="0">
                          <a:effectLst/>
                          <a:latin typeface="Cambria Math" panose="02040503050406030204" pitchFamily="18" charset="0"/>
                        </a:rPr>
                        <m:t>=</m:t>
                      </m:r>
                      <m:f>
                        <m:fPr>
                          <m:ctrlPr>
                            <a:rPr lang="en-US" b="0" i="1" smtClean="0">
                              <a:effectLst/>
                              <a:latin typeface="Cambria Math" panose="02040503050406030204" pitchFamily="18" charset="0"/>
                            </a:rPr>
                          </m:ctrlPr>
                        </m:fPr>
                        <m:num>
                          <m:r>
                            <a:rPr lang="en-US" b="0" i="1" smtClean="0">
                              <a:effectLst/>
                              <a:latin typeface="Cambria Math" panose="02040503050406030204" pitchFamily="18" charset="0"/>
                            </a:rPr>
                            <m:t>𝐵</m:t>
                          </m:r>
                          <m:r>
                            <a:rPr lang="en-US" b="0" i="1" smtClean="0">
                              <a:effectLst/>
                              <a:latin typeface="Cambria Math" panose="02040503050406030204" pitchFamily="18" charset="0"/>
                            </a:rPr>
                            <m:t>(</m:t>
                          </m:r>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𝑥</m:t>
                              </m:r>
                            </m:e>
                            <m:sub>
                              <m:r>
                                <a:rPr lang="en-US" b="0" i="1" smtClean="0">
                                  <a:effectLst/>
                                  <a:latin typeface="Cambria Math" panose="02040503050406030204" pitchFamily="18" charset="0"/>
                                </a:rPr>
                                <m:t>𝑖</m:t>
                              </m:r>
                            </m:sub>
                          </m:sSub>
                          <m:r>
                            <a:rPr lang="en-US" b="0" i="1" smtClean="0">
                              <a:effectLst/>
                              <a:latin typeface="Cambria Math" panose="02040503050406030204" pitchFamily="18" charset="0"/>
                            </a:rPr>
                            <m:t>)−</m:t>
                          </m:r>
                          <m:r>
                            <a:rPr lang="en-US" b="0" i="1" smtClean="0">
                              <a:effectLst/>
                              <a:latin typeface="Cambria Math" panose="02040503050406030204" pitchFamily="18" charset="0"/>
                            </a:rPr>
                            <m:t>𝐴</m:t>
                          </m:r>
                          <m:r>
                            <a:rPr lang="en-US" b="0" i="1" smtClean="0">
                              <a:effectLst/>
                              <a:latin typeface="Cambria Math" panose="02040503050406030204" pitchFamily="18" charset="0"/>
                            </a:rPr>
                            <m:t>(</m:t>
                          </m:r>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𝑥</m:t>
                              </m:r>
                            </m:e>
                            <m:sub>
                              <m:r>
                                <a:rPr lang="en-US" b="0" i="1" smtClean="0">
                                  <a:effectLst/>
                                  <a:latin typeface="Cambria Math" panose="02040503050406030204" pitchFamily="18" charset="0"/>
                                </a:rPr>
                                <m:t>𝑖</m:t>
                              </m:r>
                            </m:sub>
                          </m:sSub>
                          <m:r>
                            <a:rPr lang="en-US" b="0" i="1" smtClean="0">
                              <a:effectLst/>
                              <a:latin typeface="Cambria Math" panose="02040503050406030204" pitchFamily="18" charset="0"/>
                            </a:rPr>
                            <m:t>)</m:t>
                          </m:r>
                        </m:num>
                        <m:den>
                          <m:r>
                            <m:rPr>
                              <m:sty m:val="p"/>
                            </m:rPr>
                            <a:rPr lang="en-US" b="0" i="0" smtClean="0">
                              <a:effectLst/>
                              <a:latin typeface="Cambria Math" panose="02040503050406030204" pitchFamily="18" charset="0"/>
                            </a:rPr>
                            <m:t>max</m:t>
                          </m:r>
                          <m:r>
                            <a:rPr lang="en-US" b="0" i="1" smtClean="0">
                              <a:effectLst/>
                              <a:latin typeface="Cambria Math" panose="02040503050406030204" pitchFamily="18" charset="0"/>
                            </a:rPr>
                            <m:t>⁡(</m:t>
                          </m:r>
                          <m:r>
                            <a:rPr lang="en-US" b="0" i="1" smtClean="0">
                              <a:effectLst/>
                              <a:latin typeface="Cambria Math" panose="02040503050406030204" pitchFamily="18" charset="0"/>
                            </a:rPr>
                            <m:t>𝐴</m:t>
                          </m:r>
                          <m:r>
                            <a:rPr lang="en-US" b="0" i="1" smtClean="0">
                              <a:effectLst/>
                              <a:latin typeface="Cambria Math" panose="02040503050406030204" pitchFamily="18" charset="0"/>
                            </a:rPr>
                            <m:t>(</m:t>
                          </m:r>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𝑥</m:t>
                              </m:r>
                            </m:e>
                            <m:sub>
                              <m:r>
                                <a:rPr lang="en-US" b="0" i="1" smtClean="0">
                                  <a:effectLst/>
                                  <a:latin typeface="Cambria Math" panose="02040503050406030204" pitchFamily="18" charset="0"/>
                                </a:rPr>
                                <m:t>𝑖</m:t>
                              </m:r>
                            </m:sub>
                          </m:sSub>
                          <m:r>
                            <a:rPr lang="en-US" b="0" i="1" smtClean="0">
                              <a:effectLst/>
                              <a:latin typeface="Cambria Math" panose="02040503050406030204" pitchFamily="18" charset="0"/>
                            </a:rPr>
                            <m:t>),</m:t>
                          </m:r>
                          <m:r>
                            <a:rPr lang="en-US" b="0" i="1" smtClean="0">
                              <a:effectLst/>
                              <a:latin typeface="Cambria Math" panose="02040503050406030204" pitchFamily="18" charset="0"/>
                            </a:rPr>
                            <m:t>𝐵</m:t>
                          </m:r>
                          <m:r>
                            <a:rPr lang="en-US" b="0" i="1" smtClean="0">
                              <a:effectLst/>
                              <a:latin typeface="Cambria Math" panose="02040503050406030204" pitchFamily="18" charset="0"/>
                            </a:rPr>
                            <m:t>(</m:t>
                          </m:r>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𝑥</m:t>
                              </m:r>
                            </m:e>
                            <m:sub>
                              <m:r>
                                <a:rPr lang="en-US" b="0" i="1" smtClean="0">
                                  <a:effectLst/>
                                  <a:latin typeface="Cambria Math" panose="02040503050406030204" pitchFamily="18" charset="0"/>
                                </a:rPr>
                                <m:t>𝑖</m:t>
                              </m:r>
                            </m:sub>
                          </m:sSub>
                          <m:r>
                            <a:rPr lang="en-US" b="0" i="1" smtClean="0">
                              <a:effectLst/>
                              <a:latin typeface="Cambria Math" panose="02040503050406030204" pitchFamily="18" charset="0"/>
                            </a:rPr>
                            <m:t>))</m:t>
                          </m:r>
                        </m:den>
                      </m:f>
                      <m:r>
                        <a:rPr lang="en-US" b="0" i="1" smtClean="0">
                          <a:effectLst/>
                          <a:latin typeface="Cambria Math" panose="02040503050406030204" pitchFamily="18" charset="0"/>
                        </a:rPr>
                        <m:t>,  </m:t>
                      </m:r>
                      <m:r>
                        <a:rPr lang="en-US" b="0" i="1" smtClean="0">
                          <a:effectLst/>
                          <a:latin typeface="Cambria Math" panose="02040503050406030204" pitchFamily="18" charset="0"/>
                        </a:rPr>
                        <m:t>𝐵</m:t>
                      </m:r>
                      <m:d>
                        <m:dPr>
                          <m:ctrlPr>
                            <a:rPr lang="en-US" b="0" i="1" smtClean="0">
                              <a:effectLst/>
                              <a:latin typeface="Cambria Math" panose="02040503050406030204" pitchFamily="18" charset="0"/>
                            </a:rPr>
                          </m:ctrlPr>
                        </m:dPr>
                        <m:e>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𝑥</m:t>
                              </m:r>
                            </m:e>
                            <m:sub>
                              <m:r>
                                <a:rPr lang="en-US" b="0" i="1" smtClean="0">
                                  <a:effectLst/>
                                  <a:latin typeface="Cambria Math" panose="02040503050406030204" pitchFamily="18" charset="0"/>
                                </a:rPr>
                                <m:t>𝑖</m:t>
                              </m:r>
                            </m:sub>
                          </m:sSub>
                        </m:e>
                      </m:d>
                      <m:r>
                        <a:rPr lang="en-US" b="0" i="1" smtClean="0">
                          <a:effectLst/>
                          <a:latin typeface="Cambria Math" panose="02040503050406030204" pitchFamily="18" charset="0"/>
                        </a:rPr>
                        <m:t>=</m:t>
                      </m:r>
                      <m:f>
                        <m:fPr>
                          <m:ctrlPr>
                            <a:rPr lang="en-US" b="0" i="1" smtClean="0">
                              <a:effectLst/>
                              <a:latin typeface="Cambria Math" panose="02040503050406030204" pitchFamily="18" charset="0"/>
                            </a:rPr>
                          </m:ctrlPr>
                        </m:fPr>
                        <m:num>
                          <m:r>
                            <a:rPr lang="en-US" b="0" i="1" smtClean="0">
                              <a:effectLst/>
                              <a:latin typeface="Cambria Math" panose="02040503050406030204" pitchFamily="18" charset="0"/>
                            </a:rPr>
                            <m:t>1</m:t>
                          </m:r>
                        </m:num>
                        <m:den>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𝑁</m:t>
                              </m:r>
                            </m:e>
                            <m:sub>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𝑘</m:t>
                                  </m:r>
                                </m:e>
                                <m:sub>
                                  <m:r>
                                    <a:rPr lang="en-US" b="0" i="1" smtClean="0">
                                      <a:effectLst/>
                                      <a:latin typeface="Cambria Math" panose="02040503050406030204" pitchFamily="18" charset="0"/>
                                    </a:rPr>
                                    <m:t>2</m:t>
                                  </m:r>
                                </m:sub>
                              </m:sSub>
                            </m:sub>
                          </m:sSub>
                        </m:den>
                      </m:f>
                      <m:nary>
                        <m:naryPr>
                          <m:chr m:val="∑"/>
                          <m:ctrlPr>
                            <a:rPr lang="en-US" b="0" i="1" smtClean="0">
                              <a:effectLst/>
                              <a:latin typeface="Cambria Math" panose="02040503050406030204" pitchFamily="18" charset="0"/>
                            </a:rPr>
                          </m:ctrlPr>
                        </m:naryPr>
                        <m:sub>
                          <m:r>
                            <a:rPr lang="en-US" b="0" i="1" smtClean="0">
                              <a:effectLst/>
                              <a:latin typeface="Cambria Math" panose="02040503050406030204" pitchFamily="18" charset="0"/>
                            </a:rPr>
                            <m:t>𝑗</m:t>
                          </m:r>
                          <m:r>
                            <a:rPr lang="en-US" b="0" i="1" smtClean="0">
                              <a:effectLst/>
                              <a:latin typeface="Cambria Math" panose="02040503050406030204" pitchFamily="18" charset="0"/>
                            </a:rPr>
                            <m:t>=1</m:t>
                          </m:r>
                        </m:sub>
                        <m:sup>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𝑁</m:t>
                              </m:r>
                            </m:e>
                            <m:sub>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𝑘</m:t>
                                  </m:r>
                                </m:e>
                                <m:sub>
                                  <m:r>
                                    <a:rPr lang="en-US" b="0" i="1" smtClean="0">
                                      <a:effectLst/>
                                      <a:latin typeface="Cambria Math" panose="02040503050406030204" pitchFamily="18" charset="0"/>
                                    </a:rPr>
                                    <m:t>2</m:t>
                                  </m:r>
                                </m:sub>
                              </m:sSub>
                            </m:sub>
                          </m:sSub>
                        </m:sup>
                        <m:e>
                          <m:r>
                            <a:rPr lang="en-US" b="0" i="1" smtClean="0">
                              <a:effectLst/>
                              <a:latin typeface="Cambria Math" panose="02040503050406030204" pitchFamily="18" charset="0"/>
                            </a:rPr>
                            <m:t>𝜌</m:t>
                          </m:r>
                          <m:r>
                            <a:rPr lang="en-US" b="0" i="1" smtClean="0">
                              <a:effectLst/>
                              <a:latin typeface="Cambria Math" panose="02040503050406030204" pitchFamily="18" charset="0"/>
                            </a:rPr>
                            <m:t>(</m:t>
                          </m:r>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𝑥</m:t>
                              </m:r>
                            </m:e>
                            <m:sub>
                              <m:r>
                                <a:rPr lang="en-US" b="0" i="1" smtClean="0">
                                  <a:effectLst/>
                                  <a:latin typeface="Cambria Math" panose="02040503050406030204" pitchFamily="18" charset="0"/>
                                </a:rPr>
                                <m:t>𝑖</m:t>
                              </m:r>
                            </m:sub>
                          </m:sSub>
                          <m:r>
                            <a:rPr lang="en-US" b="0" i="1" smtClean="0">
                              <a:effectLst/>
                              <a:latin typeface="Cambria Math" panose="02040503050406030204" pitchFamily="18" charset="0"/>
                            </a:rPr>
                            <m:t>, </m:t>
                          </m:r>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𝑥</m:t>
                              </m:r>
                            </m:e>
                            <m:sub>
                              <m:r>
                                <a:rPr lang="en-US" b="0" i="1" smtClean="0">
                                  <a:effectLst/>
                                  <a:latin typeface="Cambria Math" panose="02040503050406030204" pitchFamily="18" charset="0"/>
                                </a:rPr>
                                <m:t>𝑗</m:t>
                              </m:r>
                            </m:sub>
                          </m:sSub>
                          <m:r>
                            <a:rPr lang="en-US" b="0" i="1" smtClean="0">
                              <a:effectLst/>
                              <a:latin typeface="Cambria Math" panose="02040503050406030204" pitchFamily="18" charset="0"/>
                            </a:rPr>
                            <m:t>)</m:t>
                          </m:r>
                        </m:e>
                      </m:nary>
                      <m:r>
                        <a:rPr lang="en-US" b="0" i="1" smtClean="0">
                          <a:effectLst/>
                          <a:latin typeface="Cambria Math" panose="02040503050406030204" pitchFamily="18" charset="0"/>
                        </a:rPr>
                        <m:t>,  </m:t>
                      </m:r>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𝑥</m:t>
                          </m:r>
                        </m:e>
                        <m:sub>
                          <m:r>
                            <a:rPr lang="en-US" b="0" i="1" smtClean="0">
                              <a:effectLst/>
                              <a:latin typeface="Cambria Math" panose="02040503050406030204" pitchFamily="18" charset="0"/>
                            </a:rPr>
                            <m:t>𝑖</m:t>
                          </m:r>
                        </m:sub>
                      </m:sSub>
                      <m:r>
                        <a:rPr lang="en-US" b="0" i="1" smtClean="0">
                          <a:effectLst/>
                          <a:latin typeface="Cambria Math" panose="02040503050406030204" pitchFamily="18" charset="0"/>
                        </a:rPr>
                        <m:t>∈</m:t>
                      </m:r>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𝑘</m:t>
                          </m:r>
                        </m:e>
                        <m:sub>
                          <m:r>
                            <a:rPr lang="en-US" b="0" i="1" smtClean="0">
                              <a:effectLst/>
                              <a:latin typeface="Cambria Math" panose="02040503050406030204" pitchFamily="18" charset="0"/>
                            </a:rPr>
                            <m:t>1</m:t>
                          </m:r>
                        </m:sub>
                      </m:sSub>
                      <m:r>
                        <a:rPr lang="en-US" b="0" i="1" smtClean="0">
                          <a:effectLst/>
                          <a:latin typeface="Cambria Math" panose="02040503050406030204" pitchFamily="18" charset="0"/>
                        </a:rPr>
                        <m:t>, </m:t>
                      </m:r>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𝑥</m:t>
                          </m:r>
                        </m:e>
                        <m:sub>
                          <m:r>
                            <a:rPr lang="en-US" b="0" i="1" smtClean="0">
                              <a:effectLst/>
                              <a:latin typeface="Cambria Math" panose="02040503050406030204" pitchFamily="18" charset="0"/>
                            </a:rPr>
                            <m:t>𝑗</m:t>
                          </m:r>
                        </m:sub>
                      </m:sSub>
                      <m:r>
                        <a:rPr lang="en-US" b="0" i="1" smtClean="0">
                          <a:effectLst/>
                          <a:latin typeface="Cambria Math" panose="02040503050406030204" pitchFamily="18" charset="0"/>
                        </a:rPr>
                        <m:t>∈</m:t>
                      </m:r>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𝑘</m:t>
                          </m:r>
                        </m:e>
                        <m:sub>
                          <m:r>
                            <a:rPr lang="en-US" b="0" i="1" smtClean="0">
                              <a:effectLst/>
                              <a:latin typeface="Cambria Math" panose="02040503050406030204" pitchFamily="18" charset="0"/>
                            </a:rPr>
                            <m:t>2</m:t>
                          </m:r>
                        </m:sub>
                      </m:sSub>
                    </m:oMath>
                  </m:oMathPara>
                </a14:m>
                <a:endParaRPr lang="ru-RU" b="1" i="0" dirty="0">
                  <a:effectLst/>
                  <a:latin typeface="YS Text"/>
                </a:endParaRPr>
              </a:p>
              <a:p>
                <a:r>
                  <a:rPr lang="ru-RU" b="1" i="0" dirty="0">
                    <a:effectLst/>
                    <a:latin typeface="YS Text"/>
                  </a:rPr>
                  <a:t>Индекс Данна (выше лучше)</a:t>
                </a:r>
              </a:p>
              <a:p>
                <a:pPr marL="0" indent="0">
                  <a:buNone/>
                </a:pPr>
                <a14:m>
                  <m:oMathPara xmlns:m="http://schemas.openxmlformats.org/officeDocument/2006/math">
                    <m:oMathParaPr>
                      <m:jc m:val="centerGroup"/>
                    </m:oMathParaPr>
                    <m:oMath xmlns:m="http://schemas.openxmlformats.org/officeDocument/2006/math">
                      <m:r>
                        <a:rPr lang="en-US" b="0" i="1" smtClean="0">
                          <a:effectLst/>
                          <a:latin typeface="Cambria Math" panose="02040503050406030204" pitchFamily="18" charset="0"/>
                        </a:rPr>
                        <m:t>𝐷𝑢𝑛𝑛</m:t>
                      </m:r>
                      <m:r>
                        <a:rPr lang="en-US" b="0" i="1" smtClean="0">
                          <a:effectLst/>
                          <a:latin typeface="Cambria Math" panose="02040503050406030204" pitchFamily="18" charset="0"/>
                        </a:rPr>
                        <m:t>=</m:t>
                      </m:r>
                      <m:func>
                        <m:funcPr>
                          <m:ctrlPr>
                            <a:rPr lang="en-US" b="0" i="1" smtClean="0">
                              <a:effectLst/>
                              <a:latin typeface="Cambria Math" panose="02040503050406030204" pitchFamily="18" charset="0"/>
                            </a:rPr>
                          </m:ctrlPr>
                        </m:funcPr>
                        <m:fName>
                          <m:limLow>
                            <m:limLowPr>
                              <m:ctrlPr>
                                <a:rPr lang="en-US" b="0" i="1" smtClean="0">
                                  <a:effectLst/>
                                  <a:latin typeface="Cambria Math" panose="02040503050406030204" pitchFamily="18" charset="0"/>
                                </a:rPr>
                              </m:ctrlPr>
                            </m:limLowPr>
                            <m:e>
                              <m:r>
                                <m:rPr>
                                  <m:sty m:val="p"/>
                                </m:rPr>
                                <a:rPr lang="en-US" b="0" i="0" smtClean="0">
                                  <a:effectLst/>
                                  <a:latin typeface="Cambria Math" panose="02040503050406030204" pitchFamily="18" charset="0"/>
                                </a:rPr>
                                <m:t>min</m:t>
                              </m:r>
                            </m:e>
                            <m:lim>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∈1,…, </m:t>
                              </m:r>
                              <m:r>
                                <a:rPr lang="en-US" i="1">
                                  <a:latin typeface="Cambria Math" panose="02040503050406030204" pitchFamily="18" charset="0"/>
                                </a:rPr>
                                <m:t>𝐾</m:t>
                              </m:r>
                            </m:lim>
                          </m:limLow>
                        </m:fName>
                        <m:e>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𝐷</m:t>
                              </m:r>
                            </m:e>
                            <m:sub>
                              <m:r>
                                <a:rPr lang="en-US" b="0" i="1" smtClean="0">
                                  <a:effectLst/>
                                  <a:latin typeface="Cambria Math" panose="02040503050406030204" pitchFamily="18" charset="0"/>
                                </a:rPr>
                                <m:t>1</m:t>
                              </m:r>
                            </m:sub>
                          </m:sSub>
                          <m:d>
                            <m:dPr>
                              <m:ctrlPr>
                                <a:rPr lang="en-US" b="0" i="1" smtClean="0">
                                  <a:effectLst/>
                                  <a:latin typeface="Cambria Math" panose="02040503050406030204" pitchFamily="18" charset="0"/>
                                </a:rPr>
                              </m:ctrlPr>
                            </m:dPr>
                            <m:e>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𝑘</m:t>
                                  </m:r>
                                </m:e>
                                <m:sub>
                                  <m:r>
                                    <a:rPr lang="en-US" b="0" i="1" smtClean="0">
                                      <a:effectLst/>
                                      <a:latin typeface="Cambria Math" panose="02040503050406030204" pitchFamily="18" charset="0"/>
                                    </a:rPr>
                                    <m:t>𝑖</m:t>
                                  </m:r>
                                </m:sub>
                              </m:sSub>
                              <m:r>
                                <a:rPr lang="en-US" b="0" i="1" smtClean="0">
                                  <a:effectLst/>
                                  <a:latin typeface="Cambria Math" panose="02040503050406030204" pitchFamily="18" charset="0"/>
                                </a:rPr>
                                <m:t>,</m:t>
                              </m:r>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𝑘</m:t>
                                  </m:r>
                                </m:e>
                                <m:sub>
                                  <m:r>
                                    <a:rPr lang="en-US" b="0" i="1" smtClean="0">
                                      <a:effectLst/>
                                      <a:latin typeface="Cambria Math" panose="02040503050406030204" pitchFamily="18" charset="0"/>
                                    </a:rPr>
                                    <m:t>𝑗</m:t>
                                  </m:r>
                                </m:sub>
                              </m:sSub>
                            </m:e>
                          </m:d>
                        </m:e>
                      </m:func>
                      <m:r>
                        <a:rPr lang="en-US" b="0" i="1" smtClean="0">
                          <a:effectLst/>
                          <a:latin typeface="Cambria Math" panose="02040503050406030204" pitchFamily="18" charset="0"/>
                        </a:rPr>
                        <m:t>/</m:t>
                      </m:r>
                      <m:func>
                        <m:funcPr>
                          <m:ctrlPr>
                            <a:rPr lang="en-US" b="0" i="1" smtClean="0">
                              <a:effectLst/>
                              <a:latin typeface="Cambria Math" panose="02040503050406030204" pitchFamily="18" charset="0"/>
                            </a:rPr>
                          </m:ctrlPr>
                        </m:funcPr>
                        <m:fName>
                          <m:limLow>
                            <m:limLowPr>
                              <m:ctrlPr>
                                <a:rPr lang="en-US" b="0" i="1" smtClean="0">
                                  <a:effectLst/>
                                  <a:latin typeface="Cambria Math" panose="02040503050406030204" pitchFamily="18" charset="0"/>
                                </a:rPr>
                              </m:ctrlPr>
                            </m:limLowPr>
                            <m:e>
                              <m:r>
                                <m:rPr>
                                  <m:sty m:val="p"/>
                                </m:rPr>
                                <a:rPr lang="en-US" b="0" i="0" smtClean="0">
                                  <a:effectLst/>
                                  <a:latin typeface="Cambria Math" panose="02040503050406030204" pitchFamily="18" charset="0"/>
                                </a:rPr>
                                <m:t>max</m:t>
                              </m:r>
                            </m:e>
                            <m:lim>
                              <m:r>
                                <a:rPr lang="en-US" b="0" i="1" smtClean="0">
                                  <a:effectLst/>
                                  <a:latin typeface="Cambria Math" panose="02040503050406030204" pitchFamily="18" charset="0"/>
                                </a:rPr>
                                <m:t>𝑙</m:t>
                              </m:r>
                              <m:r>
                                <a:rPr lang="en-US" b="0" i="1" smtClean="0">
                                  <a:effectLst/>
                                  <a:latin typeface="Cambria Math" panose="02040503050406030204" pitchFamily="18" charset="0"/>
                                </a:rPr>
                                <m:t>∈1,…, </m:t>
                              </m:r>
                              <m:r>
                                <a:rPr lang="en-US" b="0" i="1" smtClean="0">
                                  <a:effectLst/>
                                  <a:latin typeface="Cambria Math" panose="02040503050406030204" pitchFamily="18" charset="0"/>
                                </a:rPr>
                                <m:t>𝐾</m:t>
                              </m:r>
                            </m:lim>
                          </m:limLow>
                        </m:fName>
                        <m:e>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𝑁</m:t>
                              </m:r>
                            </m:e>
                            <m:sub>
                              <m:r>
                                <a:rPr lang="en-US" b="0" i="1" smtClean="0">
                                  <a:effectLst/>
                                  <a:latin typeface="Cambria Math" panose="02040503050406030204" pitchFamily="18" charset="0"/>
                                </a:rPr>
                                <m:t>𝑙</m:t>
                              </m:r>
                            </m:sub>
                          </m:sSub>
                        </m:e>
                      </m:func>
                    </m:oMath>
                  </m:oMathPara>
                </a14:m>
                <a:endParaRPr lang="ru-RU" i="0" dirty="0">
                  <a:effectLst/>
                  <a:latin typeface="YS Text"/>
                </a:endParaRPr>
              </a:p>
              <a:p>
                <a:pPr marL="0" indent="0">
                  <a:buNone/>
                </a:pPr>
                <a:endParaRPr lang="ru-RU" dirty="0"/>
              </a:p>
            </p:txBody>
          </p:sp>
        </mc:Choice>
        <mc:Fallback>
          <p:sp>
            <p:nvSpPr>
              <p:cNvPr id="3" name="Объект 2">
                <a:extLst>
                  <a:ext uri="{FF2B5EF4-FFF2-40B4-BE49-F238E27FC236}">
                    <a16:creationId xmlns:a16="http://schemas.microsoft.com/office/drawing/2014/main" id="{EDF37A93-AE60-195C-3562-38D21D5F22C9}"/>
                  </a:ext>
                </a:extLst>
              </p:cNvPr>
              <p:cNvSpPr>
                <a:spLocks noGrp="1" noRot="1" noChangeAspect="1" noMove="1" noResize="1" noEditPoints="1" noAdjustHandles="1" noChangeArrowheads="1" noChangeShapeType="1" noTextEdit="1"/>
              </p:cNvSpPr>
              <p:nvPr>
                <p:ph idx="1"/>
              </p:nvPr>
            </p:nvSpPr>
            <p:spPr>
              <a:xfrm>
                <a:off x="628650" y="914400"/>
                <a:ext cx="7886700" cy="5262563"/>
              </a:xfrm>
              <a:blipFill>
                <a:blip r:embed="rId3"/>
                <a:stretch>
                  <a:fillRect l="-773" t="-1275"/>
                </a:stretch>
              </a:blipFill>
            </p:spPr>
            <p:txBody>
              <a:bodyPr/>
              <a:lstStyle/>
              <a:p>
                <a:r>
                  <a:rPr lang="ru-RU">
                    <a:noFill/>
                  </a:rPr>
                  <a:t> </a:t>
                </a:r>
              </a:p>
            </p:txBody>
          </p:sp>
        </mc:Fallback>
      </mc:AlternateContent>
      <p:sp>
        <p:nvSpPr>
          <p:cNvPr id="4" name="Нижний колонтитул 3">
            <a:extLst>
              <a:ext uri="{FF2B5EF4-FFF2-40B4-BE49-F238E27FC236}">
                <a16:creationId xmlns:a16="http://schemas.microsoft.com/office/drawing/2014/main" id="{659AC693-5400-1B06-4011-ECEDC46F37DD}"/>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45994B7C-84BF-0BF6-49AE-EDC218315287}"/>
              </a:ext>
            </a:extLst>
          </p:cNvPr>
          <p:cNvSpPr>
            <a:spLocks noGrp="1"/>
          </p:cNvSpPr>
          <p:nvPr>
            <p:ph type="sldNum" sz="quarter" idx="12"/>
          </p:nvPr>
        </p:nvSpPr>
        <p:spPr/>
        <p:txBody>
          <a:bodyPr/>
          <a:lstStyle/>
          <a:p>
            <a:fld id="{81C5FB71-5E9C-41B5-9BB8-3F1EBEAEB16A}" type="slidenum">
              <a:rPr lang="ru-RU" smtClean="0"/>
              <a:t>12</a:t>
            </a:fld>
            <a:endParaRPr lang="ru-RU"/>
          </a:p>
        </p:txBody>
      </p:sp>
    </p:spTree>
    <p:extLst>
      <p:ext uri="{BB962C8B-B14F-4D97-AF65-F5344CB8AC3E}">
        <p14:creationId xmlns:p14="http://schemas.microsoft.com/office/powerpoint/2010/main" val="4938961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6750FA7-3057-B6A8-FDF7-EADC4A24ED2A}"/>
              </a:ext>
            </a:extLst>
          </p:cNvPr>
          <p:cNvSpPr>
            <a:spLocks noGrp="1"/>
          </p:cNvSpPr>
          <p:nvPr>
            <p:ph type="title"/>
          </p:nvPr>
        </p:nvSpPr>
        <p:spPr/>
        <p:txBody>
          <a:bodyPr/>
          <a:lstStyle/>
          <a:p>
            <a:r>
              <a:rPr lang="ru-RU" dirty="0"/>
              <a:t>Нормализация и стандартизация данных</a:t>
            </a:r>
          </a:p>
        </p:txBody>
      </p:sp>
      <p:sp>
        <p:nvSpPr>
          <p:cNvPr id="3" name="Объект 2">
            <a:extLst>
              <a:ext uri="{FF2B5EF4-FFF2-40B4-BE49-F238E27FC236}">
                <a16:creationId xmlns:a16="http://schemas.microsoft.com/office/drawing/2014/main" id="{A430B494-A02E-3797-6008-EEB65FE6C69D}"/>
              </a:ext>
            </a:extLst>
          </p:cNvPr>
          <p:cNvSpPr>
            <a:spLocks noGrp="1"/>
          </p:cNvSpPr>
          <p:nvPr>
            <p:ph idx="1"/>
          </p:nvPr>
        </p:nvSpPr>
        <p:spPr/>
        <p:txBody>
          <a:bodyPr/>
          <a:lstStyle/>
          <a:p>
            <a:pPr marL="0" indent="0">
              <a:buNone/>
            </a:pPr>
            <a:r>
              <a:rPr lang="ru-RU" sz="2000" dirty="0"/>
              <a:t>В общем случае формула нормализации выглядит так:</a:t>
            </a:r>
          </a:p>
          <a:p>
            <a:pPr marL="0" indent="0">
              <a:buNone/>
            </a:pPr>
            <a:endParaRPr lang="ru-RU" sz="2000" dirty="0"/>
          </a:p>
          <a:p>
            <a:pPr marL="0" indent="0">
              <a:buNone/>
            </a:pPr>
            <a:endParaRPr lang="ru-RU" sz="2000" dirty="0"/>
          </a:p>
          <a:p>
            <a:pPr marL="0" indent="0">
              <a:buNone/>
            </a:pPr>
            <a:endParaRPr lang="ru-RU" sz="2000" dirty="0"/>
          </a:p>
          <a:p>
            <a:pPr marL="0" indent="0">
              <a:buNone/>
            </a:pPr>
            <a:r>
              <a:rPr lang="ru-RU" sz="2000" b="0" i="0" u="none" strike="noStrike" baseline="0" dirty="0">
                <a:solidFill>
                  <a:srgbClr val="000000"/>
                </a:solidFill>
                <a:latin typeface="PetersburgC"/>
              </a:rPr>
              <a:t>где </a:t>
            </a:r>
            <a:r>
              <a:rPr lang="ru-RU" sz="2000" b="0" i="0" u="none" strike="noStrike" baseline="0" dirty="0" err="1">
                <a:solidFill>
                  <a:srgbClr val="000000"/>
                </a:solidFill>
                <a:latin typeface="PetersburgC"/>
              </a:rPr>
              <a:t>min</a:t>
            </a:r>
            <a:r>
              <a:rPr lang="ru-RU" sz="2000" b="0" i="0" u="none" strike="noStrike" baseline="30000" dirty="0">
                <a:solidFill>
                  <a:srgbClr val="000000"/>
                </a:solidFill>
                <a:latin typeface="PetersburgC"/>
              </a:rPr>
              <a:t>(</a:t>
            </a:r>
            <a:r>
              <a:rPr lang="ru-RU" sz="2000" b="0" i="1" u="none" strike="noStrike" baseline="30000" dirty="0">
                <a:solidFill>
                  <a:srgbClr val="000000"/>
                </a:solidFill>
                <a:latin typeface="PetersburgC"/>
              </a:rPr>
              <a:t>j</a:t>
            </a:r>
            <a:r>
              <a:rPr lang="ru-RU" sz="2000" b="0" i="0" u="none" strike="noStrike" baseline="30000" dirty="0">
                <a:solidFill>
                  <a:srgbClr val="000000"/>
                </a:solidFill>
                <a:latin typeface="PetersburgC"/>
              </a:rPr>
              <a:t>) </a:t>
            </a:r>
            <a:r>
              <a:rPr lang="ru-RU" sz="2000" b="0" i="0" u="none" strike="noStrike" baseline="0" dirty="0">
                <a:solidFill>
                  <a:srgbClr val="000000"/>
                </a:solidFill>
                <a:latin typeface="PetersburgC"/>
              </a:rPr>
              <a:t>и </a:t>
            </a:r>
            <a:r>
              <a:rPr lang="ru-RU" sz="2000" b="0" i="0" u="none" strike="noStrike" baseline="0" dirty="0" err="1">
                <a:solidFill>
                  <a:srgbClr val="000000"/>
                </a:solidFill>
                <a:latin typeface="PetersburgC"/>
              </a:rPr>
              <a:t>max</a:t>
            </a:r>
            <a:r>
              <a:rPr lang="ru-RU" sz="2000" b="0" i="0" u="none" strike="noStrike" baseline="30000" dirty="0">
                <a:solidFill>
                  <a:srgbClr val="000000"/>
                </a:solidFill>
                <a:latin typeface="PetersburgC"/>
              </a:rPr>
              <a:t>(</a:t>
            </a:r>
            <a:r>
              <a:rPr lang="ru-RU" sz="2000" b="0" i="1" u="none" strike="noStrike" baseline="30000" dirty="0">
                <a:solidFill>
                  <a:srgbClr val="000000"/>
                </a:solidFill>
                <a:latin typeface="PetersburgC"/>
              </a:rPr>
              <a:t>j</a:t>
            </a:r>
            <a:r>
              <a:rPr lang="ru-RU" sz="2000" b="0" i="0" u="none" strike="noStrike" baseline="30000" dirty="0">
                <a:solidFill>
                  <a:srgbClr val="000000"/>
                </a:solidFill>
                <a:latin typeface="PetersburgC"/>
              </a:rPr>
              <a:t>)</a:t>
            </a:r>
            <a:r>
              <a:rPr lang="ru-RU" sz="2000" b="0" i="0" u="none" strike="noStrike" baseline="0" dirty="0">
                <a:solidFill>
                  <a:srgbClr val="000000"/>
                </a:solidFill>
                <a:latin typeface="PetersburgC"/>
              </a:rPr>
              <a:t> — минимальное и максимальное значения признака </a:t>
            </a:r>
            <a:r>
              <a:rPr lang="ru-RU" sz="2000" b="0" i="1" u="none" strike="noStrike" baseline="0" dirty="0">
                <a:solidFill>
                  <a:srgbClr val="000000"/>
                </a:solidFill>
                <a:latin typeface="PetersburgC"/>
              </a:rPr>
              <a:t>j </a:t>
            </a:r>
            <a:r>
              <a:rPr lang="ru-RU" sz="2000" b="0" i="0" u="none" strike="noStrike" baseline="0" dirty="0">
                <a:solidFill>
                  <a:srgbClr val="000000"/>
                </a:solidFill>
                <a:latin typeface="PetersburgC"/>
              </a:rPr>
              <a:t>в наборе данных соответственно.</a:t>
            </a:r>
          </a:p>
          <a:p>
            <a:pPr marL="0" indent="0" algn="just">
              <a:buFont typeface="Arial" panose="020B0604020202020204" pitchFamily="34" charset="0"/>
              <a:buNone/>
            </a:pPr>
            <a:r>
              <a:rPr lang="ru-RU" sz="2000" dirty="0">
                <a:solidFill>
                  <a:srgbClr val="000000"/>
                </a:solidFill>
              </a:rPr>
              <a:t>Стандартные оценки (или z-оценки) признаков вычисляются следующим образом:</a:t>
            </a:r>
          </a:p>
          <a:p>
            <a:pPr marL="0" indent="0" algn="just">
              <a:buFont typeface="Arial" panose="020B0604020202020204" pitchFamily="34" charset="0"/>
              <a:buNone/>
            </a:pPr>
            <a:endParaRPr lang="ru-RU" sz="2000" dirty="0">
              <a:solidFill>
                <a:srgbClr val="000000"/>
              </a:solidFill>
            </a:endParaRPr>
          </a:p>
          <a:p>
            <a:pPr marL="0" indent="0" algn="just">
              <a:buFont typeface="Arial" panose="020B0604020202020204" pitchFamily="34" charset="0"/>
              <a:buNone/>
            </a:pPr>
            <a:endParaRPr lang="ru-RU" sz="2000" dirty="0">
              <a:solidFill>
                <a:srgbClr val="000000"/>
              </a:solidFill>
            </a:endParaRPr>
          </a:p>
          <a:p>
            <a:pPr marL="0" indent="0" algn="just">
              <a:buFont typeface="Arial" panose="020B0604020202020204" pitchFamily="34" charset="0"/>
              <a:buNone/>
            </a:pPr>
            <a:endParaRPr lang="ru-RU" sz="2000" dirty="0">
              <a:solidFill>
                <a:srgbClr val="000000"/>
              </a:solidFill>
            </a:endParaRPr>
          </a:p>
          <a:p>
            <a:pPr marL="0" indent="0" algn="just">
              <a:buFont typeface="Arial" panose="020B0604020202020204" pitchFamily="34" charset="0"/>
              <a:buNone/>
            </a:pPr>
            <a:r>
              <a:rPr lang="ru-RU" sz="2000" dirty="0">
                <a:solidFill>
                  <a:srgbClr val="000000"/>
                </a:solidFill>
              </a:rPr>
              <a:t>т.е. из значений вычитается среднее и затем они делятся на стандартное отклонение</a:t>
            </a:r>
            <a:endParaRPr lang="ru-RU" sz="2000" dirty="0"/>
          </a:p>
          <a:p>
            <a:pPr marL="0" indent="0">
              <a:buNone/>
            </a:pPr>
            <a:endParaRPr lang="ru-RU" sz="2000" b="0" i="0" u="none" strike="noStrike" baseline="0" dirty="0">
              <a:solidFill>
                <a:srgbClr val="000000"/>
              </a:solidFill>
              <a:latin typeface="PetersburgC"/>
            </a:endParaRPr>
          </a:p>
          <a:p>
            <a:pPr marL="0" indent="0">
              <a:buNone/>
            </a:pPr>
            <a:endParaRPr lang="ru-RU" sz="2000" dirty="0"/>
          </a:p>
          <a:p>
            <a:pPr marL="0" indent="0">
              <a:buNone/>
            </a:pPr>
            <a:endParaRPr lang="ru-RU" dirty="0"/>
          </a:p>
        </p:txBody>
      </p:sp>
      <p:sp>
        <p:nvSpPr>
          <p:cNvPr id="4" name="Нижний колонтитул 3">
            <a:extLst>
              <a:ext uri="{FF2B5EF4-FFF2-40B4-BE49-F238E27FC236}">
                <a16:creationId xmlns:a16="http://schemas.microsoft.com/office/drawing/2014/main" id="{C676D6D2-0C17-8EA2-1CB0-B5D71AE0C0E8}"/>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D54007E2-6743-DF1F-052C-86B58A54B64B}"/>
              </a:ext>
            </a:extLst>
          </p:cNvPr>
          <p:cNvSpPr>
            <a:spLocks noGrp="1"/>
          </p:cNvSpPr>
          <p:nvPr>
            <p:ph type="sldNum" sz="quarter" idx="12"/>
          </p:nvPr>
        </p:nvSpPr>
        <p:spPr/>
        <p:txBody>
          <a:bodyPr/>
          <a:lstStyle/>
          <a:p>
            <a:fld id="{81C5FB71-5E9C-41B5-9BB8-3F1EBEAEB16A}" type="slidenum">
              <a:rPr lang="ru-RU" smtClean="0"/>
              <a:t>13</a:t>
            </a:fld>
            <a:endParaRPr lang="ru-RU"/>
          </a:p>
        </p:txBody>
      </p:sp>
      <p:pic>
        <p:nvPicPr>
          <p:cNvPr id="6" name="Рисунок 5">
            <a:extLst>
              <a:ext uri="{FF2B5EF4-FFF2-40B4-BE49-F238E27FC236}">
                <a16:creationId xmlns:a16="http://schemas.microsoft.com/office/drawing/2014/main" id="{FA172888-9EC7-6CCC-795C-70EC9386CA19}"/>
              </a:ext>
            </a:extLst>
          </p:cNvPr>
          <p:cNvPicPr>
            <a:picLocks noChangeAspect="1"/>
          </p:cNvPicPr>
          <p:nvPr/>
        </p:nvPicPr>
        <p:blipFill>
          <a:blip r:embed="rId2"/>
          <a:stretch>
            <a:fillRect/>
          </a:stretch>
        </p:blipFill>
        <p:spPr>
          <a:xfrm>
            <a:off x="3028950" y="1828800"/>
            <a:ext cx="3000942" cy="931206"/>
          </a:xfrm>
          <a:prstGeom prst="rect">
            <a:avLst/>
          </a:prstGeom>
        </p:spPr>
      </p:pic>
      <p:pic>
        <p:nvPicPr>
          <p:cNvPr id="10" name="Рисунок 9">
            <a:extLst>
              <a:ext uri="{FF2B5EF4-FFF2-40B4-BE49-F238E27FC236}">
                <a16:creationId xmlns:a16="http://schemas.microsoft.com/office/drawing/2014/main" id="{C9475953-3B4D-272D-02F0-9C3E3FCA30F7}"/>
              </a:ext>
            </a:extLst>
          </p:cNvPr>
          <p:cNvPicPr>
            <a:picLocks noChangeAspect="1"/>
          </p:cNvPicPr>
          <p:nvPr/>
        </p:nvPicPr>
        <p:blipFill>
          <a:blip r:embed="rId3"/>
          <a:stretch>
            <a:fillRect/>
          </a:stretch>
        </p:blipFill>
        <p:spPr>
          <a:xfrm>
            <a:off x="3429000" y="4097995"/>
            <a:ext cx="2286000" cy="1028342"/>
          </a:xfrm>
          <a:prstGeom prst="rect">
            <a:avLst/>
          </a:prstGeom>
        </p:spPr>
      </p:pic>
    </p:spTree>
    <p:extLst>
      <p:ext uri="{BB962C8B-B14F-4D97-AF65-F5344CB8AC3E}">
        <p14:creationId xmlns:p14="http://schemas.microsoft.com/office/powerpoint/2010/main" val="16315903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1E3169-22B3-871B-F1A6-621BF17CBC70}"/>
              </a:ext>
            </a:extLst>
          </p:cNvPr>
          <p:cNvSpPr>
            <a:spLocks noGrp="1"/>
          </p:cNvSpPr>
          <p:nvPr>
            <p:ph type="title"/>
          </p:nvPr>
        </p:nvSpPr>
        <p:spPr/>
        <p:txBody>
          <a:bodyPr/>
          <a:lstStyle/>
          <a:p>
            <a:r>
              <a:rPr lang="ru-RU" dirty="0"/>
              <a:t>Алгоритмы кластеризации</a:t>
            </a:r>
          </a:p>
        </p:txBody>
      </p:sp>
      <p:sp>
        <p:nvSpPr>
          <p:cNvPr id="4" name="Нижний колонтитул 3">
            <a:extLst>
              <a:ext uri="{FF2B5EF4-FFF2-40B4-BE49-F238E27FC236}">
                <a16:creationId xmlns:a16="http://schemas.microsoft.com/office/drawing/2014/main" id="{7453A4FA-03AB-234F-BC85-A79D58CA1D8C}"/>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E87D5179-EF56-ED3F-DFEB-C5DBEAF1AE9E}"/>
              </a:ext>
            </a:extLst>
          </p:cNvPr>
          <p:cNvSpPr>
            <a:spLocks noGrp="1"/>
          </p:cNvSpPr>
          <p:nvPr>
            <p:ph type="sldNum" sz="quarter" idx="12"/>
          </p:nvPr>
        </p:nvSpPr>
        <p:spPr/>
        <p:txBody>
          <a:bodyPr/>
          <a:lstStyle/>
          <a:p>
            <a:fld id="{81C5FB71-5E9C-41B5-9BB8-3F1EBEAEB16A}" type="slidenum">
              <a:rPr lang="ru-RU" smtClean="0"/>
              <a:t>14</a:t>
            </a:fld>
            <a:endParaRPr lang="ru-RU"/>
          </a:p>
        </p:txBody>
      </p:sp>
      <p:sp>
        <p:nvSpPr>
          <p:cNvPr id="6" name="Объект 5">
            <a:extLst>
              <a:ext uri="{FF2B5EF4-FFF2-40B4-BE49-F238E27FC236}">
                <a16:creationId xmlns:a16="http://schemas.microsoft.com/office/drawing/2014/main" id="{93D8937C-9029-248E-D6C6-F310BC28361A}"/>
              </a:ext>
            </a:extLst>
          </p:cNvPr>
          <p:cNvSpPr>
            <a:spLocks noGrp="1"/>
          </p:cNvSpPr>
          <p:nvPr>
            <p:ph idx="1"/>
          </p:nvPr>
        </p:nvSpPr>
        <p:spPr/>
        <p:txBody>
          <a:bodyPr/>
          <a:lstStyle/>
          <a:p>
            <a:r>
              <a:rPr lang="en-US" dirty="0"/>
              <a:t>K-</a:t>
            </a:r>
            <a:r>
              <a:rPr lang="ru-RU" dirty="0"/>
              <a:t>средних</a:t>
            </a:r>
            <a:endParaRPr lang="en-US" dirty="0"/>
          </a:p>
          <a:p>
            <a:r>
              <a:rPr lang="ru-RU" dirty="0"/>
              <a:t>Алгоритм сдвига среднего значения</a:t>
            </a:r>
          </a:p>
          <a:p>
            <a:r>
              <a:rPr lang="ru-RU" dirty="0"/>
              <a:t>Спектральная кластеризация</a:t>
            </a:r>
          </a:p>
          <a:p>
            <a:r>
              <a:rPr lang="ru-RU" dirty="0"/>
              <a:t>Иерархическая кластеризация</a:t>
            </a:r>
          </a:p>
          <a:p>
            <a:r>
              <a:rPr lang="en-US" dirty="0"/>
              <a:t>DBSCAN</a:t>
            </a:r>
          </a:p>
          <a:p>
            <a:r>
              <a:rPr lang="en-US" dirty="0"/>
              <a:t>OPTICS</a:t>
            </a:r>
          </a:p>
          <a:p>
            <a:r>
              <a:rPr lang="en-US" dirty="0"/>
              <a:t>GMM (EM</a:t>
            </a:r>
            <a:r>
              <a:rPr lang="ru-RU" dirty="0"/>
              <a:t>-кластеризация</a:t>
            </a:r>
            <a:r>
              <a:rPr lang="en-US" dirty="0"/>
              <a:t>)</a:t>
            </a:r>
            <a:endParaRPr lang="ru-RU" dirty="0"/>
          </a:p>
          <a:p>
            <a:endParaRPr lang="ru-RU" dirty="0"/>
          </a:p>
        </p:txBody>
      </p:sp>
    </p:spTree>
    <p:extLst>
      <p:ext uri="{BB962C8B-B14F-4D97-AF65-F5344CB8AC3E}">
        <p14:creationId xmlns:p14="http://schemas.microsoft.com/office/powerpoint/2010/main" val="9737760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C0DF1-0F04-A8AF-F196-0C665E99D17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F72418B-4979-2BD9-24D8-278C1D4C9E32}"/>
              </a:ext>
            </a:extLst>
          </p:cNvPr>
          <p:cNvSpPr>
            <a:spLocks noGrp="1"/>
          </p:cNvSpPr>
          <p:nvPr>
            <p:ph type="title"/>
          </p:nvPr>
        </p:nvSpPr>
        <p:spPr/>
        <p:txBody>
          <a:bodyPr/>
          <a:lstStyle/>
          <a:p>
            <a:r>
              <a:rPr lang="ru-RU" dirty="0"/>
              <a:t>Алгоритмы кластеризации</a:t>
            </a:r>
          </a:p>
        </p:txBody>
      </p:sp>
      <p:sp>
        <p:nvSpPr>
          <p:cNvPr id="4" name="Нижний колонтитул 3">
            <a:extLst>
              <a:ext uri="{FF2B5EF4-FFF2-40B4-BE49-F238E27FC236}">
                <a16:creationId xmlns:a16="http://schemas.microsoft.com/office/drawing/2014/main" id="{51A1DFCB-B07A-8039-0B4E-598228EB6952}"/>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16325E81-887B-A825-742A-3321319733E4}"/>
              </a:ext>
            </a:extLst>
          </p:cNvPr>
          <p:cNvSpPr>
            <a:spLocks noGrp="1"/>
          </p:cNvSpPr>
          <p:nvPr>
            <p:ph type="sldNum" sz="quarter" idx="12"/>
          </p:nvPr>
        </p:nvSpPr>
        <p:spPr/>
        <p:txBody>
          <a:bodyPr/>
          <a:lstStyle/>
          <a:p>
            <a:fld id="{81C5FB71-5E9C-41B5-9BB8-3F1EBEAEB16A}" type="slidenum">
              <a:rPr lang="ru-RU" smtClean="0"/>
              <a:t>15</a:t>
            </a:fld>
            <a:endParaRPr lang="ru-RU"/>
          </a:p>
        </p:txBody>
      </p:sp>
      <p:pic>
        <p:nvPicPr>
          <p:cNvPr id="9218" name="Picture 2">
            <a:extLst>
              <a:ext uri="{FF2B5EF4-FFF2-40B4-BE49-F238E27FC236}">
                <a16:creationId xmlns:a16="http://schemas.microsoft.com/office/drawing/2014/main" id="{B7504746-A36D-667A-0209-D61EA74D804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0" y="1060903"/>
            <a:ext cx="9144000" cy="56605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92817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E065EE9-AEFA-835B-FC7B-C4814D56AD41}"/>
              </a:ext>
            </a:extLst>
          </p:cNvPr>
          <p:cNvSpPr>
            <a:spLocks noGrp="1"/>
          </p:cNvSpPr>
          <p:nvPr>
            <p:ph type="title"/>
          </p:nvPr>
        </p:nvSpPr>
        <p:spPr>
          <a:xfrm>
            <a:off x="628650" y="70791"/>
            <a:ext cx="7886700" cy="610246"/>
          </a:xfrm>
        </p:spPr>
        <p:txBody>
          <a:bodyPr/>
          <a:lstStyle/>
          <a:p>
            <a:r>
              <a:rPr lang="ru-RU" dirty="0"/>
              <a:t>К-средних </a:t>
            </a:r>
            <a:r>
              <a:rPr lang="en-US" dirty="0"/>
              <a:t>(</a:t>
            </a:r>
            <a:r>
              <a:rPr lang="en-US" dirty="0" err="1"/>
              <a:t>KMeans</a:t>
            </a:r>
            <a:r>
              <a:rPr lang="en-US" dirty="0"/>
              <a:t>)</a:t>
            </a:r>
            <a:endParaRPr lang="ru-RU" dirty="0"/>
          </a:p>
        </p:txBody>
      </p:sp>
      <p:sp>
        <p:nvSpPr>
          <p:cNvPr id="4" name="Нижний колонтитул 3">
            <a:extLst>
              <a:ext uri="{FF2B5EF4-FFF2-40B4-BE49-F238E27FC236}">
                <a16:creationId xmlns:a16="http://schemas.microsoft.com/office/drawing/2014/main" id="{4D7D7C73-53B3-D3E2-B3AA-9D67F582E961}"/>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16C0BF7F-A1A7-0423-81FF-C508E5ABDC1D}"/>
              </a:ext>
            </a:extLst>
          </p:cNvPr>
          <p:cNvSpPr>
            <a:spLocks noGrp="1"/>
          </p:cNvSpPr>
          <p:nvPr>
            <p:ph type="sldNum" sz="quarter" idx="12"/>
          </p:nvPr>
        </p:nvSpPr>
        <p:spPr/>
        <p:txBody>
          <a:bodyPr/>
          <a:lstStyle/>
          <a:p>
            <a:fld id="{81C5FB71-5E9C-41B5-9BB8-3F1EBEAEB16A}" type="slidenum">
              <a:rPr lang="ru-RU" smtClean="0"/>
              <a:t>16</a:t>
            </a:fld>
            <a:endParaRPr lang="ru-RU"/>
          </a:p>
        </p:txBody>
      </p:sp>
      <p:sp>
        <p:nvSpPr>
          <p:cNvPr id="6" name="Объект 5">
            <a:extLst>
              <a:ext uri="{FF2B5EF4-FFF2-40B4-BE49-F238E27FC236}">
                <a16:creationId xmlns:a16="http://schemas.microsoft.com/office/drawing/2014/main" id="{01EA74B2-CAD2-14FA-CCC0-B107C278FDDC}"/>
              </a:ext>
            </a:extLst>
          </p:cNvPr>
          <p:cNvSpPr>
            <a:spLocks noGrp="1"/>
          </p:cNvSpPr>
          <p:nvPr>
            <p:ph sz="half" idx="1"/>
          </p:nvPr>
        </p:nvSpPr>
        <p:spPr>
          <a:xfrm>
            <a:off x="381000" y="1350234"/>
            <a:ext cx="4133850" cy="4826729"/>
          </a:xfrm>
        </p:spPr>
        <p:txBody>
          <a:bodyPr>
            <a:normAutofit/>
          </a:bodyPr>
          <a:lstStyle/>
          <a:p>
            <a:pPr marL="0" indent="0">
              <a:buNone/>
            </a:pPr>
            <a:r>
              <a:rPr lang="ru-RU" dirty="0"/>
              <a:t>Дана выборка табличных данных объектов в </a:t>
            </a:r>
            <a:r>
              <a:rPr lang="en-US" dirty="0"/>
              <a:t>m</a:t>
            </a:r>
            <a:r>
              <a:rPr lang="ru-RU" dirty="0"/>
              <a:t>-мерном пространстве:</a:t>
            </a:r>
          </a:p>
          <a:p>
            <a:pPr marL="457200" indent="-457200">
              <a:buAutoNum type="arabicPeriod"/>
            </a:pPr>
            <a:r>
              <a:rPr lang="ru-RU" dirty="0"/>
              <a:t>Инициализация </a:t>
            </a:r>
            <a:r>
              <a:rPr lang="en-US" dirty="0"/>
              <a:t>K</a:t>
            </a:r>
            <a:r>
              <a:rPr lang="ru-RU" dirty="0"/>
              <a:t> случайных координат </a:t>
            </a:r>
            <a:r>
              <a:rPr lang="ru-RU" dirty="0" err="1"/>
              <a:t>центроидов</a:t>
            </a:r>
            <a:r>
              <a:rPr lang="ru-RU" dirty="0"/>
              <a:t> в </a:t>
            </a:r>
            <a:r>
              <a:rPr lang="en-US" dirty="0"/>
              <a:t>m-</a:t>
            </a:r>
            <a:r>
              <a:rPr lang="ru-RU" dirty="0"/>
              <a:t>мерном пространстве</a:t>
            </a:r>
          </a:p>
          <a:p>
            <a:pPr marL="457200" indent="-457200">
              <a:buAutoNum type="arabicPeriod"/>
            </a:pPr>
            <a:r>
              <a:rPr lang="ru-RU" dirty="0"/>
              <a:t>Ассоциация </a:t>
            </a:r>
            <a:r>
              <a:rPr lang="ru-RU" dirty="0" err="1"/>
              <a:t>центроидам</a:t>
            </a:r>
            <a:r>
              <a:rPr lang="ru-RU" dirty="0"/>
              <a:t> точек исходной выборки по выбранной степени близости</a:t>
            </a:r>
          </a:p>
          <a:p>
            <a:pPr marL="457200" indent="-457200">
              <a:buAutoNum type="arabicPeriod"/>
            </a:pPr>
            <a:r>
              <a:rPr lang="ru-RU" dirty="0"/>
              <a:t>Новые координаты </a:t>
            </a:r>
            <a:r>
              <a:rPr lang="ru-RU" dirty="0" err="1"/>
              <a:t>центроидов</a:t>
            </a:r>
            <a:r>
              <a:rPr lang="ru-RU" dirty="0"/>
              <a:t> – средний вектор ассоциированных им точек</a:t>
            </a:r>
          </a:p>
          <a:p>
            <a:pPr marL="457200" indent="-457200">
              <a:buAutoNum type="arabicPeriod"/>
            </a:pPr>
            <a:r>
              <a:rPr lang="ru-RU" dirty="0"/>
              <a:t>Замер длины вектора изменения координат</a:t>
            </a:r>
          </a:p>
        </p:txBody>
      </p:sp>
      <p:pic>
        <p:nvPicPr>
          <p:cNvPr id="7" name="Picture 2" descr="Picture background">
            <a:extLst>
              <a:ext uri="{FF2B5EF4-FFF2-40B4-BE49-F238E27FC236}">
                <a16:creationId xmlns:a16="http://schemas.microsoft.com/office/drawing/2014/main" id="{69547EC5-5286-0EC9-95DE-30F2DCBC6EA1}"/>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tretch>
            <a:fillRect/>
          </a:stretch>
        </p:blipFill>
        <p:spPr bwMode="auto">
          <a:xfrm>
            <a:off x="4629150" y="1835150"/>
            <a:ext cx="4514850" cy="3386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66127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BFD06FC-B6DA-4098-9F10-224B3E257266}"/>
              </a:ext>
            </a:extLst>
          </p:cNvPr>
          <p:cNvSpPr>
            <a:spLocks noGrp="1"/>
          </p:cNvSpPr>
          <p:nvPr>
            <p:ph type="title"/>
          </p:nvPr>
        </p:nvSpPr>
        <p:spPr>
          <a:xfrm>
            <a:off x="628650" y="70791"/>
            <a:ext cx="7886700" cy="550028"/>
          </a:xfrm>
        </p:spPr>
        <p:txBody>
          <a:bodyPr/>
          <a:lstStyle/>
          <a:p>
            <a:pPr algn="ctr"/>
            <a:r>
              <a:rPr lang="ru-RU" dirty="0"/>
              <a:t>Построение д</a:t>
            </a:r>
            <a:r>
              <a:rPr lang="ru-RU" i="0" dirty="0">
                <a:effectLst/>
                <a:latin typeface="system-ui"/>
              </a:rPr>
              <a:t>иаграммы Вороного</a:t>
            </a:r>
            <a:endParaRPr lang="ru-RU" dirty="0"/>
          </a:p>
        </p:txBody>
      </p:sp>
      <p:pic>
        <p:nvPicPr>
          <p:cNvPr id="7" name="Объект 6">
            <a:extLst>
              <a:ext uri="{FF2B5EF4-FFF2-40B4-BE49-F238E27FC236}">
                <a16:creationId xmlns:a16="http://schemas.microsoft.com/office/drawing/2014/main" id="{61743663-8247-4EF1-B5BC-DAB39E0AF8E4}"/>
              </a:ext>
            </a:extLst>
          </p:cNvPr>
          <p:cNvPicPr>
            <a:picLocks noGrp="1" noChangeAspect="1"/>
          </p:cNvPicPr>
          <p:nvPr>
            <p:ph idx="1"/>
          </p:nvPr>
        </p:nvPicPr>
        <p:blipFill>
          <a:blip r:embed="rId3"/>
          <a:stretch>
            <a:fillRect/>
          </a:stretch>
        </p:blipFill>
        <p:spPr>
          <a:xfrm>
            <a:off x="1220426" y="620819"/>
            <a:ext cx="6703147" cy="5851188"/>
          </a:xfrm>
        </p:spPr>
      </p:pic>
      <p:sp>
        <p:nvSpPr>
          <p:cNvPr id="4" name="Нижний колонтитул 3">
            <a:extLst>
              <a:ext uri="{FF2B5EF4-FFF2-40B4-BE49-F238E27FC236}">
                <a16:creationId xmlns:a16="http://schemas.microsoft.com/office/drawing/2014/main" id="{7E9E14CF-0AE8-45D2-A162-3636842BD96E}"/>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527C5DF3-E586-4D61-8381-C23463D0B91F}"/>
              </a:ext>
            </a:extLst>
          </p:cNvPr>
          <p:cNvSpPr>
            <a:spLocks noGrp="1"/>
          </p:cNvSpPr>
          <p:nvPr>
            <p:ph type="sldNum" sz="quarter" idx="12"/>
          </p:nvPr>
        </p:nvSpPr>
        <p:spPr/>
        <p:txBody>
          <a:bodyPr/>
          <a:lstStyle/>
          <a:p>
            <a:fld id="{81C5FB71-5E9C-41B5-9BB8-3F1EBEAEB16A}" type="slidenum">
              <a:rPr lang="ru-RU" smtClean="0"/>
              <a:t>17</a:t>
            </a:fld>
            <a:endParaRPr lang="ru-RU"/>
          </a:p>
        </p:txBody>
      </p:sp>
    </p:spTree>
    <p:extLst>
      <p:ext uri="{BB962C8B-B14F-4D97-AF65-F5344CB8AC3E}">
        <p14:creationId xmlns:p14="http://schemas.microsoft.com/office/powerpoint/2010/main" val="5903768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001F02-60C5-4876-A347-E14AC7E4F20C}"/>
              </a:ext>
            </a:extLst>
          </p:cNvPr>
          <p:cNvSpPr>
            <a:spLocks noGrp="1"/>
          </p:cNvSpPr>
          <p:nvPr>
            <p:ph type="title"/>
          </p:nvPr>
        </p:nvSpPr>
        <p:spPr/>
        <p:txBody>
          <a:bodyPr/>
          <a:lstStyle/>
          <a:p>
            <a:pPr algn="ctr"/>
            <a:r>
              <a:rPr lang="ru-RU" i="0" dirty="0">
                <a:effectLst/>
                <a:latin typeface="system-ui"/>
              </a:rPr>
              <a:t>Диаграмма Вороного</a:t>
            </a:r>
            <a:endParaRPr lang="ru-RU" dirty="0"/>
          </a:p>
        </p:txBody>
      </p:sp>
      <p:pic>
        <p:nvPicPr>
          <p:cNvPr id="7" name="Объект 6">
            <a:extLst>
              <a:ext uri="{FF2B5EF4-FFF2-40B4-BE49-F238E27FC236}">
                <a16:creationId xmlns:a16="http://schemas.microsoft.com/office/drawing/2014/main" id="{C0A661EB-B3C5-4016-9BC0-D99A741C2859}"/>
              </a:ext>
            </a:extLst>
          </p:cNvPr>
          <p:cNvPicPr>
            <a:picLocks noGrp="1" noChangeAspect="1"/>
          </p:cNvPicPr>
          <p:nvPr>
            <p:ph idx="1"/>
          </p:nvPr>
        </p:nvPicPr>
        <p:blipFill>
          <a:blip r:embed="rId2"/>
          <a:stretch>
            <a:fillRect/>
          </a:stretch>
        </p:blipFill>
        <p:spPr>
          <a:xfrm>
            <a:off x="1673468" y="1371600"/>
            <a:ext cx="5812426" cy="4805363"/>
          </a:xfrm>
        </p:spPr>
      </p:pic>
      <p:sp>
        <p:nvSpPr>
          <p:cNvPr id="4" name="Нижний колонтитул 3">
            <a:extLst>
              <a:ext uri="{FF2B5EF4-FFF2-40B4-BE49-F238E27FC236}">
                <a16:creationId xmlns:a16="http://schemas.microsoft.com/office/drawing/2014/main" id="{CD09EED2-0B5F-4C74-B5B6-037DA3B73CF6}"/>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56D2CDA3-49E7-4438-B2F8-32AE959CC1E5}"/>
              </a:ext>
            </a:extLst>
          </p:cNvPr>
          <p:cNvSpPr>
            <a:spLocks noGrp="1"/>
          </p:cNvSpPr>
          <p:nvPr>
            <p:ph type="sldNum" sz="quarter" idx="12"/>
          </p:nvPr>
        </p:nvSpPr>
        <p:spPr/>
        <p:txBody>
          <a:bodyPr/>
          <a:lstStyle/>
          <a:p>
            <a:fld id="{81C5FB71-5E9C-41B5-9BB8-3F1EBEAEB16A}" type="slidenum">
              <a:rPr lang="ru-RU" smtClean="0"/>
              <a:t>18</a:t>
            </a:fld>
            <a:endParaRPr lang="ru-RU"/>
          </a:p>
        </p:txBody>
      </p:sp>
    </p:spTree>
    <p:extLst>
      <p:ext uri="{BB962C8B-B14F-4D97-AF65-F5344CB8AC3E}">
        <p14:creationId xmlns:p14="http://schemas.microsoft.com/office/powerpoint/2010/main" val="18109369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DA1430E-94DA-8600-E3ED-F8B216AF3445}"/>
              </a:ext>
            </a:extLst>
          </p:cNvPr>
          <p:cNvSpPr>
            <a:spLocks noGrp="1"/>
          </p:cNvSpPr>
          <p:nvPr>
            <p:ph type="title"/>
          </p:nvPr>
        </p:nvSpPr>
        <p:spPr>
          <a:xfrm>
            <a:off x="628650" y="70791"/>
            <a:ext cx="7886700" cy="691209"/>
          </a:xfrm>
        </p:spPr>
        <p:txBody>
          <a:bodyPr/>
          <a:lstStyle/>
          <a:p>
            <a:r>
              <a:rPr lang="ru-RU" dirty="0"/>
              <a:t>Определение оптимального количества кластеров</a:t>
            </a:r>
          </a:p>
        </p:txBody>
      </p:sp>
      <p:sp>
        <p:nvSpPr>
          <p:cNvPr id="4" name="Нижний колонтитул 3">
            <a:extLst>
              <a:ext uri="{FF2B5EF4-FFF2-40B4-BE49-F238E27FC236}">
                <a16:creationId xmlns:a16="http://schemas.microsoft.com/office/drawing/2014/main" id="{D2FDCF7C-9FA4-D028-28DD-F95C25BC505E}"/>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A9AACFA7-3324-F70E-DE09-AFD1FB7DA820}"/>
              </a:ext>
            </a:extLst>
          </p:cNvPr>
          <p:cNvSpPr>
            <a:spLocks noGrp="1"/>
          </p:cNvSpPr>
          <p:nvPr>
            <p:ph type="sldNum" sz="quarter" idx="12"/>
          </p:nvPr>
        </p:nvSpPr>
        <p:spPr/>
        <p:txBody>
          <a:bodyPr/>
          <a:lstStyle/>
          <a:p>
            <a:fld id="{81C5FB71-5E9C-41B5-9BB8-3F1EBEAEB16A}" type="slidenum">
              <a:rPr lang="ru-RU" smtClean="0"/>
              <a:t>19</a:t>
            </a:fld>
            <a:endParaRPr lang="ru-RU"/>
          </a:p>
        </p:txBody>
      </p:sp>
      <p:pic>
        <p:nvPicPr>
          <p:cNvPr id="1026" name="Picture 2" descr="Picture background">
            <a:extLst>
              <a:ext uri="{FF2B5EF4-FFF2-40B4-BE49-F238E27FC236}">
                <a16:creationId xmlns:a16="http://schemas.microsoft.com/office/drawing/2014/main" id="{7D9781FC-DA30-161B-77E4-C80B5D9FC082}"/>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r="30435"/>
          <a:stretch/>
        </p:blipFill>
        <p:spPr bwMode="auto">
          <a:xfrm>
            <a:off x="0" y="2146553"/>
            <a:ext cx="3804702" cy="2564894"/>
          </a:xfrm>
          <a:prstGeom prst="rect">
            <a:avLst/>
          </a:prstGeom>
          <a:noFill/>
          <a:extLst>
            <a:ext uri="{909E8E84-426E-40DD-AFC4-6F175D3DCCD1}">
              <a14:hiddenFill xmlns:a14="http://schemas.microsoft.com/office/drawing/2010/main">
                <a:solidFill>
                  <a:srgbClr val="FFFFFF"/>
                </a:solidFill>
              </a14:hiddenFill>
            </a:ext>
          </a:extLst>
        </p:spPr>
      </p:pic>
      <p:pic>
        <p:nvPicPr>
          <p:cNvPr id="6" name="Рисунок 5">
            <a:extLst>
              <a:ext uri="{FF2B5EF4-FFF2-40B4-BE49-F238E27FC236}">
                <a16:creationId xmlns:a16="http://schemas.microsoft.com/office/drawing/2014/main" id="{20BD56FD-56C2-E498-FBC0-F6F2A63FAF43}"/>
              </a:ext>
            </a:extLst>
          </p:cNvPr>
          <p:cNvPicPr>
            <a:picLocks noChangeAspect="1"/>
          </p:cNvPicPr>
          <p:nvPr/>
        </p:nvPicPr>
        <p:blipFill>
          <a:blip r:embed="rId4"/>
          <a:stretch>
            <a:fillRect/>
          </a:stretch>
        </p:blipFill>
        <p:spPr>
          <a:xfrm>
            <a:off x="4066395" y="1450810"/>
            <a:ext cx="5140085" cy="2146187"/>
          </a:xfrm>
          <a:prstGeom prst="rect">
            <a:avLst/>
          </a:prstGeom>
        </p:spPr>
      </p:pic>
      <p:pic>
        <p:nvPicPr>
          <p:cNvPr id="7" name="Рисунок 6">
            <a:extLst>
              <a:ext uri="{FF2B5EF4-FFF2-40B4-BE49-F238E27FC236}">
                <a16:creationId xmlns:a16="http://schemas.microsoft.com/office/drawing/2014/main" id="{4F2D2707-CFCA-44AF-0E90-A0F1A0189EB8}"/>
              </a:ext>
            </a:extLst>
          </p:cNvPr>
          <p:cNvPicPr>
            <a:picLocks noChangeAspect="1"/>
          </p:cNvPicPr>
          <p:nvPr/>
        </p:nvPicPr>
        <p:blipFill>
          <a:blip r:embed="rId5"/>
          <a:stretch>
            <a:fillRect/>
          </a:stretch>
        </p:blipFill>
        <p:spPr>
          <a:xfrm>
            <a:off x="4066395" y="3638353"/>
            <a:ext cx="5097195" cy="2146187"/>
          </a:xfrm>
          <a:prstGeom prst="rect">
            <a:avLst/>
          </a:prstGeom>
        </p:spPr>
      </p:pic>
    </p:spTree>
    <p:extLst>
      <p:ext uri="{BB962C8B-B14F-4D97-AF65-F5344CB8AC3E}">
        <p14:creationId xmlns:p14="http://schemas.microsoft.com/office/powerpoint/2010/main" val="7826057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0A6638C-A544-4499-8784-94A512DBFAA8}"/>
              </a:ext>
            </a:extLst>
          </p:cNvPr>
          <p:cNvSpPr>
            <a:spLocks noGrp="1"/>
          </p:cNvSpPr>
          <p:nvPr>
            <p:ph type="title"/>
          </p:nvPr>
        </p:nvSpPr>
        <p:spPr>
          <a:xfrm>
            <a:off x="628650" y="70791"/>
            <a:ext cx="8134350" cy="1100056"/>
          </a:xfrm>
        </p:spPr>
        <p:txBody>
          <a:bodyPr/>
          <a:lstStyle/>
          <a:p>
            <a:r>
              <a:rPr kumimoji="0" lang="ru-RU" sz="2400" b="1" i="0" u="none" strike="noStrike" kern="1200" cap="none" spc="0" normalizeH="0" baseline="0" noProof="0" dirty="0">
                <a:ln>
                  <a:noFill/>
                </a:ln>
                <a:solidFill>
                  <a:prstClr val="black"/>
                </a:solidFill>
                <a:effectLst/>
                <a:uLnTx/>
                <a:uFillTx/>
                <a:latin typeface="system-ui"/>
                <a:ea typeface="+mj-ea"/>
                <a:cs typeface="+mj-cs"/>
              </a:rPr>
              <a:t>Подбор оптимального количества кластеров - величины k</a:t>
            </a:r>
            <a:endParaRPr lang="ru-RU"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BD6B0A08-19F0-457E-869E-009E573E8F1E}"/>
                  </a:ext>
                </a:extLst>
              </p:cNvPr>
              <p:cNvSpPr>
                <a:spLocks noGrp="1"/>
              </p:cNvSpPr>
              <p:nvPr>
                <p:ph idx="1"/>
              </p:nvPr>
            </p:nvSpPr>
            <p:spPr/>
            <p:txBody>
              <a:bodyPr>
                <a:normAutofit/>
              </a:bodyPr>
              <a:lstStyle/>
              <a:p>
                <a:pPr marL="0" indent="0" algn="just">
                  <a:buNone/>
                </a:pPr>
                <a:r>
                  <a:rPr lang="ru-RU" b="1" i="0" dirty="0">
                    <a:effectLst/>
                    <a:latin typeface="system-ui"/>
                  </a:rPr>
                  <a:t>Однородность</a:t>
                </a:r>
                <a:r>
                  <a:rPr lang="ru-RU" b="0" i="0" dirty="0">
                    <a:effectLst/>
                    <a:latin typeface="system-ui"/>
                  </a:rPr>
                  <a:t> - мера того, сколько из предсказанных кластеров содержат точки одного класса. Значения этой метрики лежат между 0 (худший) и 1 (лучший), а ее математическая формула следующая:</a:t>
                </a:r>
              </a:p>
              <a:p>
                <a:pPr marL="0" indent="0" algn="l">
                  <a:buNone/>
                </a:pPr>
                <a14:m>
                  <m:oMathPara xmlns:m="http://schemas.openxmlformats.org/officeDocument/2006/math">
                    <m:oMathParaPr>
                      <m:jc m:val="centerGroup"/>
                    </m:oMathParaPr>
                    <m:oMath xmlns:m="http://schemas.openxmlformats.org/officeDocument/2006/math">
                      <m:r>
                        <a:rPr lang="ru-RU" sz="2500" b="0" i="1" dirty="0" smtClean="0">
                          <a:effectLst/>
                          <a:latin typeface="Cambria Math" panose="02040503050406030204" pitchFamily="18" charset="0"/>
                        </a:rPr>
                        <m:t>h</m:t>
                      </m:r>
                      <m:r>
                        <a:rPr lang="ru-RU" sz="2500" b="0" i="1" dirty="0" smtClean="0">
                          <a:effectLst/>
                          <a:latin typeface="Cambria Math" panose="02040503050406030204" pitchFamily="18" charset="0"/>
                        </a:rPr>
                        <m:t> = 1−</m:t>
                      </m:r>
                      <m:r>
                        <a:rPr lang="ru-RU" sz="2500" b="0" i="1" dirty="0" smtClean="0">
                          <a:effectLst/>
                          <a:latin typeface="Cambria Math" panose="02040503050406030204" pitchFamily="18" charset="0"/>
                        </a:rPr>
                        <m:t>𝐻</m:t>
                      </m:r>
                      <m:r>
                        <a:rPr lang="ru-RU" sz="2500" b="0" i="1" dirty="0" smtClean="0">
                          <a:effectLst/>
                          <a:latin typeface="Cambria Math" panose="02040503050406030204" pitchFamily="18" charset="0"/>
                        </a:rPr>
                        <m:t>(</m:t>
                      </m:r>
                      <m:r>
                        <a:rPr lang="ru-RU" sz="2500" b="0" i="1" dirty="0" smtClean="0">
                          <a:effectLst/>
                          <a:latin typeface="Cambria Math" panose="02040503050406030204" pitchFamily="18" charset="0"/>
                        </a:rPr>
                        <m:t>𝐶</m:t>
                      </m:r>
                      <m:r>
                        <a:rPr lang="ru-RU" sz="2500" b="0" i="1" dirty="0" smtClean="0">
                          <a:effectLst/>
                          <a:latin typeface="Cambria Math" panose="02040503050406030204" pitchFamily="18" charset="0"/>
                        </a:rPr>
                        <m:t>|</m:t>
                      </m:r>
                      <m:r>
                        <a:rPr lang="ru-RU" sz="2500" b="0" i="1" dirty="0" smtClean="0">
                          <a:effectLst/>
                          <a:latin typeface="Cambria Math" panose="02040503050406030204" pitchFamily="18" charset="0"/>
                        </a:rPr>
                        <m:t>𝐾</m:t>
                      </m:r>
                      <m:r>
                        <a:rPr lang="ru-RU" sz="2500" b="0" i="1" dirty="0" smtClean="0">
                          <a:effectLst/>
                          <a:latin typeface="Cambria Math" panose="02040503050406030204" pitchFamily="18" charset="0"/>
                        </a:rPr>
                        <m:t>)/</m:t>
                      </m:r>
                      <m:r>
                        <a:rPr lang="ru-RU" sz="2500" b="0" i="1" dirty="0" smtClean="0">
                          <a:effectLst/>
                          <a:latin typeface="Cambria Math" panose="02040503050406030204" pitchFamily="18" charset="0"/>
                        </a:rPr>
                        <m:t>𝐻</m:t>
                      </m:r>
                      <m:r>
                        <a:rPr lang="ru-RU" sz="2500" b="0" i="1" dirty="0" smtClean="0">
                          <a:effectLst/>
                          <a:latin typeface="Cambria Math" panose="02040503050406030204" pitchFamily="18" charset="0"/>
                        </a:rPr>
                        <m:t>(</m:t>
                      </m:r>
                      <m:r>
                        <a:rPr lang="ru-RU" sz="2500" b="0" i="1" dirty="0" smtClean="0">
                          <a:effectLst/>
                          <a:latin typeface="Cambria Math" panose="02040503050406030204" pitchFamily="18" charset="0"/>
                        </a:rPr>
                        <m:t>𝐶</m:t>
                      </m:r>
                      <m:r>
                        <a:rPr lang="ru-RU" sz="2500" b="0" i="1" dirty="0" smtClean="0">
                          <a:effectLst/>
                          <a:latin typeface="Cambria Math" panose="02040503050406030204" pitchFamily="18" charset="0"/>
                        </a:rPr>
                        <m:t>)</m:t>
                      </m:r>
                    </m:oMath>
                  </m:oMathPara>
                </a14:m>
                <a:endParaRPr lang="ru-RU" sz="2500" b="0" i="0" dirty="0">
                  <a:effectLst/>
                  <a:latin typeface="system-ui"/>
                </a:endParaRPr>
              </a:p>
              <a:p>
                <a:pPr marL="0" indent="0" algn="just">
                  <a:buNone/>
                </a:pPr>
                <a:r>
                  <a:rPr lang="ru-RU" b="0" i="0" dirty="0">
                    <a:effectLst/>
                    <a:latin typeface="system-ui"/>
                  </a:rPr>
                  <a:t>Здесь </a:t>
                </a:r>
              </a:p>
              <a:p>
                <a:pPr algn="just"/>
                <a14:m>
                  <m:oMath xmlns:m="http://schemas.openxmlformats.org/officeDocument/2006/math">
                    <m:r>
                      <a:rPr lang="ru-RU" b="0" i="1" dirty="0" smtClean="0">
                        <a:effectLst/>
                        <a:latin typeface="Cambria Math" panose="02040503050406030204" pitchFamily="18" charset="0"/>
                      </a:rPr>
                      <m:t>𝐻</m:t>
                    </m:r>
                    <m:r>
                      <a:rPr lang="ru-RU" b="0" i="1" dirty="0" smtClean="0">
                        <a:effectLst/>
                        <a:latin typeface="Cambria Math" panose="02040503050406030204" pitchFamily="18" charset="0"/>
                      </a:rPr>
                      <m:t>(</m:t>
                    </m:r>
                    <m:r>
                      <a:rPr lang="ru-RU" b="0" i="1" dirty="0" smtClean="0">
                        <a:effectLst/>
                        <a:latin typeface="Cambria Math" panose="02040503050406030204" pitchFamily="18" charset="0"/>
                      </a:rPr>
                      <m:t>𝐶</m:t>
                    </m:r>
                    <m:r>
                      <a:rPr lang="ru-RU" b="0" i="1" dirty="0" smtClean="0">
                        <a:effectLst/>
                        <a:latin typeface="Cambria Math" panose="02040503050406030204" pitchFamily="18" charset="0"/>
                      </a:rPr>
                      <m:t>|</m:t>
                    </m:r>
                    <m:r>
                      <a:rPr lang="ru-RU" b="0" i="1" dirty="0" smtClean="0">
                        <a:effectLst/>
                        <a:latin typeface="Cambria Math" panose="02040503050406030204" pitchFamily="18" charset="0"/>
                      </a:rPr>
                      <m:t>𝐾</m:t>
                    </m:r>
                    <m:r>
                      <a:rPr lang="ru-RU" b="0" i="1" dirty="0" smtClean="0">
                        <a:effectLst/>
                        <a:latin typeface="Cambria Math" panose="02040503050406030204" pitchFamily="18" charset="0"/>
                      </a:rPr>
                      <m:t>)</m:t>
                    </m:r>
                  </m:oMath>
                </a14:m>
                <a:r>
                  <a:rPr lang="ru-RU" b="0" i="0" dirty="0">
                    <a:effectLst/>
                    <a:latin typeface="system-ui"/>
                  </a:rPr>
                  <a:t> </a:t>
                </a:r>
                <a:r>
                  <a:rPr lang="ru-RU" dirty="0">
                    <a:latin typeface="system-ui"/>
                  </a:rPr>
                  <a:t>—</a:t>
                </a:r>
                <a:r>
                  <a:rPr lang="ru-RU" b="0" i="0" dirty="0">
                    <a:effectLst/>
                    <a:latin typeface="system-ui"/>
                  </a:rPr>
                  <a:t> это условная энтропия распределения классов при наличии предложенного назначения кластеров, </a:t>
                </a:r>
              </a:p>
              <a:p>
                <a:pPr algn="just"/>
                <a14:m>
                  <m:oMath xmlns:m="http://schemas.openxmlformats.org/officeDocument/2006/math">
                    <m:r>
                      <a:rPr lang="ru-RU" b="0" i="1" dirty="0" smtClean="0">
                        <a:effectLst/>
                        <a:latin typeface="Cambria Math" panose="02040503050406030204" pitchFamily="18" charset="0"/>
                      </a:rPr>
                      <m:t>Н(С)</m:t>
                    </m:r>
                  </m:oMath>
                </a14:m>
                <a:r>
                  <a:rPr lang="ru-RU" b="0" i="0" dirty="0">
                    <a:effectLst/>
                    <a:latin typeface="system-ui"/>
                  </a:rPr>
                  <a:t> — энтропия классов. </a:t>
                </a:r>
              </a:p>
              <a:p>
                <a:pPr marL="0" indent="0" algn="just">
                  <a:buNone/>
                </a:pPr>
                <a:endParaRPr lang="ru-RU" dirty="0">
                  <a:latin typeface="system-ui"/>
                </a:endParaRPr>
              </a:p>
              <a:p>
                <a:pPr marL="0" indent="0" algn="just">
                  <a:buNone/>
                </a:pPr>
                <a:r>
                  <a:rPr lang="ru-RU" b="0" i="0" dirty="0">
                    <a:effectLst/>
                    <a:latin typeface="system-ui"/>
                  </a:rPr>
                  <a:t>Н(C|K) максимальна и равна H(C), когда кластеризация не предоставляет новой информации, и равна нулю, когда каждый кластер содержит член только одного класса.</a:t>
                </a:r>
              </a:p>
            </p:txBody>
          </p:sp>
        </mc:Choice>
        <mc:Fallback xmlns="">
          <p:sp>
            <p:nvSpPr>
              <p:cNvPr id="3" name="Объект 2">
                <a:extLst>
                  <a:ext uri="{FF2B5EF4-FFF2-40B4-BE49-F238E27FC236}">
                    <a16:creationId xmlns:a16="http://schemas.microsoft.com/office/drawing/2014/main" id="{BD6B0A08-19F0-457E-869E-009E573E8F1E}"/>
                  </a:ext>
                </a:extLst>
              </p:cNvPr>
              <p:cNvSpPr>
                <a:spLocks noGrp="1" noRot="1" noChangeAspect="1" noMove="1" noResize="1" noEditPoints="1" noAdjustHandles="1" noChangeArrowheads="1" noChangeShapeType="1" noTextEdit="1"/>
              </p:cNvSpPr>
              <p:nvPr>
                <p:ph idx="1"/>
              </p:nvPr>
            </p:nvSpPr>
            <p:spPr>
              <a:blipFill>
                <a:blip r:embed="rId3"/>
                <a:stretch>
                  <a:fillRect l="-927" t="-1392" r="-927"/>
                </a:stretch>
              </a:blipFill>
            </p:spPr>
            <p:txBody>
              <a:bodyPr/>
              <a:lstStyle/>
              <a:p>
                <a:r>
                  <a:rPr lang="ru-RU">
                    <a:noFill/>
                  </a:rPr>
                  <a:t> </a:t>
                </a:r>
              </a:p>
            </p:txBody>
          </p:sp>
        </mc:Fallback>
      </mc:AlternateContent>
      <p:sp>
        <p:nvSpPr>
          <p:cNvPr id="4" name="Нижний колонтитул 3">
            <a:extLst>
              <a:ext uri="{FF2B5EF4-FFF2-40B4-BE49-F238E27FC236}">
                <a16:creationId xmlns:a16="http://schemas.microsoft.com/office/drawing/2014/main" id="{2E7F7A0E-A425-4606-8D3A-DF45DE299E74}"/>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8FB5C9F6-3562-4247-B25A-8468550E3161}"/>
              </a:ext>
            </a:extLst>
          </p:cNvPr>
          <p:cNvSpPr>
            <a:spLocks noGrp="1"/>
          </p:cNvSpPr>
          <p:nvPr>
            <p:ph type="sldNum" sz="quarter" idx="12"/>
          </p:nvPr>
        </p:nvSpPr>
        <p:spPr/>
        <p:txBody>
          <a:bodyPr/>
          <a:lstStyle/>
          <a:p>
            <a:fld id="{81C5FB71-5E9C-41B5-9BB8-3F1EBEAEB16A}" type="slidenum">
              <a:rPr lang="ru-RU" smtClean="0"/>
              <a:t>20</a:t>
            </a:fld>
            <a:endParaRPr lang="ru-RU"/>
          </a:p>
        </p:txBody>
      </p:sp>
    </p:spTree>
    <p:extLst>
      <p:ext uri="{BB962C8B-B14F-4D97-AF65-F5344CB8AC3E}">
        <p14:creationId xmlns:p14="http://schemas.microsoft.com/office/powerpoint/2010/main" val="29023686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6F5B276-AC39-4BB8-98C9-B6386C612D38}"/>
              </a:ext>
            </a:extLst>
          </p:cNvPr>
          <p:cNvSpPr>
            <a:spLocks noGrp="1"/>
          </p:cNvSpPr>
          <p:nvPr>
            <p:ph type="title"/>
          </p:nvPr>
        </p:nvSpPr>
        <p:spPr>
          <a:xfrm>
            <a:off x="628650" y="70791"/>
            <a:ext cx="8210550" cy="1100056"/>
          </a:xfrm>
        </p:spPr>
        <p:txBody>
          <a:bodyPr>
            <a:normAutofit/>
          </a:bodyPr>
          <a:lstStyle/>
          <a:p>
            <a:r>
              <a:rPr kumimoji="0" lang="ru-RU" sz="2400" b="1" i="0" u="none" strike="noStrike" kern="1200" cap="none" spc="0" normalizeH="0" baseline="0" noProof="0" dirty="0">
                <a:ln>
                  <a:noFill/>
                </a:ln>
                <a:solidFill>
                  <a:prstClr val="black"/>
                </a:solidFill>
                <a:effectLst/>
                <a:uLnTx/>
                <a:uFillTx/>
                <a:latin typeface="system-ui"/>
                <a:ea typeface="+mj-ea"/>
                <a:cs typeface="+mj-cs"/>
              </a:rPr>
              <a:t>Подбор оптимального количества кластеров - величины k</a:t>
            </a:r>
            <a:endParaRPr lang="ru-RU" sz="2400"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85FF7CFC-2FDD-418E-9D20-65B9F4867A06}"/>
                  </a:ext>
                </a:extLst>
              </p:cNvPr>
              <p:cNvSpPr>
                <a:spLocks noGrp="1"/>
              </p:cNvSpPr>
              <p:nvPr>
                <p:ph idx="1"/>
              </p:nvPr>
            </p:nvSpPr>
            <p:spPr/>
            <p:txBody>
              <a:bodyPr>
                <a:normAutofit lnSpcReduction="10000"/>
              </a:bodyPr>
              <a:lstStyle/>
              <a:p>
                <a:pPr marL="0" indent="0" algn="l">
                  <a:buNone/>
                </a:pPr>
                <a:r>
                  <a:rPr lang="ru-RU" b="0" i="0" dirty="0">
                    <a:effectLst/>
                    <a:latin typeface="system-ui"/>
                  </a:rPr>
                  <a:t>Завершенность (</a:t>
                </a:r>
                <a:r>
                  <a:rPr lang="ru-RU" b="0" i="0" dirty="0" err="1">
                    <a:effectLst/>
                    <a:latin typeface="system-ui"/>
                  </a:rPr>
                  <a:t>completeness</a:t>
                </a:r>
                <a:r>
                  <a:rPr lang="ru-RU" b="0" i="0" dirty="0">
                    <a:effectLst/>
                    <a:latin typeface="system-ui"/>
                  </a:rPr>
                  <a:t>) – мера того, сколько всех членов класса назначено одному и тому же кластеру. </a:t>
                </a:r>
              </a:p>
              <a:p>
                <a:pPr marL="0" indent="0" algn="l">
                  <a:buNone/>
                </a:pPr>
                <a:r>
                  <a:rPr lang="ru-RU" dirty="0">
                    <a:latin typeface="system-ui"/>
                  </a:rPr>
                  <a:t>О</a:t>
                </a:r>
                <a:r>
                  <a:rPr lang="ru-RU" b="0" i="0" dirty="0">
                    <a:effectLst/>
                    <a:latin typeface="system-ui"/>
                  </a:rPr>
                  <a:t>граничена значениями между 0 (худший) и 1 (лучший).</a:t>
                </a:r>
                <a:endParaRPr lang="en-US" b="0" i="0" dirty="0">
                  <a:effectLst/>
                  <a:latin typeface="system-ui"/>
                </a:endParaRPr>
              </a:p>
              <a:p>
                <a:pPr marL="0" indent="0" algn="l">
                  <a:buNone/>
                </a:pPr>
                <a:endParaRPr lang="ru-RU" b="0" i="0" dirty="0">
                  <a:effectLst/>
                  <a:latin typeface="system-ui"/>
                </a:endParaRPr>
              </a:p>
              <a:p>
                <a:pPr marL="0" indent="0" algn="l">
                  <a:buNone/>
                </a:pPr>
                <a14:m>
                  <m:oMathPara xmlns:m="http://schemas.openxmlformats.org/officeDocument/2006/math">
                    <m:oMathParaPr>
                      <m:jc m:val="centerGroup"/>
                    </m:oMathParaPr>
                    <m:oMath xmlns:m="http://schemas.openxmlformats.org/officeDocument/2006/math">
                      <m:r>
                        <a:rPr lang="ru-RU" sz="2500" b="0" i="1" dirty="0" smtClean="0">
                          <a:effectLst/>
                          <a:latin typeface="Cambria Math" panose="02040503050406030204" pitchFamily="18" charset="0"/>
                        </a:rPr>
                        <m:t>𝑐</m:t>
                      </m:r>
                      <m:r>
                        <a:rPr lang="ru-RU" sz="2500" b="0" i="1" dirty="0" smtClean="0">
                          <a:effectLst/>
                          <a:latin typeface="Cambria Math" panose="02040503050406030204" pitchFamily="18" charset="0"/>
                        </a:rPr>
                        <m:t> = 1−</m:t>
                      </m:r>
                      <m:r>
                        <a:rPr lang="ru-RU" sz="2500" b="0" i="1" dirty="0" smtClean="0">
                          <a:effectLst/>
                          <a:latin typeface="Cambria Math" panose="02040503050406030204" pitchFamily="18" charset="0"/>
                        </a:rPr>
                        <m:t>𝐻</m:t>
                      </m:r>
                      <m:r>
                        <a:rPr lang="ru-RU" sz="2500" b="0" i="1" dirty="0" smtClean="0">
                          <a:effectLst/>
                          <a:latin typeface="Cambria Math" panose="02040503050406030204" pitchFamily="18" charset="0"/>
                        </a:rPr>
                        <m:t>(</m:t>
                      </m:r>
                      <m:r>
                        <a:rPr lang="ru-RU" sz="2500" b="0" i="1" dirty="0" smtClean="0">
                          <a:effectLst/>
                          <a:latin typeface="Cambria Math" panose="02040503050406030204" pitchFamily="18" charset="0"/>
                        </a:rPr>
                        <m:t>𝐾</m:t>
                      </m:r>
                      <m:r>
                        <a:rPr lang="ru-RU" sz="2500" b="0" i="1" dirty="0" smtClean="0">
                          <a:effectLst/>
                          <a:latin typeface="Cambria Math" panose="02040503050406030204" pitchFamily="18" charset="0"/>
                        </a:rPr>
                        <m:t>|</m:t>
                      </m:r>
                      <m:r>
                        <a:rPr lang="ru-RU" sz="2500" b="0" i="1" dirty="0" smtClean="0">
                          <a:effectLst/>
                          <a:latin typeface="Cambria Math" panose="02040503050406030204" pitchFamily="18" charset="0"/>
                        </a:rPr>
                        <m:t>𝐶</m:t>
                      </m:r>
                      <m:r>
                        <a:rPr lang="ru-RU" sz="2500" b="0" i="1" dirty="0" smtClean="0">
                          <a:effectLst/>
                          <a:latin typeface="Cambria Math" panose="02040503050406030204" pitchFamily="18" charset="0"/>
                        </a:rPr>
                        <m:t>)/</m:t>
                      </m:r>
                      <m:r>
                        <a:rPr lang="ru-RU" sz="2500" b="0" i="1" dirty="0" smtClean="0">
                          <a:effectLst/>
                          <a:latin typeface="Cambria Math" panose="02040503050406030204" pitchFamily="18" charset="0"/>
                        </a:rPr>
                        <m:t>𝐻</m:t>
                      </m:r>
                      <m:r>
                        <a:rPr lang="ru-RU" sz="2500" b="0" i="1" dirty="0" smtClean="0">
                          <a:effectLst/>
                          <a:latin typeface="Cambria Math" panose="02040503050406030204" pitchFamily="18" charset="0"/>
                        </a:rPr>
                        <m:t>(</m:t>
                      </m:r>
                      <m:r>
                        <a:rPr lang="ru-RU" sz="2500" b="0" i="1" dirty="0" smtClean="0">
                          <a:effectLst/>
                          <a:latin typeface="Cambria Math" panose="02040503050406030204" pitchFamily="18" charset="0"/>
                        </a:rPr>
                        <m:t>𝐾</m:t>
                      </m:r>
                      <m:r>
                        <a:rPr lang="ru-RU" sz="2500" b="0" i="1" dirty="0" smtClean="0">
                          <a:effectLst/>
                          <a:latin typeface="Cambria Math" panose="02040503050406030204" pitchFamily="18" charset="0"/>
                        </a:rPr>
                        <m:t>)</m:t>
                      </m:r>
                    </m:oMath>
                  </m:oMathPara>
                </a14:m>
                <a:endParaRPr lang="ru-RU" sz="2500" b="0" i="0" dirty="0">
                  <a:effectLst/>
                  <a:latin typeface="system-ui"/>
                </a:endParaRPr>
              </a:p>
              <a:p>
                <a:pPr marL="0" indent="0" algn="l">
                  <a:buNone/>
                </a:pPr>
                <a:r>
                  <a:rPr lang="ru-RU" b="0" i="0" dirty="0">
                    <a:effectLst/>
                    <a:latin typeface="system-ui"/>
                  </a:rPr>
                  <a:t>Здесь </a:t>
                </a:r>
              </a:p>
              <a:p>
                <a:r>
                  <a:rPr lang="ru-RU" b="0" i="0" dirty="0">
                    <a:effectLst/>
                    <a:latin typeface="system-ui"/>
                  </a:rPr>
                  <a:t>H(K|C) - это условная энтропия предложенного распределения кластеров при наличии класса, </a:t>
                </a:r>
                <a:endParaRPr lang="ru-RU" dirty="0">
                  <a:latin typeface="system-ui"/>
                </a:endParaRPr>
              </a:p>
              <a:p>
                <a:r>
                  <a:rPr lang="ru-RU" b="0" i="0" dirty="0">
                    <a:effectLst/>
                    <a:latin typeface="system-ui"/>
                  </a:rPr>
                  <a:t>H(K) - энтропия кластеров.</a:t>
                </a:r>
                <a:endParaRPr lang="en-US" b="0" i="0" dirty="0">
                  <a:effectLst/>
                  <a:latin typeface="system-ui"/>
                </a:endParaRPr>
              </a:p>
              <a:p>
                <a:pPr marL="0" indent="0">
                  <a:buNone/>
                </a:pPr>
                <a:endParaRPr lang="ru-RU" b="0" i="0" dirty="0">
                  <a:effectLst/>
                  <a:latin typeface="system-ui"/>
                </a:endParaRPr>
              </a:p>
              <a:p>
                <a:pPr marL="0" indent="0">
                  <a:buNone/>
                </a:pPr>
                <a:r>
                  <a:rPr lang="ru-RU" dirty="0"/>
                  <a:t>V-мера (V </a:t>
                </a:r>
                <a:r>
                  <a:rPr lang="ru-RU" dirty="0" err="1"/>
                  <a:t>measure</a:t>
                </a:r>
                <a:r>
                  <a:rPr lang="ru-RU" dirty="0"/>
                  <a:t>) —среднее гармоническое однородности и полноты:</a:t>
                </a:r>
              </a:p>
              <a:p>
                <a:pPr marL="0" indent="0">
                  <a:buNone/>
                </a:pPr>
                <a14:m>
                  <m:oMathPara xmlns:m="http://schemas.openxmlformats.org/officeDocument/2006/math">
                    <m:oMathParaPr>
                      <m:jc m:val="centerGroup"/>
                    </m:oMathParaPr>
                    <m:oMath xmlns:m="http://schemas.openxmlformats.org/officeDocument/2006/math">
                      <m:r>
                        <a:rPr lang="ru-RU" sz="2500" i="1" dirty="0" smtClean="0">
                          <a:latin typeface="Cambria Math" panose="02040503050406030204" pitchFamily="18" charset="0"/>
                        </a:rPr>
                        <m:t>𝑣</m:t>
                      </m:r>
                      <m:r>
                        <a:rPr lang="ru-RU" sz="2500" i="1" dirty="0" smtClean="0">
                          <a:latin typeface="Cambria Math" panose="02040503050406030204" pitchFamily="18" charset="0"/>
                        </a:rPr>
                        <m:t> =2⋅</m:t>
                      </m:r>
                      <m:f>
                        <m:fPr>
                          <m:ctrlPr>
                            <a:rPr lang="ru-RU" sz="2500" i="1" dirty="0" smtClean="0">
                              <a:latin typeface="Cambria Math" panose="02040503050406030204" pitchFamily="18" charset="0"/>
                            </a:rPr>
                          </m:ctrlPr>
                        </m:fPr>
                        <m:num>
                          <m:r>
                            <a:rPr lang="ru-RU" sz="2500" i="1" dirty="0" smtClean="0">
                              <a:latin typeface="Cambria Math" panose="02040503050406030204" pitchFamily="18" charset="0"/>
                            </a:rPr>
                            <m:t>h</m:t>
                          </m:r>
                          <m:r>
                            <a:rPr lang="ru-RU" sz="2500" b="0" i="1" dirty="0" smtClean="0">
                              <a:latin typeface="Cambria Math" panose="02040503050406030204" pitchFamily="18" charset="0"/>
                            </a:rPr>
                            <m:t>⋅</m:t>
                          </m:r>
                          <m:r>
                            <a:rPr lang="ru-RU" sz="2500" i="1" dirty="0" smtClean="0">
                              <a:latin typeface="Cambria Math" panose="02040503050406030204" pitchFamily="18" charset="0"/>
                            </a:rPr>
                            <m:t>𝑐</m:t>
                          </m:r>
                        </m:num>
                        <m:den>
                          <m:r>
                            <a:rPr lang="ru-RU" sz="2500" i="1" dirty="0" err="1">
                              <a:latin typeface="Cambria Math" panose="02040503050406030204" pitchFamily="18" charset="0"/>
                            </a:rPr>
                            <m:t>h</m:t>
                          </m:r>
                          <m:r>
                            <a:rPr lang="ru-RU" sz="2500" i="1" dirty="0" err="1">
                              <a:latin typeface="Cambria Math" panose="02040503050406030204" pitchFamily="18" charset="0"/>
                            </a:rPr>
                            <m:t>+</m:t>
                          </m:r>
                          <m:r>
                            <a:rPr lang="ru-RU" sz="2500" i="1" dirty="0" err="1">
                              <a:latin typeface="Cambria Math" panose="02040503050406030204" pitchFamily="18" charset="0"/>
                            </a:rPr>
                            <m:t>𝑐</m:t>
                          </m:r>
                        </m:den>
                      </m:f>
                    </m:oMath>
                  </m:oMathPara>
                </a14:m>
                <a:endParaRPr lang="ru-RU" sz="2500" dirty="0"/>
              </a:p>
              <a:p>
                <a:pPr marL="0" indent="0">
                  <a:buNone/>
                </a:pPr>
                <a:endParaRPr lang="ru-RU" dirty="0"/>
              </a:p>
            </p:txBody>
          </p:sp>
        </mc:Choice>
        <mc:Fallback xmlns="">
          <p:sp>
            <p:nvSpPr>
              <p:cNvPr id="3" name="Объект 2">
                <a:extLst>
                  <a:ext uri="{FF2B5EF4-FFF2-40B4-BE49-F238E27FC236}">
                    <a16:creationId xmlns:a16="http://schemas.microsoft.com/office/drawing/2014/main" id="{85FF7CFC-2FDD-418E-9D20-65B9F4867A06}"/>
                  </a:ext>
                </a:extLst>
              </p:cNvPr>
              <p:cNvSpPr>
                <a:spLocks noGrp="1" noRot="1" noChangeAspect="1" noMove="1" noResize="1" noEditPoints="1" noAdjustHandles="1" noChangeArrowheads="1" noChangeShapeType="1" noTextEdit="1"/>
              </p:cNvSpPr>
              <p:nvPr>
                <p:ph idx="1"/>
              </p:nvPr>
            </p:nvSpPr>
            <p:spPr>
              <a:blipFill>
                <a:blip r:embed="rId2"/>
                <a:stretch>
                  <a:fillRect l="-927" t="-1899"/>
                </a:stretch>
              </a:blipFill>
            </p:spPr>
            <p:txBody>
              <a:bodyPr/>
              <a:lstStyle/>
              <a:p>
                <a:r>
                  <a:rPr lang="ru-RU">
                    <a:noFill/>
                  </a:rPr>
                  <a:t> </a:t>
                </a:r>
              </a:p>
            </p:txBody>
          </p:sp>
        </mc:Fallback>
      </mc:AlternateContent>
      <p:sp>
        <p:nvSpPr>
          <p:cNvPr id="4" name="Нижний колонтитул 3">
            <a:extLst>
              <a:ext uri="{FF2B5EF4-FFF2-40B4-BE49-F238E27FC236}">
                <a16:creationId xmlns:a16="http://schemas.microsoft.com/office/drawing/2014/main" id="{A20100B1-A62D-4FC9-8956-B0C61E6A5605}"/>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14C96219-D310-4965-B5D0-094ADFF60439}"/>
              </a:ext>
            </a:extLst>
          </p:cNvPr>
          <p:cNvSpPr>
            <a:spLocks noGrp="1"/>
          </p:cNvSpPr>
          <p:nvPr>
            <p:ph type="sldNum" sz="quarter" idx="12"/>
          </p:nvPr>
        </p:nvSpPr>
        <p:spPr/>
        <p:txBody>
          <a:bodyPr/>
          <a:lstStyle/>
          <a:p>
            <a:fld id="{81C5FB71-5E9C-41B5-9BB8-3F1EBEAEB16A}" type="slidenum">
              <a:rPr lang="ru-RU" smtClean="0"/>
              <a:t>21</a:t>
            </a:fld>
            <a:endParaRPr lang="ru-RU"/>
          </a:p>
        </p:txBody>
      </p:sp>
    </p:spTree>
    <p:extLst>
      <p:ext uri="{BB962C8B-B14F-4D97-AF65-F5344CB8AC3E}">
        <p14:creationId xmlns:p14="http://schemas.microsoft.com/office/powerpoint/2010/main" val="19060035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353C9CA-2329-4B1E-9883-38F79EB2A279}"/>
              </a:ext>
            </a:extLst>
          </p:cNvPr>
          <p:cNvSpPr>
            <a:spLocks noGrp="1"/>
          </p:cNvSpPr>
          <p:nvPr>
            <p:ph type="title"/>
          </p:nvPr>
        </p:nvSpPr>
        <p:spPr>
          <a:xfrm>
            <a:off x="628650" y="70791"/>
            <a:ext cx="8134350" cy="1100056"/>
          </a:xfrm>
        </p:spPr>
        <p:txBody>
          <a:bodyPr>
            <a:normAutofit/>
          </a:bodyPr>
          <a:lstStyle/>
          <a:p>
            <a:r>
              <a:rPr kumimoji="0" lang="ru-RU" sz="2400" b="1" i="0" u="none" strike="noStrike" kern="1200" cap="none" spc="0" normalizeH="0" baseline="0" noProof="0" dirty="0">
                <a:ln>
                  <a:noFill/>
                </a:ln>
                <a:solidFill>
                  <a:prstClr val="black"/>
                </a:solidFill>
                <a:effectLst/>
                <a:uLnTx/>
                <a:uFillTx/>
                <a:latin typeface="system-ui"/>
                <a:ea typeface="+mj-ea"/>
                <a:cs typeface="+mj-cs"/>
              </a:rPr>
              <a:t>Подбор оптимального количества кластеров - величины k</a:t>
            </a:r>
            <a:endParaRPr lang="ru-RU" sz="2400" dirty="0"/>
          </a:p>
        </p:txBody>
      </p:sp>
      <p:pic>
        <p:nvPicPr>
          <p:cNvPr id="7" name="Объект 6">
            <a:extLst>
              <a:ext uri="{FF2B5EF4-FFF2-40B4-BE49-F238E27FC236}">
                <a16:creationId xmlns:a16="http://schemas.microsoft.com/office/drawing/2014/main" id="{89EEBCE9-2A94-4962-87BA-404C8322CC76}"/>
              </a:ext>
            </a:extLst>
          </p:cNvPr>
          <p:cNvPicPr>
            <a:picLocks noGrp="1" noChangeAspect="1"/>
          </p:cNvPicPr>
          <p:nvPr>
            <p:ph idx="1"/>
          </p:nvPr>
        </p:nvPicPr>
        <p:blipFill>
          <a:blip r:embed="rId2"/>
          <a:stretch>
            <a:fillRect/>
          </a:stretch>
        </p:blipFill>
        <p:spPr>
          <a:xfrm>
            <a:off x="1020497" y="1358900"/>
            <a:ext cx="7103006" cy="4818063"/>
          </a:xfrm>
        </p:spPr>
      </p:pic>
      <p:sp>
        <p:nvSpPr>
          <p:cNvPr id="4" name="Нижний колонтитул 3">
            <a:extLst>
              <a:ext uri="{FF2B5EF4-FFF2-40B4-BE49-F238E27FC236}">
                <a16:creationId xmlns:a16="http://schemas.microsoft.com/office/drawing/2014/main" id="{C57F1943-3E26-43E7-83D2-25E085A3774B}"/>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EB2FB942-70EC-4EA6-B319-D3615F5BA1DF}"/>
              </a:ext>
            </a:extLst>
          </p:cNvPr>
          <p:cNvSpPr>
            <a:spLocks noGrp="1"/>
          </p:cNvSpPr>
          <p:nvPr>
            <p:ph type="sldNum" sz="quarter" idx="12"/>
          </p:nvPr>
        </p:nvSpPr>
        <p:spPr/>
        <p:txBody>
          <a:bodyPr/>
          <a:lstStyle/>
          <a:p>
            <a:fld id="{81C5FB71-5E9C-41B5-9BB8-3F1EBEAEB16A}" type="slidenum">
              <a:rPr lang="ru-RU" smtClean="0"/>
              <a:t>22</a:t>
            </a:fld>
            <a:endParaRPr lang="ru-RU"/>
          </a:p>
        </p:txBody>
      </p:sp>
    </p:spTree>
    <p:extLst>
      <p:ext uri="{BB962C8B-B14F-4D97-AF65-F5344CB8AC3E}">
        <p14:creationId xmlns:p14="http://schemas.microsoft.com/office/powerpoint/2010/main" val="17053779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4B43E98-E420-4FC6-A049-25025D20F5F8}"/>
              </a:ext>
            </a:extLst>
          </p:cNvPr>
          <p:cNvSpPr>
            <a:spLocks noGrp="1"/>
          </p:cNvSpPr>
          <p:nvPr>
            <p:ph type="title"/>
          </p:nvPr>
        </p:nvSpPr>
        <p:spPr>
          <a:xfrm>
            <a:off x="628650" y="70791"/>
            <a:ext cx="8210550" cy="1100056"/>
          </a:xfrm>
        </p:spPr>
        <p:txBody>
          <a:bodyPr>
            <a:normAutofit/>
          </a:bodyPr>
          <a:lstStyle/>
          <a:p>
            <a:r>
              <a:rPr lang="ru-RU" sz="2400" dirty="0"/>
              <a:t>Подбор оптимального количества кластеров - величины k</a:t>
            </a:r>
          </a:p>
        </p:txBody>
      </p:sp>
      <p:sp>
        <p:nvSpPr>
          <p:cNvPr id="3" name="Объект 2">
            <a:extLst>
              <a:ext uri="{FF2B5EF4-FFF2-40B4-BE49-F238E27FC236}">
                <a16:creationId xmlns:a16="http://schemas.microsoft.com/office/drawing/2014/main" id="{15A94B1E-986B-47B7-95E2-B253468BB36C}"/>
              </a:ext>
            </a:extLst>
          </p:cNvPr>
          <p:cNvSpPr>
            <a:spLocks noGrp="1"/>
          </p:cNvSpPr>
          <p:nvPr>
            <p:ph idx="1"/>
          </p:nvPr>
        </p:nvSpPr>
        <p:spPr/>
        <p:txBody>
          <a:bodyPr>
            <a:normAutofit/>
          </a:bodyPr>
          <a:lstStyle/>
          <a:p>
            <a:pPr marL="0" indent="0">
              <a:buNone/>
            </a:pPr>
            <a:endParaRPr lang="ru-RU" b="0" i="0" dirty="0">
              <a:effectLst/>
              <a:latin typeface="system-ui"/>
            </a:endParaRPr>
          </a:p>
          <a:p>
            <a:pPr marL="0" indent="0">
              <a:buNone/>
            </a:pPr>
            <a:endParaRPr lang="ru-RU" dirty="0">
              <a:latin typeface="system-ui"/>
            </a:endParaRPr>
          </a:p>
          <a:p>
            <a:pPr marL="0" indent="0">
              <a:buNone/>
            </a:pPr>
            <a:endParaRPr lang="ru-RU" b="0" i="0" dirty="0">
              <a:effectLst/>
              <a:latin typeface="system-ui"/>
            </a:endParaRPr>
          </a:p>
          <a:p>
            <a:pPr marL="0" indent="0">
              <a:buNone/>
            </a:pPr>
            <a:endParaRPr lang="ru-RU" dirty="0">
              <a:latin typeface="system-ui"/>
            </a:endParaRPr>
          </a:p>
          <a:p>
            <a:pPr marL="0" indent="0">
              <a:buNone/>
            </a:pPr>
            <a:endParaRPr lang="ru-RU" b="0" i="0" dirty="0">
              <a:effectLst/>
              <a:latin typeface="system-ui"/>
            </a:endParaRPr>
          </a:p>
          <a:p>
            <a:pPr marL="0" indent="0">
              <a:buNone/>
            </a:pPr>
            <a:endParaRPr lang="ru-RU" dirty="0">
              <a:latin typeface="system-ui"/>
            </a:endParaRPr>
          </a:p>
          <a:p>
            <a:pPr marL="0" indent="0">
              <a:buNone/>
            </a:pPr>
            <a:endParaRPr lang="ru-RU" b="0" i="0" dirty="0">
              <a:effectLst/>
              <a:latin typeface="system-ui"/>
            </a:endParaRPr>
          </a:p>
          <a:p>
            <a:pPr marL="0" indent="0">
              <a:buNone/>
            </a:pPr>
            <a:endParaRPr lang="ru-RU" dirty="0">
              <a:latin typeface="system-ui"/>
            </a:endParaRPr>
          </a:p>
          <a:p>
            <a:pPr marL="0" indent="0">
              <a:buNone/>
            </a:pPr>
            <a:r>
              <a:rPr lang="ru-RU" b="0" i="0" dirty="0">
                <a:effectLst/>
                <a:latin typeface="system-ui"/>
              </a:rPr>
              <a:t>Вначале графика (k &lt; 3) полнота высокая, но однородность низкая. Для k &gt; 4 все наоборот: однородность высокая, но полнота низкая. В обоих случаях V-мера является низкой. Для k = 3, напротив, все меры достигают своего максимума, указывая, что это наилучшая величина k, т.е. число кластеров.</a:t>
            </a:r>
            <a:endParaRPr lang="ru-RU" dirty="0"/>
          </a:p>
        </p:txBody>
      </p:sp>
      <p:sp>
        <p:nvSpPr>
          <p:cNvPr id="4" name="Нижний колонтитул 3">
            <a:extLst>
              <a:ext uri="{FF2B5EF4-FFF2-40B4-BE49-F238E27FC236}">
                <a16:creationId xmlns:a16="http://schemas.microsoft.com/office/drawing/2014/main" id="{B0F6D8E7-C078-44EC-B99A-04BA9997079B}"/>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1A63C954-BD88-4F53-A52B-EFC0A5F5452D}"/>
              </a:ext>
            </a:extLst>
          </p:cNvPr>
          <p:cNvSpPr>
            <a:spLocks noGrp="1"/>
          </p:cNvSpPr>
          <p:nvPr>
            <p:ph type="sldNum" sz="quarter" idx="12"/>
          </p:nvPr>
        </p:nvSpPr>
        <p:spPr/>
        <p:txBody>
          <a:bodyPr/>
          <a:lstStyle/>
          <a:p>
            <a:fld id="{81C5FB71-5E9C-41B5-9BB8-3F1EBEAEB16A}" type="slidenum">
              <a:rPr lang="ru-RU" smtClean="0"/>
              <a:t>23</a:t>
            </a:fld>
            <a:endParaRPr lang="ru-RU"/>
          </a:p>
        </p:txBody>
      </p:sp>
      <p:pic>
        <p:nvPicPr>
          <p:cNvPr id="9" name="Рисунок 8">
            <a:extLst>
              <a:ext uri="{FF2B5EF4-FFF2-40B4-BE49-F238E27FC236}">
                <a16:creationId xmlns:a16="http://schemas.microsoft.com/office/drawing/2014/main" id="{C8F40371-999F-49AF-BD21-C58023BCE408}"/>
              </a:ext>
            </a:extLst>
          </p:cNvPr>
          <p:cNvPicPr>
            <a:picLocks noChangeAspect="1"/>
          </p:cNvPicPr>
          <p:nvPr/>
        </p:nvPicPr>
        <p:blipFill>
          <a:blip r:embed="rId2"/>
          <a:stretch>
            <a:fillRect/>
          </a:stretch>
        </p:blipFill>
        <p:spPr>
          <a:xfrm>
            <a:off x="1071074" y="1350235"/>
            <a:ext cx="7001852" cy="3096057"/>
          </a:xfrm>
          <a:prstGeom prst="rect">
            <a:avLst/>
          </a:prstGeom>
        </p:spPr>
      </p:pic>
    </p:spTree>
    <p:extLst>
      <p:ext uri="{BB962C8B-B14F-4D97-AF65-F5344CB8AC3E}">
        <p14:creationId xmlns:p14="http://schemas.microsoft.com/office/powerpoint/2010/main" val="25168698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FBC1C2-5CB5-CE0D-0B5E-8D7251487D5F}"/>
              </a:ext>
            </a:extLst>
          </p:cNvPr>
          <p:cNvSpPr>
            <a:spLocks noGrp="1"/>
          </p:cNvSpPr>
          <p:nvPr>
            <p:ph type="title"/>
          </p:nvPr>
        </p:nvSpPr>
        <p:spPr/>
        <p:txBody>
          <a:bodyPr/>
          <a:lstStyle/>
          <a:p>
            <a:r>
              <a:rPr lang="ru-RU" dirty="0"/>
              <a:t>Сдвиг среднего значения (</a:t>
            </a:r>
            <a:r>
              <a:rPr lang="en-US" dirty="0"/>
              <a:t>Mean Shift</a:t>
            </a:r>
            <a:r>
              <a:rPr lang="ru-RU" dirty="0"/>
              <a:t>)</a:t>
            </a:r>
          </a:p>
        </p:txBody>
      </p:sp>
      <p:sp>
        <p:nvSpPr>
          <p:cNvPr id="4" name="Нижний колонтитул 3">
            <a:extLst>
              <a:ext uri="{FF2B5EF4-FFF2-40B4-BE49-F238E27FC236}">
                <a16:creationId xmlns:a16="http://schemas.microsoft.com/office/drawing/2014/main" id="{A1FEED41-1B20-6397-0955-905832022BC9}"/>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2776F2F5-639B-4E8F-B132-C6B1DAE3A50B}"/>
              </a:ext>
            </a:extLst>
          </p:cNvPr>
          <p:cNvSpPr>
            <a:spLocks noGrp="1"/>
          </p:cNvSpPr>
          <p:nvPr>
            <p:ph type="sldNum" sz="quarter" idx="12"/>
          </p:nvPr>
        </p:nvSpPr>
        <p:spPr/>
        <p:txBody>
          <a:bodyPr/>
          <a:lstStyle/>
          <a:p>
            <a:fld id="{81C5FB71-5E9C-41B5-9BB8-3F1EBEAEB16A}" type="slidenum">
              <a:rPr lang="ru-RU" smtClean="0"/>
              <a:t>24</a:t>
            </a:fld>
            <a:endParaRPr lang="ru-RU"/>
          </a:p>
        </p:txBody>
      </p:sp>
      <p:pic>
        <p:nvPicPr>
          <p:cNvPr id="16386" name="Picture 2" descr="Picture background">
            <a:extLst>
              <a:ext uri="{FF2B5EF4-FFF2-40B4-BE49-F238E27FC236}">
                <a16:creationId xmlns:a16="http://schemas.microsoft.com/office/drawing/2014/main" id="{10D98751-E2F9-4EB4-D0B1-36B853AE93E5}"/>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6666" t="4419" r="8751" b="9373"/>
          <a:stretch/>
        </p:blipFill>
        <p:spPr bwMode="auto">
          <a:xfrm>
            <a:off x="1409700" y="1181693"/>
            <a:ext cx="6324600" cy="41125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7847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236F1C6-987A-FBA9-C7E1-B786A7AEA8E9}"/>
              </a:ext>
            </a:extLst>
          </p:cNvPr>
          <p:cNvSpPr>
            <a:spLocks noGrp="1"/>
          </p:cNvSpPr>
          <p:nvPr>
            <p:ph type="title"/>
          </p:nvPr>
        </p:nvSpPr>
        <p:spPr/>
        <p:txBody>
          <a:bodyPr/>
          <a:lstStyle/>
          <a:p>
            <a:r>
              <a:rPr lang="ru-RU" dirty="0"/>
              <a:t>Сдвиг среднего значения (</a:t>
            </a:r>
            <a:r>
              <a:rPr lang="en-US" dirty="0"/>
              <a:t>Mean Shift</a:t>
            </a:r>
            <a:r>
              <a:rPr lang="ru-RU" dirty="0"/>
              <a:t>)</a:t>
            </a:r>
          </a:p>
        </p:txBody>
      </p:sp>
      <p:sp>
        <p:nvSpPr>
          <p:cNvPr id="4" name="Нижний колонтитул 3">
            <a:extLst>
              <a:ext uri="{FF2B5EF4-FFF2-40B4-BE49-F238E27FC236}">
                <a16:creationId xmlns:a16="http://schemas.microsoft.com/office/drawing/2014/main" id="{C62B742F-1215-01C5-FEF1-61080184C714}"/>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F19BEB79-5A43-B361-8DBC-6D7371488F3B}"/>
              </a:ext>
            </a:extLst>
          </p:cNvPr>
          <p:cNvSpPr>
            <a:spLocks noGrp="1"/>
          </p:cNvSpPr>
          <p:nvPr>
            <p:ph type="sldNum" sz="quarter" idx="12"/>
          </p:nvPr>
        </p:nvSpPr>
        <p:spPr/>
        <p:txBody>
          <a:bodyPr/>
          <a:lstStyle/>
          <a:p>
            <a:fld id="{81C5FB71-5E9C-41B5-9BB8-3F1EBEAEB16A}" type="slidenum">
              <a:rPr lang="ru-RU" smtClean="0"/>
              <a:t>25</a:t>
            </a:fld>
            <a:endParaRPr lang="ru-RU"/>
          </a:p>
        </p:txBody>
      </p:sp>
      <p:pic>
        <p:nvPicPr>
          <p:cNvPr id="14338" name="Picture 2" descr="Picture background">
            <a:extLst>
              <a:ext uri="{FF2B5EF4-FFF2-40B4-BE49-F238E27FC236}">
                <a16:creationId xmlns:a16="http://schemas.microsoft.com/office/drawing/2014/main" id="{A407B1DF-5D91-A9E3-38DE-D4CF163A92B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158925" y="1358900"/>
            <a:ext cx="6826150" cy="4818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53601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16EA2D1-CED0-E00B-5818-52401F3E59FE}"/>
              </a:ext>
            </a:extLst>
          </p:cNvPr>
          <p:cNvSpPr>
            <a:spLocks noGrp="1"/>
          </p:cNvSpPr>
          <p:nvPr>
            <p:ph type="title"/>
          </p:nvPr>
        </p:nvSpPr>
        <p:spPr/>
        <p:txBody>
          <a:bodyPr/>
          <a:lstStyle/>
          <a:p>
            <a:r>
              <a:rPr lang="ru-RU" dirty="0"/>
              <a:t>Спектральная кластеризация (</a:t>
            </a:r>
            <a:r>
              <a:rPr lang="en-US" dirty="0"/>
              <a:t>Spectral Clustering</a:t>
            </a:r>
            <a:r>
              <a:rPr lang="ru-RU" dirty="0"/>
              <a:t>)</a:t>
            </a:r>
          </a:p>
        </p:txBody>
      </p:sp>
      <p:sp>
        <p:nvSpPr>
          <p:cNvPr id="4" name="Нижний колонтитул 3">
            <a:extLst>
              <a:ext uri="{FF2B5EF4-FFF2-40B4-BE49-F238E27FC236}">
                <a16:creationId xmlns:a16="http://schemas.microsoft.com/office/drawing/2014/main" id="{3A4C4E40-8470-165F-4ACD-49D44DE37B68}"/>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E17FEB1F-5927-EF7A-9B0C-E4685DAC0C38}"/>
              </a:ext>
            </a:extLst>
          </p:cNvPr>
          <p:cNvSpPr>
            <a:spLocks noGrp="1"/>
          </p:cNvSpPr>
          <p:nvPr>
            <p:ph type="sldNum" sz="quarter" idx="12"/>
          </p:nvPr>
        </p:nvSpPr>
        <p:spPr/>
        <p:txBody>
          <a:bodyPr/>
          <a:lstStyle/>
          <a:p>
            <a:fld id="{81C5FB71-5E9C-41B5-9BB8-3F1EBEAEB16A}" type="slidenum">
              <a:rPr lang="ru-RU" smtClean="0"/>
              <a:t>26</a:t>
            </a:fld>
            <a:endParaRPr lang="ru-RU"/>
          </a:p>
        </p:txBody>
      </p:sp>
      <p:pic>
        <p:nvPicPr>
          <p:cNvPr id="15362" name="Picture 2" descr="Picture background">
            <a:extLst>
              <a:ext uri="{FF2B5EF4-FFF2-40B4-BE49-F238E27FC236}">
                <a16:creationId xmlns:a16="http://schemas.microsoft.com/office/drawing/2014/main" id="{0F0A0A69-AFC4-E22C-77AD-F4BA08A7C3B0}"/>
              </a:ext>
            </a:extLst>
          </p:cNvPr>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1681162" y="874935"/>
            <a:ext cx="5781675" cy="2149662"/>
          </a:xfrm>
          <a:prstGeom prst="rect">
            <a:avLst/>
          </a:prstGeom>
          <a:noFill/>
          <a:extLst>
            <a:ext uri="{909E8E84-426E-40DD-AFC4-6F175D3DCCD1}">
              <a14:hiddenFill xmlns:a14="http://schemas.microsoft.com/office/drawing/2010/main">
                <a:solidFill>
                  <a:srgbClr val="FFFFFF"/>
                </a:solidFill>
              </a14:hiddenFill>
            </a:ext>
          </a:extLst>
        </p:spPr>
      </p:pic>
      <p:pic>
        <p:nvPicPr>
          <p:cNvPr id="15364" name="Picture 4">
            <a:extLst>
              <a:ext uri="{FF2B5EF4-FFF2-40B4-BE49-F238E27FC236}">
                <a16:creationId xmlns:a16="http://schemas.microsoft.com/office/drawing/2014/main" id="{61372A80-BBB7-881F-8B33-2FCF8109D7C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16530"/>
          <a:stretch/>
        </p:blipFill>
        <p:spPr bwMode="auto">
          <a:xfrm>
            <a:off x="1066800" y="3029677"/>
            <a:ext cx="734711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7" name="Рисунок 6">
            <a:extLst>
              <a:ext uri="{FF2B5EF4-FFF2-40B4-BE49-F238E27FC236}">
                <a16:creationId xmlns:a16="http://schemas.microsoft.com/office/drawing/2014/main" id="{00C0DD93-558E-2660-458C-03D569DBB65B}"/>
              </a:ext>
            </a:extLst>
          </p:cNvPr>
          <p:cNvPicPr>
            <a:picLocks noChangeAspect="1"/>
          </p:cNvPicPr>
          <p:nvPr/>
        </p:nvPicPr>
        <p:blipFill>
          <a:blip r:embed="rId5"/>
          <a:stretch>
            <a:fillRect/>
          </a:stretch>
        </p:blipFill>
        <p:spPr>
          <a:xfrm>
            <a:off x="535648" y="4758199"/>
            <a:ext cx="8072702" cy="2044250"/>
          </a:xfrm>
          <a:prstGeom prst="rect">
            <a:avLst/>
          </a:prstGeom>
        </p:spPr>
      </p:pic>
    </p:spTree>
    <p:extLst>
      <p:ext uri="{BB962C8B-B14F-4D97-AF65-F5344CB8AC3E}">
        <p14:creationId xmlns:p14="http://schemas.microsoft.com/office/powerpoint/2010/main" val="40324026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B10ABD-CF51-A215-1C75-7F492F91AFB0}"/>
              </a:ext>
            </a:extLst>
          </p:cNvPr>
          <p:cNvSpPr>
            <a:spLocks noGrp="1"/>
          </p:cNvSpPr>
          <p:nvPr>
            <p:ph type="title"/>
          </p:nvPr>
        </p:nvSpPr>
        <p:spPr/>
        <p:txBody>
          <a:bodyPr/>
          <a:lstStyle/>
          <a:p>
            <a:r>
              <a:rPr lang="ru-RU" dirty="0"/>
              <a:t>Иерархическая кластеризация</a:t>
            </a:r>
          </a:p>
        </p:txBody>
      </p:sp>
      <p:sp>
        <p:nvSpPr>
          <p:cNvPr id="4" name="Нижний колонтитул 3">
            <a:extLst>
              <a:ext uri="{FF2B5EF4-FFF2-40B4-BE49-F238E27FC236}">
                <a16:creationId xmlns:a16="http://schemas.microsoft.com/office/drawing/2014/main" id="{93407092-D419-E188-B82A-AC0578022719}"/>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338C619B-29CC-341D-C0CC-1586A2C74974}"/>
              </a:ext>
            </a:extLst>
          </p:cNvPr>
          <p:cNvSpPr>
            <a:spLocks noGrp="1"/>
          </p:cNvSpPr>
          <p:nvPr>
            <p:ph type="sldNum" sz="quarter" idx="12"/>
          </p:nvPr>
        </p:nvSpPr>
        <p:spPr/>
        <p:txBody>
          <a:bodyPr/>
          <a:lstStyle/>
          <a:p>
            <a:fld id="{81C5FB71-5E9C-41B5-9BB8-3F1EBEAEB16A}" type="slidenum">
              <a:rPr lang="ru-RU" smtClean="0"/>
              <a:t>27</a:t>
            </a:fld>
            <a:endParaRPr lang="ru-RU"/>
          </a:p>
        </p:txBody>
      </p:sp>
      <p:pic>
        <p:nvPicPr>
          <p:cNvPr id="10" name="Объект 9">
            <a:extLst>
              <a:ext uri="{FF2B5EF4-FFF2-40B4-BE49-F238E27FC236}">
                <a16:creationId xmlns:a16="http://schemas.microsoft.com/office/drawing/2014/main" id="{8DAEF940-34A4-CD05-E3EE-2A1827FE72BA}"/>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r="725"/>
          <a:stretch/>
        </p:blipFill>
        <p:spPr bwMode="auto">
          <a:xfrm>
            <a:off x="74962" y="1447800"/>
            <a:ext cx="8994075" cy="4515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22230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5AF49A6-996F-E096-38A7-D8AB86E5700E}"/>
              </a:ext>
            </a:extLst>
          </p:cNvPr>
          <p:cNvSpPr>
            <a:spLocks noGrp="1"/>
          </p:cNvSpPr>
          <p:nvPr>
            <p:ph type="title"/>
          </p:nvPr>
        </p:nvSpPr>
        <p:spPr>
          <a:xfrm>
            <a:off x="628650" y="70791"/>
            <a:ext cx="7886700" cy="767409"/>
          </a:xfrm>
        </p:spPr>
        <p:txBody>
          <a:bodyPr/>
          <a:lstStyle/>
          <a:p>
            <a:r>
              <a:rPr lang="ru-RU" dirty="0"/>
              <a:t>Иерархическая кластеризация</a:t>
            </a:r>
          </a:p>
        </p:txBody>
      </p:sp>
      <p:pic>
        <p:nvPicPr>
          <p:cNvPr id="8" name="Объект 7">
            <a:extLst>
              <a:ext uri="{FF2B5EF4-FFF2-40B4-BE49-F238E27FC236}">
                <a16:creationId xmlns:a16="http://schemas.microsoft.com/office/drawing/2014/main" id="{04159E35-005D-3778-60C7-0CDDEE381D48}"/>
              </a:ext>
            </a:extLst>
          </p:cNvPr>
          <p:cNvPicPr>
            <a:picLocks noGrp="1" noChangeAspect="1"/>
          </p:cNvPicPr>
          <p:nvPr>
            <p:ph idx="1"/>
          </p:nvPr>
        </p:nvPicPr>
        <p:blipFill>
          <a:blip r:embed="rId3"/>
          <a:stretch>
            <a:fillRect/>
          </a:stretch>
        </p:blipFill>
        <p:spPr>
          <a:xfrm>
            <a:off x="628650" y="1599440"/>
            <a:ext cx="7886700" cy="4336982"/>
          </a:xfrm>
        </p:spPr>
      </p:pic>
      <p:sp>
        <p:nvSpPr>
          <p:cNvPr id="4" name="Нижний колонтитул 3">
            <a:extLst>
              <a:ext uri="{FF2B5EF4-FFF2-40B4-BE49-F238E27FC236}">
                <a16:creationId xmlns:a16="http://schemas.microsoft.com/office/drawing/2014/main" id="{3D6A2F48-267B-6592-8747-EFBF873EFE75}"/>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7046EE96-75C3-CA8D-26AC-BF78DC9062AF}"/>
              </a:ext>
            </a:extLst>
          </p:cNvPr>
          <p:cNvSpPr>
            <a:spLocks noGrp="1"/>
          </p:cNvSpPr>
          <p:nvPr>
            <p:ph type="sldNum" sz="quarter" idx="12"/>
          </p:nvPr>
        </p:nvSpPr>
        <p:spPr/>
        <p:txBody>
          <a:bodyPr/>
          <a:lstStyle/>
          <a:p>
            <a:fld id="{81C5FB71-5E9C-41B5-9BB8-3F1EBEAEB16A}" type="slidenum">
              <a:rPr lang="ru-RU" smtClean="0"/>
              <a:t>28</a:t>
            </a:fld>
            <a:endParaRPr lang="ru-RU"/>
          </a:p>
        </p:txBody>
      </p:sp>
    </p:spTree>
    <p:extLst>
      <p:ext uri="{BB962C8B-B14F-4D97-AF65-F5344CB8AC3E}">
        <p14:creationId xmlns:p14="http://schemas.microsoft.com/office/powerpoint/2010/main" val="17226610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EC6E5EB-3870-7115-BF06-59E2EBC6A415}"/>
              </a:ext>
            </a:extLst>
          </p:cNvPr>
          <p:cNvSpPr>
            <a:spLocks noGrp="1"/>
          </p:cNvSpPr>
          <p:nvPr>
            <p:ph type="title"/>
          </p:nvPr>
        </p:nvSpPr>
        <p:spPr/>
        <p:txBody>
          <a:bodyPr/>
          <a:lstStyle/>
          <a:p>
            <a:r>
              <a:rPr lang="en-US" dirty="0"/>
              <a:t>DBSCAN</a:t>
            </a:r>
            <a:endParaRPr lang="ru-RU" dirty="0"/>
          </a:p>
        </p:txBody>
      </p:sp>
      <p:sp>
        <p:nvSpPr>
          <p:cNvPr id="3" name="Объект 2">
            <a:extLst>
              <a:ext uri="{FF2B5EF4-FFF2-40B4-BE49-F238E27FC236}">
                <a16:creationId xmlns:a16="http://schemas.microsoft.com/office/drawing/2014/main" id="{BAAC9A3B-5305-2A01-885E-0707F1A65CB4}"/>
              </a:ext>
            </a:extLst>
          </p:cNvPr>
          <p:cNvSpPr>
            <a:spLocks noGrp="1"/>
          </p:cNvSpPr>
          <p:nvPr>
            <p:ph idx="1"/>
          </p:nvPr>
        </p:nvSpPr>
        <p:spPr>
          <a:xfrm>
            <a:off x="628650" y="1019909"/>
            <a:ext cx="7886700" cy="4818181"/>
          </a:xfrm>
        </p:spPr>
        <p:txBody>
          <a:bodyPr>
            <a:normAutofit lnSpcReduction="10000"/>
          </a:bodyPr>
          <a:lstStyle/>
          <a:p>
            <a:pPr marL="0" indent="0">
              <a:buNone/>
            </a:pPr>
            <a:r>
              <a:rPr lang="ru-RU" dirty="0"/>
              <a:t>Для набора точек в некотором пространстве, алгоритм группирует вместе точки, которые тесно расположены, помечая как выбросы точки, которые находятся одиноко в областях с малой плотностью</a:t>
            </a:r>
          </a:p>
          <a:p>
            <a:pPr marL="0" indent="0" algn="l">
              <a:spcAft>
                <a:spcPts val="600"/>
              </a:spcAft>
              <a:buNone/>
            </a:pPr>
            <a:r>
              <a:rPr lang="ru-RU" b="1" i="0" dirty="0">
                <a:effectLst/>
                <a:latin typeface="YS Text"/>
              </a:rPr>
              <a:t>Некоторые особенности DBSCAN</a:t>
            </a:r>
            <a:r>
              <a:rPr lang="ru-RU" b="0" i="0" dirty="0">
                <a:effectLst/>
                <a:latin typeface="YS Text"/>
              </a:rPr>
              <a:t>:</a:t>
            </a:r>
          </a:p>
          <a:p>
            <a:pPr>
              <a:spcAft>
                <a:spcPts val="600"/>
              </a:spcAft>
            </a:pPr>
            <a:r>
              <a:rPr lang="ru-RU" dirty="0"/>
              <a:t>не требует априорного указания числа кластеров в данных, в отличие от метода k-средних; </a:t>
            </a:r>
          </a:p>
          <a:p>
            <a:pPr>
              <a:spcAft>
                <a:spcPts val="600"/>
              </a:spcAft>
            </a:pPr>
            <a:r>
              <a:rPr lang="ru-RU" dirty="0"/>
              <a:t>может найти кластеры произвольной формы; </a:t>
            </a:r>
          </a:p>
          <a:p>
            <a:pPr>
              <a:spcAft>
                <a:spcPts val="600"/>
              </a:spcAft>
            </a:pPr>
            <a:r>
              <a:rPr lang="ru-RU" dirty="0"/>
              <a:t>имеет понятие шума и устойчив к выбросам; </a:t>
            </a:r>
          </a:p>
          <a:p>
            <a:pPr>
              <a:spcAft>
                <a:spcPts val="600"/>
              </a:spcAft>
            </a:pPr>
            <a:r>
              <a:rPr lang="ru-RU" dirty="0"/>
              <a:t>требует лишь двух параметров и большей частью нечувствителен к порядку точек в базе данных. </a:t>
            </a:r>
          </a:p>
          <a:p>
            <a:pPr marL="0" indent="0">
              <a:buNone/>
            </a:pPr>
            <a:r>
              <a:rPr lang="ru-RU" b="1" dirty="0"/>
              <a:t>Параметры:</a:t>
            </a:r>
          </a:p>
          <a:p>
            <a:r>
              <a:rPr lang="ru-RU" dirty="0"/>
              <a:t>радиус круга </a:t>
            </a:r>
            <a:r>
              <a:rPr lang="en-US" b="1" dirty="0"/>
              <a:t>epsilon</a:t>
            </a:r>
            <a:r>
              <a:rPr lang="ru-RU" dirty="0"/>
              <a:t>, </a:t>
            </a:r>
          </a:p>
          <a:p>
            <a:r>
              <a:rPr lang="ru-RU" dirty="0"/>
              <a:t>минимальное количество точек данных</a:t>
            </a:r>
            <a:r>
              <a:rPr lang="en-US" dirty="0"/>
              <a:t> </a:t>
            </a:r>
            <a:r>
              <a:rPr lang="en-US" b="1" dirty="0" err="1"/>
              <a:t>minPts</a:t>
            </a:r>
            <a:endParaRPr lang="ru-RU" b="1" dirty="0"/>
          </a:p>
          <a:p>
            <a:pPr marL="0" indent="0">
              <a:buNone/>
            </a:pPr>
            <a:endParaRPr lang="ru-RU" dirty="0"/>
          </a:p>
        </p:txBody>
      </p:sp>
      <p:sp>
        <p:nvSpPr>
          <p:cNvPr id="4" name="Нижний колонтитул 3">
            <a:extLst>
              <a:ext uri="{FF2B5EF4-FFF2-40B4-BE49-F238E27FC236}">
                <a16:creationId xmlns:a16="http://schemas.microsoft.com/office/drawing/2014/main" id="{D38E81D0-88A7-6B71-B75E-82F753B147B8}"/>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30CE333B-090E-C023-8FC6-CC5DBD1EFBB1}"/>
              </a:ext>
            </a:extLst>
          </p:cNvPr>
          <p:cNvSpPr>
            <a:spLocks noGrp="1"/>
          </p:cNvSpPr>
          <p:nvPr>
            <p:ph type="sldNum" sz="quarter" idx="12"/>
          </p:nvPr>
        </p:nvSpPr>
        <p:spPr/>
        <p:txBody>
          <a:bodyPr/>
          <a:lstStyle/>
          <a:p>
            <a:fld id="{81C5FB71-5E9C-41B5-9BB8-3F1EBEAEB16A}" type="slidenum">
              <a:rPr lang="ru-RU" smtClean="0"/>
              <a:t>29</a:t>
            </a:fld>
            <a:endParaRPr lang="ru-RU"/>
          </a:p>
        </p:txBody>
      </p:sp>
    </p:spTree>
    <p:extLst>
      <p:ext uri="{BB962C8B-B14F-4D97-AF65-F5344CB8AC3E}">
        <p14:creationId xmlns:p14="http://schemas.microsoft.com/office/powerpoint/2010/main" val="10950113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92681AF-0579-9165-8642-5477EECD1D35}"/>
              </a:ext>
            </a:extLst>
          </p:cNvPr>
          <p:cNvSpPr>
            <a:spLocks noGrp="1"/>
          </p:cNvSpPr>
          <p:nvPr>
            <p:ph type="title"/>
          </p:nvPr>
        </p:nvSpPr>
        <p:spPr/>
        <p:txBody>
          <a:bodyPr/>
          <a:lstStyle/>
          <a:p>
            <a:r>
              <a:rPr lang="en-US" dirty="0"/>
              <a:t>DBSCAN</a:t>
            </a:r>
            <a:endParaRPr lang="ru-RU" dirty="0"/>
          </a:p>
        </p:txBody>
      </p:sp>
      <p:sp>
        <p:nvSpPr>
          <p:cNvPr id="4" name="Нижний колонтитул 3">
            <a:extLst>
              <a:ext uri="{FF2B5EF4-FFF2-40B4-BE49-F238E27FC236}">
                <a16:creationId xmlns:a16="http://schemas.microsoft.com/office/drawing/2014/main" id="{6CACBCC1-8B3B-AA98-B7E3-6E0D32F6AA07}"/>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E13146CF-0BEE-4045-3DB2-0155F5682B84}"/>
              </a:ext>
            </a:extLst>
          </p:cNvPr>
          <p:cNvSpPr>
            <a:spLocks noGrp="1"/>
          </p:cNvSpPr>
          <p:nvPr>
            <p:ph type="sldNum" sz="quarter" idx="12"/>
          </p:nvPr>
        </p:nvSpPr>
        <p:spPr/>
        <p:txBody>
          <a:bodyPr/>
          <a:lstStyle/>
          <a:p>
            <a:fld id="{81C5FB71-5E9C-41B5-9BB8-3F1EBEAEB16A}" type="slidenum">
              <a:rPr lang="ru-RU" smtClean="0"/>
              <a:t>30</a:t>
            </a:fld>
            <a:endParaRPr lang="ru-RU"/>
          </a:p>
        </p:txBody>
      </p:sp>
      <p:sp>
        <p:nvSpPr>
          <p:cNvPr id="7" name="Объект 6">
            <a:extLst>
              <a:ext uri="{FF2B5EF4-FFF2-40B4-BE49-F238E27FC236}">
                <a16:creationId xmlns:a16="http://schemas.microsoft.com/office/drawing/2014/main" id="{62656E87-9513-57F8-F3B5-60E4D0256F73}"/>
              </a:ext>
            </a:extLst>
          </p:cNvPr>
          <p:cNvSpPr>
            <a:spLocks noGrp="1"/>
          </p:cNvSpPr>
          <p:nvPr>
            <p:ph sz="half" idx="1"/>
          </p:nvPr>
        </p:nvSpPr>
        <p:spPr/>
        <p:txBody>
          <a:bodyPr>
            <a:normAutofit lnSpcReduction="10000"/>
          </a:bodyPr>
          <a:lstStyle/>
          <a:p>
            <a:pPr marL="0" indent="0" algn="l">
              <a:spcAft>
                <a:spcPts val="600"/>
              </a:spcAft>
              <a:buNone/>
            </a:pPr>
            <a:r>
              <a:rPr lang="ru-RU" b="1" i="0" dirty="0">
                <a:effectLst/>
                <a:latin typeface="YS Text"/>
              </a:rPr>
              <a:t>Последовательность этапов алгоритма DBSCAN</a:t>
            </a:r>
            <a:r>
              <a:rPr lang="ru-RU" b="0" i="0" dirty="0">
                <a:effectLst/>
                <a:latin typeface="YS Text"/>
              </a:rPr>
              <a:t>:</a:t>
            </a:r>
          </a:p>
          <a:p>
            <a:pPr algn="l">
              <a:spcBef>
                <a:spcPts val="600"/>
              </a:spcBef>
              <a:spcAft>
                <a:spcPts val="600"/>
              </a:spcAft>
              <a:buFont typeface="+mj-lt"/>
              <a:buAutoNum type="arabicPeriod"/>
            </a:pPr>
            <a:r>
              <a:rPr lang="ru-RU" b="0" i="0" dirty="0">
                <a:effectLst/>
                <a:latin typeface="YS Text"/>
              </a:rPr>
              <a:t>Найти новые точки в ε-окрестности каждой точки и определить основные точки с более чем ε-соседями.</a:t>
            </a:r>
          </a:p>
          <a:p>
            <a:pPr algn="l">
              <a:spcAft>
                <a:spcPts val="600"/>
              </a:spcAft>
              <a:buFont typeface="+mj-lt"/>
              <a:buAutoNum type="arabicPeriod"/>
            </a:pPr>
            <a:r>
              <a:rPr lang="ru-RU" b="0" i="0" dirty="0">
                <a:effectLst/>
                <a:latin typeface="YS Text"/>
              </a:rPr>
              <a:t>Найти связные компоненты основных точек на графе соседей, игнорируя все неосновные точки.</a:t>
            </a:r>
          </a:p>
          <a:p>
            <a:pPr algn="l">
              <a:spcAft>
                <a:spcPts val="600"/>
              </a:spcAft>
              <a:buFont typeface="+mj-lt"/>
              <a:buAutoNum type="arabicPeriod"/>
            </a:pPr>
            <a:r>
              <a:rPr lang="ru-RU" b="0" i="0" dirty="0">
                <a:effectLst/>
                <a:latin typeface="YS Text"/>
              </a:rPr>
              <a:t>Назначить каждую неосновную точку ближайшему кластеру, если кластер является ε-соседним, в противном случае считать точку шумом.</a:t>
            </a:r>
          </a:p>
          <a:p>
            <a:endParaRPr lang="ru-RU" dirty="0"/>
          </a:p>
        </p:txBody>
      </p:sp>
      <p:pic>
        <p:nvPicPr>
          <p:cNvPr id="8" name="Picture 2" descr="Picture background">
            <a:extLst>
              <a:ext uri="{FF2B5EF4-FFF2-40B4-BE49-F238E27FC236}">
                <a16:creationId xmlns:a16="http://schemas.microsoft.com/office/drawing/2014/main" id="{C8701D24-8D94-BD02-6E5B-2537E838708D}"/>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tretch>
            <a:fillRect/>
          </a:stretch>
        </p:blipFill>
        <p:spPr bwMode="auto">
          <a:xfrm>
            <a:off x="4629150" y="1908390"/>
            <a:ext cx="3886200" cy="37111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94807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9DA9ACA-FD97-BE73-1D5D-5B6036FB5461}"/>
              </a:ext>
            </a:extLst>
          </p:cNvPr>
          <p:cNvSpPr>
            <a:spLocks noGrp="1"/>
          </p:cNvSpPr>
          <p:nvPr>
            <p:ph type="title"/>
          </p:nvPr>
        </p:nvSpPr>
        <p:spPr>
          <a:xfrm>
            <a:off x="628650" y="70791"/>
            <a:ext cx="7886700" cy="538809"/>
          </a:xfrm>
        </p:spPr>
        <p:txBody>
          <a:bodyPr/>
          <a:lstStyle/>
          <a:p>
            <a:r>
              <a:rPr lang="en-US" dirty="0"/>
              <a:t>DBSCAN</a:t>
            </a:r>
            <a:endParaRPr lang="ru-RU" dirty="0"/>
          </a:p>
        </p:txBody>
      </p:sp>
      <p:sp>
        <p:nvSpPr>
          <p:cNvPr id="4" name="Нижний колонтитул 3">
            <a:extLst>
              <a:ext uri="{FF2B5EF4-FFF2-40B4-BE49-F238E27FC236}">
                <a16:creationId xmlns:a16="http://schemas.microsoft.com/office/drawing/2014/main" id="{484225B1-7ABA-1B0F-CF4D-D67D65D84EA7}"/>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C2FF18F8-E493-79CA-17FC-4032EEF82C54}"/>
              </a:ext>
            </a:extLst>
          </p:cNvPr>
          <p:cNvSpPr>
            <a:spLocks noGrp="1"/>
          </p:cNvSpPr>
          <p:nvPr>
            <p:ph type="sldNum" sz="quarter" idx="12"/>
          </p:nvPr>
        </p:nvSpPr>
        <p:spPr/>
        <p:txBody>
          <a:bodyPr/>
          <a:lstStyle/>
          <a:p>
            <a:fld id="{81C5FB71-5E9C-41B5-9BB8-3F1EBEAEB16A}" type="slidenum">
              <a:rPr lang="ru-RU" smtClean="0"/>
              <a:t>31</a:t>
            </a:fld>
            <a:endParaRPr lang="ru-RU"/>
          </a:p>
        </p:txBody>
      </p:sp>
      <p:pic>
        <p:nvPicPr>
          <p:cNvPr id="17410" name="Picture 2" descr="Picture background">
            <a:extLst>
              <a:ext uri="{FF2B5EF4-FFF2-40B4-BE49-F238E27FC236}">
                <a16:creationId xmlns:a16="http://schemas.microsoft.com/office/drawing/2014/main" id="{BE96F41E-AB3E-65E7-10A9-F5A0DAB5DFF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4829" y="978080"/>
            <a:ext cx="9094341" cy="2450920"/>
          </a:xfrm>
          <a:prstGeom prst="rect">
            <a:avLst/>
          </a:prstGeom>
          <a:noFill/>
          <a:extLst>
            <a:ext uri="{909E8E84-426E-40DD-AFC4-6F175D3DCCD1}">
              <a14:hiddenFill xmlns:a14="http://schemas.microsoft.com/office/drawing/2010/main">
                <a:solidFill>
                  <a:srgbClr val="FFFFFF"/>
                </a:solidFill>
              </a14:hiddenFill>
            </a:ext>
          </a:extLst>
        </p:spPr>
      </p:pic>
      <p:pic>
        <p:nvPicPr>
          <p:cNvPr id="17412" name="Picture 4" descr="Picture background">
            <a:extLst>
              <a:ext uri="{FF2B5EF4-FFF2-40B4-BE49-F238E27FC236}">
                <a16:creationId xmlns:a16="http://schemas.microsoft.com/office/drawing/2014/main" id="{F06BC351-F1A4-F924-95CE-63FF2D42725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4220" y="3565844"/>
            <a:ext cx="7655560" cy="3292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23807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4ADF706-39CE-584F-E6FB-8237FCBE3D45}"/>
              </a:ext>
            </a:extLst>
          </p:cNvPr>
          <p:cNvSpPr>
            <a:spLocks noGrp="1"/>
          </p:cNvSpPr>
          <p:nvPr>
            <p:ph type="title"/>
          </p:nvPr>
        </p:nvSpPr>
        <p:spPr/>
        <p:txBody>
          <a:bodyPr/>
          <a:lstStyle/>
          <a:p>
            <a:r>
              <a:rPr lang="en-US" dirty="0"/>
              <a:t>OPTICS</a:t>
            </a:r>
            <a:endParaRPr lang="ru-RU" dirty="0"/>
          </a:p>
        </p:txBody>
      </p:sp>
      <p:sp>
        <p:nvSpPr>
          <p:cNvPr id="4" name="Нижний колонтитул 3">
            <a:extLst>
              <a:ext uri="{FF2B5EF4-FFF2-40B4-BE49-F238E27FC236}">
                <a16:creationId xmlns:a16="http://schemas.microsoft.com/office/drawing/2014/main" id="{71B63653-2C68-3548-3409-7DA5C2F637F5}"/>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129ABCCC-15E4-C305-025E-BA208BF7978A}"/>
              </a:ext>
            </a:extLst>
          </p:cNvPr>
          <p:cNvSpPr>
            <a:spLocks noGrp="1"/>
          </p:cNvSpPr>
          <p:nvPr>
            <p:ph type="sldNum" sz="quarter" idx="12"/>
          </p:nvPr>
        </p:nvSpPr>
        <p:spPr/>
        <p:txBody>
          <a:bodyPr/>
          <a:lstStyle/>
          <a:p>
            <a:fld id="{81C5FB71-5E9C-41B5-9BB8-3F1EBEAEB16A}" type="slidenum">
              <a:rPr lang="ru-RU" smtClean="0"/>
              <a:t>32</a:t>
            </a:fld>
            <a:endParaRPr lang="ru-RU"/>
          </a:p>
        </p:txBody>
      </p:sp>
      <p:pic>
        <p:nvPicPr>
          <p:cNvPr id="4098" name="Picture 2" descr="Picture background">
            <a:extLst>
              <a:ext uri="{FF2B5EF4-FFF2-40B4-BE49-F238E27FC236}">
                <a16:creationId xmlns:a16="http://schemas.microsoft.com/office/drawing/2014/main" id="{49575D4E-5A4B-29FF-249F-F481FDBC8D1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57184" y="1358900"/>
            <a:ext cx="7029632" cy="4818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13458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CDBC5E5-B8D2-C93B-E999-BA97D54879DF}"/>
              </a:ext>
            </a:extLst>
          </p:cNvPr>
          <p:cNvSpPr>
            <a:spLocks noGrp="1"/>
          </p:cNvSpPr>
          <p:nvPr>
            <p:ph type="title"/>
          </p:nvPr>
        </p:nvSpPr>
        <p:spPr/>
        <p:txBody>
          <a:bodyPr/>
          <a:lstStyle/>
          <a:p>
            <a:r>
              <a:rPr lang="ru-RU" dirty="0"/>
              <a:t>Модель смеси </a:t>
            </a:r>
            <a:r>
              <a:rPr lang="ru-RU" dirty="0" err="1"/>
              <a:t>гауссиан</a:t>
            </a:r>
            <a:r>
              <a:rPr lang="ru-RU" dirty="0"/>
              <a:t> (</a:t>
            </a:r>
            <a:r>
              <a:rPr lang="en-US" dirty="0"/>
              <a:t>GMM</a:t>
            </a:r>
            <a:r>
              <a:rPr lang="ru-RU" dirty="0"/>
              <a:t>)</a:t>
            </a:r>
          </a:p>
        </p:txBody>
      </p:sp>
      <p:sp>
        <p:nvSpPr>
          <p:cNvPr id="4" name="Нижний колонтитул 3">
            <a:extLst>
              <a:ext uri="{FF2B5EF4-FFF2-40B4-BE49-F238E27FC236}">
                <a16:creationId xmlns:a16="http://schemas.microsoft.com/office/drawing/2014/main" id="{E010D7C5-62B4-FC88-A59E-6E8B57C83590}"/>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55BA72AB-EDA4-A0F1-D0A4-6BED3CE26F39}"/>
              </a:ext>
            </a:extLst>
          </p:cNvPr>
          <p:cNvSpPr>
            <a:spLocks noGrp="1"/>
          </p:cNvSpPr>
          <p:nvPr>
            <p:ph type="sldNum" sz="quarter" idx="12"/>
          </p:nvPr>
        </p:nvSpPr>
        <p:spPr/>
        <p:txBody>
          <a:bodyPr/>
          <a:lstStyle/>
          <a:p>
            <a:fld id="{81C5FB71-5E9C-41B5-9BB8-3F1EBEAEB16A}" type="slidenum">
              <a:rPr lang="ru-RU" smtClean="0"/>
              <a:t>33</a:t>
            </a:fld>
            <a:endParaRPr lang="ru-RU"/>
          </a:p>
        </p:txBody>
      </p:sp>
      <p:pic>
        <p:nvPicPr>
          <p:cNvPr id="5122" name="Picture 2" descr="Picture background">
            <a:extLst>
              <a:ext uri="{FF2B5EF4-FFF2-40B4-BE49-F238E27FC236}">
                <a16:creationId xmlns:a16="http://schemas.microsoft.com/office/drawing/2014/main" id="{6ED41DFC-A79F-4082-3497-98A74F36913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02594" y="1755808"/>
            <a:ext cx="7138811" cy="401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08696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4F77DCF-B06E-4B6A-80EB-31525D3B4AAF}"/>
              </a:ext>
            </a:extLst>
          </p:cNvPr>
          <p:cNvSpPr>
            <a:spLocks noGrp="1"/>
          </p:cNvSpPr>
          <p:nvPr>
            <p:ph type="title"/>
          </p:nvPr>
        </p:nvSpPr>
        <p:spPr/>
        <p:txBody>
          <a:bodyPr/>
          <a:lstStyle/>
          <a:p>
            <a:pPr algn="ctr"/>
            <a:r>
              <a:rPr lang="ru-RU" dirty="0"/>
              <a:t>Кластерный анализ в теории и на практике</a:t>
            </a:r>
          </a:p>
        </p:txBody>
      </p:sp>
      <p:pic>
        <p:nvPicPr>
          <p:cNvPr id="7" name="Объект 6">
            <a:extLst>
              <a:ext uri="{FF2B5EF4-FFF2-40B4-BE49-F238E27FC236}">
                <a16:creationId xmlns:a16="http://schemas.microsoft.com/office/drawing/2014/main" id="{8407E63D-BE82-4A46-9C6F-3A8C6867E81B}"/>
              </a:ext>
            </a:extLst>
          </p:cNvPr>
          <p:cNvPicPr>
            <a:picLocks noGrp="1" noChangeAspect="1"/>
          </p:cNvPicPr>
          <p:nvPr>
            <p:ph idx="1"/>
          </p:nvPr>
        </p:nvPicPr>
        <p:blipFill>
          <a:blip r:embed="rId2"/>
          <a:stretch>
            <a:fillRect/>
          </a:stretch>
        </p:blipFill>
        <p:spPr>
          <a:xfrm>
            <a:off x="339538" y="2209801"/>
            <a:ext cx="3937608" cy="2743200"/>
          </a:xfrm>
        </p:spPr>
      </p:pic>
      <p:sp>
        <p:nvSpPr>
          <p:cNvPr id="4" name="Нижний колонтитул 3">
            <a:extLst>
              <a:ext uri="{FF2B5EF4-FFF2-40B4-BE49-F238E27FC236}">
                <a16:creationId xmlns:a16="http://schemas.microsoft.com/office/drawing/2014/main" id="{DFE449A5-AC5C-4293-93C5-703DD2093AD5}"/>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91962042-DF3E-4DC5-BF45-15A7099DA4D1}"/>
              </a:ext>
            </a:extLst>
          </p:cNvPr>
          <p:cNvSpPr>
            <a:spLocks noGrp="1"/>
          </p:cNvSpPr>
          <p:nvPr>
            <p:ph type="sldNum" sz="quarter" idx="12"/>
          </p:nvPr>
        </p:nvSpPr>
        <p:spPr/>
        <p:txBody>
          <a:bodyPr/>
          <a:lstStyle/>
          <a:p>
            <a:fld id="{81C5FB71-5E9C-41B5-9BB8-3F1EBEAEB16A}" type="slidenum">
              <a:rPr lang="ru-RU" smtClean="0"/>
              <a:t>34</a:t>
            </a:fld>
            <a:endParaRPr lang="ru-RU"/>
          </a:p>
        </p:txBody>
      </p:sp>
      <p:sp>
        <p:nvSpPr>
          <p:cNvPr id="8" name="TextBox 7">
            <a:extLst>
              <a:ext uri="{FF2B5EF4-FFF2-40B4-BE49-F238E27FC236}">
                <a16:creationId xmlns:a16="http://schemas.microsoft.com/office/drawing/2014/main" id="{C1B5171A-A8A4-4815-84F4-5229002F933E}"/>
              </a:ext>
            </a:extLst>
          </p:cNvPr>
          <p:cNvSpPr txBox="1"/>
          <p:nvPr/>
        </p:nvSpPr>
        <p:spPr>
          <a:xfrm>
            <a:off x="457200" y="5334000"/>
            <a:ext cx="3581400" cy="369332"/>
          </a:xfrm>
          <a:prstGeom prst="rect">
            <a:avLst/>
          </a:prstGeom>
          <a:noFill/>
        </p:spPr>
        <p:txBody>
          <a:bodyPr wrap="square" rtlCol="0">
            <a:spAutoFit/>
          </a:bodyPr>
          <a:lstStyle/>
          <a:p>
            <a:pPr algn="ctr"/>
            <a:r>
              <a:rPr lang="ru-RU" dirty="0"/>
              <a:t>В теории</a:t>
            </a:r>
          </a:p>
        </p:txBody>
      </p:sp>
      <p:pic>
        <p:nvPicPr>
          <p:cNvPr id="10" name="Рисунок 9">
            <a:extLst>
              <a:ext uri="{FF2B5EF4-FFF2-40B4-BE49-F238E27FC236}">
                <a16:creationId xmlns:a16="http://schemas.microsoft.com/office/drawing/2014/main" id="{B633226F-A134-43B1-8EBC-6DBA182A312B}"/>
              </a:ext>
            </a:extLst>
          </p:cNvPr>
          <p:cNvPicPr>
            <a:picLocks noChangeAspect="1"/>
          </p:cNvPicPr>
          <p:nvPr/>
        </p:nvPicPr>
        <p:blipFill>
          <a:blip r:embed="rId3"/>
          <a:stretch>
            <a:fillRect/>
          </a:stretch>
        </p:blipFill>
        <p:spPr>
          <a:xfrm>
            <a:off x="4526639" y="2209801"/>
            <a:ext cx="3862622" cy="2743200"/>
          </a:xfrm>
          <a:prstGeom prst="rect">
            <a:avLst/>
          </a:prstGeom>
        </p:spPr>
      </p:pic>
      <p:sp>
        <p:nvSpPr>
          <p:cNvPr id="11" name="TextBox 10">
            <a:extLst>
              <a:ext uri="{FF2B5EF4-FFF2-40B4-BE49-F238E27FC236}">
                <a16:creationId xmlns:a16="http://schemas.microsoft.com/office/drawing/2014/main" id="{69D185F4-ED20-4FAF-A7F9-1E32CFC25A99}"/>
              </a:ext>
            </a:extLst>
          </p:cNvPr>
          <p:cNvSpPr txBox="1"/>
          <p:nvPr/>
        </p:nvSpPr>
        <p:spPr>
          <a:xfrm>
            <a:off x="4667250" y="5334000"/>
            <a:ext cx="3581400" cy="369332"/>
          </a:xfrm>
          <a:prstGeom prst="rect">
            <a:avLst/>
          </a:prstGeom>
          <a:noFill/>
        </p:spPr>
        <p:txBody>
          <a:bodyPr wrap="square" rtlCol="0">
            <a:spAutoFit/>
          </a:bodyPr>
          <a:lstStyle/>
          <a:p>
            <a:pPr algn="ctr"/>
            <a:r>
              <a:rPr lang="ru-RU" dirty="0"/>
              <a:t>На практике</a:t>
            </a:r>
          </a:p>
        </p:txBody>
      </p:sp>
    </p:spTree>
    <p:extLst>
      <p:ext uri="{BB962C8B-B14F-4D97-AF65-F5344CB8AC3E}">
        <p14:creationId xmlns:p14="http://schemas.microsoft.com/office/powerpoint/2010/main" val="8574513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8D6D1-0FB7-0C56-1831-60631F82016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327DD3-093A-5D5E-F451-12D20828F4FB}"/>
              </a:ext>
            </a:extLst>
          </p:cNvPr>
          <p:cNvSpPr>
            <a:spLocks noGrp="1"/>
          </p:cNvSpPr>
          <p:nvPr>
            <p:ph type="title"/>
          </p:nvPr>
        </p:nvSpPr>
        <p:spPr>
          <a:xfrm>
            <a:off x="628650" y="70791"/>
            <a:ext cx="7886700" cy="1100056"/>
          </a:xfrm>
        </p:spPr>
        <p:txBody>
          <a:bodyPr>
            <a:normAutofit/>
          </a:bodyPr>
          <a:lstStyle/>
          <a:p>
            <a:pPr algn="ctr"/>
            <a:r>
              <a:rPr lang="ru-RU" dirty="0"/>
              <a:t>Обнаружение аномалий</a:t>
            </a:r>
            <a:br>
              <a:rPr lang="ru-RU" dirty="0"/>
            </a:br>
            <a:r>
              <a:rPr lang="ru-RU" dirty="0"/>
              <a:t>(</a:t>
            </a:r>
            <a:r>
              <a:rPr lang="ru-RU" dirty="0" err="1"/>
              <a:t>anomaly</a:t>
            </a:r>
            <a:r>
              <a:rPr lang="ru-RU" dirty="0"/>
              <a:t> </a:t>
            </a:r>
            <a:r>
              <a:rPr lang="ru-RU" dirty="0" err="1"/>
              <a:t>detection</a:t>
            </a:r>
            <a:r>
              <a:rPr lang="ru-RU" dirty="0"/>
              <a:t>) </a:t>
            </a:r>
          </a:p>
        </p:txBody>
      </p:sp>
      <p:sp>
        <p:nvSpPr>
          <p:cNvPr id="4" name="Нижний колонтитул 3">
            <a:extLst>
              <a:ext uri="{FF2B5EF4-FFF2-40B4-BE49-F238E27FC236}">
                <a16:creationId xmlns:a16="http://schemas.microsoft.com/office/drawing/2014/main" id="{B2DE5DF7-A6D7-2379-788B-DBFFF84E6ABA}"/>
              </a:ext>
            </a:extLst>
          </p:cNvPr>
          <p:cNvSpPr>
            <a:spLocks noGrp="1"/>
          </p:cNvSpPr>
          <p:nvPr>
            <p:ph type="ftr" sz="quarter" idx="11"/>
          </p:nvPr>
        </p:nvSpPr>
        <p:spPr>
          <a:xfrm>
            <a:off x="3028950" y="6356351"/>
            <a:ext cx="3086100" cy="365125"/>
          </a:xfrm>
        </p:spPr>
        <p:txBody>
          <a:bodyPr/>
          <a:lstStyle/>
          <a:p>
            <a:endParaRPr lang="ru-RU"/>
          </a:p>
        </p:txBody>
      </p:sp>
      <p:sp>
        <p:nvSpPr>
          <p:cNvPr id="5" name="Номер слайда 4">
            <a:extLst>
              <a:ext uri="{FF2B5EF4-FFF2-40B4-BE49-F238E27FC236}">
                <a16:creationId xmlns:a16="http://schemas.microsoft.com/office/drawing/2014/main" id="{831E9ABF-ED92-13A5-9956-CA6D78FD2DCC}"/>
              </a:ext>
            </a:extLst>
          </p:cNvPr>
          <p:cNvSpPr>
            <a:spLocks noGrp="1"/>
          </p:cNvSpPr>
          <p:nvPr>
            <p:ph type="sldNum" sz="quarter" idx="12"/>
          </p:nvPr>
        </p:nvSpPr>
        <p:spPr>
          <a:xfrm>
            <a:off x="6457950" y="6356351"/>
            <a:ext cx="2057400" cy="365125"/>
          </a:xfrm>
        </p:spPr>
        <p:txBody>
          <a:bodyPr/>
          <a:lstStyle/>
          <a:p>
            <a:fld id="{81C5FB71-5E9C-41B5-9BB8-3F1EBEAEB16A}" type="slidenum">
              <a:rPr lang="ru-RU" smtClean="0"/>
              <a:pPr/>
              <a:t>35</a:t>
            </a:fld>
            <a:endParaRPr lang="ru-RU"/>
          </a:p>
        </p:txBody>
      </p:sp>
      <p:pic>
        <p:nvPicPr>
          <p:cNvPr id="7170" name="Picture 2" descr="Picture background">
            <a:extLst>
              <a:ext uri="{FF2B5EF4-FFF2-40B4-BE49-F238E27FC236}">
                <a16:creationId xmlns:a16="http://schemas.microsoft.com/office/drawing/2014/main" id="{C5DE0806-C819-DB60-1F3A-6755A6F2AB0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0" y="1848157"/>
            <a:ext cx="6248400" cy="3572094"/>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A98BE368-B9B5-FE53-9EDF-8E90BB7754D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624" t="11016" b="7416"/>
          <a:stretch/>
        </p:blipFill>
        <p:spPr bwMode="auto">
          <a:xfrm>
            <a:off x="5902875" y="2207107"/>
            <a:ext cx="3241125" cy="28541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94982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CCAE8BF-2198-B365-10CE-BE955D900082}"/>
              </a:ext>
            </a:extLst>
          </p:cNvPr>
          <p:cNvSpPr>
            <a:spLocks noGrp="1"/>
          </p:cNvSpPr>
          <p:nvPr>
            <p:ph type="title"/>
          </p:nvPr>
        </p:nvSpPr>
        <p:spPr>
          <a:xfrm>
            <a:off x="628650" y="70791"/>
            <a:ext cx="6229350" cy="1100056"/>
          </a:xfrm>
        </p:spPr>
        <p:txBody>
          <a:bodyPr/>
          <a:lstStyle/>
          <a:p>
            <a:r>
              <a:rPr lang="ru-RU" dirty="0" err="1"/>
              <a:t>Трэкинг</a:t>
            </a:r>
            <a:r>
              <a:rPr lang="ru-RU" dirty="0"/>
              <a:t> объектов на основе </a:t>
            </a:r>
            <a:r>
              <a:rPr lang="en-US" dirty="0" err="1"/>
              <a:t>MeanShift</a:t>
            </a:r>
            <a:r>
              <a:rPr lang="en-US" dirty="0"/>
              <a:t> </a:t>
            </a:r>
            <a:r>
              <a:rPr lang="ru-RU" dirty="0"/>
              <a:t>кластеризации</a:t>
            </a:r>
          </a:p>
        </p:txBody>
      </p:sp>
      <p:sp>
        <p:nvSpPr>
          <p:cNvPr id="3" name="Объект 2">
            <a:extLst>
              <a:ext uri="{FF2B5EF4-FFF2-40B4-BE49-F238E27FC236}">
                <a16:creationId xmlns:a16="http://schemas.microsoft.com/office/drawing/2014/main" id="{0CF5326D-71DA-A3B0-502E-DAD91A75BDC9}"/>
              </a:ext>
            </a:extLst>
          </p:cNvPr>
          <p:cNvSpPr>
            <a:spLocks noGrp="1"/>
          </p:cNvSpPr>
          <p:nvPr>
            <p:ph idx="1"/>
          </p:nvPr>
        </p:nvSpPr>
        <p:spPr>
          <a:xfrm>
            <a:off x="628650" y="1358782"/>
            <a:ext cx="4324352" cy="5428427"/>
          </a:xfrm>
        </p:spPr>
        <p:txBody>
          <a:bodyPr>
            <a:normAutofit lnSpcReduction="10000"/>
          </a:bodyPr>
          <a:lstStyle/>
          <a:p>
            <a:endParaRPr lang="ru-RU" dirty="0"/>
          </a:p>
          <a:p>
            <a:endParaRPr lang="ru-RU" dirty="0"/>
          </a:p>
          <a:p>
            <a:endParaRPr lang="ru-RU" dirty="0"/>
          </a:p>
          <a:p>
            <a:endParaRPr lang="ru-RU" dirty="0"/>
          </a:p>
          <a:p>
            <a:endParaRPr lang="ru-RU" dirty="0"/>
          </a:p>
          <a:p>
            <a:endParaRPr lang="ru-RU" dirty="0"/>
          </a:p>
          <a:p>
            <a:endParaRPr lang="ru-RU" dirty="0"/>
          </a:p>
          <a:p>
            <a:endParaRPr lang="ru-RU" dirty="0"/>
          </a:p>
          <a:p>
            <a:endParaRPr lang="ru-RU" dirty="0"/>
          </a:p>
          <a:p>
            <a:endParaRPr lang="en-US" dirty="0"/>
          </a:p>
          <a:p>
            <a:endParaRPr lang="en-US" dirty="0"/>
          </a:p>
          <a:p>
            <a:pPr marL="0" indent="0">
              <a:buNone/>
            </a:pPr>
            <a:endParaRPr lang="ru-RU" dirty="0"/>
          </a:p>
          <a:p>
            <a:r>
              <a:rPr lang="en-US" dirty="0">
                <a:hlinkClick r:id="rId3"/>
              </a:rPr>
              <a:t>https://www.cim.mcgill.ca/~dmeger/mrlRead/papers/meanShift/comaniciuMeanShiftCVPR2000.pdf</a:t>
            </a:r>
            <a:endParaRPr lang="ru-RU" dirty="0"/>
          </a:p>
        </p:txBody>
      </p:sp>
      <p:sp>
        <p:nvSpPr>
          <p:cNvPr id="4" name="Нижний колонтитул 3">
            <a:extLst>
              <a:ext uri="{FF2B5EF4-FFF2-40B4-BE49-F238E27FC236}">
                <a16:creationId xmlns:a16="http://schemas.microsoft.com/office/drawing/2014/main" id="{B55DEEC7-3EEE-877E-333B-9F4ABCB60734}"/>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E1A8A2A5-3D2C-4356-55F5-A2B49744137E}"/>
              </a:ext>
            </a:extLst>
          </p:cNvPr>
          <p:cNvSpPr>
            <a:spLocks noGrp="1"/>
          </p:cNvSpPr>
          <p:nvPr>
            <p:ph type="sldNum" sz="quarter" idx="12"/>
          </p:nvPr>
        </p:nvSpPr>
        <p:spPr/>
        <p:txBody>
          <a:bodyPr/>
          <a:lstStyle/>
          <a:p>
            <a:fld id="{81C5FB71-5E9C-41B5-9BB8-3F1EBEAEB16A}" type="slidenum">
              <a:rPr lang="ru-RU" smtClean="0"/>
              <a:t>36</a:t>
            </a:fld>
            <a:endParaRPr lang="ru-RU"/>
          </a:p>
        </p:txBody>
      </p:sp>
      <p:pic>
        <p:nvPicPr>
          <p:cNvPr id="13" name="Рисунок 12">
            <a:extLst>
              <a:ext uri="{FF2B5EF4-FFF2-40B4-BE49-F238E27FC236}">
                <a16:creationId xmlns:a16="http://schemas.microsoft.com/office/drawing/2014/main" id="{E4523DC5-5FE3-B33A-777D-8F2685B3CC2F}"/>
              </a:ext>
            </a:extLst>
          </p:cNvPr>
          <p:cNvPicPr>
            <a:picLocks noChangeAspect="1"/>
          </p:cNvPicPr>
          <p:nvPr/>
        </p:nvPicPr>
        <p:blipFill>
          <a:blip r:embed="rId4"/>
          <a:stretch>
            <a:fillRect/>
          </a:stretch>
        </p:blipFill>
        <p:spPr>
          <a:xfrm>
            <a:off x="-13360" y="4841148"/>
            <a:ext cx="4171950" cy="857250"/>
          </a:xfrm>
          <a:prstGeom prst="rect">
            <a:avLst/>
          </a:prstGeom>
        </p:spPr>
      </p:pic>
      <p:pic>
        <p:nvPicPr>
          <p:cNvPr id="15" name="Рисунок 14">
            <a:extLst>
              <a:ext uri="{FF2B5EF4-FFF2-40B4-BE49-F238E27FC236}">
                <a16:creationId xmlns:a16="http://schemas.microsoft.com/office/drawing/2014/main" id="{26022165-88DE-E1D1-9D4E-8BC1460D8A3D}"/>
              </a:ext>
            </a:extLst>
          </p:cNvPr>
          <p:cNvPicPr>
            <a:picLocks noChangeAspect="1"/>
          </p:cNvPicPr>
          <p:nvPr/>
        </p:nvPicPr>
        <p:blipFill>
          <a:blip r:embed="rId5"/>
          <a:stretch>
            <a:fillRect/>
          </a:stretch>
        </p:blipFill>
        <p:spPr>
          <a:xfrm>
            <a:off x="4802" y="4383948"/>
            <a:ext cx="4038600" cy="457200"/>
          </a:xfrm>
          <a:prstGeom prst="rect">
            <a:avLst/>
          </a:prstGeom>
        </p:spPr>
      </p:pic>
      <p:pic>
        <p:nvPicPr>
          <p:cNvPr id="17" name="Рисунок 16">
            <a:extLst>
              <a:ext uri="{FF2B5EF4-FFF2-40B4-BE49-F238E27FC236}">
                <a16:creationId xmlns:a16="http://schemas.microsoft.com/office/drawing/2014/main" id="{083497D1-A84C-FE56-3BEF-D9E83AE2A87A}"/>
              </a:ext>
            </a:extLst>
          </p:cNvPr>
          <p:cNvPicPr>
            <a:picLocks noChangeAspect="1"/>
          </p:cNvPicPr>
          <p:nvPr/>
        </p:nvPicPr>
        <p:blipFill>
          <a:blip r:embed="rId6"/>
          <a:stretch>
            <a:fillRect/>
          </a:stretch>
        </p:blipFill>
        <p:spPr>
          <a:xfrm>
            <a:off x="6570967" y="19792"/>
            <a:ext cx="2577981" cy="6858000"/>
          </a:xfrm>
          <a:prstGeom prst="rect">
            <a:avLst/>
          </a:prstGeom>
        </p:spPr>
      </p:pic>
      <p:pic>
        <p:nvPicPr>
          <p:cNvPr id="19" name="Рисунок 18">
            <a:extLst>
              <a:ext uri="{FF2B5EF4-FFF2-40B4-BE49-F238E27FC236}">
                <a16:creationId xmlns:a16="http://schemas.microsoft.com/office/drawing/2014/main" id="{6332FFD5-15ED-CFB6-4AF3-05749BFB03E9}"/>
              </a:ext>
            </a:extLst>
          </p:cNvPr>
          <p:cNvPicPr>
            <a:picLocks noChangeAspect="1"/>
          </p:cNvPicPr>
          <p:nvPr/>
        </p:nvPicPr>
        <p:blipFill>
          <a:blip r:embed="rId7"/>
          <a:stretch>
            <a:fillRect/>
          </a:stretch>
        </p:blipFill>
        <p:spPr>
          <a:xfrm>
            <a:off x="4038849" y="817571"/>
            <a:ext cx="2942714" cy="4440229"/>
          </a:xfrm>
          <a:prstGeom prst="rect">
            <a:avLst/>
          </a:prstGeom>
        </p:spPr>
      </p:pic>
    </p:spTree>
    <p:extLst>
      <p:ext uri="{BB962C8B-B14F-4D97-AF65-F5344CB8AC3E}">
        <p14:creationId xmlns:p14="http://schemas.microsoft.com/office/powerpoint/2010/main" val="24855755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DFB45CF-3B5E-BB16-95E2-B54A40DDB899}"/>
              </a:ext>
            </a:extLst>
          </p:cNvPr>
          <p:cNvSpPr>
            <a:spLocks noGrp="1"/>
          </p:cNvSpPr>
          <p:nvPr>
            <p:ph type="title"/>
          </p:nvPr>
        </p:nvSpPr>
        <p:spPr/>
        <p:txBody>
          <a:bodyPr/>
          <a:lstStyle/>
          <a:p>
            <a:r>
              <a:rPr lang="en-US" dirty="0"/>
              <a:t>SOTA </a:t>
            </a:r>
            <a:r>
              <a:rPr lang="ru-RU" dirty="0"/>
              <a:t>подходы к кластеризации документов</a:t>
            </a:r>
          </a:p>
        </p:txBody>
      </p:sp>
      <p:sp>
        <p:nvSpPr>
          <p:cNvPr id="4" name="Нижний колонтитул 3">
            <a:extLst>
              <a:ext uri="{FF2B5EF4-FFF2-40B4-BE49-F238E27FC236}">
                <a16:creationId xmlns:a16="http://schemas.microsoft.com/office/drawing/2014/main" id="{284108AB-A9D7-EBFB-7903-6386EE49013E}"/>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F06C7D6B-C061-02C4-F6D6-19453B46ED6B}"/>
              </a:ext>
            </a:extLst>
          </p:cNvPr>
          <p:cNvSpPr>
            <a:spLocks noGrp="1"/>
          </p:cNvSpPr>
          <p:nvPr>
            <p:ph type="sldNum" sz="quarter" idx="12"/>
          </p:nvPr>
        </p:nvSpPr>
        <p:spPr/>
        <p:txBody>
          <a:bodyPr/>
          <a:lstStyle/>
          <a:p>
            <a:fld id="{81C5FB71-5E9C-41B5-9BB8-3F1EBEAEB16A}" type="slidenum">
              <a:rPr lang="ru-RU" smtClean="0"/>
              <a:t>37</a:t>
            </a:fld>
            <a:endParaRPr lang="ru-RU"/>
          </a:p>
        </p:txBody>
      </p:sp>
      <p:pic>
        <p:nvPicPr>
          <p:cNvPr id="6146" name="Picture 2" descr="Picture background">
            <a:extLst>
              <a:ext uri="{FF2B5EF4-FFF2-40B4-BE49-F238E27FC236}">
                <a16:creationId xmlns:a16="http://schemas.microsoft.com/office/drawing/2014/main" id="{CEE73735-4AE0-DEB9-8D3F-038FCE46A72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28650" y="1307537"/>
            <a:ext cx="7581900" cy="55504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32248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5744835-D183-4404-8739-2CB23724F85A}"/>
              </a:ext>
            </a:extLst>
          </p:cNvPr>
          <p:cNvSpPr>
            <a:spLocks noGrp="1"/>
          </p:cNvSpPr>
          <p:nvPr>
            <p:ph type="title"/>
          </p:nvPr>
        </p:nvSpPr>
        <p:spPr/>
        <p:txBody>
          <a:bodyPr/>
          <a:lstStyle/>
          <a:p>
            <a:r>
              <a:rPr lang="ru-RU" dirty="0"/>
              <a:t>Задача снижения размерности</a:t>
            </a:r>
          </a:p>
        </p:txBody>
      </p:sp>
      <p:sp>
        <p:nvSpPr>
          <p:cNvPr id="3" name="Объект 2">
            <a:extLst>
              <a:ext uri="{FF2B5EF4-FFF2-40B4-BE49-F238E27FC236}">
                <a16:creationId xmlns:a16="http://schemas.microsoft.com/office/drawing/2014/main" id="{F5582049-B8F9-3882-45B9-BD3C11AF6A37}"/>
              </a:ext>
            </a:extLst>
          </p:cNvPr>
          <p:cNvSpPr>
            <a:spLocks noGrp="1"/>
          </p:cNvSpPr>
          <p:nvPr>
            <p:ph idx="1"/>
          </p:nvPr>
        </p:nvSpPr>
        <p:spPr/>
        <p:txBody>
          <a:bodyPr/>
          <a:lstStyle/>
          <a:p>
            <a:endParaRPr lang="ru-RU" dirty="0"/>
          </a:p>
        </p:txBody>
      </p:sp>
      <p:sp>
        <p:nvSpPr>
          <p:cNvPr id="4" name="Нижний колонтитул 3">
            <a:extLst>
              <a:ext uri="{FF2B5EF4-FFF2-40B4-BE49-F238E27FC236}">
                <a16:creationId xmlns:a16="http://schemas.microsoft.com/office/drawing/2014/main" id="{AC5C0D79-0710-0FA7-F91F-62858A31C5D2}"/>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AA769F5F-766D-0E46-C0B7-85F3CAEBAFE6}"/>
              </a:ext>
            </a:extLst>
          </p:cNvPr>
          <p:cNvSpPr>
            <a:spLocks noGrp="1"/>
          </p:cNvSpPr>
          <p:nvPr>
            <p:ph type="sldNum" sz="quarter" idx="12"/>
          </p:nvPr>
        </p:nvSpPr>
        <p:spPr/>
        <p:txBody>
          <a:bodyPr/>
          <a:lstStyle/>
          <a:p>
            <a:fld id="{81C5FB71-5E9C-41B5-9BB8-3F1EBEAEB16A}" type="slidenum">
              <a:rPr lang="ru-RU" smtClean="0"/>
              <a:t>38</a:t>
            </a:fld>
            <a:endParaRPr lang="ru-RU"/>
          </a:p>
        </p:txBody>
      </p:sp>
      <p:pic>
        <p:nvPicPr>
          <p:cNvPr id="2054" name="Picture 6" descr="Picture background">
            <a:extLst>
              <a:ext uri="{FF2B5EF4-FFF2-40B4-BE49-F238E27FC236}">
                <a16:creationId xmlns:a16="http://schemas.microsoft.com/office/drawing/2014/main" id="{5624E609-7C1A-9619-1456-E9340E9D31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7739" y="1295400"/>
            <a:ext cx="4796261" cy="4818063"/>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Picture background">
            <a:extLst>
              <a:ext uri="{FF2B5EF4-FFF2-40B4-BE49-F238E27FC236}">
                <a16:creationId xmlns:a16="http://schemas.microsoft.com/office/drawing/2014/main" id="{C3340E97-F14F-BAB5-AE24-987C380F7F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44" y="2819400"/>
            <a:ext cx="4120598" cy="1895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38920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05408-BAE8-BC81-8FCC-35A9FF3F59A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6520237-1D89-3C51-FD99-35C7031A760B}"/>
              </a:ext>
            </a:extLst>
          </p:cNvPr>
          <p:cNvSpPr>
            <a:spLocks noGrp="1"/>
          </p:cNvSpPr>
          <p:nvPr>
            <p:ph type="title"/>
          </p:nvPr>
        </p:nvSpPr>
        <p:spPr>
          <a:xfrm>
            <a:off x="628650" y="70791"/>
            <a:ext cx="7886700" cy="691209"/>
          </a:xfrm>
        </p:spPr>
        <p:txBody>
          <a:bodyPr>
            <a:normAutofit fontScale="90000"/>
          </a:bodyPr>
          <a:lstStyle/>
          <a:p>
            <a:pPr algn="ctr"/>
            <a:r>
              <a:rPr lang="ru-RU" sz="2800" dirty="0"/>
              <a:t>Сокращение размерности </a:t>
            </a:r>
            <a:br>
              <a:rPr lang="ru-RU" sz="2800" dirty="0"/>
            </a:br>
            <a:r>
              <a:rPr lang="ru-RU" sz="2800" dirty="0"/>
              <a:t>(</a:t>
            </a:r>
            <a:r>
              <a:rPr lang="ru-RU" sz="2800" dirty="0" err="1"/>
              <a:t>dimensionality</a:t>
            </a:r>
            <a:r>
              <a:rPr lang="ru-RU" sz="2800" dirty="0"/>
              <a:t> </a:t>
            </a:r>
            <a:r>
              <a:rPr lang="ru-RU" sz="2800" dirty="0" err="1"/>
              <a:t>reduction</a:t>
            </a:r>
            <a:r>
              <a:rPr lang="ru-RU" sz="2800" dirty="0"/>
              <a:t>).</a:t>
            </a:r>
            <a:endParaRPr lang="ru-RU" dirty="0"/>
          </a:p>
        </p:txBody>
      </p:sp>
      <p:sp>
        <p:nvSpPr>
          <p:cNvPr id="4" name="Нижний колонтитул 3">
            <a:extLst>
              <a:ext uri="{FF2B5EF4-FFF2-40B4-BE49-F238E27FC236}">
                <a16:creationId xmlns:a16="http://schemas.microsoft.com/office/drawing/2014/main" id="{92404F0A-158B-BA07-3B8C-1FDBB2C0859B}"/>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F2F916F4-6336-A8DC-06AA-E7D9EE7D518E}"/>
              </a:ext>
            </a:extLst>
          </p:cNvPr>
          <p:cNvSpPr>
            <a:spLocks noGrp="1"/>
          </p:cNvSpPr>
          <p:nvPr>
            <p:ph type="sldNum" sz="quarter" idx="12"/>
          </p:nvPr>
        </p:nvSpPr>
        <p:spPr/>
        <p:txBody>
          <a:bodyPr/>
          <a:lstStyle/>
          <a:p>
            <a:fld id="{81C5FB71-5E9C-41B5-9BB8-3F1EBEAEB16A}" type="slidenum">
              <a:rPr lang="ru-RU" smtClean="0"/>
              <a:t>39</a:t>
            </a:fld>
            <a:endParaRPr lang="ru-RU"/>
          </a:p>
        </p:txBody>
      </p:sp>
      <p:pic>
        <p:nvPicPr>
          <p:cNvPr id="2052" name="Picture 4" descr="Picture background">
            <a:extLst>
              <a:ext uri="{FF2B5EF4-FFF2-40B4-BE49-F238E27FC236}">
                <a16:creationId xmlns:a16="http://schemas.microsoft.com/office/drawing/2014/main" id="{10B4EEB5-B278-EFC4-84D1-F74D0AF57B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09304"/>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6" name="Объект 5">
            <a:extLst>
              <a:ext uri="{FF2B5EF4-FFF2-40B4-BE49-F238E27FC236}">
                <a16:creationId xmlns:a16="http://schemas.microsoft.com/office/drawing/2014/main" id="{195B5225-2E3C-8D1E-4CF2-8DD48F4FCDAE}"/>
              </a:ext>
            </a:extLst>
          </p:cNvPr>
          <p:cNvSpPr>
            <a:spLocks noGrp="1"/>
          </p:cNvSpPr>
          <p:nvPr>
            <p:ph idx="1"/>
          </p:nvPr>
        </p:nvSpPr>
        <p:spPr/>
        <p:txBody>
          <a:bodyPr/>
          <a:lstStyle/>
          <a:p>
            <a:endParaRPr lang="ru-RU" dirty="0"/>
          </a:p>
        </p:txBody>
      </p:sp>
    </p:spTree>
    <p:extLst>
      <p:ext uri="{BB962C8B-B14F-4D97-AF65-F5344CB8AC3E}">
        <p14:creationId xmlns:p14="http://schemas.microsoft.com/office/powerpoint/2010/main" val="32624039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8D6D1-0FB7-0C56-1831-60631F82016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327DD3-093A-5D5E-F451-12D20828F4FB}"/>
              </a:ext>
            </a:extLst>
          </p:cNvPr>
          <p:cNvSpPr>
            <a:spLocks noGrp="1"/>
          </p:cNvSpPr>
          <p:nvPr>
            <p:ph type="title"/>
          </p:nvPr>
        </p:nvSpPr>
        <p:spPr>
          <a:xfrm>
            <a:off x="628650" y="70791"/>
            <a:ext cx="7886700" cy="691209"/>
          </a:xfrm>
        </p:spPr>
        <p:txBody>
          <a:bodyPr>
            <a:normAutofit/>
          </a:bodyPr>
          <a:lstStyle/>
          <a:p>
            <a:pPr algn="ctr"/>
            <a:r>
              <a:rPr lang="ru-RU" sz="2800" dirty="0"/>
              <a:t>Алгоритмы визуализации </a:t>
            </a:r>
            <a:endParaRPr lang="ru-RU" dirty="0"/>
          </a:p>
        </p:txBody>
      </p:sp>
      <p:sp>
        <p:nvSpPr>
          <p:cNvPr id="4" name="Нижний колонтитул 3">
            <a:extLst>
              <a:ext uri="{FF2B5EF4-FFF2-40B4-BE49-F238E27FC236}">
                <a16:creationId xmlns:a16="http://schemas.microsoft.com/office/drawing/2014/main" id="{B2DE5DF7-A6D7-2379-788B-DBFFF84E6ABA}"/>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831E9ABF-ED92-13A5-9956-CA6D78FD2DCC}"/>
              </a:ext>
            </a:extLst>
          </p:cNvPr>
          <p:cNvSpPr>
            <a:spLocks noGrp="1"/>
          </p:cNvSpPr>
          <p:nvPr>
            <p:ph type="sldNum" sz="quarter" idx="12"/>
          </p:nvPr>
        </p:nvSpPr>
        <p:spPr/>
        <p:txBody>
          <a:bodyPr/>
          <a:lstStyle/>
          <a:p>
            <a:fld id="{81C5FB71-5E9C-41B5-9BB8-3F1EBEAEB16A}" type="slidenum">
              <a:rPr lang="ru-RU" smtClean="0"/>
              <a:t>40</a:t>
            </a:fld>
            <a:endParaRPr lang="ru-RU"/>
          </a:p>
        </p:txBody>
      </p:sp>
      <p:sp>
        <p:nvSpPr>
          <p:cNvPr id="3" name="Объект 2">
            <a:extLst>
              <a:ext uri="{FF2B5EF4-FFF2-40B4-BE49-F238E27FC236}">
                <a16:creationId xmlns:a16="http://schemas.microsoft.com/office/drawing/2014/main" id="{059D92E3-635A-48CE-B858-2AFAE9D66BB0}"/>
              </a:ext>
            </a:extLst>
          </p:cNvPr>
          <p:cNvSpPr>
            <a:spLocks noGrp="1"/>
          </p:cNvSpPr>
          <p:nvPr>
            <p:ph idx="1"/>
          </p:nvPr>
        </p:nvSpPr>
        <p:spPr/>
        <p:txBody>
          <a:bodyPr>
            <a:normAutofit/>
          </a:bodyPr>
          <a:lstStyle/>
          <a:p>
            <a:pPr marL="0" indent="0" algn="just">
              <a:buNone/>
            </a:pPr>
            <a:r>
              <a:rPr lang="ru-RU" sz="1900" b="0" i="0" dirty="0">
                <a:solidFill>
                  <a:srgbClr val="202122"/>
                </a:solidFill>
                <a:effectLst/>
              </a:rPr>
              <a:t> </a:t>
            </a:r>
            <a:endParaRPr lang="ru-RU" sz="1900" b="0" i="0" dirty="0">
              <a:effectLst/>
            </a:endParaRPr>
          </a:p>
        </p:txBody>
      </p:sp>
      <p:pic>
        <p:nvPicPr>
          <p:cNvPr id="1026" name="Picture 2">
            <a:extLst>
              <a:ext uri="{FF2B5EF4-FFF2-40B4-BE49-F238E27FC236}">
                <a16:creationId xmlns:a16="http://schemas.microsoft.com/office/drawing/2014/main" id="{37E10BFD-D42D-6B98-2095-4BDCDB7DEC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2035" y="3972858"/>
            <a:ext cx="6713315" cy="288113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icture background">
            <a:extLst>
              <a:ext uri="{FF2B5EF4-FFF2-40B4-BE49-F238E27FC236}">
                <a16:creationId xmlns:a16="http://schemas.microsoft.com/office/drawing/2014/main" id="{0CD6D5B3-7926-30ED-B9EB-B2DAD19CBE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701842"/>
            <a:ext cx="8077200" cy="320423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icture background">
            <a:extLst>
              <a:ext uri="{FF2B5EF4-FFF2-40B4-BE49-F238E27FC236}">
                <a16:creationId xmlns:a16="http://schemas.microsoft.com/office/drawing/2014/main" id="{C6225776-1265-D746-0FD1-2FABFC9BF97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64800" b="17466"/>
          <a:stretch/>
        </p:blipFill>
        <p:spPr bwMode="auto">
          <a:xfrm>
            <a:off x="169751" y="4571617"/>
            <a:ext cx="1428750" cy="19104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32195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8D6D1-0FB7-0C56-1831-60631F82016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327DD3-093A-5D5E-F451-12D20828F4FB}"/>
              </a:ext>
            </a:extLst>
          </p:cNvPr>
          <p:cNvSpPr>
            <a:spLocks noGrp="1"/>
          </p:cNvSpPr>
          <p:nvPr>
            <p:ph type="title"/>
          </p:nvPr>
        </p:nvSpPr>
        <p:spPr>
          <a:xfrm>
            <a:off x="628650" y="70791"/>
            <a:ext cx="7886700" cy="1100056"/>
          </a:xfrm>
        </p:spPr>
        <p:txBody>
          <a:bodyPr>
            <a:normAutofit/>
          </a:bodyPr>
          <a:lstStyle/>
          <a:p>
            <a:pPr algn="ctr"/>
            <a:r>
              <a:rPr lang="ru-RU" b="1" i="0" dirty="0">
                <a:effectLst/>
                <a:latin typeface="system-ui"/>
              </a:rPr>
              <a:t>Методы снижения размерности с помощью выделения признаков</a:t>
            </a:r>
          </a:p>
        </p:txBody>
      </p:sp>
      <p:sp>
        <p:nvSpPr>
          <p:cNvPr id="3" name="Объект 2">
            <a:extLst>
              <a:ext uri="{FF2B5EF4-FFF2-40B4-BE49-F238E27FC236}">
                <a16:creationId xmlns:a16="http://schemas.microsoft.com/office/drawing/2014/main" id="{059D92E3-635A-48CE-B858-2AFAE9D66BB0}"/>
              </a:ext>
            </a:extLst>
          </p:cNvPr>
          <p:cNvSpPr>
            <a:spLocks noGrp="1"/>
          </p:cNvSpPr>
          <p:nvPr>
            <p:ph idx="1"/>
          </p:nvPr>
        </p:nvSpPr>
        <p:spPr>
          <a:xfrm>
            <a:off x="628650" y="1358782"/>
            <a:ext cx="7886700" cy="4818181"/>
          </a:xfrm>
        </p:spPr>
        <p:txBody>
          <a:bodyPr>
            <a:normAutofit/>
          </a:bodyPr>
          <a:lstStyle/>
          <a:p>
            <a:pPr marL="457200" indent="-457200" algn="just">
              <a:buAutoNum type="arabicPeriod"/>
            </a:pPr>
            <a:endParaRPr lang="ru-RU" b="0" i="0" dirty="0">
              <a:effectLst/>
              <a:latin typeface="system-ui"/>
            </a:endParaRPr>
          </a:p>
          <a:p>
            <a:pPr marL="457200" indent="-457200" algn="just">
              <a:buFont typeface="+mj-lt"/>
              <a:buAutoNum type="arabicParenR"/>
            </a:pPr>
            <a:r>
              <a:rPr lang="ru-RU" b="0" i="0" dirty="0">
                <a:effectLst/>
                <a:latin typeface="system-ui"/>
              </a:rPr>
              <a:t>Уменьшение признаков с помощью главных компонент (PCA)</a:t>
            </a:r>
          </a:p>
          <a:p>
            <a:pPr marL="457200" indent="-457200" algn="just">
              <a:buFont typeface="+mj-lt"/>
              <a:buAutoNum type="arabicParenR"/>
            </a:pPr>
            <a:r>
              <a:rPr lang="ru-RU" b="0" i="0" dirty="0">
                <a:effectLst/>
                <a:latin typeface="system-ui"/>
              </a:rPr>
              <a:t>Снижение количества признаков линейно неразделимых данных (Ядерный PCA)</a:t>
            </a:r>
          </a:p>
          <a:p>
            <a:pPr marL="457200" indent="-457200" algn="just">
              <a:buFont typeface="+mj-lt"/>
              <a:buAutoNum type="arabicParenR"/>
            </a:pPr>
            <a:r>
              <a:rPr lang="ru-RU" b="0" i="0" dirty="0">
                <a:effectLst/>
                <a:latin typeface="system-ui"/>
              </a:rPr>
              <a:t>Уменьшение количества признаков путем максимизации разделимости классов (LDA)</a:t>
            </a:r>
          </a:p>
          <a:p>
            <a:pPr marL="457200" indent="-457200" algn="just">
              <a:buFont typeface="+mj-lt"/>
              <a:buAutoNum type="arabicParenR"/>
            </a:pPr>
            <a:r>
              <a:rPr lang="ru-RU" b="0" i="0" dirty="0">
                <a:effectLst/>
                <a:latin typeface="system-ui"/>
              </a:rPr>
              <a:t>Уменьшение количества признаков с использованием разложения матрицы (NMF)</a:t>
            </a:r>
            <a:endParaRPr lang="ru-RU" dirty="0">
              <a:latin typeface="system-ui"/>
            </a:endParaRPr>
          </a:p>
          <a:p>
            <a:pPr marL="457200" indent="-457200" algn="just">
              <a:buFont typeface="+mj-lt"/>
              <a:buAutoNum type="arabicParenR"/>
            </a:pPr>
            <a:r>
              <a:rPr lang="ru-RU" b="0" i="0" dirty="0">
                <a:effectLst/>
                <a:latin typeface="system-ui"/>
              </a:rPr>
              <a:t>Уменьшение количества признаков на разреженных данных (</a:t>
            </a:r>
            <a:r>
              <a:rPr lang="ru-RU" dirty="0">
                <a:latin typeface="system-ui"/>
              </a:rPr>
              <a:t>TSVD) </a:t>
            </a:r>
          </a:p>
          <a:p>
            <a:pPr marL="0" indent="0" algn="just">
              <a:buNone/>
            </a:pPr>
            <a:endParaRPr lang="ru-RU" b="0" i="0" dirty="0">
              <a:effectLst/>
              <a:latin typeface="system-ui"/>
            </a:endParaRPr>
          </a:p>
        </p:txBody>
      </p:sp>
      <p:sp>
        <p:nvSpPr>
          <p:cNvPr id="4" name="Нижний колонтитул 3">
            <a:extLst>
              <a:ext uri="{FF2B5EF4-FFF2-40B4-BE49-F238E27FC236}">
                <a16:creationId xmlns:a16="http://schemas.microsoft.com/office/drawing/2014/main" id="{B2DE5DF7-A6D7-2379-788B-DBFFF84E6ABA}"/>
              </a:ext>
            </a:extLst>
          </p:cNvPr>
          <p:cNvSpPr>
            <a:spLocks noGrp="1"/>
          </p:cNvSpPr>
          <p:nvPr>
            <p:ph type="ftr" sz="quarter" idx="11"/>
          </p:nvPr>
        </p:nvSpPr>
        <p:spPr>
          <a:xfrm>
            <a:off x="3028950" y="6356351"/>
            <a:ext cx="3086100" cy="365125"/>
          </a:xfrm>
        </p:spPr>
        <p:txBody>
          <a:bodyPr/>
          <a:lstStyle/>
          <a:p>
            <a:endParaRPr lang="ru-RU"/>
          </a:p>
        </p:txBody>
      </p:sp>
      <p:sp>
        <p:nvSpPr>
          <p:cNvPr id="5" name="Номер слайда 4">
            <a:extLst>
              <a:ext uri="{FF2B5EF4-FFF2-40B4-BE49-F238E27FC236}">
                <a16:creationId xmlns:a16="http://schemas.microsoft.com/office/drawing/2014/main" id="{831E9ABF-ED92-13A5-9956-CA6D78FD2DCC}"/>
              </a:ext>
            </a:extLst>
          </p:cNvPr>
          <p:cNvSpPr>
            <a:spLocks noGrp="1"/>
          </p:cNvSpPr>
          <p:nvPr>
            <p:ph type="sldNum" sz="quarter" idx="12"/>
          </p:nvPr>
        </p:nvSpPr>
        <p:spPr>
          <a:xfrm>
            <a:off x="6457950" y="6356351"/>
            <a:ext cx="2057400" cy="365125"/>
          </a:xfrm>
        </p:spPr>
        <p:txBody>
          <a:bodyPr/>
          <a:lstStyle/>
          <a:p>
            <a:fld id="{81C5FB71-5E9C-41B5-9BB8-3F1EBEAEB16A}" type="slidenum">
              <a:rPr lang="ru-RU" smtClean="0"/>
              <a:pPr/>
              <a:t>41</a:t>
            </a:fld>
            <a:endParaRPr lang="ru-RU"/>
          </a:p>
        </p:txBody>
      </p:sp>
    </p:spTree>
    <p:extLst>
      <p:ext uri="{BB962C8B-B14F-4D97-AF65-F5344CB8AC3E}">
        <p14:creationId xmlns:p14="http://schemas.microsoft.com/office/powerpoint/2010/main" val="5007903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8D6D1-0FB7-0C56-1831-60631F82016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327DD3-093A-5D5E-F451-12D20828F4FB}"/>
              </a:ext>
            </a:extLst>
          </p:cNvPr>
          <p:cNvSpPr>
            <a:spLocks noGrp="1"/>
          </p:cNvSpPr>
          <p:nvPr>
            <p:ph type="title"/>
          </p:nvPr>
        </p:nvSpPr>
        <p:spPr>
          <a:xfrm>
            <a:off x="628650" y="70791"/>
            <a:ext cx="7886700" cy="1100056"/>
          </a:xfrm>
        </p:spPr>
        <p:txBody>
          <a:bodyPr>
            <a:normAutofit/>
          </a:bodyPr>
          <a:lstStyle/>
          <a:p>
            <a:r>
              <a:rPr lang="ru-RU" b="1" i="0" dirty="0">
                <a:effectLst/>
                <a:latin typeface="system-ui"/>
              </a:rPr>
              <a:t>Метод главных компонент</a:t>
            </a:r>
          </a:p>
        </p:txBody>
      </p:sp>
      <p:sp>
        <p:nvSpPr>
          <p:cNvPr id="4" name="Нижний колонтитул 3">
            <a:extLst>
              <a:ext uri="{FF2B5EF4-FFF2-40B4-BE49-F238E27FC236}">
                <a16:creationId xmlns:a16="http://schemas.microsoft.com/office/drawing/2014/main" id="{B2DE5DF7-A6D7-2379-788B-DBFFF84E6ABA}"/>
              </a:ext>
            </a:extLst>
          </p:cNvPr>
          <p:cNvSpPr>
            <a:spLocks noGrp="1"/>
          </p:cNvSpPr>
          <p:nvPr>
            <p:ph type="ftr" sz="quarter" idx="11"/>
          </p:nvPr>
        </p:nvSpPr>
        <p:spPr>
          <a:xfrm>
            <a:off x="3028950" y="6356351"/>
            <a:ext cx="3086100" cy="365125"/>
          </a:xfrm>
        </p:spPr>
        <p:txBody>
          <a:bodyPr/>
          <a:lstStyle/>
          <a:p>
            <a:endParaRPr lang="ru-RU"/>
          </a:p>
        </p:txBody>
      </p:sp>
      <p:sp>
        <p:nvSpPr>
          <p:cNvPr id="5" name="Номер слайда 4">
            <a:extLst>
              <a:ext uri="{FF2B5EF4-FFF2-40B4-BE49-F238E27FC236}">
                <a16:creationId xmlns:a16="http://schemas.microsoft.com/office/drawing/2014/main" id="{831E9ABF-ED92-13A5-9956-CA6D78FD2DCC}"/>
              </a:ext>
            </a:extLst>
          </p:cNvPr>
          <p:cNvSpPr>
            <a:spLocks noGrp="1"/>
          </p:cNvSpPr>
          <p:nvPr>
            <p:ph type="sldNum" sz="quarter" idx="12"/>
          </p:nvPr>
        </p:nvSpPr>
        <p:spPr>
          <a:xfrm>
            <a:off x="6457950" y="6356351"/>
            <a:ext cx="2057400" cy="365125"/>
          </a:xfrm>
        </p:spPr>
        <p:txBody>
          <a:bodyPr/>
          <a:lstStyle/>
          <a:p>
            <a:fld id="{81C5FB71-5E9C-41B5-9BB8-3F1EBEAEB16A}" type="slidenum">
              <a:rPr lang="ru-RU" smtClean="0"/>
              <a:pPr/>
              <a:t>42</a:t>
            </a:fld>
            <a:endParaRPr lang="ru-RU"/>
          </a:p>
        </p:txBody>
      </p:sp>
      <p:pic>
        <p:nvPicPr>
          <p:cNvPr id="7170" name="Picture 2" descr="Picture background">
            <a:extLst>
              <a:ext uri="{FF2B5EF4-FFF2-40B4-BE49-F238E27FC236}">
                <a16:creationId xmlns:a16="http://schemas.microsoft.com/office/drawing/2014/main" id="{C9160831-F122-A5BC-CCA8-EE1F9A3BEB7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28650" y="1583380"/>
            <a:ext cx="7886700" cy="43691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51452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FEB281-6BAD-BC8C-AF68-000483539D24}"/>
              </a:ext>
            </a:extLst>
          </p:cNvPr>
          <p:cNvSpPr>
            <a:spLocks noGrp="1"/>
          </p:cNvSpPr>
          <p:nvPr>
            <p:ph type="title"/>
          </p:nvPr>
        </p:nvSpPr>
        <p:spPr/>
        <p:txBody>
          <a:bodyPr/>
          <a:lstStyle/>
          <a:p>
            <a:r>
              <a:rPr lang="ru-RU" dirty="0"/>
              <a:t>Метод главных компонент</a:t>
            </a:r>
          </a:p>
        </p:txBody>
      </p:sp>
      <p:sp>
        <p:nvSpPr>
          <p:cNvPr id="4" name="Нижний колонтитул 3">
            <a:extLst>
              <a:ext uri="{FF2B5EF4-FFF2-40B4-BE49-F238E27FC236}">
                <a16:creationId xmlns:a16="http://schemas.microsoft.com/office/drawing/2014/main" id="{B3C7D73E-C7D6-6901-7EA6-71211B5077AA}"/>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BE536A2F-546E-5BC9-DBB8-6DFB72ACF959}"/>
              </a:ext>
            </a:extLst>
          </p:cNvPr>
          <p:cNvSpPr>
            <a:spLocks noGrp="1"/>
          </p:cNvSpPr>
          <p:nvPr>
            <p:ph type="sldNum" sz="quarter" idx="12"/>
          </p:nvPr>
        </p:nvSpPr>
        <p:spPr/>
        <p:txBody>
          <a:bodyPr/>
          <a:lstStyle/>
          <a:p>
            <a:fld id="{81C5FB71-5E9C-41B5-9BB8-3F1EBEAEB16A}" type="slidenum">
              <a:rPr lang="ru-RU" smtClean="0"/>
              <a:t>43</a:t>
            </a:fld>
            <a:endParaRPr lang="ru-RU"/>
          </a:p>
        </p:txBody>
      </p:sp>
      <p:pic>
        <p:nvPicPr>
          <p:cNvPr id="8198" name="Picture 6" descr="Picture background">
            <a:extLst>
              <a:ext uri="{FF2B5EF4-FFF2-40B4-BE49-F238E27FC236}">
                <a16:creationId xmlns:a16="http://schemas.microsoft.com/office/drawing/2014/main" id="{78C9FF50-F1C4-871B-2146-9C8B8FD5B33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893" r="3074" b="60846"/>
          <a:stretch/>
        </p:blipFill>
        <p:spPr bwMode="auto">
          <a:xfrm>
            <a:off x="-4948" y="1405107"/>
            <a:ext cx="4953001" cy="1252507"/>
          </a:xfrm>
          <a:prstGeom prst="rect">
            <a:avLst/>
          </a:prstGeom>
          <a:noFill/>
          <a:extLst>
            <a:ext uri="{909E8E84-426E-40DD-AFC4-6F175D3DCCD1}">
              <a14:hiddenFill xmlns:a14="http://schemas.microsoft.com/office/drawing/2010/main">
                <a:solidFill>
                  <a:srgbClr val="FFFFFF"/>
                </a:solidFill>
              </a14:hiddenFill>
            </a:ext>
          </a:extLst>
        </p:spPr>
      </p:pic>
      <p:pic>
        <p:nvPicPr>
          <p:cNvPr id="8194" name="Picture 2" descr="Picture background">
            <a:extLst>
              <a:ext uri="{FF2B5EF4-FFF2-40B4-BE49-F238E27FC236}">
                <a16:creationId xmlns:a16="http://schemas.microsoft.com/office/drawing/2014/main" id="{AA78A325-EE74-5EC0-8004-9EB679BB296D}"/>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0" y="4619625"/>
            <a:ext cx="4572000" cy="2238375"/>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descr="Picture background">
            <a:extLst>
              <a:ext uri="{FF2B5EF4-FFF2-40B4-BE49-F238E27FC236}">
                <a16:creationId xmlns:a16="http://schemas.microsoft.com/office/drawing/2014/main" id="{116118AE-B728-5E00-F73B-17DE6A31FA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95371" y="1587711"/>
            <a:ext cx="4149619" cy="253526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Picture background">
            <a:extLst>
              <a:ext uri="{FF2B5EF4-FFF2-40B4-BE49-F238E27FC236}">
                <a16:creationId xmlns:a16="http://schemas.microsoft.com/office/drawing/2014/main" id="{1C4067B1-6954-C769-0435-336F126A27B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892" t="47164" r="3073" b="12855"/>
          <a:stretch/>
        </p:blipFill>
        <p:spPr bwMode="auto">
          <a:xfrm>
            <a:off x="-4948" y="2855342"/>
            <a:ext cx="4953001" cy="1278943"/>
          </a:xfrm>
          <a:prstGeom prst="rect">
            <a:avLst/>
          </a:prstGeom>
          <a:noFill/>
          <a:extLst>
            <a:ext uri="{909E8E84-426E-40DD-AFC4-6F175D3DCCD1}">
              <a14:hiddenFill xmlns:a14="http://schemas.microsoft.com/office/drawing/2010/main">
                <a:solidFill>
                  <a:srgbClr val="FFFFFF"/>
                </a:solidFill>
              </a14:hiddenFill>
            </a:ext>
          </a:extLst>
        </p:spPr>
      </p:pic>
      <p:pic>
        <p:nvPicPr>
          <p:cNvPr id="8202" name="Picture 10" descr="Picture background">
            <a:extLst>
              <a:ext uri="{FF2B5EF4-FFF2-40B4-BE49-F238E27FC236}">
                <a16:creationId xmlns:a16="http://schemas.microsoft.com/office/drawing/2014/main" id="{9E4FB728-F9AE-D5AC-73C1-1FA8DA0AA5A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7073" b="24445"/>
          <a:stretch/>
        </p:blipFill>
        <p:spPr bwMode="auto">
          <a:xfrm>
            <a:off x="4572000" y="4746382"/>
            <a:ext cx="4419599" cy="19385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58775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5296C9F-EF64-44C9-94DB-4D3B65C024C6}"/>
              </a:ext>
            </a:extLst>
          </p:cNvPr>
          <p:cNvSpPr>
            <a:spLocks noGrp="1"/>
          </p:cNvSpPr>
          <p:nvPr>
            <p:ph type="title"/>
          </p:nvPr>
        </p:nvSpPr>
        <p:spPr/>
        <p:txBody>
          <a:bodyPr/>
          <a:lstStyle/>
          <a:p>
            <a:r>
              <a:rPr lang="ru-RU" dirty="0"/>
              <a:t>Снижение количества признаков линейно неразделимых данных (Ядерный PCA)</a:t>
            </a:r>
          </a:p>
        </p:txBody>
      </p:sp>
      <p:sp>
        <p:nvSpPr>
          <p:cNvPr id="4" name="Нижний колонтитул 3">
            <a:extLst>
              <a:ext uri="{FF2B5EF4-FFF2-40B4-BE49-F238E27FC236}">
                <a16:creationId xmlns:a16="http://schemas.microsoft.com/office/drawing/2014/main" id="{CA650FFF-BFA5-4B6C-A85D-E66FD8AE0D5A}"/>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D186CC49-DB3B-40AE-9EA8-9F896AE14D13}"/>
              </a:ext>
            </a:extLst>
          </p:cNvPr>
          <p:cNvSpPr>
            <a:spLocks noGrp="1"/>
          </p:cNvSpPr>
          <p:nvPr>
            <p:ph type="sldNum" sz="quarter" idx="12"/>
          </p:nvPr>
        </p:nvSpPr>
        <p:spPr/>
        <p:txBody>
          <a:bodyPr/>
          <a:lstStyle/>
          <a:p>
            <a:fld id="{81C5FB71-5E9C-41B5-9BB8-3F1EBEAEB16A}" type="slidenum">
              <a:rPr lang="ru-RU" smtClean="0"/>
              <a:t>44</a:t>
            </a:fld>
            <a:endParaRPr lang="ru-RU"/>
          </a:p>
        </p:txBody>
      </p:sp>
      <p:pic>
        <p:nvPicPr>
          <p:cNvPr id="9218" name="Picture 2" descr="Picture background">
            <a:extLst>
              <a:ext uri="{FF2B5EF4-FFF2-40B4-BE49-F238E27FC236}">
                <a16:creationId xmlns:a16="http://schemas.microsoft.com/office/drawing/2014/main" id="{E33BBE55-B622-8DA0-B66D-30684A1E526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28650" y="1170847"/>
            <a:ext cx="7886700" cy="2923926"/>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Picture background">
            <a:extLst>
              <a:ext uri="{FF2B5EF4-FFF2-40B4-BE49-F238E27FC236}">
                <a16:creationId xmlns:a16="http://schemas.microsoft.com/office/drawing/2014/main" id="{5EE3CD18-2B0A-94A5-4A8F-329608BBBFD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66900" y="4177915"/>
            <a:ext cx="5410200" cy="26092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63727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DA1DBFB-E029-4A84-BEDC-A1A74037D5F4}"/>
              </a:ext>
            </a:extLst>
          </p:cNvPr>
          <p:cNvSpPr>
            <a:spLocks noGrp="1"/>
          </p:cNvSpPr>
          <p:nvPr>
            <p:ph type="title"/>
          </p:nvPr>
        </p:nvSpPr>
        <p:spPr/>
        <p:txBody>
          <a:bodyPr>
            <a:normAutofit fontScale="90000"/>
          </a:bodyPr>
          <a:lstStyle/>
          <a:p>
            <a:pPr algn="ctr"/>
            <a:r>
              <a:rPr lang="ru-RU" dirty="0"/>
              <a:t>Использование ядер для нелинейного уменьшения размерности к линейно неразделимым данным, для сокращения размерности синтетических данных</a:t>
            </a:r>
          </a:p>
        </p:txBody>
      </p:sp>
      <p:sp>
        <p:nvSpPr>
          <p:cNvPr id="3" name="Объект 2">
            <a:extLst>
              <a:ext uri="{FF2B5EF4-FFF2-40B4-BE49-F238E27FC236}">
                <a16:creationId xmlns:a16="http://schemas.microsoft.com/office/drawing/2014/main" id="{CADF8904-53ED-49DE-BE44-655B1EFA917C}"/>
              </a:ext>
            </a:extLst>
          </p:cNvPr>
          <p:cNvSpPr>
            <a:spLocks noGrp="1"/>
          </p:cNvSpPr>
          <p:nvPr>
            <p:ph idx="1"/>
          </p:nvPr>
        </p:nvSpPr>
        <p:spPr/>
        <p:txBody>
          <a:bodyPr/>
          <a:lstStyle/>
          <a:p>
            <a:pPr marL="0" indent="0" algn="just">
              <a:buNone/>
            </a:pPr>
            <a:r>
              <a:rPr lang="ru-RU" b="0" i="0" dirty="0">
                <a:effectLst/>
                <a:latin typeface="system-ui"/>
              </a:rPr>
              <a:t>Применим расширение анализа главных компонент, в котором используются ядра для нелинейного уменьшения размерности к линейно неразделимым данным, для сокращения размерности.</a:t>
            </a:r>
            <a:endParaRPr lang="ru-RU" dirty="0"/>
          </a:p>
        </p:txBody>
      </p:sp>
      <p:sp>
        <p:nvSpPr>
          <p:cNvPr id="4" name="Нижний колонтитул 3">
            <a:extLst>
              <a:ext uri="{FF2B5EF4-FFF2-40B4-BE49-F238E27FC236}">
                <a16:creationId xmlns:a16="http://schemas.microsoft.com/office/drawing/2014/main" id="{7D38B620-A695-47AA-9438-2390B5F31E29}"/>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F40DBB20-5DD7-443A-A330-1539C283E5A5}"/>
              </a:ext>
            </a:extLst>
          </p:cNvPr>
          <p:cNvSpPr>
            <a:spLocks noGrp="1"/>
          </p:cNvSpPr>
          <p:nvPr>
            <p:ph type="sldNum" sz="quarter" idx="12"/>
          </p:nvPr>
        </p:nvSpPr>
        <p:spPr/>
        <p:txBody>
          <a:bodyPr/>
          <a:lstStyle/>
          <a:p>
            <a:fld id="{81C5FB71-5E9C-41B5-9BB8-3F1EBEAEB16A}" type="slidenum">
              <a:rPr lang="ru-RU" smtClean="0"/>
              <a:t>45</a:t>
            </a:fld>
            <a:endParaRPr lang="ru-RU"/>
          </a:p>
        </p:txBody>
      </p:sp>
      <p:pic>
        <p:nvPicPr>
          <p:cNvPr id="11" name="Рисунок 10">
            <a:extLst>
              <a:ext uri="{FF2B5EF4-FFF2-40B4-BE49-F238E27FC236}">
                <a16:creationId xmlns:a16="http://schemas.microsoft.com/office/drawing/2014/main" id="{E3ABB793-10D0-403A-BC1E-EA0CB40183DB}"/>
              </a:ext>
            </a:extLst>
          </p:cNvPr>
          <p:cNvPicPr>
            <a:picLocks noChangeAspect="1"/>
          </p:cNvPicPr>
          <p:nvPr/>
        </p:nvPicPr>
        <p:blipFill>
          <a:blip r:embed="rId2"/>
          <a:stretch>
            <a:fillRect/>
          </a:stretch>
        </p:blipFill>
        <p:spPr>
          <a:xfrm>
            <a:off x="645788" y="2514600"/>
            <a:ext cx="7878131" cy="3473390"/>
          </a:xfrm>
          <a:prstGeom prst="rect">
            <a:avLst/>
          </a:prstGeom>
        </p:spPr>
      </p:pic>
    </p:spTree>
    <p:extLst>
      <p:ext uri="{BB962C8B-B14F-4D97-AF65-F5344CB8AC3E}">
        <p14:creationId xmlns:p14="http://schemas.microsoft.com/office/powerpoint/2010/main" val="28863467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76E9794-33D9-4971-B792-9AA7E7CA850C}"/>
              </a:ext>
            </a:extLst>
          </p:cNvPr>
          <p:cNvSpPr>
            <a:spLocks noGrp="1"/>
          </p:cNvSpPr>
          <p:nvPr>
            <p:ph type="title"/>
          </p:nvPr>
        </p:nvSpPr>
        <p:spPr/>
        <p:txBody>
          <a:bodyPr/>
          <a:lstStyle/>
          <a:p>
            <a:r>
              <a:rPr lang="ru-RU" dirty="0"/>
              <a:t>Уменьшение количества признаков путем максимизации разделимости классов (LDA)</a:t>
            </a:r>
          </a:p>
        </p:txBody>
      </p:sp>
      <p:sp>
        <p:nvSpPr>
          <p:cNvPr id="4" name="Нижний колонтитул 3">
            <a:extLst>
              <a:ext uri="{FF2B5EF4-FFF2-40B4-BE49-F238E27FC236}">
                <a16:creationId xmlns:a16="http://schemas.microsoft.com/office/drawing/2014/main" id="{F5511BB9-8720-4580-AA6A-205E30072B7F}"/>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6E0C5C10-A8AC-4C78-B309-7BE0561AAD85}"/>
              </a:ext>
            </a:extLst>
          </p:cNvPr>
          <p:cNvSpPr>
            <a:spLocks noGrp="1"/>
          </p:cNvSpPr>
          <p:nvPr>
            <p:ph type="sldNum" sz="quarter" idx="12"/>
          </p:nvPr>
        </p:nvSpPr>
        <p:spPr/>
        <p:txBody>
          <a:bodyPr/>
          <a:lstStyle/>
          <a:p>
            <a:fld id="{81C5FB71-5E9C-41B5-9BB8-3F1EBEAEB16A}" type="slidenum">
              <a:rPr lang="ru-RU" smtClean="0"/>
              <a:t>46</a:t>
            </a:fld>
            <a:endParaRPr lang="ru-RU"/>
          </a:p>
        </p:txBody>
      </p:sp>
      <p:pic>
        <p:nvPicPr>
          <p:cNvPr id="10242" name="Picture 2" descr="Picture background">
            <a:extLst>
              <a:ext uri="{FF2B5EF4-FFF2-40B4-BE49-F238E27FC236}">
                <a16:creationId xmlns:a16="http://schemas.microsoft.com/office/drawing/2014/main" id="{6D524DF0-A2FD-9967-BA56-051546288FAD}"/>
              </a:ext>
            </a:extLst>
          </p:cNvPr>
          <p:cNvPicPr>
            <a:picLocks noGrp="1" noChangeAspect="1" noChangeArrowheads="1"/>
          </p:cNvPicPr>
          <p:nvPr>
            <p:ph idx="1"/>
          </p:nvPr>
        </p:nvPicPr>
        <p:blipFill rotWithShape="1">
          <a:blip r:embed="rId3" cstate="print">
            <a:extLst>
              <a:ext uri="{28A0092B-C50C-407E-A947-70E740481C1C}">
                <a14:useLocalDpi xmlns:a14="http://schemas.microsoft.com/office/drawing/2010/main" val="0"/>
              </a:ext>
            </a:extLst>
          </a:blip>
          <a:srcRect l="8454" r="8454"/>
          <a:stretch/>
        </p:blipFill>
        <p:spPr bwMode="auto">
          <a:xfrm>
            <a:off x="152400" y="1265177"/>
            <a:ext cx="4052221" cy="2743200"/>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Picture background">
            <a:extLst>
              <a:ext uri="{FF2B5EF4-FFF2-40B4-BE49-F238E27FC236}">
                <a16:creationId xmlns:a16="http://schemas.microsoft.com/office/drawing/2014/main" id="{E3C54F40-B0A9-34FB-9100-16A2A77EB3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61" y="4227431"/>
            <a:ext cx="9144000" cy="2736850"/>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a:extLst>
              <a:ext uri="{FF2B5EF4-FFF2-40B4-BE49-F238E27FC236}">
                <a16:creationId xmlns:a16="http://schemas.microsoft.com/office/drawing/2014/main" id="{445508B7-54F6-7FE1-E0D5-AC8FCE37DC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9381" y="1123547"/>
            <a:ext cx="3838575" cy="30140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80340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4319E5-F470-402D-9B92-D201A54D78B4}"/>
              </a:ext>
            </a:extLst>
          </p:cNvPr>
          <p:cNvSpPr>
            <a:spLocks noGrp="1"/>
          </p:cNvSpPr>
          <p:nvPr>
            <p:ph type="title"/>
          </p:nvPr>
        </p:nvSpPr>
        <p:spPr/>
        <p:txBody>
          <a:bodyPr/>
          <a:lstStyle/>
          <a:p>
            <a:pPr algn="ctr"/>
            <a:r>
              <a:rPr lang="ru-RU" dirty="0"/>
              <a:t>Пример уменьшения количества признаков путем максимизации разделимости классов (LDA)</a:t>
            </a:r>
          </a:p>
        </p:txBody>
      </p:sp>
      <p:sp>
        <p:nvSpPr>
          <p:cNvPr id="3" name="Объект 2">
            <a:extLst>
              <a:ext uri="{FF2B5EF4-FFF2-40B4-BE49-F238E27FC236}">
                <a16:creationId xmlns:a16="http://schemas.microsoft.com/office/drawing/2014/main" id="{363F3A55-D1D0-4F7F-82AA-7AE4ADC6A985}"/>
              </a:ext>
            </a:extLst>
          </p:cNvPr>
          <p:cNvSpPr>
            <a:spLocks noGrp="1"/>
          </p:cNvSpPr>
          <p:nvPr>
            <p:ph idx="1"/>
          </p:nvPr>
        </p:nvSpPr>
        <p:spPr>
          <a:xfrm>
            <a:off x="628650" y="1172285"/>
            <a:ext cx="7886700" cy="4818181"/>
          </a:xfrm>
        </p:spPr>
        <p:txBody>
          <a:bodyPr/>
          <a:lstStyle/>
          <a:p>
            <a:pPr marL="0" indent="0" algn="just">
              <a:buNone/>
            </a:pPr>
            <a:r>
              <a:rPr lang="ru-RU" b="0" i="0" dirty="0">
                <a:effectLst/>
                <a:latin typeface="system-ui"/>
              </a:rPr>
              <a:t>Попробуем уменьшить количество признаков, используя линейный дискриминантный анализ (</a:t>
            </a:r>
            <a:r>
              <a:rPr lang="ru-RU" b="0" i="0" dirty="0" err="1">
                <a:effectLst/>
                <a:latin typeface="system-ui"/>
              </a:rPr>
              <a:t>linear</a:t>
            </a:r>
            <a:r>
              <a:rPr lang="ru-RU" b="0" i="0" dirty="0">
                <a:effectLst/>
                <a:latin typeface="system-ui"/>
              </a:rPr>
              <a:t> </a:t>
            </a:r>
            <a:r>
              <a:rPr lang="ru-RU" b="0" i="0" dirty="0" err="1">
                <a:effectLst/>
                <a:latin typeface="system-ui"/>
              </a:rPr>
              <a:t>discriminant</a:t>
            </a:r>
            <a:r>
              <a:rPr lang="ru-RU" b="0" i="0" dirty="0">
                <a:effectLst/>
                <a:latin typeface="system-ui"/>
              </a:rPr>
              <a:t> </a:t>
            </a:r>
            <a:r>
              <a:rPr lang="ru-RU" b="0" i="0" dirty="0" err="1">
                <a:effectLst/>
                <a:latin typeface="system-ui"/>
              </a:rPr>
              <a:t>analysis</a:t>
            </a:r>
            <a:r>
              <a:rPr lang="ru-RU" b="0" i="0" dirty="0">
                <a:effectLst/>
                <a:latin typeface="system-ui"/>
              </a:rPr>
              <a:t>, LDA), чтобы спроецировать объекты на оси компонент, которые максимизируют разделение классов:</a:t>
            </a:r>
            <a:endParaRPr lang="ru-RU" dirty="0"/>
          </a:p>
        </p:txBody>
      </p:sp>
      <p:sp>
        <p:nvSpPr>
          <p:cNvPr id="4" name="Нижний колонтитул 3">
            <a:extLst>
              <a:ext uri="{FF2B5EF4-FFF2-40B4-BE49-F238E27FC236}">
                <a16:creationId xmlns:a16="http://schemas.microsoft.com/office/drawing/2014/main" id="{34ABD20B-4D54-4B18-8C35-E14CE5890239}"/>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B65199AA-FD4D-4843-8F0E-A37B3A70C82C}"/>
              </a:ext>
            </a:extLst>
          </p:cNvPr>
          <p:cNvSpPr>
            <a:spLocks noGrp="1"/>
          </p:cNvSpPr>
          <p:nvPr>
            <p:ph type="sldNum" sz="quarter" idx="12"/>
          </p:nvPr>
        </p:nvSpPr>
        <p:spPr/>
        <p:txBody>
          <a:bodyPr/>
          <a:lstStyle/>
          <a:p>
            <a:fld id="{81C5FB71-5E9C-41B5-9BB8-3F1EBEAEB16A}" type="slidenum">
              <a:rPr lang="ru-RU" smtClean="0"/>
              <a:t>47</a:t>
            </a:fld>
            <a:endParaRPr lang="ru-RU"/>
          </a:p>
        </p:txBody>
      </p:sp>
      <p:pic>
        <p:nvPicPr>
          <p:cNvPr id="7" name="Рисунок 6">
            <a:extLst>
              <a:ext uri="{FF2B5EF4-FFF2-40B4-BE49-F238E27FC236}">
                <a16:creationId xmlns:a16="http://schemas.microsoft.com/office/drawing/2014/main" id="{0B4EDA83-A3A0-4174-A4FC-53A03872AE6A}"/>
              </a:ext>
            </a:extLst>
          </p:cNvPr>
          <p:cNvPicPr>
            <a:picLocks noChangeAspect="1"/>
          </p:cNvPicPr>
          <p:nvPr/>
        </p:nvPicPr>
        <p:blipFill>
          <a:blip r:embed="rId3"/>
          <a:stretch>
            <a:fillRect/>
          </a:stretch>
        </p:blipFill>
        <p:spPr>
          <a:xfrm>
            <a:off x="800100" y="2391402"/>
            <a:ext cx="7543800" cy="4330074"/>
          </a:xfrm>
          <a:prstGeom prst="rect">
            <a:avLst/>
          </a:prstGeom>
        </p:spPr>
      </p:pic>
    </p:spTree>
    <p:extLst>
      <p:ext uri="{BB962C8B-B14F-4D97-AF65-F5344CB8AC3E}">
        <p14:creationId xmlns:p14="http://schemas.microsoft.com/office/powerpoint/2010/main" val="16432048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09BCE6-45F8-41E6-949C-9E572999AA1C}"/>
              </a:ext>
            </a:extLst>
          </p:cNvPr>
          <p:cNvSpPr>
            <a:spLocks noGrp="1"/>
          </p:cNvSpPr>
          <p:nvPr>
            <p:ph type="title"/>
          </p:nvPr>
        </p:nvSpPr>
        <p:spPr/>
        <p:txBody>
          <a:bodyPr/>
          <a:lstStyle/>
          <a:p>
            <a:r>
              <a:rPr lang="ru-RU" dirty="0"/>
              <a:t>Уменьшение количества признаков с использованием разложения матрицы (NMF)</a:t>
            </a:r>
          </a:p>
        </p:txBody>
      </p:sp>
      <p:sp>
        <p:nvSpPr>
          <p:cNvPr id="4" name="Нижний колонтитул 3">
            <a:extLst>
              <a:ext uri="{FF2B5EF4-FFF2-40B4-BE49-F238E27FC236}">
                <a16:creationId xmlns:a16="http://schemas.microsoft.com/office/drawing/2014/main" id="{1C85F40B-64D8-43B1-A0CE-30896004B793}"/>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984949E5-DEFB-4985-B3EC-1D79ADAE475A}"/>
              </a:ext>
            </a:extLst>
          </p:cNvPr>
          <p:cNvSpPr>
            <a:spLocks noGrp="1"/>
          </p:cNvSpPr>
          <p:nvPr>
            <p:ph type="sldNum" sz="quarter" idx="12"/>
          </p:nvPr>
        </p:nvSpPr>
        <p:spPr/>
        <p:txBody>
          <a:bodyPr/>
          <a:lstStyle/>
          <a:p>
            <a:fld id="{81C5FB71-5E9C-41B5-9BB8-3F1EBEAEB16A}" type="slidenum">
              <a:rPr lang="ru-RU" smtClean="0"/>
              <a:t>48</a:t>
            </a:fld>
            <a:endParaRPr lang="ru-RU"/>
          </a:p>
        </p:txBody>
      </p:sp>
      <p:pic>
        <p:nvPicPr>
          <p:cNvPr id="11266" name="Picture 2" descr="Picture background">
            <a:extLst>
              <a:ext uri="{FF2B5EF4-FFF2-40B4-BE49-F238E27FC236}">
                <a16:creationId xmlns:a16="http://schemas.microsoft.com/office/drawing/2014/main" id="{CBCE0156-9D09-38F7-2A66-39F0235C1E0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53390" y="1292779"/>
            <a:ext cx="7886700" cy="2132263"/>
          </a:xfrm>
          <a:prstGeom prst="rect">
            <a:avLst/>
          </a:prstGeom>
          <a:noFill/>
          <a:extLst>
            <a:ext uri="{909E8E84-426E-40DD-AFC4-6F175D3DCCD1}">
              <a14:hiddenFill xmlns:a14="http://schemas.microsoft.com/office/drawing/2010/main">
                <a:solidFill>
                  <a:srgbClr val="FFFFFF"/>
                </a:solidFill>
              </a14:hiddenFill>
            </a:ext>
          </a:extLst>
        </p:spPr>
      </p:pic>
      <p:pic>
        <p:nvPicPr>
          <p:cNvPr id="9" name="Рисунок 8">
            <a:extLst>
              <a:ext uri="{FF2B5EF4-FFF2-40B4-BE49-F238E27FC236}">
                <a16:creationId xmlns:a16="http://schemas.microsoft.com/office/drawing/2014/main" id="{7292B274-6C9B-1A16-E1B0-922B28B9E807}"/>
              </a:ext>
            </a:extLst>
          </p:cNvPr>
          <p:cNvPicPr>
            <a:picLocks noChangeAspect="1"/>
          </p:cNvPicPr>
          <p:nvPr/>
        </p:nvPicPr>
        <p:blipFill>
          <a:blip r:embed="rId4"/>
          <a:stretch>
            <a:fillRect/>
          </a:stretch>
        </p:blipFill>
        <p:spPr>
          <a:xfrm>
            <a:off x="-34636" y="3788436"/>
            <a:ext cx="4511880" cy="1930456"/>
          </a:xfrm>
          <a:prstGeom prst="rect">
            <a:avLst/>
          </a:prstGeom>
        </p:spPr>
      </p:pic>
      <p:pic>
        <p:nvPicPr>
          <p:cNvPr id="11268" name="Picture 4">
            <a:extLst>
              <a:ext uri="{FF2B5EF4-FFF2-40B4-BE49-F238E27FC236}">
                <a16:creationId xmlns:a16="http://schemas.microsoft.com/office/drawing/2014/main" id="{D50EF00D-C134-6BD5-EFC6-6A6E7345E7C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81500" y="3705254"/>
            <a:ext cx="4762500" cy="2343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82410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2413E8D-61E2-43F8-342C-017C82879761}"/>
              </a:ext>
            </a:extLst>
          </p:cNvPr>
          <p:cNvSpPr>
            <a:spLocks noGrp="1"/>
          </p:cNvSpPr>
          <p:nvPr>
            <p:ph type="title"/>
          </p:nvPr>
        </p:nvSpPr>
        <p:spPr/>
        <p:txBody>
          <a:bodyPr/>
          <a:lstStyle/>
          <a:p>
            <a:r>
              <a:rPr lang="ru-RU" dirty="0"/>
              <a:t>Уменьшение количества признаков с использованием разложения матрицы (NMF)</a:t>
            </a:r>
          </a:p>
        </p:txBody>
      </p:sp>
      <p:pic>
        <p:nvPicPr>
          <p:cNvPr id="8" name="Объект 7">
            <a:extLst>
              <a:ext uri="{FF2B5EF4-FFF2-40B4-BE49-F238E27FC236}">
                <a16:creationId xmlns:a16="http://schemas.microsoft.com/office/drawing/2014/main" id="{8B0E6B1B-5B7C-C287-5337-63AF00D44F81}"/>
              </a:ext>
            </a:extLst>
          </p:cNvPr>
          <p:cNvPicPr>
            <a:picLocks noGrp="1" noChangeAspect="1"/>
          </p:cNvPicPr>
          <p:nvPr>
            <p:ph idx="1"/>
          </p:nvPr>
        </p:nvPicPr>
        <p:blipFill>
          <a:blip r:embed="rId2"/>
          <a:stretch>
            <a:fillRect/>
          </a:stretch>
        </p:blipFill>
        <p:spPr>
          <a:xfrm>
            <a:off x="628650" y="1060409"/>
            <a:ext cx="7886700" cy="2703189"/>
          </a:xfrm>
        </p:spPr>
      </p:pic>
      <p:sp>
        <p:nvSpPr>
          <p:cNvPr id="4" name="Нижний колонтитул 3">
            <a:extLst>
              <a:ext uri="{FF2B5EF4-FFF2-40B4-BE49-F238E27FC236}">
                <a16:creationId xmlns:a16="http://schemas.microsoft.com/office/drawing/2014/main" id="{872BE4D7-A4D4-6C80-2634-8C78CA2959A1}"/>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D10E8658-3C47-4A9C-5903-E7451F791C80}"/>
              </a:ext>
            </a:extLst>
          </p:cNvPr>
          <p:cNvSpPr>
            <a:spLocks noGrp="1"/>
          </p:cNvSpPr>
          <p:nvPr>
            <p:ph type="sldNum" sz="quarter" idx="12"/>
          </p:nvPr>
        </p:nvSpPr>
        <p:spPr/>
        <p:txBody>
          <a:bodyPr/>
          <a:lstStyle/>
          <a:p>
            <a:fld id="{81C5FB71-5E9C-41B5-9BB8-3F1EBEAEB16A}" type="slidenum">
              <a:rPr lang="ru-RU" smtClean="0"/>
              <a:t>49</a:t>
            </a:fld>
            <a:endParaRPr lang="ru-RU"/>
          </a:p>
        </p:txBody>
      </p:sp>
      <p:pic>
        <p:nvPicPr>
          <p:cNvPr id="10" name="Рисунок 9">
            <a:extLst>
              <a:ext uri="{FF2B5EF4-FFF2-40B4-BE49-F238E27FC236}">
                <a16:creationId xmlns:a16="http://schemas.microsoft.com/office/drawing/2014/main" id="{F2578ACD-11AE-DC72-132A-D17219FB42DF}"/>
              </a:ext>
            </a:extLst>
          </p:cNvPr>
          <p:cNvPicPr>
            <a:picLocks noChangeAspect="1"/>
          </p:cNvPicPr>
          <p:nvPr/>
        </p:nvPicPr>
        <p:blipFill>
          <a:blip r:embed="rId3"/>
          <a:stretch>
            <a:fillRect/>
          </a:stretch>
        </p:blipFill>
        <p:spPr>
          <a:xfrm>
            <a:off x="1393124" y="3718162"/>
            <a:ext cx="7086600" cy="3069047"/>
          </a:xfrm>
          <a:prstGeom prst="rect">
            <a:avLst/>
          </a:prstGeom>
        </p:spPr>
      </p:pic>
    </p:spTree>
    <p:extLst>
      <p:ext uri="{BB962C8B-B14F-4D97-AF65-F5344CB8AC3E}">
        <p14:creationId xmlns:p14="http://schemas.microsoft.com/office/powerpoint/2010/main" val="32059734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EE12684-F52A-45CD-BC18-F47F68277DE4}"/>
              </a:ext>
            </a:extLst>
          </p:cNvPr>
          <p:cNvSpPr>
            <a:spLocks noGrp="1"/>
          </p:cNvSpPr>
          <p:nvPr>
            <p:ph type="title"/>
          </p:nvPr>
        </p:nvSpPr>
        <p:spPr/>
        <p:txBody>
          <a:bodyPr>
            <a:normAutofit fontScale="90000"/>
          </a:bodyPr>
          <a:lstStyle/>
          <a:p>
            <a:pPr algn="ctr"/>
            <a:r>
              <a:rPr lang="ru-RU" dirty="0"/>
              <a:t>Пример уменьшения размерности матрицы признаков используя разложение неотрицательной матрицы</a:t>
            </a:r>
          </a:p>
        </p:txBody>
      </p:sp>
      <p:sp>
        <p:nvSpPr>
          <p:cNvPr id="3" name="Объект 2">
            <a:extLst>
              <a:ext uri="{FF2B5EF4-FFF2-40B4-BE49-F238E27FC236}">
                <a16:creationId xmlns:a16="http://schemas.microsoft.com/office/drawing/2014/main" id="{54C59326-9BA0-440C-BA73-ED67AC0E4394}"/>
              </a:ext>
            </a:extLst>
          </p:cNvPr>
          <p:cNvSpPr>
            <a:spLocks noGrp="1"/>
          </p:cNvSpPr>
          <p:nvPr>
            <p:ph idx="1"/>
          </p:nvPr>
        </p:nvSpPr>
        <p:spPr>
          <a:xfrm>
            <a:off x="628650" y="990600"/>
            <a:ext cx="7886700" cy="5186364"/>
          </a:xfrm>
        </p:spPr>
        <p:txBody>
          <a:bodyPr/>
          <a:lstStyle/>
          <a:p>
            <a:pPr marL="0" indent="0" algn="just">
              <a:buNone/>
            </a:pPr>
            <a:r>
              <a:rPr lang="ru-RU" b="0" i="0" dirty="0">
                <a:effectLst/>
                <a:latin typeface="system-ui"/>
              </a:rPr>
              <a:t>Уменьшим размерность матрицы признаков с неотрицательными значениями используя разложение неотрицательной матрицы (NMF, non-negative matrix factorization) с целью уменьшения размерности матрицы признаков:</a:t>
            </a:r>
            <a:endParaRPr lang="ru-RU" dirty="0"/>
          </a:p>
        </p:txBody>
      </p:sp>
      <p:sp>
        <p:nvSpPr>
          <p:cNvPr id="4" name="Нижний колонтитул 3">
            <a:extLst>
              <a:ext uri="{FF2B5EF4-FFF2-40B4-BE49-F238E27FC236}">
                <a16:creationId xmlns:a16="http://schemas.microsoft.com/office/drawing/2014/main" id="{792B2450-6477-45AB-85D3-2CFCD1B2C70B}"/>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2975D859-0531-494F-96A9-EBDDE9F4148B}"/>
              </a:ext>
            </a:extLst>
          </p:cNvPr>
          <p:cNvSpPr>
            <a:spLocks noGrp="1"/>
          </p:cNvSpPr>
          <p:nvPr>
            <p:ph type="sldNum" sz="quarter" idx="12"/>
          </p:nvPr>
        </p:nvSpPr>
        <p:spPr/>
        <p:txBody>
          <a:bodyPr/>
          <a:lstStyle/>
          <a:p>
            <a:fld id="{81C5FB71-5E9C-41B5-9BB8-3F1EBEAEB16A}" type="slidenum">
              <a:rPr lang="ru-RU" smtClean="0"/>
              <a:t>50</a:t>
            </a:fld>
            <a:endParaRPr lang="ru-RU"/>
          </a:p>
        </p:txBody>
      </p:sp>
      <p:pic>
        <p:nvPicPr>
          <p:cNvPr id="9" name="Рисунок 8">
            <a:extLst>
              <a:ext uri="{FF2B5EF4-FFF2-40B4-BE49-F238E27FC236}">
                <a16:creationId xmlns:a16="http://schemas.microsoft.com/office/drawing/2014/main" id="{87CD7E48-96B4-49C4-B4D3-54F886AEC278}"/>
              </a:ext>
            </a:extLst>
          </p:cNvPr>
          <p:cNvPicPr>
            <a:picLocks noChangeAspect="1"/>
          </p:cNvPicPr>
          <p:nvPr/>
        </p:nvPicPr>
        <p:blipFill>
          <a:blip r:embed="rId2"/>
          <a:stretch>
            <a:fillRect/>
          </a:stretch>
        </p:blipFill>
        <p:spPr>
          <a:xfrm>
            <a:off x="891936" y="2209800"/>
            <a:ext cx="7360128" cy="4146551"/>
          </a:xfrm>
          <a:prstGeom prst="rect">
            <a:avLst/>
          </a:prstGeom>
        </p:spPr>
      </p:pic>
    </p:spTree>
    <p:extLst>
      <p:ext uri="{BB962C8B-B14F-4D97-AF65-F5344CB8AC3E}">
        <p14:creationId xmlns:p14="http://schemas.microsoft.com/office/powerpoint/2010/main" val="13137977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595AC12-497D-4A83-8A25-D53F6C5A1701}"/>
              </a:ext>
            </a:extLst>
          </p:cNvPr>
          <p:cNvSpPr>
            <a:spLocks noGrp="1"/>
          </p:cNvSpPr>
          <p:nvPr>
            <p:ph type="title"/>
          </p:nvPr>
        </p:nvSpPr>
        <p:spPr>
          <a:xfrm>
            <a:off x="628650" y="70791"/>
            <a:ext cx="8058150" cy="1100056"/>
          </a:xfrm>
        </p:spPr>
        <p:txBody>
          <a:bodyPr>
            <a:normAutofit fontScale="90000"/>
          </a:bodyPr>
          <a:lstStyle/>
          <a:p>
            <a:r>
              <a:rPr lang="ru-RU" dirty="0"/>
              <a:t>Уменьшение количества признаков на разреженных данных </a:t>
            </a:r>
            <a:r>
              <a:rPr lang="ru-RU" i="0" dirty="0">
                <a:effectLst/>
                <a:latin typeface="system-ui"/>
              </a:rPr>
              <a:t>(</a:t>
            </a:r>
            <a:r>
              <a:rPr lang="en-US" i="0" dirty="0">
                <a:solidFill>
                  <a:srgbClr val="333333"/>
                </a:solidFill>
                <a:effectLst/>
                <a:latin typeface="YS Text"/>
              </a:rPr>
              <a:t>Truncated </a:t>
            </a:r>
            <a:r>
              <a:rPr lang="en-US" i="0" dirty="0">
                <a:effectLst/>
                <a:latin typeface="system-ui"/>
              </a:rPr>
              <a:t>Singular Value Decomposition</a:t>
            </a:r>
            <a:r>
              <a:rPr lang="ru-RU" i="0" dirty="0">
                <a:effectLst/>
                <a:latin typeface="system-ui"/>
              </a:rPr>
              <a:t>,</a:t>
            </a:r>
            <a:r>
              <a:rPr lang="en-US" i="0" dirty="0">
                <a:effectLst/>
                <a:latin typeface="system-ui"/>
              </a:rPr>
              <a:t> </a:t>
            </a:r>
            <a:r>
              <a:rPr lang="ru-RU" i="0" dirty="0">
                <a:effectLst/>
                <a:latin typeface="system-ui"/>
              </a:rPr>
              <a:t>TSVD) </a:t>
            </a:r>
            <a:endParaRPr lang="ru-RU" dirty="0"/>
          </a:p>
        </p:txBody>
      </p:sp>
      <p:sp>
        <p:nvSpPr>
          <p:cNvPr id="4" name="Нижний колонтитул 3">
            <a:extLst>
              <a:ext uri="{FF2B5EF4-FFF2-40B4-BE49-F238E27FC236}">
                <a16:creationId xmlns:a16="http://schemas.microsoft.com/office/drawing/2014/main" id="{8E571508-3170-4E29-BD94-4110A804BF2A}"/>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3EBC74CA-1951-4F94-96C5-0107B716E857}"/>
              </a:ext>
            </a:extLst>
          </p:cNvPr>
          <p:cNvSpPr>
            <a:spLocks noGrp="1"/>
          </p:cNvSpPr>
          <p:nvPr>
            <p:ph type="sldNum" sz="quarter" idx="12"/>
          </p:nvPr>
        </p:nvSpPr>
        <p:spPr/>
        <p:txBody>
          <a:bodyPr/>
          <a:lstStyle/>
          <a:p>
            <a:fld id="{81C5FB71-5E9C-41B5-9BB8-3F1EBEAEB16A}" type="slidenum">
              <a:rPr lang="ru-RU" smtClean="0"/>
              <a:t>51</a:t>
            </a:fld>
            <a:endParaRPr lang="ru-RU"/>
          </a:p>
        </p:txBody>
      </p:sp>
      <p:pic>
        <p:nvPicPr>
          <p:cNvPr id="6" name="Picture 6" descr="Picture background">
            <a:extLst>
              <a:ext uri="{FF2B5EF4-FFF2-40B4-BE49-F238E27FC236}">
                <a16:creationId xmlns:a16="http://schemas.microsoft.com/office/drawing/2014/main" id="{CD1EFA38-B502-67F1-C779-5E3DCADDB9E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893" r="3074" b="60846"/>
          <a:stretch/>
        </p:blipFill>
        <p:spPr bwMode="auto">
          <a:xfrm>
            <a:off x="-4948" y="1405107"/>
            <a:ext cx="4953001" cy="125250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Picture background">
            <a:extLst>
              <a:ext uri="{FF2B5EF4-FFF2-40B4-BE49-F238E27FC236}">
                <a16:creationId xmlns:a16="http://schemas.microsoft.com/office/drawing/2014/main" id="{A71EBE70-B41E-F70B-3E87-C99EAF366C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619625"/>
            <a:ext cx="4572000" cy="223837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8" descr="Picture background">
            <a:extLst>
              <a:ext uri="{FF2B5EF4-FFF2-40B4-BE49-F238E27FC236}">
                <a16:creationId xmlns:a16="http://schemas.microsoft.com/office/drawing/2014/main" id="{DA26C023-DA93-841F-F346-95A9EE67A0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95371" y="1587711"/>
            <a:ext cx="4149619" cy="253526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Picture background">
            <a:extLst>
              <a:ext uri="{FF2B5EF4-FFF2-40B4-BE49-F238E27FC236}">
                <a16:creationId xmlns:a16="http://schemas.microsoft.com/office/drawing/2014/main" id="{6990DC22-87BB-C302-D762-1CEEB64C66E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892" t="47164" r="3073" b="12855"/>
          <a:stretch/>
        </p:blipFill>
        <p:spPr bwMode="auto">
          <a:xfrm>
            <a:off x="-4948" y="2855342"/>
            <a:ext cx="4953001" cy="127894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0" descr="Picture background">
            <a:extLst>
              <a:ext uri="{FF2B5EF4-FFF2-40B4-BE49-F238E27FC236}">
                <a16:creationId xmlns:a16="http://schemas.microsoft.com/office/drawing/2014/main" id="{8D44F954-89AF-2DA0-4A00-2A5C2FA0175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17073" b="24445"/>
          <a:stretch/>
        </p:blipFill>
        <p:spPr bwMode="auto">
          <a:xfrm>
            <a:off x="4572000" y="4746382"/>
            <a:ext cx="4419599" cy="19385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64970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F9871AE-91BB-4076-97BF-1C73E35DC5EA}"/>
              </a:ext>
            </a:extLst>
          </p:cNvPr>
          <p:cNvSpPr>
            <a:spLocks noGrp="1"/>
          </p:cNvSpPr>
          <p:nvPr>
            <p:ph type="title"/>
          </p:nvPr>
        </p:nvSpPr>
        <p:spPr/>
        <p:txBody>
          <a:bodyPr>
            <a:normAutofit/>
          </a:bodyPr>
          <a:lstStyle/>
          <a:p>
            <a:pPr algn="ctr"/>
            <a:r>
              <a:rPr lang="ru-RU" sz="2400" i="0" dirty="0">
                <a:effectLst/>
                <a:latin typeface="system-ui"/>
              </a:rPr>
              <a:t>Пример уменьшения размерности разреженной матрицы признаков, используя усеченное сингулярное разложение (TSVD):</a:t>
            </a:r>
            <a:endParaRPr lang="ru-RU" sz="2400" dirty="0"/>
          </a:p>
        </p:txBody>
      </p:sp>
      <p:pic>
        <p:nvPicPr>
          <p:cNvPr id="7" name="Объект 6">
            <a:extLst>
              <a:ext uri="{FF2B5EF4-FFF2-40B4-BE49-F238E27FC236}">
                <a16:creationId xmlns:a16="http://schemas.microsoft.com/office/drawing/2014/main" id="{C26ADC11-2078-4B86-962F-6423CC277022}"/>
              </a:ext>
            </a:extLst>
          </p:cNvPr>
          <p:cNvPicPr>
            <a:picLocks noGrp="1" noChangeAspect="1"/>
          </p:cNvPicPr>
          <p:nvPr>
            <p:ph idx="1"/>
          </p:nvPr>
        </p:nvPicPr>
        <p:blipFill>
          <a:blip r:embed="rId3"/>
          <a:stretch>
            <a:fillRect/>
          </a:stretch>
        </p:blipFill>
        <p:spPr>
          <a:xfrm>
            <a:off x="396641" y="1581834"/>
            <a:ext cx="8350717" cy="4363529"/>
          </a:xfrm>
        </p:spPr>
      </p:pic>
      <p:sp>
        <p:nvSpPr>
          <p:cNvPr id="4" name="Нижний колонтитул 3">
            <a:extLst>
              <a:ext uri="{FF2B5EF4-FFF2-40B4-BE49-F238E27FC236}">
                <a16:creationId xmlns:a16="http://schemas.microsoft.com/office/drawing/2014/main" id="{9198661F-AD90-4AC1-B45E-81B132B266BD}"/>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2C0193AB-6ADA-4A99-8931-1B3563C27EFC}"/>
              </a:ext>
            </a:extLst>
          </p:cNvPr>
          <p:cNvSpPr>
            <a:spLocks noGrp="1"/>
          </p:cNvSpPr>
          <p:nvPr>
            <p:ph type="sldNum" sz="quarter" idx="12"/>
          </p:nvPr>
        </p:nvSpPr>
        <p:spPr/>
        <p:txBody>
          <a:bodyPr/>
          <a:lstStyle/>
          <a:p>
            <a:fld id="{81C5FB71-5E9C-41B5-9BB8-3F1EBEAEB16A}" type="slidenum">
              <a:rPr lang="ru-RU" smtClean="0"/>
              <a:t>52</a:t>
            </a:fld>
            <a:endParaRPr lang="ru-RU"/>
          </a:p>
        </p:txBody>
      </p:sp>
    </p:spTree>
    <p:extLst>
      <p:ext uri="{BB962C8B-B14F-4D97-AF65-F5344CB8AC3E}">
        <p14:creationId xmlns:p14="http://schemas.microsoft.com/office/powerpoint/2010/main" val="12027848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8FF719D-D3D7-A0C4-0987-130E38BE5A50}"/>
              </a:ext>
            </a:extLst>
          </p:cNvPr>
          <p:cNvSpPr>
            <a:spLocks noGrp="1"/>
          </p:cNvSpPr>
          <p:nvPr>
            <p:ph type="title"/>
          </p:nvPr>
        </p:nvSpPr>
        <p:spPr/>
        <p:txBody>
          <a:bodyPr/>
          <a:lstStyle/>
          <a:p>
            <a:pPr algn="ctr"/>
            <a:r>
              <a:rPr lang="ru-RU" dirty="0"/>
              <a:t>Сеть </a:t>
            </a:r>
            <a:r>
              <a:rPr lang="en-US" dirty="0" err="1"/>
              <a:t>AutoEncoder</a:t>
            </a:r>
            <a:endParaRPr lang="ru-RU" dirty="0"/>
          </a:p>
        </p:txBody>
      </p:sp>
      <p:sp>
        <p:nvSpPr>
          <p:cNvPr id="4" name="Нижний колонтитул 3">
            <a:extLst>
              <a:ext uri="{FF2B5EF4-FFF2-40B4-BE49-F238E27FC236}">
                <a16:creationId xmlns:a16="http://schemas.microsoft.com/office/drawing/2014/main" id="{8D0EBA22-E5B6-5591-B6D3-727BD5F9551D}"/>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337C9DC2-C517-365D-2829-F3164B5A4F0C}"/>
              </a:ext>
            </a:extLst>
          </p:cNvPr>
          <p:cNvSpPr>
            <a:spLocks noGrp="1"/>
          </p:cNvSpPr>
          <p:nvPr>
            <p:ph type="sldNum" sz="quarter" idx="12"/>
          </p:nvPr>
        </p:nvSpPr>
        <p:spPr/>
        <p:txBody>
          <a:bodyPr/>
          <a:lstStyle/>
          <a:p>
            <a:fld id="{81C5FB71-5E9C-41B5-9BB8-3F1EBEAEB16A}" type="slidenum">
              <a:rPr lang="ru-RU" smtClean="0"/>
              <a:t>53</a:t>
            </a:fld>
            <a:endParaRPr lang="ru-RU"/>
          </a:p>
        </p:txBody>
      </p:sp>
      <p:pic>
        <p:nvPicPr>
          <p:cNvPr id="13314" name="Picture 2" descr="Picture background">
            <a:extLst>
              <a:ext uri="{FF2B5EF4-FFF2-40B4-BE49-F238E27FC236}">
                <a16:creationId xmlns:a16="http://schemas.microsoft.com/office/drawing/2014/main" id="{1A51712F-83E9-E5A8-19B7-8D8B85A47A2C}"/>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0" y="1117312"/>
            <a:ext cx="9144000" cy="5691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14930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8D6D1-0FB7-0C56-1831-60631F82016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327DD3-093A-5D5E-F451-12D20828F4FB}"/>
              </a:ext>
            </a:extLst>
          </p:cNvPr>
          <p:cNvSpPr>
            <a:spLocks noGrp="1"/>
          </p:cNvSpPr>
          <p:nvPr>
            <p:ph type="title"/>
          </p:nvPr>
        </p:nvSpPr>
        <p:spPr>
          <a:xfrm>
            <a:off x="628650" y="70791"/>
            <a:ext cx="7886700" cy="691209"/>
          </a:xfrm>
        </p:spPr>
        <p:txBody>
          <a:bodyPr>
            <a:normAutofit fontScale="90000"/>
          </a:bodyPr>
          <a:lstStyle/>
          <a:p>
            <a:pPr algn="ctr"/>
            <a:r>
              <a:rPr lang="ru-RU" sz="2800" dirty="0"/>
              <a:t>Вспомогательная роль методов обучения без учителя при решении задач классификации и регрессии</a:t>
            </a:r>
            <a:endParaRPr lang="ru-RU" dirty="0"/>
          </a:p>
        </p:txBody>
      </p:sp>
      <p:sp>
        <p:nvSpPr>
          <p:cNvPr id="4" name="Нижний колонтитул 3">
            <a:extLst>
              <a:ext uri="{FF2B5EF4-FFF2-40B4-BE49-F238E27FC236}">
                <a16:creationId xmlns:a16="http://schemas.microsoft.com/office/drawing/2014/main" id="{B2DE5DF7-A6D7-2379-788B-DBFFF84E6ABA}"/>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831E9ABF-ED92-13A5-9956-CA6D78FD2DCC}"/>
              </a:ext>
            </a:extLst>
          </p:cNvPr>
          <p:cNvSpPr>
            <a:spLocks noGrp="1"/>
          </p:cNvSpPr>
          <p:nvPr>
            <p:ph type="sldNum" sz="quarter" idx="12"/>
          </p:nvPr>
        </p:nvSpPr>
        <p:spPr/>
        <p:txBody>
          <a:bodyPr/>
          <a:lstStyle/>
          <a:p>
            <a:fld id="{81C5FB71-5E9C-41B5-9BB8-3F1EBEAEB16A}" type="slidenum">
              <a:rPr lang="ru-RU" smtClean="0"/>
              <a:t>54</a:t>
            </a:fld>
            <a:endParaRPr lang="ru-RU"/>
          </a:p>
        </p:txBody>
      </p:sp>
      <p:pic>
        <p:nvPicPr>
          <p:cNvPr id="6146" name="Picture 2">
            <a:extLst>
              <a:ext uri="{FF2B5EF4-FFF2-40B4-BE49-F238E27FC236}">
                <a16:creationId xmlns:a16="http://schemas.microsoft.com/office/drawing/2014/main" id="{A3BACB64-B279-F299-3531-3256B916EA4C}"/>
              </a:ext>
            </a:extLst>
          </p:cNvPr>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419100" y="1066800"/>
            <a:ext cx="8305800" cy="1441663"/>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Picture background">
            <a:extLst>
              <a:ext uri="{FF2B5EF4-FFF2-40B4-BE49-F238E27FC236}">
                <a16:creationId xmlns:a16="http://schemas.microsoft.com/office/drawing/2014/main" id="{D007A442-059C-FFBE-BE5C-6E36F974229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2813263"/>
            <a:ext cx="9144000" cy="4170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14190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63CB491-ECD9-4E57-A342-C85C93CC2D36}"/>
              </a:ext>
            </a:extLst>
          </p:cNvPr>
          <p:cNvSpPr>
            <a:spLocks noGrp="1"/>
          </p:cNvSpPr>
          <p:nvPr>
            <p:ph type="title"/>
          </p:nvPr>
        </p:nvSpPr>
        <p:spPr/>
        <p:txBody>
          <a:bodyPr>
            <a:normAutofit/>
          </a:bodyPr>
          <a:lstStyle/>
          <a:p>
            <a:pPr algn="ctr"/>
            <a:r>
              <a:rPr lang="ru-RU" sz="2400" dirty="0">
                <a:latin typeface="system-ui"/>
              </a:rPr>
              <a:t>Снижение размерности с помощью отбора признаков</a:t>
            </a:r>
          </a:p>
        </p:txBody>
      </p:sp>
      <p:sp>
        <p:nvSpPr>
          <p:cNvPr id="4" name="Нижний колонтитул 3">
            <a:extLst>
              <a:ext uri="{FF2B5EF4-FFF2-40B4-BE49-F238E27FC236}">
                <a16:creationId xmlns:a16="http://schemas.microsoft.com/office/drawing/2014/main" id="{E3A7209E-0440-4D45-9930-65B0DB7630F5}"/>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D69AB873-D018-4D2F-A437-21C0136B247D}"/>
              </a:ext>
            </a:extLst>
          </p:cNvPr>
          <p:cNvSpPr>
            <a:spLocks noGrp="1"/>
          </p:cNvSpPr>
          <p:nvPr>
            <p:ph type="sldNum" sz="quarter" idx="12"/>
          </p:nvPr>
        </p:nvSpPr>
        <p:spPr/>
        <p:txBody>
          <a:bodyPr/>
          <a:lstStyle/>
          <a:p>
            <a:fld id="{81C5FB71-5E9C-41B5-9BB8-3F1EBEAEB16A}" type="slidenum">
              <a:rPr lang="ru-RU" smtClean="0"/>
              <a:t>55</a:t>
            </a:fld>
            <a:endParaRPr lang="ru-RU"/>
          </a:p>
        </p:txBody>
      </p:sp>
      <p:pic>
        <p:nvPicPr>
          <p:cNvPr id="15362" name="Picture 2" descr="Picture background">
            <a:extLst>
              <a:ext uri="{FF2B5EF4-FFF2-40B4-BE49-F238E27FC236}">
                <a16:creationId xmlns:a16="http://schemas.microsoft.com/office/drawing/2014/main" id="{86CDF3F7-86BD-845C-7BF1-A79BE62FF461}"/>
              </a:ext>
            </a:extLst>
          </p:cNvPr>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22761" y="1844675"/>
            <a:ext cx="6675744" cy="379621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12E3932-D7BC-A744-D703-1C151324B184}"/>
              </a:ext>
            </a:extLst>
          </p:cNvPr>
          <p:cNvSpPr txBox="1"/>
          <p:nvPr/>
        </p:nvSpPr>
        <p:spPr>
          <a:xfrm>
            <a:off x="6725224" y="1886306"/>
            <a:ext cx="1905000" cy="923330"/>
          </a:xfrm>
          <a:prstGeom prst="rect">
            <a:avLst/>
          </a:prstGeom>
          <a:noFill/>
        </p:spPr>
        <p:txBody>
          <a:bodyPr wrap="square" rtlCol="0">
            <a:spAutoFit/>
          </a:bodyPr>
          <a:lstStyle/>
          <a:p>
            <a:r>
              <a:rPr lang="ru-RU" dirty="0"/>
              <a:t>Статистические методы отбора признаков</a:t>
            </a:r>
          </a:p>
        </p:txBody>
      </p:sp>
      <p:sp>
        <p:nvSpPr>
          <p:cNvPr id="7" name="TextBox 6">
            <a:extLst>
              <a:ext uri="{FF2B5EF4-FFF2-40B4-BE49-F238E27FC236}">
                <a16:creationId xmlns:a16="http://schemas.microsoft.com/office/drawing/2014/main" id="{1DA551BD-E026-7B9B-9C29-27DA299D2F19}"/>
              </a:ext>
            </a:extLst>
          </p:cNvPr>
          <p:cNvSpPr txBox="1"/>
          <p:nvPr/>
        </p:nvSpPr>
        <p:spPr>
          <a:xfrm>
            <a:off x="6725224" y="3197998"/>
            <a:ext cx="1905000" cy="923330"/>
          </a:xfrm>
          <a:prstGeom prst="rect">
            <a:avLst/>
          </a:prstGeom>
          <a:noFill/>
        </p:spPr>
        <p:txBody>
          <a:bodyPr wrap="square" rtlCol="0">
            <a:spAutoFit/>
          </a:bodyPr>
          <a:lstStyle/>
          <a:p>
            <a:r>
              <a:rPr lang="ru-RU" dirty="0"/>
              <a:t>Минимизация </a:t>
            </a:r>
            <a:r>
              <a:rPr lang="ru-RU" dirty="0" err="1"/>
              <a:t>валидационной</a:t>
            </a:r>
            <a:r>
              <a:rPr lang="ru-RU" dirty="0"/>
              <a:t> ошибки</a:t>
            </a:r>
          </a:p>
        </p:txBody>
      </p:sp>
      <p:sp>
        <p:nvSpPr>
          <p:cNvPr id="8" name="TextBox 7">
            <a:extLst>
              <a:ext uri="{FF2B5EF4-FFF2-40B4-BE49-F238E27FC236}">
                <a16:creationId xmlns:a16="http://schemas.microsoft.com/office/drawing/2014/main" id="{FAB3F1F0-417E-2E48-B45D-1FCA1CDCB891}"/>
              </a:ext>
            </a:extLst>
          </p:cNvPr>
          <p:cNvSpPr txBox="1"/>
          <p:nvPr/>
        </p:nvSpPr>
        <p:spPr>
          <a:xfrm>
            <a:off x="6698505" y="4375122"/>
            <a:ext cx="1905000" cy="1200329"/>
          </a:xfrm>
          <a:prstGeom prst="rect">
            <a:avLst/>
          </a:prstGeom>
          <a:noFill/>
        </p:spPr>
        <p:txBody>
          <a:bodyPr wrap="square" rtlCol="0">
            <a:spAutoFit/>
          </a:bodyPr>
          <a:lstStyle/>
          <a:p>
            <a:r>
              <a:rPr lang="ru-RU" dirty="0"/>
              <a:t>Фильтрация включена в параметры модели</a:t>
            </a:r>
          </a:p>
        </p:txBody>
      </p:sp>
    </p:spTree>
    <p:extLst>
      <p:ext uri="{BB962C8B-B14F-4D97-AF65-F5344CB8AC3E}">
        <p14:creationId xmlns:p14="http://schemas.microsoft.com/office/powerpoint/2010/main" val="5646809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712DD60-D1F2-49F7-9FC7-8EE48D4EB0C5}"/>
              </a:ext>
            </a:extLst>
          </p:cNvPr>
          <p:cNvSpPr>
            <a:spLocks noGrp="1"/>
          </p:cNvSpPr>
          <p:nvPr>
            <p:ph type="title"/>
          </p:nvPr>
        </p:nvSpPr>
        <p:spPr/>
        <p:txBody>
          <a:bodyPr>
            <a:normAutofit fontScale="90000"/>
          </a:bodyPr>
          <a:lstStyle/>
          <a:p>
            <a:pPr algn="ctr"/>
            <a:r>
              <a:rPr lang="ru-RU" b="1" i="0" dirty="0">
                <a:effectLst/>
                <a:latin typeface="system-ui"/>
              </a:rPr>
              <a:t>Удаление бинарных признаков с дисперсией ниже пороговых значений (</a:t>
            </a:r>
            <a:r>
              <a:rPr lang="en-US" b="1" i="0" dirty="0">
                <a:effectLst/>
                <a:latin typeface="system-ui"/>
              </a:rPr>
              <a:t>Low-Variance Feature Removal, Thresholding Binary Feature Variance)</a:t>
            </a:r>
            <a:endParaRPr lang="ru-RU" dirty="0"/>
          </a:p>
        </p:txBody>
      </p:sp>
      <p:sp>
        <p:nvSpPr>
          <p:cNvPr id="3" name="Объект 2">
            <a:extLst>
              <a:ext uri="{FF2B5EF4-FFF2-40B4-BE49-F238E27FC236}">
                <a16:creationId xmlns:a16="http://schemas.microsoft.com/office/drawing/2014/main" id="{4C069AFF-9C6F-49E8-B747-D2757C7A76C5}"/>
              </a:ext>
            </a:extLst>
          </p:cNvPr>
          <p:cNvSpPr>
            <a:spLocks noGrp="1"/>
          </p:cNvSpPr>
          <p:nvPr>
            <p:ph idx="1"/>
          </p:nvPr>
        </p:nvSpPr>
        <p:spPr/>
        <p:txBody>
          <a:bodyPr>
            <a:normAutofit/>
          </a:bodyPr>
          <a:lstStyle/>
          <a:p>
            <a:pPr marL="0" indent="0" algn="just">
              <a:buNone/>
            </a:pPr>
            <a:r>
              <a:rPr lang="ru-RU" dirty="0">
                <a:latin typeface="system-ui"/>
              </a:rPr>
              <a:t>Д</a:t>
            </a:r>
            <a:r>
              <a:rPr lang="ru-RU" b="0" i="0" dirty="0">
                <a:effectLst/>
                <a:latin typeface="system-ui"/>
              </a:rPr>
              <a:t>исперсия рассчитывается как: </a:t>
            </a:r>
            <a:r>
              <a:rPr lang="ru-RU" b="0" i="0" dirty="0" err="1">
                <a:effectLst/>
                <a:latin typeface="system-ui"/>
              </a:rPr>
              <a:t>Var</a:t>
            </a:r>
            <a:r>
              <a:rPr lang="ru-RU" b="0" i="0" dirty="0">
                <a:effectLst/>
                <a:latin typeface="system-ui"/>
              </a:rPr>
              <a:t>[x] = p(1-p), </a:t>
            </a:r>
          </a:p>
          <a:p>
            <a:pPr marL="0" indent="0" algn="just">
              <a:buNone/>
            </a:pPr>
            <a:r>
              <a:rPr lang="ru-RU" b="0" i="0" dirty="0">
                <a:effectLst/>
                <a:latin typeface="system-ui"/>
              </a:rPr>
              <a:t>где р — доля наблюдений одинаковых значений признака. </a:t>
            </a:r>
          </a:p>
          <a:p>
            <a:pPr marL="0" indent="0" algn="just">
              <a:buNone/>
            </a:pPr>
            <a:r>
              <a:rPr lang="ru-RU" dirty="0">
                <a:latin typeface="system-ui"/>
              </a:rPr>
              <a:t>З</a:t>
            </a:r>
            <a:r>
              <a:rPr lang="ru-RU" b="0" i="0" dirty="0">
                <a:effectLst/>
                <a:latin typeface="system-ui"/>
              </a:rPr>
              <a:t>адав значение вероятности р, мы можем удалить признаки, где подавляющее большинство наблюдений является одинаковыми значениями. </a:t>
            </a:r>
          </a:p>
        </p:txBody>
      </p:sp>
      <p:sp>
        <p:nvSpPr>
          <p:cNvPr id="4" name="Нижний колонтитул 3">
            <a:extLst>
              <a:ext uri="{FF2B5EF4-FFF2-40B4-BE49-F238E27FC236}">
                <a16:creationId xmlns:a16="http://schemas.microsoft.com/office/drawing/2014/main" id="{15B66EE2-2740-4906-8E2B-7106FEDE3E57}"/>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D11C6CC6-83C8-4BDB-B86D-CEE11C5172C0}"/>
              </a:ext>
            </a:extLst>
          </p:cNvPr>
          <p:cNvSpPr>
            <a:spLocks noGrp="1"/>
          </p:cNvSpPr>
          <p:nvPr>
            <p:ph type="sldNum" sz="quarter" idx="12"/>
          </p:nvPr>
        </p:nvSpPr>
        <p:spPr/>
        <p:txBody>
          <a:bodyPr/>
          <a:lstStyle/>
          <a:p>
            <a:fld id="{81C5FB71-5E9C-41B5-9BB8-3F1EBEAEB16A}" type="slidenum">
              <a:rPr lang="ru-RU" smtClean="0"/>
              <a:t>56</a:t>
            </a:fld>
            <a:endParaRPr lang="ru-RU"/>
          </a:p>
        </p:txBody>
      </p:sp>
      <p:pic>
        <p:nvPicPr>
          <p:cNvPr id="7" name="Рисунок 6">
            <a:extLst>
              <a:ext uri="{FF2B5EF4-FFF2-40B4-BE49-F238E27FC236}">
                <a16:creationId xmlns:a16="http://schemas.microsoft.com/office/drawing/2014/main" id="{AF17AA23-EDE8-4579-A413-ACCDB69DD503}"/>
              </a:ext>
            </a:extLst>
          </p:cNvPr>
          <p:cNvPicPr>
            <a:picLocks noChangeAspect="1"/>
          </p:cNvPicPr>
          <p:nvPr/>
        </p:nvPicPr>
        <p:blipFill>
          <a:blip r:embed="rId3"/>
          <a:stretch>
            <a:fillRect/>
          </a:stretch>
        </p:blipFill>
        <p:spPr>
          <a:xfrm>
            <a:off x="627549" y="3276600"/>
            <a:ext cx="7887801" cy="2381582"/>
          </a:xfrm>
          <a:prstGeom prst="rect">
            <a:avLst/>
          </a:prstGeom>
        </p:spPr>
      </p:pic>
    </p:spTree>
    <p:extLst>
      <p:ext uri="{BB962C8B-B14F-4D97-AF65-F5344CB8AC3E}">
        <p14:creationId xmlns:p14="http://schemas.microsoft.com/office/powerpoint/2010/main" val="9703106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CFB2FDD-498F-4793-BA86-BCD4976CEB77}"/>
              </a:ext>
            </a:extLst>
          </p:cNvPr>
          <p:cNvSpPr>
            <a:spLocks noGrp="1"/>
          </p:cNvSpPr>
          <p:nvPr>
            <p:ph type="title"/>
          </p:nvPr>
        </p:nvSpPr>
        <p:spPr/>
        <p:txBody>
          <a:bodyPr>
            <a:normAutofit/>
          </a:bodyPr>
          <a:lstStyle/>
          <a:p>
            <a:pPr algn="ctr"/>
            <a:r>
              <a:rPr lang="ru-RU" b="1" i="0" dirty="0">
                <a:effectLst/>
                <a:latin typeface="system-ui"/>
              </a:rPr>
              <a:t>Обработка </a:t>
            </a:r>
            <a:r>
              <a:rPr lang="ru-RU" b="1" i="0" dirty="0" err="1">
                <a:effectLst/>
                <a:latin typeface="system-ui"/>
              </a:rPr>
              <a:t>высококоррелированных</a:t>
            </a:r>
            <a:r>
              <a:rPr lang="ru-RU" b="1" i="0" dirty="0">
                <a:effectLst/>
                <a:latin typeface="system-ui"/>
              </a:rPr>
              <a:t> признаков (</a:t>
            </a:r>
            <a:r>
              <a:rPr lang="ru-RU" b="1" i="0" dirty="0" err="1">
                <a:effectLst/>
                <a:latin typeface="system-ui"/>
              </a:rPr>
              <a:t>Handling</a:t>
            </a:r>
            <a:r>
              <a:rPr lang="ru-RU" b="1" i="0" dirty="0">
                <a:effectLst/>
                <a:latin typeface="system-ui"/>
              </a:rPr>
              <a:t> </a:t>
            </a:r>
            <a:r>
              <a:rPr lang="ru-RU" b="1" i="0" dirty="0" err="1">
                <a:effectLst/>
                <a:latin typeface="system-ui"/>
              </a:rPr>
              <a:t>Highly</a:t>
            </a:r>
            <a:r>
              <a:rPr lang="ru-RU" b="1" i="0" dirty="0">
                <a:effectLst/>
                <a:latin typeface="system-ui"/>
              </a:rPr>
              <a:t> </a:t>
            </a:r>
            <a:r>
              <a:rPr lang="ru-RU" b="1" i="0" dirty="0" err="1">
                <a:effectLst/>
                <a:latin typeface="system-ui"/>
              </a:rPr>
              <a:t>Correlated</a:t>
            </a:r>
            <a:r>
              <a:rPr lang="ru-RU" b="1" i="0" dirty="0">
                <a:effectLst/>
                <a:latin typeface="system-ui"/>
              </a:rPr>
              <a:t> </a:t>
            </a:r>
            <a:r>
              <a:rPr lang="ru-RU" b="1" i="0" dirty="0" err="1">
                <a:effectLst/>
                <a:latin typeface="system-ui"/>
              </a:rPr>
              <a:t>Features</a:t>
            </a:r>
            <a:r>
              <a:rPr lang="ru-RU" b="1" i="0" dirty="0">
                <a:effectLst/>
                <a:latin typeface="system-ui"/>
              </a:rPr>
              <a:t>)</a:t>
            </a:r>
            <a:r>
              <a:rPr lang="ru-RU" b="1" i="0" u="none" strike="noStrike" dirty="0">
                <a:effectLst/>
                <a:latin typeface="system-ui"/>
                <a:hlinkClick r:id="rId2"/>
              </a:rPr>
              <a:t>¶</a:t>
            </a:r>
            <a:endParaRPr lang="ru-RU" dirty="0"/>
          </a:p>
        </p:txBody>
      </p:sp>
      <p:sp>
        <p:nvSpPr>
          <p:cNvPr id="3" name="Объект 2">
            <a:extLst>
              <a:ext uri="{FF2B5EF4-FFF2-40B4-BE49-F238E27FC236}">
                <a16:creationId xmlns:a16="http://schemas.microsoft.com/office/drawing/2014/main" id="{A920C841-13F9-4A1E-AA00-0DD0463963EA}"/>
              </a:ext>
            </a:extLst>
          </p:cNvPr>
          <p:cNvSpPr>
            <a:spLocks noGrp="1"/>
          </p:cNvSpPr>
          <p:nvPr>
            <p:ph idx="1"/>
          </p:nvPr>
        </p:nvSpPr>
        <p:spPr/>
        <p:txBody>
          <a:bodyPr/>
          <a:lstStyle/>
          <a:p>
            <a:pPr marL="0" indent="0" algn="just">
              <a:buNone/>
            </a:pPr>
            <a:r>
              <a:rPr lang="ru-RU" b="0" i="0" dirty="0">
                <a:effectLst/>
                <a:latin typeface="system-ui"/>
              </a:rPr>
              <a:t>Если два признака сильно коррелированы, то информация, которую они содержат, очень похожа, и, скорее всего, включать оба признака будет излишним. </a:t>
            </a:r>
          </a:p>
          <a:p>
            <a:pPr marL="0" indent="0" algn="just">
              <a:buNone/>
            </a:pPr>
            <a:r>
              <a:rPr lang="ru-RU" b="0" i="0" dirty="0">
                <a:effectLst/>
                <a:latin typeface="system-ui"/>
              </a:rPr>
              <a:t>Решение проблемы сильно коррелированных признаков простое: удалить один из них из набора признаков. Для этого:</a:t>
            </a:r>
          </a:p>
          <a:p>
            <a:pPr algn="just">
              <a:buFont typeface="+mj-lt"/>
              <a:buAutoNum type="arabicPeriod"/>
            </a:pPr>
            <a:r>
              <a:rPr lang="ru-RU" b="0" i="0" dirty="0">
                <a:effectLst/>
                <a:latin typeface="system-ui"/>
              </a:rPr>
              <a:t> Создаем корреляционную матрицу для всех признаков.</a:t>
            </a:r>
          </a:p>
          <a:p>
            <a:pPr algn="just">
              <a:buFont typeface="+mj-lt"/>
              <a:buAutoNum type="arabicPeriod"/>
            </a:pPr>
            <a:r>
              <a:rPr lang="ru-RU" b="0" i="0" dirty="0">
                <a:effectLst/>
                <a:latin typeface="system-ui"/>
              </a:rPr>
              <a:t> Смотрим на верхний треугольник корреляционной матрицы, чтобы определить пары сильно коррелированных признаков.</a:t>
            </a:r>
          </a:p>
          <a:p>
            <a:pPr algn="just">
              <a:buFont typeface="+mj-lt"/>
              <a:buAutoNum type="arabicPeriod"/>
            </a:pPr>
            <a:r>
              <a:rPr lang="ru-RU" b="0" i="0" dirty="0">
                <a:effectLst/>
                <a:latin typeface="system-ui"/>
              </a:rPr>
              <a:t> Из каждой пары из набора признаков удаляем по одному признаку.</a:t>
            </a:r>
          </a:p>
          <a:p>
            <a:pPr marL="0" indent="0">
              <a:buNone/>
            </a:pPr>
            <a:endParaRPr lang="ru-RU" dirty="0"/>
          </a:p>
        </p:txBody>
      </p:sp>
      <p:sp>
        <p:nvSpPr>
          <p:cNvPr id="4" name="Нижний колонтитул 3">
            <a:extLst>
              <a:ext uri="{FF2B5EF4-FFF2-40B4-BE49-F238E27FC236}">
                <a16:creationId xmlns:a16="http://schemas.microsoft.com/office/drawing/2014/main" id="{D13C17A6-2A56-4F51-8D2A-1FAF2E516C7B}"/>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4A2E2D55-4A32-4B50-947D-6B736BD57B7C}"/>
              </a:ext>
            </a:extLst>
          </p:cNvPr>
          <p:cNvSpPr>
            <a:spLocks noGrp="1"/>
          </p:cNvSpPr>
          <p:nvPr>
            <p:ph type="sldNum" sz="quarter" idx="12"/>
          </p:nvPr>
        </p:nvSpPr>
        <p:spPr/>
        <p:txBody>
          <a:bodyPr/>
          <a:lstStyle/>
          <a:p>
            <a:fld id="{81C5FB71-5E9C-41B5-9BB8-3F1EBEAEB16A}" type="slidenum">
              <a:rPr lang="ru-RU" smtClean="0"/>
              <a:t>57</a:t>
            </a:fld>
            <a:endParaRPr lang="ru-RU"/>
          </a:p>
        </p:txBody>
      </p:sp>
    </p:spTree>
    <p:extLst>
      <p:ext uri="{BB962C8B-B14F-4D97-AF65-F5344CB8AC3E}">
        <p14:creationId xmlns:p14="http://schemas.microsoft.com/office/powerpoint/2010/main" val="24830403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CFB2FDD-498F-4793-BA86-BCD4976CEB77}"/>
              </a:ext>
            </a:extLst>
          </p:cNvPr>
          <p:cNvSpPr>
            <a:spLocks noGrp="1"/>
          </p:cNvSpPr>
          <p:nvPr>
            <p:ph type="title"/>
          </p:nvPr>
        </p:nvSpPr>
        <p:spPr>
          <a:xfrm>
            <a:off x="628650" y="70791"/>
            <a:ext cx="7886700" cy="843609"/>
          </a:xfrm>
        </p:spPr>
        <p:txBody>
          <a:bodyPr>
            <a:normAutofit/>
          </a:bodyPr>
          <a:lstStyle/>
          <a:p>
            <a:pPr algn="ctr"/>
            <a:r>
              <a:rPr lang="ru-RU" sz="2400" i="0" dirty="0">
                <a:effectLst/>
                <a:latin typeface="system-ui"/>
              </a:rPr>
              <a:t>Пример обработки </a:t>
            </a:r>
            <a:r>
              <a:rPr lang="ru-RU" sz="2400" i="0" dirty="0" err="1">
                <a:effectLst/>
                <a:latin typeface="system-ui"/>
              </a:rPr>
              <a:t>высококоррелированных</a:t>
            </a:r>
            <a:r>
              <a:rPr lang="ru-RU" sz="2400" i="0" dirty="0">
                <a:effectLst/>
                <a:latin typeface="system-ui"/>
              </a:rPr>
              <a:t> признаков</a:t>
            </a:r>
            <a:endParaRPr lang="ru-RU" sz="2400" dirty="0"/>
          </a:p>
        </p:txBody>
      </p:sp>
      <p:sp>
        <p:nvSpPr>
          <p:cNvPr id="3" name="Объект 2">
            <a:extLst>
              <a:ext uri="{FF2B5EF4-FFF2-40B4-BE49-F238E27FC236}">
                <a16:creationId xmlns:a16="http://schemas.microsoft.com/office/drawing/2014/main" id="{A920C841-13F9-4A1E-AA00-0DD0463963EA}"/>
              </a:ext>
            </a:extLst>
          </p:cNvPr>
          <p:cNvSpPr>
            <a:spLocks noGrp="1"/>
          </p:cNvSpPr>
          <p:nvPr>
            <p:ph idx="1"/>
          </p:nvPr>
        </p:nvSpPr>
        <p:spPr>
          <a:xfrm>
            <a:off x="628650" y="914400"/>
            <a:ext cx="7886700" cy="5262563"/>
          </a:xfrm>
        </p:spPr>
        <p:txBody>
          <a:bodyPr/>
          <a:lstStyle/>
          <a:p>
            <a:pPr marL="0" indent="0" algn="just">
              <a:buNone/>
            </a:pPr>
            <a:r>
              <a:rPr lang="ru-RU" b="0" i="0" dirty="0">
                <a:effectLst/>
                <a:latin typeface="system-ui"/>
              </a:rPr>
              <a:t>У нас есть матрица предположительно имеющая сильно скоррелированные признаки. Используем корреляционную матрицу для выполнения проверки на сильно коррелированные признаки. Если существуют сильно коррелированные признаки, то рассмотрим возможность исключения одного из коррелированных признаков.</a:t>
            </a:r>
            <a:endParaRPr lang="ru-RU" dirty="0"/>
          </a:p>
        </p:txBody>
      </p:sp>
      <p:sp>
        <p:nvSpPr>
          <p:cNvPr id="4" name="Нижний колонтитул 3">
            <a:extLst>
              <a:ext uri="{FF2B5EF4-FFF2-40B4-BE49-F238E27FC236}">
                <a16:creationId xmlns:a16="http://schemas.microsoft.com/office/drawing/2014/main" id="{D13C17A6-2A56-4F51-8D2A-1FAF2E516C7B}"/>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4A2E2D55-4A32-4B50-947D-6B736BD57B7C}"/>
              </a:ext>
            </a:extLst>
          </p:cNvPr>
          <p:cNvSpPr>
            <a:spLocks noGrp="1"/>
          </p:cNvSpPr>
          <p:nvPr>
            <p:ph type="sldNum" sz="quarter" idx="12"/>
          </p:nvPr>
        </p:nvSpPr>
        <p:spPr/>
        <p:txBody>
          <a:bodyPr/>
          <a:lstStyle/>
          <a:p>
            <a:fld id="{81C5FB71-5E9C-41B5-9BB8-3F1EBEAEB16A}" type="slidenum">
              <a:rPr lang="ru-RU" smtClean="0"/>
              <a:t>58</a:t>
            </a:fld>
            <a:endParaRPr lang="ru-RU"/>
          </a:p>
        </p:txBody>
      </p:sp>
      <p:pic>
        <p:nvPicPr>
          <p:cNvPr id="7" name="Рисунок 6">
            <a:extLst>
              <a:ext uri="{FF2B5EF4-FFF2-40B4-BE49-F238E27FC236}">
                <a16:creationId xmlns:a16="http://schemas.microsoft.com/office/drawing/2014/main" id="{56BA0517-9BA4-42DB-881C-A2D915AFCCE1}"/>
              </a:ext>
            </a:extLst>
          </p:cNvPr>
          <p:cNvPicPr>
            <a:picLocks noChangeAspect="1"/>
          </p:cNvPicPr>
          <p:nvPr/>
        </p:nvPicPr>
        <p:blipFill>
          <a:blip r:embed="rId2"/>
          <a:stretch>
            <a:fillRect/>
          </a:stretch>
        </p:blipFill>
        <p:spPr>
          <a:xfrm>
            <a:off x="628650" y="2726819"/>
            <a:ext cx="7897327" cy="3629532"/>
          </a:xfrm>
          <a:prstGeom prst="rect">
            <a:avLst/>
          </a:prstGeom>
        </p:spPr>
      </p:pic>
    </p:spTree>
    <p:extLst>
      <p:ext uri="{BB962C8B-B14F-4D97-AF65-F5344CB8AC3E}">
        <p14:creationId xmlns:p14="http://schemas.microsoft.com/office/powerpoint/2010/main" val="28795004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89119BA-BF27-4A75-9FA1-FC5AB7630671}"/>
              </a:ext>
            </a:extLst>
          </p:cNvPr>
          <p:cNvSpPr>
            <a:spLocks noGrp="1"/>
          </p:cNvSpPr>
          <p:nvPr>
            <p:ph type="title"/>
          </p:nvPr>
        </p:nvSpPr>
        <p:spPr/>
        <p:txBody>
          <a:bodyPr>
            <a:normAutofit/>
          </a:bodyPr>
          <a:lstStyle/>
          <a:p>
            <a:pPr algn="ctr"/>
            <a:r>
              <a:rPr lang="ru-RU" sz="2400" i="0" dirty="0">
                <a:effectLst/>
                <a:latin typeface="system-ui"/>
              </a:rPr>
              <a:t>Пример обработки </a:t>
            </a:r>
            <a:r>
              <a:rPr lang="ru-RU" sz="2400" i="0" dirty="0" err="1">
                <a:effectLst/>
                <a:latin typeface="system-ui"/>
              </a:rPr>
              <a:t>высококоррелированных</a:t>
            </a:r>
            <a:r>
              <a:rPr lang="ru-RU" sz="2400" i="0" dirty="0">
                <a:effectLst/>
                <a:latin typeface="system-ui"/>
              </a:rPr>
              <a:t> признаков</a:t>
            </a:r>
            <a:endParaRPr lang="ru-RU" sz="2400" dirty="0"/>
          </a:p>
        </p:txBody>
      </p:sp>
      <p:pic>
        <p:nvPicPr>
          <p:cNvPr id="7" name="Объект 6">
            <a:extLst>
              <a:ext uri="{FF2B5EF4-FFF2-40B4-BE49-F238E27FC236}">
                <a16:creationId xmlns:a16="http://schemas.microsoft.com/office/drawing/2014/main" id="{F22E995F-5A62-4F30-975F-88A2E28FAE5E}"/>
              </a:ext>
            </a:extLst>
          </p:cNvPr>
          <p:cNvPicPr>
            <a:picLocks noGrp="1" noChangeAspect="1"/>
          </p:cNvPicPr>
          <p:nvPr>
            <p:ph idx="1"/>
          </p:nvPr>
        </p:nvPicPr>
        <p:blipFill>
          <a:blip r:embed="rId2"/>
          <a:stretch>
            <a:fillRect/>
          </a:stretch>
        </p:blipFill>
        <p:spPr>
          <a:xfrm>
            <a:off x="614273" y="1170847"/>
            <a:ext cx="7886700" cy="2285999"/>
          </a:xfrm>
        </p:spPr>
      </p:pic>
      <p:sp>
        <p:nvSpPr>
          <p:cNvPr id="4" name="Нижний колонтитул 3">
            <a:extLst>
              <a:ext uri="{FF2B5EF4-FFF2-40B4-BE49-F238E27FC236}">
                <a16:creationId xmlns:a16="http://schemas.microsoft.com/office/drawing/2014/main" id="{8D804967-E8A9-408E-9817-42381941FA8E}"/>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01B92EC0-1572-433F-A285-96FCC4034568}"/>
              </a:ext>
            </a:extLst>
          </p:cNvPr>
          <p:cNvSpPr>
            <a:spLocks noGrp="1"/>
          </p:cNvSpPr>
          <p:nvPr>
            <p:ph type="sldNum" sz="quarter" idx="12"/>
          </p:nvPr>
        </p:nvSpPr>
        <p:spPr/>
        <p:txBody>
          <a:bodyPr/>
          <a:lstStyle/>
          <a:p>
            <a:fld id="{81C5FB71-5E9C-41B5-9BB8-3F1EBEAEB16A}" type="slidenum">
              <a:rPr lang="ru-RU" smtClean="0"/>
              <a:t>59</a:t>
            </a:fld>
            <a:endParaRPr lang="ru-RU"/>
          </a:p>
        </p:txBody>
      </p:sp>
      <p:pic>
        <p:nvPicPr>
          <p:cNvPr id="9" name="Рисунок 8">
            <a:extLst>
              <a:ext uri="{FF2B5EF4-FFF2-40B4-BE49-F238E27FC236}">
                <a16:creationId xmlns:a16="http://schemas.microsoft.com/office/drawing/2014/main" id="{5EBC7C41-96FD-4E98-94B1-C6B257B46B5B}"/>
              </a:ext>
            </a:extLst>
          </p:cNvPr>
          <p:cNvPicPr>
            <a:picLocks noChangeAspect="1"/>
          </p:cNvPicPr>
          <p:nvPr/>
        </p:nvPicPr>
        <p:blipFill>
          <a:blip r:embed="rId3"/>
          <a:stretch>
            <a:fillRect/>
          </a:stretch>
        </p:blipFill>
        <p:spPr>
          <a:xfrm>
            <a:off x="623249" y="3738050"/>
            <a:ext cx="7868748" cy="2534004"/>
          </a:xfrm>
          <a:prstGeom prst="rect">
            <a:avLst/>
          </a:prstGeom>
        </p:spPr>
      </p:pic>
    </p:spTree>
    <p:extLst>
      <p:ext uri="{BB962C8B-B14F-4D97-AF65-F5344CB8AC3E}">
        <p14:creationId xmlns:p14="http://schemas.microsoft.com/office/powerpoint/2010/main" val="39635422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64EF485-3FEE-4D38-8C57-BD8D3D479A3C}"/>
              </a:ext>
            </a:extLst>
          </p:cNvPr>
          <p:cNvSpPr>
            <a:spLocks noGrp="1"/>
          </p:cNvSpPr>
          <p:nvPr>
            <p:ph type="title"/>
          </p:nvPr>
        </p:nvSpPr>
        <p:spPr>
          <a:xfrm>
            <a:off x="628650" y="70791"/>
            <a:ext cx="7886700" cy="734931"/>
          </a:xfrm>
        </p:spPr>
        <p:txBody>
          <a:bodyPr>
            <a:normAutofit/>
          </a:bodyPr>
          <a:lstStyle/>
          <a:p>
            <a:r>
              <a:rPr lang="ru-RU" sz="2400" i="0" dirty="0">
                <a:effectLst/>
                <a:latin typeface="system-ui"/>
              </a:rPr>
              <a:t>Пример обработки </a:t>
            </a:r>
            <a:r>
              <a:rPr lang="ru-RU" sz="2400" i="0" dirty="0" err="1">
                <a:effectLst/>
                <a:latin typeface="system-ui"/>
              </a:rPr>
              <a:t>высококоррелированных</a:t>
            </a:r>
            <a:r>
              <a:rPr lang="ru-RU" sz="2400" i="0" dirty="0">
                <a:effectLst/>
                <a:latin typeface="system-ui"/>
              </a:rPr>
              <a:t> признаков</a:t>
            </a:r>
            <a:endParaRPr lang="ru-RU" sz="2400" dirty="0"/>
          </a:p>
        </p:txBody>
      </p:sp>
      <p:sp>
        <p:nvSpPr>
          <p:cNvPr id="4" name="Нижний колонтитул 3">
            <a:extLst>
              <a:ext uri="{FF2B5EF4-FFF2-40B4-BE49-F238E27FC236}">
                <a16:creationId xmlns:a16="http://schemas.microsoft.com/office/drawing/2014/main" id="{BBA7D023-3D30-4943-B4DB-8301519D1DA9}"/>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2E3AE69E-D916-4E31-958C-569C10A36848}"/>
              </a:ext>
            </a:extLst>
          </p:cNvPr>
          <p:cNvSpPr>
            <a:spLocks noGrp="1"/>
          </p:cNvSpPr>
          <p:nvPr>
            <p:ph type="sldNum" sz="quarter" idx="12"/>
          </p:nvPr>
        </p:nvSpPr>
        <p:spPr/>
        <p:txBody>
          <a:bodyPr/>
          <a:lstStyle/>
          <a:p>
            <a:fld id="{81C5FB71-5E9C-41B5-9BB8-3F1EBEAEB16A}" type="slidenum">
              <a:rPr lang="ru-RU" smtClean="0"/>
              <a:t>60</a:t>
            </a:fld>
            <a:endParaRPr lang="ru-RU"/>
          </a:p>
        </p:txBody>
      </p:sp>
      <p:pic>
        <p:nvPicPr>
          <p:cNvPr id="15" name="Объект 14">
            <a:extLst>
              <a:ext uri="{FF2B5EF4-FFF2-40B4-BE49-F238E27FC236}">
                <a16:creationId xmlns:a16="http://schemas.microsoft.com/office/drawing/2014/main" id="{A35E92CF-7DA2-4E91-8FE6-957DD7042B1D}"/>
              </a:ext>
            </a:extLst>
          </p:cNvPr>
          <p:cNvPicPr>
            <a:picLocks noGrp="1" noChangeAspect="1"/>
          </p:cNvPicPr>
          <p:nvPr>
            <p:ph idx="1"/>
          </p:nvPr>
        </p:nvPicPr>
        <p:blipFill>
          <a:blip r:embed="rId2"/>
          <a:stretch>
            <a:fillRect/>
          </a:stretch>
        </p:blipFill>
        <p:spPr>
          <a:xfrm>
            <a:off x="838200" y="730211"/>
            <a:ext cx="7423628" cy="5626139"/>
          </a:xfrm>
        </p:spPr>
      </p:pic>
    </p:spTree>
    <p:extLst>
      <p:ext uri="{BB962C8B-B14F-4D97-AF65-F5344CB8AC3E}">
        <p14:creationId xmlns:p14="http://schemas.microsoft.com/office/powerpoint/2010/main" val="40997630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8EF60D2-4652-4872-B741-EF90F045DFF5}"/>
              </a:ext>
            </a:extLst>
          </p:cNvPr>
          <p:cNvSpPr>
            <a:spLocks noGrp="1"/>
          </p:cNvSpPr>
          <p:nvPr>
            <p:ph type="title"/>
          </p:nvPr>
        </p:nvSpPr>
        <p:spPr/>
        <p:txBody>
          <a:bodyPr>
            <a:normAutofit fontScale="90000"/>
          </a:bodyPr>
          <a:lstStyle/>
          <a:p>
            <a:r>
              <a:rPr lang="ru-RU" b="1" i="0" dirty="0">
                <a:effectLst/>
                <a:latin typeface="system-ui"/>
              </a:rPr>
              <a:t>Удаление нерелевантных признаков для классификации (</a:t>
            </a:r>
            <a:r>
              <a:rPr lang="en-US" b="1" i="0" dirty="0">
                <a:effectLst/>
                <a:latin typeface="system-ui"/>
              </a:rPr>
              <a:t>Removing Irrelevant Features for Classification)</a:t>
            </a:r>
            <a:endParaRPr lang="ru-RU" dirty="0"/>
          </a:p>
        </p:txBody>
      </p:sp>
      <p:sp>
        <p:nvSpPr>
          <p:cNvPr id="3" name="Объект 2">
            <a:extLst>
              <a:ext uri="{FF2B5EF4-FFF2-40B4-BE49-F238E27FC236}">
                <a16:creationId xmlns:a16="http://schemas.microsoft.com/office/drawing/2014/main" id="{3A4DDB6E-EFC1-44F1-AF80-38F5AAF41398}"/>
              </a:ext>
            </a:extLst>
          </p:cNvPr>
          <p:cNvSpPr>
            <a:spLocks noGrp="1"/>
          </p:cNvSpPr>
          <p:nvPr>
            <p:ph idx="1"/>
          </p:nvPr>
        </p:nvSpPr>
        <p:spPr>
          <a:xfrm>
            <a:off x="628650" y="1358782"/>
            <a:ext cx="7886700" cy="5362694"/>
          </a:xfrm>
        </p:spPr>
        <p:txBody>
          <a:bodyPr>
            <a:normAutofit/>
          </a:bodyPr>
          <a:lstStyle/>
          <a:p>
            <a:pPr marL="0" indent="0" algn="just">
              <a:buNone/>
            </a:pPr>
            <a:r>
              <a:rPr lang="ru-RU" b="0" i="0" dirty="0">
                <a:effectLst/>
                <a:latin typeface="system-ui"/>
              </a:rPr>
              <a:t>Для того чтобы использовать хи-квадрат в отборе признаков, мы вычисляем статистический показатель хи-квадрат между каждым признаком и вектором меток, а затем отбираем признаки с наилучшими статистическими показателями хи-квадрат</a:t>
            </a:r>
            <a:endParaRPr lang="ru-RU" dirty="0"/>
          </a:p>
        </p:txBody>
      </p:sp>
      <p:sp>
        <p:nvSpPr>
          <p:cNvPr id="4" name="Нижний колонтитул 3">
            <a:extLst>
              <a:ext uri="{FF2B5EF4-FFF2-40B4-BE49-F238E27FC236}">
                <a16:creationId xmlns:a16="http://schemas.microsoft.com/office/drawing/2014/main" id="{392777D6-4F0D-4E8E-B283-29AAD9A04C6B}"/>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D5EEF455-27D6-4210-BBFB-CE8270EA0407}"/>
              </a:ext>
            </a:extLst>
          </p:cNvPr>
          <p:cNvSpPr>
            <a:spLocks noGrp="1"/>
          </p:cNvSpPr>
          <p:nvPr>
            <p:ph type="sldNum" sz="quarter" idx="12"/>
          </p:nvPr>
        </p:nvSpPr>
        <p:spPr/>
        <p:txBody>
          <a:bodyPr/>
          <a:lstStyle/>
          <a:p>
            <a:fld id="{81C5FB71-5E9C-41B5-9BB8-3F1EBEAEB16A}" type="slidenum">
              <a:rPr lang="ru-RU" smtClean="0"/>
              <a:t>61</a:t>
            </a:fld>
            <a:endParaRPr lang="ru-RU"/>
          </a:p>
        </p:txBody>
      </p:sp>
      <p:pic>
        <p:nvPicPr>
          <p:cNvPr id="6" name="Объект 6">
            <a:extLst>
              <a:ext uri="{FF2B5EF4-FFF2-40B4-BE49-F238E27FC236}">
                <a16:creationId xmlns:a16="http://schemas.microsoft.com/office/drawing/2014/main" id="{2485BA37-0F82-49A3-8E55-160318B39D73}"/>
              </a:ext>
            </a:extLst>
          </p:cNvPr>
          <p:cNvPicPr>
            <a:picLocks noChangeAspect="1"/>
          </p:cNvPicPr>
          <p:nvPr/>
        </p:nvPicPr>
        <p:blipFill>
          <a:blip r:embed="rId3"/>
          <a:stretch>
            <a:fillRect/>
          </a:stretch>
        </p:blipFill>
        <p:spPr>
          <a:xfrm>
            <a:off x="1179782" y="2812288"/>
            <a:ext cx="6784435" cy="3532188"/>
          </a:xfrm>
          <a:prstGeom prst="rect">
            <a:avLst/>
          </a:prstGeom>
        </p:spPr>
      </p:pic>
    </p:spTree>
    <p:extLst>
      <p:ext uri="{BB962C8B-B14F-4D97-AF65-F5344CB8AC3E}">
        <p14:creationId xmlns:p14="http://schemas.microsoft.com/office/powerpoint/2010/main" val="9628022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E42ECEC-71B3-496E-9153-CCDC59934BA2}"/>
              </a:ext>
            </a:extLst>
          </p:cNvPr>
          <p:cNvSpPr>
            <a:spLocks noGrp="1"/>
          </p:cNvSpPr>
          <p:nvPr>
            <p:ph type="title"/>
          </p:nvPr>
        </p:nvSpPr>
        <p:spPr/>
        <p:txBody>
          <a:bodyPr>
            <a:normAutofit/>
          </a:bodyPr>
          <a:lstStyle/>
          <a:p>
            <a:r>
              <a:rPr lang="ru-RU" sz="2200" i="0" dirty="0">
                <a:effectLst/>
                <a:latin typeface="system-ui"/>
              </a:rPr>
              <a:t>Если признаки являются количественными, то вычисляем статистический показатель F дисперсионного анализа - ANOVA F-</a:t>
            </a:r>
            <a:r>
              <a:rPr lang="ru-RU" sz="2200" i="0" dirty="0" err="1">
                <a:effectLst/>
                <a:latin typeface="system-ui"/>
              </a:rPr>
              <a:t>value</a:t>
            </a:r>
            <a:r>
              <a:rPr lang="ru-RU" sz="2200" i="0" dirty="0">
                <a:effectLst/>
                <a:latin typeface="system-ui"/>
              </a:rPr>
              <a:t> между каждым признаком и вектором </a:t>
            </a:r>
            <a:r>
              <a:rPr lang="ru-RU" sz="2200" dirty="0">
                <a:latin typeface="system-ui"/>
              </a:rPr>
              <a:t>меток</a:t>
            </a:r>
            <a:r>
              <a:rPr lang="ru-RU" sz="2200" i="0" dirty="0">
                <a:effectLst/>
                <a:latin typeface="system-ui"/>
              </a:rPr>
              <a:t>:</a:t>
            </a:r>
            <a:endParaRPr lang="ru-RU" sz="2200" dirty="0"/>
          </a:p>
        </p:txBody>
      </p:sp>
      <p:sp>
        <p:nvSpPr>
          <p:cNvPr id="3" name="Объект 2">
            <a:extLst>
              <a:ext uri="{FF2B5EF4-FFF2-40B4-BE49-F238E27FC236}">
                <a16:creationId xmlns:a16="http://schemas.microsoft.com/office/drawing/2014/main" id="{B9FAC1F8-A48E-4606-8BD8-84A8F45814D7}"/>
              </a:ext>
            </a:extLst>
          </p:cNvPr>
          <p:cNvSpPr>
            <a:spLocks noGrp="1"/>
          </p:cNvSpPr>
          <p:nvPr>
            <p:ph idx="1"/>
          </p:nvPr>
        </p:nvSpPr>
        <p:spPr/>
        <p:txBody>
          <a:bodyPr/>
          <a:lstStyle/>
          <a:p>
            <a:pPr marL="0" indent="0" algn="just">
              <a:buNone/>
            </a:pPr>
            <a:r>
              <a:rPr lang="ru-RU" b="0" i="0" dirty="0" err="1">
                <a:effectLst/>
                <a:latin typeface="system-ui"/>
              </a:rPr>
              <a:t>ANalysis</a:t>
            </a:r>
            <a:r>
              <a:rPr lang="ru-RU" b="0" i="0" dirty="0">
                <a:effectLst/>
                <a:latin typeface="system-ui"/>
              </a:rPr>
              <a:t> Of </a:t>
            </a:r>
            <a:r>
              <a:rPr lang="ru-RU" b="0" i="0" dirty="0" err="1">
                <a:effectLst/>
                <a:latin typeface="system-ui"/>
              </a:rPr>
              <a:t>VAriance</a:t>
            </a:r>
            <a:r>
              <a:rPr lang="ru-RU" b="0" i="0" dirty="0">
                <a:effectLst/>
                <a:latin typeface="system-ui"/>
              </a:rPr>
              <a:t>, ANOVA, F-статистика — стандартизированная статистическая величина, измеряющая степень, с которой разницы в групповых средних превышают то, что можно ожидать в случайной модели) </a:t>
            </a:r>
            <a:endParaRPr lang="ru-RU" dirty="0"/>
          </a:p>
        </p:txBody>
      </p:sp>
      <p:sp>
        <p:nvSpPr>
          <p:cNvPr id="4" name="Нижний колонтитул 3">
            <a:extLst>
              <a:ext uri="{FF2B5EF4-FFF2-40B4-BE49-F238E27FC236}">
                <a16:creationId xmlns:a16="http://schemas.microsoft.com/office/drawing/2014/main" id="{87DA428A-4F0C-4FCB-B6E3-02AC839E5E98}"/>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8E8A378C-7666-4739-9031-ED5C92F4A141}"/>
              </a:ext>
            </a:extLst>
          </p:cNvPr>
          <p:cNvSpPr>
            <a:spLocks noGrp="1"/>
          </p:cNvSpPr>
          <p:nvPr>
            <p:ph type="sldNum" sz="quarter" idx="12"/>
          </p:nvPr>
        </p:nvSpPr>
        <p:spPr/>
        <p:txBody>
          <a:bodyPr/>
          <a:lstStyle/>
          <a:p>
            <a:fld id="{81C5FB71-5E9C-41B5-9BB8-3F1EBEAEB16A}" type="slidenum">
              <a:rPr lang="ru-RU" smtClean="0"/>
              <a:t>62</a:t>
            </a:fld>
            <a:endParaRPr lang="ru-RU"/>
          </a:p>
        </p:txBody>
      </p:sp>
      <p:pic>
        <p:nvPicPr>
          <p:cNvPr id="7" name="Рисунок 6">
            <a:extLst>
              <a:ext uri="{FF2B5EF4-FFF2-40B4-BE49-F238E27FC236}">
                <a16:creationId xmlns:a16="http://schemas.microsoft.com/office/drawing/2014/main" id="{4155FD21-0A76-4005-A57D-4B0E7F3C66F0}"/>
              </a:ext>
            </a:extLst>
          </p:cNvPr>
          <p:cNvPicPr>
            <a:picLocks noChangeAspect="1"/>
          </p:cNvPicPr>
          <p:nvPr/>
        </p:nvPicPr>
        <p:blipFill>
          <a:blip r:embed="rId2"/>
          <a:stretch>
            <a:fillRect/>
          </a:stretch>
        </p:blipFill>
        <p:spPr>
          <a:xfrm>
            <a:off x="642389" y="2978196"/>
            <a:ext cx="7859222" cy="2143424"/>
          </a:xfrm>
          <a:prstGeom prst="rect">
            <a:avLst/>
          </a:prstGeom>
        </p:spPr>
      </p:pic>
    </p:spTree>
    <p:extLst>
      <p:ext uri="{BB962C8B-B14F-4D97-AF65-F5344CB8AC3E}">
        <p14:creationId xmlns:p14="http://schemas.microsoft.com/office/powerpoint/2010/main" val="171902184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E53C07-D79F-4F41-84BB-09F813069CA7}"/>
              </a:ext>
            </a:extLst>
          </p:cNvPr>
          <p:cNvSpPr>
            <a:spLocks noGrp="1"/>
          </p:cNvSpPr>
          <p:nvPr>
            <p:ph type="title"/>
          </p:nvPr>
        </p:nvSpPr>
        <p:spPr/>
        <p:txBody>
          <a:bodyPr>
            <a:normAutofit fontScale="90000"/>
          </a:bodyPr>
          <a:lstStyle/>
          <a:p>
            <a:r>
              <a:rPr lang="ru-RU" dirty="0"/>
              <a:t>Вместо отбора конкретного количества признаков также можно использовать объект класса </a:t>
            </a:r>
            <a:r>
              <a:rPr lang="ru-RU" dirty="0" err="1"/>
              <a:t>SelectPercentile</a:t>
            </a:r>
            <a:r>
              <a:rPr lang="ru-RU" dirty="0"/>
              <a:t> для отбора верхнего n процента признаков:</a:t>
            </a:r>
          </a:p>
        </p:txBody>
      </p:sp>
      <p:pic>
        <p:nvPicPr>
          <p:cNvPr id="11" name="Объект 10">
            <a:extLst>
              <a:ext uri="{FF2B5EF4-FFF2-40B4-BE49-F238E27FC236}">
                <a16:creationId xmlns:a16="http://schemas.microsoft.com/office/drawing/2014/main" id="{B6398B9C-4A11-457F-8C1F-76DBE14FDBEB}"/>
              </a:ext>
            </a:extLst>
          </p:cNvPr>
          <p:cNvPicPr>
            <a:picLocks noGrp="1" noChangeAspect="1"/>
          </p:cNvPicPr>
          <p:nvPr>
            <p:ph idx="1"/>
          </p:nvPr>
        </p:nvPicPr>
        <p:blipFill>
          <a:blip r:embed="rId2"/>
          <a:stretch>
            <a:fillRect/>
          </a:stretch>
        </p:blipFill>
        <p:spPr>
          <a:xfrm>
            <a:off x="628650" y="2485721"/>
            <a:ext cx="7868748" cy="2581635"/>
          </a:xfrm>
        </p:spPr>
      </p:pic>
      <p:sp>
        <p:nvSpPr>
          <p:cNvPr id="4" name="Нижний колонтитул 3">
            <a:extLst>
              <a:ext uri="{FF2B5EF4-FFF2-40B4-BE49-F238E27FC236}">
                <a16:creationId xmlns:a16="http://schemas.microsoft.com/office/drawing/2014/main" id="{F0DCE2B1-6859-45D7-AE16-FB6684F7C934}"/>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56CD63FA-EC81-4FCC-AB34-2A93E816A851}"/>
              </a:ext>
            </a:extLst>
          </p:cNvPr>
          <p:cNvSpPr>
            <a:spLocks noGrp="1"/>
          </p:cNvSpPr>
          <p:nvPr>
            <p:ph type="sldNum" sz="quarter" idx="12"/>
          </p:nvPr>
        </p:nvSpPr>
        <p:spPr/>
        <p:txBody>
          <a:bodyPr/>
          <a:lstStyle/>
          <a:p>
            <a:fld id="{81C5FB71-5E9C-41B5-9BB8-3F1EBEAEB16A}" type="slidenum">
              <a:rPr lang="ru-RU" smtClean="0"/>
              <a:t>63</a:t>
            </a:fld>
            <a:endParaRPr lang="ru-RU"/>
          </a:p>
        </p:txBody>
      </p:sp>
    </p:spTree>
    <p:extLst>
      <p:ext uri="{BB962C8B-B14F-4D97-AF65-F5344CB8AC3E}">
        <p14:creationId xmlns:p14="http://schemas.microsoft.com/office/powerpoint/2010/main" val="425995051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51B2132-6BC8-4BC8-8FF9-C6BBF676CF3F}"/>
              </a:ext>
            </a:extLst>
          </p:cNvPr>
          <p:cNvSpPr>
            <a:spLocks noGrp="1"/>
          </p:cNvSpPr>
          <p:nvPr>
            <p:ph type="title"/>
          </p:nvPr>
        </p:nvSpPr>
        <p:spPr/>
        <p:txBody>
          <a:bodyPr>
            <a:normAutofit/>
          </a:bodyPr>
          <a:lstStyle/>
          <a:p>
            <a:r>
              <a:rPr lang="ru-RU" b="1" i="0" dirty="0">
                <a:effectLst/>
                <a:latin typeface="system-ui"/>
              </a:rPr>
              <a:t>Рекурсивное устранение признаков </a:t>
            </a:r>
            <a:br>
              <a:rPr lang="ru-RU" b="1" i="0" dirty="0">
                <a:effectLst/>
                <a:latin typeface="system-ui"/>
              </a:rPr>
            </a:br>
            <a:r>
              <a:rPr lang="ru-RU" b="1" i="0" dirty="0">
                <a:effectLst/>
                <a:latin typeface="system-ui"/>
              </a:rPr>
              <a:t>(</a:t>
            </a:r>
            <a:r>
              <a:rPr lang="ru-RU" b="1" i="0" dirty="0" err="1">
                <a:effectLst/>
                <a:latin typeface="system-ui"/>
              </a:rPr>
              <a:t>Recursively</a:t>
            </a:r>
            <a:r>
              <a:rPr lang="ru-RU" b="1" i="0" dirty="0">
                <a:effectLst/>
                <a:latin typeface="system-ui"/>
              </a:rPr>
              <a:t> </a:t>
            </a:r>
            <a:r>
              <a:rPr lang="ru-RU" b="1" i="0" dirty="0" err="1">
                <a:effectLst/>
                <a:latin typeface="system-ui"/>
              </a:rPr>
              <a:t>Eliminating</a:t>
            </a:r>
            <a:r>
              <a:rPr lang="ru-RU" b="1" i="0" dirty="0">
                <a:effectLst/>
                <a:latin typeface="system-ui"/>
              </a:rPr>
              <a:t> </a:t>
            </a:r>
            <a:r>
              <a:rPr lang="ru-RU" b="1" i="0" dirty="0" err="1">
                <a:effectLst/>
                <a:latin typeface="system-ui"/>
              </a:rPr>
              <a:t>Features</a:t>
            </a:r>
            <a:r>
              <a:rPr lang="ru-RU" b="1" i="0" dirty="0">
                <a:effectLst/>
                <a:latin typeface="system-ui"/>
              </a:rPr>
              <a:t>)</a:t>
            </a:r>
            <a:endParaRPr lang="ru-RU" dirty="0"/>
          </a:p>
        </p:txBody>
      </p:sp>
      <p:sp>
        <p:nvSpPr>
          <p:cNvPr id="3" name="Объект 2">
            <a:extLst>
              <a:ext uri="{FF2B5EF4-FFF2-40B4-BE49-F238E27FC236}">
                <a16:creationId xmlns:a16="http://schemas.microsoft.com/office/drawing/2014/main" id="{FE49917D-EDD8-4DED-BA57-A3E74118D964}"/>
              </a:ext>
            </a:extLst>
          </p:cNvPr>
          <p:cNvSpPr>
            <a:spLocks noGrp="1"/>
          </p:cNvSpPr>
          <p:nvPr>
            <p:ph idx="1"/>
          </p:nvPr>
        </p:nvSpPr>
        <p:spPr/>
        <p:txBody>
          <a:bodyPr/>
          <a:lstStyle/>
          <a:p>
            <a:pPr marL="0" indent="0" algn="just">
              <a:buNone/>
            </a:pPr>
            <a:r>
              <a:rPr lang="ru-RU" b="0" i="0" dirty="0">
                <a:effectLst/>
                <a:latin typeface="system-ui"/>
              </a:rPr>
              <a:t>Идея рекурсивного устранения признаков (RFE) заключается в многократной тренировке модели, которая содержит некоторые параметры (так называемые веса или коэффициенты), такой как линейная регрессия или </a:t>
            </a:r>
            <a:r>
              <a:rPr lang="en-US" dirty="0">
                <a:latin typeface="system-ui"/>
              </a:rPr>
              <a:t>SVM</a:t>
            </a:r>
            <a:r>
              <a:rPr lang="ru-RU" b="0" i="0" dirty="0">
                <a:effectLst/>
                <a:latin typeface="system-ui"/>
              </a:rPr>
              <a:t>. </a:t>
            </a:r>
          </a:p>
          <a:p>
            <a:pPr marL="0" indent="0" algn="just">
              <a:buNone/>
            </a:pPr>
            <a:endParaRPr lang="ru-RU" dirty="0"/>
          </a:p>
        </p:txBody>
      </p:sp>
      <p:sp>
        <p:nvSpPr>
          <p:cNvPr id="4" name="Нижний колонтитул 3">
            <a:extLst>
              <a:ext uri="{FF2B5EF4-FFF2-40B4-BE49-F238E27FC236}">
                <a16:creationId xmlns:a16="http://schemas.microsoft.com/office/drawing/2014/main" id="{CFEE990A-FBEA-4AB0-8B09-5EC2062A6233}"/>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8BDAA7ED-6FD9-45DE-9DBE-7C3996AECBAC}"/>
              </a:ext>
            </a:extLst>
          </p:cNvPr>
          <p:cNvSpPr>
            <a:spLocks noGrp="1"/>
          </p:cNvSpPr>
          <p:nvPr>
            <p:ph type="sldNum" sz="quarter" idx="12"/>
          </p:nvPr>
        </p:nvSpPr>
        <p:spPr/>
        <p:txBody>
          <a:bodyPr/>
          <a:lstStyle/>
          <a:p>
            <a:fld id="{81C5FB71-5E9C-41B5-9BB8-3F1EBEAEB16A}" type="slidenum">
              <a:rPr lang="ru-RU" smtClean="0"/>
              <a:t>64</a:t>
            </a:fld>
            <a:endParaRPr lang="ru-RU"/>
          </a:p>
        </p:txBody>
      </p:sp>
      <p:pic>
        <p:nvPicPr>
          <p:cNvPr id="7" name="Объект 6">
            <a:extLst>
              <a:ext uri="{FF2B5EF4-FFF2-40B4-BE49-F238E27FC236}">
                <a16:creationId xmlns:a16="http://schemas.microsoft.com/office/drawing/2014/main" id="{9E486685-C3F9-4972-B6BB-69CA5EAE3991}"/>
              </a:ext>
            </a:extLst>
          </p:cNvPr>
          <p:cNvPicPr>
            <a:picLocks noChangeAspect="1"/>
          </p:cNvPicPr>
          <p:nvPr/>
        </p:nvPicPr>
        <p:blipFill>
          <a:blip r:embed="rId2"/>
          <a:stretch>
            <a:fillRect/>
          </a:stretch>
        </p:blipFill>
        <p:spPr>
          <a:xfrm>
            <a:off x="1434056" y="2656533"/>
            <a:ext cx="6275888" cy="4130676"/>
          </a:xfrm>
          <a:prstGeom prst="rect">
            <a:avLst/>
          </a:prstGeom>
        </p:spPr>
      </p:pic>
    </p:spTree>
    <p:extLst>
      <p:ext uri="{BB962C8B-B14F-4D97-AF65-F5344CB8AC3E}">
        <p14:creationId xmlns:p14="http://schemas.microsoft.com/office/powerpoint/2010/main" val="258714535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29F30C5-8BE4-4CE1-8222-E2EDB3FC6B85}"/>
              </a:ext>
            </a:extLst>
          </p:cNvPr>
          <p:cNvSpPr>
            <a:spLocks noGrp="1"/>
          </p:cNvSpPr>
          <p:nvPr>
            <p:ph type="title"/>
          </p:nvPr>
        </p:nvSpPr>
        <p:spPr>
          <a:xfrm>
            <a:off x="628650" y="70791"/>
            <a:ext cx="8058150" cy="1100056"/>
          </a:xfrm>
        </p:spPr>
        <p:txBody>
          <a:bodyPr>
            <a:normAutofit/>
          </a:bodyPr>
          <a:lstStyle/>
          <a:p>
            <a:r>
              <a:rPr lang="ru-RU" sz="2000" i="0" dirty="0">
                <a:effectLst/>
                <a:latin typeface="system-ui"/>
              </a:rPr>
              <a:t>Мы можем увидеть и ранги признаков:</a:t>
            </a:r>
            <a:endParaRPr lang="ru-RU" sz="2000" dirty="0"/>
          </a:p>
        </p:txBody>
      </p:sp>
      <p:sp>
        <p:nvSpPr>
          <p:cNvPr id="3" name="Объект 2">
            <a:extLst>
              <a:ext uri="{FF2B5EF4-FFF2-40B4-BE49-F238E27FC236}">
                <a16:creationId xmlns:a16="http://schemas.microsoft.com/office/drawing/2014/main" id="{F8BD6055-03C2-4C3E-A6A6-89A5BA31DBC9}"/>
              </a:ext>
            </a:extLst>
          </p:cNvPr>
          <p:cNvSpPr>
            <a:spLocks noGrp="1"/>
          </p:cNvSpPr>
          <p:nvPr>
            <p:ph idx="1"/>
          </p:nvPr>
        </p:nvSpPr>
        <p:spPr/>
        <p:txBody>
          <a:bodyPr/>
          <a:lstStyle/>
          <a:p>
            <a:pPr marL="0" indent="0">
              <a:buNone/>
            </a:pPr>
            <a:endParaRPr lang="ru-RU" dirty="0"/>
          </a:p>
          <a:p>
            <a:pPr marL="0" indent="0">
              <a:buNone/>
            </a:pPr>
            <a:endParaRPr lang="ru-RU" dirty="0"/>
          </a:p>
        </p:txBody>
      </p:sp>
      <p:sp>
        <p:nvSpPr>
          <p:cNvPr id="4" name="Нижний колонтитул 3">
            <a:extLst>
              <a:ext uri="{FF2B5EF4-FFF2-40B4-BE49-F238E27FC236}">
                <a16:creationId xmlns:a16="http://schemas.microsoft.com/office/drawing/2014/main" id="{A226EE9E-D8F0-489D-9E6D-B409B25C8854}"/>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2550AF1F-E7F9-40BC-8190-9FB178D541A1}"/>
              </a:ext>
            </a:extLst>
          </p:cNvPr>
          <p:cNvSpPr>
            <a:spLocks noGrp="1"/>
          </p:cNvSpPr>
          <p:nvPr>
            <p:ph type="sldNum" sz="quarter" idx="12"/>
          </p:nvPr>
        </p:nvSpPr>
        <p:spPr/>
        <p:txBody>
          <a:bodyPr/>
          <a:lstStyle/>
          <a:p>
            <a:fld id="{81C5FB71-5E9C-41B5-9BB8-3F1EBEAEB16A}" type="slidenum">
              <a:rPr lang="ru-RU" smtClean="0"/>
              <a:t>65</a:t>
            </a:fld>
            <a:endParaRPr lang="ru-RU"/>
          </a:p>
        </p:txBody>
      </p:sp>
      <p:pic>
        <p:nvPicPr>
          <p:cNvPr id="7" name="Рисунок 6">
            <a:extLst>
              <a:ext uri="{FF2B5EF4-FFF2-40B4-BE49-F238E27FC236}">
                <a16:creationId xmlns:a16="http://schemas.microsoft.com/office/drawing/2014/main" id="{8AA6A15C-76DD-44E2-8C91-D13C7E32AD2A}"/>
              </a:ext>
            </a:extLst>
          </p:cNvPr>
          <p:cNvPicPr>
            <a:picLocks noChangeAspect="1"/>
          </p:cNvPicPr>
          <p:nvPr/>
        </p:nvPicPr>
        <p:blipFill>
          <a:blip r:embed="rId2"/>
          <a:stretch>
            <a:fillRect/>
          </a:stretch>
        </p:blipFill>
        <p:spPr>
          <a:xfrm>
            <a:off x="628650" y="1757816"/>
            <a:ext cx="7868748" cy="2010056"/>
          </a:xfrm>
          <a:prstGeom prst="rect">
            <a:avLst/>
          </a:prstGeom>
        </p:spPr>
      </p:pic>
    </p:spTree>
    <p:extLst>
      <p:ext uri="{BB962C8B-B14F-4D97-AF65-F5344CB8AC3E}">
        <p14:creationId xmlns:p14="http://schemas.microsoft.com/office/powerpoint/2010/main" val="4197399720"/>
      </p:ext>
    </p:extLst>
  </p:cSld>
  <p:clrMapOvr>
    <a:masterClrMapping/>
  </p:clrMapOvr>
</p:sld>
</file>

<file path=ppt/theme/theme1.xml><?xml version="1.0" encoding="utf-8"?>
<a:theme xmlns:a="http://schemas.openxmlformats.org/drawingml/2006/main" name="Специальное оформление">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14246</TotalTime>
  <Words>8398</Words>
  <Application>Microsoft Office PowerPoint</Application>
  <PresentationFormat>Экран (4:3)</PresentationFormat>
  <Paragraphs>548</Paragraphs>
  <Slides>65</Slides>
  <Notes>41</Notes>
  <HiddenSlides>0</HiddenSlides>
  <MMClips>0</MMClips>
  <ScaleCrop>false</ScaleCrop>
  <HeadingPairs>
    <vt:vector size="6" baseType="variant">
      <vt:variant>
        <vt:lpstr>Использованные шрифты</vt:lpstr>
      </vt:variant>
      <vt:variant>
        <vt:i4>12</vt:i4>
      </vt:variant>
      <vt:variant>
        <vt:lpstr>Тема</vt:lpstr>
      </vt:variant>
      <vt:variant>
        <vt:i4>1</vt:i4>
      </vt:variant>
      <vt:variant>
        <vt:lpstr>Заголовки слайдов</vt:lpstr>
      </vt:variant>
      <vt:variant>
        <vt:i4>65</vt:i4>
      </vt:variant>
    </vt:vector>
  </HeadingPairs>
  <TitlesOfParts>
    <vt:vector size="78" baseType="lpstr">
      <vt:lpstr>__CoFoSans_363e29</vt:lpstr>
      <vt:lpstr>-apple-system</vt:lpstr>
      <vt:lpstr>Arial</vt:lpstr>
      <vt:lpstr>Arial-BoldMT</vt:lpstr>
      <vt:lpstr>ArialMT</vt:lpstr>
      <vt:lpstr>Calibri</vt:lpstr>
      <vt:lpstr>Cambria Math</vt:lpstr>
      <vt:lpstr>KaTeX_Main</vt:lpstr>
      <vt:lpstr>KaTeX_Math</vt:lpstr>
      <vt:lpstr>PetersburgC</vt:lpstr>
      <vt:lpstr>system-ui</vt:lpstr>
      <vt:lpstr>YS Text</vt:lpstr>
      <vt:lpstr>Специальное оформление</vt:lpstr>
      <vt:lpstr>Презентация PowerPoint</vt:lpstr>
      <vt:lpstr>Лекция №6. Кластеризация и сокращение размерности</vt:lpstr>
      <vt:lpstr>Обучение без учителя</vt:lpstr>
      <vt:lpstr>Особенность методов обучения без учителя</vt:lpstr>
      <vt:lpstr>Методы кластеризации,  визуализации и сокращения размерности</vt:lpstr>
      <vt:lpstr>Кластеризация (clustering)</vt:lpstr>
      <vt:lpstr>Кластерный анализ</vt:lpstr>
      <vt:lpstr>Способы измерения расстояния</vt:lpstr>
      <vt:lpstr>Методы измерения расстояния между кластерами</vt:lpstr>
      <vt:lpstr>Способы формирования кластеров</vt:lpstr>
      <vt:lpstr>Средние кластерные метрики</vt:lpstr>
      <vt:lpstr>Метрики качества кластеризации без разметки</vt:lpstr>
      <vt:lpstr>Нормализация и стандартизация данных</vt:lpstr>
      <vt:lpstr>Алгоритмы кластеризации</vt:lpstr>
      <vt:lpstr>Алгоритмы кластеризации</vt:lpstr>
      <vt:lpstr>К-средних (KMeans)</vt:lpstr>
      <vt:lpstr>Построение диаграммы Вороного</vt:lpstr>
      <vt:lpstr>Диаграмма Вороного</vt:lpstr>
      <vt:lpstr>Определение оптимального количества кластеров</vt:lpstr>
      <vt:lpstr>Подбор оптимального количества кластеров - величины k</vt:lpstr>
      <vt:lpstr>Подбор оптимального количества кластеров - величины k</vt:lpstr>
      <vt:lpstr>Подбор оптимального количества кластеров - величины k</vt:lpstr>
      <vt:lpstr>Подбор оптимального количества кластеров - величины k</vt:lpstr>
      <vt:lpstr>Сдвиг среднего значения (Mean Shift)</vt:lpstr>
      <vt:lpstr>Сдвиг среднего значения (Mean Shift)</vt:lpstr>
      <vt:lpstr>Спектральная кластеризация (Spectral Clustering)</vt:lpstr>
      <vt:lpstr>Иерархическая кластеризация</vt:lpstr>
      <vt:lpstr>Иерархическая кластеризация</vt:lpstr>
      <vt:lpstr>DBSCAN</vt:lpstr>
      <vt:lpstr>DBSCAN</vt:lpstr>
      <vt:lpstr>DBSCAN</vt:lpstr>
      <vt:lpstr>OPTICS</vt:lpstr>
      <vt:lpstr>Модель смеси гауссиан (GMM)</vt:lpstr>
      <vt:lpstr>Кластерный анализ в теории и на практике</vt:lpstr>
      <vt:lpstr>Обнаружение аномалий (anomaly detection) </vt:lpstr>
      <vt:lpstr>Трэкинг объектов на основе MeanShift кластеризации</vt:lpstr>
      <vt:lpstr>SOTA подходы к кластеризации документов</vt:lpstr>
      <vt:lpstr>Задача снижения размерности</vt:lpstr>
      <vt:lpstr>Сокращение размерности  (dimensionality reduction).</vt:lpstr>
      <vt:lpstr>Алгоритмы визуализации </vt:lpstr>
      <vt:lpstr>Методы снижения размерности с помощью выделения признаков</vt:lpstr>
      <vt:lpstr>Метод главных компонент</vt:lpstr>
      <vt:lpstr>Метод главных компонент</vt:lpstr>
      <vt:lpstr>Снижение количества признаков линейно неразделимых данных (Ядерный PCA)</vt:lpstr>
      <vt:lpstr>Использование ядер для нелинейного уменьшения размерности к линейно неразделимым данным, для сокращения размерности синтетических данных</vt:lpstr>
      <vt:lpstr>Уменьшение количества признаков путем максимизации разделимости классов (LDA)</vt:lpstr>
      <vt:lpstr>Пример уменьшения количества признаков путем максимизации разделимости классов (LDA)</vt:lpstr>
      <vt:lpstr>Уменьшение количества признаков с использованием разложения матрицы (NMF)</vt:lpstr>
      <vt:lpstr>Уменьшение количества признаков с использованием разложения матрицы (NMF)</vt:lpstr>
      <vt:lpstr>Пример уменьшения размерности матрицы признаков используя разложение неотрицательной матрицы</vt:lpstr>
      <vt:lpstr>Уменьшение количества признаков на разреженных данных (Truncated Singular Value Decomposition, TSVD) </vt:lpstr>
      <vt:lpstr>Пример уменьшения размерности разреженной матрицы признаков, используя усеченное сингулярное разложение (TSVD):</vt:lpstr>
      <vt:lpstr>Сеть AutoEncoder</vt:lpstr>
      <vt:lpstr>Вспомогательная роль методов обучения без учителя при решении задач классификации и регрессии</vt:lpstr>
      <vt:lpstr>Снижение размерности с помощью отбора признаков</vt:lpstr>
      <vt:lpstr>Удаление бинарных признаков с дисперсией ниже пороговых значений (Low-Variance Feature Removal, Thresholding Binary Feature Variance)</vt:lpstr>
      <vt:lpstr>Обработка высококоррелированных признаков (Handling Highly Correlated Features)¶</vt:lpstr>
      <vt:lpstr>Пример обработки высококоррелированных признаков</vt:lpstr>
      <vt:lpstr>Пример обработки высококоррелированных признаков</vt:lpstr>
      <vt:lpstr>Пример обработки высококоррелированных признаков</vt:lpstr>
      <vt:lpstr>Удаление нерелевантных признаков для классификации (Removing Irrelevant Features for Classification)</vt:lpstr>
      <vt:lpstr>Если признаки являются количественными, то вычисляем статистический показатель F дисперсионного анализа - ANOVA F-value между каждым признаком и вектором меток:</vt:lpstr>
      <vt:lpstr>Вместо отбора конкретного количества признаков также можно использовать объект класса SelectPercentile для отбора верхнего n процента признаков:</vt:lpstr>
      <vt:lpstr>Рекурсивное устранение признаков  (Recursively Eliminating Features)</vt:lpstr>
      <vt:lpstr>Мы можем увидеть и ранги признаков:</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Mikhail Bocharov</dc:creator>
  <cp:lastModifiedBy>Иван Юрченков</cp:lastModifiedBy>
  <cp:revision>612</cp:revision>
  <dcterms:created xsi:type="dcterms:W3CDTF">2024-10-12T05:17:42Z</dcterms:created>
  <dcterms:modified xsi:type="dcterms:W3CDTF">2024-11-12T14:34:56Z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stSaved">
    <vt:filetime>2024-10-12T00:00:00Z</vt:filetime>
  </property>
  <property fmtid="{D5CDD505-2E9C-101B-9397-08002B2CF9AE}" pid="3" name="Producer">
    <vt:lpwstr>3-Heights(TM) PDF Security Shell 4.8.25.2 (http://www.pdf-tools.com)</vt:lpwstr>
  </property>
</Properties>
</file>