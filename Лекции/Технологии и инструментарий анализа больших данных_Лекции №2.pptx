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</p:sldMasterIdLst>
  <p:notesMasterIdLst>
    <p:notesMasterId r:id="rId46"/>
  </p:notesMasterIdLst>
  <p:sldIdLst>
    <p:sldId id="256" r:id="rId2"/>
    <p:sldId id="257" r:id="rId3"/>
    <p:sldId id="271" r:id="rId4"/>
    <p:sldId id="294" r:id="rId5"/>
    <p:sldId id="295" r:id="rId6"/>
    <p:sldId id="296" r:id="rId7"/>
    <p:sldId id="299" r:id="rId8"/>
    <p:sldId id="326" r:id="rId9"/>
    <p:sldId id="328" r:id="rId10"/>
    <p:sldId id="330" r:id="rId11"/>
    <p:sldId id="300" r:id="rId12"/>
    <p:sldId id="302" r:id="rId13"/>
    <p:sldId id="303" r:id="rId14"/>
    <p:sldId id="304" r:id="rId15"/>
    <p:sldId id="301" r:id="rId16"/>
    <p:sldId id="318" r:id="rId17"/>
    <p:sldId id="286" r:id="rId18"/>
    <p:sldId id="287" r:id="rId19"/>
    <p:sldId id="307" r:id="rId20"/>
    <p:sldId id="319" r:id="rId21"/>
    <p:sldId id="323" r:id="rId22"/>
    <p:sldId id="324" r:id="rId23"/>
    <p:sldId id="320" r:id="rId24"/>
    <p:sldId id="325" r:id="rId25"/>
    <p:sldId id="327" r:id="rId26"/>
    <p:sldId id="310" r:id="rId27"/>
    <p:sldId id="311" r:id="rId28"/>
    <p:sldId id="306" r:id="rId29"/>
    <p:sldId id="309" r:id="rId30"/>
    <p:sldId id="312" r:id="rId31"/>
    <p:sldId id="308" r:id="rId32"/>
    <p:sldId id="313" r:id="rId33"/>
    <p:sldId id="317" r:id="rId34"/>
    <p:sldId id="316" r:id="rId35"/>
    <p:sldId id="329" r:id="rId36"/>
    <p:sldId id="335" r:id="rId37"/>
    <p:sldId id="331" r:id="rId38"/>
    <p:sldId id="332" r:id="rId39"/>
    <p:sldId id="333" r:id="rId40"/>
    <p:sldId id="314" r:id="rId41"/>
    <p:sldId id="305" r:id="rId42"/>
    <p:sldId id="334" r:id="rId43"/>
    <p:sldId id="336" r:id="rId44"/>
    <p:sldId id="292" r:id="rId45"/>
  </p:sldIdLst>
  <p:sldSz cx="12192000" cy="6858000"/>
  <p:notesSz cx="6858000" cy="9144000"/>
  <p:defaultTextStyle>
    <a:defPPr>
      <a:defRPr lang="ru-RU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0510" autoAdjust="0"/>
  </p:normalViewPr>
  <p:slideViewPr>
    <p:cSldViewPr snapToGrid="0">
      <p:cViewPr varScale="1">
        <p:scale>
          <a:sx n="62" d="100"/>
          <a:sy n="62" d="100"/>
        </p:scale>
        <p:origin x="164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360EC-B607-47E1-8D35-E7A53A4C2475}" type="doc">
      <dgm:prSet loTypeId="urn:microsoft.com/office/officeart/2005/8/layout/chevron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A457734-97F2-415A-8B27-CADA1C09CF2F}">
      <dgm:prSet phldrT="[Текст]"/>
      <dgm:spPr/>
      <dgm:t>
        <a:bodyPr/>
        <a:lstStyle/>
        <a:p>
          <a:r>
            <a:rPr lang="ru-RU" dirty="0"/>
            <a:t>Вход</a:t>
          </a:r>
        </a:p>
      </dgm:t>
    </dgm:pt>
    <dgm:pt modelId="{9CB453C1-9A6F-466A-847C-878CD5F5B646}" type="parTrans" cxnId="{A43E0E5C-353C-4447-A795-6F8D8E1BEC63}">
      <dgm:prSet/>
      <dgm:spPr/>
      <dgm:t>
        <a:bodyPr/>
        <a:lstStyle/>
        <a:p>
          <a:endParaRPr lang="ru-RU"/>
        </a:p>
      </dgm:t>
    </dgm:pt>
    <dgm:pt modelId="{72831288-FD30-46B9-99C8-E127488B0DA4}" type="sibTrans" cxnId="{A43E0E5C-353C-4447-A795-6F8D8E1BEC63}">
      <dgm:prSet/>
      <dgm:spPr/>
      <dgm:t>
        <a:bodyPr/>
        <a:lstStyle/>
        <a:p>
          <a:endParaRPr lang="ru-RU"/>
        </a:p>
      </dgm:t>
    </dgm:pt>
    <dgm:pt modelId="{F8D9A6EF-B952-48F5-B588-9C87C0507EA7}">
      <dgm:prSet phldrT="[Текст]" custT="1"/>
      <dgm:spPr/>
      <dgm:t>
        <a:bodyPr/>
        <a:lstStyle/>
        <a:p>
          <a:r>
            <a:rPr lang="ru-RU" sz="2400" b="1" dirty="0"/>
            <a:t>Сбор данных</a:t>
          </a:r>
        </a:p>
      </dgm:t>
    </dgm:pt>
    <dgm:pt modelId="{6941E87E-21EF-4D0F-8CA8-5747001D0F42}" type="parTrans" cxnId="{0F313E0B-A5B1-40AD-AA51-68CF121883F2}">
      <dgm:prSet/>
      <dgm:spPr/>
      <dgm:t>
        <a:bodyPr/>
        <a:lstStyle/>
        <a:p>
          <a:endParaRPr lang="ru-RU"/>
        </a:p>
      </dgm:t>
    </dgm:pt>
    <dgm:pt modelId="{D34DFEA9-0D18-4D6E-8269-52D68C4C0157}" type="sibTrans" cxnId="{0F313E0B-A5B1-40AD-AA51-68CF121883F2}">
      <dgm:prSet/>
      <dgm:spPr/>
      <dgm:t>
        <a:bodyPr/>
        <a:lstStyle/>
        <a:p>
          <a:endParaRPr lang="ru-RU"/>
        </a:p>
      </dgm:t>
    </dgm:pt>
    <dgm:pt modelId="{9F96EB32-11F2-4111-BA26-9E023CB6C11A}">
      <dgm:prSet phldrT="[Текст]" custT="1"/>
      <dgm:spPr/>
      <dgm:t>
        <a:bodyPr/>
        <a:lstStyle/>
        <a:p>
          <a:r>
            <a:rPr lang="ru-RU" sz="2400" dirty="0"/>
            <a:t>Первичная предобработка данных</a:t>
          </a:r>
        </a:p>
      </dgm:t>
    </dgm:pt>
    <dgm:pt modelId="{2DDD54C2-6397-4D63-9D76-BB8E392EDE92}" type="parTrans" cxnId="{A3DB851B-38C3-43E1-9FA6-4B0A5EF5209D}">
      <dgm:prSet/>
      <dgm:spPr/>
      <dgm:t>
        <a:bodyPr/>
        <a:lstStyle/>
        <a:p>
          <a:endParaRPr lang="ru-RU"/>
        </a:p>
      </dgm:t>
    </dgm:pt>
    <dgm:pt modelId="{662C30F1-202B-44E1-9125-D256262AE2FF}" type="sibTrans" cxnId="{A3DB851B-38C3-43E1-9FA6-4B0A5EF5209D}">
      <dgm:prSet/>
      <dgm:spPr/>
      <dgm:t>
        <a:bodyPr/>
        <a:lstStyle/>
        <a:p>
          <a:endParaRPr lang="ru-RU"/>
        </a:p>
      </dgm:t>
    </dgm:pt>
    <dgm:pt modelId="{03FF813E-660D-4470-8041-A47965C7EF9F}">
      <dgm:prSet phldrT="[Текст]"/>
      <dgm:spPr/>
      <dgm:t>
        <a:bodyPr/>
        <a:lstStyle/>
        <a:p>
          <a:r>
            <a:rPr lang="ru-RU" dirty="0"/>
            <a:t>БД</a:t>
          </a:r>
        </a:p>
      </dgm:t>
    </dgm:pt>
    <dgm:pt modelId="{763E70DB-DBEB-4EF6-BB83-44765F33820F}" type="parTrans" cxnId="{2A5C71D6-97BC-441A-B343-16D6A9F897DF}">
      <dgm:prSet/>
      <dgm:spPr/>
      <dgm:t>
        <a:bodyPr/>
        <a:lstStyle/>
        <a:p>
          <a:endParaRPr lang="ru-RU"/>
        </a:p>
      </dgm:t>
    </dgm:pt>
    <dgm:pt modelId="{75A78E1B-ADFC-4467-964A-5F94CBAA24CE}" type="sibTrans" cxnId="{2A5C71D6-97BC-441A-B343-16D6A9F897DF}">
      <dgm:prSet/>
      <dgm:spPr/>
      <dgm:t>
        <a:bodyPr/>
        <a:lstStyle/>
        <a:p>
          <a:endParaRPr lang="ru-RU"/>
        </a:p>
      </dgm:t>
    </dgm:pt>
    <dgm:pt modelId="{EA32D1CF-A913-4777-A9E5-D23BEA1C6CB1}">
      <dgm:prSet phldrT="[Текст]" custT="1"/>
      <dgm:spPr/>
      <dgm:t>
        <a:bodyPr/>
        <a:lstStyle/>
        <a:p>
          <a:r>
            <a:rPr lang="ru-RU" sz="2400" b="1" dirty="0"/>
            <a:t>Бизнес-хранилища структурированных данных</a:t>
          </a:r>
        </a:p>
      </dgm:t>
    </dgm:pt>
    <dgm:pt modelId="{829858E0-7F39-452F-8A56-B1CAD9DC93B7}" type="parTrans" cxnId="{997C25E3-854A-425C-BE8A-27DD2A544487}">
      <dgm:prSet/>
      <dgm:spPr/>
      <dgm:t>
        <a:bodyPr/>
        <a:lstStyle/>
        <a:p>
          <a:endParaRPr lang="ru-RU"/>
        </a:p>
      </dgm:t>
    </dgm:pt>
    <dgm:pt modelId="{ABE465B7-9D89-4FBF-B9F5-CDADAA8AF044}" type="sibTrans" cxnId="{997C25E3-854A-425C-BE8A-27DD2A544487}">
      <dgm:prSet/>
      <dgm:spPr/>
      <dgm:t>
        <a:bodyPr/>
        <a:lstStyle/>
        <a:p>
          <a:endParaRPr lang="ru-RU"/>
        </a:p>
      </dgm:t>
    </dgm:pt>
    <dgm:pt modelId="{61FC985B-1DB3-4F3F-A7EB-A52160086570}">
      <dgm:prSet phldrT="[Текст]" custT="1"/>
      <dgm:spPr/>
      <dgm:t>
        <a:bodyPr/>
        <a:lstStyle/>
        <a:p>
          <a:r>
            <a:rPr lang="ru-RU" sz="2400" dirty="0"/>
            <a:t>Хранение неструктурированных данных</a:t>
          </a:r>
        </a:p>
      </dgm:t>
    </dgm:pt>
    <dgm:pt modelId="{5F0E9BB7-D2D1-4CF4-A7BF-2F8E531611E1}" type="parTrans" cxnId="{980FBBF5-223B-4BA1-ABCE-BC06B3A7359C}">
      <dgm:prSet/>
      <dgm:spPr/>
      <dgm:t>
        <a:bodyPr/>
        <a:lstStyle/>
        <a:p>
          <a:endParaRPr lang="ru-RU"/>
        </a:p>
      </dgm:t>
    </dgm:pt>
    <dgm:pt modelId="{E52546DA-B24B-4CBD-A686-68E618745F93}" type="sibTrans" cxnId="{980FBBF5-223B-4BA1-ABCE-BC06B3A7359C}">
      <dgm:prSet/>
      <dgm:spPr/>
      <dgm:t>
        <a:bodyPr/>
        <a:lstStyle/>
        <a:p>
          <a:endParaRPr lang="ru-RU"/>
        </a:p>
      </dgm:t>
    </dgm:pt>
    <dgm:pt modelId="{02452A41-D50E-4C4B-B42D-37FE62A22244}">
      <dgm:prSet phldrT="[Текст]"/>
      <dgm:spPr/>
      <dgm:t>
        <a:bodyPr/>
        <a:lstStyle/>
        <a:p>
          <a:r>
            <a:rPr lang="en-US" dirty="0"/>
            <a:t>DS</a:t>
          </a:r>
          <a:endParaRPr lang="ru-RU" dirty="0"/>
        </a:p>
      </dgm:t>
    </dgm:pt>
    <dgm:pt modelId="{03689D46-97AE-47F9-B1C6-04AFF0C62E8D}" type="parTrans" cxnId="{F87A1239-8153-4F21-91BC-98E8985B4576}">
      <dgm:prSet/>
      <dgm:spPr/>
      <dgm:t>
        <a:bodyPr/>
        <a:lstStyle/>
        <a:p>
          <a:endParaRPr lang="ru-RU"/>
        </a:p>
      </dgm:t>
    </dgm:pt>
    <dgm:pt modelId="{978E720E-B723-417D-BC65-CD14426DDE63}" type="sibTrans" cxnId="{F87A1239-8153-4F21-91BC-98E8985B4576}">
      <dgm:prSet/>
      <dgm:spPr/>
      <dgm:t>
        <a:bodyPr/>
        <a:lstStyle/>
        <a:p>
          <a:endParaRPr lang="ru-RU"/>
        </a:p>
      </dgm:t>
    </dgm:pt>
    <dgm:pt modelId="{DEB53839-8943-4852-8FB6-DCAAEBDF9A8E}">
      <dgm:prSet phldrT="[Текст]" custT="1"/>
      <dgm:spPr/>
      <dgm:t>
        <a:bodyPr/>
        <a:lstStyle/>
        <a:p>
          <a:r>
            <a:rPr lang="ru-RU" sz="2400" b="1" dirty="0"/>
            <a:t>Обработка и анализ данных</a:t>
          </a:r>
        </a:p>
      </dgm:t>
    </dgm:pt>
    <dgm:pt modelId="{C9283CFD-150C-4611-B385-0A4145080C95}" type="parTrans" cxnId="{B05EA352-57E7-41FE-9B1D-C4CE46C87FBE}">
      <dgm:prSet/>
      <dgm:spPr/>
      <dgm:t>
        <a:bodyPr/>
        <a:lstStyle/>
        <a:p>
          <a:endParaRPr lang="ru-RU"/>
        </a:p>
      </dgm:t>
    </dgm:pt>
    <dgm:pt modelId="{0D031340-752B-49AF-82F9-1FE3980C59C6}" type="sibTrans" cxnId="{B05EA352-57E7-41FE-9B1D-C4CE46C87FBE}">
      <dgm:prSet/>
      <dgm:spPr/>
      <dgm:t>
        <a:bodyPr/>
        <a:lstStyle/>
        <a:p>
          <a:endParaRPr lang="ru-RU"/>
        </a:p>
      </dgm:t>
    </dgm:pt>
    <dgm:pt modelId="{4CF942F5-4A3A-4E1A-B3FA-D452515F802C}">
      <dgm:prSet phldrT="[Текст]" custT="1"/>
      <dgm:spPr/>
      <dgm:t>
        <a:bodyPr/>
        <a:lstStyle/>
        <a:p>
          <a:r>
            <a:rPr lang="ru-RU" sz="2400" dirty="0"/>
            <a:t>Обработка потоковых данных</a:t>
          </a:r>
        </a:p>
      </dgm:t>
    </dgm:pt>
    <dgm:pt modelId="{5934D509-29F5-482B-8E47-C7C3FF7E6217}" type="parTrans" cxnId="{97A3160B-EA03-4CE4-9C38-03F1958C6D74}">
      <dgm:prSet/>
      <dgm:spPr/>
      <dgm:t>
        <a:bodyPr/>
        <a:lstStyle/>
        <a:p>
          <a:endParaRPr lang="ru-RU"/>
        </a:p>
      </dgm:t>
    </dgm:pt>
    <dgm:pt modelId="{777F663C-051C-4FFB-8D81-EFAD68B6D91D}" type="sibTrans" cxnId="{97A3160B-EA03-4CE4-9C38-03F1958C6D74}">
      <dgm:prSet/>
      <dgm:spPr/>
      <dgm:t>
        <a:bodyPr/>
        <a:lstStyle/>
        <a:p>
          <a:endParaRPr lang="ru-RU"/>
        </a:p>
      </dgm:t>
    </dgm:pt>
    <dgm:pt modelId="{1B52141D-C3F2-47B3-9BDC-D681B8DC5A2F}">
      <dgm:prSet custT="1"/>
      <dgm:spPr/>
      <dgm:t>
        <a:bodyPr/>
        <a:lstStyle/>
        <a:p>
          <a:r>
            <a:rPr lang="ru-RU" sz="2400" b="1" dirty="0"/>
            <a:t>Визуализация данных</a:t>
          </a:r>
        </a:p>
      </dgm:t>
    </dgm:pt>
    <dgm:pt modelId="{7078EE59-DB0F-45E4-A8F7-41B445E04DBA}" type="parTrans" cxnId="{661A4EB4-9347-4F74-BCD0-02A18B0BFEED}">
      <dgm:prSet/>
      <dgm:spPr/>
      <dgm:t>
        <a:bodyPr/>
        <a:lstStyle/>
        <a:p>
          <a:endParaRPr lang="ru-RU"/>
        </a:p>
      </dgm:t>
    </dgm:pt>
    <dgm:pt modelId="{679F1D24-0350-4B88-B217-305C14F9EB66}" type="sibTrans" cxnId="{661A4EB4-9347-4F74-BCD0-02A18B0BFEED}">
      <dgm:prSet/>
      <dgm:spPr/>
      <dgm:t>
        <a:bodyPr/>
        <a:lstStyle/>
        <a:p>
          <a:endParaRPr lang="ru-RU"/>
        </a:p>
      </dgm:t>
    </dgm:pt>
    <dgm:pt modelId="{40237AD0-EF93-4CD8-938A-1B8107F67187}">
      <dgm:prSet/>
      <dgm:spPr/>
      <dgm:t>
        <a:bodyPr/>
        <a:lstStyle/>
        <a:p>
          <a:r>
            <a:rPr lang="en-US" dirty="0"/>
            <a:t>ML</a:t>
          </a:r>
          <a:endParaRPr lang="ru-RU" dirty="0"/>
        </a:p>
      </dgm:t>
    </dgm:pt>
    <dgm:pt modelId="{3717E6E2-2C7C-4B5B-AF73-FA89E394494C}" type="parTrans" cxnId="{98617B2E-ABA7-499E-AD22-6DB5FB93306B}">
      <dgm:prSet/>
      <dgm:spPr/>
      <dgm:t>
        <a:bodyPr/>
        <a:lstStyle/>
        <a:p>
          <a:endParaRPr lang="ru-RU"/>
        </a:p>
      </dgm:t>
    </dgm:pt>
    <dgm:pt modelId="{2EF781C2-0314-40A3-945D-13E7325BE122}" type="sibTrans" cxnId="{98617B2E-ABA7-499E-AD22-6DB5FB93306B}">
      <dgm:prSet/>
      <dgm:spPr/>
      <dgm:t>
        <a:bodyPr/>
        <a:lstStyle/>
        <a:p>
          <a:endParaRPr lang="ru-RU"/>
        </a:p>
      </dgm:t>
    </dgm:pt>
    <dgm:pt modelId="{2C91D85D-5DBC-4CE7-B671-1F5E1DE315B9}">
      <dgm:prSet custT="1"/>
      <dgm:spPr/>
      <dgm:t>
        <a:bodyPr/>
        <a:lstStyle/>
        <a:p>
          <a:r>
            <a:rPr lang="ru-RU" sz="2400" dirty="0"/>
            <a:t>Статистика и модели </a:t>
          </a:r>
          <a:r>
            <a:rPr lang="en-US" sz="2400" dirty="0"/>
            <a:t>ML</a:t>
          </a:r>
          <a:endParaRPr lang="ru-RU" sz="2400" dirty="0"/>
        </a:p>
      </dgm:t>
    </dgm:pt>
    <dgm:pt modelId="{F1B5FADF-CF7E-4478-A47C-AEE6954A304F}" type="parTrans" cxnId="{808F150B-2DE1-4E4F-99AE-2BB698DE513E}">
      <dgm:prSet/>
      <dgm:spPr/>
      <dgm:t>
        <a:bodyPr/>
        <a:lstStyle/>
        <a:p>
          <a:endParaRPr lang="ru-RU"/>
        </a:p>
      </dgm:t>
    </dgm:pt>
    <dgm:pt modelId="{B3F5DFD8-CEB5-4027-A58E-B7F5812D52ED}" type="sibTrans" cxnId="{808F150B-2DE1-4E4F-99AE-2BB698DE513E}">
      <dgm:prSet/>
      <dgm:spPr/>
      <dgm:t>
        <a:bodyPr/>
        <a:lstStyle/>
        <a:p>
          <a:endParaRPr lang="ru-RU"/>
        </a:p>
      </dgm:t>
    </dgm:pt>
    <dgm:pt modelId="{61DB7E77-3A64-428B-85A5-DDFEAEA1792E}" type="pres">
      <dgm:prSet presAssocID="{168360EC-B607-47E1-8D35-E7A53A4C2475}" presName="linearFlow" presStyleCnt="0">
        <dgm:presLayoutVars>
          <dgm:dir/>
          <dgm:animLvl val="lvl"/>
          <dgm:resizeHandles val="exact"/>
        </dgm:presLayoutVars>
      </dgm:prSet>
      <dgm:spPr/>
    </dgm:pt>
    <dgm:pt modelId="{05014D53-3922-4177-A947-DCAC1945FD41}" type="pres">
      <dgm:prSet presAssocID="{5A457734-97F2-415A-8B27-CADA1C09CF2F}" presName="composite" presStyleCnt="0"/>
      <dgm:spPr/>
    </dgm:pt>
    <dgm:pt modelId="{9DEB77A2-5A52-4AF3-8B07-447E0978659F}" type="pres">
      <dgm:prSet presAssocID="{5A457734-97F2-415A-8B27-CADA1C09CF2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5B5B410-BE75-4C62-8BED-97CC37BA1ACD}" type="pres">
      <dgm:prSet presAssocID="{5A457734-97F2-415A-8B27-CADA1C09CF2F}" presName="descendantText" presStyleLbl="alignAcc1" presStyleIdx="0" presStyleCnt="4">
        <dgm:presLayoutVars>
          <dgm:bulletEnabled val="1"/>
        </dgm:presLayoutVars>
      </dgm:prSet>
      <dgm:spPr/>
    </dgm:pt>
    <dgm:pt modelId="{2C1E23B0-6DC6-4E3C-9671-EBDDD0338E15}" type="pres">
      <dgm:prSet presAssocID="{72831288-FD30-46B9-99C8-E127488B0DA4}" presName="sp" presStyleCnt="0"/>
      <dgm:spPr/>
    </dgm:pt>
    <dgm:pt modelId="{EF2D172A-ED65-47F6-A103-604FA7839752}" type="pres">
      <dgm:prSet presAssocID="{03FF813E-660D-4470-8041-A47965C7EF9F}" presName="composite" presStyleCnt="0"/>
      <dgm:spPr/>
    </dgm:pt>
    <dgm:pt modelId="{16DAC979-F5C6-4A65-BAE0-5F16E07AE415}" type="pres">
      <dgm:prSet presAssocID="{03FF813E-660D-4470-8041-A47965C7EF9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862DDB4-F214-4760-AFF7-F4215E640065}" type="pres">
      <dgm:prSet presAssocID="{03FF813E-660D-4470-8041-A47965C7EF9F}" presName="descendantText" presStyleLbl="alignAcc1" presStyleIdx="1" presStyleCnt="4">
        <dgm:presLayoutVars>
          <dgm:bulletEnabled val="1"/>
        </dgm:presLayoutVars>
      </dgm:prSet>
      <dgm:spPr/>
    </dgm:pt>
    <dgm:pt modelId="{8B2DF570-76C0-4EDC-9DE0-50CBF738FEBA}" type="pres">
      <dgm:prSet presAssocID="{75A78E1B-ADFC-4467-964A-5F94CBAA24CE}" presName="sp" presStyleCnt="0"/>
      <dgm:spPr/>
    </dgm:pt>
    <dgm:pt modelId="{EB8D608B-25FB-4ED1-A25A-8F4575D37D3E}" type="pres">
      <dgm:prSet presAssocID="{02452A41-D50E-4C4B-B42D-37FE62A22244}" presName="composite" presStyleCnt="0"/>
      <dgm:spPr/>
    </dgm:pt>
    <dgm:pt modelId="{E552EF60-8CAE-401F-AF11-440218C3D805}" type="pres">
      <dgm:prSet presAssocID="{02452A41-D50E-4C4B-B42D-37FE62A22244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8EBDF85-798E-49A6-8C3B-7FFE06F048CA}" type="pres">
      <dgm:prSet presAssocID="{02452A41-D50E-4C4B-B42D-37FE62A22244}" presName="descendantText" presStyleLbl="alignAcc1" presStyleIdx="2" presStyleCnt="4">
        <dgm:presLayoutVars>
          <dgm:bulletEnabled val="1"/>
        </dgm:presLayoutVars>
      </dgm:prSet>
      <dgm:spPr/>
    </dgm:pt>
    <dgm:pt modelId="{AC37B5F9-FA0D-4F55-B669-38C9ED9F69EA}" type="pres">
      <dgm:prSet presAssocID="{978E720E-B723-417D-BC65-CD14426DDE63}" presName="sp" presStyleCnt="0"/>
      <dgm:spPr/>
    </dgm:pt>
    <dgm:pt modelId="{14FD834E-727A-42FB-B58E-12E14F925CD3}" type="pres">
      <dgm:prSet presAssocID="{40237AD0-EF93-4CD8-938A-1B8107F67187}" presName="composite" presStyleCnt="0"/>
      <dgm:spPr/>
    </dgm:pt>
    <dgm:pt modelId="{360F3C7D-959D-40FA-85FE-4CB61E903EA7}" type="pres">
      <dgm:prSet presAssocID="{40237AD0-EF93-4CD8-938A-1B8107F6718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BF2B74E2-D964-46ED-8867-BDCB488031C5}" type="pres">
      <dgm:prSet presAssocID="{40237AD0-EF93-4CD8-938A-1B8107F6718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808F150B-2DE1-4E4F-99AE-2BB698DE513E}" srcId="{40237AD0-EF93-4CD8-938A-1B8107F67187}" destId="{2C91D85D-5DBC-4CE7-B671-1F5E1DE315B9}" srcOrd="1" destOrd="0" parTransId="{F1B5FADF-CF7E-4478-A47C-AEE6954A304F}" sibTransId="{B3F5DFD8-CEB5-4027-A58E-B7F5812D52ED}"/>
    <dgm:cxn modelId="{97A3160B-EA03-4CE4-9C38-03F1958C6D74}" srcId="{02452A41-D50E-4C4B-B42D-37FE62A22244}" destId="{4CF942F5-4A3A-4E1A-B3FA-D452515F802C}" srcOrd="1" destOrd="0" parTransId="{5934D509-29F5-482B-8E47-C7C3FF7E6217}" sibTransId="{777F663C-051C-4FFB-8D81-EFAD68B6D91D}"/>
    <dgm:cxn modelId="{0F313E0B-A5B1-40AD-AA51-68CF121883F2}" srcId="{5A457734-97F2-415A-8B27-CADA1C09CF2F}" destId="{F8D9A6EF-B952-48F5-B588-9C87C0507EA7}" srcOrd="0" destOrd="0" parTransId="{6941E87E-21EF-4D0F-8CA8-5747001D0F42}" sibTransId="{D34DFEA9-0D18-4D6E-8269-52D68C4C0157}"/>
    <dgm:cxn modelId="{A3DB851B-38C3-43E1-9FA6-4B0A5EF5209D}" srcId="{5A457734-97F2-415A-8B27-CADA1C09CF2F}" destId="{9F96EB32-11F2-4111-BA26-9E023CB6C11A}" srcOrd="1" destOrd="0" parTransId="{2DDD54C2-6397-4D63-9D76-BB8E392EDE92}" sibTransId="{662C30F1-202B-44E1-9125-D256262AE2FF}"/>
    <dgm:cxn modelId="{A599971C-2853-4CD8-B33F-84602654A530}" type="presOf" srcId="{40237AD0-EF93-4CD8-938A-1B8107F67187}" destId="{360F3C7D-959D-40FA-85FE-4CB61E903EA7}" srcOrd="0" destOrd="0" presId="urn:microsoft.com/office/officeart/2005/8/layout/chevron2"/>
    <dgm:cxn modelId="{8FDE9B21-19E6-4C79-935E-FE5CADEAD387}" type="presOf" srcId="{4CF942F5-4A3A-4E1A-B3FA-D452515F802C}" destId="{08EBDF85-798E-49A6-8C3B-7FFE06F048CA}" srcOrd="0" destOrd="1" presId="urn:microsoft.com/office/officeart/2005/8/layout/chevron2"/>
    <dgm:cxn modelId="{98617B2E-ABA7-499E-AD22-6DB5FB93306B}" srcId="{168360EC-B607-47E1-8D35-E7A53A4C2475}" destId="{40237AD0-EF93-4CD8-938A-1B8107F67187}" srcOrd="3" destOrd="0" parTransId="{3717E6E2-2C7C-4B5B-AF73-FA89E394494C}" sibTransId="{2EF781C2-0314-40A3-945D-13E7325BE122}"/>
    <dgm:cxn modelId="{F87A1239-8153-4F21-91BC-98E8985B4576}" srcId="{168360EC-B607-47E1-8D35-E7A53A4C2475}" destId="{02452A41-D50E-4C4B-B42D-37FE62A22244}" srcOrd="2" destOrd="0" parTransId="{03689D46-97AE-47F9-B1C6-04AFF0C62E8D}" sibTransId="{978E720E-B723-417D-BC65-CD14426DDE63}"/>
    <dgm:cxn modelId="{A43E0E5C-353C-4447-A795-6F8D8E1BEC63}" srcId="{168360EC-B607-47E1-8D35-E7A53A4C2475}" destId="{5A457734-97F2-415A-8B27-CADA1C09CF2F}" srcOrd="0" destOrd="0" parTransId="{9CB453C1-9A6F-466A-847C-878CD5F5B646}" sibTransId="{72831288-FD30-46B9-99C8-E127488B0DA4}"/>
    <dgm:cxn modelId="{613BFA60-879A-49DF-BA8F-061C3F61FE42}" type="presOf" srcId="{168360EC-B607-47E1-8D35-E7A53A4C2475}" destId="{61DB7E77-3A64-428B-85A5-DDFEAEA1792E}" srcOrd="0" destOrd="0" presId="urn:microsoft.com/office/officeart/2005/8/layout/chevron2"/>
    <dgm:cxn modelId="{587F0669-78D0-4ED6-AE45-78DD62FE81BF}" type="presOf" srcId="{1B52141D-C3F2-47B3-9BDC-D681B8DC5A2F}" destId="{BF2B74E2-D964-46ED-8867-BDCB488031C5}" srcOrd="0" destOrd="0" presId="urn:microsoft.com/office/officeart/2005/8/layout/chevron2"/>
    <dgm:cxn modelId="{B05EA352-57E7-41FE-9B1D-C4CE46C87FBE}" srcId="{02452A41-D50E-4C4B-B42D-37FE62A22244}" destId="{DEB53839-8943-4852-8FB6-DCAAEBDF9A8E}" srcOrd="0" destOrd="0" parTransId="{C9283CFD-150C-4611-B385-0A4145080C95}" sibTransId="{0D031340-752B-49AF-82F9-1FE3980C59C6}"/>
    <dgm:cxn modelId="{9A5F3C76-AC3D-41C4-9612-69F46C4A38C0}" type="presOf" srcId="{02452A41-D50E-4C4B-B42D-37FE62A22244}" destId="{E552EF60-8CAE-401F-AF11-440218C3D805}" srcOrd="0" destOrd="0" presId="urn:microsoft.com/office/officeart/2005/8/layout/chevron2"/>
    <dgm:cxn modelId="{D7CBB058-6C44-4BFA-8F43-E7413EB2EFEB}" type="presOf" srcId="{EA32D1CF-A913-4777-A9E5-D23BEA1C6CB1}" destId="{7862DDB4-F214-4760-AFF7-F4215E640065}" srcOrd="0" destOrd="0" presId="urn:microsoft.com/office/officeart/2005/8/layout/chevron2"/>
    <dgm:cxn modelId="{0682447B-65D6-43A0-8918-FA27801FFAE3}" type="presOf" srcId="{F8D9A6EF-B952-48F5-B588-9C87C0507EA7}" destId="{D5B5B410-BE75-4C62-8BED-97CC37BA1ACD}" srcOrd="0" destOrd="0" presId="urn:microsoft.com/office/officeart/2005/8/layout/chevron2"/>
    <dgm:cxn modelId="{D9124D90-133E-4721-8056-4E7BC26CFBD4}" type="presOf" srcId="{9F96EB32-11F2-4111-BA26-9E023CB6C11A}" destId="{D5B5B410-BE75-4C62-8BED-97CC37BA1ACD}" srcOrd="0" destOrd="1" presId="urn:microsoft.com/office/officeart/2005/8/layout/chevron2"/>
    <dgm:cxn modelId="{4700FF99-6EA3-4A17-AD85-FFFC2A573994}" type="presOf" srcId="{03FF813E-660D-4470-8041-A47965C7EF9F}" destId="{16DAC979-F5C6-4A65-BAE0-5F16E07AE415}" srcOrd="0" destOrd="0" presId="urn:microsoft.com/office/officeart/2005/8/layout/chevron2"/>
    <dgm:cxn modelId="{661A4EB4-9347-4F74-BCD0-02A18B0BFEED}" srcId="{40237AD0-EF93-4CD8-938A-1B8107F67187}" destId="{1B52141D-C3F2-47B3-9BDC-D681B8DC5A2F}" srcOrd="0" destOrd="0" parTransId="{7078EE59-DB0F-45E4-A8F7-41B445E04DBA}" sibTransId="{679F1D24-0350-4B88-B217-305C14F9EB66}"/>
    <dgm:cxn modelId="{2A5C71D6-97BC-441A-B343-16D6A9F897DF}" srcId="{168360EC-B607-47E1-8D35-E7A53A4C2475}" destId="{03FF813E-660D-4470-8041-A47965C7EF9F}" srcOrd="1" destOrd="0" parTransId="{763E70DB-DBEB-4EF6-BB83-44765F33820F}" sibTransId="{75A78E1B-ADFC-4467-964A-5F94CBAA24CE}"/>
    <dgm:cxn modelId="{D83E35DE-BD83-4CBE-B23F-5A1D7F05A36A}" type="presOf" srcId="{DEB53839-8943-4852-8FB6-DCAAEBDF9A8E}" destId="{08EBDF85-798E-49A6-8C3B-7FFE06F048CA}" srcOrd="0" destOrd="0" presId="urn:microsoft.com/office/officeart/2005/8/layout/chevron2"/>
    <dgm:cxn modelId="{997C25E3-854A-425C-BE8A-27DD2A544487}" srcId="{03FF813E-660D-4470-8041-A47965C7EF9F}" destId="{EA32D1CF-A913-4777-A9E5-D23BEA1C6CB1}" srcOrd="0" destOrd="0" parTransId="{829858E0-7F39-452F-8A56-B1CAD9DC93B7}" sibTransId="{ABE465B7-9D89-4FBF-B9F5-CDADAA8AF044}"/>
    <dgm:cxn modelId="{C0C709E5-DA6C-4987-AAAB-97F0A8D83D7A}" type="presOf" srcId="{61FC985B-1DB3-4F3F-A7EB-A52160086570}" destId="{7862DDB4-F214-4760-AFF7-F4215E640065}" srcOrd="0" destOrd="1" presId="urn:microsoft.com/office/officeart/2005/8/layout/chevron2"/>
    <dgm:cxn modelId="{C240D5E8-1BE3-42BB-A875-1BEC4E4DAEC8}" type="presOf" srcId="{2C91D85D-5DBC-4CE7-B671-1F5E1DE315B9}" destId="{BF2B74E2-D964-46ED-8867-BDCB488031C5}" srcOrd="0" destOrd="1" presId="urn:microsoft.com/office/officeart/2005/8/layout/chevron2"/>
    <dgm:cxn modelId="{09C789F2-40EC-45AC-A864-6AD0EAF9B03C}" type="presOf" srcId="{5A457734-97F2-415A-8B27-CADA1C09CF2F}" destId="{9DEB77A2-5A52-4AF3-8B07-447E0978659F}" srcOrd="0" destOrd="0" presId="urn:microsoft.com/office/officeart/2005/8/layout/chevron2"/>
    <dgm:cxn modelId="{980FBBF5-223B-4BA1-ABCE-BC06B3A7359C}" srcId="{03FF813E-660D-4470-8041-A47965C7EF9F}" destId="{61FC985B-1DB3-4F3F-A7EB-A52160086570}" srcOrd="1" destOrd="0" parTransId="{5F0E9BB7-D2D1-4CF4-A7BF-2F8E531611E1}" sibTransId="{E52546DA-B24B-4CBD-A686-68E618745F93}"/>
    <dgm:cxn modelId="{2E05D1C0-3336-409B-B43F-AA66521F5A2C}" type="presParOf" srcId="{61DB7E77-3A64-428B-85A5-DDFEAEA1792E}" destId="{05014D53-3922-4177-A947-DCAC1945FD41}" srcOrd="0" destOrd="0" presId="urn:microsoft.com/office/officeart/2005/8/layout/chevron2"/>
    <dgm:cxn modelId="{133844F7-8E17-4F06-B30F-DCF6D1DCCB0C}" type="presParOf" srcId="{05014D53-3922-4177-A947-DCAC1945FD41}" destId="{9DEB77A2-5A52-4AF3-8B07-447E0978659F}" srcOrd="0" destOrd="0" presId="urn:microsoft.com/office/officeart/2005/8/layout/chevron2"/>
    <dgm:cxn modelId="{08DCB093-0D3F-4B99-8C38-E1C36370E4A3}" type="presParOf" srcId="{05014D53-3922-4177-A947-DCAC1945FD41}" destId="{D5B5B410-BE75-4C62-8BED-97CC37BA1ACD}" srcOrd="1" destOrd="0" presId="urn:microsoft.com/office/officeart/2005/8/layout/chevron2"/>
    <dgm:cxn modelId="{36AC7D34-D6B0-4B63-A9B4-817597D83E59}" type="presParOf" srcId="{61DB7E77-3A64-428B-85A5-DDFEAEA1792E}" destId="{2C1E23B0-6DC6-4E3C-9671-EBDDD0338E15}" srcOrd="1" destOrd="0" presId="urn:microsoft.com/office/officeart/2005/8/layout/chevron2"/>
    <dgm:cxn modelId="{8F360376-949F-4FE6-AC7A-15C01AC2C528}" type="presParOf" srcId="{61DB7E77-3A64-428B-85A5-DDFEAEA1792E}" destId="{EF2D172A-ED65-47F6-A103-604FA7839752}" srcOrd="2" destOrd="0" presId="urn:microsoft.com/office/officeart/2005/8/layout/chevron2"/>
    <dgm:cxn modelId="{AD8CDBFA-4BF3-4FCE-9CA0-83D1B9967947}" type="presParOf" srcId="{EF2D172A-ED65-47F6-A103-604FA7839752}" destId="{16DAC979-F5C6-4A65-BAE0-5F16E07AE415}" srcOrd="0" destOrd="0" presId="urn:microsoft.com/office/officeart/2005/8/layout/chevron2"/>
    <dgm:cxn modelId="{3D32F737-B8FA-4775-9D60-8CDD13264572}" type="presParOf" srcId="{EF2D172A-ED65-47F6-A103-604FA7839752}" destId="{7862DDB4-F214-4760-AFF7-F4215E640065}" srcOrd="1" destOrd="0" presId="urn:microsoft.com/office/officeart/2005/8/layout/chevron2"/>
    <dgm:cxn modelId="{94121FD6-755A-40BA-9413-91B84B5037E9}" type="presParOf" srcId="{61DB7E77-3A64-428B-85A5-DDFEAEA1792E}" destId="{8B2DF570-76C0-4EDC-9DE0-50CBF738FEBA}" srcOrd="3" destOrd="0" presId="urn:microsoft.com/office/officeart/2005/8/layout/chevron2"/>
    <dgm:cxn modelId="{5E4DAD3E-73D5-4CE0-B99E-9A02C09F9D93}" type="presParOf" srcId="{61DB7E77-3A64-428B-85A5-DDFEAEA1792E}" destId="{EB8D608B-25FB-4ED1-A25A-8F4575D37D3E}" srcOrd="4" destOrd="0" presId="urn:microsoft.com/office/officeart/2005/8/layout/chevron2"/>
    <dgm:cxn modelId="{4827A820-5E47-49DC-BBC9-18F0EA7771EA}" type="presParOf" srcId="{EB8D608B-25FB-4ED1-A25A-8F4575D37D3E}" destId="{E552EF60-8CAE-401F-AF11-440218C3D805}" srcOrd="0" destOrd="0" presId="urn:microsoft.com/office/officeart/2005/8/layout/chevron2"/>
    <dgm:cxn modelId="{7D6730FC-0F53-4B0C-B408-80E348F130B9}" type="presParOf" srcId="{EB8D608B-25FB-4ED1-A25A-8F4575D37D3E}" destId="{08EBDF85-798E-49A6-8C3B-7FFE06F048CA}" srcOrd="1" destOrd="0" presId="urn:microsoft.com/office/officeart/2005/8/layout/chevron2"/>
    <dgm:cxn modelId="{C24D2642-FDB2-4023-A26A-742440841848}" type="presParOf" srcId="{61DB7E77-3A64-428B-85A5-DDFEAEA1792E}" destId="{AC37B5F9-FA0D-4F55-B669-38C9ED9F69EA}" srcOrd="5" destOrd="0" presId="urn:microsoft.com/office/officeart/2005/8/layout/chevron2"/>
    <dgm:cxn modelId="{00848F36-D680-4C9B-8C7D-4DEF198784DE}" type="presParOf" srcId="{61DB7E77-3A64-428B-85A5-DDFEAEA1792E}" destId="{14FD834E-727A-42FB-B58E-12E14F925CD3}" srcOrd="6" destOrd="0" presId="urn:microsoft.com/office/officeart/2005/8/layout/chevron2"/>
    <dgm:cxn modelId="{F3E7C66A-9AA8-4720-B507-F1511037CAFD}" type="presParOf" srcId="{14FD834E-727A-42FB-B58E-12E14F925CD3}" destId="{360F3C7D-959D-40FA-85FE-4CB61E903EA7}" srcOrd="0" destOrd="0" presId="urn:microsoft.com/office/officeart/2005/8/layout/chevron2"/>
    <dgm:cxn modelId="{BDBE80F0-8442-4C31-987E-B9DE57EA72C3}" type="presParOf" srcId="{14FD834E-727A-42FB-B58E-12E14F925CD3}" destId="{BF2B74E2-D964-46ED-8867-BDCB488031C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B77A2-5A52-4AF3-8B07-447E0978659F}">
      <dsp:nvSpPr>
        <dsp:cNvPr id="0" name=""/>
        <dsp:cNvSpPr/>
      </dsp:nvSpPr>
      <dsp:spPr>
        <a:xfrm rot="5400000">
          <a:off x="-196910" y="199401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Вход</a:t>
          </a:r>
        </a:p>
      </dsp:txBody>
      <dsp:txXfrm rot="-5400000">
        <a:off x="1" y="461948"/>
        <a:ext cx="918913" cy="393820"/>
      </dsp:txXfrm>
    </dsp:sp>
    <dsp:sp modelId="{D5B5B410-BE75-4C62-8BED-97CC37BA1ACD}">
      <dsp:nvSpPr>
        <dsp:cNvPr id="0" name=""/>
        <dsp:cNvSpPr/>
      </dsp:nvSpPr>
      <dsp:spPr>
        <a:xfrm rot="5400000">
          <a:off x="5174259" y="-4252854"/>
          <a:ext cx="853277" cy="93639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/>
            <a:t>Сбор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Первичная предобработка данных</a:t>
          </a:r>
        </a:p>
      </dsp:txBody>
      <dsp:txXfrm rot="-5400000">
        <a:off x="918914" y="44145"/>
        <a:ext cx="9322314" cy="769969"/>
      </dsp:txXfrm>
    </dsp:sp>
    <dsp:sp modelId="{16DAC979-F5C6-4A65-BAE0-5F16E07AE415}">
      <dsp:nvSpPr>
        <dsp:cNvPr id="0" name=""/>
        <dsp:cNvSpPr/>
      </dsp:nvSpPr>
      <dsp:spPr>
        <a:xfrm rot="5400000">
          <a:off x="-196910" y="1366183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БД</a:t>
          </a:r>
        </a:p>
      </dsp:txBody>
      <dsp:txXfrm rot="-5400000">
        <a:off x="1" y="1628730"/>
        <a:ext cx="918913" cy="393820"/>
      </dsp:txXfrm>
    </dsp:sp>
    <dsp:sp modelId="{7862DDB4-F214-4760-AFF7-F4215E640065}">
      <dsp:nvSpPr>
        <dsp:cNvPr id="0" name=""/>
        <dsp:cNvSpPr/>
      </dsp:nvSpPr>
      <dsp:spPr>
        <a:xfrm rot="5400000">
          <a:off x="5174259" y="-3086072"/>
          <a:ext cx="853277" cy="93639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/>
            <a:t>Бизнес-хранилища структурированных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Хранение неструктурированных данных</a:t>
          </a:r>
        </a:p>
      </dsp:txBody>
      <dsp:txXfrm rot="-5400000">
        <a:off x="918914" y="1210927"/>
        <a:ext cx="9322314" cy="769969"/>
      </dsp:txXfrm>
    </dsp:sp>
    <dsp:sp modelId="{E552EF60-8CAE-401F-AF11-440218C3D805}">
      <dsp:nvSpPr>
        <dsp:cNvPr id="0" name=""/>
        <dsp:cNvSpPr/>
      </dsp:nvSpPr>
      <dsp:spPr>
        <a:xfrm rot="5400000">
          <a:off x="-196910" y="2532965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DS</a:t>
          </a:r>
          <a:endParaRPr lang="ru-RU" sz="2500" kern="1200" dirty="0"/>
        </a:p>
      </dsp:txBody>
      <dsp:txXfrm rot="-5400000">
        <a:off x="1" y="2795512"/>
        <a:ext cx="918913" cy="393820"/>
      </dsp:txXfrm>
    </dsp:sp>
    <dsp:sp modelId="{08EBDF85-798E-49A6-8C3B-7FFE06F048CA}">
      <dsp:nvSpPr>
        <dsp:cNvPr id="0" name=""/>
        <dsp:cNvSpPr/>
      </dsp:nvSpPr>
      <dsp:spPr>
        <a:xfrm rot="5400000">
          <a:off x="5174259" y="-1919290"/>
          <a:ext cx="853277" cy="93639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/>
            <a:t>Обработка и анализ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Обработка потоковых данных</a:t>
          </a:r>
        </a:p>
      </dsp:txBody>
      <dsp:txXfrm rot="-5400000">
        <a:off x="918914" y="2377709"/>
        <a:ext cx="9322314" cy="769969"/>
      </dsp:txXfrm>
    </dsp:sp>
    <dsp:sp modelId="{360F3C7D-959D-40FA-85FE-4CB61E903EA7}">
      <dsp:nvSpPr>
        <dsp:cNvPr id="0" name=""/>
        <dsp:cNvSpPr/>
      </dsp:nvSpPr>
      <dsp:spPr>
        <a:xfrm rot="5400000">
          <a:off x="-196910" y="3699747"/>
          <a:ext cx="1312733" cy="918913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ML</a:t>
          </a:r>
          <a:endParaRPr lang="ru-RU" sz="2500" kern="1200" dirty="0"/>
        </a:p>
      </dsp:txBody>
      <dsp:txXfrm rot="-5400000">
        <a:off x="1" y="3962294"/>
        <a:ext cx="918913" cy="393820"/>
      </dsp:txXfrm>
    </dsp:sp>
    <dsp:sp modelId="{BF2B74E2-D964-46ED-8867-BDCB488031C5}">
      <dsp:nvSpPr>
        <dsp:cNvPr id="0" name=""/>
        <dsp:cNvSpPr/>
      </dsp:nvSpPr>
      <dsp:spPr>
        <a:xfrm rot="5400000">
          <a:off x="5174259" y="-752507"/>
          <a:ext cx="853277" cy="936396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1" kern="1200" dirty="0"/>
            <a:t>Визуализация данных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Статистика и модели </a:t>
          </a:r>
          <a:r>
            <a:rPr lang="en-US" sz="2400" kern="1200" dirty="0"/>
            <a:t>ML</a:t>
          </a:r>
          <a:endParaRPr lang="ru-RU" sz="2400" kern="1200" dirty="0"/>
        </a:p>
      </dsp:txBody>
      <dsp:txXfrm rot="-5400000">
        <a:off x="918914" y="3544492"/>
        <a:ext cx="9322314" cy="769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B4B77-92A8-4974-A692-42FA5825A187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ECBE7-4487-4615-A10C-5FECAADA1E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21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wc.com/us/en/services/consulting/business-transformation/library/customer-loyalty-survey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use-cases/ocr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irbnb.com/help/article/2908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3/#technology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etology.ru/blog/apache-spark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killbox.ru/media/code/chto-takoe-apache-spark-i-kak-on-ustroen/" TargetMode="Externa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57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лекция посвящена аналитике данных и большим данным. </a:t>
            </a:r>
          </a:p>
          <a:p>
            <a:r>
              <a:rPr lang="ru-RU" dirty="0"/>
              <a:t>На данной лекции разберемся с вами с определением больших данных, какими характеристиками они обладают и какие критерии отделяют большие данные от данных поменьше. Поймем также в чем же польза от больших данных, в каких реальных приложениях могут применяться инструменты для получения знаний из больших выборок данных.</a:t>
            </a:r>
          </a:p>
          <a:p>
            <a:r>
              <a:rPr lang="ru-RU" dirty="0"/>
              <a:t>В одной из частей нашей лекции упомянем инструментарий для работы с большими данными, такие технологии сейчас используются в реальных задачах </a:t>
            </a:r>
            <a:r>
              <a:rPr lang="en-US" dirty="0" err="1"/>
              <a:t>BigData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Также прольем свет на рынок </a:t>
            </a:r>
            <a:r>
              <a:rPr lang="en-US" dirty="0" err="1"/>
              <a:t>BigData</a:t>
            </a:r>
            <a:r>
              <a:rPr lang="en-US" dirty="0"/>
              <a:t> </a:t>
            </a:r>
            <a:r>
              <a:rPr lang="ru-RU" dirty="0"/>
              <a:t>в мире и в России.</a:t>
            </a:r>
          </a:p>
          <a:p>
            <a:r>
              <a:rPr lang="ru-RU" dirty="0"/>
              <a:t>В заключении посмотрим на то, как выглядит жизненный цикл проектов аналитики больших данных, с чего начинается любой проект по обработке данных и чем он заканчивается.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7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Основная причина сбора данных — это получение ответов на важные вопросы бизнеса. Например, вы хотите узнать, насколько успешен ваш бизнес по сравнению с конкурентами, какой спрос на ваш продукт или услугу ждать через месяц или как повысить удовлетворённость пользователей. Согласно </a:t>
            </a:r>
            <a:r>
              <a:rPr lang="ru-RU" b="0" i="0" u="none" strike="noStrike" dirty="0">
                <a:effectLst/>
                <a:latin typeface="-apple-system"/>
                <a:hlinkClick r:id="rId3"/>
              </a:rPr>
              <a:t>PwC Customer </a:t>
            </a:r>
            <a:r>
              <a:rPr lang="ru-RU" b="0" i="0" u="none" strike="noStrike" dirty="0" err="1">
                <a:effectLst/>
                <a:latin typeface="-apple-system"/>
                <a:hlinkClick r:id="rId3"/>
              </a:rPr>
              <a:t>Loyalty</a:t>
            </a:r>
            <a:r>
              <a:rPr lang="ru-RU" b="0" i="0" u="none" strike="noStrike" dirty="0">
                <a:effectLst/>
                <a:latin typeface="-apple-system"/>
                <a:hlinkClick r:id="rId3"/>
              </a:rPr>
              <a:t> Survey 2022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четыре из пяти людей готовы поделиться личной информацией (например, возрастом или датой рождения), чтобы повысить удобство для себя.</a:t>
            </a: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Чёткое формулирование того, что вы хотите узнать — отправная точка начала сбора данных. Дальше вам предстоит сделать следующие шаги.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Определить, какую информацию вам нужно собирать.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Найти источники релевантных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Выбрать способы и инструменты сбора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Решить, какой объём данных будет достаточным.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Подготовить технологию хранения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371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i="1" dirty="0">
              <a:solidFill>
                <a:srgbClr val="DDDDDD"/>
              </a:solidFill>
              <a:effectLst/>
              <a:latin typeface="-apple-system"/>
            </a:endParaRPr>
          </a:p>
          <a:p>
            <a:endParaRPr lang="ru-RU" b="0" i="1" dirty="0">
              <a:solidFill>
                <a:srgbClr val="DDDDDD"/>
              </a:solidFill>
              <a:effectLst/>
              <a:latin typeface="-apple-system"/>
            </a:endParaRPr>
          </a:p>
          <a:p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Ключевые различия между структурированными, слабоструктурированными и неструктурированными данными.</a:t>
            </a:r>
            <a:br>
              <a:rPr lang="ru-RU" dirty="0"/>
            </a:br>
            <a:endParaRPr lang="ru-RU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Данные находятся повсюду и принимают тысячи форм, например, это могут быть тексты, изображения, таблицы, видео, бумажные и электронные документы. Чтобы не потеряться, попытайтесь на как можно более раннем этапе проекта определить, какая информация критически важна для ответа на ваш вопрос.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Допустим, на практике мы работали с компаниями, делавшими упор на сборе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комментариев и мнений клиентов для выполнения анализа эмоциональной составляющей и понимания того, как люди воспринимают конкретные услуги;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подробностей о рейсах, в которые включаются название авиакомпании, время отлёта и прилёта, маршрут, дата полёта, время и дата покупки, цена и другие важные факторы для прогнозирования цен на билеты;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конкретных подробностей бронирования, например, изменений цен, местоположения и сезонности, чтобы прогнозировать степень заполненности гостиничных номеров; 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сбором звуков храпа для разработки приложения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аудиоанализа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паттернов сна.</a:t>
            </a:r>
          </a:p>
          <a:p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Все эти примеры относятся к сложным проектам машинного обучения, в которых задействованы дата-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саентисты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специалисты разных отраслей. Однако даже в простых сценариях имеет смысл привлечь специалистов и по данным, и по предметной области, чтобы тщательно проработать необходимые элементы данных и избавиться от излишних подробностей. Благодаря этому вы не будете впустую тратить ресурсы на сбор контента, не относящейся к вашей цели.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Ещё один важный аспект — это тип собираемой информации. С точки зрения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science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всевозможные виды данных разделяются на три большие группы: структурированные, слабоструктурированные и неструктурированные.</a:t>
            </a:r>
            <a:endParaRPr lang="ru-RU" dirty="0"/>
          </a:p>
          <a:p>
            <a:endParaRPr lang="ru-RU" dirty="0"/>
          </a:p>
          <a:p>
            <a:r>
              <a:rPr lang="ru-RU" b="1" i="0" dirty="0">
                <a:solidFill>
                  <a:srgbClr val="DDDDDD"/>
                </a:solidFill>
                <a:effectLst/>
                <a:latin typeface="-apple-system"/>
              </a:rPr>
              <a:t>Структурированные данные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— это хорошо упорядоченная информация, намеренно помещённая в таблицы со строками и столбцами. Примерами таких данных могут быть списки инвентаризации или электронные таблицы транзакций и их атрибутов, например времени и места покупки, цены, способа оплаты, скидки и так далее. Такие таблицы создают фундамент для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business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intelligence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традиционного анализа данных и прогнозирования временных последовательностей (если данные связаны с одним и тем же элементом и собираются в разные моменты времени).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Структурированные данные моделируются так, чтобы по ним легко можно было выполнять поиск и они занимали минимальное пространство на накопителях. Они находятся в специальных репозиториях, называемых реляционными или SQL-базами данных, потому что для обработки таблиц и извлечения записей специалисты используют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structured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query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language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(SQL).</a:t>
            </a:r>
            <a:br>
              <a:rPr lang="ru-RU" dirty="0"/>
            </a:br>
            <a:br>
              <a:rPr lang="ru-RU" dirty="0"/>
            </a:br>
            <a:r>
              <a:rPr lang="ru-RU" b="1" i="0" dirty="0">
                <a:solidFill>
                  <a:srgbClr val="DDDDDD"/>
                </a:solidFill>
                <a:effectLst/>
                <a:latin typeface="-apple-system"/>
              </a:rPr>
              <a:t>Слабоструктурированные данные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не так строго отформатированы, как табличные, но сохраняют в себе идентифицируемые элементы (тэги и другие маркеры), упрощающие поиск. К этой категории относятся форматы файлов JSON, CSV и XML. Их можно собирать в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NoSQL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-базы данных наподобие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MongoDB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или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Cassandra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.</a:t>
            </a:r>
            <a:br>
              <a:rPr lang="ru-RU" dirty="0"/>
            </a:br>
            <a:br>
              <a:rPr lang="ru-RU" dirty="0"/>
            </a:br>
            <a:r>
              <a:rPr lang="ru-RU" b="1" i="0" dirty="0">
                <a:solidFill>
                  <a:srgbClr val="DDDDDD"/>
                </a:solidFill>
                <a:effectLst/>
                <a:latin typeface="-apple-system"/>
              </a:rPr>
              <a:t>Неструктурированные данные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занимают 80-90% всей сферы данных. Как понятно из названия, они не подходят под традиционные схемы и включают в себя широкий спектр примеров — от текстов и аудиозаписей до сигналов датчиков.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Обычно неструктурированные данные легко получить, но с ними сложно работать. Они требуют много пространства для хранения и сложных, вычислительно затратных методик машинного обучения, например, обработки естественного языка (NLP) или распознавания изображений для обработки. Неудивительно, что используется лишь 0,5% от этого потенциально ценного ресурса. К счастью, ситуация постепенно меняется к лучшему благодаря эволюции инструментов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big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архитектур хранения, способных обрабатывать крупные датасеты вне зависимости от их типа (ниже мы рассмотрим различные типы репозиториев данных).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389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Во время сбора данных информация извлекается из различных источников, которые для компании могут быть внутренними или внешними.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Внутренние источники, также называемые первичными, сохраняют информацию внутри компании, охватывая такие области, как финансы, операции, персонал, взаимодействие с клиентами и поддержку. Примеры внутренних источников данных: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Система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enterprise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resource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planning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(ERP);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Централизованная система бронирования и система управления собственностью отеля;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Система управления доходами;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Система обслуживания пассажиров авиакомпании;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ПО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customer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relationship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management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(CRM);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Веб-сайт онлайн-торговли компании;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Кол-центры;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Системы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IIoT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отслеживающие состояние оборудования, и многое другое.</a:t>
            </a:r>
          </a:p>
          <a:p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Также сюда включаются анкеты сотрудников и клиентов, бумажные и электронные опросники, а также различные виды распечаток документов.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Данные из внутренних источников релевантны вашей компании, поэтому помогают понимать текущие показатели, эффективность операций и предпочтения клиентов, чтобы находить возможности для совершенствования. Но часто их недостаточно для роста бизнеса или охвата новых аудиторий.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Внешние или сторонние источники данных связаны с внешней информации, поступающей от партнёров, конкурентов, из соцсетей, общих исследований рынка, баз данных с публично доступными датасетами и так далее. Факты и значения, генерируемые третьими сторонами, важны для понимания рыночных тенденций, вашей позиции относительно конкурентов и многого другого.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Наш опыт показывает, что для создания точных прогнозов вам совершенно точно нужны и внутренние, и внешние источники. Для создания алгоритма прогнозирования стоимости номеров семейного отеля мы объединили его собственные данные о бронировании с информацией о конкурентах того же размера, расположенных в том же регионе.</a:t>
            </a:r>
            <a:endParaRPr lang="ru-RU" dirty="0"/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 течение многих веков люди собирали данные вручную. Даже сегодня, в эпоху ChatGPT, мы всё ещё заполняем бумажные документы и вводим числа и слова в файл Excel для фиксации событий и наблюдений. Однако процессы, в которых задействованы бумажные документы и ручной ввод данных, длительны, трудоёмки и, что хуже сего, подвержены человеческим ошибкам.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Ручной сбор данных всё ещё применим в мелких компаниях, но более крупные склонны отдавать на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аутсорс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эти монотонные и повторяющиеся задачи или максимально их автоматизировать. Ниже мы рассмотрим наиболее популярные методики упрощения сбора данных.</a:t>
            </a: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Извлечение данных при помощи интерфейсов программирования приложений</a:t>
            </a:r>
          </a:p>
          <a:p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Application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programming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interface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(API) — это слой ПО, позволяющий программам взаимодействовать друг с другом. Для прямого доступа к своим данным большинство современных платформ раскрывают публичные или приватные API. Благодаря API система может автоматически собирать интересующий вас контент.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 отличие от веб-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скрейпинга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подключения к API не представляют юридических трудностей, потому что их нельзя установить без разрешения источника данных, который может накладывать ограничения на количество запросов и типы доступного контента. Также он определяет формат данных, но чаще всего вам придётся иметь дело с файлами JSON, которые обычно используются в современных REST API.</a:t>
            </a: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pPr algn="l"/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Оптическое распознавание символов</a:t>
            </a:r>
          </a:p>
          <a:p>
            <a:pPr algn="l"/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Optical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character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recognition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(OCR) — это технология, распознающая печатный или рукописный текст в отсканированных документах, изображениях PDF и других файлах, а затем преобразующая его в машиночитаемый электронный вид. Она позволяет не только быстро оцифровывать бумажные документы, но и извлекать ценный контент из различных документов, делая его доступным для дальнейшей обработки.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Полнофункциональные системы наподобие ABBYY FineReader PDF и </a:t>
            </a:r>
            <a:r>
              <a:rPr lang="ru-RU" b="0" i="0" u="none" strike="noStrike" dirty="0">
                <a:effectLst/>
                <a:latin typeface="-apple-system"/>
                <a:hlinkClick r:id="rId3"/>
              </a:rPr>
              <a:t>OCR-решения Google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используют машинное обучение для анализа структуры документа и распознавания текста вне зависимости от его языка.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Автоматизация процессов</a:t>
            </a:r>
          </a:p>
          <a:p>
            <a:pPr algn="l"/>
            <a:br>
              <a:rPr lang="ru-RU" dirty="0"/>
            </a:b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Robotic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process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automation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(RPA) — это тип ПО, предназначенный для выполнения повторяющихся и монотонных повседневных операций, обычно выполняемых людьми. Среди прочего, RPA-боты способны выполнять некоторые действия, связанные со сбором данных, например, открывать электронные письма и вложения, собирать статистику в социальных сетях, извлекать данные из предварительно указанных полей в документах, считывать требуемые данные из баз данных и электронных таблиц, и так далее.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Традиционные RPA-инструменты способны работать только со структурированными и слабоструктурированными данными. Когда необходимо обрабатывать неструктурированные данные (которые, как мы помним, составляют 80-90% потенциально полезного контента), требуются более сложные решения на основе ИИ.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Интеллектуальная обработка документов</a:t>
            </a:r>
          </a:p>
          <a:p>
            <a:pPr algn="l">
              <a:buFont typeface="Arial" panose="020B0604020202020204" pitchFamily="34" charset="0"/>
              <a:buChar char="•"/>
            </a:pP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Intelligent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document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processing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(IDP) включает в себя: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OCR для извлечения текста из сканов,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RPA для выполнения монотонных манипуляций со структурированными и слабоструктурированными данными, 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методики машинного обучения, в частности, компьютерное зрение и NLP, для классификации документов на основании текстов, изображений или визуальной структуры, извлечения значимой информации, очистки, упорядочивания и разметки неструктурированных данных с целью их подготовки для обучения моделей машинного обучения.</a:t>
            </a:r>
          </a:p>
          <a:p>
            <a:pPr algn="l"/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IDP может использоваться для сбора и очистки данных из заявлений о страховых случаях, медицинских форм, счетов, договоров и других документов, минимизируя вмешательство человека.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Веб-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скрейпинг</a:t>
            </a:r>
            <a:endParaRPr lang="ru-RU" b="0" i="0" dirty="0">
              <a:solidFill>
                <a:srgbClr val="DDDDDD"/>
              </a:solidFill>
              <a:effectLst/>
              <a:latin typeface="Fira Sans" panose="020B0503050000020004" pitchFamily="34" charset="0"/>
            </a:endParaRPr>
          </a:p>
          <a:p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Веб-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скрейпинг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— это автоматизированный способ сбора, фильтрации и структурирования данных с веб-сайтов. Обычно веб-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скрейперы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или боты обходят множество веб-страниц, собирая цены, подробности о товарах, комментарии пользователей и многое другое.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Стоит заметить, что не каждый вид веб-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скрейпинга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легален. Вы можете свободно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скрейпить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собственный веб-сайт и, в большинстве случаев, собирать публично доступные данные в Интернете (если они не скрыты за логином).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Однако некоторые типы данных защищены нормами права. В основном это касается личных данных — фамилий, паспортных данных, контактов, мест, предпочтений в шопинге, видеозаписей людей, политических мнений и так далее. Например, принятый в ЕС закон General Data Protection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Regulation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(GDPR) применим к любой информации, которую можно использовать для идентификации европейского гражданина.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Кроме того, стоит помнить о том, что многие онлайн-сервисы запрещают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скрейпинг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.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Airbnb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</a:t>
            </a:r>
            <a:r>
              <a:rPr lang="ru-RU" b="0" i="0" u="none" strike="noStrike" dirty="0">
                <a:effectLst/>
                <a:latin typeface="-apple-system"/>
                <a:hlinkClick r:id="rId4"/>
              </a:rPr>
              <a:t>не разрешает использовать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«любых роботов, пауков,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краулеров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скрейперов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других автоматизированных средств или процессов доступа или сбора данных и другого контента, а также любые иные способы взаимодействия с платформой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Airbnb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Platform для любых целей». Поэтому перед запуском веб-бота следует тщательно изучить правила пользования веб-сайтом.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Также можно собирать данные при помощи веб-форм, современных чат-ботов и других инструментов, или автоматически собирать их с датчиков,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IoT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-устройств и систем терминалов оплаты. Но как бы то ни было, сбор данных и его методики не могут быть успешными без наличия места для хранения данных.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027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Репозитории данных: где хранить собранные данные</a:t>
            </a:r>
          </a:p>
          <a:p>
            <a:pPr algn="l"/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Виды и объёмы собираемых данных определяют выбор репозитория данных. Во многих случаях компаниям нужно комбинировать несколько технологий для адаптации различной информации. Давайте рассмотрим основные варианты, из которых можно выбирать.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Реляционные или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нереляционные</a:t>
            </a:r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 базы данных</a:t>
            </a:r>
          </a:p>
          <a:p>
            <a:pPr algn="l">
              <a:buFont typeface="Arial" panose="020B0604020202020204" pitchFamily="34" charset="0"/>
              <a:buChar char="•"/>
            </a:pP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Как мы говорили выше, </a:t>
            </a:r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реляционные или SQL-базы данных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предназначены для структурированных или табличных данных. Среди прочего, их стоит выбирать для сбора и хранения финансовых транзакций, списков инвентаризации, предпочтений клиентов, дел сотрудников и подробностей бронирования. Согласно </a:t>
            </a:r>
            <a:r>
              <a:rPr lang="ru-RU" b="0" i="0" u="none" strike="noStrike" dirty="0">
                <a:effectLst/>
                <a:latin typeface="-apple-system"/>
                <a:hlinkClick r:id="rId3"/>
              </a:rPr>
              <a:t>проведённому в 2023 году опросу </a:t>
            </a:r>
            <a:r>
              <a:rPr lang="ru-RU" b="0" i="0" u="none" strike="noStrike" dirty="0" err="1">
                <a:effectLst/>
                <a:latin typeface="-apple-system"/>
                <a:hlinkClick r:id="rId3"/>
              </a:rPr>
              <a:t>Stack</a:t>
            </a:r>
            <a:r>
              <a:rPr lang="ru-RU" b="0" i="0" u="none" strike="noStrike" dirty="0">
                <a:effectLst/>
                <a:latin typeface="-apple-system"/>
                <a:hlinkClick r:id="rId3"/>
              </a:rPr>
              <a:t> </a:t>
            </a:r>
            <a:r>
              <a:rPr lang="ru-RU" b="0" i="0" u="none" strike="noStrike" dirty="0" err="1">
                <a:effectLst/>
                <a:latin typeface="-apple-system"/>
                <a:hlinkClick r:id="rId3"/>
              </a:rPr>
              <a:t>Overflow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самыми популярными SQL-решениями пока являются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PostgreSQL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MySQL,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SQLite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и Microsoft SQL Server.</a:t>
            </a:r>
            <a:br>
              <a:rPr lang="ru-RU" dirty="0"/>
            </a:br>
            <a:br>
              <a:rPr lang="ru-RU" dirty="0"/>
            </a:br>
            <a:r>
              <a:rPr lang="ru-RU" b="0" i="1" dirty="0" err="1">
                <a:solidFill>
                  <a:srgbClr val="DDDDDD"/>
                </a:solidFill>
                <a:effectLst/>
                <a:latin typeface="-apple-system"/>
              </a:rPr>
              <a:t>Нереляционные</a:t>
            </a:r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 базы данных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подходят для видов и структур данных, отличающихся от таблиц. Они более масштабируемы, чем SQL, и способны справляться с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бОльшими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объёмами данных. В зависимости от поддерживаемого формата данных, репозитории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NoSQL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могут быть: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основанными на документах для файлов JSON и имеющих схожую с JSON структуру (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MongoDB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Amazon Document DB и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Elasticsearch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хранилищем данных «ключ-значение», представляющим каждый элемент данных как пару имени или ключа атрибута (гендер, цвет, цена и так далее) и его значения (мужчина, красный $100 и так далее). Самые популярные примеры этого типа —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Redis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Amazon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DynamoDB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столбчатые, упорядочивающие данные в виде наборов столбцов, а не хранящие их в строках, как в SQL-базах данных. Хорошо известными столбчатыми технологиями являются Apache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HBase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Apache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Cassandra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принадлежащие к экосистеме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big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Hadoop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графовыми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предназначенными для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графовых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структур, где примеры данных соединены при помощи определённых связей, как в Neo4J, Amazon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Neptune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и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OrientDB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.</a:t>
            </a:r>
          </a:p>
          <a:p>
            <a:endParaRPr lang="ru-RU" dirty="0"/>
          </a:p>
          <a:p>
            <a:pPr algn="l"/>
            <a:endParaRPr lang="ru-RU" b="0" i="0" dirty="0">
              <a:solidFill>
                <a:srgbClr val="DDDDDD"/>
              </a:solidFill>
              <a:effectLst/>
              <a:latin typeface="Fira Sans" panose="020B0503050000020004" pitchFamily="34" charset="0"/>
            </a:endParaRPr>
          </a:p>
          <a:p>
            <a:pPr algn="l"/>
            <a:endParaRPr lang="ru-RU" b="0" i="0" dirty="0">
              <a:solidFill>
                <a:srgbClr val="DDDDDD"/>
              </a:solidFill>
              <a:effectLst/>
              <a:latin typeface="Fira Sans" panose="020B0503050000020004" pitchFamily="34" charset="0"/>
            </a:endParaRPr>
          </a:p>
          <a:p>
            <a:pPr algn="l"/>
            <a:r>
              <a:rPr lang="ru-RU" b="0" i="0" dirty="0">
                <a:solidFill>
                  <a:srgbClr val="DDDDDD"/>
                </a:solidFill>
                <a:effectLst/>
                <a:latin typeface="Fira Sans" panose="020B0503050000020004" pitchFamily="34" charset="0"/>
              </a:rPr>
              <a:t>Хранилища/витрины/озёра данных</a:t>
            </a:r>
          </a:p>
          <a:p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С ростом объёмов и разнообразия данных бизнес сталкивается с потребностью в централизованном месте для сбора и хранения информации. Такой единый репозиторий позволяет компаниям избегать обособленных баз данных, помогает консолидировать контент и делает его доступным различным специалистам организации. Существует две отличающиеся, возможно, даже противоположные архитектуры хранения больших датасетов — хранилище и озеро данных.</a:t>
            </a:r>
          </a:p>
          <a:p>
            <a:endParaRPr lang="ru-RU" b="0" i="0" dirty="0">
              <a:solidFill>
                <a:srgbClr val="DDDDDD"/>
              </a:solidFill>
              <a:effectLst/>
              <a:latin typeface="-apple-system"/>
            </a:endParaRPr>
          </a:p>
          <a:p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Хранилище данных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(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warehouse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DW) — это, по сути, большая реляционная база данных, содержащая структурированные (а иногда слабоструктурированные) данные из всех отделов и служащая в качестве единственного источника истины для всей компании. Для извлечения информации из различных источников и упорядочивания её в единый формат DW используют процесс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Extract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Transform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Load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(ETL), подготавливая её для аналитики данных и BI.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Более мелкие и простые сегменты DW, предназначенные для одного направления или отдела бизнеса называются </a:t>
            </a:r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витринами данных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(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mart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). Они позволяют командам быстрее получать доступ к конкретным данным и анализировать их.</a:t>
            </a:r>
            <a:br>
              <a:rPr lang="ru-RU" dirty="0"/>
            </a:br>
            <a:br>
              <a:rPr lang="ru-RU" dirty="0"/>
            </a:br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Озеро данных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(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lake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) содержит сырые данные вне зависимости от их структурированности. Эта архитектура подходит в ситуациях, когда организация собирает много информации, но пока не решила, что с ней делать. В отличие от DW, где обычно используется ETL, озёра данных работают с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Extract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Load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DDDDDD"/>
                </a:solidFill>
                <a:effectLst/>
                <a:latin typeface="-apple-system"/>
              </a:rPr>
              <a:t>Transform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 (ELT) — процессом, обеспечивающим быстрое потребление данных, но не готовящим их для применения в бизнесе.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Относительно новая архитектура под названием </a:t>
            </a:r>
            <a:r>
              <a:rPr lang="ru-RU" b="0" i="1" dirty="0" err="1">
                <a:solidFill>
                  <a:srgbClr val="DDDDDD"/>
                </a:solidFill>
                <a:effectLst/>
                <a:latin typeface="-apple-system"/>
              </a:rPr>
              <a:t>data</a:t>
            </a:r>
            <a:r>
              <a:rPr lang="ru-RU" b="0" i="1" dirty="0">
                <a:solidFill>
                  <a:srgbClr val="DDDDDD"/>
                </a:solidFill>
                <a:effectLst/>
                <a:latin typeface="-apple-system"/>
              </a:rPr>
              <a:t> </a:t>
            </a:r>
            <a:r>
              <a:rPr lang="ru-RU" b="0" i="1" dirty="0" err="1">
                <a:solidFill>
                  <a:srgbClr val="DDDDDD"/>
                </a:solidFill>
                <a:effectLst/>
                <a:latin typeface="-apple-system"/>
              </a:rPr>
              <a:t>lakehouse</a:t>
            </a:r>
            <a:r>
              <a:rPr lang="ru-RU" b="0" i="0" dirty="0">
                <a:solidFill>
                  <a:srgbClr val="DDDDDD"/>
                </a:solidFill>
                <a:effectLst/>
                <a:latin typeface="-apple-system"/>
              </a:rPr>
              <a:t> — это нечто среднее между хранилищами и озёрами, она объединяет преимущества обоих этих подходов.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868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YS Text"/>
              </a:rPr>
              <a:t>Оперативная обработка транзакций (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) — это управление данными о транзакциях с помощью компьютерных систем. Системы 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 записывают операции обмена данными в организации, выполняющиеся каждый день, и поддерживают запрашивание этих данных, чтобы на их основе делать выводы. Транзакционные данные. Данные о транзакциях — это сведения, полученные в результате отслеживания взаимодействий, связанных с деятельностью организации.</a:t>
            </a:r>
          </a:p>
          <a:p>
            <a:endParaRPr lang="ru-RU" b="0" i="0" dirty="0">
              <a:effectLst/>
              <a:latin typeface="YS Text"/>
            </a:endParaRPr>
          </a:p>
          <a:p>
            <a:r>
              <a:rPr lang="ru-RU" b="0" i="0" dirty="0">
                <a:effectLst/>
                <a:latin typeface="YS Text"/>
              </a:rPr>
              <a:t>Для них хорошо подходят сильно нормализованные модели данных. Типичными примерами OLTP-приложений являются системы складского учета, системы заказов билетов, банковские системы, выполняющие операции по переводу денег, и т.п. Основная функция подобных систем заключается в выполнении большого количества коротких транзакций.</a:t>
            </a:r>
          </a:p>
          <a:p>
            <a:endParaRPr lang="ru-RU" b="0" i="0" dirty="0">
              <a:effectLst/>
              <a:latin typeface="YS Text"/>
            </a:endParaRPr>
          </a:p>
          <a:p>
            <a:endParaRPr lang="ru-RU" b="0" i="0" dirty="0">
              <a:effectLst/>
              <a:latin typeface="YS Tex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8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effectLst/>
                <a:latin typeface="YS Text"/>
              </a:rPr>
              <a:t>Ключевыми целями приложений 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 являются доступность, скорость, параллелизм и восстанавливаемость (долговечность). Сокращение бумажных трат и более быстрый и точный прогноз доходов и расходов - оба являются примерами того, как 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 упрощает работу бизнеса. Однако, как и многие современные онлайн-решения в области информационных технологий, некоторые </a:t>
            </a:r>
            <a:r>
              <a:rPr lang="ru-RU" b="1" i="0" dirty="0">
                <a:effectLst/>
                <a:latin typeface="YS Text"/>
              </a:rPr>
              <a:t>системы</a:t>
            </a:r>
            <a:r>
              <a:rPr lang="ru-RU" b="0" i="0" dirty="0">
                <a:effectLst/>
                <a:latin typeface="YS Text"/>
              </a:rPr>
              <a:t> требуют автономного обслуживания, что дополнительно влияет на анализ затрат и выгод онлайн-</a:t>
            </a:r>
            <a:r>
              <a:rPr lang="ru-RU" b="1" i="0" dirty="0">
                <a:effectLst/>
                <a:latin typeface="YS Text"/>
              </a:rPr>
              <a:t>системы</a:t>
            </a:r>
            <a:r>
              <a:rPr lang="ru-RU" b="0" i="0" dirty="0">
                <a:effectLst/>
                <a:latin typeface="YS Text"/>
              </a:rPr>
              <a:t> обработки транзакций.</a:t>
            </a:r>
            <a:endParaRPr lang="ru-RU" dirty="0"/>
          </a:p>
          <a:p>
            <a:endParaRPr lang="ru-RU" dirty="0"/>
          </a:p>
          <a:p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 означает Обработка транзакций онлайн. Это система управления </a:t>
            </a:r>
            <a:r>
              <a:rPr lang="ru-RU" b="1" i="0" dirty="0">
                <a:effectLst/>
                <a:latin typeface="YS Text"/>
              </a:rPr>
              <a:t>базами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b="1" i="0" dirty="0">
                <a:effectLst/>
                <a:latin typeface="YS Text"/>
              </a:rPr>
              <a:t>данных</a:t>
            </a:r>
            <a:r>
              <a:rPr lang="ru-RU" b="0" i="0" dirty="0">
                <a:effectLst/>
                <a:latin typeface="YS Text"/>
              </a:rPr>
              <a:t>, которая используется для транзакционных систем. </a:t>
            </a:r>
            <a:r>
              <a:rPr lang="ru-RU" b="1" i="0" dirty="0">
                <a:effectLst/>
                <a:latin typeface="YS Text"/>
              </a:rPr>
              <a:t>Базы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b="1" i="0" dirty="0">
                <a:effectLst/>
                <a:latin typeface="YS Text"/>
              </a:rPr>
              <a:t>данных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 предназначены для записи и управления ежедневными транзакциями в режиме реального времени. В системах, где быстрый доступ к </a:t>
            </a:r>
            <a:r>
              <a:rPr lang="ru-RU" b="1" i="0" dirty="0">
                <a:effectLst/>
                <a:latin typeface="YS Text"/>
              </a:rPr>
              <a:t>данным</a:t>
            </a:r>
            <a:r>
              <a:rPr lang="ru-RU" b="0" i="0" dirty="0">
                <a:effectLst/>
                <a:latin typeface="YS Text"/>
              </a:rPr>
              <a:t> и их извлечение имеют решающее значение, </a:t>
            </a:r>
            <a:r>
              <a:rPr lang="ru-RU" b="1" i="0" dirty="0">
                <a:effectLst/>
                <a:latin typeface="YS Text"/>
              </a:rPr>
              <a:t>OLTP</a:t>
            </a:r>
            <a:r>
              <a:rPr lang="ru-RU" b="0" i="0" dirty="0">
                <a:effectLst/>
                <a:latin typeface="YS Text"/>
              </a:rPr>
              <a:t>-системы превосходны, поскольку они оптимизированы для высокоскоростной обработки транзакций.</a:t>
            </a:r>
            <a:endParaRPr lang="en-US" b="0" i="0" dirty="0">
              <a:effectLst/>
              <a:latin typeface="YS Text"/>
            </a:endParaRPr>
          </a:p>
          <a:p>
            <a:endParaRPr lang="en-US" b="0" i="0" dirty="0">
              <a:effectLst/>
              <a:latin typeface="YS Text"/>
            </a:endParaRPr>
          </a:p>
          <a:p>
            <a:r>
              <a:rPr lang="ru-RU" b="0" i="0" dirty="0">
                <a:effectLst/>
                <a:latin typeface="YS Text"/>
              </a:rPr>
              <a:t>OLAP (Online </a:t>
            </a:r>
            <a:r>
              <a:rPr lang="ru-RU" b="0" i="0" dirty="0" err="1">
                <a:effectLst/>
                <a:latin typeface="YS Text"/>
              </a:rPr>
              <a:t>Analytical</a:t>
            </a:r>
            <a:r>
              <a:rPr lang="ru-RU" b="0" i="0" dirty="0">
                <a:effectLst/>
                <a:latin typeface="YS Text"/>
              </a:rPr>
              <a:t> Processing)- это </a:t>
            </a:r>
            <a:r>
              <a:rPr lang="ru-RU" b="1" i="0" dirty="0">
                <a:effectLst/>
                <a:latin typeface="YS Text"/>
              </a:rPr>
              <a:t>система аналитической обработки данных</a:t>
            </a:r>
            <a:r>
              <a:rPr lang="ru-RU" b="0" i="0" dirty="0">
                <a:effectLst/>
                <a:latin typeface="YS Text"/>
              </a:rPr>
              <a:t>. Она предназначена для подготовки отчетов, построения прогностических сценариев и выполнения статистических расчетов на базе больших информационных массивов, имеющих сложную структуру.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888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ETL: </a:t>
            </a:r>
          </a:p>
          <a:p>
            <a:r>
              <a:rPr lang="ru-RU" dirty="0"/>
              <a:t>Ø извлечение данных из внешних источников </a:t>
            </a:r>
          </a:p>
          <a:p>
            <a:r>
              <a:rPr lang="ru-RU" dirty="0"/>
              <a:t>Ø трансформация и очистка данных, чтобы они соответствовали потребностям бизнес-модели </a:t>
            </a:r>
          </a:p>
          <a:p>
            <a:r>
              <a:rPr lang="ru-RU" dirty="0"/>
              <a:t>Ø загрузка данных в хранилище </a:t>
            </a:r>
          </a:p>
          <a:p>
            <a:endParaRPr lang="ru-RU" dirty="0"/>
          </a:p>
          <a:p>
            <a:r>
              <a:rPr lang="ru-RU" dirty="0"/>
              <a:t>Хранилище данных </a:t>
            </a:r>
          </a:p>
          <a:p>
            <a:r>
              <a:rPr lang="ru-RU" dirty="0"/>
              <a:t>Ø источник данных </a:t>
            </a:r>
          </a:p>
          <a:p>
            <a:r>
              <a:rPr lang="ru-RU" dirty="0"/>
              <a:t>Ø промежуточная область </a:t>
            </a:r>
          </a:p>
          <a:p>
            <a:r>
              <a:rPr lang="ru-RU" dirty="0"/>
              <a:t>Ø получатель данных </a:t>
            </a:r>
          </a:p>
          <a:p>
            <a:endParaRPr lang="ru-RU" dirty="0"/>
          </a:p>
          <a:p>
            <a:r>
              <a:rPr lang="ru-RU" dirty="0"/>
              <a:t>Поток данных – перемещение данных от источника к получателю</a:t>
            </a:r>
          </a:p>
          <a:p>
            <a:endParaRPr lang="ru-RU" dirty="0"/>
          </a:p>
          <a:p>
            <a:r>
              <a:rPr lang="ru-RU" dirty="0"/>
              <a:t>Загрузка данных </a:t>
            </a:r>
          </a:p>
          <a:p>
            <a:r>
              <a:rPr lang="ru-RU" dirty="0"/>
              <a:t>Ø поток добавления </a:t>
            </a:r>
          </a:p>
          <a:p>
            <a:r>
              <a:rPr lang="ru-RU" dirty="0"/>
              <a:t>Ø поток обновления (дополнения)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209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Ø Параметры полей </a:t>
            </a:r>
            <a:endParaRPr lang="en-US" dirty="0"/>
          </a:p>
          <a:p>
            <a:r>
              <a:rPr lang="ru-RU" dirty="0"/>
              <a:t>Ø Квантование </a:t>
            </a:r>
            <a:endParaRPr lang="en-US" dirty="0"/>
          </a:p>
          <a:p>
            <a:r>
              <a:rPr lang="ru-RU" dirty="0"/>
              <a:t>Ø Фильтр строк </a:t>
            </a:r>
            <a:endParaRPr lang="en-US" dirty="0"/>
          </a:p>
          <a:p>
            <a:r>
              <a:rPr lang="ru-RU" dirty="0"/>
              <a:t>Ø Сортировка </a:t>
            </a:r>
            <a:endParaRPr lang="en-US" dirty="0"/>
          </a:p>
          <a:p>
            <a:r>
              <a:rPr lang="ru-RU" dirty="0"/>
              <a:t>Ø Обогащение данных </a:t>
            </a:r>
            <a:endParaRPr lang="en-US" dirty="0"/>
          </a:p>
          <a:p>
            <a:r>
              <a:rPr lang="ru-RU" dirty="0"/>
              <a:t>Ø Табличная подстановка значений </a:t>
            </a:r>
            <a:endParaRPr lang="en-US" dirty="0"/>
          </a:p>
          <a:p>
            <a:r>
              <a:rPr lang="ru-RU" dirty="0"/>
              <a:t>Ø Группировка </a:t>
            </a:r>
            <a:endParaRPr lang="en-US" dirty="0"/>
          </a:p>
          <a:p>
            <a:r>
              <a:rPr lang="ru-RU" dirty="0"/>
              <a:t>Ø Вычисляемые значения </a:t>
            </a:r>
            <a:endParaRPr lang="en-US" dirty="0"/>
          </a:p>
          <a:p>
            <a:r>
              <a:rPr lang="ru-RU" dirty="0"/>
              <a:t>Ø Преобразование упорядоченных данных </a:t>
            </a:r>
            <a:endParaRPr lang="en-US" dirty="0"/>
          </a:p>
          <a:p>
            <a:r>
              <a:rPr lang="ru-RU" dirty="0"/>
              <a:t>Ø Транспонирование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870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Flume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распределенная служба для эффективного сбора, агрегирования и перемещения больших объемов данных, особенно лог-файлов, в централизованное хранилище.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Специализация на логах: Оптимизирован для сбора и передачи логов из множества источников.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Надежность: Обеспечивает гарантированную доставку данных с возможностью резервирования.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Простота архитектуры: Состоит из источников (Source), каналов (Channel) и приемников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Sink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), что облегчает конфигурацию.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Масштабируемость: Легко масштабируется путем добавления дополнительных агентов.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Интеграция с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Часто используется для передачи данных в HDFS или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HBase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Сбор и агрегация лог-файлов.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Передача больших объемов событийных данных в системы хранения и обработки.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64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NiFi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система для автоматизации потоков данных между системами. Она обеспечивает высокоуровневый веб-интерфейс для создания, мониторинга и управления потоками данных в режиме реального времени.</a:t>
            </a:r>
          </a:p>
          <a:p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Визуальное программирование: Создание потоков данных с помощью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drag-and-drop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интерфейса без необходимости писать код.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Обработка в реальном времени: Поддерживает обработку и передачу данных с низкой задержкой.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Богатый набор процессоров: Содержит множество готовых компонентов для подключения к различным источникам и приемникам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Отслеживание происхождения данных: Полноценная функция отслеживания пути данных для аудита и отладки.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Гибкость потоков: Возможность динамического изменения конфигурации потоков без остановки системы.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Безопасность: Поддержка контроля доступа, шифрования данных и аутентификации.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Интеграция разнородных систем.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Маршрутизация и трансформация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Управление потоками данных в режиме реального времени.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45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Airflow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платформа для программного создания, планирования и мониторинга рабочих потоков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workflows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). Она позволяет определять задачи и их зависимости в виде направленного ацикличного графа (DAG).</a:t>
            </a:r>
          </a:p>
          <a:p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</a:p>
          <a:p>
            <a:pPr marL="628639" lvl="1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Программируемость: Рабочие процессы определяются с помощью Python, что дает гибкость и возможность использовать логические конструкции языка.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Расширяемость: Легко интегрируется с различными системами через операторы и сенсоры.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Планирование: Поддерживает сложное планирование задач по расписанию или на основе событий.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Мониторинг и управление: Предоставляет веб-интерфейс для отслеживания выполнения задач, их статуса и журналов.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Масштабируемость: Может работать в распределенной среде, поддерживает параллельное выполнение задач.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</a:t>
            </a:r>
          </a:p>
          <a:p>
            <a:pPr marL="457189" lvl="1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Оркестрация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ETL-процессов.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Автоматизация и управление сложными рабочими процессами.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Планирование периодических задач.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014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Kafka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распределенная стриминговая платформа, предназначенная для построения потоков данных и приложений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работающих в реальном времени.</a:t>
            </a:r>
          </a:p>
          <a:p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Высокая пропускная способность: Способна обрабатывать миллионы сообщений в секунду с низкой задержкой.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сообщений: Данные сохраняются на дисках, что позволяет повторное считывание сообщений.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Модель публикации-подписки: Производители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producers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публикуют сообщения, а потребители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consumers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на них подписываются.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Масштабируемость: Горизонтально масштабируется через распределение нагрузки по кластерам.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Надежность: Поддерживает репликацию данных для обеспечения отказоустойчивости.</a:t>
            </a:r>
          </a:p>
          <a:p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Экосистема: Имеет обширную экосистему, включая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Kafka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Streams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для потоковой обработки 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Kafka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Connect для интеграции с внешними системами.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Реализация очередей сообщений.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Построение систем обработки данных в реальном времени.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Сбор и обработка метрик и логов.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Построение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микросервисной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архитектуры.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860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Выбор инструментов в зависимости от задач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Если требуется управлять сложными зависимостями задач и планировать их выполнение, то 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Airflow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будет оптимальным выбором.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Для визуального создания и управления потоками данных, особенно при необходимости быстро менять конфигурацию, подойдет 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NiFi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При необходимости сбора и передачи больших объемов логов в централизованное хранилище целесообразно использовать 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Flume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Если нужно обеспечить высокопроизводительную передачу и обработку потоковых данных в реальном времени, то следует выбрать 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Kafka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649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HDFS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Distributed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File System):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Распределенная файловая система, разработанная для запуска на стандартном аппаратном обеспечении.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Обеспечивает высокую пропускную способность доступа к данным.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Реплицирует данные между узлами для обеспечения отказоустойчивости.</a:t>
            </a:r>
            <a:br>
              <a:rPr lang="ru-RU" dirty="0"/>
            </a:br>
            <a:br>
              <a:rPr lang="ru-RU" dirty="0"/>
            </a:b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Программная модель и платформа для обработки больших объемов данных параллельно на кластере.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Состоит из двух этапов: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(отображение) 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(сокращение), что позволяет обрабатывать данные в распределенной среде.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YARN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Yet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Another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Resource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Negotiator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Система управления ресурсами в кластерах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Позволяет различным фреймворкам (например, Spark,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Flink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использовать ресурсы кластера.</a:t>
            </a:r>
          </a:p>
          <a:p>
            <a:pPr marL="0" indent="0"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Hive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система хранилища данных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warehouse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для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которая обеспечивает SQL-подобный язык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HiveQL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для получения и анализа данных, хранящихся в HDFS.</a:t>
            </a:r>
          </a:p>
          <a:p>
            <a:pPr marL="171450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SQL-подобный интерфейс: Позволяет аналитикам работать с большими данными, используя знакомый синтаксис SQL.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Интеграция с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Запросы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Hive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преобразуются в задания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Tez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или Spark для выполнения на кластере.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Расширяемость: Возможность определения пользовательских функций (UDF) на Java и Python.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Поддержка различных форматов данных: Текстовые файлы,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SequenceFiles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RCFiles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ORC,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Parquet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 другие.</a:t>
            </a: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Бизнес-аналитика на больших наборах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Создание отчетов 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дашбордов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и управление структурированными данными в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r>
              <a:rPr lang="ru-RU" b="1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1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Pig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платформа для анализа больших наборов данных, которая предоставляет высокий уровень абстракции благодаря использованию собственного языка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Pig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Latin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Язык высокого уровня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Pig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Latin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): Упрощает написание сложных процессов обработки данных по сравнению с Java для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Легкость обучения: Интуитивно понятный синтаксис для разработчиков и аналитиков.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Расширяемость: Поддержка пользовательских функций для сложных операций.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Интеграция с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Pig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Latin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скрипты преобразуются в задания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для выполнения на кластере.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Предобработка данных для последующего анализа.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Трансформация и очистка больших объемов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Быстрое прототипирование аналитических задач.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ZooKeeper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централизованная служба для обеспечения координации и управления конфигурацией в распределенных системах.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Иерархическая файловая система: Данные хранятся в виде дерева, что облегчает доступ и управление.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Высокая производительность: Обеспечивает быстрое чтение и запись данных.</a:t>
            </a:r>
          </a:p>
          <a:p>
            <a:pPr marL="171450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Отказоустойчивость: Использует репликацию для обеспечения доступности данных при сбоях узлов</a:t>
            </a:r>
          </a:p>
          <a:p>
            <a:pPr marL="171450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Примитивы синхронизации: Предоставляет базовые механизмы для реализации сложных координационных задач.</a:t>
            </a: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Управление конфигурацией распределенных приложений.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Координация и синхронизация сервисов.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Реализация распределенных блокировок и выбор лидера.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Обнаружение сервисов в кластерах.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Cassandra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распределенная база данных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NoSQL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предназначенная для обработки больших объемов данных, обеспечивая высокую доступность без единичных точек отказа.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Масштабируемость: Горизонтальное масштабирование путем добавления новых узлов без простоев.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Высокая доступность: Репликация данных между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датацентрами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 узлами.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Модель данных на основе колонок: Гибкая схема позволяет хранить неструктурированные данные.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Настраиваемая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консистентность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Возможность балансировать между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консистентностью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 доступностью в зависимости от требований приложения.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Приложения, требующие высокой производительности записи.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данных в реальном времени (временные ряды, журналы событий).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Геораспределенные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приложения с необходимостью репликации данных между регионами.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Интернет вещей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IoT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), социальные сети, платежные системы.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Spark — это высокопроизводительный кластерный вычислительный фреймворк для обработки больших объемов данных как в оперативной памяти, так и на диске.</a:t>
            </a: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Аналитика больших данных в режиме реального времени и пакетная обработка.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Реализация алгоритмов машинного обучения на больших наборах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Обработка потоковых данных (Spark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Streaming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Structured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Streaming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Интерактивный анализ данных.</a:t>
            </a:r>
          </a:p>
          <a:p>
            <a:pPr marL="0" indent="0">
              <a:buFontTx/>
              <a:buNone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HBase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распределенная, масштабируемая,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колонко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-ориентированная база данных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NoSQL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построенная поверх HDFS.</a:t>
            </a:r>
          </a:p>
          <a:p>
            <a:pPr marL="171450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Хранение больших таблиц: Способность хранить миллиарды строк и миллионы колонок.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Быстрый доступ к данным: Оптимизирован для случайного чтения и записи в режиме реального времени.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Гибкая модель данных: Поддержка данных без фиксированной схемы.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Интеграция с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Возможность использования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для обработки данных из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HBase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и доступ к большим объемам неструктурированных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Временные ряды, журналы событий, социальные сети.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Приложения, требующие быстрого доступа к данным в реальном времени.</a:t>
            </a:r>
          </a:p>
          <a:p>
            <a:pPr marL="171450" indent="-171450">
              <a:buFontTx/>
              <a:buChar char="-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Замена традиционных реляционных баз данных для определенных сценариев.</a:t>
            </a:r>
          </a:p>
          <a:p>
            <a:pPr marL="171450" indent="-171450">
              <a:buFontTx/>
              <a:buChar char="-"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Tx/>
              <a:buChar char="-"/>
            </a:pPr>
            <a:endParaRPr lang="ru-RU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Flink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— это платформа с открытым исходным кодом для обработки потоковых и пакетных данных с низкой задержкой.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Особенности: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Низкая задержка и высокая пропускная способность: Подходит для приложений, требующих быстроты реакции.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Семантика точно-однажды: Гарантирует, что каждое событие будет обработано ровно один раз.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Обработка событийного времени: Поддерживает сложные операции с учетом времени события, а не времени обработки.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Управление состоянием: Надежное сохранение состояния приложений, позволяющее восстанавливаться после сбоев.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Поддержка SQL и таблиц: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Flink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Table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API и SQL для декларативных запросов к потоковым и статическим данным.</a:t>
            </a:r>
          </a:p>
          <a:p>
            <a:pPr marL="0" indent="0">
              <a:buFontTx/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Применение: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Реализация приложений реального времени для аналитики и мониторинга.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Потоковая обработка данных в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IoT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-приложениях.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Машинное обучение на потоках данных.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Детектирование аномалий и событий.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013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HDFS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Distributed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File System) — это распределенная файловая система, разработанная для работы с большими объемами данных в кластерах стандартного аппаратного обеспечения. Она предоставляет надежное, масштабируемое и высокопроизводительное хранилище данных, которое является основой экосистемы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Архитектура "мастер-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слейв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HDFS построена по архитектуре "мастер-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слейв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 и состоит из двух основных типов узлов: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(узел-менеджер): Отвечает за управление файловой системой и метаданными.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(рабочие узлы): Отвечают за хранение и обслуживание фактических данных.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2. Разбиение данных на блоки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Блоки данных: Файлы в HDFS разбиваются на большие блоки фиксированного размера (по умолчанию 128 МБ или 256 МБ).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Репликация блоков: Каждый блок данных автоматически реплицируется на нескольких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для обеспечения отказоустойчивости (по умолчанию фактор репликации равен 3).</a:t>
            </a:r>
            <a:br>
              <a:rPr lang="ru-RU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метаданных: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хранит информацию о структуре файловой системы, такой как имена файлов и директорий, права доступа, сопоставление файлов с блоками и расположение блоков на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Управление доступом: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обрабатывает запросы клиентов на операции с файловой системой (создание, удаление, переименование файлов и директорий).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Отслеживание состояния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регулярно получает отчеты от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о состоянии блоков и узлов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Heartbeat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BlockReport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228600" indent="-228600">
              <a:buAutoNum type="arabicPeriod"/>
            </a:pP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2.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Хранение блоков данных: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хранят фактические блоки данных на локальной файловой системе.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Обслуживание запросов клиента: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непосредственно обслуживают запросы на чтение и запись данных от клиентов.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Отчеты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 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DataNode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периодически отправляют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NameNode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информацию о доступных блоках и своем состоянии.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dirty="0"/>
              <a:t>ChatGPT 4 | </a:t>
            </a:r>
            <a:r>
              <a:rPr lang="ru-RU" dirty="0" err="1"/>
              <a:t>Midjourney</a:t>
            </a:r>
            <a:r>
              <a:rPr lang="ru-RU" dirty="0"/>
              <a:t> | </a:t>
            </a:r>
            <a:r>
              <a:rPr lang="ru-RU" dirty="0" err="1"/>
              <a:t>Claude</a:t>
            </a:r>
            <a:r>
              <a:rPr lang="ru-RU" dirty="0"/>
              <a:t> | </a:t>
            </a:r>
            <a:r>
              <a:rPr lang="ru-RU" dirty="0" err="1"/>
              <a:t>Suno</a:t>
            </a:r>
            <a:r>
              <a:rPr lang="ru-RU" dirty="0"/>
              <a:t>: - </a:t>
            </a:r>
            <a:r>
              <a:rPr lang="ru-RU" b="1" dirty="0"/>
              <a:t>Балансировка нагрузки:</a:t>
            </a:r>
            <a:r>
              <a:rPr lang="ru-RU" dirty="0"/>
              <a:t> Параллельный доступ к разным </a:t>
            </a:r>
            <a:r>
              <a:rPr lang="ru-RU" dirty="0" err="1"/>
              <a:t>DataNode</a:t>
            </a:r>
            <a:r>
              <a:rPr lang="ru-RU" dirty="0"/>
              <a:t> распределяет нагрузку по кластеру.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—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Отказоустойчивость и надежность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1. Репликация блоков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Цель репликации:</a:t>
            </a:r>
            <a:r>
              <a:rPr lang="ru-RU" dirty="0"/>
              <a:t> Обеспечить доступность данных в случае отказа узлов.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Распределение реплик:</a:t>
            </a:r>
            <a:br>
              <a:rPr lang="ru-RU" dirty="0"/>
            </a:br>
            <a:r>
              <a:rPr lang="ru-RU" dirty="0"/>
              <a:t>- Реплики блоков размещаются на разных </a:t>
            </a:r>
            <a:r>
              <a:rPr lang="ru-RU" dirty="0" err="1"/>
              <a:t>DataNode</a:t>
            </a:r>
            <a:r>
              <a:rPr lang="ru-RU" dirty="0"/>
              <a:t> и, по возможности, в разных стойках для обеспечения устойчивости к отказам оборудования и сети.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2. Обнаружение и обработка ошибок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 err="1"/>
              <a:t>Heartbeat</a:t>
            </a:r>
            <a:r>
              <a:rPr lang="ru-RU" b="1" dirty="0"/>
              <a:t> и </a:t>
            </a:r>
            <a:r>
              <a:rPr lang="ru-RU" b="1" dirty="0" err="1"/>
              <a:t>BlockReport</a:t>
            </a:r>
            <a:r>
              <a:rPr lang="ru-RU" b="1" dirty="0"/>
              <a:t>:</a:t>
            </a:r>
            <a:br>
              <a:rPr lang="ru-RU" dirty="0"/>
            </a:br>
            <a:r>
              <a:rPr lang="ru-RU" dirty="0"/>
              <a:t>- </a:t>
            </a:r>
            <a:r>
              <a:rPr lang="ru-RU" dirty="0" err="1"/>
              <a:t>DataNode</a:t>
            </a:r>
            <a:r>
              <a:rPr lang="ru-RU" dirty="0"/>
              <a:t> периодически отправляют </a:t>
            </a:r>
            <a:r>
              <a:rPr lang="ru-RU" dirty="0" err="1"/>
              <a:t>Heartbeat</a:t>
            </a:r>
            <a:r>
              <a:rPr lang="ru-RU" dirty="0"/>
              <a:t>-сообщения </a:t>
            </a:r>
            <a:r>
              <a:rPr lang="ru-RU" dirty="0" err="1"/>
              <a:t>NameNode</a:t>
            </a:r>
            <a:r>
              <a:rPr lang="ru-RU" dirty="0"/>
              <a:t> для подтверждения своей работоспособности.</a:t>
            </a:r>
            <a:br>
              <a:rPr lang="ru-RU" dirty="0"/>
            </a:br>
            <a:r>
              <a:rPr lang="ru-RU" dirty="0"/>
              <a:t>- Отсутствие </a:t>
            </a:r>
            <a:r>
              <a:rPr lang="ru-RU" dirty="0" err="1"/>
              <a:t>Heartbeat</a:t>
            </a:r>
            <a:r>
              <a:rPr lang="ru-RU" dirty="0"/>
              <a:t> от </a:t>
            </a:r>
            <a:r>
              <a:rPr lang="ru-RU" dirty="0" err="1"/>
              <a:t>DataNode</a:t>
            </a:r>
            <a:r>
              <a:rPr lang="ru-RU" dirty="0"/>
              <a:t> в течение определенного времени рассматривается как сбой узла.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Перераспределение реплик:</a:t>
            </a:r>
            <a:br>
              <a:rPr lang="ru-RU" dirty="0"/>
            </a:br>
            <a:r>
              <a:rPr lang="ru-RU" dirty="0"/>
              <a:t>- При обнаружении недостающих реплик </a:t>
            </a:r>
            <a:r>
              <a:rPr lang="ru-RU" dirty="0" err="1"/>
              <a:t>NameNode</a:t>
            </a:r>
            <a:r>
              <a:rPr lang="ru-RU" dirty="0"/>
              <a:t> инициирует создание новых копий на других </a:t>
            </a:r>
            <a:r>
              <a:rPr lang="ru-RU" dirty="0" err="1"/>
              <a:t>DataNode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Балансировка данных:</a:t>
            </a:r>
            <a:br>
              <a:rPr lang="ru-RU" dirty="0"/>
            </a:br>
            <a:r>
              <a:rPr lang="ru-RU" dirty="0"/>
              <a:t>- HDFS автоматически балансирует данные по кластеру для оптимального использования места и ресурсов.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3. Защита </a:t>
            </a:r>
            <a:r>
              <a:rPr lang="ru-RU" b="1" dirty="0" err="1"/>
              <a:t>NameNode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Единичная точка отказа:</a:t>
            </a:r>
            <a:br>
              <a:rPr lang="ru-RU" dirty="0"/>
            </a:br>
            <a:r>
              <a:rPr lang="ru-RU" dirty="0"/>
              <a:t>- Первоначально </a:t>
            </a:r>
            <a:r>
              <a:rPr lang="ru-RU" dirty="0" err="1"/>
              <a:t>NameNode</a:t>
            </a:r>
            <a:r>
              <a:rPr lang="ru-RU" dirty="0"/>
              <a:t> был единичной точкой отказа в HDFS.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Резервирование </a:t>
            </a:r>
            <a:r>
              <a:rPr lang="ru-RU" b="1" dirty="0" err="1"/>
              <a:t>NameNode</a:t>
            </a:r>
            <a:r>
              <a:rPr lang="ru-RU" b="1" dirty="0"/>
              <a:t>:</a:t>
            </a:r>
            <a:br>
              <a:rPr lang="ru-RU" dirty="0"/>
            </a:br>
            <a:r>
              <a:rPr lang="ru-RU" dirty="0"/>
              <a:t>- В более современных версиях реализованы механизмы High </a:t>
            </a:r>
            <a:r>
              <a:rPr lang="ru-RU" dirty="0" err="1"/>
              <a:t>Availability</a:t>
            </a:r>
            <a:r>
              <a:rPr lang="ru-RU" dirty="0"/>
              <a:t> (HA) с использованием активного и пассивного </a:t>
            </a:r>
            <a:r>
              <a:rPr lang="ru-RU" dirty="0" err="1"/>
              <a:t>NameNode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- Журнал изменений файловой системы (</a:t>
            </a:r>
            <a:r>
              <a:rPr lang="ru-RU" dirty="0" err="1"/>
              <a:t>EditLog</a:t>
            </a:r>
            <a:r>
              <a:rPr lang="ru-RU" dirty="0"/>
              <a:t>) и снимки состояния (</a:t>
            </a:r>
            <a:r>
              <a:rPr lang="ru-RU" dirty="0" err="1"/>
              <a:t>FsImage</a:t>
            </a:r>
            <a:r>
              <a:rPr lang="ru-RU" dirty="0"/>
              <a:t>) синхронизируются между </a:t>
            </a:r>
            <a:r>
              <a:rPr lang="ru-RU" dirty="0" err="1"/>
              <a:t>NameNode</a:t>
            </a:r>
            <a:r>
              <a:rPr lang="ru-RU" dirty="0"/>
              <a:t> для обеспечения непрерывной работы.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—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Особенности HDFS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1. Оптимизация для масштабируемости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Большие блоки данных:</a:t>
            </a:r>
            <a:br>
              <a:rPr lang="ru-RU" dirty="0"/>
            </a:br>
            <a:r>
              <a:rPr lang="ru-RU" dirty="0"/>
              <a:t>- Увеличение размера блока снижает количество метаданных, которыми управляет </a:t>
            </a:r>
            <a:r>
              <a:rPr lang="ru-RU" dirty="0" err="1"/>
              <a:t>NameNode</a:t>
            </a:r>
            <a:r>
              <a:rPr lang="ru-RU" dirty="0"/>
              <a:t>, что повышает производительность и масштабируемость.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Производительность при последовательном доступе:</a:t>
            </a:r>
            <a:br>
              <a:rPr lang="ru-RU" dirty="0"/>
            </a:br>
            <a:r>
              <a:rPr lang="ru-RU" dirty="0"/>
              <a:t>- HDFS оптимизирован для последовательного чтения и записи больших файлов, а не для случайного доступа.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2. Архитектурные решения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Простота узлов:</a:t>
            </a:r>
            <a:br>
              <a:rPr lang="ru-RU" dirty="0"/>
            </a:br>
            <a:r>
              <a:rPr lang="ru-RU" dirty="0"/>
              <a:t>- </a:t>
            </a:r>
            <a:r>
              <a:rPr lang="ru-RU" dirty="0" err="1"/>
              <a:t>DataNode</a:t>
            </a:r>
            <a:r>
              <a:rPr lang="ru-RU" dirty="0"/>
              <a:t> выполняют простые операции по хранению и передаче данных, что позволяет использовать недорогое оборудование.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Разделение метаданных и данных:</a:t>
            </a:r>
            <a:br>
              <a:rPr lang="ru-RU" dirty="0"/>
            </a:br>
            <a:r>
              <a:rPr lang="ru-RU" dirty="0"/>
              <a:t>- </a:t>
            </a:r>
            <a:r>
              <a:rPr lang="ru-RU" dirty="0" err="1"/>
              <a:t>NameNode</a:t>
            </a:r>
            <a:r>
              <a:rPr lang="ru-RU" dirty="0"/>
              <a:t> управляет только метаданными, что позволяет ему эффективно работать в памяти и быстро реагировать на запросы.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3. Ограничения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Не рекомендуется для малых файлов:</a:t>
            </a:r>
            <a:br>
              <a:rPr lang="ru-RU" dirty="0"/>
            </a:br>
            <a:r>
              <a:rPr lang="ru-RU" dirty="0"/>
              <a:t>- Хранение большого количества мелких файлов приводит к перегрузке </a:t>
            </a:r>
            <a:r>
              <a:rPr lang="ru-RU" dirty="0" err="1"/>
              <a:t>NameNode</a:t>
            </a:r>
            <a:r>
              <a:rPr lang="ru-RU" dirty="0"/>
              <a:t> из-за роста объема метаданных.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Операции изменения файла:</a:t>
            </a:r>
            <a:br>
              <a:rPr lang="ru-RU" dirty="0"/>
            </a:br>
            <a:r>
              <a:rPr lang="ru-RU" dirty="0"/>
              <a:t>- HDFS не поддерживает произвольную модификацию файлов; данные можно только добавлять в конец файла.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—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Пример работы HDFS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Сценарий: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Компания собирает лог-файлы от миллионов пользователей ежедневно. Каждый лог-файл представляет собой большой объем данных, который необходимо хранить и анализировать.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Работа HDFS: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1. </a:t>
            </a:r>
            <a:r>
              <a:rPr lang="ru-RU" b="1" dirty="0"/>
              <a:t>Сбор данных:</a:t>
            </a:r>
            <a:br>
              <a:rPr lang="ru-RU" dirty="0"/>
            </a:br>
            <a:r>
              <a:rPr lang="ru-RU" dirty="0"/>
              <a:t>- Лог-файлы передаются в HDFS, где они разбиваются на блоки и распределяются по </a:t>
            </a:r>
            <a:r>
              <a:rPr lang="ru-RU" dirty="0" err="1"/>
              <a:t>DataNode</a:t>
            </a:r>
            <a:r>
              <a:rPr lang="ru-RU" dirty="0"/>
              <a:t> с репликацией.</a:t>
            </a:r>
            <a:br>
              <a:rPr lang="ru-RU" dirty="0"/>
            </a:br>
            <a:r>
              <a:rPr lang="ru-RU" dirty="0"/>
              <a:t>2. </a:t>
            </a:r>
            <a:r>
              <a:rPr lang="ru-RU" b="1" dirty="0"/>
              <a:t>Хранение:</a:t>
            </a:r>
            <a:br>
              <a:rPr lang="ru-RU" dirty="0"/>
            </a:br>
            <a:r>
              <a:rPr lang="ru-RU" dirty="0"/>
              <a:t>- Блоки лог-файлов надежно хранятся на разных узлах кластера.</a:t>
            </a:r>
            <a:br>
              <a:rPr lang="ru-RU" dirty="0"/>
            </a:br>
            <a:r>
              <a:rPr lang="ru-RU" dirty="0"/>
              <a:t>3. </a:t>
            </a:r>
            <a:r>
              <a:rPr lang="ru-RU" b="1" dirty="0"/>
              <a:t>Анализ:</a:t>
            </a:r>
            <a:br>
              <a:rPr lang="ru-RU" dirty="0"/>
            </a:br>
            <a:r>
              <a:rPr lang="ru-RU" dirty="0"/>
              <a:t>- Инструменты обработки (например, </a:t>
            </a:r>
            <a:r>
              <a:rPr lang="ru-RU" dirty="0" err="1"/>
              <a:t>MapReduce</a:t>
            </a:r>
            <a:r>
              <a:rPr lang="ru-RU" dirty="0"/>
              <a:t>, Spark) обращаются к данным, используя информацию от </a:t>
            </a:r>
            <a:r>
              <a:rPr lang="ru-RU" dirty="0" err="1"/>
              <a:t>NameNode</a:t>
            </a:r>
            <a:r>
              <a:rPr lang="ru-RU" dirty="0"/>
              <a:t>, и выполняют параллельную обработку данных на </a:t>
            </a:r>
            <a:r>
              <a:rPr lang="ru-RU" dirty="0" err="1"/>
              <a:t>DataNode</a:t>
            </a:r>
            <a:r>
              <a:rPr lang="ru-RU" dirty="0"/>
              <a:t>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—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▎</a:t>
            </a:r>
            <a:r>
              <a:rPr lang="ru-RU" b="1" dirty="0"/>
              <a:t>Заключение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HDFS предоставляет надежное и масштабируемое решение для хранения и обработки больших объемов данных. Основные принципы работы HDFS заключаются в распределении данных по кластерам, репликации для обеспечения отказоустойчивости и использовании архитектуры "мастер-</a:t>
            </a:r>
            <a:r>
              <a:rPr lang="ru-RU" dirty="0" err="1"/>
              <a:t>слейв</a:t>
            </a:r>
            <a:r>
              <a:rPr lang="ru-RU" dirty="0"/>
              <a:t>" для эффективного управления файловой системой.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Преимущества HDFS: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Масштабируемость:</a:t>
            </a:r>
            <a:r>
              <a:rPr lang="ru-RU" dirty="0"/>
              <a:t> Легко масштабируется путем добавления новых </a:t>
            </a:r>
            <a:r>
              <a:rPr lang="ru-RU" dirty="0" err="1"/>
              <a:t>DataNode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Отказоустойчивость:</a:t>
            </a:r>
            <a:r>
              <a:rPr lang="ru-RU" dirty="0"/>
              <a:t> Репликация данных обеспечивает высокую надежность хранения.</a:t>
            </a:r>
            <a:br>
              <a:rPr lang="ru-RU" dirty="0"/>
            </a:br>
            <a:r>
              <a:rPr lang="ru-RU" dirty="0"/>
              <a:t>- </a:t>
            </a:r>
            <a:r>
              <a:rPr lang="ru-RU" b="1" dirty="0"/>
              <a:t>Высокая пропускная способность:</a:t>
            </a:r>
            <a:r>
              <a:rPr lang="ru-RU" dirty="0"/>
              <a:t> Оптимизирован для последовательного доступа к большим данным.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Когда использовать HDFS:</a:t>
            </a:r>
            <a:br>
              <a:rPr lang="ru-RU" dirty="0"/>
            </a:br>
            <a:br>
              <a:rPr lang="ru-RU" dirty="0"/>
            </a:br>
            <a:r>
              <a:rPr lang="ru-RU" dirty="0"/>
              <a:t>- При необходимости хранения и обработки больших объемов данных.</a:t>
            </a:r>
            <a:br>
              <a:rPr lang="ru-RU" dirty="0"/>
            </a:br>
            <a:r>
              <a:rPr lang="ru-RU" dirty="0"/>
              <a:t>- Когда важна надежность и доступность данных в распределенной среде. 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     </a:t>
            </a:r>
            <a:r>
              <a:rPr lang="ru-RU" dirty="0"/>
              <a:t>- Для применения в аналитических задачах, требующих высокой пропускной способности.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Ограничения HDFS следует учитывать при разработке системы, чтобы максимально эффективно использовать возможности этой мощной распределенной файловой системы.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133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этой модели вычисления производятся над множествами входных пар "ключ-значение", и в результате каждого вычисления также производится некоторое множество результирующих пар "ключ-значение". </a:t>
            </a:r>
          </a:p>
          <a:p>
            <a:r>
              <a:rPr lang="ru-RU" dirty="0"/>
              <a:t>Для представления вычислений в среде </a:t>
            </a:r>
            <a:r>
              <a:rPr lang="ru-RU" dirty="0" err="1"/>
              <a:t>MapReduce</a:t>
            </a:r>
            <a:r>
              <a:rPr lang="ru-RU" dirty="0"/>
              <a:t> используются две основные функции: </a:t>
            </a:r>
            <a:r>
              <a:rPr lang="ru-RU" dirty="0" err="1"/>
              <a:t>Map</a:t>
            </a:r>
            <a:r>
              <a:rPr lang="ru-RU" dirty="0"/>
              <a:t> и </a:t>
            </a:r>
            <a:r>
              <a:rPr lang="ru-RU" dirty="0" err="1"/>
              <a:t>Reduce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Обе функции явно кодируются </a:t>
            </a:r>
            <a:r>
              <a:rPr lang="ru-RU" dirty="0" err="1"/>
              <a:t>разрабочиками</a:t>
            </a:r>
            <a:r>
              <a:rPr lang="ru-RU" dirty="0"/>
              <a:t> приложений в среде </a:t>
            </a:r>
            <a:r>
              <a:rPr lang="ru-RU" dirty="0" err="1"/>
              <a:t>MapReduce</a:t>
            </a:r>
            <a:r>
              <a:rPr lang="ru-RU" dirty="0"/>
              <a:t>. </a:t>
            </a:r>
          </a:p>
          <a:p>
            <a:r>
              <a:rPr lang="ru-RU" dirty="0"/>
              <a:t>Функция </a:t>
            </a:r>
            <a:r>
              <a:rPr lang="ru-RU" dirty="0" err="1"/>
              <a:t>Map</a:t>
            </a:r>
            <a:r>
              <a:rPr lang="ru-RU" dirty="0"/>
              <a:t> в цикле обрабатывает каждую пару из множества входных пар и производит множество промежуточных пар "ключ-значение". </a:t>
            </a:r>
          </a:p>
          <a:p>
            <a:endParaRPr lang="ru-RU" dirty="0"/>
          </a:p>
          <a:p>
            <a:r>
              <a:rPr lang="ru-RU" dirty="0"/>
              <a:t>Среда </a:t>
            </a:r>
            <a:r>
              <a:rPr lang="ru-RU" dirty="0" err="1"/>
              <a:t>MapReduce</a:t>
            </a:r>
            <a:r>
              <a:rPr lang="ru-RU" dirty="0"/>
              <a:t> </a:t>
            </a:r>
            <a:r>
              <a:rPr lang="ru-RU" dirty="0" err="1"/>
              <a:t>групирует</a:t>
            </a:r>
            <a:r>
              <a:rPr lang="ru-RU" dirty="0"/>
              <a:t> все промежуточные значения с одним и тем же ключом I и передает их функции </a:t>
            </a:r>
            <a:r>
              <a:rPr lang="ru-RU" dirty="0" err="1"/>
              <a:t>Reduce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dirty="0" err="1"/>
              <a:t>Reduce</a:t>
            </a:r>
            <a:r>
              <a:rPr lang="ru-RU" dirty="0"/>
              <a:t> получает значение ключа I и множество значений, связанных с этим ключом. </a:t>
            </a:r>
          </a:p>
          <a:p>
            <a:r>
              <a:rPr lang="ru-RU" dirty="0"/>
              <a:t>В типичных ситуациях каждая группа обрабатывается (в цикле) таким образом, что в результате одного вызова функции образуется не более одного результирующего значения.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348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30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Циклы </a:t>
            </a:r>
            <a:r>
              <a:rPr lang="en-US" dirty="0"/>
              <a:t>MapReduce </a:t>
            </a:r>
            <a:r>
              <a:rPr lang="ru-RU" dirty="0"/>
              <a:t>производятся между циклами чтения и записи на диск всех промежуточных вычислений что делает алгоритм очень «горячим» для использования жестких дисков. Каждая итерация </a:t>
            </a:r>
            <a:r>
              <a:rPr lang="en-US" dirty="0"/>
              <a:t>MapReduce </a:t>
            </a:r>
            <a:r>
              <a:rPr lang="ru-RU" dirty="0"/>
              <a:t>производится между чтением и записью в </a:t>
            </a:r>
            <a:r>
              <a:rPr lang="en-US" dirty="0"/>
              <a:t>HDFS</a:t>
            </a:r>
            <a:r>
              <a:rPr lang="ru-RU" dirty="0"/>
              <a:t>. Итераций </a:t>
            </a:r>
            <a:r>
              <a:rPr lang="en-US" dirty="0"/>
              <a:t>MapReduce </a:t>
            </a:r>
            <a:r>
              <a:rPr lang="ru-RU" dirty="0"/>
              <a:t>для решения конечной задачи может производиться несколько.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558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4454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Apache Spark — это открытый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open-source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) фреймворк для распределенной обработки больших данных, разработанный для ускорения вычислений и упрощения разработки приложений для анализа данных. Spark обеспечивает высокую производительность за счет использования распределенной памяти для обработки данных, что значительно ускоряет вычисления по сравнению с традиционными системами, такими как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Hadoop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MapReduce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2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effectLst/>
                <a:latin typeface="YS Text"/>
              </a:rPr>
              <a:t>Apache Spark</a:t>
            </a:r>
            <a:r>
              <a:rPr lang="ru-RU" b="0" i="0" dirty="0">
                <a:effectLst/>
                <a:latin typeface="YS Text"/>
              </a:rPr>
              <a:t> — это фреймворк с открытым исходным кодом для параллельной обработки и анализа слабоструктурированных данных в оперативной памяти.</a:t>
            </a:r>
            <a:r>
              <a:rPr lang="ru-RU" b="0" i="0" u="none" strike="noStrike" dirty="0">
                <a:effectLst/>
                <a:latin typeface="YS Text"/>
                <a:hlinkClick r:id="rId3" tooltip="netology.ru – Apache Spark: из open source в индустрию"/>
              </a:rPr>
              <a:t>1</a:t>
            </a:r>
            <a:endParaRPr lang="en-US" b="0" i="0" u="none" strike="noStrike" dirty="0">
              <a:effectLst/>
              <a:latin typeface="YS Text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0" dirty="0">
                <a:effectLst/>
                <a:latin typeface="YS Text"/>
              </a:rPr>
              <a:t>Используется</a:t>
            </a:r>
            <a:r>
              <a:rPr lang="ru-RU" b="0" i="0" dirty="0">
                <a:effectLst/>
                <a:latin typeface="YS Text"/>
              </a:rPr>
              <a:t> в работе с большими данными и машинным обучением специалистами разного профиля: аналитиками данных, дата-сайентистами и дата-инженерами.</a:t>
            </a:r>
          </a:p>
          <a:p>
            <a:pPr algn="l"/>
            <a:endParaRPr lang="ru-RU" b="0" i="0" dirty="0">
              <a:effectLst/>
              <a:latin typeface="YS Text"/>
            </a:endParaRPr>
          </a:p>
          <a:p>
            <a:pPr algn="l"/>
            <a:r>
              <a:rPr lang="ru-RU" b="1" i="0" dirty="0">
                <a:effectLst/>
                <a:latin typeface="YS Text"/>
              </a:rPr>
              <a:t>Основные особенности Apache Spark</a:t>
            </a:r>
            <a:endParaRPr lang="ru-RU" b="0" i="0" dirty="0"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Text"/>
              </a:rPr>
              <a:t>Обработка в памяти (</a:t>
            </a:r>
            <a:r>
              <a:rPr lang="ru-RU" b="1" i="0" dirty="0" err="1">
                <a:effectLst/>
                <a:latin typeface="YS Text"/>
              </a:rPr>
              <a:t>in-memory</a:t>
            </a:r>
            <a:r>
              <a:rPr lang="ru-RU" b="1" i="0" dirty="0">
                <a:effectLst/>
                <a:latin typeface="YS Text"/>
              </a:rPr>
              <a:t> </a:t>
            </a:r>
            <a:r>
              <a:rPr lang="ru-RU" b="1" i="0" dirty="0" err="1">
                <a:effectLst/>
                <a:latin typeface="YS Text"/>
              </a:rPr>
              <a:t>processing</a:t>
            </a:r>
            <a:r>
              <a:rPr lang="ru-RU" b="1" i="0" dirty="0">
                <a:effectLst/>
                <a:latin typeface="YS Text"/>
              </a:rPr>
              <a:t>)</a:t>
            </a:r>
            <a:r>
              <a:rPr lang="ru-RU" b="0" i="0" dirty="0">
                <a:effectLst/>
                <a:latin typeface="YS Text"/>
              </a:rPr>
              <a:t>. Обеспечивает гораздо большую скорость, чем загрузка и чтение данных с диска.</a:t>
            </a:r>
            <a:r>
              <a:rPr lang="ru-RU" b="0" i="0" u="none" strike="noStrike" dirty="0">
                <a:effectLst/>
                <a:latin typeface="YS Text"/>
                <a:hlinkClick r:id="rId4" tooltip="skillbox.ru – Apache Spark: что это за фреймворк и как он работает"/>
              </a:rPr>
              <a:t>2</a:t>
            </a:r>
            <a:endParaRPr lang="ru-RU" b="0" i="0" dirty="0"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Text"/>
              </a:rPr>
              <a:t>Ленивые вычисления</a:t>
            </a:r>
            <a:r>
              <a:rPr lang="ru-RU" b="0" i="0" dirty="0">
                <a:effectLst/>
                <a:latin typeface="YS Text"/>
              </a:rPr>
              <a:t>. Операции над данными проводятся только перед непосредственным использованием результатов этих операций.</a:t>
            </a:r>
            <a:r>
              <a:rPr lang="ru-RU" b="0" i="0" u="none" strike="noStrike" dirty="0">
                <a:effectLst/>
                <a:latin typeface="YS Text"/>
                <a:hlinkClick r:id="rId4" tooltip="skillbox.ru – Apache Spark: что это за фреймворк и как он работает"/>
              </a:rPr>
              <a:t>2</a:t>
            </a:r>
            <a:endParaRPr lang="ru-RU" b="0" i="0" dirty="0"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YS Text"/>
              </a:rPr>
              <a:t>Resilient</a:t>
            </a:r>
            <a:r>
              <a:rPr lang="ru-RU" b="1" i="0" dirty="0">
                <a:effectLst/>
                <a:latin typeface="YS Text"/>
              </a:rPr>
              <a:t> </a:t>
            </a:r>
            <a:r>
              <a:rPr lang="ru-RU" b="1" i="0" dirty="0" err="1">
                <a:effectLst/>
                <a:latin typeface="YS Text"/>
              </a:rPr>
              <a:t>distributed</a:t>
            </a:r>
            <a:r>
              <a:rPr lang="ru-RU" b="1" i="0" dirty="0">
                <a:effectLst/>
                <a:latin typeface="YS Text"/>
              </a:rPr>
              <a:t> </a:t>
            </a:r>
            <a:r>
              <a:rPr lang="ru-RU" b="1" i="0" dirty="0" err="1">
                <a:effectLst/>
                <a:latin typeface="YS Text"/>
              </a:rPr>
              <a:t>datasets</a:t>
            </a:r>
            <a:r>
              <a:rPr lang="ru-RU" b="1" i="0" dirty="0">
                <a:effectLst/>
                <a:latin typeface="YS Text"/>
              </a:rPr>
              <a:t> (RDD)</a:t>
            </a:r>
            <a:r>
              <a:rPr lang="ru-RU" b="0" i="0" dirty="0">
                <a:effectLst/>
                <a:latin typeface="YS Text"/>
              </a:rPr>
              <a:t>. Хранит датасеты и информацию о выполненных преобразованиях сразу на нескольких узлах кластерной сети. RDD позволяет Spark восстановить данные в случае сбоя и оптимизировать вычисления.</a:t>
            </a:r>
            <a:r>
              <a:rPr lang="ru-RU" b="0" i="0" u="none" strike="noStrike" dirty="0">
                <a:effectLst/>
                <a:latin typeface="YS Text"/>
                <a:hlinkClick r:id="rId4" tooltip="skillbox.ru – Apache Spark: что это за фреймворк и как он работает"/>
              </a:rPr>
              <a:t>2</a:t>
            </a:r>
            <a:endParaRPr lang="en-US" b="0" i="0" u="none" strike="noStrike" dirty="0"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YS Text"/>
            </a:endParaRPr>
          </a:p>
          <a:p>
            <a:pPr algn="l"/>
            <a:r>
              <a:rPr lang="ru-RU" b="1" i="0" dirty="0">
                <a:effectLst/>
                <a:latin typeface="YS Text"/>
              </a:rPr>
              <a:t>Фреймворк состоит из нескольких модулей</a:t>
            </a:r>
            <a:r>
              <a:rPr lang="ru-RU" b="0" i="0" dirty="0">
                <a:effectLst/>
                <a:latin typeface="YS Text"/>
              </a:rPr>
              <a:t>:</a:t>
            </a:r>
            <a:r>
              <a:rPr lang="ru-RU" b="0" i="0" u="none" strike="noStrike" dirty="0">
                <a:effectLst/>
                <a:latin typeface="YS Text"/>
                <a:hlinkClick r:id="rId4" tooltip="skillbox.ru – Apache Spark: что это за фреймворк и как он работает"/>
              </a:rPr>
              <a:t>2</a:t>
            </a:r>
            <a:endParaRPr lang="ru-RU" b="0" i="0" dirty="0"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Spark SQL: Работа с данными с использованием SQL-запросов.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Spark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Streaming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 Обработка потоковых данных в реальном времени.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MLlib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 Машинное обучение с использованием встроенной библиотеки алгоритмов.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GraphX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: Обработка и анализ графов.</a:t>
            </a: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Text"/>
              </a:rPr>
              <a:t>Apache Spark поддерживает четыре языка программирования</a:t>
            </a:r>
            <a:r>
              <a:rPr lang="ru-RU" b="0" i="0" dirty="0">
                <a:effectLst/>
                <a:latin typeface="YS Text"/>
              </a:rPr>
              <a:t>: Scala, Java, Python и R.</a:t>
            </a:r>
            <a:r>
              <a:rPr lang="ru-RU" b="0" i="0" u="none" strike="noStrike" dirty="0">
                <a:effectLst/>
                <a:latin typeface="YS Text"/>
                <a:hlinkClick r:id="rId3" tooltip="netology.ru – Apache Spark: из open source в индустрию"/>
              </a:rPr>
              <a:t>1</a:t>
            </a:r>
            <a:endParaRPr lang="ru-RU" b="0" i="0" dirty="0">
              <a:effectLst/>
              <a:latin typeface="YS Text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652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ELTL </a:t>
            </a:r>
            <a:r>
              <a:rPr lang="ru-RU" dirty="0"/>
              <a:t>конвейер обработки больших данных на базе продуктов </a:t>
            </a:r>
            <a:r>
              <a:rPr lang="en-US" dirty="0"/>
              <a:t>Apache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646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568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94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2445" y="212652"/>
            <a:ext cx="11216177" cy="21459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444" y="4433107"/>
            <a:ext cx="11216177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442" y="6034875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2443" y="5344889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9270527" y="5800781"/>
            <a:ext cx="2808092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61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4FFBC-5083-5772-781F-FA8FFDCA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33F82-3BB3-7EDF-7536-20AF304CA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10515600" cy="481818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AC38B-5A39-332A-B892-1C5B3FBB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A438C3-09F7-C37D-6E65-4491F577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83835-A57E-A742-987C-C776B6ED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905A05-7552-49FE-9E77-7F0D9D97E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8FF1D-6E2D-5C37-1EF9-3C33C8D4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582E55-3C82-8981-AD35-5BE1CAF7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C24C26-5FFB-10BC-7F6B-DD086C3D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785404-A40E-C6B4-B1AF-346CA253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EA0686-FE00-F77C-4961-0D4916B1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27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BFC52-ACF7-50D2-B236-F3AD0C76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D935F-6E1D-704A-FFD9-95880A32F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0233"/>
            <a:ext cx="5181600" cy="482672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5F5B83-C11F-C63E-19F8-F170305E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50233"/>
            <a:ext cx="5181600" cy="482673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558B0-F06F-5D3F-D4CE-12FEA6CA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A1470-A32E-0878-FF54-B467D373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D6CAE-E104-B509-30C5-5F816DC3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5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62FB2-61E9-B090-DDF5-637C0F11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13BEC1-5CE1-39A0-5F98-DF1F88A9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468AB7-7222-8D12-74BF-6E3FB9D6F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F43AB0-793E-04C0-7572-90E3AE8BD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145C1A-E56D-D9A4-49F4-0E7DE8CF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0FE84-A485-926E-EB2F-9B3A823D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DDA50C-CC20-F389-1487-E639ADD3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DB0A96-E301-1128-9118-CB1ADB6A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2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0D036-AD2A-1CBA-C6F3-7B457849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548B4E-17C4-CF0D-4E01-1DC835F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E4C0D2-8219-4FB3-36A6-B7D7FBAE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80AC24-E8CC-84DB-8B56-18C72FA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3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28864F-9629-DBDC-6AA3-5D97BFEF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DC655F-3247-CCB5-ACC2-F50126E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2E155-6080-BCFA-E59A-34FCD9CD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37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BC904-DE7E-1195-CDF6-0A530BBD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C21CB-E5B3-D11E-2E38-ECCD7B0B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E67837-24BE-30FB-FD14-64C3E801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F30326-BFB0-8F27-BDF9-353C631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8C1939-F636-863E-84C1-530A04A8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3206C-50B3-2EDC-8517-7704146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F850-BF2A-5E90-C014-05D89F84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D2E89-03E3-6279-B0B8-5B70A09C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8B8B21-B9FB-6209-49AE-287EA61C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AF0344-3C4D-162C-D2C6-3EC83808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31DDED-EC2F-5D31-C4FB-58BF1C1C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915E6D-61CA-F55A-221D-E7DDED9F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6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E7370-4728-F9E8-C914-18F0F1D5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39D510-D502-390D-92B5-3838FC4C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79971B-94C9-FEEC-4C09-AC621444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135BFA-5492-23C4-E6A2-1A5B50DB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740CD-9E9E-D419-05AF-685E0B4E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28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03B8D4-FFFB-51BC-0095-F6912432D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E6D829-078B-B5F1-ADE1-33C94626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E88C0-8BC2-47C8-E4DC-B700D95E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5BF16-D79D-ED36-0BF9-885AFC7F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666F3-33E7-6CB8-C181-1FE2342A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641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2445" y="212652"/>
            <a:ext cx="11216177" cy="2472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444" y="4433107"/>
            <a:ext cx="11216177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442" y="6034875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2443" y="5344889"/>
            <a:ext cx="11216177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9270527" y="5800781"/>
            <a:ext cx="2808092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08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619" y="212653"/>
            <a:ext cx="11185004" cy="11618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AB95B9-19B9-409F-B0C0-80242AEA1C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3619" y="1830183"/>
            <a:ext cx="11185004" cy="448786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46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лектор сле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94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в центр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4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справ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1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з лектор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36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8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F0DFB-F6BC-AF29-BE7E-4E3216FC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1"/>
            <a:ext cx="10515600" cy="1100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8C1FDE-157F-0CF9-6678-361FB41B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0235"/>
            <a:ext cx="10515600" cy="4826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FCC27C-378E-A92F-E57E-3D7AA4E23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90D05E-2ECB-3FE6-00DA-ABD9FD37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280FC2-FB5C-C830-013D-02D6917C4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5FB71-5E9C-41B5-9BB8-3F1EBEAEB16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DEDD01-40D1-3A00-9058-486237677F41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70792"/>
            <a:ext cx="64036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04" r:id="rId14"/>
    <p:sldLayoutId id="2147483699" r:id="rId15"/>
    <p:sldLayoutId id="2147483700" r:id="rId16"/>
    <p:sldLayoutId id="2147483702" r:id="rId17"/>
    <p:sldLayoutId id="214748369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urchenkov@mirea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qwerty29544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Yurchenkov@mirea.ru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qwerty2954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02A7036-67AC-4B6E-933D-0EBEFC2F1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Технологии и инструментарий анализа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4D1FC-3C2B-40AC-AC46-5ADB2B78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4000" dirty="0"/>
              <a:t>Юрченков Иван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920733-DC10-4100-9E5C-5EBB2D00A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Yurchenkov@mirea.ru</a:t>
            </a:r>
            <a:r>
              <a:rPr lang="en-US" dirty="0"/>
              <a:t>	</a:t>
            </a:r>
            <a:r>
              <a:rPr lang="en-US" dirty="0">
                <a:hlinkClick r:id="rId4"/>
              </a:rPr>
              <a:t>qwerty29544@gmail.com</a:t>
            </a:r>
            <a:r>
              <a:rPr lang="en-US" dirty="0"/>
              <a:t> 	</a:t>
            </a:r>
            <a:r>
              <a:rPr lang="en-US" dirty="0" err="1"/>
              <a:t>tg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@ivanyurchenkov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6B0D40-C816-44EC-A3D6-5CA90F8CE9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Старший преподаватель кафедры прикладной математики ИИТ</a:t>
            </a:r>
          </a:p>
        </p:txBody>
      </p:sp>
    </p:spTree>
    <p:extLst>
      <p:ext uri="{BB962C8B-B14F-4D97-AF65-F5344CB8AC3E}">
        <p14:creationId xmlns:p14="http://schemas.microsoft.com/office/powerpoint/2010/main" val="139117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B725C7C-1A33-D3B6-C8C0-BB5D3E01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1"/>
            <a:ext cx="10515600" cy="1256833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+mn-lt"/>
              </a:rPr>
              <a:t>Лекция №</a:t>
            </a:r>
            <a:r>
              <a:rPr lang="en-US" dirty="0">
                <a:latin typeface="+mn-lt"/>
              </a:rPr>
              <a:t>2</a:t>
            </a:r>
            <a:r>
              <a:rPr lang="ru-RU" dirty="0">
                <a:latin typeface="+mn-lt"/>
              </a:rPr>
              <a:t>. </a:t>
            </a:r>
            <a:r>
              <a:rPr lang="ru-RU" dirty="0"/>
              <a:t>Технологии обработки, хранения и анализа данных</a:t>
            </a:r>
            <a:endParaRPr lang="ru-RU" dirty="0">
              <a:latin typeface="+mn-lt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EF096E4-BC02-4F45-474B-72674D86E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624"/>
            <a:ext cx="10515600" cy="521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Основные вопросы:</a:t>
            </a:r>
          </a:p>
          <a:p>
            <a:pPr marL="742950" indent="-742950">
              <a:buAutoNum type="arabicPeriod"/>
            </a:pPr>
            <a:r>
              <a:rPr lang="ru-RU" dirty="0"/>
              <a:t>Классический конвейер обработки больших данных</a:t>
            </a:r>
          </a:p>
          <a:p>
            <a:pPr marL="742950" indent="-742950">
              <a:buFont typeface="Arial" panose="020B0604020202020204" pitchFamily="34" charset="0"/>
              <a:buAutoNum type="arabicPeriod"/>
            </a:pPr>
            <a:r>
              <a:rPr lang="en-US" dirty="0"/>
              <a:t>OLTP </a:t>
            </a:r>
            <a:r>
              <a:rPr lang="ru-RU" dirty="0"/>
              <a:t>и </a:t>
            </a:r>
            <a:r>
              <a:rPr lang="en-US" dirty="0"/>
              <a:t>OLAP </a:t>
            </a:r>
            <a:r>
              <a:rPr lang="ru-RU" dirty="0"/>
              <a:t>системы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/>
              <a:t>ETL </a:t>
            </a:r>
            <a:r>
              <a:rPr lang="ru-RU" dirty="0"/>
              <a:t>и </a:t>
            </a:r>
            <a:r>
              <a:rPr lang="en-US" dirty="0"/>
              <a:t>ELT </a:t>
            </a:r>
            <a:r>
              <a:rPr lang="ru-RU" dirty="0"/>
              <a:t>процессы</a:t>
            </a:r>
            <a:endParaRPr lang="en-US" dirty="0"/>
          </a:p>
          <a:p>
            <a:pPr marL="742950" indent="-742950">
              <a:buAutoNum type="arabicPeriod"/>
            </a:pPr>
            <a:r>
              <a:rPr lang="ru-RU" dirty="0"/>
              <a:t>Инструменты миграции данных</a:t>
            </a:r>
          </a:p>
          <a:p>
            <a:pPr marL="742950" indent="-742950">
              <a:buAutoNum type="arabicPeriod"/>
            </a:pPr>
            <a:r>
              <a:rPr lang="en-US" dirty="0"/>
              <a:t>ELTL </a:t>
            </a:r>
            <a:r>
              <a:rPr lang="ru-RU" dirty="0"/>
              <a:t>процесс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/>
              <a:t>Hadoop</a:t>
            </a:r>
            <a:endParaRPr lang="ru-RU" dirty="0"/>
          </a:p>
          <a:p>
            <a:pPr marL="742950" indent="-742950">
              <a:buAutoNum type="arabicPeriod"/>
            </a:pPr>
            <a:r>
              <a:rPr lang="en-US" dirty="0"/>
              <a:t>MapReduce</a:t>
            </a:r>
            <a:endParaRPr lang="ru-RU" dirty="0"/>
          </a:p>
          <a:p>
            <a:pPr marL="742950" indent="-742950">
              <a:buAutoNum type="arabicPeriod"/>
            </a:pPr>
            <a:r>
              <a:rPr lang="en-US" dirty="0"/>
              <a:t>Spark</a:t>
            </a:r>
          </a:p>
          <a:p>
            <a:pPr marL="742950" indent="-742950"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8E211-449D-C68C-8389-CD803EC9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52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889D6-1F12-B326-39A0-F9E27D3C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конвейер обработки данных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9112203-26BE-9C0F-079B-B1F252C9E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271042"/>
              </p:ext>
            </p:extLst>
          </p:nvPr>
        </p:nvGraphicFramePr>
        <p:xfrm>
          <a:off x="838199" y="1358900"/>
          <a:ext cx="10282882" cy="4818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7A23ED-8669-8BEF-23F9-798975CE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77EA2-B679-01C9-66E8-8C20701A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B4821-2A50-D804-14F3-B2054D6E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781"/>
            <a:ext cx="10515600" cy="926819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Причина сбора данных</a:t>
            </a:r>
            <a:r>
              <a:rPr lang="ru-RU" dirty="0"/>
              <a:t> – получение ответов на важные вопросы бизнеса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E6DF9-DC08-7394-D87D-29E89F24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4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7B43F5-4208-4408-1804-77E48BB5F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6" b="10322"/>
          <a:stretch/>
        </p:blipFill>
        <p:spPr bwMode="auto">
          <a:xfrm>
            <a:off x="1341216" y="2194319"/>
            <a:ext cx="9509567" cy="42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42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77EA2-B679-01C9-66E8-8C20701A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 и что собирать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E6DF9-DC08-7394-D87D-29E89F24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721216A-5EF7-DFF3-9983-64A457BE6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179221"/>
              </p:ext>
            </p:extLst>
          </p:nvPr>
        </p:nvGraphicFramePr>
        <p:xfrm>
          <a:off x="0" y="1060909"/>
          <a:ext cx="12192000" cy="535109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132156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66891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2531906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27049723"/>
                    </a:ext>
                  </a:extLst>
                </a:gridCol>
              </a:tblGrid>
              <a:tr h="5134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Структурированные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Неструктурированные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/>
                        <a:t>Полуструктурированные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02562"/>
                  </a:ext>
                </a:extLst>
              </a:tr>
              <a:tr h="7129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Форматы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Табличные данные из строк (записей) и столбцов (полей)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Сырой текст, изображения, аудио и видео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XML, JSON, CSV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44203"/>
                  </a:ext>
                </a:extLst>
              </a:tr>
              <a:tr h="6919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Модели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Реляционная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Иерархическая/</a:t>
                      </a:r>
                      <a:r>
                        <a:rPr lang="ru-RU" sz="1800" dirty="0" err="1"/>
                        <a:t>графовая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463649"/>
                  </a:ext>
                </a:extLst>
              </a:tr>
              <a:tr h="8031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Хранилища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РСУБД, хранилища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Файловые системы, озёра данных, облачные хранилища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NoSQL </a:t>
                      </a:r>
                      <a:r>
                        <a:rPr lang="ru-RU" sz="1800" dirty="0"/>
                        <a:t>базы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297881"/>
                  </a:ext>
                </a:extLst>
              </a:tr>
              <a:tr h="6796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Природа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Определена схема, предметная направленность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Нет схемы, природа непредсказуема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Существование слабой схемы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007656"/>
                  </a:ext>
                </a:extLst>
              </a:tr>
              <a:tr h="7290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Методы анализа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SQL </a:t>
                      </a:r>
                      <a:r>
                        <a:rPr lang="ru-RU" sz="1800" dirty="0"/>
                        <a:t>запросы, интеллектуальный анализ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NLP</a:t>
                      </a:r>
                      <a:r>
                        <a:rPr lang="ru-RU" sz="1800" dirty="0"/>
                        <a:t>, </a:t>
                      </a:r>
                      <a:r>
                        <a:rPr lang="en-US" sz="1800" dirty="0"/>
                        <a:t>CV, </a:t>
                      </a:r>
                      <a:r>
                        <a:rPr lang="ru-RU" sz="1800" dirty="0"/>
                        <a:t>анализ видео и аудио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Язык запросов, интеллектуальный анализ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276444"/>
                  </a:ext>
                </a:extLst>
              </a:tr>
              <a:tr h="9242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Используемые технологии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OLAP|OLTP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Hadoop|Spark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CouchBase|Redis|Cassandra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27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31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B750B-3D1E-96E6-D162-D2675439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и инструменты сбора данных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66D5E1B-B81C-DA02-B2EF-AB2BB4A82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617992"/>
              </p:ext>
            </p:extLst>
          </p:nvPr>
        </p:nvGraphicFramePr>
        <p:xfrm>
          <a:off x="150471" y="1041722"/>
          <a:ext cx="11945072" cy="5314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2536">
                  <a:extLst>
                    <a:ext uri="{9D8B030D-6E8A-4147-A177-3AD203B41FA5}">
                      <a16:colId xmlns:a16="http://schemas.microsoft.com/office/drawing/2014/main" val="3698164745"/>
                    </a:ext>
                  </a:extLst>
                </a:gridCol>
                <a:gridCol w="5972536">
                  <a:extLst>
                    <a:ext uri="{9D8B030D-6E8A-4147-A177-3AD203B41FA5}">
                      <a16:colId xmlns:a16="http://schemas.microsoft.com/office/drawing/2014/main" val="1619316327"/>
                    </a:ext>
                  </a:extLst>
                </a:gridCol>
              </a:tblGrid>
              <a:tr h="265731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Программный интерфейс приложения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Сбор данных из интернет сайтов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135080"/>
                  </a:ext>
                </a:extLst>
              </a:tr>
              <a:tr h="2657314"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Распознавание данных в документах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Опросы и роботизированный сбор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33392755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9A25BD-A07E-CDA1-A3EB-2FC8563B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 descr="Изображение выглядит как текст, снимок экрана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D8E69BC-ACA2-45C7-D7B4-447A6A2B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162"/>
            <a:ext cx="6095999" cy="2076450"/>
          </a:xfrm>
          <a:prstGeom prst="rect">
            <a:avLst/>
          </a:prstGeom>
        </p:spPr>
      </p:pic>
      <p:pic>
        <p:nvPicPr>
          <p:cNvPr id="11268" name="Picture 4" descr="Picture background">
            <a:extLst>
              <a:ext uri="{FF2B5EF4-FFF2-40B4-BE49-F238E27FC236}">
                <a16:creationId xmlns:a16="http://schemas.microsoft.com/office/drawing/2014/main" id="{FF0A4365-B239-348F-9DE7-6651FA307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32" b="26305"/>
          <a:stretch/>
        </p:blipFill>
        <p:spPr bwMode="auto">
          <a:xfrm>
            <a:off x="6246470" y="1719344"/>
            <a:ext cx="5937813" cy="166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icture background">
            <a:extLst>
              <a:ext uri="{FF2B5EF4-FFF2-40B4-BE49-F238E27FC236}">
                <a16:creationId xmlns:a16="http://schemas.microsoft.com/office/drawing/2014/main" id="{64CE523A-6197-67E9-74CD-08151A926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" t="15190" r="42089" b="41097"/>
          <a:stretch/>
        </p:blipFill>
        <p:spPr bwMode="auto">
          <a:xfrm>
            <a:off x="686763" y="4218028"/>
            <a:ext cx="4722472" cy="213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Picture background">
            <a:extLst>
              <a:ext uri="{FF2B5EF4-FFF2-40B4-BE49-F238E27FC236}">
                <a16:creationId xmlns:a16="http://schemas.microsoft.com/office/drawing/2014/main" id="{CB8DED56-18DD-8F6B-56B5-63C7618CE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464" y="4218028"/>
            <a:ext cx="4957823" cy="210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01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4AF85-B0A5-398B-9CE6-22E2A8A6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Хранилища, витрины и озера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A33112-E57D-968A-ADB2-52365FAF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4F8EC74-0BAD-EF94-73C6-057B503EF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68186"/>
              </p:ext>
            </p:extLst>
          </p:nvPr>
        </p:nvGraphicFramePr>
        <p:xfrm>
          <a:off x="0" y="1050324"/>
          <a:ext cx="12192000" cy="530602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132156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66891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2531906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27049723"/>
                    </a:ext>
                  </a:extLst>
                </a:gridCol>
              </a:tblGrid>
              <a:tr h="5134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Хранилища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Озёра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Витрины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02562"/>
                  </a:ext>
                </a:extLst>
              </a:tr>
              <a:tr h="11981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Источник бизнес-данных организации, долговременной отчетности и аналитики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Предметно-ориентированную информацию аналитик получает сам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Использование происходит в  рамках департамента или субъекта бизнеса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44203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Какие данные и сколько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Большие объемы структурированной и обработанной информации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Большие объемы как структурированной так и неструктурированной или сырой информации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Ограниченное количество обработанной, подготовленной и структурированной информации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463649"/>
                  </a:ext>
                </a:extLst>
              </a:tr>
              <a:tr h="11981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Источники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Перечень внешних и внутренних источников, относящихся к бизнесу или задаче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Любые внешние и внутренние источники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Несколько связанных источников готовой бизнес-информации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297881"/>
                  </a:ext>
                </a:extLst>
              </a:tr>
              <a:tr h="9242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Простота использования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Сложно составить структуру и схему данных перед использованием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Сложно получать данные из свалки данных для определенных бизнес-целей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Легкость в получении данных для решения задачи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00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03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47623-F03D-D941-30E8-3433D2C2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OLTP</a:t>
            </a:r>
            <a:r>
              <a:rPr lang="ru-RU" dirty="0"/>
              <a:t> и</a:t>
            </a:r>
            <a:r>
              <a:rPr lang="en-US" dirty="0"/>
              <a:t> OLAP </a:t>
            </a:r>
            <a:r>
              <a:rPr lang="ru-RU" dirty="0"/>
              <a:t>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322FBF-3B8E-D5DA-92E8-33380D9B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8</a:t>
            </a:fld>
            <a:endParaRPr lang="ru-RU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5F927D63-F737-C930-C28E-51DA81A3AA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981" y="1358900"/>
            <a:ext cx="7538038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047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901C4-F3A2-ABA9-2F5C-7383B4ED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OLTP</a:t>
            </a:r>
            <a:r>
              <a:rPr lang="ru-RU" dirty="0"/>
              <a:t> и </a:t>
            </a:r>
            <a:r>
              <a:rPr lang="en-US" dirty="0"/>
              <a:t>OLAP </a:t>
            </a:r>
            <a:r>
              <a:rPr lang="ru-RU" dirty="0"/>
              <a:t>системы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4F707FA-FE18-B4F3-2928-D98A94D41D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207088"/>
              </p:ext>
            </p:extLst>
          </p:nvPr>
        </p:nvGraphicFramePr>
        <p:xfrm>
          <a:off x="838200" y="1358899"/>
          <a:ext cx="10515597" cy="52169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01562">
                  <a:extLst>
                    <a:ext uri="{9D8B030D-6E8A-4147-A177-3AD203B41FA5}">
                      <a16:colId xmlns:a16="http://schemas.microsoft.com/office/drawing/2014/main" val="4022209341"/>
                    </a:ext>
                  </a:extLst>
                </a:gridCol>
                <a:gridCol w="4808836">
                  <a:extLst>
                    <a:ext uri="{9D8B030D-6E8A-4147-A177-3AD203B41FA5}">
                      <a16:colId xmlns:a16="http://schemas.microsoft.com/office/drawing/2014/main" val="12178549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16058652"/>
                    </a:ext>
                  </a:extLst>
                </a:gridCol>
              </a:tblGrid>
              <a:tr h="605567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OLTP</a:t>
                      </a:r>
                      <a:endParaRPr lang="ru-RU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OLAP</a:t>
                      </a:r>
                      <a:endParaRPr lang="ru-RU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13415"/>
                  </a:ext>
                </a:extLst>
              </a:tr>
              <a:tr h="605567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Работа с данными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Внесение данных, поиск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Анализ, обработка</a:t>
                      </a:r>
                      <a:r>
                        <a:rPr lang="en-US" sz="2400" dirty="0"/>
                        <a:t>, ML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847063"/>
                  </a:ext>
                </a:extLst>
              </a:tr>
              <a:tr h="149317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Характер данных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Операционные, детализированные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Агрегированные, сегментированные данные за большой период времени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321682"/>
                  </a:ext>
                </a:extLst>
              </a:tr>
              <a:tr h="104522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Сложность работы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Много простых однотипных транзакций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Сложные транзакции единоразовые транзакции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9046"/>
                  </a:ext>
                </a:extLst>
              </a:tr>
              <a:tr h="104522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Тип данных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Структурированные 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Структурированные, агрегаты, ключ-значение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12717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5DBE7B-8736-A137-72A5-DE3FAE24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59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BC459-85A9-3E6E-6A77-4A3A4EC7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OLAP </a:t>
            </a:r>
            <a:r>
              <a:rPr lang="ru-RU" dirty="0"/>
              <a:t>системы хранения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A52D13-2C09-2622-B5FB-8A278B09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10</a:t>
            </a:fld>
            <a:endParaRPr lang="ru-RU"/>
          </a:p>
        </p:txBody>
      </p:sp>
      <p:pic>
        <p:nvPicPr>
          <p:cNvPr id="28674" name="Picture 2" descr="Picture background">
            <a:extLst>
              <a:ext uri="{FF2B5EF4-FFF2-40B4-BE49-F238E27FC236}">
                <a16:creationId xmlns:a16="http://schemas.microsoft.com/office/drawing/2014/main" id="{47468BC4-EACD-FF6C-350B-050FEC47FA9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6" b="-1"/>
          <a:stretch/>
        </p:blipFill>
        <p:spPr bwMode="auto">
          <a:xfrm>
            <a:off x="5207757" y="2063577"/>
            <a:ext cx="6850955" cy="285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8" name="Picture 6" descr="Picture background">
            <a:extLst>
              <a:ext uri="{FF2B5EF4-FFF2-40B4-BE49-F238E27FC236}">
                <a16:creationId xmlns:a16="http://schemas.microsoft.com/office/drawing/2014/main" id="{466E17DF-4514-11B2-C8E8-BB9DBE75F51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35" y="2236573"/>
            <a:ext cx="4332719" cy="325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11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68D9B-2D67-93AC-BF35-C8B76B3B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  <a:r>
              <a:rPr lang="ru-RU" dirty="0"/>
              <a:t>процесс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91A2F-7F81-D82C-9B57-9983C5DD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11</a:t>
            </a:fld>
            <a:endParaRPr 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9A3CBF-37A6-9513-966D-83494CA0C7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35" y="1358900"/>
            <a:ext cx="8277729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35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84818-9810-43C8-FB61-28702641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Преобразования данных в </a:t>
            </a:r>
            <a:r>
              <a:rPr lang="en-US" dirty="0"/>
              <a:t>ETL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51B9B-8C63-61EB-CB6C-1DEC06018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Категории операций над данными в </a:t>
            </a:r>
            <a:r>
              <a:rPr lang="en-US" b="1" dirty="0"/>
              <a:t>ETL</a:t>
            </a:r>
            <a:endParaRPr lang="ru-RU" b="1" dirty="0"/>
          </a:p>
          <a:p>
            <a:r>
              <a:rPr lang="ru-RU" dirty="0"/>
              <a:t>преобразование структуры данных </a:t>
            </a:r>
          </a:p>
          <a:p>
            <a:r>
              <a:rPr lang="ru-RU" dirty="0"/>
              <a:t>агрегирование данных </a:t>
            </a:r>
          </a:p>
          <a:p>
            <a:r>
              <a:rPr lang="ru-RU" dirty="0"/>
              <a:t>перевод значений </a:t>
            </a:r>
          </a:p>
          <a:p>
            <a:r>
              <a:rPr lang="ru-RU" dirty="0"/>
              <a:t>создание новых данных </a:t>
            </a:r>
          </a:p>
          <a:p>
            <a:r>
              <a:rPr lang="ru-RU" dirty="0"/>
              <a:t>очистка данных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Цели преобразования данных</a:t>
            </a:r>
            <a:endParaRPr lang="en-US" b="1" dirty="0"/>
          </a:p>
          <a:p>
            <a:r>
              <a:rPr lang="ru-RU" dirty="0"/>
              <a:t>обеспечение технической, логической совместимости данных </a:t>
            </a:r>
            <a:endParaRPr lang="en-US" dirty="0"/>
          </a:p>
          <a:p>
            <a:r>
              <a:rPr lang="ru-RU" dirty="0"/>
              <a:t>подготовка данных к извлечению </a:t>
            </a:r>
            <a:endParaRPr lang="en-US" dirty="0"/>
          </a:p>
          <a:p>
            <a:r>
              <a:rPr lang="ru-RU" dirty="0"/>
              <a:t>перенос данных в хранилище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5465A0-D3DE-3139-4692-31978480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39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177FE-D6FF-05D3-FC94-E2DFCA75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операции преобразования данных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E2C9F0-4911-1E1A-FA26-92B07078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13</a:t>
            </a:fld>
            <a:endParaRPr lang="ru-RU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CFB44EF3-1A4F-96AF-8F0E-7D3FD9A3AB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5"/>
          <a:stretch/>
        </p:blipFill>
        <p:spPr bwMode="auto">
          <a:xfrm>
            <a:off x="1678459" y="1036926"/>
            <a:ext cx="8835082" cy="568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57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1D4EF-BEE2-34DD-0CCB-D2AB3EE54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</a:t>
            </a:r>
            <a:r>
              <a:rPr lang="en-US" dirty="0"/>
              <a:t>ETL </a:t>
            </a:r>
            <a:r>
              <a:rPr lang="ru-RU" dirty="0"/>
              <a:t>процесса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405A06-E7B8-C56A-B3A9-2DE1A71DE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Перемещение данных в облако в процессе облачной миграции</a:t>
            </a:r>
          </a:p>
          <a:p>
            <a:r>
              <a:rPr lang="ru-RU" dirty="0"/>
              <a:t>Перемещение данных в хранилище данных </a:t>
            </a:r>
          </a:p>
          <a:p>
            <a:r>
              <a:rPr lang="ru-RU" dirty="0"/>
              <a:t>Объединение данных в интеграции с существующими данными</a:t>
            </a:r>
          </a:p>
          <a:p>
            <a:r>
              <a:rPr lang="ru-RU" dirty="0"/>
              <a:t>Перенос данных в одно место от разных </a:t>
            </a:r>
            <a:r>
              <a:rPr lang="ru-RU" dirty="0" err="1"/>
              <a:t>IoT</a:t>
            </a:r>
            <a:r>
              <a:rPr lang="ru-RU" dirty="0"/>
              <a:t>, бизнес-данных</a:t>
            </a:r>
          </a:p>
          <a:p>
            <a:r>
              <a:rPr lang="ru-RU" dirty="0"/>
              <a:t>Осуществление процесса репликации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D07AF3-5F33-1DFF-E23F-17B3BDBC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14</a:t>
            </a:fld>
            <a:endParaRPr lang="ru-RU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BE7C615D-1DA2-E51B-14B0-1975D1FC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28" y="4780514"/>
            <a:ext cx="3239602" cy="93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62F707DB-4F7A-6932-AB5E-A332A8E7E2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7" b="10849"/>
          <a:stretch/>
        </p:blipFill>
        <p:spPr bwMode="auto">
          <a:xfrm>
            <a:off x="3771079" y="4780514"/>
            <a:ext cx="2743201" cy="102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icture background">
            <a:extLst>
              <a:ext uri="{FF2B5EF4-FFF2-40B4-BE49-F238E27FC236}">
                <a16:creationId xmlns:a16="http://schemas.microsoft.com/office/drawing/2014/main" id="{34831E9D-416B-3127-4059-13891C6BC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671" y="4780513"/>
            <a:ext cx="2055054" cy="102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Picture background">
            <a:extLst>
              <a:ext uri="{FF2B5EF4-FFF2-40B4-BE49-F238E27FC236}">
                <a16:creationId xmlns:a16="http://schemas.microsoft.com/office/drawing/2014/main" id="{07DA92C4-FCC8-8247-8BF3-28998C16C1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0" t="3423" r="18311" b="1991"/>
          <a:stretch/>
        </p:blipFill>
        <p:spPr bwMode="auto">
          <a:xfrm>
            <a:off x="9447159" y="4514108"/>
            <a:ext cx="1872120" cy="146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28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FD8AB-039F-110D-B8F5-4A3EE8A8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</a:t>
            </a:r>
            <a:r>
              <a:rPr lang="ru-RU" dirty="0"/>
              <a:t>процесс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F15F05-39AF-BCE1-D082-238F23B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15</a:t>
            </a:fld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220BF05-30E6-E95C-8823-FBBA6182B0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604" y="1358900"/>
            <a:ext cx="8332792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92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696-B8D9-D590-7C87-04119F72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</a:t>
            </a:r>
            <a:r>
              <a:rPr lang="ru-RU" dirty="0"/>
              <a:t>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E83A9-0719-B070-0C24-37F105539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Категории операций над данными в </a:t>
            </a:r>
            <a:r>
              <a:rPr lang="en-US" b="1" dirty="0"/>
              <a:t>ETL</a:t>
            </a:r>
            <a:endParaRPr lang="ru-RU" b="1" dirty="0"/>
          </a:p>
          <a:p>
            <a:r>
              <a:rPr lang="ru-RU" dirty="0"/>
              <a:t>Придание структуры данным</a:t>
            </a:r>
          </a:p>
          <a:p>
            <a:r>
              <a:rPr lang="ru-RU" dirty="0"/>
              <a:t>Векторизация данных</a:t>
            </a:r>
          </a:p>
          <a:p>
            <a:r>
              <a:rPr lang="ru-RU" dirty="0"/>
              <a:t>Пакетная/Потоковая предобработка данных</a:t>
            </a:r>
          </a:p>
          <a:p>
            <a:r>
              <a:rPr lang="ru-RU" dirty="0"/>
              <a:t>Использование моделей ИИ</a:t>
            </a:r>
          </a:p>
          <a:p>
            <a:pPr marL="0" indent="0">
              <a:buNone/>
            </a:pPr>
            <a:r>
              <a:rPr lang="ru-RU" b="1" dirty="0"/>
              <a:t>Цели операций в </a:t>
            </a:r>
            <a:r>
              <a:rPr lang="en-US" b="1" dirty="0"/>
              <a:t>ELT </a:t>
            </a:r>
            <a:r>
              <a:rPr lang="ru-RU" b="1" dirty="0"/>
              <a:t>процессе</a:t>
            </a:r>
          </a:p>
          <a:p>
            <a:r>
              <a:rPr lang="ru-RU" dirty="0"/>
              <a:t>Придать информации бизнес-ценность</a:t>
            </a:r>
          </a:p>
          <a:p>
            <a:r>
              <a:rPr lang="ru-RU" dirty="0"/>
              <a:t>Настроить конвейер потоковых данных</a:t>
            </a:r>
          </a:p>
          <a:p>
            <a:r>
              <a:rPr lang="ru-RU" dirty="0"/>
              <a:t>Решать задачи на неструктурированных данных</a:t>
            </a:r>
          </a:p>
          <a:p>
            <a:r>
              <a:rPr lang="ru-RU" dirty="0"/>
              <a:t>Обучение глубоких моделей ИИ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119E5C-A974-8BFB-F78F-53AAEFE3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44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BD61A-7CE9-07E1-F4C9-6A15B0E1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A2FCD-269E-2E46-F14B-0B740476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Задача аналитика</a:t>
            </a:r>
            <a:r>
              <a:rPr lang="ru-RU" dirty="0"/>
              <a:t>: оценить продажи магазинов  </a:t>
            </a:r>
          </a:p>
          <a:p>
            <a:r>
              <a:rPr lang="ru-RU" dirty="0"/>
              <a:t>Разные способы заполнения форм учета у каждого магазина: разная структура и формат хранения </a:t>
            </a:r>
          </a:p>
          <a:p>
            <a:r>
              <a:rPr lang="ru-RU" dirty="0"/>
              <a:t>Способ решения: N скриптов для преобразования таблиц, сборщик </a:t>
            </a:r>
          </a:p>
          <a:p>
            <a:pPr marL="0" indent="0">
              <a:buNone/>
            </a:pPr>
            <a:r>
              <a:rPr lang="ru-RU" b="1" dirty="0"/>
              <a:t>Минусы</a:t>
            </a:r>
            <a:r>
              <a:rPr lang="ru-RU" dirty="0"/>
              <a:t>: </a:t>
            </a:r>
          </a:p>
          <a:p>
            <a:r>
              <a:rPr lang="ru-RU" dirty="0"/>
              <a:t>поддержка N скриптов одновременно </a:t>
            </a:r>
          </a:p>
          <a:p>
            <a:r>
              <a:rPr lang="ru-RU" dirty="0"/>
              <a:t>изменение структуры отчетов магазинов во времени =&gt; искать и переписывать скрипты</a:t>
            </a:r>
          </a:p>
          <a:p>
            <a:r>
              <a:rPr lang="ru-RU" dirty="0"/>
              <a:t>появление нового магазина =&gt;новый скрипт </a:t>
            </a:r>
          </a:p>
          <a:p>
            <a:r>
              <a:rPr lang="ru-RU" dirty="0"/>
              <a:t>изменение формата отчетности =&gt; изменения во все скрипты </a:t>
            </a:r>
          </a:p>
          <a:p>
            <a:r>
              <a:rPr lang="ru-RU" dirty="0"/>
              <a:t>сложная отладка и поддержка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4FA502-1946-9742-4C88-58C0809B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306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0E9A7-2F1D-27FA-85B0-70E734CE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C2AA6-7A89-4517-2B1E-7B6A98F0A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Производитель товаров работает не напрямую с магазинами, а через посредников </a:t>
            </a:r>
          </a:p>
          <a:p>
            <a:r>
              <a:rPr lang="ru-RU" dirty="0"/>
              <a:t>Посредники посещают магазины, пытаются стимулировать продажи </a:t>
            </a:r>
          </a:p>
          <a:p>
            <a:pPr marL="0" indent="0">
              <a:buNone/>
            </a:pPr>
            <a:r>
              <a:rPr lang="ru-RU" dirty="0"/>
              <a:t>N магазинов и К дистрибьюторов </a:t>
            </a:r>
          </a:p>
          <a:p>
            <a:pPr marL="0" indent="0">
              <a:buNone/>
            </a:pPr>
            <a:r>
              <a:rPr lang="ru-RU" b="1" dirty="0"/>
              <a:t>Задача:</a:t>
            </a:r>
            <a:r>
              <a:rPr lang="ru-RU" dirty="0"/>
              <a:t> агрегировать данные магазинов и сравнить их с результатами дистрибьюторов (у всех данные имеют разную структуру и формат) </a:t>
            </a:r>
          </a:p>
          <a:p>
            <a:pPr marL="0" indent="0">
              <a:buNone/>
            </a:pPr>
            <a:r>
              <a:rPr lang="ru-RU" dirty="0"/>
              <a:t>1 способ: самописное решение </a:t>
            </a:r>
          </a:p>
          <a:p>
            <a:pPr marL="0" indent="0">
              <a:buNone/>
            </a:pPr>
            <a:r>
              <a:rPr lang="ru-RU" dirty="0"/>
              <a:t>2 способ: закупить ПО у третьей стороны </a:t>
            </a:r>
          </a:p>
          <a:p>
            <a:pPr marL="0" indent="0">
              <a:buNone/>
            </a:pPr>
            <a:r>
              <a:rPr lang="ru-RU" b="1" dirty="0"/>
              <a:t>Процесс анализа:</a:t>
            </a:r>
            <a:r>
              <a:rPr lang="ru-RU" dirty="0"/>
              <a:t> данные консолидируются =&gt; трансформируются (агрегируются) =&gt; загружаются в систему для анализа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05238-E097-D00D-8E3F-5334DDAD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29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7347-D943-7131-5A4F-01824F78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  <a:r>
              <a:rPr lang="ru-RU" dirty="0"/>
              <a:t>против </a:t>
            </a:r>
            <a:r>
              <a:rPr lang="en-US" dirty="0"/>
              <a:t>ELT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52BDCF-284D-7ECB-1A4C-7047B432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19</a:t>
            </a:fld>
            <a:endParaRPr lang="ru-RU"/>
          </a:p>
        </p:txBody>
      </p:sp>
      <p:pic>
        <p:nvPicPr>
          <p:cNvPr id="9222" name="Picture 6" descr="Picture background">
            <a:extLst>
              <a:ext uri="{FF2B5EF4-FFF2-40B4-BE49-F238E27FC236}">
                <a16:creationId xmlns:a16="http://schemas.microsoft.com/office/drawing/2014/main" id="{7CF63B58-3342-A0A0-F561-A57FD03ACD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" y="1631092"/>
            <a:ext cx="12135115" cy="429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81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5D9A4-1709-7D5E-BDE4-36AE0642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  <a:r>
              <a:rPr lang="ru-RU" dirty="0"/>
              <a:t>не против </a:t>
            </a:r>
            <a:r>
              <a:rPr lang="en-US" dirty="0"/>
              <a:t>ELT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ADA149-DE0D-E22F-C6C3-F0AEAADA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20</a:t>
            </a:fld>
            <a:endParaRPr lang="ru-RU"/>
          </a:p>
        </p:txBody>
      </p:sp>
      <p:pic>
        <p:nvPicPr>
          <p:cNvPr id="22530" name="Picture 2" descr="Picture background">
            <a:extLst>
              <a:ext uri="{FF2B5EF4-FFF2-40B4-BE49-F238E27FC236}">
                <a16:creationId xmlns:a16="http://schemas.microsoft.com/office/drawing/2014/main" id="{F19F3920-0ABA-2AA6-3088-A4435D10C8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950" y="1358900"/>
            <a:ext cx="8384100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180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531F4-D8B9-5CB3-B231-AEA437E6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Flume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814D23-B524-96F8-34C8-ECE05E1D53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Специализация на логах</a:t>
            </a:r>
          </a:p>
          <a:p>
            <a:r>
              <a:rPr lang="ru-RU" dirty="0"/>
              <a:t>Гарантированная </a:t>
            </a:r>
            <a:r>
              <a:rPr lang="ru-RU" dirty="0" err="1"/>
              <a:t>доствка</a:t>
            </a:r>
            <a:r>
              <a:rPr lang="ru-RU" dirty="0"/>
              <a:t> данных и резервирование</a:t>
            </a:r>
          </a:p>
          <a:p>
            <a:r>
              <a:rPr lang="ru-RU" dirty="0"/>
              <a:t>Простота архитектуры</a:t>
            </a:r>
            <a:r>
              <a:rPr lang="en-US" dirty="0"/>
              <a:t> (source, channel, sink)</a:t>
            </a:r>
            <a:endParaRPr lang="ru-RU" dirty="0"/>
          </a:p>
          <a:p>
            <a:r>
              <a:rPr lang="ru-RU" dirty="0"/>
              <a:t>Масштабируемость на основе агентов</a:t>
            </a:r>
          </a:p>
          <a:p>
            <a:r>
              <a:rPr lang="ru-RU" dirty="0"/>
              <a:t>Используется для передачи данных в </a:t>
            </a:r>
            <a:r>
              <a:rPr lang="en-US" dirty="0"/>
              <a:t>HDFS </a:t>
            </a:r>
            <a:r>
              <a:rPr lang="ru-RU" dirty="0"/>
              <a:t>или </a:t>
            </a:r>
            <a:r>
              <a:rPr lang="en-US" dirty="0"/>
              <a:t>HBase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D32BF-62F3-2F1B-FCA2-BDE7F193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21</a:t>
            </a:fld>
            <a:endParaRPr lang="ru-RU"/>
          </a:p>
        </p:txBody>
      </p:sp>
      <p:pic>
        <p:nvPicPr>
          <p:cNvPr id="25604" name="Picture 4" descr="Picture background">
            <a:extLst>
              <a:ext uri="{FF2B5EF4-FFF2-40B4-BE49-F238E27FC236}">
                <a16:creationId xmlns:a16="http://schemas.microsoft.com/office/drawing/2014/main" id="{A3E282B3-CC35-5A0F-33CF-7CB73AB78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296" y="3763597"/>
            <a:ext cx="5623850" cy="236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6" name="Picture 6" descr="Picture background">
            <a:extLst>
              <a:ext uri="{FF2B5EF4-FFF2-40B4-BE49-F238E27FC236}">
                <a16:creationId xmlns:a16="http://schemas.microsoft.com/office/drawing/2014/main" id="{DD76CB19-DE3D-F5CA-B92A-B7149CB0A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442" y="354872"/>
            <a:ext cx="5927558" cy="298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460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42C74-12E1-5978-162C-668DD00A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NIFI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CFDEEFC-65B4-463E-3D1D-A4BCE085C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9216" y="1313163"/>
            <a:ext cx="4907692" cy="5043187"/>
          </a:xfrm>
        </p:spPr>
        <p:txBody>
          <a:bodyPr>
            <a:normAutofit fontScale="92500"/>
          </a:bodyPr>
          <a:lstStyle/>
          <a:p>
            <a:r>
              <a:rPr lang="ru-RU" dirty="0"/>
              <a:t>Визуальное программирование (</a:t>
            </a:r>
            <a:r>
              <a:rPr lang="en-US" dirty="0"/>
              <a:t>low-code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Низкая задержка выполнения</a:t>
            </a:r>
          </a:p>
          <a:p>
            <a:r>
              <a:rPr lang="ru-RU" dirty="0"/>
              <a:t>Готовые компоненты подключения и приемника данных</a:t>
            </a:r>
          </a:p>
          <a:p>
            <a:r>
              <a:rPr lang="ru-RU" dirty="0"/>
              <a:t>Динамическое изменение конфигурации потоков без остановки системы</a:t>
            </a:r>
          </a:p>
          <a:p>
            <a:r>
              <a:rPr lang="ru-RU" dirty="0"/>
              <a:t>Поддержка контроля доступа, шифрования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930590-CD45-FFD1-8F0D-2C55239B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22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C346E8-E205-26F7-D1C8-780F3A5E56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/>
          </a:p>
        </p:txBody>
      </p:sp>
      <p:pic>
        <p:nvPicPr>
          <p:cNvPr id="24578" name="Picture 2" descr="ETL-шлюз в больших данных, Apache NiFi">
            <a:extLst>
              <a:ext uri="{FF2B5EF4-FFF2-40B4-BE49-F238E27FC236}">
                <a16:creationId xmlns:a16="http://schemas.microsoft.com/office/drawing/2014/main" id="{2EFC2DC0-E3D1-3B52-CC23-2A6EBC106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3"/>
          <a:stretch/>
        </p:blipFill>
        <p:spPr bwMode="auto">
          <a:xfrm>
            <a:off x="5527228" y="0"/>
            <a:ext cx="6664772" cy="403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8C66F9-82D0-8C5E-8003-3A1E5C8E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50" y="6422082"/>
            <a:ext cx="5845215" cy="365127"/>
          </a:xfrm>
        </p:spPr>
        <p:txBody>
          <a:bodyPr/>
          <a:lstStyle/>
          <a:p>
            <a:r>
              <a:rPr lang="en-US" dirty="0"/>
              <a:t>https://bigdataschool.ru/blog/nifi-use-cases-big-data.html</a:t>
            </a:r>
            <a:endParaRPr lang="ru-RU" dirty="0"/>
          </a:p>
        </p:txBody>
      </p:sp>
      <p:pic>
        <p:nvPicPr>
          <p:cNvPr id="24580" name="Picture 4" descr="Picture background">
            <a:extLst>
              <a:ext uri="{FF2B5EF4-FFF2-40B4-BE49-F238E27FC236}">
                <a16:creationId xmlns:a16="http://schemas.microsoft.com/office/drawing/2014/main" id="{8DA4A054-4127-BE89-A090-078C35604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065" y="4098550"/>
            <a:ext cx="6090235" cy="281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217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42C74-12E1-5978-162C-668DD00A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Airflow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CFDEEFC-65B4-463E-3D1D-A4BCE085C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9216" y="1313163"/>
            <a:ext cx="4907692" cy="5235918"/>
          </a:xfrm>
        </p:spPr>
        <p:txBody>
          <a:bodyPr>
            <a:normAutofit/>
          </a:bodyPr>
          <a:lstStyle/>
          <a:p>
            <a:r>
              <a:rPr lang="en-US" dirty="0"/>
              <a:t>DAG </a:t>
            </a:r>
            <a:r>
              <a:rPr lang="ru-RU" dirty="0"/>
              <a:t>создается с помощью </a:t>
            </a:r>
            <a:r>
              <a:rPr lang="en-US" dirty="0"/>
              <a:t>Python API</a:t>
            </a:r>
            <a:r>
              <a:rPr lang="ru-RU" dirty="0"/>
              <a:t> </a:t>
            </a:r>
          </a:p>
          <a:p>
            <a:r>
              <a:rPr lang="ru-RU" dirty="0"/>
              <a:t>Интеграция с системами через </a:t>
            </a:r>
            <a:r>
              <a:rPr lang="ru-RU" b="1" dirty="0"/>
              <a:t>операторы</a:t>
            </a:r>
            <a:r>
              <a:rPr lang="ru-RU" dirty="0"/>
              <a:t> и </a:t>
            </a:r>
            <a:r>
              <a:rPr lang="ru-RU" b="1" dirty="0"/>
              <a:t>сенсоры</a:t>
            </a:r>
          </a:p>
          <a:p>
            <a:r>
              <a:rPr lang="ru-RU" dirty="0"/>
              <a:t>Поддержка планирования задач по расписанию или на основе событий</a:t>
            </a:r>
          </a:p>
          <a:p>
            <a:r>
              <a:rPr lang="ru-RU" dirty="0"/>
              <a:t>Веб-интерфейс для отслеживания выполнения задач, статуса и логов</a:t>
            </a:r>
          </a:p>
          <a:p>
            <a:r>
              <a:rPr lang="ru-RU" dirty="0"/>
              <a:t>Распределенная среда выполнения, прозрачность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930590-CD45-FFD1-8F0D-2C55239B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23</a:t>
            </a:fld>
            <a:endParaRPr lang="ru-RU"/>
          </a:p>
        </p:txBody>
      </p:sp>
      <p:pic>
        <p:nvPicPr>
          <p:cNvPr id="23554" name="Picture 2" descr="Picture background">
            <a:extLst>
              <a:ext uri="{FF2B5EF4-FFF2-40B4-BE49-F238E27FC236}">
                <a16:creationId xmlns:a16="http://schemas.microsoft.com/office/drawing/2014/main" id="{75FC859A-FB46-62DD-163D-35CAB1BF10B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122" y="1556951"/>
            <a:ext cx="6853878" cy="385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808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42C74-12E1-5978-162C-668DD00A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Kafka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CFDEEFC-65B4-463E-3D1D-A4BCE085C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9216" y="1313163"/>
            <a:ext cx="4907692" cy="5235918"/>
          </a:xfrm>
        </p:spPr>
        <p:txBody>
          <a:bodyPr>
            <a:normAutofit/>
          </a:bodyPr>
          <a:lstStyle/>
          <a:p>
            <a:r>
              <a:rPr lang="ru-RU" dirty="0"/>
              <a:t>Высокая пропускная способность</a:t>
            </a:r>
          </a:p>
          <a:p>
            <a:r>
              <a:rPr lang="ru-RU" dirty="0"/>
              <a:t>Хранение сообщений в хранилище (на дисках)</a:t>
            </a:r>
          </a:p>
          <a:p>
            <a:r>
              <a:rPr lang="ru-RU" dirty="0"/>
              <a:t>Сервисная модель потребитель/производитель</a:t>
            </a:r>
          </a:p>
          <a:p>
            <a:r>
              <a:rPr lang="ru-RU" dirty="0"/>
              <a:t>Горизонтально масштабируется через распределение нагрузки</a:t>
            </a:r>
          </a:p>
          <a:p>
            <a:r>
              <a:rPr lang="ru-RU" dirty="0"/>
              <a:t>Репликация данных для обеспечения отказоустойчивости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930590-CD45-FFD1-8F0D-2C55239B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24</a:t>
            </a:fld>
            <a:endParaRPr lang="ru-RU"/>
          </a:p>
        </p:txBody>
      </p:sp>
      <p:pic>
        <p:nvPicPr>
          <p:cNvPr id="26626" name="Picture 2" descr="Picture background">
            <a:extLst>
              <a:ext uri="{FF2B5EF4-FFF2-40B4-BE49-F238E27FC236}">
                <a16:creationId xmlns:a16="http://schemas.microsoft.com/office/drawing/2014/main" id="{0D790AE6-6448-F643-DE2B-6D9B832E085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85717"/>
            <a:ext cx="5181600" cy="269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Picture background">
            <a:extLst>
              <a:ext uri="{FF2B5EF4-FFF2-40B4-BE49-F238E27FC236}">
                <a16:creationId xmlns:a16="http://schemas.microsoft.com/office/drawing/2014/main" id="{1DD8E9C5-CF58-A739-FE65-7FAD5EBC7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02"/>
          <a:stretch/>
        </p:blipFill>
        <p:spPr bwMode="auto">
          <a:xfrm>
            <a:off x="5741043" y="3416703"/>
            <a:ext cx="6450957" cy="245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530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AA615ED-B82B-3822-7C92-70737C1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сбора и предобработки данных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53EC4EBF-B899-B5FE-7A60-F3626970B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88451"/>
              </p:ext>
            </p:extLst>
          </p:nvPr>
        </p:nvGraphicFramePr>
        <p:xfrm>
          <a:off x="838203" y="1083310"/>
          <a:ext cx="10515597" cy="527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504426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24726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60323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Инструмент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Назначение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Особенности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88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Apache Flume</a:t>
                      </a:r>
                      <a:endParaRPr lang="ru-RU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Сбор и перенос лог-файлов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Специализация на логах, простота, масштабируемость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18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Apache NIFI</a:t>
                      </a:r>
                      <a:endParaRPr lang="ru-RU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Управление потоками данных в реальном времени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Визуальное программирование, отслеживание данных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20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Apache Airflow</a:t>
                      </a:r>
                      <a:endParaRPr lang="ru-RU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 err="1">
                          <a:solidFill>
                            <a:schemeClr val="dk1"/>
                          </a:solidFill>
                          <a:effectLst/>
                        </a:rPr>
                        <a:t>Оркестрация</a:t>
                      </a:r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 рабочих процессов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Программируемость, планирование, мониторинг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0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Apache Kafka</a:t>
                      </a:r>
                      <a:endParaRPr lang="ru-RU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Платформа обработки потока данных в реальном времени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Высокая производительность, хранение сообщений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191354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67BA8E-38BA-F25C-3220-54A8AFD1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136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C6F03-BC23-49DD-7D7B-BC057F3E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  <a:r>
              <a:rPr lang="ru-RU" dirty="0"/>
              <a:t>не против </a:t>
            </a:r>
            <a:r>
              <a:rPr lang="en-US" dirty="0"/>
              <a:t>ELT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05273F-3465-3847-B454-00DF1AFB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26</a:t>
            </a:fld>
            <a:endParaRPr lang="ru-RU"/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AE2DFB13-108B-90D1-35F5-EDC0EB1D82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2" y="1429544"/>
            <a:ext cx="1023937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CFB23-3B46-2A60-B325-EFD417CD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02115" y="6343715"/>
            <a:ext cx="4387770" cy="365125"/>
          </a:xfrm>
        </p:spPr>
        <p:txBody>
          <a:bodyPr/>
          <a:lstStyle/>
          <a:p>
            <a:r>
              <a:rPr lang="en-US" dirty="0"/>
              <a:t>https://blog.csdn.net/test_fy/article/details/80882077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228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C6F03-BC23-49DD-7D7B-BC057F3E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</a:t>
            </a:r>
            <a:r>
              <a:rPr lang="ru-RU" dirty="0"/>
              <a:t>не против </a:t>
            </a:r>
            <a:r>
              <a:rPr lang="en-US" dirty="0"/>
              <a:t>ELT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05273F-3465-3847-B454-00DF1AFB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27</a:t>
            </a:fld>
            <a:endParaRPr lang="ru-RU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E2DFB13-108B-90D1-35F5-EDC0EB1D82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6312" y="1429544"/>
            <a:ext cx="10239375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CFB23-3B46-2A60-B325-EFD417CD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02115" y="6343715"/>
            <a:ext cx="4387770" cy="365125"/>
          </a:xfrm>
        </p:spPr>
        <p:txBody>
          <a:bodyPr/>
          <a:lstStyle/>
          <a:p>
            <a:r>
              <a:rPr lang="en-US" dirty="0"/>
              <a:t>https://blog.csdn.net/test_fy/article/details/80882077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5811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AE56-E3A3-FFD2-6A65-DBA1080A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Возможная архитектура обработки в реальном времени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F4B7EF-8E35-CE83-9124-14A9B4F1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28</a:t>
            </a:fld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2858F092-8D20-1FD4-9F6E-A161FEA178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659" y="1192814"/>
            <a:ext cx="9296682" cy="534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41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34B7A4-8682-2B53-5D80-5FEE7FD1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Экосистема </a:t>
            </a:r>
            <a:r>
              <a:rPr lang="en-US" dirty="0"/>
              <a:t>Hadoop (Apache)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BE6DD4-220B-CE7B-3C41-42FE4AC5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29</a:t>
            </a:fld>
            <a:endParaRPr lang="ru-RU"/>
          </a:p>
        </p:txBody>
      </p:sp>
      <p:pic>
        <p:nvPicPr>
          <p:cNvPr id="15362" name="Picture 2" descr="Picture background">
            <a:extLst>
              <a:ext uri="{FF2B5EF4-FFF2-40B4-BE49-F238E27FC236}">
                <a16:creationId xmlns:a16="http://schemas.microsoft.com/office/drawing/2014/main" id="{9369AF34-4CBD-8CE0-1451-D271975CC2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8"/>
          <a:stretch/>
        </p:blipFill>
        <p:spPr bwMode="auto">
          <a:xfrm>
            <a:off x="1414010" y="1782398"/>
            <a:ext cx="936398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176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2D9493-87D8-164B-AADD-C88C59AF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Экосистема </a:t>
            </a:r>
            <a:r>
              <a:rPr lang="en-US" dirty="0"/>
              <a:t>Hadoop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EFC9F8-87CD-001F-5899-AE16EC3A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30</a:t>
            </a:fld>
            <a:endParaRPr lang="ru-RU"/>
          </a:p>
        </p:txBody>
      </p:sp>
      <p:pic>
        <p:nvPicPr>
          <p:cNvPr id="16386" name="Picture 2" descr="Picture background">
            <a:extLst>
              <a:ext uri="{FF2B5EF4-FFF2-40B4-BE49-F238E27FC236}">
                <a16:creationId xmlns:a16="http://schemas.microsoft.com/office/drawing/2014/main" id="{04C668EA-A624-15B4-93C2-A4B3CC5CCB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6"/>
          <a:stretch/>
        </p:blipFill>
        <p:spPr bwMode="auto">
          <a:xfrm>
            <a:off x="-870" y="1050036"/>
            <a:ext cx="11908389" cy="542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40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B6BAD-8AFE-3637-1335-111882E9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HDFS </a:t>
            </a:r>
            <a:r>
              <a:rPr lang="ru-RU" dirty="0"/>
              <a:t>принцип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969650-1031-5FC2-9269-3162CB42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31</a:t>
            </a:fld>
            <a:endParaRPr lang="ru-RU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5F144AAE-707F-5793-E801-E13498781C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873" y="1386559"/>
            <a:ext cx="8814253" cy="476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193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42E37-C3FD-47A6-415A-B6E04497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работы </a:t>
            </a:r>
            <a:r>
              <a:rPr lang="en-US" dirty="0"/>
              <a:t>MapReduce </a:t>
            </a:r>
            <a:r>
              <a:rPr lang="ru-RU" dirty="0"/>
              <a:t>на базе </a:t>
            </a:r>
            <a:r>
              <a:rPr lang="en-US" dirty="0"/>
              <a:t>HDFS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656A45-7A37-4E9D-16B2-F16525ED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32</a:t>
            </a:fld>
            <a:endParaRPr lang="ru-RU"/>
          </a:p>
        </p:txBody>
      </p:sp>
      <p:pic>
        <p:nvPicPr>
          <p:cNvPr id="8" name="Picture 4" descr="Picture background">
            <a:extLst>
              <a:ext uri="{FF2B5EF4-FFF2-40B4-BE49-F238E27FC236}">
                <a16:creationId xmlns:a16="http://schemas.microsoft.com/office/drawing/2014/main" id="{04F310B1-DD75-019E-C167-AD863FA514D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15875"/>
            <a:ext cx="6019800" cy="469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Объект 4">
            <a:extLst>
              <a:ext uri="{FF2B5EF4-FFF2-40B4-BE49-F238E27FC236}">
                <a16:creationId xmlns:a16="http://schemas.microsoft.com/office/drawing/2014/main" id="{7DED94D2-F415-8C4F-DA74-9F34CD8E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346" y="1350962"/>
            <a:ext cx="5661454" cy="5005387"/>
          </a:xfrm>
        </p:spPr>
        <p:txBody>
          <a:bodyPr>
            <a:normAutofit/>
          </a:bodyPr>
          <a:lstStyle/>
          <a:p>
            <a:r>
              <a:rPr lang="ru-RU" dirty="0"/>
              <a:t>Вычисления над множествами пар </a:t>
            </a:r>
            <a:r>
              <a:rPr lang="en-US" dirty="0"/>
              <a:t>‘</a:t>
            </a:r>
            <a:r>
              <a:rPr lang="ru-RU" dirty="0"/>
              <a:t>ключ</a:t>
            </a:r>
            <a:r>
              <a:rPr lang="en-US" dirty="0"/>
              <a:t>’</a:t>
            </a:r>
            <a:r>
              <a:rPr lang="ru-RU" dirty="0"/>
              <a:t>:значение</a:t>
            </a:r>
          </a:p>
          <a:p>
            <a:r>
              <a:rPr lang="ru-RU" dirty="0"/>
              <a:t>Результат также некоторое множество пар </a:t>
            </a:r>
            <a:r>
              <a:rPr lang="en-US" dirty="0"/>
              <a:t>‘</a:t>
            </a:r>
            <a:r>
              <a:rPr lang="ru-RU" dirty="0"/>
              <a:t>ключ</a:t>
            </a:r>
            <a:r>
              <a:rPr lang="en-US" dirty="0"/>
              <a:t>’</a:t>
            </a:r>
            <a:r>
              <a:rPr lang="ru-RU" dirty="0"/>
              <a:t>:значение</a:t>
            </a:r>
            <a:endParaRPr lang="en-US" dirty="0"/>
          </a:p>
          <a:p>
            <a:r>
              <a:rPr lang="en-US" b="1" dirty="0"/>
              <a:t>Split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Shuffle</a:t>
            </a:r>
            <a:r>
              <a:rPr lang="ru-RU" dirty="0"/>
              <a:t> мигрирую данные между узлами</a:t>
            </a:r>
            <a:endParaRPr lang="ru-RU" b="1" dirty="0"/>
          </a:p>
          <a:p>
            <a:r>
              <a:rPr lang="en-US" b="1" dirty="0"/>
              <a:t>Map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Reduce</a:t>
            </a:r>
            <a:r>
              <a:rPr lang="en-US" dirty="0"/>
              <a:t> </a:t>
            </a:r>
            <a:r>
              <a:rPr lang="ru-RU" dirty="0"/>
              <a:t>как основные программируемые единицы</a:t>
            </a:r>
          </a:p>
          <a:p>
            <a:r>
              <a:rPr lang="en-US" b="1" dirty="0"/>
              <a:t>Reduce</a:t>
            </a:r>
            <a:r>
              <a:rPr lang="en-US" dirty="0"/>
              <a:t> </a:t>
            </a:r>
            <a:r>
              <a:rPr lang="ru-RU" dirty="0"/>
              <a:t>обрабатывает элементы со схожими ключами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b="1" dirty="0"/>
              <a:t>Map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880559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6E278-6170-3F0C-4738-ABA5D1DB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Игрушечный пример </a:t>
            </a:r>
            <a:r>
              <a:rPr lang="en-US" dirty="0"/>
              <a:t>MapReduce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74A151-8DEA-4D4C-76E9-E9DF8BB1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33</a:t>
            </a:fld>
            <a:endParaRPr lang="ru-RU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941FDF94-BE88-0FC4-E87B-5B6D095651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91"/>
          <a:stretch/>
        </p:blipFill>
        <p:spPr bwMode="auto">
          <a:xfrm>
            <a:off x="1112108" y="1739944"/>
            <a:ext cx="9967784" cy="404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217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0A5D6-82F7-E811-2A8A-D91637AC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чтения и записи </a:t>
            </a:r>
            <a:r>
              <a:rPr lang="en-US" dirty="0"/>
              <a:t>Hadoop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F37BB6-68F5-BD2E-331B-3AAE07E3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34</a:t>
            </a:fld>
            <a:endParaRPr lang="ru-RU"/>
          </a:p>
        </p:txBody>
      </p:sp>
      <p:pic>
        <p:nvPicPr>
          <p:cNvPr id="20482" name="Picture 2" descr="Apache spark hadoop. Apache Hadoop и Apache Spark. Apache Hadoop Architecture. Spark Hadoop">
            <a:extLst>
              <a:ext uri="{FF2B5EF4-FFF2-40B4-BE49-F238E27FC236}">
                <a16:creationId xmlns:a16="http://schemas.microsoft.com/office/drawing/2014/main" id="{A8CB342E-0CF9-C16A-70E8-B5D644F065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795"/>
            <a:ext cx="10515600" cy="42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103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0A586-825D-210F-59BF-8183C4A0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34EB02-ADC7-F716-88D1-9487618C6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549"/>
            <a:ext cx="10515600" cy="52394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Преимущества: </a:t>
            </a:r>
          </a:p>
          <a:p>
            <a:r>
              <a:rPr lang="ru-RU" dirty="0"/>
              <a:t>Хранение и быстрая обработка любых данных</a:t>
            </a:r>
            <a:endParaRPr lang="en-US" dirty="0"/>
          </a:p>
          <a:p>
            <a:r>
              <a:rPr lang="ru-RU" dirty="0"/>
              <a:t>Высокая мощность вычислений </a:t>
            </a:r>
            <a:endParaRPr lang="en-US" dirty="0"/>
          </a:p>
          <a:p>
            <a:r>
              <a:rPr lang="ru-RU" dirty="0"/>
              <a:t>Устойчивость к отказам </a:t>
            </a:r>
            <a:endParaRPr lang="en-US" dirty="0"/>
          </a:p>
          <a:p>
            <a:r>
              <a:rPr lang="ru-RU" dirty="0"/>
              <a:t>Копии данных сохраняются в системе автоматически</a:t>
            </a:r>
            <a:endParaRPr lang="en-US" dirty="0"/>
          </a:p>
          <a:p>
            <a:r>
              <a:rPr lang="ru-RU" dirty="0"/>
              <a:t>Масштабируемость 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Функции </a:t>
            </a:r>
            <a:r>
              <a:rPr lang="ru-RU" b="1" dirty="0" err="1"/>
              <a:t>Hadoop</a:t>
            </a:r>
            <a:r>
              <a:rPr lang="ru-RU" b="1" dirty="0"/>
              <a:t> </a:t>
            </a:r>
            <a:endParaRPr lang="en-US" b="1" dirty="0"/>
          </a:p>
          <a:p>
            <a:r>
              <a:rPr lang="ru-RU" sz="2200" dirty="0"/>
              <a:t>для анализа «озер данных» </a:t>
            </a:r>
            <a:endParaRPr lang="en-US" sz="2200" dirty="0"/>
          </a:p>
          <a:p>
            <a:r>
              <a:rPr lang="ru-RU" sz="2200" dirty="0"/>
              <a:t>для обработки данных из соцсетей </a:t>
            </a:r>
            <a:endParaRPr lang="en-US" sz="2200" dirty="0"/>
          </a:p>
          <a:p>
            <a:r>
              <a:rPr lang="ru-RU" sz="2200" dirty="0"/>
              <a:t>для анализа отношения к бренду </a:t>
            </a:r>
            <a:endParaRPr lang="en-US" sz="2200" dirty="0"/>
          </a:p>
          <a:p>
            <a:r>
              <a:rPr lang="ru-RU" sz="2200" dirty="0"/>
              <a:t>для обработки данных о поведении клиентов для обработки данных от интернета вещей</a:t>
            </a:r>
            <a:r>
              <a:rPr lang="en-US" sz="2200" dirty="0"/>
              <a:t> …</a:t>
            </a:r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197175-5515-69D8-212F-20FF5D2B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436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C07AD-52FD-F390-A0A9-32696AA9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2063EC-2310-2BCD-9E54-BB245ACB2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Apache Spark</a:t>
            </a:r>
            <a:r>
              <a:rPr lang="ru-RU" dirty="0"/>
              <a:t> - это многоязычный движок для разработки данных, анализа данных и машинного обучения на одноузловых машинах или кластерах.</a:t>
            </a:r>
            <a:endParaRPr lang="en-US" dirty="0"/>
          </a:p>
          <a:p>
            <a:r>
              <a:rPr lang="ru-RU" dirty="0"/>
              <a:t>Высокоуровневая обработка данных</a:t>
            </a:r>
            <a:endParaRPr lang="en-US" dirty="0"/>
          </a:p>
          <a:p>
            <a:r>
              <a:rPr lang="ru-RU" dirty="0"/>
              <a:t>Поддерживаемые языки: </a:t>
            </a:r>
            <a:r>
              <a:rPr lang="en-US" dirty="0"/>
              <a:t>Python, R, SQL, Scala, Java</a:t>
            </a:r>
          </a:p>
          <a:p>
            <a:r>
              <a:rPr lang="ru-RU" dirty="0"/>
              <a:t>Работа со структурированными данными и </a:t>
            </a:r>
            <a:r>
              <a:rPr lang="ru-RU" b="1" dirty="0"/>
              <a:t>базами данных</a:t>
            </a:r>
            <a:r>
              <a:rPr lang="en-US" dirty="0"/>
              <a:t>: HDFS, Cassandra, HBase, S3, …</a:t>
            </a:r>
            <a:endParaRPr lang="ru-RU" dirty="0"/>
          </a:p>
          <a:p>
            <a:r>
              <a:rPr lang="ru-RU" dirty="0"/>
              <a:t>Преобразование </a:t>
            </a:r>
            <a:r>
              <a:rPr lang="ru-RU" b="1" dirty="0" err="1"/>
              <a:t>полуструктурированных</a:t>
            </a:r>
            <a:r>
              <a:rPr lang="ru-RU" dirty="0"/>
              <a:t> данных (готовые коннекторы) : </a:t>
            </a:r>
            <a:r>
              <a:rPr lang="en-US" dirty="0"/>
              <a:t>Apache Parquet, Apache ORC, Apache Avro, JSON, CSV, txt, </a:t>
            </a:r>
            <a:r>
              <a:rPr lang="ru-RU" dirty="0"/>
              <a:t>таблицы </a:t>
            </a:r>
            <a:r>
              <a:rPr lang="en-US" dirty="0"/>
              <a:t>Hive, </a:t>
            </a:r>
            <a:r>
              <a:rPr lang="en-US" dirty="0" err="1"/>
              <a:t>Protobuf</a:t>
            </a:r>
            <a:r>
              <a:rPr lang="en-US" dirty="0"/>
              <a:t>, </a:t>
            </a:r>
            <a:r>
              <a:rPr lang="ru-RU" dirty="0"/>
              <a:t>сырой формат</a:t>
            </a:r>
          </a:p>
          <a:p>
            <a:r>
              <a:rPr lang="ru-RU" dirty="0"/>
              <a:t>Работа в быстром режиме на ядрах </a:t>
            </a:r>
            <a:r>
              <a:rPr lang="en-US" b="1" dirty="0"/>
              <a:t>JVM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52682D-73CC-EB07-7367-5BA4C251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854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FAF59-5B32-CF54-7370-1E8FEE53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DA66343-A6AE-1245-743E-B0F9FA8C88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Особенности вычислений</a:t>
            </a:r>
          </a:p>
          <a:p>
            <a:r>
              <a:rPr lang="ru-RU" dirty="0"/>
              <a:t>Ленивые вычисления</a:t>
            </a:r>
          </a:p>
          <a:p>
            <a:r>
              <a:rPr lang="ru-RU" dirty="0"/>
              <a:t>Обработка данных в памяти с кэшированием больших наборов данных</a:t>
            </a:r>
          </a:p>
          <a:p>
            <a:r>
              <a:rPr lang="ru-RU" dirty="0"/>
              <a:t>Хранение информации о преобразованиях с репликами на нескольких узлах (</a:t>
            </a:r>
            <a:r>
              <a:rPr lang="en-US" dirty="0"/>
              <a:t>RDD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3C6AD3-EF66-50CF-5E53-F621E75B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37</a:t>
            </a:fld>
            <a:endParaRPr lang="ru-RU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FA2A03C9-A736-48F3-8C51-5A7F49AA61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9" t="8983" r="12033" b="8178"/>
          <a:stretch/>
        </p:blipFill>
        <p:spPr bwMode="auto">
          <a:xfrm>
            <a:off x="6172200" y="2150236"/>
            <a:ext cx="5181600" cy="322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667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7EBF6-1274-6D6D-A3AF-DFF9DAF1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054131-F579-788B-7680-01D3EE6E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38</a:t>
            </a:fld>
            <a:endParaRPr lang="ru-RU"/>
          </a:p>
        </p:txBody>
      </p:sp>
      <p:pic>
        <p:nvPicPr>
          <p:cNvPr id="30724" name="Picture 4" descr="Picture background">
            <a:extLst>
              <a:ext uri="{FF2B5EF4-FFF2-40B4-BE49-F238E27FC236}">
                <a16:creationId xmlns:a16="http://schemas.microsoft.com/office/drawing/2014/main" id="{EEAC9F73-7431-3D38-8715-CB4A84F7B3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548" y="1574886"/>
            <a:ext cx="8810904" cy="405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014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7EBF6-1274-6D6D-A3AF-DFF9DAF1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054131-F579-788B-7680-01D3EE6E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39</a:t>
            </a:fld>
            <a:endParaRPr lang="ru-RU"/>
          </a:p>
        </p:txBody>
      </p:sp>
      <p:pic>
        <p:nvPicPr>
          <p:cNvPr id="30722" name="Picture 2" descr="Picture background">
            <a:extLst>
              <a:ext uri="{FF2B5EF4-FFF2-40B4-BE49-F238E27FC236}">
                <a16:creationId xmlns:a16="http://schemas.microsoft.com/office/drawing/2014/main" id="{9BC8E355-635C-C473-E4FE-798EC551F2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505" y="916322"/>
            <a:ext cx="8434989" cy="544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123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0B1A2-6948-E9AA-7E78-CCD84662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на базе решений </a:t>
            </a:r>
            <a:r>
              <a:rPr lang="en-US" dirty="0"/>
              <a:t>Apache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ED5594-B30B-4E2C-CD5A-F26F4933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40</a:t>
            </a:fld>
            <a:endParaRPr lang="ru-RU"/>
          </a:p>
        </p:txBody>
      </p:sp>
      <p:pic>
        <p:nvPicPr>
          <p:cNvPr id="18434" name="Picture 2" descr="Picture background">
            <a:extLst>
              <a:ext uri="{FF2B5EF4-FFF2-40B4-BE49-F238E27FC236}">
                <a16:creationId xmlns:a16="http://schemas.microsoft.com/office/drawing/2014/main" id="{032FD7C3-C331-41ED-CD6A-E5FA650C20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997" y="1358900"/>
            <a:ext cx="9048005" cy="48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818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F21FF-43E4-D0B7-A947-D9862C88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Автоматизированная фабрика данных Сбер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67247-4FE9-F194-90D5-156092DD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41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AB88D2-94AB-59BD-AE8E-505E257E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https://fsknvrn.ru/instrukcija/chto-takoe-avtomatizirovannaja-sistema-as-sberbank</a:t>
            </a:r>
            <a:endParaRPr lang="ru-RU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2D70E2A-276B-C510-14E6-55714311BE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4"/>
          <a:stretch/>
        </p:blipFill>
        <p:spPr bwMode="auto">
          <a:xfrm>
            <a:off x="1427520" y="1170847"/>
            <a:ext cx="9926280" cy="500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260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6D6BD-6B5D-9359-5C0A-CC2050A1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2F1A6-FA6C-C28F-11B0-8360A7FE4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Рассмотрены особенности проектирования </a:t>
            </a:r>
            <a:r>
              <a:rPr lang="ru-RU" dirty="0" err="1"/>
              <a:t>пайплайна</a:t>
            </a:r>
            <a:r>
              <a:rPr lang="ru-RU" dirty="0"/>
              <a:t> больших данных для различных задач</a:t>
            </a:r>
          </a:p>
          <a:p>
            <a:r>
              <a:rPr lang="ru-RU" dirty="0"/>
              <a:t>Произведено сравнение </a:t>
            </a:r>
            <a:r>
              <a:rPr lang="en-US" dirty="0"/>
              <a:t>OLAP|OLTP </a:t>
            </a:r>
            <a:r>
              <a:rPr lang="ru-RU" dirty="0"/>
              <a:t>систем, </a:t>
            </a:r>
            <a:r>
              <a:rPr lang="en-US" dirty="0"/>
              <a:t>ETL </a:t>
            </a:r>
            <a:r>
              <a:rPr lang="ru-RU" dirty="0"/>
              <a:t>и </a:t>
            </a:r>
            <a:r>
              <a:rPr lang="en-US" dirty="0"/>
              <a:t>ELT </a:t>
            </a:r>
            <a:r>
              <a:rPr lang="ru-RU" dirty="0"/>
              <a:t>процессов</a:t>
            </a:r>
          </a:p>
          <a:p>
            <a:r>
              <a:rPr lang="ru-RU" dirty="0"/>
              <a:t>Проведено сравнение инструментов миграции и сбора данных</a:t>
            </a:r>
          </a:p>
          <a:p>
            <a:r>
              <a:rPr lang="ru-RU" dirty="0"/>
              <a:t>Рассмотрены обзорно </a:t>
            </a:r>
            <a:r>
              <a:rPr lang="en-US" dirty="0"/>
              <a:t>Hadoop </a:t>
            </a:r>
            <a:r>
              <a:rPr lang="ru-RU" dirty="0"/>
              <a:t>и </a:t>
            </a:r>
            <a:r>
              <a:rPr lang="en-US" dirty="0"/>
              <a:t>Spark </a:t>
            </a:r>
            <a:endParaRPr lang="ru-RU" dirty="0"/>
          </a:p>
          <a:p>
            <a:r>
              <a:rPr lang="ru-RU" dirty="0"/>
              <a:t>Рассмотрены варианты конвейера данных на базе продуктов </a:t>
            </a:r>
            <a:r>
              <a:rPr lang="en-US" dirty="0"/>
              <a:t>Apache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2343CB-D2C0-7EFC-34E1-23D613F7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00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17D1E-EAAA-23EF-C959-80F8F32C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323AB7-E720-B0D7-C1BA-2D30E094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Классическое устройство конвейера обработки больших данных</a:t>
            </a:r>
          </a:p>
          <a:p>
            <a:r>
              <a:rPr lang="ru-RU" dirty="0"/>
              <a:t>Механизмы сбора и загрузки данных, источники данных</a:t>
            </a:r>
          </a:p>
          <a:p>
            <a:r>
              <a:rPr lang="en-US" dirty="0"/>
              <a:t>OLAP </a:t>
            </a:r>
            <a:r>
              <a:rPr lang="ru-RU" dirty="0"/>
              <a:t>системы обработки данных, модель данных </a:t>
            </a:r>
            <a:r>
              <a:rPr lang="en-US" dirty="0"/>
              <a:t>OLAP</a:t>
            </a:r>
            <a:endParaRPr lang="ru-RU" dirty="0"/>
          </a:p>
          <a:p>
            <a:r>
              <a:rPr lang="en-US" dirty="0"/>
              <a:t>OLTP </a:t>
            </a:r>
            <a:r>
              <a:rPr lang="ru-RU" dirty="0"/>
              <a:t>системы обработки данных, требования</a:t>
            </a:r>
          </a:p>
          <a:p>
            <a:r>
              <a:rPr lang="en-US" dirty="0"/>
              <a:t>ETL </a:t>
            </a:r>
            <a:r>
              <a:rPr lang="ru-RU" dirty="0"/>
              <a:t>и </a:t>
            </a:r>
            <a:r>
              <a:rPr lang="en-US" dirty="0"/>
              <a:t>ELT </a:t>
            </a:r>
            <a:r>
              <a:rPr lang="ru-RU" dirty="0"/>
              <a:t>процесс для обработки больших данных</a:t>
            </a:r>
          </a:p>
          <a:p>
            <a:r>
              <a:rPr lang="ru-RU" dirty="0"/>
              <a:t>Программные решения для </a:t>
            </a:r>
            <a:r>
              <a:rPr lang="en-US" dirty="0"/>
              <a:t>ETL </a:t>
            </a:r>
            <a:r>
              <a:rPr lang="ru-RU" dirty="0"/>
              <a:t>и </a:t>
            </a:r>
            <a:r>
              <a:rPr lang="en-US" dirty="0"/>
              <a:t>ELT </a:t>
            </a:r>
            <a:r>
              <a:rPr lang="ru-RU" dirty="0"/>
              <a:t>процессов, характерные особенности</a:t>
            </a:r>
          </a:p>
          <a:p>
            <a:r>
              <a:rPr lang="en-US" dirty="0"/>
              <a:t>Apache Hadoop</a:t>
            </a:r>
            <a:r>
              <a:rPr lang="ru-RU" dirty="0"/>
              <a:t>, принцип работы </a:t>
            </a:r>
            <a:r>
              <a:rPr lang="en-US" dirty="0"/>
              <a:t>HDFS,</a:t>
            </a:r>
            <a:r>
              <a:rPr lang="ru-RU" dirty="0"/>
              <a:t> отказоустойчивость кластера</a:t>
            </a:r>
            <a:endParaRPr lang="en-US" dirty="0"/>
          </a:p>
          <a:p>
            <a:r>
              <a:rPr lang="en-US" dirty="0"/>
              <a:t>MapReduce </a:t>
            </a:r>
            <a:r>
              <a:rPr lang="ru-RU" dirty="0"/>
              <a:t>как модель распределенных вычислений</a:t>
            </a:r>
          </a:p>
          <a:p>
            <a:r>
              <a:rPr lang="en-US" dirty="0"/>
              <a:t>Apache Spark, </a:t>
            </a:r>
            <a:r>
              <a:rPr lang="ru-RU" dirty="0"/>
              <a:t>область применения и особенности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A88F50-0C6D-D412-09F0-DC2C3265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7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02A7036-67AC-4B6E-933D-0EBEFC2F1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4D1FC-3C2B-40AC-AC46-5ADB2B78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4000" dirty="0"/>
              <a:t>Юрченков Иван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920733-DC10-4100-9E5C-5EBB2D00A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Yurchenkov@mirea.ru</a:t>
            </a:r>
            <a:r>
              <a:rPr lang="en-US" dirty="0"/>
              <a:t>	</a:t>
            </a:r>
            <a:r>
              <a:rPr lang="en-US" dirty="0">
                <a:hlinkClick r:id="rId4"/>
              </a:rPr>
              <a:t>qwerty29544@gmail.com</a:t>
            </a:r>
            <a:r>
              <a:rPr lang="en-US" dirty="0"/>
              <a:t> 	</a:t>
            </a:r>
            <a:r>
              <a:rPr lang="en-US" dirty="0" err="1"/>
              <a:t>tg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@ivanyurchenkov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6B0D40-C816-44EC-A3D6-5CA90F8CE9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Старший преподаватель кафедры прикладной математики ИИТ</a:t>
            </a:r>
          </a:p>
        </p:txBody>
      </p:sp>
    </p:spTree>
    <p:extLst>
      <p:ext uri="{BB962C8B-B14F-4D97-AF65-F5344CB8AC3E}">
        <p14:creationId xmlns:p14="http://schemas.microsoft.com/office/powerpoint/2010/main" val="2103870918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5371</TotalTime>
  <Words>7215</Words>
  <Application>Microsoft Office PowerPoint</Application>
  <PresentationFormat>Широкоэкранный</PresentationFormat>
  <Paragraphs>504</Paragraphs>
  <Slides>44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-apple-system</vt:lpstr>
      <vt:lpstr>Arial</vt:lpstr>
      <vt:lpstr>Calibri</vt:lpstr>
      <vt:lpstr>Fira Sans</vt:lpstr>
      <vt:lpstr>Roboto</vt:lpstr>
      <vt:lpstr>Wingdings</vt:lpstr>
      <vt:lpstr>YS Text</vt:lpstr>
      <vt:lpstr>Специальное оформление</vt:lpstr>
      <vt:lpstr>Презентация PowerPoint</vt:lpstr>
      <vt:lpstr>Лекция №2. Технологии обработки, хранения и анализа данных</vt:lpstr>
      <vt:lpstr>Классический конвейер обработки данных</vt:lpstr>
      <vt:lpstr>Сбор данных</vt:lpstr>
      <vt:lpstr>Типы данных и что собирать</vt:lpstr>
      <vt:lpstr>Способы и инструменты сбора данных</vt:lpstr>
      <vt:lpstr>Хранилища, витрины и озера данных</vt:lpstr>
      <vt:lpstr>OLTP и OLAP системы</vt:lpstr>
      <vt:lpstr>OLTP и OLAP системы</vt:lpstr>
      <vt:lpstr>OLAP системы хранения</vt:lpstr>
      <vt:lpstr>ETL процесс</vt:lpstr>
      <vt:lpstr>Преобразования данных в ETL</vt:lpstr>
      <vt:lpstr>Базовые операции преобразования данных </vt:lpstr>
      <vt:lpstr>Применение ETL процесса</vt:lpstr>
      <vt:lpstr>ELT процесс</vt:lpstr>
      <vt:lpstr>ELT процесс</vt:lpstr>
      <vt:lpstr>Пример </vt:lpstr>
      <vt:lpstr>Пример</vt:lpstr>
      <vt:lpstr>ETL против ELT</vt:lpstr>
      <vt:lpstr>ETL не против ELT</vt:lpstr>
      <vt:lpstr>Apache Flume</vt:lpstr>
      <vt:lpstr>Apache NIFI</vt:lpstr>
      <vt:lpstr>Apache Airflow</vt:lpstr>
      <vt:lpstr>Apache Kafka</vt:lpstr>
      <vt:lpstr>Инструменты для сбора и предобработки данных</vt:lpstr>
      <vt:lpstr>ETL не против ELT</vt:lpstr>
      <vt:lpstr>ETL не против ELT</vt:lpstr>
      <vt:lpstr>Возможная архитектура обработки в реальном времени</vt:lpstr>
      <vt:lpstr>Экосистема Hadoop (Apache)</vt:lpstr>
      <vt:lpstr>Экосистема Hadoop</vt:lpstr>
      <vt:lpstr>Hadoop HDFS принцип работы</vt:lpstr>
      <vt:lpstr>Архитектура работы MapReduce на базе HDFS</vt:lpstr>
      <vt:lpstr>Игрушечный пример MapReduce</vt:lpstr>
      <vt:lpstr>Циклы чтения и записи Hadoop</vt:lpstr>
      <vt:lpstr>Hadoop</vt:lpstr>
      <vt:lpstr>Apache Spark</vt:lpstr>
      <vt:lpstr>Apache Spark</vt:lpstr>
      <vt:lpstr>Apache Spark</vt:lpstr>
      <vt:lpstr>Apache Spark</vt:lpstr>
      <vt:lpstr>Архитектура на базе решений Apache</vt:lpstr>
      <vt:lpstr>Автоматизированная фабрика данных Сбер</vt:lpstr>
      <vt:lpstr>Заключение</vt:lpstr>
      <vt:lpstr>Вопросы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Саният Рагимова</dc:creator>
  <cp:lastModifiedBy>Иван Юрченков</cp:lastModifiedBy>
  <cp:revision>179</cp:revision>
  <dcterms:created xsi:type="dcterms:W3CDTF">2019-02-28T12:14:57Z</dcterms:created>
  <dcterms:modified xsi:type="dcterms:W3CDTF">2024-09-17T07:12:06Z</dcterms:modified>
</cp:coreProperties>
</file>