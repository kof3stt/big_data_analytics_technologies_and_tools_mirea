
<file path=[Content_Types].xml><?xml version="1.0" encoding="utf-8"?>
<Types xmlns="http://schemas.openxmlformats.org/package/2006/content-types"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theme/themeOverride1.xml" ContentType="application/vnd.openxmlformats-officedocument.themeOverride+xml"/>
  <Override PartName="/ppt/notesSlides/notesSlide2.xml" ContentType="application/vnd.openxmlformats-officedocument.presentationml.notesSlide+xml"/>
  <Override PartName="/ppt/theme/themeOverride2.xml" ContentType="application/vnd.openxmlformats-officedocument.themeOverride+xml"/>
  <Override PartName="/ppt/theme/themeOverride3.xml" ContentType="application/vnd.openxmlformats-officedocument.themeOverride+xml"/>
  <Override PartName="/ppt/theme/themeOverride4.xml" ContentType="application/vnd.openxmlformats-officedocument.themeOverride+xml"/>
  <Override PartName="/ppt/theme/themeOverride5.xml" ContentType="application/vnd.openxmlformats-officedocument.themeOverride+xml"/>
  <Override PartName="/ppt/theme/themeOverride6.xml" ContentType="application/vnd.openxmlformats-officedocument.themeOverride+xml"/>
  <Override PartName="/ppt/theme/themeOverride7.xml" ContentType="application/vnd.openxmlformats-officedocument.themeOverride+xml"/>
  <Override PartName="/ppt/theme/themeOverride8.xml" ContentType="application/vnd.openxmlformats-officedocument.themeOverride+xml"/>
  <Override PartName="/ppt/theme/themeOverride9.xml" ContentType="application/vnd.openxmlformats-officedocument.themeOverride+xml"/>
  <Override PartName="/ppt/theme/themeOverride10.xml" ContentType="application/vnd.openxmlformats-officedocument.themeOverride+xml"/>
  <Override PartName="/ppt/theme/themeOverride11.xml" ContentType="application/vnd.openxmlformats-officedocument.themeOverride+xml"/>
  <Override PartName="/ppt/theme/themeOverride12.xml" ContentType="application/vnd.openxmlformats-officedocument.themeOverride+xml"/>
  <Override PartName="/ppt/notesSlides/notesSlide3.xml" ContentType="application/vnd.openxmlformats-officedocument.presentationml.notesSlide+xml"/>
  <Override PartName="/ppt/theme/themeOverride13.xml" ContentType="application/vnd.openxmlformats-officedocument.themeOverride+xml"/>
  <Override PartName="/ppt/notesSlides/notesSlide4.xml" ContentType="application/vnd.openxmlformats-officedocument.presentationml.notesSlide+xml"/>
  <Override PartName="/ppt/theme/themeOverride14.xml" ContentType="application/vnd.openxmlformats-officedocument.themeOverride+xml"/>
  <Override PartName="/ppt/notesSlides/notesSlide5.xml" ContentType="application/vnd.openxmlformats-officedocument.presentationml.notesSlide+xml"/>
  <Override PartName="/ppt/theme/themeOverride15.xml" ContentType="application/vnd.openxmlformats-officedocument.themeOverride+xml"/>
  <Override PartName="/ppt/notesSlides/notesSlide6.xml" ContentType="application/vnd.openxmlformats-officedocument.presentationml.notesSlide+xml"/>
  <Override PartName="/ppt/theme/themeOverride16.xml" ContentType="application/vnd.openxmlformats-officedocument.themeOverride+xml"/>
  <Override PartName="/ppt/theme/themeOverride17.xml" ContentType="application/vnd.openxmlformats-officedocument.themeOverride+xml"/>
  <Override PartName="/ppt/theme/themeOverride18.xml" ContentType="application/vnd.openxmlformats-officedocument.themeOverride+xml"/>
  <Override PartName="/ppt/theme/themeOverride19.xml" ContentType="application/vnd.openxmlformats-officedocument.themeOverride+xml"/>
  <Override PartName="/ppt/theme/themeOverride20.xml" ContentType="application/vnd.openxmlformats-officedocument.themeOverride+xml"/>
  <Override PartName="/ppt/theme/themeOverride21.xml" ContentType="application/vnd.openxmlformats-officedocument.themeOverride+xml"/>
  <Override PartName="/ppt/theme/themeOverride22.xml" ContentType="application/vnd.openxmlformats-officedocument.themeOverride+xml"/>
  <Override PartName="/ppt/theme/themeOverride23.xml" ContentType="application/vnd.openxmlformats-officedocument.themeOverride+xml"/>
  <Override PartName="/ppt/theme/themeOverride24.xml" ContentType="application/vnd.openxmlformats-officedocument.themeOverride+xml"/>
  <Override PartName="/ppt/theme/themeOverride25.xml" ContentType="application/vnd.openxmlformats-officedocument.themeOverride+xml"/>
  <Override PartName="/ppt/theme/themeOverride26.xml" ContentType="application/vnd.openxmlformats-officedocument.themeOverride+xml"/>
  <Override PartName="/ppt/theme/themeOverride27.xml" ContentType="application/vnd.openxmlformats-officedocument.themeOverride+xml"/>
  <Override PartName="/ppt/theme/themeOverride28.xml" ContentType="application/vnd.openxmlformats-officedocument.themeOverride+xml"/>
  <Override PartName="/ppt/theme/themeOverride29.xml" ContentType="application/vnd.openxmlformats-officedocument.themeOverride+xml"/>
  <Override PartName="/ppt/theme/themeOverride30.xml" ContentType="application/vnd.openxmlformats-officedocument.themeOverride+xml"/>
  <Override PartName="/ppt/theme/themeOverride31.xml" ContentType="application/vnd.openxmlformats-officedocument.themeOverride+xml"/>
  <Override PartName="/ppt/theme/themeOverride32.xml" ContentType="application/vnd.openxmlformats-officedocument.themeOverride+xml"/>
  <Override PartName="/ppt/theme/themeOverride33.xml" ContentType="application/vnd.openxmlformats-officedocument.themeOverride+xml"/>
  <Override PartName="/ppt/theme/themeOverride34.xml" ContentType="application/vnd.openxmlformats-officedocument.themeOverride+xml"/>
  <Override PartName="/ppt/theme/themeOverride35.xml" ContentType="application/vnd.openxmlformats-officedocument.themeOverride+xml"/>
  <Override PartName="/ppt/theme/themeOverride36.xml" ContentType="application/vnd.openxmlformats-officedocument.themeOverride+xml"/>
  <Override PartName="/ppt/theme/themeOverride37.xml" ContentType="application/vnd.openxmlformats-officedocument.themeOverride+xml"/>
  <Override PartName="/ppt/theme/themeOverride38.xml" ContentType="application/vnd.openxmlformats-officedocument.themeOverride+xml"/>
  <Override PartName="/ppt/theme/themeOverride39.xml" ContentType="application/vnd.openxmlformats-officedocument.themeOverride+xml"/>
  <Override PartName="/ppt/theme/themeOverride40.xml" ContentType="application/vnd.openxmlformats-officedocument.themeOverride+xml"/>
  <Override PartName="/ppt/theme/themeOverride41.xml" ContentType="application/vnd.openxmlformats-officedocument.themeOverride+xml"/>
  <Override PartName="/ppt/theme/themeOverride42.xml" ContentType="application/vnd.openxmlformats-officedocument.themeOverride+xml"/>
  <Override PartName="/ppt/theme/themeOverride43.xml" ContentType="application/vnd.openxmlformats-officedocument.themeOverride+xml"/>
  <Override PartName="/ppt/theme/themeOverride44.xml" ContentType="application/vnd.openxmlformats-officedocument.themeOverride+xml"/>
  <Override PartName="/ppt/theme/themeOverride45.xml" ContentType="application/vnd.openxmlformats-officedocument.themeOverride+xml"/>
  <Override PartName="/ppt/theme/themeOverride46.xml" ContentType="application/vnd.openxmlformats-officedocument.themeOverride+xml"/>
  <Override PartName="/ppt/theme/themeOverride47.xml" ContentType="application/vnd.openxmlformats-officedocument.themeOverride+xml"/>
  <Override PartName="/ppt/theme/themeOverride48.xml" ContentType="application/vnd.openxmlformats-officedocument.themeOverride+xml"/>
  <Override PartName="/ppt/theme/themeOverride49.xml" ContentType="application/vnd.openxmlformats-officedocument.themeOverride+xml"/>
  <Override PartName="/ppt/theme/themeOverride50.xml" ContentType="application/vnd.openxmlformats-officedocument.themeOverride+xml"/>
  <Override PartName="/ppt/theme/themeOverride51.xml" ContentType="application/vnd.openxmlformats-officedocument.themeOverride+xml"/>
  <Override PartName="/ppt/theme/themeOverride52.xml" ContentType="application/vnd.openxmlformats-officedocument.themeOverride+xml"/>
  <Override PartName="/ppt/theme/themeOverride53.xml" ContentType="application/vnd.openxmlformats-officedocument.themeOverride+xml"/>
  <Override PartName="/ppt/theme/themeOverride54.xml" ContentType="application/vnd.openxmlformats-officedocument.themeOverride+xml"/>
  <Override PartName="/ppt/theme/themeOverride55.xml" ContentType="application/vnd.openxmlformats-officedocument.themeOverride+xml"/>
  <Override PartName="/ppt/theme/themeOverride56.xml" ContentType="application/vnd.openxmlformats-officedocument.themeOverride+xml"/>
  <Override PartName="/ppt/theme/themeOverride57.xml" ContentType="application/vnd.openxmlformats-officedocument.themeOverride+xml"/>
  <Override PartName="/ppt/theme/themeOverride58.xml" ContentType="application/vnd.openxmlformats-officedocument.themeOverride+xml"/>
  <Override PartName="/ppt/theme/themeOverride59.xml" ContentType="application/vnd.openxmlformats-officedocument.themeOverride+xml"/>
  <Override PartName="/ppt/theme/themeOverride60.xml" ContentType="application/vnd.openxmlformats-officedocument.themeOverride+xml"/>
  <Override PartName="/ppt/theme/themeOverride61.xml" ContentType="application/vnd.openxmlformats-officedocument.themeOverride+xml"/>
  <Override PartName="/ppt/theme/themeOverride62.xml" ContentType="application/vnd.openxmlformats-officedocument.themeOverride+xml"/>
  <Override PartName="/ppt/theme/themeOverride63.xml" ContentType="application/vnd.openxmlformats-officedocument.themeOverride+xml"/>
  <Override PartName="/ppt/theme/themeOverride64.xml" ContentType="application/vnd.openxmlformats-officedocument.themeOverride+xml"/>
  <Override PartName="/ppt/theme/themeOverride65.xml" ContentType="application/vnd.openxmlformats-officedocument.themeOverr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66" r:id="rId1"/>
  </p:sldMasterIdLst>
  <p:notesMasterIdLst>
    <p:notesMasterId r:id="rId70"/>
  </p:notesMasterIdLst>
  <p:sldIdLst>
    <p:sldId id="313" r:id="rId2"/>
    <p:sldId id="312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315" r:id="rId14"/>
    <p:sldId id="317" r:id="rId15"/>
    <p:sldId id="323" r:id="rId16"/>
    <p:sldId id="316" r:id="rId17"/>
    <p:sldId id="318" r:id="rId18"/>
    <p:sldId id="314" r:id="rId19"/>
    <p:sldId id="319" r:id="rId20"/>
    <p:sldId id="320" r:id="rId21"/>
    <p:sldId id="321" r:id="rId22"/>
    <p:sldId id="322" r:id="rId23"/>
    <p:sldId id="268" r:id="rId24"/>
    <p:sldId id="269" r:id="rId25"/>
    <p:sldId id="270" r:id="rId26"/>
    <p:sldId id="271" r:id="rId27"/>
    <p:sldId id="272" r:id="rId28"/>
    <p:sldId id="273" r:id="rId29"/>
    <p:sldId id="274" r:id="rId30"/>
    <p:sldId id="325" r:id="rId31"/>
    <p:sldId id="277" r:id="rId32"/>
    <p:sldId id="278" r:id="rId33"/>
    <p:sldId id="276" r:id="rId34"/>
    <p:sldId id="275" r:id="rId35"/>
    <p:sldId id="279" r:id="rId36"/>
    <p:sldId id="280" r:id="rId37"/>
    <p:sldId id="281" r:id="rId38"/>
    <p:sldId id="324" r:id="rId39"/>
    <p:sldId id="282" r:id="rId40"/>
    <p:sldId id="283" r:id="rId41"/>
    <p:sldId id="284" r:id="rId42"/>
    <p:sldId id="285" r:id="rId43"/>
    <p:sldId id="286" r:id="rId44"/>
    <p:sldId id="287" r:id="rId45"/>
    <p:sldId id="288" r:id="rId46"/>
    <p:sldId id="289" r:id="rId47"/>
    <p:sldId id="290" r:id="rId48"/>
    <p:sldId id="291" r:id="rId49"/>
    <p:sldId id="292" r:id="rId50"/>
    <p:sldId id="293" r:id="rId51"/>
    <p:sldId id="294" r:id="rId52"/>
    <p:sldId id="295" r:id="rId53"/>
    <p:sldId id="296" r:id="rId54"/>
    <p:sldId id="297" r:id="rId55"/>
    <p:sldId id="298" r:id="rId56"/>
    <p:sldId id="299" r:id="rId57"/>
    <p:sldId id="300" r:id="rId58"/>
    <p:sldId id="301" r:id="rId59"/>
    <p:sldId id="302" r:id="rId60"/>
    <p:sldId id="303" r:id="rId61"/>
    <p:sldId id="304" r:id="rId62"/>
    <p:sldId id="305" r:id="rId63"/>
    <p:sldId id="306" r:id="rId64"/>
    <p:sldId id="307" r:id="rId65"/>
    <p:sldId id="308" r:id="rId66"/>
    <p:sldId id="309" r:id="rId67"/>
    <p:sldId id="310" r:id="rId68"/>
    <p:sldId id="311" r:id="rId69"/>
  </p:sldIdLst>
  <p:sldSz cx="9144000" cy="6858000" type="screen4x3"/>
  <p:notesSz cx="9144000" cy="68580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Mikhail Bocharov" initials="MB" lastIdx="1" clrIdx="0">
    <p:extLst>
      <p:ext uri="{19B8F6BF-5375-455C-9EA6-DF929625EA0E}">
        <p15:presenceInfo xmlns:p15="http://schemas.microsoft.com/office/powerpoint/2012/main" userId="7adb6a7eedeb7659" providerId="Windows Liv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4347" autoAdjust="0"/>
    <p:restoredTop sz="87015" autoAdjust="0"/>
  </p:normalViewPr>
  <p:slideViewPr>
    <p:cSldViewPr>
      <p:cViewPr>
        <p:scale>
          <a:sx n="66" d="100"/>
          <a:sy n="66" d="100"/>
        </p:scale>
        <p:origin x="1531" y="298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notesViewPr>
    <p:cSldViewPr>
      <p:cViewPr varScale="1">
        <p:scale>
          <a:sx n="100" d="100"/>
          <a:sy n="100" d="100"/>
        </p:scale>
        <p:origin x="1404" y="72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66" Type="http://schemas.openxmlformats.org/officeDocument/2006/relationships/slide" Target="slides/slide65.xml"/><Relationship Id="rId74" Type="http://schemas.openxmlformats.org/officeDocument/2006/relationships/theme" Target="theme/theme1.xml"/><Relationship Id="rId5" Type="http://schemas.openxmlformats.org/officeDocument/2006/relationships/slide" Target="slides/slide4.xml"/><Relationship Id="rId61" Type="http://schemas.openxmlformats.org/officeDocument/2006/relationships/slide" Target="slides/slide60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presProps" Target="presProps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slide" Target="slides/slide66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notesMaster" Target="notesMasters/notesMaster1.xml"/><Relationship Id="rId75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" Type="http://schemas.openxmlformats.org/officeDocument/2006/relationships/slide" Target="slides/slide6.xml"/><Relationship Id="rId71" Type="http://schemas.openxmlformats.org/officeDocument/2006/relationships/commentAuthors" Target="commentAuthor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44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44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84D3DCB-A1F6-4D77-B944-BA104682E2A1}" type="datetimeFigureOut">
              <a:rPr lang="ru-RU" smtClean="0"/>
              <a:t>15.10.2024</a:t>
            </a:fld>
            <a:endParaRPr lang="ru-RU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3028950" y="857250"/>
            <a:ext cx="3086100" cy="231457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914400" y="3300413"/>
            <a:ext cx="7315200" cy="2700337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6513513"/>
            <a:ext cx="3962400" cy="3444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5180013" y="6513513"/>
            <a:ext cx="3962400" cy="3444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ECB8B1E-725D-4009-AE77-F13A2082C589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82750434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F4ECBE7-4487-4615-A10C-5FECAADA1E8C}" type="slidenum">
              <a:rPr lang="ru-RU" smtClean="0"/>
              <a:t>1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96657572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37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DF4ECBE7-4487-4615-A10C-5FECAADA1E8C}" type="slidenum">
              <a:rPr kumimoji="0" lang="ru-RU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377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</a:t>
            </a:fld>
            <a:endParaRPr kumimoji="0" lang="ru-RU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2117352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 algn="just">
              <a:buNone/>
            </a:pPr>
            <a:r>
              <a:rPr lang="ru-RU" dirty="0"/>
              <a:t>Для того чтобы модель линейной регрессии можно было применять на практике необходимо сначала оценить её качество. Для этих целей предложен ряд показателей, каждый из которых предназначен для использования в различных ситуациях и имеет свои особенности применения (линейные и нелинейные, устойчивые к аномалиям, абсолютные и относительные, и т.д.). Корректный выбор меры для оценки качества модели является одним из важных факторов успеха в решении задач анализа данных.</a:t>
            </a:r>
          </a:p>
          <a:p>
            <a:pPr marL="0" indent="0" algn="just">
              <a:buNone/>
            </a:pPr>
            <a:endParaRPr lang="ru-RU" dirty="0"/>
          </a:p>
          <a:p>
            <a:pPr marL="0" indent="0" algn="just">
              <a:buNone/>
            </a:pPr>
            <a:r>
              <a:rPr lang="ru-RU" dirty="0"/>
              <a:t>«Хорошая» аналитическая модель должна удовлетворять двум требованиям — как можно лучше соответствовать данным и при этом быть удобной для интерпретации пользователем. Повышение соответствия модели данным как правило связано с её усложнением (в случае регрессии — увеличением числа входных переменных модели). А чем сложнее модель, тем ниже её интерпретируемость.</a:t>
            </a:r>
          </a:p>
          <a:p>
            <a:pPr marL="0" indent="0" algn="just">
              <a:buNone/>
            </a:pPr>
            <a:endParaRPr lang="ru-RU" dirty="0"/>
          </a:p>
          <a:p>
            <a:pPr marL="0" indent="0" algn="just">
              <a:buNone/>
            </a:pPr>
            <a:r>
              <a:rPr lang="ru-RU" dirty="0"/>
              <a:t>Поэтому при выборе между простой и сложной моделью последняя должна значимо увеличивать соответствие модели данным чтобы оправдать рост сложности и соответствующее снижение интерпретируемости. Если это условие не выполняется, то следует выбрать более простую модель.</a:t>
            </a:r>
          </a:p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ECB8B1E-725D-4009-AE77-F13A2082C589}" type="slidenum">
              <a:rPr lang="ru-RU" smtClean="0"/>
              <a:t>13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9531167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ru-RU" dirty="0"/>
              <a:t>Чтобы оценить, насколько повышение сложности модели значимо увеличивает её точность, необходимо использовать аппарат оценки качества регрессионных моделей. Он включает в себя следующие меры:</a:t>
            </a:r>
          </a:p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ECB8B1E-725D-4009-AE77-F13A2082C589}" type="slidenum">
              <a:rPr lang="ru-RU" smtClean="0"/>
              <a:t>14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63037071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45D6CE8-C7FC-B0DB-1E09-E9093A9269F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>
            <a:extLst>
              <a:ext uri="{FF2B5EF4-FFF2-40B4-BE49-F238E27FC236}">
                <a16:creationId xmlns:a16="http://schemas.microsoft.com/office/drawing/2014/main" id="{0BF67BDB-079B-4217-57F7-CEE5734F443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>
            <a:extLst>
              <a:ext uri="{FF2B5EF4-FFF2-40B4-BE49-F238E27FC236}">
                <a16:creationId xmlns:a16="http://schemas.microsoft.com/office/drawing/2014/main" id="{4A2C46D6-1AB1-7C19-F1C4-54501471284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ru-RU" dirty="0"/>
              <a:t>Чтобы оценить, насколько повышение сложности модели значимо увеличивает её точность, необходимо использовать аппарат оценки качества регрессионных моделей. Он включает в себя следующие меры:</a:t>
            </a:r>
          </a:p>
          <a:p>
            <a:endParaRPr lang="ru-RU" dirty="0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A61458EC-18A0-A84D-EC10-FBAD364D2DD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ECB8B1E-725D-4009-AE77-F13A2082C589}" type="slidenum">
              <a:rPr lang="ru-RU" smtClean="0"/>
              <a:t>15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39050233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ECB8B1E-725D-4009-AE77-F13A2082C589}" type="slidenum">
              <a:rPr lang="ru-RU" smtClean="0"/>
              <a:t>16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01671570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лектор слев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Текст 4">
            <a:extLst>
              <a:ext uri="{FF2B5EF4-FFF2-40B4-BE49-F238E27FC236}">
                <a16:creationId xmlns:a16="http://schemas.microsoft.com/office/drawing/2014/main" id="{A1E5457D-1A65-4814-B82B-2C09539FDD7D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46834" y="212653"/>
            <a:ext cx="8412133" cy="2145987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4050" b="0" cap="none" spc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pPr lvl="0"/>
            <a:r>
              <a:rPr lang="ru-RU" dirty="0"/>
              <a:t>Название дисциплины</a:t>
            </a:r>
          </a:p>
        </p:txBody>
      </p:sp>
      <p:sp>
        <p:nvSpPr>
          <p:cNvPr id="6" name="Текст 4">
            <a:extLst>
              <a:ext uri="{FF2B5EF4-FFF2-40B4-BE49-F238E27FC236}">
                <a16:creationId xmlns:a16="http://schemas.microsoft.com/office/drawing/2014/main" id="{243EB0EA-B14F-4F7C-A662-195D09977AC2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646833" y="4433107"/>
            <a:ext cx="8412133" cy="689986"/>
          </a:xfrm>
          <a:prstGeom prst="rect">
            <a:avLst/>
          </a:prstGeom>
        </p:spPr>
        <p:txBody>
          <a:bodyPr/>
          <a:lstStyle>
            <a:lvl1pPr marL="0" indent="0" algn="r">
              <a:buNone/>
              <a:defRPr sz="3000" b="0" cap="none" spc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pPr lvl="0"/>
            <a:r>
              <a:rPr lang="ru-RU" dirty="0"/>
              <a:t>ФИО лектора</a:t>
            </a:r>
          </a:p>
        </p:txBody>
      </p:sp>
      <p:sp>
        <p:nvSpPr>
          <p:cNvPr id="8" name="Текст 4">
            <a:extLst>
              <a:ext uri="{FF2B5EF4-FFF2-40B4-BE49-F238E27FC236}">
                <a16:creationId xmlns:a16="http://schemas.microsoft.com/office/drawing/2014/main" id="{6657CA8C-522E-4429-B65F-6D6FE560E4B1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46832" y="6034875"/>
            <a:ext cx="8412133" cy="513908"/>
          </a:xfrm>
          <a:prstGeom prst="rect">
            <a:avLst/>
          </a:prstGeom>
        </p:spPr>
        <p:txBody>
          <a:bodyPr/>
          <a:lstStyle>
            <a:lvl1pPr marL="0" indent="0" algn="r">
              <a:buNone/>
              <a:defRPr sz="1500" b="0" cap="none" spc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pPr lvl="0"/>
            <a:r>
              <a:rPr lang="ru-RU" dirty="0"/>
              <a:t>Контактный </a:t>
            </a:r>
            <a:r>
              <a:rPr lang="en-US" dirty="0"/>
              <a:t>e-mail</a:t>
            </a:r>
            <a:endParaRPr lang="ru-RU" dirty="0"/>
          </a:p>
        </p:txBody>
      </p:sp>
      <p:sp>
        <p:nvSpPr>
          <p:cNvPr id="9" name="Текст 4">
            <a:extLst>
              <a:ext uri="{FF2B5EF4-FFF2-40B4-BE49-F238E27FC236}">
                <a16:creationId xmlns:a16="http://schemas.microsoft.com/office/drawing/2014/main" id="{7D9F4617-139A-49F3-B340-15C00D7D3994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646833" y="5344889"/>
            <a:ext cx="8412133" cy="513908"/>
          </a:xfrm>
          <a:prstGeom prst="rect">
            <a:avLst/>
          </a:prstGeom>
        </p:spPr>
        <p:txBody>
          <a:bodyPr/>
          <a:lstStyle>
            <a:lvl1pPr marL="0" indent="0" algn="r">
              <a:buNone/>
              <a:defRPr sz="1500" b="0" cap="none" spc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pPr lvl="0"/>
            <a:r>
              <a:rPr lang="ru-RU" dirty="0"/>
              <a:t>Звание, должность, место работы</a:t>
            </a:r>
          </a:p>
        </p:txBody>
      </p:sp>
      <p:sp>
        <p:nvSpPr>
          <p:cNvPr id="3" name="Прямоугольник 2"/>
          <p:cNvSpPr/>
          <p:nvPr userDrawn="1"/>
        </p:nvSpPr>
        <p:spPr>
          <a:xfrm>
            <a:off x="6952895" y="5800782"/>
            <a:ext cx="2106069" cy="45719"/>
          </a:xfrm>
          <a:prstGeom prst="rect">
            <a:avLst/>
          </a:prstGeom>
          <a:solidFill>
            <a:schemeClr val="accent1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10" name="Рисунок 9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367" y="70793"/>
            <a:ext cx="480272" cy="7079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85018759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244FFBC-5083-5772-781F-FA8FFDCAFF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b="1">
                <a:latin typeface="+mn-lt"/>
              </a:defRPr>
            </a:lvl1pPr>
          </a:lstStyle>
          <a:p>
            <a:r>
              <a:rPr lang="ru-RU" dirty="0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4E133F82-3BB3-7EDF-7536-20AF304CA62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8650" y="1358782"/>
            <a:ext cx="7886700" cy="4818181"/>
          </a:xfrm>
        </p:spPr>
        <p:txBody>
          <a:bodyPr/>
          <a:lstStyle/>
          <a:p>
            <a:pPr lvl="0"/>
            <a:r>
              <a:rPr lang="ru-RU" dirty="0"/>
              <a:t>Образец текста</a:t>
            </a:r>
          </a:p>
          <a:p>
            <a:pPr lvl="1"/>
            <a:r>
              <a:rPr lang="ru-RU" dirty="0"/>
              <a:t>Второй уровень</a:t>
            </a:r>
          </a:p>
          <a:p>
            <a:pPr lvl="2"/>
            <a:r>
              <a:rPr lang="ru-RU" dirty="0"/>
              <a:t>Третий уровень</a:t>
            </a:r>
          </a:p>
          <a:p>
            <a:pPr lvl="3"/>
            <a:r>
              <a:rPr lang="ru-RU" dirty="0"/>
              <a:t>Четвертый уровень</a:t>
            </a:r>
          </a:p>
          <a:p>
            <a:pPr lvl="4"/>
            <a:r>
              <a:rPr lang="ru-RU" dirty="0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558AC38B-5A39-332A-B892-1C5B3FBB85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7AA438C3-09F7-C37D-6E65-4491F577CA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BEC83835-A57E-A742-987C-C776B6ED15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C5FB71-5E9C-41B5-9BB8-3F1EBEAEB16A}" type="slidenum">
              <a:rPr lang="ru-RU" smtClean="0"/>
              <a:t>‹#›</a:t>
            </a:fld>
            <a:endParaRPr lang="ru-RU"/>
          </a:p>
        </p:txBody>
      </p:sp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FB905A05-7552-49FE-9E77-7F0D9D97E04E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367" y="70793"/>
            <a:ext cx="480272" cy="7079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5065015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878FF1D-6E2D-5C37-1EF9-3C33C8D4FA8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ru-RU" dirty="0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F0582E55-3C82-8981-AD35-5BE1CAF7810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05C24C26-5FFB-10BC-7F6B-DD086C3D3B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9D785404-A40E-C6B4-B1AF-346CA25363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9FEA0686-FE00-F77C-4961-0D4916B1D1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C5FB71-5E9C-41B5-9BB8-3F1EBEAEB16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49374802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03BFC52-ACF7-50D2-B236-F3AD0C764E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063D935F-6E1D-704A-FFD9-95880A32F61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28650" y="1350234"/>
            <a:ext cx="3886200" cy="4826729"/>
          </a:xfrm>
        </p:spPr>
        <p:txBody>
          <a:bodyPr/>
          <a:lstStyle/>
          <a:p>
            <a:pPr lvl="0"/>
            <a:r>
              <a:rPr lang="ru-RU" dirty="0"/>
              <a:t>Образец текста</a:t>
            </a:r>
          </a:p>
          <a:p>
            <a:pPr lvl="1"/>
            <a:r>
              <a:rPr lang="ru-RU" dirty="0"/>
              <a:t>Второй уровень</a:t>
            </a:r>
          </a:p>
          <a:p>
            <a:pPr lvl="2"/>
            <a:r>
              <a:rPr lang="ru-RU" dirty="0"/>
              <a:t>Третий уровень</a:t>
            </a:r>
          </a:p>
          <a:p>
            <a:pPr lvl="3"/>
            <a:r>
              <a:rPr lang="ru-RU" dirty="0"/>
              <a:t>Четвертый уровень</a:t>
            </a:r>
          </a:p>
          <a:p>
            <a:pPr lvl="4"/>
            <a:r>
              <a:rPr lang="ru-RU" dirty="0"/>
              <a:t>Пятый уровень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C45F5B83-C11F-C63E-19F8-F170305E739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629150" y="1350233"/>
            <a:ext cx="3886200" cy="4826730"/>
          </a:xfrm>
        </p:spPr>
        <p:txBody>
          <a:bodyPr/>
          <a:lstStyle/>
          <a:p>
            <a:pPr lvl="0"/>
            <a:r>
              <a:rPr lang="ru-RU" dirty="0"/>
              <a:t>Образец текста</a:t>
            </a:r>
          </a:p>
          <a:p>
            <a:pPr lvl="1"/>
            <a:r>
              <a:rPr lang="ru-RU" dirty="0"/>
              <a:t>Второй уровень</a:t>
            </a:r>
          </a:p>
          <a:p>
            <a:pPr lvl="2"/>
            <a:r>
              <a:rPr lang="ru-RU" dirty="0"/>
              <a:t>Третий уровень</a:t>
            </a:r>
          </a:p>
          <a:p>
            <a:pPr lvl="3"/>
            <a:r>
              <a:rPr lang="ru-RU" dirty="0"/>
              <a:t>Четвертый уровень</a:t>
            </a:r>
          </a:p>
          <a:p>
            <a:pPr lvl="4"/>
            <a:r>
              <a:rPr lang="ru-RU" dirty="0"/>
              <a:t>Пятый уровень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816558B0-F06F-5D3F-D4CE-12FEA6CA58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D5CA1470-A32E-0878-FF54-B467D37346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823D6CAE-E104-B509-30C5-5F816DC34D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C5FB71-5E9C-41B5-9BB8-3F1EBEAEB16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07378122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9662FB2-61E9-B090-DDF5-637C0F1167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8B13BEC1-5CE1-39A0-5F98-DF1F88A9A1B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7B468AB7-7222-8D12-74BF-6E3FB9D6FFE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ru-RU" dirty="0"/>
              <a:t>Образец текста</a:t>
            </a:r>
          </a:p>
          <a:p>
            <a:pPr lvl="1"/>
            <a:r>
              <a:rPr lang="ru-RU" dirty="0"/>
              <a:t>Второй уровень</a:t>
            </a:r>
          </a:p>
          <a:p>
            <a:pPr lvl="2"/>
            <a:r>
              <a:rPr lang="ru-RU" dirty="0"/>
              <a:t>Третий уровень</a:t>
            </a:r>
          </a:p>
          <a:p>
            <a:pPr lvl="3"/>
            <a:r>
              <a:rPr lang="ru-RU" dirty="0"/>
              <a:t>Четвертый уровень</a:t>
            </a:r>
          </a:p>
          <a:p>
            <a:pPr lvl="4"/>
            <a:r>
              <a:rPr lang="ru-RU" dirty="0"/>
              <a:t>Пятый уровень</a:t>
            </a:r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36F43AB0-793E-04C0-7572-90E3AE8BD6E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>
            <a:extLst>
              <a:ext uri="{FF2B5EF4-FFF2-40B4-BE49-F238E27FC236}">
                <a16:creationId xmlns:a16="http://schemas.microsoft.com/office/drawing/2014/main" id="{23145C1A-E56D-D9A4-49F4-0E7DE8CF2B4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7" name="Дата 6">
            <a:extLst>
              <a:ext uri="{FF2B5EF4-FFF2-40B4-BE49-F238E27FC236}">
                <a16:creationId xmlns:a16="http://schemas.microsoft.com/office/drawing/2014/main" id="{D740FE84-A485-926E-EB2F-9B3A823DB8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8" name="Нижний колонтитул 7">
            <a:extLst>
              <a:ext uri="{FF2B5EF4-FFF2-40B4-BE49-F238E27FC236}">
                <a16:creationId xmlns:a16="http://schemas.microsoft.com/office/drawing/2014/main" id="{4ADDA50C-CC20-F389-1487-E639ADD36B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>
            <a:extLst>
              <a:ext uri="{FF2B5EF4-FFF2-40B4-BE49-F238E27FC236}">
                <a16:creationId xmlns:a16="http://schemas.microsoft.com/office/drawing/2014/main" id="{9EDB0A96-E301-1128-9118-CB1ADB6AF5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C5FB71-5E9C-41B5-9BB8-3F1EBEAEB16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71738210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DF0D036-AD2A-1CBA-C6F3-7B4578499C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Дата 2">
            <a:extLst>
              <a:ext uri="{FF2B5EF4-FFF2-40B4-BE49-F238E27FC236}">
                <a16:creationId xmlns:a16="http://schemas.microsoft.com/office/drawing/2014/main" id="{2C548B4E-17C4-CF0D-4E01-1DC835F2F1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05E4C0D2-8219-4FB3-36A6-B7D7FBAE00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B480AC24-E8CC-84DB-8B56-18C72FA883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C5FB71-5E9C-41B5-9BB8-3F1EBEAEB16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27981774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>
            <a:extLst>
              <a:ext uri="{FF2B5EF4-FFF2-40B4-BE49-F238E27FC236}">
                <a16:creationId xmlns:a16="http://schemas.microsoft.com/office/drawing/2014/main" id="{1828864F-9629-DBDC-6AA3-5D97BFEFB2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3" name="Нижний колонтитул 2">
            <a:extLst>
              <a:ext uri="{FF2B5EF4-FFF2-40B4-BE49-F238E27FC236}">
                <a16:creationId xmlns:a16="http://schemas.microsoft.com/office/drawing/2014/main" id="{E5DC655F-3247-CCB5-ACC2-F50126E46C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A322E155-6080-BCFA-E59A-34FCD9CD2F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C5FB71-5E9C-41B5-9BB8-3F1EBEAEB16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80232454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DABC904-DE7E-1195-CDF6-0A530BBDF0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EABC21CB-E5B3-D11E-2E38-ECCD7B0B1D0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C5E67837-24BE-30FB-FD14-64C3E801CD2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76F30326-BFB0-8F27-BDF9-353C631FD3D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538C1939-F636-863E-84C1-530A04A8AF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2153206C-50B3-2EDC-8517-7704146F07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C5FB71-5E9C-41B5-9BB8-3F1EBEAEB16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09835232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880F850-BF2A-5E90-C014-05D89F8466A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Рисунок 2">
            <a:extLst>
              <a:ext uri="{FF2B5EF4-FFF2-40B4-BE49-F238E27FC236}">
                <a16:creationId xmlns:a16="http://schemas.microsoft.com/office/drawing/2014/main" id="{65ED2E89-03E3-6279-B0B8-5B70A09CD47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ru-RU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688B8B21-B9FB-6209-49AE-287EA61C5CA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03AF0344-3C4D-162C-D2C6-3EC83808A1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F531DDED-EC2F-5D31-C4FB-58BF1C1C65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8A915E6D-61CA-F55A-221D-E7DDED9F27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C5FB71-5E9C-41B5-9BB8-3F1EBEAEB16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82986401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D2E7370-4728-F9E8-C914-18F0F1D5AD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0939D510-D502-390D-92B5-3838FC4CC0D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AC79971B-94C9-FEEC-4C09-AC62144438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B9135BFA-5492-23C4-E6A2-1A5B50DB84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9AF740CD-9E9E-D419-05AF-685E0B4E59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C5FB71-5E9C-41B5-9BB8-3F1EBEAEB16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61197562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>
            <a:extLst>
              <a:ext uri="{FF2B5EF4-FFF2-40B4-BE49-F238E27FC236}">
                <a16:creationId xmlns:a16="http://schemas.microsoft.com/office/drawing/2014/main" id="{1703B8D4-FFFB-51BC-0095-F6912432DD2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6EE6D829-078B-B5F1-ADE1-33C94626B73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62FE88C0-8BC2-47C8-E4DC-B700D95EBC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8A85BF16-D79D-ED36-0BF9-885AFC7FB3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E41666F3-33E7-6CB8-C181-1FE2342AAC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C5FB71-5E9C-41B5-9BB8-3F1EBEAEB16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30282873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лектор слев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Текст 4">
            <a:extLst>
              <a:ext uri="{FF2B5EF4-FFF2-40B4-BE49-F238E27FC236}">
                <a16:creationId xmlns:a16="http://schemas.microsoft.com/office/drawing/2014/main" id="{A1E5457D-1A65-4814-B82B-2C09539FDD7D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46834" y="212652"/>
            <a:ext cx="8412133" cy="2472070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4050" b="0" cap="none" spc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pPr lvl="0"/>
            <a:r>
              <a:rPr lang="ru-RU" dirty="0"/>
              <a:t>Название дисциплины</a:t>
            </a:r>
          </a:p>
        </p:txBody>
      </p:sp>
      <p:sp>
        <p:nvSpPr>
          <p:cNvPr id="6" name="Текст 4">
            <a:extLst>
              <a:ext uri="{FF2B5EF4-FFF2-40B4-BE49-F238E27FC236}">
                <a16:creationId xmlns:a16="http://schemas.microsoft.com/office/drawing/2014/main" id="{243EB0EA-B14F-4F7C-A662-195D09977AC2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646833" y="4433107"/>
            <a:ext cx="8412133" cy="689986"/>
          </a:xfrm>
          <a:prstGeom prst="rect">
            <a:avLst/>
          </a:prstGeom>
        </p:spPr>
        <p:txBody>
          <a:bodyPr/>
          <a:lstStyle>
            <a:lvl1pPr marL="0" indent="0" algn="r">
              <a:buNone/>
              <a:defRPr sz="3000" b="0" cap="none" spc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pPr lvl="0"/>
            <a:r>
              <a:rPr lang="ru-RU" dirty="0"/>
              <a:t>ФИО лектора</a:t>
            </a:r>
          </a:p>
        </p:txBody>
      </p:sp>
      <p:sp>
        <p:nvSpPr>
          <p:cNvPr id="8" name="Текст 4">
            <a:extLst>
              <a:ext uri="{FF2B5EF4-FFF2-40B4-BE49-F238E27FC236}">
                <a16:creationId xmlns:a16="http://schemas.microsoft.com/office/drawing/2014/main" id="{6657CA8C-522E-4429-B65F-6D6FE560E4B1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46832" y="6034875"/>
            <a:ext cx="8412133" cy="513908"/>
          </a:xfrm>
          <a:prstGeom prst="rect">
            <a:avLst/>
          </a:prstGeom>
        </p:spPr>
        <p:txBody>
          <a:bodyPr/>
          <a:lstStyle>
            <a:lvl1pPr marL="0" indent="0" algn="r">
              <a:buNone/>
              <a:defRPr sz="1500" b="0" cap="none" spc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pPr lvl="0"/>
            <a:r>
              <a:rPr lang="ru-RU" dirty="0"/>
              <a:t>Контактный </a:t>
            </a:r>
            <a:r>
              <a:rPr lang="en-US" dirty="0"/>
              <a:t>e-mail</a:t>
            </a:r>
            <a:endParaRPr lang="ru-RU" dirty="0"/>
          </a:p>
        </p:txBody>
      </p:sp>
      <p:sp>
        <p:nvSpPr>
          <p:cNvPr id="9" name="Текст 4">
            <a:extLst>
              <a:ext uri="{FF2B5EF4-FFF2-40B4-BE49-F238E27FC236}">
                <a16:creationId xmlns:a16="http://schemas.microsoft.com/office/drawing/2014/main" id="{7D9F4617-139A-49F3-B340-15C00D7D3994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646833" y="5344889"/>
            <a:ext cx="8412133" cy="513908"/>
          </a:xfrm>
          <a:prstGeom prst="rect">
            <a:avLst/>
          </a:prstGeom>
        </p:spPr>
        <p:txBody>
          <a:bodyPr/>
          <a:lstStyle>
            <a:lvl1pPr marL="0" indent="0" algn="r">
              <a:buNone/>
              <a:defRPr sz="1500" b="0" cap="none" spc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pPr lvl="0"/>
            <a:r>
              <a:rPr lang="ru-RU" dirty="0"/>
              <a:t>Звание, должность, место работы</a:t>
            </a:r>
          </a:p>
        </p:txBody>
      </p:sp>
      <p:sp>
        <p:nvSpPr>
          <p:cNvPr id="3" name="Прямоугольник 2"/>
          <p:cNvSpPr/>
          <p:nvPr userDrawn="1"/>
        </p:nvSpPr>
        <p:spPr>
          <a:xfrm>
            <a:off x="6952895" y="5800782"/>
            <a:ext cx="2106069" cy="45719"/>
          </a:xfrm>
          <a:prstGeom prst="rect">
            <a:avLst/>
          </a:prstGeom>
          <a:solidFill>
            <a:schemeClr val="accent1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10" name="Рисунок 9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367" y="70793"/>
            <a:ext cx="480272" cy="7079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8798989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лектор слев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Текст 4">
            <a:extLst>
              <a:ext uri="{FF2B5EF4-FFF2-40B4-BE49-F238E27FC236}">
                <a16:creationId xmlns:a16="http://schemas.microsoft.com/office/drawing/2014/main" id="{A1E5457D-1A65-4814-B82B-2C09539FDD7D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70214" y="212653"/>
            <a:ext cx="8388753" cy="1161898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4050" b="0" cap="none" spc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defRPr>
            </a:lvl1pPr>
          </a:lstStyle>
          <a:p>
            <a:pPr lvl="0"/>
            <a:r>
              <a:rPr lang="ru-RU" dirty="0"/>
              <a:t>Название слайда</a:t>
            </a: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6EAB95B9-19B9-409F-B0C0-80242AEA1C51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670214" y="1830183"/>
            <a:ext cx="8388753" cy="4487862"/>
          </a:xfrm>
          <a:prstGeom prst="rect">
            <a:avLst/>
          </a:prstGeom>
        </p:spPr>
        <p:txBody>
          <a:bodyPr/>
          <a:lstStyle>
            <a:lvl1pPr>
              <a:defRPr sz="2700"/>
            </a:lvl1pPr>
            <a:lvl2pPr>
              <a:defRPr sz="24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</a:lstStyle>
          <a:p>
            <a:pPr lvl="0"/>
            <a:r>
              <a:rPr lang="ru-RU" dirty="0"/>
              <a:t>Образец текста</a:t>
            </a:r>
          </a:p>
          <a:p>
            <a:pPr lvl="1"/>
            <a:r>
              <a:rPr lang="ru-RU" dirty="0"/>
              <a:t>Второй уровень</a:t>
            </a:r>
          </a:p>
          <a:p>
            <a:pPr lvl="2"/>
            <a:r>
              <a:rPr lang="ru-RU" dirty="0"/>
              <a:t>Третий уровень</a:t>
            </a:r>
          </a:p>
          <a:p>
            <a:pPr lvl="3"/>
            <a:r>
              <a:rPr lang="ru-RU" dirty="0"/>
              <a:t>Четвертый уровень</a:t>
            </a:r>
          </a:p>
          <a:p>
            <a:pPr lvl="4"/>
            <a:r>
              <a:rPr lang="ru-RU" dirty="0"/>
              <a:t>Пятый уровень</a:t>
            </a:r>
          </a:p>
        </p:txBody>
      </p:sp>
      <p:pic>
        <p:nvPicPr>
          <p:cNvPr id="6" name="Рисунок 5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367" y="70793"/>
            <a:ext cx="480272" cy="7079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66955911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лектор слев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Рисунок 2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367" y="70793"/>
            <a:ext cx="480272" cy="7079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0148441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лектор в центр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Рисунок 2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367" y="70793"/>
            <a:ext cx="480272" cy="7079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26191577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лектор справ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Рисунок 3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367" y="70793"/>
            <a:ext cx="480272" cy="7079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47588072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без лектор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Рисунок 3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367" y="70793"/>
            <a:ext cx="480272" cy="7079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98224343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титульный ли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Рисунок 3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367" y="70793"/>
            <a:ext cx="480272" cy="7079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26837706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800" b="1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250" b="0" i="1">
                <a:solidFill>
                  <a:schemeClr val="tx1"/>
                </a:solidFill>
                <a:latin typeface="Arial Black"/>
                <a:cs typeface="Arial Black"/>
              </a:defRPr>
            </a:lvl1pPr>
          </a:lstStyle>
          <a:p>
            <a:pPr marL="38100">
              <a:lnSpc>
                <a:spcPct val="100000"/>
              </a:lnSpc>
              <a:spcBef>
                <a:spcPts val="244"/>
              </a:spcBef>
            </a:pPr>
            <a:fld id="{81D60167-4931-47E6-BA6A-407CBD079E47}" type="slidenum">
              <a:rPr spc="-25" dirty="0"/>
              <a:t>‹#›</a:t>
            </a:fld>
            <a:endParaRPr spc="-25" dirty="0"/>
          </a:p>
        </p:txBody>
      </p:sp>
    </p:spTree>
    <p:extLst>
      <p:ext uri="{BB962C8B-B14F-4D97-AF65-F5344CB8AC3E}">
        <p14:creationId xmlns:p14="http://schemas.microsoft.com/office/powerpoint/2010/main" val="3755340872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250" b="0" i="1">
                <a:solidFill>
                  <a:schemeClr val="tx1"/>
                </a:solidFill>
                <a:latin typeface="Arial Black"/>
                <a:cs typeface="Arial Black"/>
              </a:defRPr>
            </a:lvl1pPr>
          </a:lstStyle>
          <a:p>
            <a:pPr marL="38100">
              <a:lnSpc>
                <a:spcPct val="100000"/>
              </a:lnSpc>
              <a:spcBef>
                <a:spcPts val="244"/>
              </a:spcBef>
            </a:pPr>
            <a:fld id="{81D60167-4931-47E6-BA6A-407CBD079E47}" type="slidenum">
              <a:rPr spc="-25" dirty="0"/>
              <a:t>‹#›</a:t>
            </a:fld>
            <a:endParaRPr spc="-25" dirty="0"/>
          </a:p>
        </p:txBody>
      </p:sp>
    </p:spTree>
    <p:extLst>
      <p:ext uri="{BB962C8B-B14F-4D97-AF65-F5344CB8AC3E}">
        <p14:creationId xmlns:p14="http://schemas.microsoft.com/office/powerpoint/2010/main" val="142123754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21" Type="http://schemas.openxmlformats.org/officeDocument/2006/relationships/theme" Target="../theme/theme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83F0DFB-F6BC-AF29-BE7E-4E3216FC72C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70791"/>
            <a:ext cx="7886700" cy="110005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 dirty="0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AC8C1FDE-157F-0CF9-6678-361FB41BEF8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8650" y="1350236"/>
            <a:ext cx="7886700" cy="482672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 dirty="0"/>
              <a:t>Образец текста</a:t>
            </a:r>
          </a:p>
          <a:p>
            <a:pPr lvl="1"/>
            <a:r>
              <a:rPr lang="ru-RU" dirty="0"/>
              <a:t>Второй уровень</a:t>
            </a:r>
          </a:p>
          <a:p>
            <a:pPr lvl="2"/>
            <a:r>
              <a:rPr lang="ru-RU" dirty="0"/>
              <a:t>Третий уровень</a:t>
            </a:r>
          </a:p>
          <a:p>
            <a:pPr lvl="3"/>
            <a:r>
              <a:rPr lang="ru-RU" dirty="0"/>
              <a:t>Четвертый уровень</a:t>
            </a:r>
          </a:p>
          <a:p>
            <a:pPr lvl="4"/>
            <a:r>
              <a:rPr lang="ru-RU" dirty="0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EEFCC27C-378E-A92F-E57E-3D7AA4E23EB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 dirty="0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7D90D05E-2ECB-3FE6-00DA-ABD9FD37424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 dirty="0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99280FC2-FB5C-C830-013D-02D6917C456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5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1C5FB71-5E9C-41B5-9BB8-3F1EBEAEB16A}" type="slidenum">
              <a:rPr lang="ru-RU" smtClean="0"/>
              <a:pPr/>
              <a:t>‹#›</a:t>
            </a:fld>
            <a:endParaRPr lang="ru-RU" dirty="0"/>
          </a:p>
        </p:txBody>
      </p:sp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EEDEDD01-40D1-3A00-9058-486237677F41}"/>
              </a:ext>
            </a:extLst>
          </p:cNvPr>
          <p:cNvPicPr>
            <a:picLocks noChangeAspect="1"/>
          </p:cNvPicPr>
          <p:nvPr userDrawn="1"/>
        </p:nvPicPr>
        <p:blipFill>
          <a:blip r:embed="rId2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367" y="70793"/>
            <a:ext cx="480272" cy="7079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0413021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7" r:id="rId1"/>
    <p:sldLayoutId id="2147483668" r:id="rId2"/>
    <p:sldLayoutId id="2147483669" r:id="rId3"/>
    <p:sldLayoutId id="2147483670" r:id="rId4"/>
    <p:sldLayoutId id="2147483671" r:id="rId5"/>
    <p:sldLayoutId id="2147483672" r:id="rId6"/>
    <p:sldLayoutId id="2147483673" r:id="rId7"/>
    <p:sldLayoutId id="2147483674" r:id="rId8"/>
    <p:sldLayoutId id="2147483675" r:id="rId9"/>
    <p:sldLayoutId id="2147483676" r:id="rId10"/>
    <p:sldLayoutId id="2147483677" r:id="rId11"/>
    <p:sldLayoutId id="2147483678" r:id="rId12"/>
    <p:sldLayoutId id="2147483679" r:id="rId13"/>
    <p:sldLayoutId id="2147483680" r:id="rId14"/>
    <p:sldLayoutId id="2147483681" r:id="rId15"/>
    <p:sldLayoutId id="2147483682" r:id="rId16"/>
    <p:sldLayoutId id="2147483683" r:id="rId17"/>
    <p:sldLayoutId id="2147483684" r:id="rId18"/>
    <p:sldLayoutId id="2147483685" r:id="rId19"/>
    <p:sldLayoutId id="2147483686" r:id="rId20"/>
  </p:sldLayoutIdLst>
  <p:hf hdr="0" dt="0"/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2700" b="1" kern="1200">
          <a:solidFill>
            <a:schemeClr val="tx1"/>
          </a:solidFill>
          <a:latin typeface="+mn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hyperlink" Target="mailto:Yurchenkov@mirea.ru" TargetMode="Externa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Relationship Id="rId4" Type="http://schemas.openxmlformats.org/officeDocument/2006/relationships/hyperlink" Target="mailto:qwerty29544@gmail.com" TargetMode="Externa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.xml"/><Relationship Id="rId2" Type="http://schemas.openxmlformats.org/officeDocument/2006/relationships/slideLayout" Target="../slideLayouts/slideLayout2.xml"/><Relationship Id="rId1" Type="http://schemas.openxmlformats.org/officeDocument/2006/relationships/themeOverride" Target="../theme/themeOverride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hemeOverride" Target="../theme/themeOverride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hemeOverride" Target="../theme/themeOverride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slideLayout" Target="../slideLayouts/slideLayout2.xml"/><Relationship Id="rId1" Type="http://schemas.openxmlformats.org/officeDocument/2006/relationships/themeOverride" Target="../theme/themeOverride4.xml"/><Relationship Id="rId4" Type="http://schemas.openxmlformats.org/officeDocument/2006/relationships/image" Target="../media/image3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hemeOverride" Target="../theme/themeOverride5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slideLayout" Target="../slideLayouts/slideLayout2.xml"/><Relationship Id="rId1" Type="http://schemas.openxmlformats.org/officeDocument/2006/relationships/themeOverride" Target="../theme/themeOverride6.xml"/><Relationship Id="rId6" Type="http://schemas.openxmlformats.org/officeDocument/2006/relationships/image" Target="../media/image7.jpg"/><Relationship Id="rId5" Type="http://schemas.openxmlformats.org/officeDocument/2006/relationships/image" Target="../media/image6.jpg"/><Relationship Id="rId4" Type="http://schemas.openxmlformats.org/officeDocument/2006/relationships/image" Target="../media/image5.jp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g"/><Relationship Id="rId2" Type="http://schemas.openxmlformats.org/officeDocument/2006/relationships/slideLayout" Target="../slideLayouts/slideLayout2.xml"/><Relationship Id="rId1" Type="http://schemas.openxmlformats.org/officeDocument/2006/relationships/themeOverride" Target="../theme/themeOverride7.xml"/><Relationship Id="rId5" Type="http://schemas.openxmlformats.org/officeDocument/2006/relationships/image" Target="../media/image10.jpg"/><Relationship Id="rId4" Type="http://schemas.openxmlformats.org/officeDocument/2006/relationships/image" Target="../media/image9.jp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slideLayout" Target="../slideLayouts/slideLayout2.xml"/><Relationship Id="rId1" Type="http://schemas.openxmlformats.org/officeDocument/2006/relationships/themeOverride" Target="../theme/themeOverride8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g"/><Relationship Id="rId2" Type="http://schemas.openxmlformats.org/officeDocument/2006/relationships/slideLayout" Target="../slideLayouts/slideLayout2.xml"/><Relationship Id="rId1" Type="http://schemas.openxmlformats.org/officeDocument/2006/relationships/themeOverride" Target="../theme/themeOverride9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g"/><Relationship Id="rId2" Type="http://schemas.openxmlformats.org/officeDocument/2006/relationships/slideLayout" Target="../slideLayouts/slideLayout2.xml"/><Relationship Id="rId1" Type="http://schemas.openxmlformats.org/officeDocument/2006/relationships/themeOverride" Target="../theme/themeOverride10.xml"/><Relationship Id="rId4" Type="http://schemas.openxmlformats.org/officeDocument/2006/relationships/image" Target="../media/image14.jp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7" Type="http://schemas.openxmlformats.org/officeDocument/2006/relationships/image" Target="../media/image19.png"/><Relationship Id="rId2" Type="http://schemas.openxmlformats.org/officeDocument/2006/relationships/slideLayout" Target="../slideLayouts/slideLayout2.xml"/><Relationship Id="rId1" Type="http://schemas.openxmlformats.org/officeDocument/2006/relationships/themeOverride" Target="../theme/themeOverride11.xml"/><Relationship Id="rId6" Type="http://schemas.openxmlformats.org/officeDocument/2006/relationships/image" Target="../media/image18.png"/><Relationship Id="rId5" Type="http://schemas.openxmlformats.org/officeDocument/2006/relationships/image" Target="../media/image17.png"/><Relationship Id="rId4" Type="http://schemas.openxmlformats.org/officeDocument/2006/relationships/image" Target="../media/image16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.xml"/><Relationship Id="rId2" Type="http://schemas.openxmlformats.org/officeDocument/2006/relationships/slideLayout" Target="../slideLayouts/slideLayout2.xml"/><Relationship Id="rId1" Type="http://schemas.openxmlformats.org/officeDocument/2006/relationships/themeOverride" Target="../theme/themeOverride1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.xml"/><Relationship Id="rId2" Type="http://schemas.openxmlformats.org/officeDocument/2006/relationships/slideLayout" Target="../slideLayouts/slideLayout2.xml"/><Relationship Id="rId1" Type="http://schemas.openxmlformats.org/officeDocument/2006/relationships/themeOverride" Target="../theme/themeOverride13.xml"/><Relationship Id="rId4" Type="http://schemas.openxmlformats.org/officeDocument/2006/relationships/image" Target="../media/image190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.xml"/><Relationship Id="rId2" Type="http://schemas.openxmlformats.org/officeDocument/2006/relationships/slideLayout" Target="../slideLayouts/slideLayout2.xml"/><Relationship Id="rId1" Type="http://schemas.openxmlformats.org/officeDocument/2006/relationships/themeOverride" Target="../theme/themeOverride14.xml"/><Relationship Id="rId4" Type="http://schemas.openxmlformats.org/officeDocument/2006/relationships/image" Target="../media/image20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6.xml"/><Relationship Id="rId2" Type="http://schemas.openxmlformats.org/officeDocument/2006/relationships/slideLayout" Target="../slideLayouts/slideLayout2.xml"/><Relationship Id="rId1" Type="http://schemas.openxmlformats.org/officeDocument/2006/relationships/themeOverride" Target="../theme/themeOverride15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slideLayout" Target="../slideLayouts/slideLayout2.xml"/><Relationship Id="rId1" Type="http://schemas.openxmlformats.org/officeDocument/2006/relationships/themeOverride" Target="../theme/themeOverride16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slideLayout" Target="../slideLayouts/slideLayout2.xml"/><Relationship Id="rId1" Type="http://schemas.openxmlformats.org/officeDocument/2006/relationships/themeOverride" Target="../theme/themeOverride1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hemeOverride" Target="../theme/themeOverride18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hemeOverride" Target="../theme/themeOverride19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hemeOverride" Target="../theme/themeOverride20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slideLayout" Target="../slideLayouts/slideLayout2.xml"/><Relationship Id="rId1" Type="http://schemas.openxmlformats.org/officeDocument/2006/relationships/themeOverride" Target="../theme/themeOverride21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hemeOverride" Target="../theme/themeOverride2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hemeOverride" Target="../theme/themeOverride23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hemeOverride" Target="../theme/themeOverride24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jpg"/><Relationship Id="rId2" Type="http://schemas.openxmlformats.org/officeDocument/2006/relationships/slideLayout" Target="../slideLayouts/slideLayout2.xml"/><Relationship Id="rId1" Type="http://schemas.openxmlformats.org/officeDocument/2006/relationships/themeOverride" Target="../theme/themeOverride25.xml"/><Relationship Id="rId4" Type="http://schemas.openxmlformats.org/officeDocument/2006/relationships/image" Target="../media/image24.jp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slideLayout" Target="../slideLayouts/slideLayout2.xml"/><Relationship Id="rId1" Type="http://schemas.openxmlformats.org/officeDocument/2006/relationships/themeOverride" Target="../theme/themeOverride26.xml"/></Relationships>
</file>

<file path=ppt/slides/_rels/slide28.xml.rels><?xml version="1.0" encoding="UTF-8" standalone="yes"?>
<Relationships xmlns="http://schemas.openxmlformats.org/package/2006/relationships"><Relationship Id="rId8" Type="http://schemas.openxmlformats.org/officeDocument/2006/relationships/image" Target="../media/image31.png"/><Relationship Id="rId3" Type="http://schemas.openxmlformats.org/officeDocument/2006/relationships/image" Target="../media/image26.png"/><Relationship Id="rId7" Type="http://schemas.openxmlformats.org/officeDocument/2006/relationships/image" Target="../media/image30.png"/><Relationship Id="rId2" Type="http://schemas.openxmlformats.org/officeDocument/2006/relationships/slideLayout" Target="../slideLayouts/slideLayout2.xml"/><Relationship Id="rId1" Type="http://schemas.openxmlformats.org/officeDocument/2006/relationships/themeOverride" Target="../theme/themeOverride27.xml"/><Relationship Id="rId6" Type="http://schemas.openxmlformats.org/officeDocument/2006/relationships/image" Target="../media/image29.png"/><Relationship Id="rId5" Type="http://schemas.openxmlformats.org/officeDocument/2006/relationships/image" Target="../media/image28.png"/><Relationship Id="rId4" Type="http://schemas.openxmlformats.org/officeDocument/2006/relationships/image" Target="../media/image27.pn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jpg"/><Relationship Id="rId2" Type="http://schemas.openxmlformats.org/officeDocument/2006/relationships/slideLayout" Target="../slideLayouts/slideLayout2.xml"/><Relationship Id="rId1" Type="http://schemas.openxmlformats.org/officeDocument/2006/relationships/themeOverride" Target="../theme/themeOverride28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slideLayout" Target="../slideLayouts/slideLayout2.xml"/><Relationship Id="rId1" Type="http://schemas.openxmlformats.org/officeDocument/2006/relationships/themeOverride" Target="../theme/themeOverride29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slideLayout" Target="../slideLayouts/slideLayout2.xml"/><Relationship Id="rId1" Type="http://schemas.openxmlformats.org/officeDocument/2006/relationships/themeOverride" Target="../theme/themeOverride30.xml"/><Relationship Id="rId4" Type="http://schemas.openxmlformats.org/officeDocument/2006/relationships/image" Target="../media/image36.png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slideLayout" Target="../slideLayouts/slideLayout2.xml"/><Relationship Id="rId1" Type="http://schemas.openxmlformats.org/officeDocument/2006/relationships/themeOverride" Target="../theme/themeOverride31.xml"/><Relationship Id="rId4" Type="http://schemas.openxmlformats.org/officeDocument/2006/relationships/image" Target="../media/image38.png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slideLayout" Target="../slideLayouts/slideLayout19.xml"/><Relationship Id="rId1" Type="http://schemas.openxmlformats.org/officeDocument/2006/relationships/themeOverride" Target="../theme/themeOverride3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hemeOverride" Target="../theme/themeOverride33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hemeOverride" Target="../theme/themeOverride34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hemeOverride" Target="../theme/themeOverride35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png"/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png"/><Relationship Id="rId2" Type="http://schemas.openxmlformats.org/officeDocument/2006/relationships/slideLayout" Target="../slideLayouts/slideLayout2.xml"/><Relationship Id="rId1" Type="http://schemas.openxmlformats.org/officeDocument/2006/relationships/themeOverride" Target="../theme/themeOverride36.xml"/><Relationship Id="rId6" Type="http://schemas.openxmlformats.org/officeDocument/2006/relationships/image" Target="../media/image45.png"/><Relationship Id="rId5" Type="http://schemas.openxmlformats.org/officeDocument/2006/relationships/image" Target="../media/image44.png"/><Relationship Id="rId4" Type="http://schemas.openxmlformats.org/officeDocument/2006/relationships/image" Target="../media/image43.png"/></Relationships>
</file>

<file path=ppt/slides/_rels/slide40.xml.rels><?xml version="1.0" encoding="UTF-8" standalone="yes"?>
<Relationships xmlns="http://schemas.openxmlformats.org/package/2006/relationships"><Relationship Id="rId8" Type="http://schemas.openxmlformats.org/officeDocument/2006/relationships/image" Target="../media/image51.png"/><Relationship Id="rId13" Type="http://schemas.openxmlformats.org/officeDocument/2006/relationships/image" Target="../media/image56.png"/><Relationship Id="rId18" Type="http://schemas.openxmlformats.org/officeDocument/2006/relationships/image" Target="../media/image61.png"/><Relationship Id="rId3" Type="http://schemas.openxmlformats.org/officeDocument/2006/relationships/image" Target="../media/image46.png"/><Relationship Id="rId7" Type="http://schemas.openxmlformats.org/officeDocument/2006/relationships/image" Target="../media/image50.png"/><Relationship Id="rId12" Type="http://schemas.openxmlformats.org/officeDocument/2006/relationships/image" Target="../media/image55.png"/><Relationship Id="rId17" Type="http://schemas.openxmlformats.org/officeDocument/2006/relationships/image" Target="../media/image60.png"/><Relationship Id="rId2" Type="http://schemas.openxmlformats.org/officeDocument/2006/relationships/slideLayout" Target="../slideLayouts/slideLayout19.xml"/><Relationship Id="rId16" Type="http://schemas.openxmlformats.org/officeDocument/2006/relationships/image" Target="../media/image59.png"/><Relationship Id="rId1" Type="http://schemas.openxmlformats.org/officeDocument/2006/relationships/themeOverride" Target="../theme/themeOverride37.xml"/><Relationship Id="rId6" Type="http://schemas.openxmlformats.org/officeDocument/2006/relationships/image" Target="../media/image49.png"/><Relationship Id="rId11" Type="http://schemas.openxmlformats.org/officeDocument/2006/relationships/image" Target="../media/image54.png"/><Relationship Id="rId5" Type="http://schemas.openxmlformats.org/officeDocument/2006/relationships/image" Target="../media/image48.png"/><Relationship Id="rId15" Type="http://schemas.openxmlformats.org/officeDocument/2006/relationships/image" Target="../media/image58.png"/><Relationship Id="rId10" Type="http://schemas.openxmlformats.org/officeDocument/2006/relationships/image" Target="../media/image53.png"/><Relationship Id="rId19" Type="http://schemas.openxmlformats.org/officeDocument/2006/relationships/image" Target="../media/image62.png"/><Relationship Id="rId4" Type="http://schemas.openxmlformats.org/officeDocument/2006/relationships/image" Target="../media/image47.png"/><Relationship Id="rId9" Type="http://schemas.openxmlformats.org/officeDocument/2006/relationships/image" Target="../media/image52.png"/><Relationship Id="rId14" Type="http://schemas.openxmlformats.org/officeDocument/2006/relationships/image" Target="../media/image57.png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3.png"/><Relationship Id="rId2" Type="http://schemas.openxmlformats.org/officeDocument/2006/relationships/slideLayout" Target="../slideLayouts/slideLayout2.xml"/><Relationship Id="rId1" Type="http://schemas.openxmlformats.org/officeDocument/2006/relationships/themeOverride" Target="../theme/themeOverride38.xml"/><Relationship Id="rId4" Type="http://schemas.openxmlformats.org/officeDocument/2006/relationships/image" Target="../media/image64.png"/></Relationships>
</file>

<file path=ppt/slides/_rels/slide42.xml.rels><?xml version="1.0" encoding="UTF-8" standalone="yes"?>
<Relationships xmlns="http://schemas.openxmlformats.org/package/2006/relationships"><Relationship Id="rId8" Type="http://schemas.openxmlformats.org/officeDocument/2006/relationships/image" Target="../media/image70.png"/><Relationship Id="rId3" Type="http://schemas.openxmlformats.org/officeDocument/2006/relationships/image" Target="../media/image65.png"/><Relationship Id="rId7" Type="http://schemas.openxmlformats.org/officeDocument/2006/relationships/image" Target="../media/image69.png"/><Relationship Id="rId2" Type="http://schemas.openxmlformats.org/officeDocument/2006/relationships/slideLayout" Target="../slideLayouts/slideLayout2.xml"/><Relationship Id="rId1" Type="http://schemas.openxmlformats.org/officeDocument/2006/relationships/themeOverride" Target="../theme/themeOverride39.xml"/><Relationship Id="rId6" Type="http://schemas.openxmlformats.org/officeDocument/2006/relationships/image" Target="../media/image68.png"/><Relationship Id="rId11" Type="http://schemas.openxmlformats.org/officeDocument/2006/relationships/image" Target="../media/image73.png"/><Relationship Id="rId5" Type="http://schemas.openxmlformats.org/officeDocument/2006/relationships/image" Target="../media/image67.png"/><Relationship Id="rId10" Type="http://schemas.openxmlformats.org/officeDocument/2006/relationships/image" Target="../media/image72.png"/><Relationship Id="rId4" Type="http://schemas.openxmlformats.org/officeDocument/2006/relationships/image" Target="../media/image66.png"/><Relationship Id="rId9" Type="http://schemas.openxmlformats.org/officeDocument/2006/relationships/image" Target="../media/image71.png"/></Relationships>
</file>

<file path=ppt/slides/_rels/slide43.xml.rels><?xml version="1.0" encoding="UTF-8" standalone="yes"?>
<Relationships xmlns="http://schemas.openxmlformats.org/package/2006/relationships"><Relationship Id="rId8" Type="http://schemas.openxmlformats.org/officeDocument/2006/relationships/image" Target="../media/image78.png"/><Relationship Id="rId13" Type="http://schemas.openxmlformats.org/officeDocument/2006/relationships/image" Target="../media/image83.png"/><Relationship Id="rId3" Type="http://schemas.openxmlformats.org/officeDocument/2006/relationships/image" Target="../media/image65.png"/><Relationship Id="rId7" Type="http://schemas.openxmlformats.org/officeDocument/2006/relationships/image" Target="../media/image77.png"/><Relationship Id="rId12" Type="http://schemas.openxmlformats.org/officeDocument/2006/relationships/image" Target="../media/image82.png"/><Relationship Id="rId2" Type="http://schemas.openxmlformats.org/officeDocument/2006/relationships/slideLayout" Target="../slideLayouts/slideLayout2.xml"/><Relationship Id="rId1" Type="http://schemas.openxmlformats.org/officeDocument/2006/relationships/themeOverride" Target="../theme/themeOverride40.xml"/><Relationship Id="rId6" Type="http://schemas.openxmlformats.org/officeDocument/2006/relationships/image" Target="../media/image76.png"/><Relationship Id="rId11" Type="http://schemas.openxmlformats.org/officeDocument/2006/relationships/image" Target="../media/image81.png"/><Relationship Id="rId5" Type="http://schemas.openxmlformats.org/officeDocument/2006/relationships/image" Target="../media/image75.png"/><Relationship Id="rId15" Type="http://schemas.openxmlformats.org/officeDocument/2006/relationships/image" Target="../media/image85.png"/><Relationship Id="rId10" Type="http://schemas.openxmlformats.org/officeDocument/2006/relationships/image" Target="../media/image80.png"/><Relationship Id="rId4" Type="http://schemas.openxmlformats.org/officeDocument/2006/relationships/image" Target="../media/image74.png"/><Relationship Id="rId9" Type="http://schemas.openxmlformats.org/officeDocument/2006/relationships/image" Target="../media/image79.png"/><Relationship Id="rId14" Type="http://schemas.openxmlformats.org/officeDocument/2006/relationships/image" Target="../media/image84.png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hemeOverride" Target="../theme/themeOverride41.xml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6.png"/><Relationship Id="rId2" Type="http://schemas.openxmlformats.org/officeDocument/2006/relationships/slideLayout" Target="../slideLayouts/slideLayout20.xml"/><Relationship Id="rId1" Type="http://schemas.openxmlformats.org/officeDocument/2006/relationships/themeOverride" Target="../theme/themeOverride42.xml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7.png"/><Relationship Id="rId2" Type="http://schemas.openxmlformats.org/officeDocument/2006/relationships/slideLayout" Target="../slideLayouts/slideLayout20.xml"/><Relationship Id="rId1" Type="http://schemas.openxmlformats.org/officeDocument/2006/relationships/themeOverride" Target="../theme/themeOverride43.xml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8.png"/><Relationship Id="rId2" Type="http://schemas.openxmlformats.org/officeDocument/2006/relationships/slideLayout" Target="../slideLayouts/slideLayout20.xml"/><Relationship Id="rId1" Type="http://schemas.openxmlformats.org/officeDocument/2006/relationships/themeOverride" Target="../theme/themeOverride44.xml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9.png"/><Relationship Id="rId2" Type="http://schemas.openxmlformats.org/officeDocument/2006/relationships/slideLayout" Target="../slideLayouts/slideLayout20.xml"/><Relationship Id="rId1" Type="http://schemas.openxmlformats.org/officeDocument/2006/relationships/themeOverride" Target="../theme/themeOverride45.xml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0.png"/><Relationship Id="rId2" Type="http://schemas.openxmlformats.org/officeDocument/2006/relationships/slideLayout" Target="../slideLayouts/slideLayout20.xml"/><Relationship Id="rId1" Type="http://schemas.openxmlformats.org/officeDocument/2006/relationships/themeOverride" Target="../theme/themeOverride46.xml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1.png"/><Relationship Id="rId2" Type="http://schemas.openxmlformats.org/officeDocument/2006/relationships/slideLayout" Target="../slideLayouts/slideLayout20.xml"/><Relationship Id="rId1" Type="http://schemas.openxmlformats.org/officeDocument/2006/relationships/themeOverride" Target="../theme/themeOverride47.xml"/></Relationships>
</file>

<file path=ppt/slides/_rels/slide5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2.png"/><Relationship Id="rId2" Type="http://schemas.openxmlformats.org/officeDocument/2006/relationships/slideLayout" Target="../slideLayouts/slideLayout20.xml"/><Relationship Id="rId1" Type="http://schemas.openxmlformats.org/officeDocument/2006/relationships/themeOverride" Target="../theme/themeOverride48.xml"/></Relationships>
</file>

<file path=ppt/slides/_rels/slide5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3.png"/><Relationship Id="rId2" Type="http://schemas.openxmlformats.org/officeDocument/2006/relationships/slideLayout" Target="../slideLayouts/slideLayout20.xml"/><Relationship Id="rId1" Type="http://schemas.openxmlformats.org/officeDocument/2006/relationships/themeOverride" Target="../theme/themeOverride49.xml"/><Relationship Id="rId4" Type="http://schemas.openxmlformats.org/officeDocument/2006/relationships/image" Target="../media/image94.png"/></Relationships>
</file>

<file path=ppt/slides/_rels/slide5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5.png"/><Relationship Id="rId7" Type="http://schemas.openxmlformats.org/officeDocument/2006/relationships/image" Target="../media/image98.png"/><Relationship Id="rId2" Type="http://schemas.openxmlformats.org/officeDocument/2006/relationships/slideLayout" Target="../slideLayouts/slideLayout20.xml"/><Relationship Id="rId1" Type="http://schemas.openxmlformats.org/officeDocument/2006/relationships/themeOverride" Target="../theme/themeOverride50.xml"/><Relationship Id="rId6" Type="http://schemas.openxmlformats.org/officeDocument/2006/relationships/image" Target="../media/image93.png"/><Relationship Id="rId5" Type="http://schemas.openxmlformats.org/officeDocument/2006/relationships/image" Target="../media/image97.png"/><Relationship Id="rId4" Type="http://schemas.openxmlformats.org/officeDocument/2006/relationships/image" Target="../media/image96.png"/></Relationships>
</file>

<file path=ppt/slides/_rels/slide5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9.png"/><Relationship Id="rId2" Type="http://schemas.openxmlformats.org/officeDocument/2006/relationships/slideLayout" Target="../slideLayouts/slideLayout19.xml"/><Relationship Id="rId1" Type="http://schemas.openxmlformats.org/officeDocument/2006/relationships/themeOverride" Target="../theme/themeOverride51.xml"/></Relationships>
</file>

<file path=ppt/slides/_rels/slide5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5.png"/><Relationship Id="rId13" Type="http://schemas.openxmlformats.org/officeDocument/2006/relationships/image" Target="../media/image110.png"/><Relationship Id="rId3" Type="http://schemas.openxmlformats.org/officeDocument/2006/relationships/image" Target="../media/image100.png"/><Relationship Id="rId7" Type="http://schemas.openxmlformats.org/officeDocument/2006/relationships/image" Target="../media/image104.png"/><Relationship Id="rId12" Type="http://schemas.openxmlformats.org/officeDocument/2006/relationships/image" Target="../media/image109.png"/><Relationship Id="rId2" Type="http://schemas.openxmlformats.org/officeDocument/2006/relationships/slideLayout" Target="../slideLayouts/slideLayout19.xml"/><Relationship Id="rId1" Type="http://schemas.openxmlformats.org/officeDocument/2006/relationships/themeOverride" Target="../theme/themeOverride52.xml"/><Relationship Id="rId6" Type="http://schemas.openxmlformats.org/officeDocument/2006/relationships/image" Target="../media/image103.png"/><Relationship Id="rId11" Type="http://schemas.openxmlformats.org/officeDocument/2006/relationships/image" Target="../media/image108.png"/><Relationship Id="rId5" Type="http://schemas.openxmlformats.org/officeDocument/2006/relationships/image" Target="../media/image102.png"/><Relationship Id="rId15" Type="http://schemas.openxmlformats.org/officeDocument/2006/relationships/image" Target="../media/image112.png"/><Relationship Id="rId10" Type="http://schemas.openxmlformats.org/officeDocument/2006/relationships/image" Target="../media/image107.png"/><Relationship Id="rId4" Type="http://schemas.openxmlformats.org/officeDocument/2006/relationships/image" Target="../media/image101.png"/><Relationship Id="rId9" Type="http://schemas.openxmlformats.org/officeDocument/2006/relationships/image" Target="../media/image106.png"/><Relationship Id="rId14" Type="http://schemas.openxmlformats.org/officeDocument/2006/relationships/image" Target="../media/image111.png"/></Relationships>
</file>

<file path=ppt/slides/_rels/slide5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3.png"/><Relationship Id="rId2" Type="http://schemas.openxmlformats.org/officeDocument/2006/relationships/slideLayout" Target="../slideLayouts/slideLayout19.xml"/><Relationship Id="rId1" Type="http://schemas.openxmlformats.org/officeDocument/2006/relationships/themeOverride" Target="../theme/themeOverride53.xml"/></Relationships>
</file>

<file path=ppt/slides/_rels/slide5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hemeOverride" Target="../theme/themeOverride54.xml"/></Relationships>
</file>

<file path=ppt/slides/_rels/slide5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4.png"/><Relationship Id="rId2" Type="http://schemas.openxmlformats.org/officeDocument/2006/relationships/slideLayout" Target="../slideLayouts/slideLayout19.xml"/><Relationship Id="rId1" Type="http://schemas.openxmlformats.org/officeDocument/2006/relationships/themeOverride" Target="../theme/themeOverride55.xml"/></Relationships>
</file>

<file path=ppt/slides/_rels/slide5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0.xml"/><Relationship Id="rId1" Type="http://schemas.openxmlformats.org/officeDocument/2006/relationships/themeOverride" Target="../theme/themeOverride56.xml"/></Relationships>
</file>

<file path=ppt/slides/_rels/slide60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0.png"/><Relationship Id="rId3" Type="http://schemas.openxmlformats.org/officeDocument/2006/relationships/image" Target="../media/image115.png"/><Relationship Id="rId7" Type="http://schemas.openxmlformats.org/officeDocument/2006/relationships/image" Target="../media/image119.png"/><Relationship Id="rId2" Type="http://schemas.openxmlformats.org/officeDocument/2006/relationships/slideLayout" Target="../slideLayouts/slideLayout20.xml"/><Relationship Id="rId1" Type="http://schemas.openxmlformats.org/officeDocument/2006/relationships/themeOverride" Target="../theme/themeOverride57.xml"/><Relationship Id="rId6" Type="http://schemas.openxmlformats.org/officeDocument/2006/relationships/image" Target="../media/image118.png"/><Relationship Id="rId5" Type="http://schemas.openxmlformats.org/officeDocument/2006/relationships/image" Target="../media/image117.png"/><Relationship Id="rId4" Type="http://schemas.openxmlformats.org/officeDocument/2006/relationships/image" Target="../media/image116.png"/></Relationships>
</file>

<file path=ppt/slides/_rels/slide6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1.png"/><Relationship Id="rId2" Type="http://schemas.openxmlformats.org/officeDocument/2006/relationships/slideLayout" Target="../slideLayouts/slideLayout19.xml"/><Relationship Id="rId1" Type="http://schemas.openxmlformats.org/officeDocument/2006/relationships/themeOverride" Target="../theme/themeOverride58.xml"/></Relationships>
</file>

<file path=ppt/slides/_rels/slide6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2.png"/><Relationship Id="rId2" Type="http://schemas.openxmlformats.org/officeDocument/2006/relationships/slideLayout" Target="../slideLayouts/slideLayout19.xml"/><Relationship Id="rId1" Type="http://schemas.openxmlformats.org/officeDocument/2006/relationships/themeOverride" Target="../theme/themeOverride59.xml"/><Relationship Id="rId5" Type="http://schemas.openxmlformats.org/officeDocument/2006/relationships/image" Target="../media/image124.png"/><Relationship Id="rId4" Type="http://schemas.openxmlformats.org/officeDocument/2006/relationships/image" Target="../media/image123.png"/></Relationships>
</file>

<file path=ppt/slides/_rels/slide6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5.png"/><Relationship Id="rId2" Type="http://schemas.openxmlformats.org/officeDocument/2006/relationships/slideLayout" Target="../slideLayouts/slideLayout2.xml"/><Relationship Id="rId1" Type="http://schemas.openxmlformats.org/officeDocument/2006/relationships/themeOverride" Target="../theme/themeOverride60.xml"/></Relationships>
</file>

<file path=ppt/slides/_rels/slide6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6.png"/><Relationship Id="rId2" Type="http://schemas.openxmlformats.org/officeDocument/2006/relationships/slideLayout" Target="../slideLayouts/slideLayout19.xml"/><Relationship Id="rId1" Type="http://schemas.openxmlformats.org/officeDocument/2006/relationships/themeOverride" Target="../theme/themeOverride61.xml"/></Relationships>
</file>

<file path=ppt/slides/_rels/slide6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hemeOverride" Target="../theme/themeOverride62.xml"/></Relationships>
</file>

<file path=ppt/slides/_rels/slide6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7.png"/><Relationship Id="rId2" Type="http://schemas.openxmlformats.org/officeDocument/2006/relationships/slideLayout" Target="../slideLayouts/slideLayout2.xml"/><Relationship Id="rId1" Type="http://schemas.openxmlformats.org/officeDocument/2006/relationships/themeOverride" Target="../theme/themeOverride63.xml"/></Relationships>
</file>

<file path=ppt/slides/_rels/slide6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hemeOverride" Target="../theme/themeOverride64.xml"/></Relationships>
</file>

<file path=ppt/slides/_rels/slide6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hemeOverride" Target="../theme/themeOverride6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Текст 2">
            <a:extLst>
              <a:ext uri="{FF2B5EF4-FFF2-40B4-BE49-F238E27FC236}">
                <a16:creationId xmlns:a16="http://schemas.microsoft.com/office/drawing/2014/main" id="{D02A7036-67AC-4B6E-933D-0EBEFC2F148D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ru-RU" dirty="0"/>
              <a:t>Технологии и инструментарий анализа больших данных</a:t>
            </a: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4304D1FC-3C2B-40AC-AC46-5ADB2B78FD76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ru-RU" dirty="0"/>
              <a:t>Юрченков Иван Александрович</a:t>
            </a:r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85920733-DC10-4100-9E5C-5EBB2D00AEC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dirty="0">
                <a:hlinkClick r:id="rId3"/>
              </a:rPr>
              <a:t>Yurchenkov@mirea.ru</a:t>
            </a:r>
            <a:r>
              <a:rPr lang="en-US" dirty="0"/>
              <a:t>	</a:t>
            </a:r>
            <a:r>
              <a:rPr lang="en-US" dirty="0">
                <a:hlinkClick r:id="rId4"/>
              </a:rPr>
              <a:t>qwerty29544@gmail.com</a:t>
            </a:r>
            <a:r>
              <a:rPr lang="en-US" dirty="0"/>
              <a:t> 	</a:t>
            </a:r>
            <a:r>
              <a:rPr lang="en-US" dirty="0" err="1"/>
              <a:t>tg</a:t>
            </a:r>
            <a:r>
              <a:rPr lang="en-US" dirty="0"/>
              <a:t>:</a:t>
            </a:r>
            <a:r>
              <a:rPr lang="ru-RU" dirty="0"/>
              <a:t> </a:t>
            </a:r>
            <a:r>
              <a:rPr lang="en-US" dirty="0"/>
              <a:t>@ivanyurchenkov</a:t>
            </a:r>
            <a:endParaRPr lang="ru-RU" dirty="0"/>
          </a:p>
        </p:txBody>
      </p:sp>
      <p:sp>
        <p:nvSpPr>
          <p:cNvPr id="6" name="Текст 5">
            <a:extLst>
              <a:ext uri="{FF2B5EF4-FFF2-40B4-BE49-F238E27FC236}">
                <a16:creationId xmlns:a16="http://schemas.microsoft.com/office/drawing/2014/main" id="{936B0D40-C816-44EC-A3D6-5CA90F8CE9F3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ru-RU" dirty="0"/>
              <a:t>Старший преподаватель кафедры прикладной математики ИИТ</a:t>
            </a:r>
          </a:p>
        </p:txBody>
      </p:sp>
    </p:spTree>
    <p:extLst>
      <p:ext uri="{BB962C8B-B14F-4D97-AF65-F5344CB8AC3E}">
        <p14:creationId xmlns:p14="http://schemas.microsoft.com/office/powerpoint/2010/main" val="139117319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Заголовок 5">
            <a:extLst>
              <a:ext uri="{FF2B5EF4-FFF2-40B4-BE49-F238E27FC236}">
                <a16:creationId xmlns:a16="http://schemas.microsoft.com/office/drawing/2014/main" id="{1B725C7C-1A33-D3B6-C8C0-BB5D3E0185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910344"/>
            <a:ext cx="7886700" cy="942625"/>
          </a:xfrm>
        </p:spPr>
        <p:txBody>
          <a:bodyPr>
            <a:noAutofit/>
          </a:bodyPr>
          <a:lstStyle/>
          <a:p>
            <a:pPr algn="ctr"/>
            <a:r>
              <a:rPr lang="ru-RU" dirty="0">
                <a:latin typeface="+mn-lt"/>
              </a:rPr>
              <a:t>Лекция №</a:t>
            </a:r>
            <a:r>
              <a:rPr lang="en-US" dirty="0">
                <a:latin typeface="+mn-lt"/>
              </a:rPr>
              <a:t>4</a:t>
            </a:r>
            <a:r>
              <a:rPr lang="ru-RU" dirty="0">
                <a:latin typeface="+mn-lt"/>
              </a:rPr>
              <a:t>. </a:t>
            </a:r>
            <a:r>
              <a:rPr lang="ru-RU" dirty="0"/>
              <a:t>Корреляция и линейная регрессия Дисперсионный анализ</a:t>
            </a:r>
            <a:endParaRPr lang="ru-RU" dirty="0">
              <a:latin typeface="+mn-lt"/>
            </a:endParaRPr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03F8E211-449D-C68C-8389-CD803EC9ED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defTabSz="685783" rtl="0"/>
            <a:fld id="{81C5FB71-5E9C-41B5-9BB8-3F1EBEAEB16A}" type="slidenum">
              <a:rPr lang="ru-RU" kern="1200" smtClean="0">
                <a:solidFill>
                  <a:prstClr val="black">
                    <a:tint val="75000"/>
                  </a:prstClr>
                </a:solidFill>
                <a:latin typeface="Calibri" panose="020F0502020204030204"/>
                <a:ea typeface="+mn-ea"/>
                <a:cs typeface="+mn-cs"/>
              </a:rPr>
              <a:pPr defTabSz="685783" rtl="0"/>
              <a:t>2</a:t>
            </a:fld>
            <a:endParaRPr lang="ru-RU" kern="1200" dirty="0">
              <a:solidFill>
                <a:prstClr val="black">
                  <a:tint val="75000"/>
                </a:prstClr>
              </a:solidFill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E8952643-8B4F-47D3-9D67-B26A3ECB68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8" name="Объект 7">
            <a:extLst>
              <a:ext uri="{FF2B5EF4-FFF2-40B4-BE49-F238E27FC236}">
                <a16:creationId xmlns:a16="http://schemas.microsoft.com/office/drawing/2014/main" id="{220B1964-8E5E-4D59-8C01-BF398FDDBA9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8650" y="2743200"/>
            <a:ext cx="7886700" cy="3433763"/>
          </a:xfrm>
        </p:spPr>
        <p:txBody>
          <a:bodyPr>
            <a:normAutofit/>
          </a:bodyPr>
          <a:lstStyle/>
          <a:p>
            <a:pPr marL="457200" indent="-457200">
              <a:buFont typeface="+mj-lt"/>
              <a:buAutoNum type="arabicPeriod"/>
            </a:pPr>
            <a:r>
              <a:rPr lang="ru-RU" sz="2400" dirty="0"/>
              <a:t>Корреляция и линейная регрессия</a:t>
            </a:r>
          </a:p>
          <a:p>
            <a:pPr marL="457200" indent="-457200">
              <a:buFont typeface="+mj-lt"/>
              <a:buAutoNum type="arabicPeriod"/>
            </a:pPr>
            <a:r>
              <a:rPr lang="ru-RU" sz="2400" dirty="0"/>
              <a:t>Метод наименьших квадратов</a:t>
            </a:r>
          </a:p>
          <a:p>
            <a:pPr marL="457200" indent="-457200">
              <a:buFont typeface="+mj-lt"/>
              <a:buAutoNum type="arabicPeriod"/>
            </a:pPr>
            <a:r>
              <a:rPr lang="ru-RU" sz="2400" dirty="0"/>
              <a:t>Дисперсионный анализ</a:t>
            </a:r>
          </a:p>
          <a:p>
            <a:pPr marL="457200" indent="-457200">
              <a:buFont typeface="+mj-lt"/>
              <a:buAutoNum type="arabicPeriod"/>
            </a:pPr>
            <a:r>
              <a:rPr lang="ru-RU" sz="2400" dirty="0"/>
              <a:t>Двухфакторный дисперсионный анализ</a:t>
            </a:r>
          </a:p>
          <a:p>
            <a:pPr marL="457200" indent="-457200">
              <a:buFont typeface="+mj-lt"/>
              <a:buAutoNum type="arabicPeriod"/>
            </a:pPr>
            <a:r>
              <a:rPr lang="ru-RU" sz="2400" dirty="0"/>
              <a:t>Инструменты статистического анализа данных</a:t>
            </a:r>
          </a:p>
        </p:txBody>
      </p:sp>
    </p:spTree>
    <p:extLst>
      <p:ext uri="{BB962C8B-B14F-4D97-AF65-F5344CB8AC3E}">
        <p14:creationId xmlns:p14="http://schemas.microsoft.com/office/powerpoint/2010/main" val="2997528550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object 16"/>
          <p:cNvSpPr txBox="1">
            <a:spLocks noGrp="1"/>
          </p:cNvSpPr>
          <p:nvPr>
            <p:ph type="title"/>
          </p:nvPr>
        </p:nvSpPr>
        <p:spPr>
          <a:xfrm>
            <a:off x="628650" y="393496"/>
            <a:ext cx="7886700" cy="456022"/>
          </a:xfrm>
        </p:spPr>
        <p:txBody>
          <a:bodyPr vert="horz" wrap="square" lIns="0" tIns="12700" rIns="0" bIns="0" rtlCol="0">
            <a:spAutoFit/>
          </a:bodyPr>
          <a:lstStyle/>
          <a:p>
            <a:pPr algn="ctr"/>
            <a:r>
              <a:rPr lang="ru-RU" sz="3200" dirty="0"/>
              <a:t>Корреляция</a:t>
            </a:r>
          </a:p>
        </p:txBody>
      </p:sp>
      <p:sp>
        <p:nvSpPr>
          <p:cNvPr id="25" name="Объект 24">
            <a:extLst>
              <a:ext uri="{FF2B5EF4-FFF2-40B4-BE49-F238E27FC236}">
                <a16:creationId xmlns:a16="http://schemas.microsoft.com/office/drawing/2014/main" id="{D5BD5018-B253-4548-AEDB-B69F0E3BC21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8650" y="1295400"/>
            <a:ext cx="7886700" cy="4881563"/>
          </a:xfrm>
        </p:spPr>
        <p:txBody>
          <a:bodyPr>
            <a:normAutofit/>
          </a:bodyPr>
          <a:lstStyle/>
          <a:p>
            <a:pPr algn="just"/>
            <a:r>
              <a:rPr lang="ru-RU" sz="2400" b="1" i="0" u="none" strike="noStrike" baseline="0" dirty="0">
                <a:solidFill>
                  <a:srgbClr val="000000"/>
                </a:solidFill>
              </a:rPr>
              <a:t>Строгие (функциональные) зависимости </a:t>
            </a:r>
            <a:r>
              <a:rPr lang="ru-RU" sz="2400" b="0" i="0" u="none" strike="noStrike" baseline="0" dirty="0">
                <a:solidFill>
                  <a:srgbClr val="000000"/>
                </a:solidFill>
              </a:rPr>
              <a:t>– каждому</a:t>
            </a:r>
            <a:r>
              <a:rPr lang="en-US" sz="2400" b="0" i="0" u="none" strike="noStrike" baseline="0" dirty="0">
                <a:solidFill>
                  <a:srgbClr val="000000"/>
                </a:solidFill>
              </a:rPr>
              <a:t> </a:t>
            </a:r>
            <a:r>
              <a:rPr lang="ru-RU" sz="2400" b="0" i="0" u="none" strike="noStrike" baseline="0" dirty="0">
                <a:solidFill>
                  <a:srgbClr val="000000"/>
                </a:solidFill>
              </a:rPr>
              <a:t>значению одной переменной соответствует единственное</a:t>
            </a:r>
            <a:r>
              <a:rPr lang="en-US" sz="2400" b="0" i="0" u="none" strike="noStrike" baseline="0" dirty="0">
                <a:solidFill>
                  <a:srgbClr val="000000"/>
                </a:solidFill>
              </a:rPr>
              <a:t> </a:t>
            </a:r>
            <a:r>
              <a:rPr lang="ru-RU" sz="2400" b="0" i="0" u="none" strike="noStrike" baseline="0" dirty="0">
                <a:solidFill>
                  <a:srgbClr val="000000"/>
                </a:solidFill>
              </a:rPr>
              <a:t>значение другой</a:t>
            </a:r>
          </a:p>
          <a:p>
            <a:pPr algn="just"/>
            <a:r>
              <a:rPr lang="ru-RU" sz="2400" b="1" i="0" u="none" strike="noStrike" baseline="0" dirty="0">
                <a:solidFill>
                  <a:srgbClr val="000000"/>
                </a:solidFill>
              </a:rPr>
              <a:t>Задача </a:t>
            </a:r>
            <a:r>
              <a:rPr lang="ru-RU" sz="2400" b="0" i="0" u="none" strike="noStrike" baseline="0" dirty="0">
                <a:solidFill>
                  <a:srgbClr val="000000"/>
                </a:solidFill>
              </a:rPr>
              <a:t>– определение зависимости между случайными</a:t>
            </a:r>
            <a:r>
              <a:rPr lang="en-US" sz="2400" b="0" i="0" u="none" strike="noStrike" baseline="0" dirty="0">
                <a:solidFill>
                  <a:srgbClr val="000000"/>
                </a:solidFill>
              </a:rPr>
              <a:t> </a:t>
            </a:r>
            <a:r>
              <a:rPr lang="ru-RU" sz="2400" b="0" i="0" u="none" strike="noStrike" baseline="0" dirty="0">
                <a:solidFill>
                  <a:srgbClr val="000000"/>
                </a:solidFill>
              </a:rPr>
              <a:t>величинами, которые являются признаками одних и тех же</a:t>
            </a:r>
            <a:r>
              <a:rPr lang="en-US" sz="2400" b="0" i="0" u="none" strike="noStrike" baseline="0" dirty="0">
                <a:solidFill>
                  <a:srgbClr val="000000"/>
                </a:solidFill>
              </a:rPr>
              <a:t> </a:t>
            </a:r>
            <a:r>
              <a:rPr lang="ru-RU" sz="2400" b="0" i="0" u="none" strike="noStrike" baseline="0" dirty="0">
                <a:solidFill>
                  <a:srgbClr val="000000"/>
                </a:solidFill>
              </a:rPr>
              <a:t>объектов:</a:t>
            </a:r>
            <a:endParaRPr lang="en-US" sz="2400" b="0" i="0" u="none" strike="noStrike" baseline="0" dirty="0">
              <a:solidFill>
                <a:srgbClr val="000000"/>
              </a:solidFill>
            </a:endParaRPr>
          </a:p>
          <a:p>
            <a:pPr lvl="1" algn="just">
              <a:buFont typeface="Wingdings" panose="05000000000000000000" pitchFamily="2" charset="2"/>
              <a:buChar char="Ø"/>
            </a:pPr>
            <a:r>
              <a:rPr lang="ru-RU" sz="2400" b="0" i="0" u="none" strike="noStrike" baseline="0" dirty="0">
                <a:solidFill>
                  <a:srgbClr val="000000"/>
                </a:solidFill>
              </a:rPr>
              <a:t>затраты компании на рекламу – доход от продаж;</a:t>
            </a:r>
          </a:p>
          <a:p>
            <a:pPr lvl="1" algn="just">
              <a:buFont typeface="Wingdings" panose="05000000000000000000" pitchFamily="2" charset="2"/>
              <a:buChar char="Ø"/>
            </a:pPr>
            <a:r>
              <a:rPr lang="ru-RU" sz="2400" b="0" i="0" u="none" strike="noStrike" baseline="0" dirty="0">
                <a:solidFill>
                  <a:srgbClr val="000000"/>
                </a:solidFill>
              </a:rPr>
              <a:t>уровень инфляции – безработица и т.д.</a:t>
            </a:r>
          </a:p>
          <a:p>
            <a:pPr algn="just"/>
            <a:r>
              <a:rPr lang="ru-RU" sz="2400" b="1" i="0" u="none" strike="noStrike" baseline="0" dirty="0">
                <a:solidFill>
                  <a:srgbClr val="000000"/>
                </a:solidFill>
              </a:rPr>
              <a:t>Статистическая зависимость: </a:t>
            </a:r>
            <a:r>
              <a:rPr lang="ru-RU" sz="2400" b="0" i="0" u="none" strike="noStrike" baseline="0" dirty="0">
                <a:solidFill>
                  <a:srgbClr val="000000"/>
                </a:solidFill>
              </a:rPr>
              <a:t>изменение одной из величин</a:t>
            </a:r>
            <a:r>
              <a:rPr lang="en-US" sz="2400" b="0" i="0" u="none" strike="noStrike" baseline="0" dirty="0">
                <a:solidFill>
                  <a:srgbClr val="000000"/>
                </a:solidFill>
              </a:rPr>
              <a:t> </a:t>
            </a:r>
            <a:r>
              <a:rPr lang="ru-RU" sz="2400" b="0" i="0" u="none" strike="noStrike" baseline="0" dirty="0">
                <a:solidFill>
                  <a:srgbClr val="000000"/>
                </a:solidFill>
              </a:rPr>
              <a:t>влечет изменение распределения другой</a:t>
            </a:r>
          </a:p>
          <a:p>
            <a:pPr algn="just"/>
            <a:r>
              <a:rPr lang="ru-RU" sz="2400" b="1" i="0" u="none" strike="noStrike" baseline="0" dirty="0">
                <a:solidFill>
                  <a:srgbClr val="000000"/>
                </a:solidFill>
              </a:rPr>
              <a:t>Корреляционная зависимость: </a:t>
            </a:r>
            <a:r>
              <a:rPr lang="ru-RU" sz="2400" b="0" i="0" u="none" strike="noStrike" baseline="0" dirty="0">
                <a:solidFill>
                  <a:srgbClr val="000000"/>
                </a:solidFill>
              </a:rPr>
              <a:t>при изменении одной из</a:t>
            </a:r>
            <a:r>
              <a:rPr lang="en-US" sz="2400" b="0" i="0" u="none" strike="noStrike" baseline="0" dirty="0">
                <a:solidFill>
                  <a:srgbClr val="000000"/>
                </a:solidFill>
              </a:rPr>
              <a:t> </a:t>
            </a:r>
            <a:r>
              <a:rPr lang="ru-RU" sz="2400" b="0" i="0" u="none" strike="noStrike" baseline="0" dirty="0">
                <a:solidFill>
                  <a:srgbClr val="000000"/>
                </a:solidFill>
              </a:rPr>
              <a:t>величин изменяется среднее значение другой</a:t>
            </a:r>
            <a:endParaRPr lang="ru-RU" sz="2400" dirty="0"/>
          </a:p>
        </p:txBody>
      </p:sp>
      <p:sp>
        <p:nvSpPr>
          <p:cNvPr id="20" name="Нижний колонтитул 19">
            <a:extLst>
              <a:ext uri="{FF2B5EF4-FFF2-40B4-BE49-F238E27FC236}">
                <a16:creationId xmlns:a16="http://schemas.microsoft.com/office/drawing/2014/main" id="{C3052A3F-E638-4636-912B-96E710979F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028950" y="6356351"/>
            <a:ext cx="3086100" cy="365125"/>
          </a:xfrm>
        </p:spPr>
        <p:txBody>
          <a:bodyPr/>
          <a:lstStyle/>
          <a:p>
            <a:endParaRPr lang="ru-RU"/>
          </a:p>
        </p:txBody>
      </p:sp>
      <p:sp>
        <p:nvSpPr>
          <p:cNvPr id="21" name="Номер слайда 20">
            <a:extLst>
              <a:ext uri="{FF2B5EF4-FFF2-40B4-BE49-F238E27FC236}">
                <a16:creationId xmlns:a16="http://schemas.microsoft.com/office/drawing/2014/main" id="{391A160C-61A9-4BB1-BEDF-AC38A147A7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457950" y="6356351"/>
            <a:ext cx="2057400" cy="365125"/>
          </a:xfrm>
        </p:spPr>
        <p:txBody>
          <a:bodyPr/>
          <a:lstStyle/>
          <a:p>
            <a:fld id="{81C5FB71-5E9C-41B5-9BB8-3F1EBEAEB16A}" type="slidenum">
              <a:rPr lang="ru-RU" smtClean="0"/>
              <a:pPr/>
              <a:t>3</a:t>
            </a:fld>
            <a:endParaRPr lang="ru-RU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object 7"/>
          <p:cNvSpPr txBox="1">
            <a:spLocks noGrp="1"/>
          </p:cNvSpPr>
          <p:nvPr>
            <p:ph type="title"/>
          </p:nvPr>
        </p:nvSpPr>
        <p:spPr>
          <a:xfrm>
            <a:off x="628650" y="393496"/>
            <a:ext cx="7886700" cy="456022"/>
          </a:xfrm>
        </p:spPr>
        <p:txBody>
          <a:bodyPr vert="horz" wrap="square" lIns="0" tIns="12700" rIns="0" bIns="0" rtlCol="0">
            <a:spAutoFit/>
          </a:bodyPr>
          <a:lstStyle/>
          <a:p>
            <a:pPr algn="ctr"/>
            <a:r>
              <a:rPr lang="ru-RU" sz="3200" dirty="0"/>
              <a:t>Связь</a:t>
            </a:r>
          </a:p>
        </p:txBody>
      </p:sp>
      <p:sp>
        <p:nvSpPr>
          <p:cNvPr id="20" name="Объект 19">
            <a:extLst>
              <a:ext uri="{FF2B5EF4-FFF2-40B4-BE49-F238E27FC236}">
                <a16:creationId xmlns:a16="http://schemas.microsoft.com/office/drawing/2014/main" id="{EB44C5CB-9A19-49CD-900B-A1CB4A58DBE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 algn="just">
              <a:buNone/>
            </a:pPr>
            <a:r>
              <a:rPr lang="ru-RU" sz="2400" b="1" i="0" u="none" strike="noStrike" baseline="0" dirty="0">
                <a:latin typeface="Arial-BoldMT"/>
              </a:rPr>
              <a:t>Неверные выводы</a:t>
            </a:r>
            <a:r>
              <a:rPr lang="ru-RU" sz="2400" b="0" i="0" u="none" strike="noStrike" baseline="0" dirty="0">
                <a:latin typeface="ArialMT"/>
              </a:rPr>
              <a:t>, основанные на</a:t>
            </a:r>
            <a:r>
              <a:rPr lang="en-US" sz="2400" b="0" i="0" u="none" strike="noStrike" baseline="0" dirty="0">
                <a:latin typeface="ArialMT"/>
              </a:rPr>
              <a:t> </a:t>
            </a:r>
            <a:r>
              <a:rPr lang="ru-RU" sz="2400" b="0" i="0" u="none" strike="noStrike" baseline="0" dirty="0">
                <a:latin typeface="ArialMT"/>
              </a:rPr>
              <a:t>наблюдениях:</a:t>
            </a:r>
            <a:endParaRPr lang="en-US" sz="2400" b="0" i="0" u="none" strike="noStrike" baseline="0" dirty="0">
              <a:latin typeface="ArialMT"/>
            </a:endParaRPr>
          </a:p>
          <a:p>
            <a:pPr marL="0" indent="0" algn="just">
              <a:buNone/>
            </a:pPr>
            <a:endParaRPr lang="ru-RU" sz="2400" b="0" i="0" u="none" strike="noStrike" baseline="0" dirty="0">
              <a:latin typeface="ArialMT"/>
            </a:endParaRPr>
          </a:p>
          <a:p>
            <a:pPr algn="just"/>
            <a:r>
              <a:rPr lang="ru-RU" sz="2400" b="0" i="0" u="none" strike="noStrike" baseline="0" dirty="0">
                <a:latin typeface="ArialMT"/>
              </a:rPr>
              <a:t>Есть сильная связь между результатом</a:t>
            </a:r>
            <a:r>
              <a:rPr lang="en-US" sz="2400" b="0" i="0" u="none" strike="noStrike" baseline="0" dirty="0">
                <a:latin typeface="ArialMT"/>
              </a:rPr>
              <a:t> </a:t>
            </a:r>
            <a:r>
              <a:rPr lang="ru-RU" sz="2400" b="0" i="0" u="none" strike="noStrike" baseline="0" dirty="0">
                <a:latin typeface="ArialMT"/>
              </a:rPr>
              <a:t>теста по грамматике русского языка и</a:t>
            </a:r>
            <a:r>
              <a:rPr lang="en-US" sz="2400" b="0" i="0" u="none" strike="noStrike" baseline="0" dirty="0">
                <a:latin typeface="ArialMT"/>
              </a:rPr>
              <a:t> </a:t>
            </a:r>
            <a:r>
              <a:rPr lang="ru-RU" sz="2400" b="0" i="0" u="none" strike="noStrike" baseline="0" dirty="0">
                <a:latin typeface="ArialMT"/>
              </a:rPr>
              <a:t>ростом человека, что можно объяснить</a:t>
            </a:r>
            <a:r>
              <a:rPr lang="en-US" sz="2400" b="0" i="0" u="none" strike="noStrike" baseline="0" dirty="0">
                <a:latin typeface="ArialMT"/>
              </a:rPr>
              <a:t> </a:t>
            </a:r>
            <a:r>
              <a:rPr lang="ru-RU" sz="2400" b="0" i="0" u="none" strike="noStrike" baseline="0" dirty="0">
                <a:latin typeface="ArialMT"/>
              </a:rPr>
              <a:t>тем, что у больших людей и мозг больше,</a:t>
            </a:r>
            <a:r>
              <a:rPr lang="en-US" sz="2400" b="0" i="0" u="none" strike="noStrike" baseline="0" dirty="0">
                <a:latin typeface="ArialMT"/>
              </a:rPr>
              <a:t> </a:t>
            </a:r>
            <a:r>
              <a:rPr lang="ru-RU" sz="2400" b="0" i="0" u="none" strike="noStrike" baseline="0" dirty="0">
                <a:latin typeface="ArialMT"/>
              </a:rPr>
              <a:t>поэтому они могут запомнить больше</a:t>
            </a:r>
            <a:r>
              <a:rPr lang="en-US" sz="2400" b="0" i="0" u="none" strike="noStrike" baseline="0" dirty="0">
                <a:latin typeface="ArialMT"/>
              </a:rPr>
              <a:t> </a:t>
            </a:r>
            <a:r>
              <a:rPr lang="ru-RU" sz="2400" b="0" i="0" u="none" strike="noStrike" baseline="0" dirty="0">
                <a:latin typeface="ArialMT"/>
              </a:rPr>
              <a:t>правил грамматики.</a:t>
            </a:r>
          </a:p>
          <a:p>
            <a:pPr algn="just"/>
            <a:r>
              <a:rPr lang="ru-RU" sz="2400" b="0" i="0" u="none" strike="noStrike" baseline="0" dirty="0">
                <a:latin typeface="ArialMT"/>
              </a:rPr>
              <a:t>Уровень рождаемости в регионе сильно</a:t>
            </a:r>
            <a:r>
              <a:rPr lang="en-US" sz="2400" b="0" i="0" u="none" strike="noStrike" baseline="0" dirty="0">
                <a:latin typeface="ArialMT"/>
              </a:rPr>
              <a:t> </a:t>
            </a:r>
            <a:r>
              <a:rPr lang="ru-RU" sz="2400" b="0" i="0" u="none" strike="noStrike" baseline="0" dirty="0">
                <a:latin typeface="ArialMT"/>
              </a:rPr>
              <a:t>связан с числом аистов, проживающих на</a:t>
            </a:r>
            <a:r>
              <a:rPr lang="en-US" sz="2400" b="0" i="0" u="none" strike="noStrike" baseline="0" dirty="0">
                <a:latin typeface="ArialMT"/>
              </a:rPr>
              <a:t> </a:t>
            </a:r>
            <a:r>
              <a:rPr lang="ru-RU" sz="2400" b="0" i="0" u="none" strike="noStrike" baseline="0" dirty="0">
                <a:latin typeface="ArialMT"/>
              </a:rPr>
              <a:t>данной территории, так что, очевидно, что</a:t>
            </a:r>
            <a:r>
              <a:rPr lang="en-US" sz="2400" b="0" i="0" u="none" strike="noStrike" baseline="0" dirty="0">
                <a:latin typeface="ArialMT"/>
              </a:rPr>
              <a:t> </a:t>
            </a:r>
            <a:r>
              <a:rPr lang="ru-RU" sz="2400" b="0" i="0" u="none" strike="noStrike" baseline="0" dirty="0">
                <a:latin typeface="ArialMT"/>
              </a:rPr>
              <a:t>именно аисты приносят детей.</a:t>
            </a:r>
            <a:endParaRPr lang="ru-RU" sz="2400" dirty="0"/>
          </a:p>
        </p:txBody>
      </p:sp>
      <p:sp>
        <p:nvSpPr>
          <p:cNvPr id="11" name="Нижний колонтитул 10">
            <a:extLst>
              <a:ext uri="{FF2B5EF4-FFF2-40B4-BE49-F238E27FC236}">
                <a16:creationId xmlns:a16="http://schemas.microsoft.com/office/drawing/2014/main" id="{9C3AC797-E1FC-4364-919A-99AAF56B07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028950" y="6356351"/>
            <a:ext cx="3086100" cy="365125"/>
          </a:xfrm>
        </p:spPr>
        <p:txBody>
          <a:bodyPr/>
          <a:lstStyle/>
          <a:p>
            <a:endParaRPr lang="ru-RU"/>
          </a:p>
        </p:txBody>
      </p:sp>
      <p:sp>
        <p:nvSpPr>
          <p:cNvPr id="12" name="Номер слайда 11">
            <a:extLst>
              <a:ext uri="{FF2B5EF4-FFF2-40B4-BE49-F238E27FC236}">
                <a16:creationId xmlns:a16="http://schemas.microsoft.com/office/drawing/2014/main" id="{121A4B6F-701D-463D-B1C9-F34779D738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457950" y="6356351"/>
            <a:ext cx="2057400" cy="365125"/>
          </a:xfrm>
        </p:spPr>
        <p:txBody>
          <a:bodyPr/>
          <a:lstStyle/>
          <a:p>
            <a:fld id="{81C5FB71-5E9C-41B5-9BB8-3F1EBEAEB16A}" type="slidenum">
              <a:rPr lang="ru-RU" smtClean="0"/>
              <a:pPr/>
              <a:t>4</a:t>
            </a:fld>
            <a:endParaRPr lang="ru-RU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/>
          <p:nvPr/>
        </p:nvSpPr>
        <p:spPr>
          <a:xfrm>
            <a:off x="193675" y="544512"/>
            <a:ext cx="8728075" cy="5324475"/>
          </a:xfrm>
          <a:custGeom>
            <a:avLst/>
            <a:gdLst/>
            <a:ahLst/>
            <a:cxnLst/>
            <a:rect l="l" t="t" r="r" b="b"/>
            <a:pathLst>
              <a:path w="8728075" h="5324475">
                <a:moveTo>
                  <a:pt x="8728075" y="0"/>
                </a:moveTo>
                <a:lnTo>
                  <a:pt x="0" y="0"/>
                </a:lnTo>
                <a:lnTo>
                  <a:pt x="0" y="5324475"/>
                </a:lnTo>
                <a:lnTo>
                  <a:pt x="8728075" y="5324475"/>
                </a:lnTo>
                <a:lnTo>
                  <a:pt x="8728075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 txBox="1"/>
          <p:nvPr/>
        </p:nvSpPr>
        <p:spPr>
          <a:xfrm>
            <a:off x="278129" y="989013"/>
            <a:ext cx="8559165" cy="4844916"/>
          </a:xfrm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354330" marR="5080" indent="-342265" algn="just">
              <a:lnSpc>
                <a:spcPct val="100800"/>
              </a:lnSpc>
              <a:spcBef>
                <a:spcPts val="75"/>
              </a:spcBef>
              <a:buSzPct val="66666"/>
              <a:buFont typeface="Wingdings"/>
              <a:buChar char=""/>
              <a:tabLst>
                <a:tab pos="355600" algn="l"/>
              </a:tabLst>
            </a:pPr>
            <a:r>
              <a:rPr sz="2400" b="1" dirty="0">
                <a:latin typeface="Arial"/>
                <a:cs typeface="Arial"/>
              </a:rPr>
              <a:t>характер</a:t>
            </a:r>
            <a:r>
              <a:rPr sz="2400" spc="380" dirty="0">
                <a:latin typeface="Times New Roman"/>
                <a:cs typeface="Times New Roman"/>
              </a:rPr>
              <a:t>    </a:t>
            </a:r>
            <a:r>
              <a:rPr sz="2400" b="1" dirty="0">
                <a:latin typeface="Arial"/>
                <a:cs typeface="Arial"/>
              </a:rPr>
              <a:t>связи</a:t>
            </a:r>
            <a:r>
              <a:rPr sz="2400" spc="385" dirty="0">
                <a:latin typeface="Times New Roman"/>
                <a:cs typeface="Times New Roman"/>
              </a:rPr>
              <a:t>    </a:t>
            </a:r>
            <a:r>
              <a:rPr sz="2400" dirty="0">
                <a:latin typeface="Arial"/>
                <a:cs typeface="Arial"/>
              </a:rPr>
              <a:t>между</a:t>
            </a:r>
            <a:r>
              <a:rPr sz="2400" spc="385" dirty="0">
                <a:latin typeface="Times New Roman"/>
                <a:cs typeface="Times New Roman"/>
              </a:rPr>
              <a:t>    </a:t>
            </a:r>
            <a:r>
              <a:rPr sz="2400" dirty="0">
                <a:latin typeface="Arial"/>
                <a:cs typeface="Arial"/>
              </a:rPr>
              <a:t>двумя</a:t>
            </a:r>
            <a:r>
              <a:rPr sz="2400" spc="385" dirty="0">
                <a:latin typeface="Times New Roman"/>
                <a:cs typeface="Times New Roman"/>
              </a:rPr>
              <a:t>    </a:t>
            </a:r>
            <a:r>
              <a:rPr sz="2400" spc="-10" dirty="0">
                <a:latin typeface="Arial"/>
                <a:cs typeface="Arial"/>
              </a:rPr>
              <a:t>непрерывными</a:t>
            </a:r>
            <a:r>
              <a:rPr sz="2400" spc="-10" dirty="0">
                <a:latin typeface="Times New Roman"/>
                <a:cs typeface="Times New Roman"/>
              </a:rPr>
              <a:t> 	</a:t>
            </a:r>
            <a:r>
              <a:rPr sz="2400" spc="-10" dirty="0">
                <a:latin typeface="Arial"/>
                <a:cs typeface="Arial"/>
              </a:rPr>
              <a:t>переменными</a:t>
            </a:r>
            <a:endParaRPr sz="2400" dirty="0">
              <a:latin typeface="Arial"/>
              <a:cs typeface="Arial"/>
            </a:endParaRPr>
          </a:p>
          <a:p>
            <a:pPr marL="355600" marR="5080" indent="-342900" algn="just">
              <a:lnSpc>
                <a:spcPct val="100800"/>
              </a:lnSpc>
              <a:buSzPct val="66666"/>
              <a:buFont typeface="Wingdings"/>
              <a:buChar char=""/>
              <a:tabLst>
                <a:tab pos="355600" algn="l"/>
              </a:tabLst>
            </a:pPr>
            <a:r>
              <a:rPr sz="2400" dirty="0">
                <a:latin typeface="Arial"/>
                <a:cs typeface="Arial"/>
              </a:rPr>
              <a:t>установка</a:t>
            </a:r>
            <a:r>
              <a:rPr sz="2400" spc="10" dirty="0">
                <a:latin typeface="Times New Roman"/>
                <a:cs typeface="Times New Roman"/>
              </a:rPr>
              <a:t>  </a:t>
            </a:r>
            <a:r>
              <a:rPr sz="2400" dirty="0">
                <a:latin typeface="Arial"/>
                <a:cs typeface="Arial"/>
              </a:rPr>
              <a:t>и</a:t>
            </a:r>
            <a:r>
              <a:rPr sz="2400" spc="15" dirty="0">
                <a:latin typeface="Times New Roman"/>
                <a:cs typeface="Times New Roman"/>
              </a:rPr>
              <a:t>  </a:t>
            </a:r>
            <a:r>
              <a:rPr sz="2400" dirty="0">
                <a:latin typeface="Arial"/>
                <a:cs typeface="Arial"/>
              </a:rPr>
              <a:t>оценка</a:t>
            </a:r>
            <a:r>
              <a:rPr sz="2400" spc="15" dirty="0">
                <a:latin typeface="Times New Roman"/>
                <a:cs typeface="Times New Roman"/>
              </a:rPr>
              <a:t>  </a:t>
            </a:r>
            <a:r>
              <a:rPr sz="2400" dirty="0">
                <a:latin typeface="Arial"/>
                <a:cs typeface="Arial"/>
              </a:rPr>
              <a:t>зависимости</a:t>
            </a:r>
            <a:r>
              <a:rPr sz="2400" spc="10" dirty="0">
                <a:latin typeface="Times New Roman"/>
                <a:cs typeface="Times New Roman"/>
              </a:rPr>
              <a:t>  </a:t>
            </a:r>
            <a:r>
              <a:rPr sz="2400" dirty="0">
                <a:latin typeface="Arial"/>
                <a:cs typeface="Arial"/>
              </a:rPr>
              <a:t>изучаемой</a:t>
            </a:r>
            <a:r>
              <a:rPr sz="2400" spc="10" dirty="0">
                <a:latin typeface="Times New Roman"/>
                <a:cs typeface="Times New Roman"/>
              </a:rPr>
              <a:t>  </a:t>
            </a:r>
            <a:r>
              <a:rPr sz="2400" spc="-10" dirty="0">
                <a:latin typeface="Arial"/>
                <a:cs typeface="Arial"/>
              </a:rPr>
              <a:t>случайной</a:t>
            </a:r>
            <a:r>
              <a:rPr sz="2400" spc="-1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Arial"/>
                <a:cs typeface="Arial"/>
              </a:rPr>
              <a:t>величины</a:t>
            </a:r>
            <a:r>
              <a:rPr sz="2400" spc="25" dirty="0">
                <a:latin typeface="Times New Roman"/>
                <a:cs typeface="Times New Roman"/>
              </a:rPr>
              <a:t>  </a:t>
            </a:r>
            <a:r>
              <a:rPr sz="2400" dirty="0">
                <a:latin typeface="Arial"/>
                <a:cs typeface="Arial"/>
              </a:rPr>
              <a:t>Y</a:t>
            </a:r>
            <a:r>
              <a:rPr sz="2400" spc="15" dirty="0">
                <a:latin typeface="Times New Roman"/>
                <a:cs typeface="Times New Roman"/>
              </a:rPr>
              <a:t>  </a:t>
            </a:r>
            <a:r>
              <a:rPr sz="2400" dirty="0">
                <a:latin typeface="Arial"/>
                <a:cs typeface="Arial"/>
              </a:rPr>
              <a:t>от</a:t>
            </a:r>
            <a:r>
              <a:rPr sz="2400" spc="25" dirty="0">
                <a:latin typeface="Times New Roman"/>
                <a:cs typeface="Times New Roman"/>
              </a:rPr>
              <a:t>  </a:t>
            </a:r>
            <a:r>
              <a:rPr sz="2400" dirty="0">
                <a:latin typeface="Arial"/>
                <a:cs typeface="Arial"/>
              </a:rPr>
              <a:t>одной/нескольких</a:t>
            </a:r>
            <a:r>
              <a:rPr sz="2400" spc="30" dirty="0">
                <a:latin typeface="Times New Roman"/>
                <a:cs typeface="Times New Roman"/>
              </a:rPr>
              <a:t>  </a:t>
            </a:r>
            <a:r>
              <a:rPr sz="2400" dirty="0">
                <a:latin typeface="Arial"/>
                <a:cs typeface="Arial"/>
              </a:rPr>
              <a:t>величин</a:t>
            </a:r>
            <a:r>
              <a:rPr sz="2400" spc="25" dirty="0">
                <a:latin typeface="Times New Roman"/>
                <a:cs typeface="Times New Roman"/>
              </a:rPr>
              <a:t>  </a:t>
            </a:r>
            <a:r>
              <a:rPr sz="2400" dirty="0">
                <a:latin typeface="Arial"/>
                <a:cs typeface="Arial"/>
              </a:rPr>
              <a:t>X,</a:t>
            </a:r>
            <a:r>
              <a:rPr sz="2400" spc="25" dirty="0">
                <a:latin typeface="Times New Roman"/>
                <a:cs typeface="Times New Roman"/>
              </a:rPr>
              <a:t>  </a:t>
            </a:r>
            <a:r>
              <a:rPr sz="2400" spc="-10" dirty="0">
                <a:latin typeface="Arial"/>
                <a:cs typeface="Arial"/>
              </a:rPr>
              <a:t>прогнозы</a:t>
            </a:r>
            <a:r>
              <a:rPr sz="2400" spc="-1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Arial"/>
                <a:cs typeface="Arial"/>
              </a:rPr>
              <a:t>значений</a:t>
            </a:r>
            <a:r>
              <a:rPr sz="2400" spc="-95" dirty="0">
                <a:latin typeface="Times New Roman"/>
                <a:cs typeface="Times New Roman"/>
              </a:rPr>
              <a:t> </a:t>
            </a:r>
            <a:r>
              <a:rPr sz="2400" spc="-50" dirty="0">
                <a:latin typeface="Arial"/>
                <a:cs typeface="Arial"/>
              </a:rPr>
              <a:t>Y</a:t>
            </a:r>
            <a:endParaRPr sz="2400" dirty="0">
              <a:latin typeface="Arial"/>
              <a:cs typeface="Arial"/>
            </a:endParaRPr>
          </a:p>
          <a:p>
            <a:pPr marL="320675" algn="just">
              <a:lnSpc>
                <a:spcPts val="2785"/>
              </a:lnSpc>
            </a:pPr>
            <a:r>
              <a:rPr sz="2400" dirty="0">
                <a:latin typeface="Arial"/>
                <a:cs typeface="Arial"/>
              </a:rPr>
              <a:t>Y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Arial"/>
                <a:cs typeface="Arial"/>
              </a:rPr>
              <a:t>-</a:t>
            </a:r>
            <a:r>
              <a:rPr sz="2400" spc="15" dirty="0">
                <a:latin typeface="Times New Roman"/>
                <a:cs typeface="Times New Roman"/>
              </a:rPr>
              <a:t> </a:t>
            </a:r>
            <a:r>
              <a:rPr sz="2400" b="1" dirty="0">
                <a:latin typeface="Arial"/>
                <a:cs typeface="Arial"/>
              </a:rPr>
              <a:t>зависимая</a:t>
            </a:r>
            <a:r>
              <a:rPr sz="2400" spc="20" dirty="0"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Arial"/>
                <a:cs typeface="Arial"/>
              </a:rPr>
              <a:t>переменная.</a:t>
            </a:r>
            <a:endParaRPr sz="2400" dirty="0">
              <a:latin typeface="Arial"/>
              <a:cs typeface="Arial"/>
            </a:endParaRPr>
          </a:p>
          <a:p>
            <a:pPr marL="320675" algn="just">
              <a:lnSpc>
                <a:spcPct val="100000"/>
              </a:lnSpc>
              <a:spcBef>
                <a:spcPts val="25"/>
              </a:spcBef>
            </a:pPr>
            <a:r>
              <a:rPr sz="2400" dirty="0">
                <a:latin typeface="Arial"/>
                <a:cs typeface="Arial"/>
              </a:rPr>
              <a:t>X</a:t>
            </a:r>
            <a:r>
              <a:rPr sz="240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Arial"/>
                <a:cs typeface="Arial"/>
              </a:rPr>
              <a:t>-</a:t>
            </a:r>
            <a:r>
              <a:rPr sz="2400" spc="5" dirty="0">
                <a:latin typeface="Times New Roman"/>
                <a:cs typeface="Times New Roman"/>
              </a:rPr>
              <a:t> </a:t>
            </a:r>
            <a:r>
              <a:rPr sz="2400" b="1" dirty="0">
                <a:latin typeface="Arial"/>
                <a:cs typeface="Arial"/>
              </a:rPr>
              <a:t>независимая</a:t>
            </a:r>
            <a:r>
              <a:rPr sz="2400" spc="10" dirty="0"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Arial"/>
                <a:cs typeface="Arial"/>
              </a:rPr>
              <a:t>переменная.</a:t>
            </a:r>
            <a:endParaRPr sz="2400" dirty="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170"/>
              </a:spcBef>
            </a:pPr>
            <a:endParaRPr sz="2400" dirty="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</a:pPr>
            <a:r>
              <a:rPr sz="2400" b="1" spc="-10" dirty="0" err="1">
                <a:solidFill>
                  <a:schemeClr val="tx1"/>
                </a:solidFill>
                <a:latin typeface="Arial"/>
                <a:cs typeface="Arial"/>
              </a:rPr>
              <a:t>Например</a:t>
            </a:r>
            <a:r>
              <a:rPr sz="2400" b="1" spc="-10" dirty="0">
                <a:solidFill>
                  <a:schemeClr val="tx1"/>
                </a:solidFill>
                <a:latin typeface="Arial"/>
                <a:cs typeface="Arial"/>
              </a:rPr>
              <a:t>,</a:t>
            </a:r>
            <a:endParaRPr lang="en-US" sz="2400" b="1" spc="-10" dirty="0">
              <a:solidFill>
                <a:schemeClr val="tx1"/>
              </a:solidFill>
              <a:latin typeface="Arial"/>
              <a:cs typeface="Arial"/>
            </a:endParaRPr>
          </a:p>
          <a:p>
            <a:pPr marL="469900" indent="-457200">
              <a:lnSpc>
                <a:spcPct val="100000"/>
              </a:lnSpc>
              <a:buFont typeface="+mj-lt"/>
              <a:buAutoNum type="arabicParenR"/>
            </a:pPr>
            <a:r>
              <a:rPr sz="2400" dirty="0">
                <a:solidFill>
                  <a:schemeClr val="tx1"/>
                </a:solidFill>
                <a:latin typeface="Arial"/>
                <a:cs typeface="Arial"/>
              </a:rPr>
              <a:t>X</a:t>
            </a:r>
            <a:r>
              <a:rPr sz="2400" spc="5" dirty="0">
                <a:solidFill>
                  <a:schemeClr val="tx1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chemeClr val="tx1"/>
                </a:solidFill>
                <a:latin typeface="Arial"/>
                <a:cs typeface="Arial"/>
              </a:rPr>
              <a:t>–</a:t>
            </a:r>
            <a:r>
              <a:rPr sz="2400" spc="10" dirty="0">
                <a:solidFill>
                  <a:schemeClr val="tx1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chemeClr val="tx1"/>
                </a:solidFill>
                <a:latin typeface="Arial"/>
                <a:cs typeface="Arial"/>
              </a:rPr>
              <a:t>количество</a:t>
            </a:r>
            <a:r>
              <a:rPr sz="2400" spc="15" dirty="0">
                <a:solidFill>
                  <a:schemeClr val="tx1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chemeClr val="tx1"/>
                </a:solidFill>
                <a:latin typeface="Arial"/>
                <a:cs typeface="Arial"/>
              </a:rPr>
              <a:t>внесенных</a:t>
            </a:r>
            <a:r>
              <a:rPr sz="2400" spc="5" dirty="0">
                <a:solidFill>
                  <a:schemeClr val="tx1"/>
                </a:solidFill>
                <a:latin typeface="Times New Roman"/>
                <a:cs typeface="Times New Roman"/>
              </a:rPr>
              <a:t> </a:t>
            </a:r>
            <a:r>
              <a:rPr sz="2400" spc="-10" dirty="0">
                <a:solidFill>
                  <a:schemeClr val="tx1"/>
                </a:solidFill>
                <a:latin typeface="Arial"/>
                <a:cs typeface="Arial"/>
              </a:rPr>
              <a:t>удобрений,</a:t>
            </a:r>
            <a:r>
              <a:rPr sz="2400" spc="-10" dirty="0">
                <a:solidFill>
                  <a:schemeClr val="tx1"/>
                </a:solidFill>
                <a:latin typeface="Times New Roman"/>
                <a:cs typeface="Times New Roman"/>
              </a:rPr>
              <a:t> 	</a:t>
            </a:r>
            <a:r>
              <a:rPr sz="2400" dirty="0">
                <a:solidFill>
                  <a:schemeClr val="tx1"/>
                </a:solidFill>
                <a:latin typeface="Arial"/>
                <a:cs typeface="Arial"/>
              </a:rPr>
              <a:t>Y</a:t>
            </a:r>
            <a:r>
              <a:rPr sz="2400" dirty="0">
                <a:solidFill>
                  <a:schemeClr val="tx1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chemeClr val="tx1"/>
                </a:solidFill>
                <a:latin typeface="Arial"/>
                <a:cs typeface="Arial"/>
              </a:rPr>
              <a:t>–</a:t>
            </a:r>
            <a:r>
              <a:rPr sz="2400" spc="45" dirty="0">
                <a:solidFill>
                  <a:schemeClr val="tx1"/>
                </a:solidFill>
                <a:latin typeface="Times New Roman"/>
                <a:cs typeface="Times New Roman"/>
              </a:rPr>
              <a:t> </a:t>
            </a:r>
            <a:r>
              <a:rPr sz="2400" dirty="0" err="1">
                <a:solidFill>
                  <a:schemeClr val="tx1"/>
                </a:solidFill>
                <a:latin typeface="Arial"/>
                <a:cs typeface="Arial"/>
              </a:rPr>
              <a:t>снимаемый</a:t>
            </a:r>
            <a:r>
              <a:rPr sz="2400" spc="35" dirty="0">
                <a:solidFill>
                  <a:schemeClr val="tx1"/>
                </a:solidFill>
                <a:latin typeface="Times New Roman"/>
                <a:cs typeface="Times New Roman"/>
              </a:rPr>
              <a:t> </a:t>
            </a:r>
            <a:r>
              <a:rPr sz="2400" spc="-10" dirty="0" err="1">
                <a:solidFill>
                  <a:schemeClr val="tx1"/>
                </a:solidFill>
                <a:latin typeface="Arial"/>
                <a:cs typeface="Arial"/>
              </a:rPr>
              <a:t>урожай</a:t>
            </a:r>
            <a:r>
              <a:rPr sz="2400" spc="-10" dirty="0">
                <a:solidFill>
                  <a:schemeClr val="tx1"/>
                </a:solidFill>
                <a:latin typeface="Arial"/>
                <a:cs typeface="Arial"/>
              </a:rPr>
              <a:t>;</a:t>
            </a:r>
            <a:endParaRPr lang="en-US" sz="2400" spc="-10" dirty="0">
              <a:solidFill>
                <a:schemeClr val="tx1"/>
              </a:solidFill>
              <a:latin typeface="Arial"/>
              <a:cs typeface="Arial"/>
            </a:endParaRPr>
          </a:p>
          <a:p>
            <a:pPr marL="469900" indent="-457200">
              <a:lnSpc>
                <a:spcPct val="100000"/>
              </a:lnSpc>
              <a:buFont typeface="+mj-lt"/>
              <a:buAutoNum type="arabicParenR"/>
            </a:pPr>
            <a:r>
              <a:rPr lang="ru-RU" sz="2400" dirty="0">
                <a:solidFill>
                  <a:schemeClr val="tx1"/>
                </a:solidFill>
                <a:latin typeface="Arial"/>
                <a:cs typeface="Arial"/>
              </a:rPr>
              <a:t>X</a:t>
            </a:r>
            <a:r>
              <a:rPr lang="ru-RU" sz="2400" spc="-5" dirty="0">
                <a:solidFill>
                  <a:schemeClr val="tx1"/>
                </a:solidFill>
                <a:latin typeface="Times New Roman"/>
                <a:cs typeface="Times New Roman"/>
              </a:rPr>
              <a:t> </a:t>
            </a:r>
            <a:r>
              <a:rPr lang="ru-RU" sz="2400" dirty="0">
                <a:solidFill>
                  <a:schemeClr val="tx1"/>
                </a:solidFill>
                <a:latin typeface="Arial"/>
                <a:cs typeface="Arial"/>
              </a:rPr>
              <a:t>–</a:t>
            </a:r>
            <a:r>
              <a:rPr lang="ru-RU" sz="2400" dirty="0">
                <a:solidFill>
                  <a:schemeClr val="tx1"/>
                </a:solidFill>
                <a:latin typeface="Times New Roman"/>
                <a:cs typeface="Times New Roman"/>
              </a:rPr>
              <a:t> </a:t>
            </a:r>
            <a:r>
              <a:rPr lang="ru-RU" sz="2400" dirty="0">
                <a:solidFill>
                  <a:schemeClr val="tx1"/>
                </a:solidFill>
                <a:latin typeface="Arial"/>
                <a:cs typeface="Arial"/>
              </a:rPr>
              <a:t>величина</a:t>
            </a:r>
            <a:r>
              <a:rPr lang="ru-RU" sz="2400" spc="5" dirty="0">
                <a:solidFill>
                  <a:schemeClr val="tx1"/>
                </a:solidFill>
                <a:latin typeface="Times New Roman"/>
                <a:cs typeface="Times New Roman"/>
              </a:rPr>
              <a:t> </a:t>
            </a:r>
            <a:r>
              <a:rPr lang="ru-RU" sz="2400" dirty="0">
                <a:solidFill>
                  <a:schemeClr val="tx1"/>
                </a:solidFill>
                <a:latin typeface="Arial"/>
                <a:cs typeface="Arial"/>
              </a:rPr>
              <a:t>затрат</a:t>
            </a:r>
            <a:r>
              <a:rPr lang="ru-RU" sz="2400" spc="-5" dirty="0">
                <a:solidFill>
                  <a:schemeClr val="tx1"/>
                </a:solidFill>
                <a:latin typeface="Times New Roman"/>
                <a:cs typeface="Times New Roman"/>
              </a:rPr>
              <a:t> </a:t>
            </a:r>
            <a:r>
              <a:rPr lang="ru-RU" sz="2400" dirty="0">
                <a:solidFill>
                  <a:schemeClr val="tx1"/>
                </a:solidFill>
                <a:latin typeface="Arial"/>
                <a:cs typeface="Arial"/>
              </a:rPr>
              <a:t>компании</a:t>
            </a:r>
            <a:r>
              <a:rPr lang="ru-RU" sz="2400" spc="-10" dirty="0">
                <a:solidFill>
                  <a:schemeClr val="tx1"/>
                </a:solidFill>
                <a:latin typeface="Times New Roman"/>
                <a:cs typeface="Times New Roman"/>
              </a:rPr>
              <a:t> </a:t>
            </a:r>
            <a:r>
              <a:rPr lang="ru-RU" sz="2400" dirty="0">
                <a:solidFill>
                  <a:schemeClr val="tx1"/>
                </a:solidFill>
                <a:latin typeface="Arial"/>
                <a:cs typeface="Arial"/>
              </a:rPr>
              <a:t>на</a:t>
            </a:r>
            <a:r>
              <a:rPr lang="ru-RU" sz="2400" spc="5" dirty="0">
                <a:solidFill>
                  <a:schemeClr val="tx1"/>
                </a:solidFill>
                <a:latin typeface="Times New Roman"/>
                <a:cs typeface="Times New Roman"/>
              </a:rPr>
              <a:t> </a:t>
            </a:r>
            <a:r>
              <a:rPr lang="ru-RU" sz="2400" dirty="0">
                <a:solidFill>
                  <a:schemeClr val="tx1"/>
                </a:solidFill>
                <a:latin typeface="Arial"/>
                <a:cs typeface="Arial"/>
              </a:rPr>
              <a:t>рекламу</a:t>
            </a:r>
            <a:r>
              <a:rPr lang="ru-RU" sz="2400" spc="-5" dirty="0">
                <a:solidFill>
                  <a:schemeClr val="tx1"/>
                </a:solidFill>
                <a:latin typeface="Times New Roman"/>
                <a:cs typeface="Times New Roman"/>
              </a:rPr>
              <a:t> </a:t>
            </a:r>
            <a:r>
              <a:rPr lang="ru-RU" sz="2400" dirty="0">
                <a:solidFill>
                  <a:schemeClr val="tx1"/>
                </a:solidFill>
                <a:latin typeface="Arial"/>
                <a:cs typeface="Arial"/>
              </a:rPr>
              <a:t>своего</a:t>
            </a:r>
            <a:r>
              <a:rPr lang="ru-RU" sz="2400" dirty="0">
                <a:solidFill>
                  <a:schemeClr val="tx1"/>
                </a:solidFill>
                <a:latin typeface="Times New Roman"/>
                <a:cs typeface="Times New Roman"/>
              </a:rPr>
              <a:t> </a:t>
            </a:r>
            <a:r>
              <a:rPr lang="ru-RU" sz="2400" spc="-10" dirty="0">
                <a:solidFill>
                  <a:schemeClr val="tx1"/>
                </a:solidFill>
                <a:latin typeface="Arial"/>
                <a:cs typeface="Arial"/>
              </a:rPr>
              <a:t>товара,</a:t>
            </a:r>
            <a:r>
              <a:rPr lang="ru-RU" sz="2400" spc="-10" dirty="0">
                <a:solidFill>
                  <a:schemeClr val="tx1"/>
                </a:solidFill>
                <a:latin typeface="Times New Roman"/>
                <a:cs typeface="Times New Roman"/>
              </a:rPr>
              <a:t> 	</a:t>
            </a:r>
            <a:r>
              <a:rPr lang="ru-RU" sz="2400" dirty="0">
                <a:solidFill>
                  <a:schemeClr val="tx1"/>
                </a:solidFill>
                <a:latin typeface="Arial"/>
                <a:cs typeface="Arial"/>
              </a:rPr>
              <a:t>Y</a:t>
            </a:r>
            <a:r>
              <a:rPr lang="ru-RU" sz="2400" spc="-60" dirty="0">
                <a:solidFill>
                  <a:schemeClr val="tx1"/>
                </a:solidFill>
                <a:latin typeface="Times New Roman"/>
                <a:cs typeface="Times New Roman"/>
              </a:rPr>
              <a:t> </a:t>
            </a:r>
            <a:r>
              <a:rPr lang="ru-RU" sz="2400" dirty="0">
                <a:solidFill>
                  <a:schemeClr val="tx1"/>
                </a:solidFill>
                <a:latin typeface="Arial"/>
                <a:cs typeface="Arial"/>
              </a:rPr>
              <a:t>–</a:t>
            </a:r>
            <a:r>
              <a:rPr lang="ru-RU" sz="2400" spc="-15" dirty="0">
                <a:solidFill>
                  <a:schemeClr val="tx1"/>
                </a:solidFill>
                <a:latin typeface="Times New Roman"/>
                <a:cs typeface="Times New Roman"/>
              </a:rPr>
              <a:t> </a:t>
            </a:r>
            <a:r>
              <a:rPr lang="ru-RU" sz="2400" dirty="0">
                <a:solidFill>
                  <a:schemeClr val="tx1"/>
                </a:solidFill>
                <a:latin typeface="Arial"/>
                <a:cs typeface="Arial"/>
              </a:rPr>
              <a:t>объем</a:t>
            </a:r>
            <a:r>
              <a:rPr lang="ru-RU" sz="2400" spc="-20" dirty="0">
                <a:solidFill>
                  <a:schemeClr val="tx1"/>
                </a:solidFill>
                <a:latin typeface="Times New Roman"/>
                <a:cs typeface="Times New Roman"/>
              </a:rPr>
              <a:t> </a:t>
            </a:r>
            <a:r>
              <a:rPr lang="ru-RU" sz="2400" dirty="0">
                <a:latin typeface="Arial"/>
                <a:cs typeface="Arial"/>
              </a:rPr>
              <a:t>продаж</a:t>
            </a:r>
            <a:r>
              <a:rPr lang="ru-RU" sz="2400" spc="-25" dirty="0">
                <a:latin typeface="Times New Roman"/>
                <a:cs typeface="Times New Roman"/>
              </a:rPr>
              <a:t> </a:t>
            </a:r>
            <a:r>
              <a:rPr lang="ru-RU" sz="2400" dirty="0">
                <a:latin typeface="Arial"/>
                <a:cs typeface="Arial"/>
              </a:rPr>
              <a:t>этого</a:t>
            </a:r>
            <a:r>
              <a:rPr lang="ru-RU" sz="2400" spc="-20" dirty="0">
                <a:latin typeface="Times New Roman"/>
                <a:cs typeface="Times New Roman"/>
              </a:rPr>
              <a:t> </a:t>
            </a:r>
            <a:r>
              <a:rPr lang="ru-RU" sz="2400" dirty="0">
                <a:latin typeface="Arial"/>
                <a:cs typeface="Arial"/>
              </a:rPr>
              <a:t>товара</a:t>
            </a:r>
            <a:r>
              <a:rPr lang="ru-RU" sz="2400" spc="-15" dirty="0">
                <a:latin typeface="Times New Roman"/>
                <a:cs typeface="Times New Roman"/>
              </a:rPr>
              <a:t> </a:t>
            </a:r>
            <a:r>
              <a:rPr lang="ru-RU" sz="2400" dirty="0">
                <a:latin typeface="Arial"/>
                <a:cs typeface="Arial"/>
              </a:rPr>
              <a:t>и</a:t>
            </a:r>
            <a:r>
              <a:rPr lang="ru-RU" sz="2400" spc="-25" dirty="0">
                <a:latin typeface="Times New Roman"/>
                <a:cs typeface="Times New Roman"/>
              </a:rPr>
              <a:t> </a:t>
            </a:r>
            <a:r>
              <a:rPr lang="ru-RU" sz="2400" spc="-20" dirty="0">
                <a:latin typeface="Arial"/>
                <a:cs typeface="Arial"/>
              </a:rPr>
              <a:t>т.д.</a:t>
            </a:r>
            <a:endParaRPr lang="ru-RU" sz="2400" dirty="0">
              <a:latin typeface="Arial"/>
              <a:cs typeface="Arial"/>
            </a:endParaRPr>
          </a:p>
        </p:txBody>
      </p:sp>
      <p:sp>
        <p:nvSpPr>
          <p:cNvPr id="15" name="object 15"/>
          <p:cNvSpPr txBox="1">
            <a:spLocks noGrp="1"/>
          </p:cNvSpPr>
          <p:nvPr>
            <p:ph type="title"/>
          </p:nvPr>
        </p:nvSpPr>
        <p:spPr>
          <a:xfrm>
            <a:off x="2546350" y="240064"/>
            <a:ext cx="4051300" cy="50526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200" dirty="0"/>
              <a:t>Диаграммы</a:t>
            </a:r>
            <a:r>
              <a:rPr sz="3200" b="0" spc="-65" dirty="0">
                <a:latin typeface="Times New Roman"/>
                <a:cs typeface="Times New Roman"/>
              </a:rPr>
              <a:t> </a:t>
            </a:r>
            <a:r>
              <a:rPr sz="3200" spc="-10" dirty="0"/>
              <a:t>рассеяния</a:t>
            </a:r>
          </a:p>
        </p:txBody>
      </p:sp>
      <p:grpSp>
        <p:nvGrpSpPr>
          <p:cNvPr id="16" name="object 16"/>
          <p:cNvGrpSpPr/>
          <p:nvPr/>
        </p:nvGrpSpPr>
        <p:grpSpPr>
          <a:xfrm>
            <a:off x="6096000" y="2438400"/>
            <a:ext cx="2609850" cy="2478405"/>
            <a:chOff x="6127750" y="2103437"/>
            <a:chExt cx="2609850" cy="2478405"/>
          </a:xfrm>
        </p:grpSpPr>
        <p:pic>
          <p:nvPicPr>
            <p:cNvPr id="17" name="object 17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6127750" y="2103437"/>
              <a:ext cx="2609850" cy="2144712"/>
            </a:xfrm>
            <a:prstGeom prst="rect">
              <a:avLst/>
            </a:prstGeom>
          </p:spPr>
        </p:pic>
        <p:pic>
          <p:nvPicPr>
            <p:cNvPr id="18" name="object 18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6403975" y="4089400"/>
              <a:ext cx="2333625" cy="492125"/>
            </a:xfrm>
            <a:prstGeom prst="rect">
              <a:avLst/>
            </a:prstGeom>
          </p:spPr>
        </p:pic>
      </p:grp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5169EC14-550B-4C11-AB15-912B7A511F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9132A465-85E9-4673-83F1-4DB9E2FB17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C5FB71-5E9C-41B5-9BB8-3F1EBEAEB16A}" type="slidenum">
              <a:rPr lang="ru-RU" smtClean="0"/>
              <a:t>5</a:t>
            </a:fld>
            <a:endParaRPr lang="ru-RU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193675" y="720725"/>
            <a:ext cx="8756650" cy="2124075"/>
          </a:xfrm>
          <a:custGeom>
            <a:avLst/>
            <a:gdLst/>
            <a:ahLst/>
            <a:cxnLst/>
            <a:rect l="l" t="t" r="r" b="b"/>
            <a:pathLst>
              <a:path w="8756650" h="2124075">
                <a:moveTo>
                  <a:pt x="8756650" y="0"/>
                </a:moveTo>
                <a:lnTo>
                  <a:pt x="0" y="0"/>
                </a:lnTo>
                <a:lnTo>
                  <a:pt x="0" y="2124075"/>
                </a:lnTo>
                <a:lnTo>
                  <a:pt x="8756650" y="2124075"/>
                </a:lnTo>
                <a:lnTo>
                  <a:pt x="8756650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688329" y="943787"/>
            <a:ext cx="7419986" cy="205158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b="1" dirty="0">
                <a:latin typeface="Arial"/>
                <a:cs typeface="Arial"/>
              </a:rPr>
              <a:t>Два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b="1" dirty="0">
                <a:latin typeface="Arial"/>
                <a:cs typeface="Arial"/>
              </a:rPr>
              <a:t>подхода</a:t>
            </a:r>
            <a:r>
              <a:rPr sz="2400" spc="-1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Arial"/>
                <a:cs typeface="Arial"/>
              </a:rPr>
              <a:t>к</a:t>
            </a:r>
            <a:r>
              <a:rPr sz="2400" spc="-1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Arial"/>
                <a:cs typeface="Arial"/>
              </a:rPr>
              <a:t>оценке</a:t>
            </a:r>
            <a:r>
              <a:rPr sz="2400" spc="-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Arial"/>
                <a:cs typeface="Arial"/>
              </a:rPr>
              <a:t>силы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Arial"/>
                <a:cs typeface="Arial"/>
              </a:rPr>
              <a:t>корреляции:</a:t>
            </a:r>
            <a:endParaRPr sz="2400" dirty="0">
              <a:latin typeface="Arial"/>
              <a:cs typeface="Arial"/>
            </a:endParaRPr>
          </a:p>
          <a:p>
            <a:pPr marL="608330" marR="5080" indent="-457200">
              <a:lnSpc>
                <a:spcPct val="100800"/>
              </a:lnSpc>
            </a:pPr>
            <a:r>
              <a:rPr sz="2400" b="1" spc="-25" dirty="0">
                <a:latin typeface="Arial"/>
                <a:cs typeface="Arial"/>
              </a:rPr>
              <a:t>1.</a:t>
            </a:r>
            <a:r>
              <a:rPr sz="2400" dirty="0">
                <a:latin typeface="Times New Roman"/>
                <a:cs typeface="Times New Roman"/>
              </a:rPr>
              <a:t>	</a:t>
            </a:r>
            <a:r>
              <a:rPr lang="ru-RU" sz="2400" b="1" spc="-10" dirty="0">
                <a:latin typeface="Arial"/>
                <a:cs typeface="Arial"/>
              </a:rPr>
              <a:t>Первый подход</a:t>
            </a:r>
            <a:r>
              <a:rPr lang="ru-RU" sz="2400" spc="-10" dirty="0">
                <a:latin typeface="Arial"/>
                <a:cs typeface="Arial"/>
              </a:rPr>
              <a:t> опирается на абсолютную величину коэффициента корреляции</a:t>
            </a:r>
            <a:endParaRPr sz="2400" dirty="0">
              <a:latin typeface="Arial"/>
              <a:cs typeface="Arial"/>
            </a:endParaRPr>
          </a:p>
          <a:p>
            <a:pPr marL="12700" marR="5080">
              <a:lnSpc>
                <a:spcPct val="100000"/>
              </a:lnSpc>
              <a:spcBef>
                <a:spcPts val="2415"/>
              </a:spcBef>
              <a:tabLst>
                <a:tab pos="1436370" algn="l"/>
                <a:tab pos="2611120" algn="l"/>
                <a:tab pos="3505200" algn="l"/>
                <a:tab pos="5186045" algn="l"/>
                <a:tab pos="5760720" algn="l"/>
                <a:tab pos="7477125" algn="l"/>
              </a:tabLst>
            </a:pPr>
            <a:r>
              <a:rPr sz="2000" b="1" spc="-10" dirty="0">
                <a:latin typeface="Arial"/>
                <a:cs typeface="Arial"/>
              </a:rPr>
              <a:t>Таблица.</a:t>
            </a:r>
            <a:r>
              <a:rPr sz="2000" dirty="0">
                <a:latin typeface="Times New Roman"/>
                <a:cs typeface="Times New Roman"/>
              </a:rPr>
              <a:t>	</a:t>
            </a:r>
            <a:r>
              <a:rPr sz="2000" spc="-10" dirty="0">
                <a:latin typeface="Arial"/>
                <a:cs typeface="Arial"/>
              </a:rPr>
              <a:t>Оценка</a:t>
            </a:r>
            <a:r>
              <a:rPr sz="2000" dirty="0">
                <a:latin typeface="Times New Roman"/>
                <a:cs typeface="Times New Roman"/>
              </a:rPr>
              <a:t>	</a:t>
            </a:r>
            <a:r>
              <a:rPr sz="2000" spc="-20" dirty="0">
                <a:latin typeface="Arial"/>
                <a:cs typeface="Arial"/>
              </a:rPr>
              <a:t>силы</a:t>
            </a:r>
            <a:r>
              <a:rPr sz="2000" dirty="0">
                <a:latin typeface="Times New Roman"/>
                <a:cs typeface="Times New Roman"/>
              </a:rPr>
              <a:t>	</a:t>
            </a:r>
            <a:r>
              <a:rPr sz="2000" spc="-10" dirty="0">
                <a:latin typeface="Arial"/>
                <a:cs typeface="Arial"/>
              </a:rPr>
              <a:t>корреляции</a:t>
            </a:r>
            <a:r>
              <a:rPr sz="2000" dirty="0">
                <a:latin typeface="Times New Roman"/>
                <a:cs typeface="Times New Roman"/>
              </a:rPr>
              <a:t>	</a:t>
            </a:r>
            <a:r>
              <a:rPr sz="2000" spc="-25" dirty="0">
                <a:latin typeface="Arial"/>
                <a:cs typeface="Arial"/>
              </a:rPr>
              <a:t>по</a:t>
            </a:r>
            <a:r>
              <a:rPr sz="2000" dirty="0">
                <a:latin typeface="Times New Roman"/>
                <a:cs typeface="Times New Roman"/>
              </a:rPr>
              <a:t>	</a:t>
            </a:r>
            <a:r>
              <a:rPr sz="2000" spc="-10" dirty="0">
                <a:latin typeface="Arial"/>
                <a:cs typeface="Arial"/>
              </a:rPr>
              <a:t>абсолютной</a:t>
            </a:r>
            <a:r>
              <a:rPr sz="2000" dirty="0">
                <a:latin typeface="Times New Roman"/>
                <a:cs typeface="Times New Roman"/>
              </a:rPr>
              <a:t>	</a:t>
            </a:r>
            <a:r>
              <a:rPr sz="2000" spc="-25" dirty="0">
                <a:latin typeface="Arial"/>
                <a:cs typeface="Arial"/>
              </a:rPr>
              <a:t>величине</a:t>
            </a:r>
            <a:r>
              <a:rPr sz="2000" spc="-2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Arial"/>
                <a:cs typeface="Arial"/>
              </a:rPr>
              <a:t>коэффициента</a:t>
            </a:r>
            <a:r>
              <a:rPr sz="2000" spc="-90" dirty="0">
                <a:latin typeface="Times New Roman"/>
                <a:cs typeface="Times New Roman"/>
              </a:rPr>
              <a:t> </a:t>
            </a:r>
            <a:r>
              <a:rPr sz="2000" spc="-10" dirty="0">
                <a:latin typeface="Arial"/>
                <a:cs typeface="Arial"/>
              </a:rPr>
              <a:t>корреляции</a:t>
            </a:r>
            <a:endParaRPr sz="2000" dirty="0">
              <a:latin typeface="Arial"/>
              <a:cs typeface="Arial"/>
            </a:endParaRPr>
          </a:p>
        </p:txBody>
      </p:sp>
      <p:graphicFrame>
        <p:nvGraphicFramePr>
          <p:cNvPr id="4" name="object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91833898"/>
              </p:ext>
            </p:extLst>
          </p:nvPr>
        </p:nvGraphicFramePr>
        <p:xfrm>
          <a:off x="1022350" y="3240087"/>
          <a:ext cx="7085965" cy="2994021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409384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9921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896619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850"/>
                        </a:spcBef>
                      </a:pPr>
                      <a:r>
                        <a:rPr sz="2000" b="1" dirty="0">
                          <a:latin typeface="Trebuchet MS"/>
                          <a:cs typeface="Trebuchet MS"/>
                        </a:rPr>
                        <a:t>Абс.</a:t>
                      </a:r>
                      <a:r>
                        <a:rPr sz="2000" spc="5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000" b="1" dirty="0">
                          <a:latin typeface="Trebuchet MS"/>
                          <a:cs typeface="Trebuchet MS"/>
                        </a:rPr>
                        <a:t>величина</a:t>
                      </a:r>
                      <a:r>
                        <a:rPr sz="2000" spc="4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000" b="1" spc="-10" dirty="0">
                          <a:latin typeface="Trebuchet MS"/>
                          <a:cs typeface="Trebuchet MS"/>
                        </a:rPr>
                        <a:t>коэффициента</a:t>
                      </a:r>
                      <a:endParaRPr sz="2000" dirty="0">
                        <a:latin typeface="Trebuchet MS"/>
                        <a:cs typeface="Trebuchet MS"/>
                      </a:endParaRP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1200"/>
                        </a:spcBef>
                      </a:pPr>
                      <a:r>
                        <a:rPr sz="2000" b="1" dirty="0">
                          <a:latin typeface="Trebuchet MS"/>
                          <a:cs typeface="Trebuchet MS"/>
                        </a:rPr>
                        <a:t>корреляции</a:t>
                      </a:r>
                      <a:r>
                        <a:rPr sz="2000" spc="3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000" b="1" spc="-25" dirty="0">
                          <a:latin typeface="Trebuchet MS"/>
                          <a:cs typeface="Trebuchet MS"/>
                        </a:rPr>
                        <a:t>|r|</a:t>
                      </a:r>
                      <a:endParaRPr sz="2000" dirty="0">
                        <a:latin typeface="Trebuchet MS"/>
                        <a:cs typeface="Trebuchet MS"/>
                      </a:endParaRPr>
                    </a:p>
                  </a:txBody>
                  <a:tcPr marL="0" marR="0" marT="10795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350"/>
                        </a:spcBef>
                      </a:pPr>
                      <a:endParaRPr sz="2000">
                        <a:latin typeface="Times New Roman"/>
                        <a:cs typeface="Times New Roman"/>
                      </a:endParaRPr>
                    </a:p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2000" b="1" dirty="0">
                          <a:latin typeface="Trebuchet MS"/>
                          <a:cs typeface="Trebuchet MS"/>
                        </a:rPr>
                        <a:t>Сила</a:t>
                      </a:r>
                      <a:r>
                        <a:rPr sz="2000" spc="7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000" b="1" spc="-10" dirty="0">
                          <a:latin typeface="Trebuchet MS"/>
                          <a:cs typeface="Trebuchet MS"/>
                        </a:rPr>
                        <a:t>корреляции</a:t>
                      </a:r>
                      <a:endParaRPr sz="2000">
                        <a:latin typeface="Trebuchet MS"/>
                        <a:cs typeface="Trebuchet MS"/>
                      </a:endParaRPr>
                    </a:p>
                  </a:txBody>
                  <a:tcPr marL="0" marR="0" marT="4445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19734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775"/>
                        </a:spcBef>
                      </a:pPr>
                      <a:r>
                        <a:rPr sz="2000" b="1" dirty="0">
                          <a:latin typeface="Trebuchet MS"/>
                          <a:cs typeface="Trebuchet MS"/>
                        </a:rPr>
                        <a:t>|r|</a:t>
                      </a:r>
                      <a:r>
                        <a:rPr sz="2000" spc="8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000" b="1" dirty="0">
                          <a:latin typeface="Trebuchet MS"/>
                          <a:cs typeface="Trebuchet MS"/>
                        </a:rPr>
                        <a:t>≥</a:t>
                      </a:r>
                      <a:r>
                        <a:rPr sz="2000" spc="8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000" b="1" spc="-20" dirty="0">
                          <a:latin typeface="Trebuchet MS"/>
                          <a:cs typeface="Trebuchet MS"/>
                        </a:rPr>
                        <a:t>0,70</a:t>
                      </a:r>
                      <a:endParaRPr sz="2000" dirty="0">
                        <a:latin typeface="Trebuchet MS"/>
                        <a:cs typeface="Trebuchet MS"/>
                      </a:endParaRPr>
                    </a:p>
                  </a:txBody>
                  <a:tcPr marL="0" marR="0" marT="9842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775"/>
                        </a:spcBef>
                      </a:pPr>
                      <a:r>
                        <a:rPr sz="2000" b="1" spc="-10" dirty="0">
                          <a:latin typeface="Trebuchet MS"/>
                          <a:cs typeface="Trebuchet MS"/>
                        </a:rPr>
                        <a:t>сильная</a:t>
                      </a:r>
                      <a:endParaRPr sz="2000" dirty="0">
                        <a:latin typeface="Trebuchet MS"/>
                        <a:cs typeface="Trebuchet MS"/>
                      </a:endParaRPr>
                    </a:p>
                  </a:txBody>
                  <a:tcPr marL="0" marR="0" marT="9842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1910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755"/>
                        </a:spcBef>
                      </a:pPr>
                      <a:r>
                        <a:rPr sz="2000" b="1" dirty="0">
                          <a:latin typeface="Trebuchet MS"/>
                          <a:cs typeface="Trebuchet MS"/>
                        </a:rPr>
                        <a:t>0,50≤</a:t>
                      </a:r>
                      <a:r>
                        <a:rPr sz="2000" spc="6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000" b="1" dirty="0">
                          <a:latin typeface="Trebuchet MS"/>
                          <a:cs typeface="Trebuchet MS"/>
                        </a:rPr>
                        <a:t>|r|</a:t>
                      </a:r>
                      <a:r>
                        <a:rPr sz="2000" spc="6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000" b="1" dirty="0">
                          <a:latin typeface="Trebuchet MS"/>
                          <a:cs typeface="Trebuchet MS"/>
                        </a:rPr>
                        <a:t>≤</a:t>
                      </a:r>
                      <a:r>
                        <a:rPr sz="2000" spc="7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000" b="1" spc="-20" dirty="0">
                          <a:latin typeface="Trebuchet MS"/>
                          <a:cs typeface="Trebuchet MS"/>
                        </a:rPr>
                        <a:t>0,69</a:t>
                      </a:r>
                      <a:endParaRPr sz="2000" dirty="0">
                        <a:latin typeface="Trebuchet MS"/>
                        <a:cs typeface="Trebuchet MS"/>
                      </a:endParaRPr>
                    </a:p>
                  </a:txBody>
                  <a:tcPr marL="0" marR="0" marT="9588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755"/>
                        </a:spcBef>
                      </a:pPr>
                      <a:r>
                        <a:rPr sz="2000" b="1" spc="-10" dirty="0">
                          <a:latin typeface="Trebuchet MS"/>
                          <a:cs typeface="Trebuchet MS"/>
                        </a:rPr>
                        <a:t>средняя</a:t>
                      </a:r>
                      <a:endParaRPr sz="2000" dirty="0">
                        <a:latin typeface="Trebuchet MS"/>
                        <a:cs typeface="Trebuchet MS"/>
                      </a:endParaRPr>
                    </a:p>
                  </a:txBody>
                  <a:tcPr marL="0" marR="0" marT="9588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19734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765"/>
                        </a:spcBef>
                      </a:pPr>
                      <a:r>
                        <a:rPr sz="2000" b="1" dirty="0">
                          <a:latin typeface="Trebuchet MS"/>
                          <a:cs typeface="Trebuchet MS"/>
                        </a:rPr>
                        <a:t>0,30≤</a:t>
                      </a:r>
                      <a:r>
                        <a:rPr sz="2000" spc="5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000" b="1" dirty="0">
                          <a:latin typeface="Trebuchet MS"/>
                          <a:cs typeface="Trebuchet MS"/>
                        </a:rPr>
                        <a:t>|r|</a:t>
                      </a:r>
                      <a:r>
                        <a:rPr sz="2000" spc="5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000" b="1" spc="-10" dirty="0">
                          <a:latin typeface="Trebuchet MS"/>
                          <a:cs typeface="Trebuchet MS"/>
                        </a:rPr>
                        <a:t>≤0,49</a:t>
                      </a:r>
                      <a:endParaRPr sz="2000" dirty="0">
                        <a:latin typeface="Trebuchet MS"/>
                        <a:cs typeface="Trebuchet MS"/>
                      </a:endParaRPr>
                    </a:p>
                  </a:txBody>
                  <a:tcPr marL="0" marR="0" marT="9715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765"/>
                        </a:spcBef>
                      </a:pPr>
                      <a:r>
                        <a:rPr sz="2000" b="1" spc="-10" dirty="0">
                          <a:latin typeface="Trebuchet MS"/>
                          <a:cs typeface="Trebuchet MS"/>
                        </a:rPr>
                        <a:t>умеренная</a:t>
                      </a:r>
                      <a:endParaRPr sz="2000" dirty="0">
                        <a:latin typeface="Trebuchet MS"/>
                        <a:cs typeface="Trebuchet MS"/>
                      </a:endParaRPr>
                    </a:p>
                  </a:txBody>
                  <a:tcPr marL="0" marR="0" marT="9715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1910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770"/>
                        </a:spcBef>
                      </a:pPr>
                      <a:r>
                        <a:rPr sz="2000" b="1" dirty="0">
                          <a:latin typeface="Trebuchet MS"/>
                          <a:cs typeface="Trebuchet MS"/>
                        </a:rPr>
                        <a:t>0,20≤</a:t>
                      </a:r>
                      <a:r>
                        <a:rPr sz="2000" spc="5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000" b="1" dirty="0">
                          <a:latin typeface="Trebuchet MS"/>
                          <a:cs typeface="Trebuchet MS"/>
                        </a:rPr>
                        <a:t>|r|</a:t>
                      </a:r>
                      <a:r>
                        <a:rPr sz="2000" spc="5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000" b="1" spc="-10" dirty="0">
                          <a:latin typeface="Trebuchet MS"/>
                          <a:cs typeface="Trebuchet MS"/>
                        </a:rPr>
                        <a:t>≤0,29</a:t>
                      </a:r>
                      <a:endParaRPr sz="2000" dirty="0">
                        <a:latin typeface="Trebuchet MS"/>
                        <a:cs typeface="Trebuchet MS"/>
                      </a:endParaRPr>
                    </a:p>
                  </a:txBody>
                  <a:tcPr marL="0" marR="0" marT="9779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770"/>
                        </a:spcBef>
                      </a:pPr>
                      <a:r>
                        <a:rPr sz="2000" b="1" spc="-10" dirty="0">
                          <a:latin typeface="Trebuchet MS"/>
                          <a:cs typeface="Trebuchet MS"/>
                        </a:rPr>
                        <a:t>слабая</a:t>
                      </a:r>
                      <a:endParaRPr sz="2000" dirty="0">
                        <a:latin typeface="Trebuchet MS"/>
                        <a:cs typeface="Trebuchet MS"/>
                      </a:endParaRPr>
                    </a:p>
                  </a:txBody>
                  <a:tcPr marL="0" marR="0" marT="9779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19734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780"/>
                        </a:spcBef>
                      </a:pPr>
                      <a:r>
                        <a:rPr sz="2000" b="1" dirty="0">
                          <a:latin typeface="Trebuchet MS"/>
                          <a:cs typeface="Trebuchet MS"/>
                        </a:rPr>
                        <a:t>|r|</a:t>
                      </a:r>
                      <a:r>
                        <a:rPr sz="2000" spc="8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000" b="1" dirty="0">
                          <a:latin typeface="Trebuchet MS"/>
                          <a:cs typeface="Trebuchet MS"/>
                        </a:rPr>
                        <a:t>≤</a:t>
                      </a:r>
                      <a:r>
                        <a:rPr sz="2000" spc="8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000" b="1" spc="-20" dirty="0">
                          <a:latin typeface="Trebuchet MS"/>
                          <a:cs typeface="Trebuchet MS"/>
                        </a:rPr>
                        <a:t>0,19</a:t>
                      </a:r>
                      <a:endParaRPr sz="2000" dirty="0">
                        <a:latin typeface="Trebuchet MS"/>
                        <a:cs typeface="Trebuchet MS"/>
                      </a:endParaRPr>
                    </a:p>
                  </a:txBody>
                  <a:tcPr marL="0" marR="0" marT="9906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780"/>
                        </a:spcBef>
                      </a:pPr>
                      <a:r>
                        <a:rPr sz="2000" b="1" dirty="0">
                          <a:latin typeface="Trebuchet MS"/>
                          <a:cs typeface="Trebuchet MS"/>
                        </a:rPr>
                        <a:t>очень</a:t>
                      </a:r>
                      <a:r>
                        <a:rPr sz="2000" spc="4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000" b="1" spc="-10" dirty="0">
                          <a:latin typeface="Trebuchet MS"/>
                          <a:cs typeface="Trebuchet MS"/>
                        </a:rPr>
                        <a:t>слабая</a:t>
                      </a:r>
                      <a:endParaRPr sz="2000" dirty="0">
                        <a:latin typeface="Trebuchet MS"/>
                        <a:cs typeface="Trebuchet MS"/>
                      </a:endParaRPr>
                    </a:p>
                  </a:txBody>
                  <a:tcPr marL="0" marR="0" marT="9906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xfrm>
            <a:off x="3491064" y="80602"/>
            <a:ext cx="2172970" cy="50526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200" spc="-10" dirty="0"/>
              <a:t>Корреляция</a:t>
            </a:r>
          </a:p>
        </p:txBody>
      </p:sp>
      <p:sp>
        <p:nvSpPr>
          <p:cNvPr id="9" name="Нижний колонтитул 8">
            <a:extLst>
              <a:ext uri="{FF2B5EF4-FFF2-40B4-BE49-F238E27FC236}">
                <a16:creationId xmlns:a16="http://schemas.microsoft.com/office/drawing/2014/main" id="{B1E36701-E0C8-4281-9904-9754772661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10" name="Номер слайда 9">
            <a:extLst>
              <a:ext uri="{FF2B5EF4-FFF2-40B4-BE49-F238E27FC236}">
                <a16:creationId xmlns:a16="http://schemas.microsoft.com/office/drawing/2014/main" id="{0A51F01F-FE73-443A-A26A-B029F6E4EE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C5FB71-5E9C-41B5-9BB8-3F1EBEAEB16A}" type="slidenum">
              <a:rPr lang="ru-RU" smtClean="0"/>
              <a:t>6</a:t>
            </a:fld>
            <a:endParaRPr lang="ru-RU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628650" y="368186"/>
            <a:ext cx="7886700" cy="50526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230880">
              <a:lnSpc>
                <a:spcPct val="100000"/>
              </a:lnSpc>
              <a:spcBef>
                <a:spcPts val="100"/>
              </a:spcBef>
            </a:pPr>
            <a:r>
              <a:rPr sz="3200" spc="-10" dirty="0"/>
              <a:t>Корреляция</a:t>
            </a:r>
          </a:p>
        </p:txBody>
      </p:sp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654050" y="836612"/>
            <a:ext cx="3206750" cy="1830376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5094287" y="876300"/>
            <a:ext cx="3189287" cy="1803400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641350" y="3321050"/>
            <a:ext cx="3175347" cy="1931971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5094287" y="3425825"/>
            <a:ext cx="2992437" cy="1846262"/>
          </a:xfrm>
          <a:prstGeom prst="rect">
            <a:avLst/>
          </a:prstGeom>
        </p:spPr>
      </p:pic>
      <p:sp>
        <p:nvSpPr>
          <p:cNvPr id="7" name="object 7"/>
          <p:cNvSpPr txBox="1"/>
          <p:nvPr/>
        </p:nvSpPr>
        <p:spPr>
          <a:xfrm>
            <a:off x="620067" y="2747759"/>
            <a:ext cx="3171825" cy="3302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dirty="0">
                <a:latin typeface="Times New Roman"/>
                <a:cs typeface="Times New Roman"/>
              </a:rPr>
              <a:t>Полная</a:t>
            </a:r>
            <a:r>
              <a:rPr sz="2000" spc="-70" dirty="0">
                <a:latin typeface="Times New Roman"/>
                <a:cs typeface="Times New Roman"/>
              </a:rPr>
              <a:t> </a:t>
            </a:r>
            <a:r>
              <a:rPr sz="2000" spc="-10" dirty="0">
                <a:latin typeface="Times New Roman"/>
                <a:cs typeface="Times New Roman"/>
              </a:rPr>
              <a:t>положительная</a:t>
            </a:r>
            <a:r>
              <a:rPr sz="2000" spc="-65" dirty="0">
                <a:latin typeface="Times New Roman"/>
                <a:cs typeface="Times New Roman"/>
              </a:rPr>
              <a:t> </a:t>
            </a:r>
            <a:r>
              <a:rPr sz="2000" spc="-20" dirty="0">
                <a:latin typeface="Times New Roman"/>
                <a:cs typeface="Times New Roman"/>
              </a:rPr>
              <a:t>связь</a:t>
            </a:r>
            <a:endParaRPr sz="2000" dirty="0">
              <a:latin typeface="Times New Roman"/>
              <a:cs typeface="Times New Roman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5038072" y="2747759"/>
            <a:ext cx="3094355" cy="3302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dirty="0">
                <a:latin typeface="Times New Roman"/>
                <a:cs typeface="Times New Roman"/>
              </a:rPr>
              <a:t>Полная</a:t>
            </a:r>
            <a:r>
              <a:rPr sz="2000" spc="-45" dirty="0">
                <a:latin typeface="Times New Roman"/>
                <a:cs typeface="Times New Roman"/>
              </a:rPr>
              <a:t> </a:t>
            </a:r>
            <a:r>
              <a:rPr sz="2000" spc="-10" dirty="0">
                <a:latin typeface="Times New Roman"/>
                <a:cs typeface="Times New Roman"/>
              </a:rPr>
              <a:t>отрицательная</a:t>
            </a:r>
            <a:r>
              <a:rPr sz="2000" spc="-45" dirty="0">
                <a:latin typeface="Times New Roman"/>
                <a:cs typeface="Times New Roman"/>
              </a:rPr>
              <a:t> </a:t>
            </a:r>
            <a:r>
              <a:rPr sz="2000" spc="-20" dirty="0">
                <a:latin typeface="Times New Roman"/>
                <a:cs typeface="Times New Roman"/>
              </a:rPr>
              <a:t>связь</a:t>
            </a:r>
            <a:endParaRPr sz="2000" dirty="0">
              <a:latin typeface="Times New Roman"/>
              <a:cs typeface="Times New Roman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597834" y="5378196"/>
            <a:ext cx="3286125" cy="3302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dirty="0">
                <a:latin typeface="Times New Roman"/>
                <a:cs typeface="Times New Roman"/>
              </a:rPr>
              <a:t>Сильная</a:t>
            </a:r>
            <a:r>
              <a:rPr sz="2000" spc="-55" dirty="0">
                <a:latin typeface="Times New Roman"/>
                <a:cs typeface="Times New Roman"/>
              </a:rPr>
              <a:t> </a:t>
            </a:r>
            <a:r>
              <a:rPr sz="2000" spc="-10" dirty="0">
                <a:latin typeface="Times New Roman"/>
                <a:cs typeface="Times New Roman"/>
              </a:rPr>
              <a:t>положительная</a:t>
            </a:r>
            <a:r>
              <a:rPr sz="2000" spc="-55" dirty="0">
                <a:latin typeface="Times New Roman"/>
                <a:cs typeface="Times New Roman"/>
              </a:rPr>
              <a:t> </a:t>
            </a:r>
            <a:r>
              <a:rPr sz="2000" spc="-20" dirty="0">
                <a:latin typeface="Times New Roman"/>
                <a:cs typeface="Times New Roman"/>
              </a:rPr>
              <a:t>связь</a:t>
            </a:r>
            <a:endParaRPr sz="2000" dirty="0">
              <a:latin typeface="Times New Roman"/>
              <a:cs typeface="Times New Roman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5001559" y="5362941"/>
            <a:ext cx="3138170" cy="3302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dirty="0">
                <a:latin typeface="Times New Roman"/>
                <a:cs typeface="Times New Roman"/>
              </a:rPr>
              <a:t>Слабая</a:t>
            </a:r>
            <a:r>
              <a:rPr sz="2000" spc="-45" dirty="0">
                <a:latin typeface="Times New Roman"/>
                <a:cs typeface="Times New Roman"/>
              </a:rPr>
              <a:t> </a:t>
            </a:r>
            <a:r>
              <a:rPr sz="2000" spc="-10" dirty="0">
                <a:latin typeface="Times New Roman"/>
                <a:cs typeface="Times New Roman"/>
              </a:rPr>
              <a:t>положительная</a:t>
            </a:r>
            <a:r>
              <a:rPr sz="2000" spc="-45" dirty="0">
                <a:latin typeface="Times New Roman"/>
                <a:cs typeface="Times New Roman"/>
              </a:rPr>
              <a:t> </a:t>
            </a:r>
            <a:r>
              <a:rPr sz="2000" spc="-20" dirty="0">
                <a:latin typeface="Times New Roman"/>
                <a:cs typeface="Times New Roman"/>
              </a:rPr>
              <a:t>связь</a:t>
            </a:r>
            <a:endParaRPr sz="2000" dirty="0">
              <a:latin typeface="Times New Roman"/>
              <a:cs typeface="Times New Roman"/>
            </a:endParaRPr>
          </a:p>
        </p:txBody>
      </p:sp>
      <p:sp>
        <p:nvSpPr>
          <p:cNvPr id="14" name="Нижний колонтитул 13">
            <a:extLst>
              <a:ext uri="{FF2B5EF4-FFF2-40B4-BE49-F238E27FC236}">
                <a16:creationId xmlns:a16="http://schemas.microsoft.com/office/drawing/2014/main" id="{A491A82C-AF89-4936-B26C-6AB9C8BD18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15" name="Номер слайда 14">
            <a:extLst>
              <a:ext uri="{FF2B5EF4-FFF2-40B4-BE49-F238E27FC236}">
                <a16:creationId xmlns:a16="http://schemas.microsoft.com/office/drawing/2014/main" id="{B5257914-6347-4292-950D-44E6C997FE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C5FB71-5E9C-41B5-9BB8-3F1EBEAEB16A}" type="slidenum">
              <a:rPr lang="ru-RU" smtClean="0"/>
              <a:t>7</a:t>
            </a:fld>
            <a:endParaRPr lang="ru-RU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628650" y="368185"/>
            <a:ext cx="7886700" cy="50526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271520">
              <a:lnSpc>
                <a:spcPct val="100000"/>
              </a:lnSpc>
              <a:spcBef>
                <a:spcPts val="100"/>
              </a:spcBef>
            </a:pPr>
            <a:r>
              <a:rPr sz="3200" spc="-10" dirty="0"/>
              <a:t>Корреляция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4550727" y="5917832"/>
            <a:ext cx="1080770" cy="3302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dirty="0">
                <a:latin typeface="Times New Roman"/>
                <a:cs typeface="Times New Roman"/>
              </a:rPr>
              <a:t>Нет</a:t>
            </a:r>
            <a:r>
              <a:rPr sz="2000" spc="-35" dirty="0">
                <a:latin typeface="Times New Roman"/>
                <a:cs typeface="Times New Roman"/>
              </a:rPr>
              <a:t> </a:t>
            </a:r>
            <a:r>
              <a:rPr sz="2000" spc="-10" dirty="0">
                <a:latin typeface="Times New Roman"/>
                <a:cs typeface="Times New Roman"/>
              </a:rPr>
              <a:t>связи</a:t>
            </a:r>
            <a:endParaRPr sz="2000" dirty="0">
              <a:latin typeface="Times New Roman"/>
              <a:cs typeface="Times New Roman"/>
            </a:endParaRPr>
          </a:p>
        </p:txBody>
      </p:sp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842824" y="1010352"/>
            <a:ext cx="3086254" cy="2184400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5091112" y="1004002"/>
            <a:ext cx="3086100" cy="2197100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2971800" y="3544704"/>
            <a:ext cx="3767715" cy="2360428"/>
          </a:xfrm>
          <a:prstGeom prst="rect">
            <a:avLst/>
          </a:prstGeom>
        </p:spPr>
      </p:pic>
      <p:sp>
        <p:nvSpPr>
          <p:cNvPr id="10" name="Нижний колонтитул 9">
            <a:extLst>
              <a:ext uri="{FF2B5EF4-FFF2-40B4-BE49-F238E27FC236}">
                <a16:creationId xmlns:a16="http://schemas.microsoft.com/office/drawing/2014/main" id="{23C2498D-5D77-48F8-80A6-B90BF85647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11" name="Номер слайда 10">
            <a:extLst>
              <a:ext uri="{FF2B5EF4-FFF2-40B4-BE49-F238E27FC236}">
                <a16:creationId xmlns:a16="http://schemas.microsoft.com/office/drawing/2014/main" id="{722F9FB6-0851-41D6-A98C-FE29CE1E4F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C5FB71-5E9C-41B5-9BB8-3F1EBEAEB16A}" type="slidenum">
              <a:rPr lang="ru-RU" smtClean="0"/>
              <a:t>8</a:t>
            </a:fld>
            <a:endParaRPr lang="ru-RU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508527" y="18796"/>
            <a:ext cx="2172970" cy="4521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10" dirty="0">
                <a:solidFill>
                  <a:srgbClr val="164060"/>
                </a:solidFill>
              </a:rPr>
              <a:t>Корреляция</a:t>
            </a:r>
          </a:p>
        </p:txBody>
      </p:sp>
      <p:sp>
        <p:nvSpPr>
          <p:cNvPr id="3" name="object 3"/>
          <p:cNvSpPr/>
          <p:nvPr/>
        </p:nvSpPr>
        <p:spPr>
          <a:xfrm>
            <a:off x="423862" y="531812"/>
            <a:ext cx="8263255" cy="1200150"/>
          </a:xfrm>
          <a:custGeom>
            <a:avLst/>
            <a:gdLst/>
            <a:ahLst/>
            <a:cxnLst/>
            <a:rect l="l" t="t" r="r" b="b"/>
            <a:pathLst>
              <a:path w="8263255" h="1200150">
                <a:moveTo>
                  <a:pt x="8262937" y="0"/>
                </a:moveTo>
                <a:lnTo>
                  <a:pt x="0" y="0"/>
                </a:lnTo>
                <a:lnTo>
                  <a:pt x="0" y="1200150"/>
                </a:lnTo>
                <a:lnTo>
                  <a:pt x="8262937" y="1200150"/>
                </a:lnTo>
                <a:lnTo>
                  <a:pt x="8262937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graphicFrame>
        <p:nvGraphicFramePr>
          <p:cNvPr id="4" name="object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97419111"/>
              </p:ext>
            </p:extLst>
          </p:nvPr>
        </p:nvGraphicFramePr>
        <p:xfrm>
          <a:off x="812634" y="3293001"/>
          <a:ext cx="7564755" cy="284670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459867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96608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676910">
                <a:tc>
                  <a:txBody>
                    <a:bodyPr/>
                    <a:lstStyle/>
                    <a:p>
                      <a:pPr marL="805180" marR="245110" indent="-553720">
                        <a:lnSpc>
                          <a:spcPct val="102200"/>
                        </a:lnSpc>
                        <a:spcBef>
                          <a:spcPts val="360"/>
                        </a:spcBef>
                      </a:pPr>
                      <a:r>
                        <a:rPr sz="1800" b="1" dirty="0">
                          <a:latin typeface="Trebuchet MS"/>
                          <a:cs typeface="Trebuchet MS"/>
                        </a:rPr>
                        <a:t>Уровень</a:t>
                      </a:r>
                      <a:r>
                        <a:rPr sz="1800" spc="2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b="1" dirty="0">
                          <a:latin typeface="Trebuchet MS"/>
                          <a:cs typeface="Trebuchet MS"/>
                        </a:rPr>
                        <a:t>статистической</a:t>
                      </a:r>
                      <a:r>
                        <a:rPr sz="1800" spc="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b="1" spc="-10" dirty="0">
                          <a:latin typeface="Trebuchet MS"/>
                          <a:cs typeface="Trebuchet MS"/>
                        </a:rPr>
                        <a:t>значимости</a:t>
                      </a:r>
                      <a:r>
                        <a:rPr sz="1800" spc="-1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b="1" dirty="0">
                          <a:latin typeface="Trebuchet MS"/>
                          <a:cs typeface="Trebuchet MS"/>
                        </a:rPr>
                        <a:t>коэффициента</a:t>
                      </a:r>
                      <a:r>
                        <a:rPr sz="1800" spc="-2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b="1" spc="-10" dirty="0">
                          <a:latin typeface="Trebuchet MS"/>
                          <a:cs typeface="Trebuchet MS"/>
                        </a:rPr>
                        <a:t>корреляции</a:t>
                      </a:r>
                      <a:endParaRPr sz="1800" dirty="0">
                        <a:latin typeface="Trebuchet MS"/>
                        <a:cs typeface="Trebuchet MS"/>
                      </a:endParaRPr>
                    </a:p>
                  </a:txBody>
                  <a:tcPr marL="0" marR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490"/>
                        </a:spcBef>
                      </a:pPr>
                      <a:r>
                        <a:rPr sz="1800" b="1" dirty="0">
                          <a:latin typeface="Trebuchet MS"/>
                          <a:cs typeface="Trebuchet MS"/>
                        </a:rPr>
                        <a:t>Сила</a:t>
                      </a:r>
                      <a:r>
                        <a:rPr sz="1800" spc="4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b="1" spc="-10" dirty="0">
                          <a:latin typeface="Trebuchet MS"/>
                          <a:cs typeface="Trebuchet MS"/>
                        </a:rPr>
                        <a:t>корреляции</a:t>
                      </a:r>
                      <a:endParaRPr sz="1800" dirty="0">
                        <a:latin typeface="Trebuchet MS"/>
                        <a:cs typeface="Trebuchet MS"/>
                      </a:endParaRPr>
                    </a:p>
                  </a:txBody>
                  <a:tcPr marL="0" marR="0" marT="18923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8450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735"/>
                        </a:spcBef>
                      </a:pPr>
                      <a:r>
                        <a:rPr sz="1800" dirty="0">
                          <a:latin typeface="Trebuchet MS"/>
                          <a:cs typeface="Trebuchet MS"/>
                        </a:rPr>
                        <a:t>р</a:t>
                      </a:r>
                      <a:r>
                        <a:rPr sz="1800" spc="7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dirty="0">
                          <a:latin typeface="Trebuchet MS"/>
                          <a:cs typeface="Trebuchet MS"/>
                        </a:rPr>
                        <a:t>≤</a:t>
                      </a:r>
                      <a:r>
                        <a:rPr sz="1800" spc="8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spc="-20" dirty="0">
                          <a:latin typeface="Trebuchet MS"/>
                          <a:cs typeface="Trebuchet MS"/>
                        </a:rPr>
                        <a:t>0,01</a:t>
                      </a:r>
                      <a:endParaRPr sz="1800" dirty="0">
                        <a:latin typeface="Trebuchet MS"/>
                        <a:cs typeface="Trebuchet MS"/>
                      </a:endParaRPr>
                    </a:p>
                  </a:txBody>
                  <a:tcPr marL="0" marR="0" marT="9334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735"/>
                        </a:spcBef>
                      </a:pPr>
                      <a:r>
                        <a:rPr sz="1800" dirty="0">
                          <a:latin typeface="Trebuchet MS"/>
                          <a:cs typeface="Trebuchet MS"/>
                        </a:rPr>
                        <a:t>высокая</a:t>
                      </a:r>
                      <a:r>
                        <a:rPr sz="1800" spc="4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spc="-10" dirty="0">
                          <a:latin typeface="Trebuchet MS"/>
                          <a:cs typeface="Trebuchet MS"/>
                        </a:rPr>
                        <a:t>значимая</a:t>
                      </a:r>
                      <a:endParaRPr sz="1800">
                        <a:latin typeface="Trebuchet MS"/>
                        <a:cs typeface="Trebuchet MS"/>
                      </a:endParaRPr>
                    </a:p>
                  </a:txBody>
                  <a:tcPr marL="0" marR="0" marT="9334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0322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95"/>
                        </a:spcBef>
                      </a:pPr>
                      <a:r>
                        <a:rPr sz="1800" dirty="0">
                          <a:latin typeface="Trebuchet MS"/>
                          <a:cs typeface="Trebuchet MS"/>
                        </a:rPr>
                        <a:t>0,01&lt;</a:t>
                      </a:r>
                      <a:r>
                        <a:rPr sz="1800" spc="7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dirty="0">
                          <a:latin typeface="Trebuchet MS"/>
                          <a:cs typeface="Trebuchet MS"/>
                        </a:rPr>
                        <a:t>р</a:t>
                      </a:r>
                      <a:r>
                        <a:rPr sz="1800" spc="7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dirty="0">
                          <a:latin typeface="Trebuchet MS"/>
                          <a:cs typeface="Trebuchet MS"/>
                        </a:rPr>
                        <a:t>≤</a:t>
                      </a:r>
                      <a:r>
                        <a:rPr sz="1800" spc="8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spc="-20" dirty="0">
                          <a:latin typeface="Trebuchet MS"/>
                          <a:cs typeface="Trebuchet MS"/>
                        </a:rPr>
                        <a:t>0,05</a:t>
                      </a:r>
                      <a:endParaRPr sz="1800" dirty="0">
                        <a:latin typeface="Trebuchet MS"/>
                        <a:cs typeface="Trebuchet MS"/>
                      </a:endParaRPr>
                    </a:p>
                  </a:txBody>
                  <a:tcPr marL="0" marR="0" marT="5016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395"/>
                        </a:spcBef>
                      </a:pPr>
                      <a:r>
                        <a:rPr sz="1800" spc="-10" dirty="0">
                          <a:latin typeface="Trebuchet MS"/>
                          <a:cs typeface="Trebuchet MS"/>
                        </a:rPr>
                        <a:t>значимая</a:t>
                      </a:r>
                      <a:endParaRPr sz="1800">
                        <a:latin typeface="Trebuchet MS"/>
                        <a:cs typeface="Trebuchet MS"/>
                      </a:endParaRPr>
                    </a:p>
                  </a:txBody>
                  <a:tcPr marL="0" marR="0" marT="5016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4800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985"/>
                        </a:spcBef>
                      </a:pPr>
                      <a:r>
                        <a:rPr sz="1800" dirty="0">
                          <a:latin typeface="Trebuchet MS"/>
                          <a:cs typeface="Trebuchet MS"/>
                        </a:rPr>
                        <a:t>0,05</a:t>
                      </a:r>
                      <a:r>
                        <a:rPr sz="1800" spc="7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dirty="0">
                          <a:latin typeface="Trebuchet MS"/>
                          <a:cs typeface="Trebuchet MS"/>
                        </a:rPr>
                        <a:t>&lt;р</a:t>
                      </a:r>
                      <a:r>
                        <a:rPr sz="1800" spc="7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dirty="0">
                          <a:latin typeface="Trebuchet MS"/>
                          <a:cs typeface="Trebuchet MS"/>
                        </a:rPr>
                        <a:t>≤</a:t>
                      </a:r>
                      <a:r>
                        <a:rPr sz="1800" spc="8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spc="-20" dirty="0">
                          <a:latin typeface="Trebuchet MS"/>
                          <a:cs typeface="Trebuchet MS"/>
                        </a:rPr>
                        <a:t>0,10</a:t>
                      </a:r>
                      <a:endParaRPr sz="1800">
                        <a:latin typeface="Trebuchet MS"/>
                        <a:cs typeface="Trebuchet MS"/>
                      </a:endParaRPr>
                    </a:p>
                  </a:txBody>
                  <a:tcPr marL="0" marR="0" marT="12509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070"/>
                        </a:lnSpc>
                      </a:pPr>
                      <a:r>
                        <a:rPr sz="1800" dirty="0">
                          <a:latin typeface="Trebuchet MS"/>
                          <a:cs typeface="Trebuchet MS"/>
                        </a:rPr>
                        <a:t>тенденция</a:t>
                      </a:r>
                      <a:r>
                        <a:rPr sz="1800" spc="4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spc="-10" dirty="0">
                          <a:latin typeface="Trebuchet MS"/>
                          <a:cs typeface="Trebuchet MS"/>
                        </a:rPr>
                        <a:t>достоверной</a:t>
                      </a:r>
                      <a:endParaRPr sz="1800" dirty="0">
                        <a:latin typeface="Trebuchet MS"/>
                        <a:cs typeface="Trebuchet MS"/>
                      </a:endParaRPr>
                    </a:p>
                    <a:p>
                      <a:pPr algn="ctr">
                        <a:lnSpc>
                          <a:spcPts val="2130"/>
                        </a:lnSpc>
                        <a:spcBef>
                          <a:spcPts val="20"/>
                        </a:spcBef>
                      </a:pPr>
                      <a:r>
                        <a:rPr sz="1800" spc="-10" dirty="0">
                          <a:latin typeface="Trebuchet MS"/>
                          <a:cs typeface="Trebuchet MS"/>
                        </a:rPr>
                        <a:t>связи</a:t>
                      </a:r>
                      <a:endParaRPr sz="1800" dirty="0">
                        <a:latin typeface="Trebuchet MS"/>
                        <a:cs typeface="Trebuchet MS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34060">
                <a:tc>
                  <a:txBody>
                    <a:bodyPr/>
                    <a:lstStyle/>
                    <a:p>
                      <a:pPr marL="430530" marR="184785" indent="-236854">
                        <a:lnSpc>
                          <a:spcPct val="102200"/>
                        </a:lnSpc>
                        <a:spcBef>
                          <a:spcPts val="580"/>
                        </a:spcBef>
                      </a:pPr>
                      <a:r>
                        <a:rPr sz="1800" dirty="0">
                          <a:latin typeface="Trebuchet MS"/>
                          <a:cs typeface="Trebuchet MS"/>
                        </a:rPr>
                        <a:t>коэффициент</a:t>
                      </a:r>
                      <a:r>
                        <a:rPr sz="1800" spc="3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dirty="0">
                          <a:latin typeface="Trebuchet MS"/>
                          <a:cs typeface="Trebuchet MS"/>
                        </a:rPr>
                        <a:t>корреляции</a:t>
                      </a:r>
                      <a:r>
                        <a:rPr sz="1800" spc="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dirty="0">
                          <a:latin typeface="Trebuchet MS"/>
                          <a:cs typeface="Trebuchet MS"/>
                        </a:rPr>
                        <a:t>не</a:t>
                      </a:r>
                      <a:r>
                        <a:rPr sz="1800" spc="4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spc="-10" dirty="0">
                          <a:latin typeface="Trebuchet MS"/>
                          <a:cs typeface="Trebuchet MS"/>
                        </a:rPr>
                        <a:t>достигает</a:t>
                      </a:r>
                      <a:r>
                        <a:rPr sz="1800" spc="-1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dirty="0">
                          <a:latin typeface="Trebuchet MS"/>
                          <a:cs typeface="Trebuchet MS"/>
                        </a:rPr>
                        <a:t>уровня</a:t>
                      </a:r>
                      <a:r>
                        <a:rPr sz="1800" spc="1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dirty="0">
                          <a:latin typeface="Trebuchet MS"/>
                          <a:cs typeface="Trebuchet MS"/>
                        </a:rPr>
                        <a:t>статистической</a:t>
                      </a:r>
                      <a:r>
                        <a:rPr sz="1800" spc="1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spc="-10" dirty="0">
                          <a:latin typeface="Trebuchet MS"/>
                          <a:cs typeface="Trebuchet MS"/>
                        </a:rPr>
                        <a:t>значимости</a:t>
                      </a:r>
                      <a:endParaRPr sz="1800" dirty="0">
                        <a:latin typeface="Trebuchet MS"/>
                        <a:cs typeface="Trebuchet MS"/>
                      </a:endParaRPr>
                    </a:p>
                  </a:txBody>
                  <a:tcPr marL="0" marR="0" marT="7366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705"/>
                        </a:spcBef>
                      </a:pPr>
                      <a:r>
                        <a:rPr sz="1800" spc="-10" dirty="0">
                          <a:latin typeface="Trebuchet MS"/>
                          <a:cs typeface="Trebuchet MS"/>
                        </a:rPr>
                        <a:t>незначимая</a:t>
                      </a:r>
                      <a:endParaRPr sz="1800" dirty="0">
                        <a:latin typeface="Trebuchet MS"/>
                        <a:cs typeface="Trebuchet MS"/>
                      </a:endParaRPr>
                    </a:p>
                  </a:txBody>
                  <a:tcPr marL="0" marR="0" marT="21653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5" name="object 5"/>
          <p:cNvSpPr/>
          <p:nvPr/>
        </p:nvSpPr>
        <p:spPr>
          <a:xfrm>
            <a:off x="852487" y="2014537"/>
            <a:ext cx="7654925" cy="708025"/>
          </a:xfrm>
          <a:custGeom>
            <a:avLst/>
            <a:gdLst/>
            <a:ahLst/>
            <a:cxnLst/>
            <a:rect l="l" t="t" r="r" b="b"/>
            <a:pathLst>
              <a:path w="7654925" h="708025">
                <a:moveTo>
                  <a:pt x="7654925" y="0"/>
                </a:moveTo>
                <a:lnTo>
                  <a:pt x="0" y="0"/>
                </a:lnTo>
                <a:lnTo>
                  <a:pt x="0" y="708025"/>
                </a:lnTo>
                <a:lnTo>
                  <a:pt x="7654925" y="708025"/>
                </a:lnTo>
                <a:lnTo>
                  <a:pt x="7654925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6" name="object 6"/>
              <p:cNvSpPr txBox="1"/>
              <p:nvPr/>
            </p:nvSpPr>
            <p:spPr>
              <a:xfrm>
                <a:off x="502588" y="551179"/>
                <a:ext cx="8105140" cy="2685607"/>
              </a:xfrm>
              <a:prstGeom prst="rect">
                <a:avLst/>
              </a:prstGeom>
            </p:spPr>
            <p:txBody>
              <a:bodyPr vert="horz" wrap="square" lIns="0" tIns="9525" rIns="0" bIns="0" rtlCol="0">
                <a:spAutoFit/>
              </a:bodyPr>
              <a:lstStyle/>
              <a:p>
                <a:pPr marL="12700" marR="5080" algn="just">
                  <a:lnSpc>
                    <a:spcPct val="100800"/>
                  </a:lnSpc>
                  <a:spcBef>
                    <a:spcPts val="75"/>
                  </a:spcBef>
                </a:pPr>
                <a:r>
                  <a:rPr lang="ru-RU" sz="2400" b="1" dirty="0">
                    <a:latin typeface="Arial"/>
                    <a:cs typeface="Arial"/>
                  </a:rPr>
                  <a:t>2.</a:t>
                </a:r>
                <a:r>
                  <a:rPr lang="ru-RU" sz="2400" spc="565" dirty="0">
                    <a:latin typeface="Times New Roman"/>
                    <a:cs typeface="Times New Roman"/>
                  </a:rPr>
                  <a:t> </a:t>
                </a:r>
                <a:r>
                  <a:rPr lang="ru-RU" sz="2400" b="1" dirty="0">
                    <a:latin typeface="Arial"/>
                    <a:cs typeface="Arial"/>
                  </a:rPr>
                  <a:t>Второй</a:t>
                </a:r>
                <a:r>
                  <a:rPr lang="ru-RU" sz="2400" spc="570" dirty="0">
                    <a:latin typeface="Times New Roman"/>
                    <a:cs typeface="Times New Roman"/>
                  </a:rPr>
                  <a:t> </a:t>
                </a:r>
                <a:r>
                  <a:rPr lang="ru-RU" sz="2400" b="1" dirty="0">
                    <a:latin typeface="Arial"/>
                    <a:cs typeface="Arial"/>
                  </a:rPr>
                  <a:t>подход</a:t>
                </a:r>
                <a:r>
                  <a:rPr lang="ru-RU" sz="2400" spc="575" dirty="0">
                    <a:latin typeface="Times New Roman"/>
                    <a:cs typeface="Times New Roman"/>
                  </a:rPr>
                  <a:t> </a:t>
                </a:r>
                <a:r>
                  <a:rPr lang="ru-RU" sz="2400" dirty="0">
                    <a:latin typeface="Arial"/>
                    <a:cs typeface="Arial"/>
                  </a:rPr>
                  <a:t>основан</a:t>
                </a:r>
                <a:r>
                  <a:rPr lang="ru-RU" sz="2400" spc="570" dirty="0">
                    <a:latin typeface="Times New Roman"/>
                    <a:cs typeface="Times New Roman"/>
                  </a:rPr>
                  <a:t> </a:t>
                </a:r>
                <a:r>
                  <a:rPr lang="ru-RU" sz="2400" dirty="0">
                    <a:latin typeface="Arial"/>
                    <a:cs typeface="Arial"/>
                  </a:rPr>
                  <a:t>на</a:t>
                </a:r>
                <a:r>
                  <a:rPr lang="ru-RU" sz="2400" spc="575" dirty="0">
                    <a:latin typeface="Times New Roman"/>
                    <a:cs typeface="Times New Roman"/>
                  </a:rPr>
                  <a:t> </a:t>
                </a:r>
                <a:r>
                  <a:rPr lang="ru-RU" sz="2400" dirty="0">
                    <a:latin typeface="Arial"/>
                    <a:cs typeface="Arial"/>
                  </a:rPr>
                  <a:t>уровне</a:t>
                </a:r>
                <a:r>
                  <a:rPr lang="ru-RU" sz="2400" spc="565" dirty="0">
                    <a:latin typeface="Times New Roman"/>
                    <a:cs typeface="Times New Roman"/>
                  </a:rPr>
                  <a:t> </a:t>
                </a:r>
                <a:r>
                  <a:rPr lang="ru-RU" sz="2400" spc="-10" dirty="0">
                    <a:latin typeface="Arial"/>
                    <a:cs typeface="Arial"/>
                  </a:rPr>
                  <a:t>статистической</a:t>
                </a:r>
                <a:r>
                  <a:rPr lang="ru-RU" sz="2400" spc="-10" dirty="0">
                    <a:latin typeface="Times New Roman"/>
                    <a:cs typeface="Times New Roman"/>
                  </a:rPr>
                  <a:t> </a:t>
                </a:r>
                <a:r>
                  <a:rPr lang="ru-RU" sz="2400" dirty="0">
                    <a:latin typeface="Arial"/>
                    <a:cs typeface="Arial"/>
                  </a:rPr>
                  <a:t>значимости</a:t>
                </a:r>
                <a:r>
                  <a:rPr lang="ru-RU" sz="2400" spc="405" dirty="0">
                    <a:latin typeface="Times New Roman"/>
                    <a:cs typeface="Times New Roman"/>
                  </a:rPr>
                  <a:t>  </a:t>
                </a:r>
                <a:r>
                  <a:rPr lang="ru-RU" sz="2400" dirty="0">
                    <a:latin typeface="Arial"/>
                    <a:cs typeface="Arial"/>
                  </a:rPr>
                  <a:t>коэффициента</a:t>
                </a:r>
                <a:r>
                  <a:rPr lang="ru-RU" sz="2400" spc="409" dirty="0">
                    <a:latin typeface="Times New Roman"/>
                    <a:cs typeface="Times New Roman"/>
                  </a:rPr>
                  <a:t>  </a:t>
                </a:r>
                <a:r>
                  <a:rPr lang="ru-RU" sz="2400" dirty="0">
                    <a:latin typeface="Arial"/>
                    <a:cs typeface="Arial"/>
                  </a:rPr>
                  <a:t>корреляции</a:t>
                </a:r>
                <a:r>
                  <a:rPr lang="ru-RU" sz="2400" spc="409" dirty="0">
                    <a:latin typeface="Times New Roman"/>
                    <a:cs typeface="Times New Roman"/>
                  </a:rPr>
                  <a:t>  </a:t>
                </a:r>
                <a:r>
                  <a:rPr lang="ru-RU" sz="2400" dirty="0">
                    <a:latin typeface="Arial"/>
                    <a:cs typeface="Arial"/>
                  </a:rPr>
                  <a:t>при</a:t>
                </a:r>
                <a:r>
                  <a:rPr lang="ru-RU" sz="2400" spc="405" dirty="0">
                    <a:latin typeface="Times New Roman"/>
                    <a:cs typeface="Times New Roman"/>
                  </a:rPr>
                  <a:t>  </a:t>
                </a:r>
                <a:r>
                  <a:rPr lang="ru-RU" sz="2400" spc="-10" dirty="0">
                    <a:latin typeface="Arial"/>
                    <a:cs typeface="Arial"/>
                  </a:rPr>
                  <a:t>данном</a:t>
                </a:r>
                <a:r>
                  <a:rPr lang="ru-RU" sz="2400" spc="-10" dirty="0">
                    <a:latin typeface="Times New Roman"/>
                    <a:cs typeface="Times New Roman"/>
                  </a:rPr>
                  <a:t> </a:t>
                </a:r>
                <a:r>
                  <a:rPr lang="ru-RU" sz="2400" dirty="0">
                    <a:latin typeface="Arial"/>
                    <a:cs typeface="Arial"/>
                  </a:rPr>
                  <a:t>объеме</a:t>
                </a:r>
                <a:r>
                  <a:rPr lang="ru-RU" sz="2400" spc="-85" dirty="0">
                    <a:latin typeface="Times New Roman"/>
                    <a:cs typeface="Times New Roman"/>
                  </a:rPr>
                  <a:t> </a:t>
                </a:r>
                <a:r>
                  <a:rPr lang="ru-RU" sz="2400" spc="-10" dirty="0" err="1">
                    <a:latin typeface="Arial"/>
                    <a:cs typeface="Arial"/>
                  </a:rPr>
                  <a:t>выборки</a:t>
                </a:r>
                <a:r>
                  <a:rPr lang="ru-RU" sz="2400" spc="-10" dirty="0">
                    <a:latin typeface="Arial"/>
                    <a:cs typeface="Arial"/>
                  </a:rPr>
                  <a:t>.</a:t>
                </a:r>
              </a:p>
              <a:p>
                <a:pPr marL="12700" marR="5080" algn="just">
                  <a:lnSpc>
                    <a:spcPct val="100800"/>
                  </a:lnSpc>
                  <a:spcBef>
                    <a:spcPts val="75"/>
                  </a:spcBef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ru-RU" sz="2400" b="0" i="1" smtClean="0">
                          <a:latin typeface="Cambria Math" panose="02040503050406030204" pitchFamily="18" charset="0"/>
                          <a:cs typeface="Arial"/>
                        </a:rPr>
                        <m:t>𝑡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  <a:cs typeface="Arial"/>
                        </a:rPr>
                        <m:t>=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  <a:cs typeface="Arial"/>
                        </a:rPr>
                        <m:t>𝑟</m:t>
                      </m:r>
                      <m:d>
                        <m:dPr>
                          <m:ctrlPr>
                            <a:rPr lang="en-US" sz="2400" b="0" i="1" smtClean="0">
                              <a:latin typeface="Cambria Math" panose="02040503050406030204" pitchFamily="18" charset="0"/>
                              <a:cs typeface="Arial"/>
                            </a:rPr>
                          </m:ctrlPr>
                        </m:d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  <a:cs typeface="Arial"/>
                            </a:rPr>
                            <m:t>𝑥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  <a:cs typeface="Arial"/>
                            </a:rPr>
                            <m:t>,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  <a:cs typeface="Arial"/>
                            </a:rPr>
                            <m:t>𝑦</m:t>
                          </m:r>
                        </m:e>
                      </m:d>
                      <m:r>
                        <a:rPr lang="en-US" sz="2400" b="0" i="1" smtClean="0">
                          <a:latin typeface="Cambria Math" panose="02040503050406030204" pitchFamily="18" charset="0"/>
                          <a:cs typeface="Arial"/>
                        </a:rPr>
                        <m:t>⋅</m:t>
                      </m:r>
                      <m:f>
                        <m:fPr>
                          <m:ctrlPr>
                            <a:rPr lang="en-US" sz="2400" b="0" i="1" smtClean="0">
                              <a:latin typeface="Cambria Math" panose="02040503050406030204" pitchFamily="18" charset="0"/>
                              <a:cs typeface="Arial"/>
                            </a:rPr>
                          </m:ctrlPr>
                        </m:fPr>
                        <m:num>
                          <m:rad>
                            <m:radPr>
                              <m:degHide m:val="on"/>
                              <m:ctrlPr>
                                <a:rPr lang="en-US" sz="2400" b="0" i="1" smtClean="0">
                                  <a:latin typeface="Cambria Math" panose="02040503050406030204" pitchFamily="18" charset="0"/>
                                  <a:cs typeface="Arial"/>
                                </a:rPr>
                              </m:ctrlPr>
                            </m:radPr>
                            <m:deg/>
                            <m:e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  <a:cs typeface="Arial"/>
                                </a:rPr>
                                <m:t>𝑛</m:t>
                              </m:r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  <a:cs typeface="Arial"/>
                                </a:rPr>
                                <m:t>−2</m:t>
                              </m:r>
                            </m:e>
                          </m:rad>
                        </m:num>
                        <m:den>
                          <m:rad>
                            <m:radPr>
                              <m:degHide m:val="on"/>
                              <m:ctrlPr>
                                <a:rPr lang="en-US" sz="2400" b="0" i="1" smtClean="0">
                                  <a:latin typeface="Cambria Math" panose="02040503050406030204" pitchFamily="18" charset="0"/>
                                  <a:cs typeface="Arial"/>
                                </a:rPr>
                              </m:ctrlPr>
                            </m:radPr>
                            <m:deg/>
                            <m:e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  <a:cs typeface="Arial"/>
                                </a:rPr>
                                <m:t>1−</m:t>
                              </m:r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  <a:cs typeface="Arial"/>
                                </a:rPr>
                                <m:t>𝑟</m:t>
                              </m:r>
                              <m:sSup>
                                <m:sSupPr>
                                  <m:ctrlPr>
                                    <a:rPr lang="en-US" sz="2400" b="0" i="1" smtClean="0">
                                      <a:latin typeface="Cambria Math" panose="02040503050406030204" pitchFamily="18" charset="0"/>
                                      <a:cs typeface="Arial"/>
                                    </a:rPr>
                                  </m:ctrlPr>
                                </m:sSupPr>
                                <m:e>
                                  <m:d>
                                    <m:dPr>
                                      <m:ctrlPr>
                                        <a:rPr lang="en-US" sz="2400" b="0" i="1" smtClean="0">
                                          <a:latin typeface="Cambria Math" panose="02040503050406030204" pitchFamily="18" charset="0"/>
                                          <a:cs typeface="Arial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 sz="2400" b="0" i="1" smtClean="0">
                                          <a:latin typeface="Cambria Math" panose="02040503050406030204" pitchFamily="18" charset="0"/>
                                          <a:cs typeface="Arial"/>
                                        </a:rPr>
                                        <m:t>𝑥</m:t>
                                      </m:r>
                                      <m:r>
                                        <a:rPr lang="en-US" sz="2400" b="0" i="1" smtClean="0">
                                          <a:latin typeface="Cambria Math" panose="02040503050406030204" pitchFamily="18" charset="0"/>
                                          <a:cs typeface="Arial"/>
                                        </a:rPr>
                                        <m:t>,</m:t>
                                      </m:r>
                                      <m:r>
                                        <a:rPr lang="en-US" sz="2400" b="0" i="1" smtClean="0">
                                          <a:latin typeface="Cambria Math" panose="02040503050406030204" pitchFamily="18" charset="0"/>
                                          <a:cs typeface="Arial"/>
                                        </a:rPr>
                                        <m:t>𝑦</m:t>
                                      </m:r>
                                    </m:e>
                                  </m:d>
                                </m:e>
                                <m:sup>
                                  <m:r>
                                    <a:rPr lang="en-US" sz="2400" b="0" i="1" smtClean="0">
                                      <a:latin typeface="Cambria Math" panose="02040503050406030204" pitchFamily="18" charset="0"/>
                                      <a:cs typeface="Arial"/>
                                    </a:rPr>
                                    <m:t>2</m:t>
                                  </m:r>
                                </m:sup>
                              </m:sSup>
                            </m:e>
                          </m:rad>
                        </m:den>
                      </m:f>
                      <m:r>
                        <a:rPr lang="en-US" sz="2400" b="0" i="1" smtClean="0">
                          <a:latin typeface="Cambria Math" panose="02040503050406030204" pitchFamily="18" charset="0"/>
                          <a:cs typeface="Arial"/>
                        </a:rPr>
                        <m:t>∼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  <a:cs typeface="Arial"/>
                        </a:rPr>
                        <m:t>𝑡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  <a:cs typeface="Arial"/>
                        </a:rPr>
                        <m:t>(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  <a:cs typeface="Arial"/>
                        </a:rPr>
                        <m:t>𝑛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  <a:cs typeface="Arial"/>
                        </a:rPr>
                        <m:t>−2)</m:t>
                      </m:r>
                    </m:oMath>
                  </m:oMathPara>
                </a14:m>
                <a:endParaRPr lang="ru-RU" sz="2400" dirty="0">
                  <a:latin typeface="Arial"/>
                  <a:cs typeface="Arial"/>
                </a:endParaRPr>
              </a:p>
              <a:p>
                <a:pPr marL="441325" marR="184150" indent="-635">
                  <a:lnSpc>
                    <a:spcPct val="100000"/>
                  </a:lnSpc>
                  <a:spcBef>
                    <a:spcPts val="5"/>
                  </a:spcBef>
                </a:pPr>
                <a:r>
                  <a:rPr lang="ru-RU" sz="2000" dirty="0">
                    <a:latin typeface="Arial"/>
                    <a:cs typeface="Arial"/>
                  </a:rPr>
                  <a:t>Таблица.</a:t>
                </a:r>
                <a:r>
                  <a:rPr lang="ru-RU" sz="2000" spc="170" dirty="0">
                    <a:latin typeface="Times New Roman"/>
                    <a:cs typeface="Times New Roman"/>
                  </a:rPr>
                  <a:t> </a:t>
                </a:r>
                <a:r>
                  <a:rPr lang="ru-RU" sz="2000" dirty="0">
                    <a:latin typeface="Arial"/>
                    <a:cs typeface="Arial"/>
                  </a:rPr>
                  <a:t>Оценка</a:t>
                </a:r>
                <a:r>
                  <a:rPr lang="ru-RU" sz="2000" spc="175" dirty="0">
                    <a:latin typeface="Times New Roman"/>
                    <a:cs typeface="Times New Roman"/>
                  </a:rPr>
                  <a:t> </a:t>
                </a:r>
                <a:r>
                  <a:rPr lang="ru-RU" sz="2000" dirty="0">
                    <a:latin typeface="Arial"/>
                    <a:cs typeface="Arial"/>
                  </a:rPr>
                  <a:t>силы</a:t>
                </a:r>
                <a:r>
                  <a:rPr lang="ru-RU" sz="2000" spc="180" dirty="0">
                    <a:latin typeface="Times New Roman"/>
                    <a:cs typeface="Times New Roman"/>
                  </a:rPr>
                  <a:t> </a:t>
                </a:r>
                <a:r>
                  <a:rPr lang="ru-RU" sz="2000" dirty="0">
                    <a:latin typeface="Arial"/>
                    <a:cs typeface="Arial"/>
                  </a:rPr>
                  <a:t>корреляции</a:t>
                </a:r>
                <a:r>
                  <a:rPr lang="ru-RU" sz="2000" spc="175" dirty="0">
                    <a:latin typeface="Times New Roman"/>
                    <a:cs typeface="Times New Roman"/>
                  </a:rPr>
                  <a:t> </a:t>
                </a:r>
                <a:r>
                  <a:rPr lang="ru-RU" sz="2000" dirty="0">
                    <a:latin typeface="Arial"/>
                    <a:cs typeface="Arial"/>
                  </a:rPr>
                  <a:t>по</a:t>
                </a:r>
                <a:r>
                  <a:rPr lang="ru-RU" sz="2000" spc="175" dirty="0">
                    <a:latin typeface="Times New Roman"/>
                    <a:cs typeface="Times New Roman"/>
                  </a:rPr>
                  <a:t> </a:t>
                </a:r>
                <a:r>
                  <a:rPr lang="ru-RU" sz="2000" dirty="0">
                    <a:latin typeface="Arial"/>
                    <a:cs typeface="Arial"/>
                  </a:rPr>
                  <a:t>уровню</a:t>
                </a:r>
                <a:r>
                  <a:rPr lang="ru-RU" sz="2000" spc="180" dirty="0">
                    <a:latin typeface="Times New Roman"/>
                    <a:cs typeface="Times New Roman"/>
                  </a:rPr>
                  <a:t> </a:t>
                </a:r>
                <a:r>
                  <a:rPr lang="ru-RU" sz="2000" spc="-10" dirty="0">
                    <a:latin typeface="Arial"/>
                    <a:cs typeface="Arial"/>
                  </a:rPr>
                  <a:t>статистической</a:t>
                </a:r>
                <a:r>
                  <a:rPr lang="ru-RU" sz="2000" spc="-10" dirty="0">
                    <a:latin typeface="Times New Roman"/>
                    <a:cs typeface="Times New Roman"/>
                  </a:rPr>
                  <a:t> </a:t>
                </a:r>
                <a:r>
                  <a:rPr lang="ru-RU" sz="2000" spc="-10" dirty="0">
                    <a:latin typeface="Arial"/>
                    <a:cs typeface="Arial"/>
                  </a:rPr>
                  <a:t>значимости</a:t>
                </a:r>
                <a:endParaRPr sz="2000" dirty="0">
                  <a:latin typeface="Arial"/>
                  <a:cs typeface="Arial"/>
                </a:endParaRPr>
              </a:p>
            </p:txBody>
          </p:sp>
        </mc:Choice>
        <mc:Fallback>
          <p:sp>
            <p:nvSpPr>
              <p:cNvPr id="6" name="object 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2588" y="551179"/>
                <a:ext cx="8105140" cy="2685607"/>
              </a:xfrm>
              <a:prstGeom prst="rect">
                <a:avLst/>
              </a:prstGeom>
              <a:blipFill>
                <a:blip r:embed="rId3"/>
                <a:stretch>
                  <a:fillRect l="-2105" t="-3855" r="-2256" b="-4762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" name="Нижний колонтитул 9">
            <a:extLst>
              <a:ext uri="{FF2B5EF4-FFF2-40B4-BE49-F238E27FC236}">
                <a16:creationId xmlns:a16="http://schemas.microsoft.com/office/drawing/2014/main" id="{1A907EFD-9078-4BEE-9C5F-F3ECE11023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11" name="Номер слайда 10">
            <a:extLst>
              <a:ext uri="{FF2B5EF4-FFF2-40B4-BE49-F238E27FC236}">
                <a16:creationId xmlns:a16="http://schemas.microsoft.com/office/drawing/2014/main" id="{08B3F8AB-4C35-44FF-9831-255A409611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C5FB71-5E9C-41B5-9BB8-3F1EBEAEB16A}" type="slidenum">
              <a:rPr lang="ru-RU" smtClean="0"/>
              <a:t>9</a:t>
            </a:fld>
            <a:endParaRPr lang="ru-RU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248660">
              <a:lnSpc>
                <a:spcPct val="100000"/>
              </a:lnSpc>
              <a:spcBef>
                <a:spcPts val="100"/>
              </a:spcBef>
            </a:pPr>
            <a:r>
              <a:rPr spc="-10" dirty="0">
                <a:solidFill>
                  <a:srgbClr val="164060"/>
                </a:solidFill>
              </a:rPr>
              <a:t>Корреляция</a:t>
            </a:r>
          </a:p>
        </p:txBody>
      </p:sp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922462" y="463550"/>
            <a:ext cx="5932487" cy="5038725"/>
          </a:xfrm>
          <a:prstGeom prst="rect">
            <a:avLst/>
          </a:prstGeom>
        </p:spPr>
      </p:pic>
      <p:sp>
        <p:nvSpPr>
          <p:cNvPr id="4" name="object 4"/>
          <p:cNvSpPr/>
          <p:nvPr/>
        </p:nvSpPr>
        <p:spPr>
          <a:xfrm>
            <a:off x="1057275" y="5611812"/>
            <a:ext cx="7663180" cy="708025"/>
          </a:xfrm>
          <a:custGeom>
            <a:avLst/>
            <a:gdLst/>
            <a:ahLst/>
            <a:cxnLst/>
            <a:rect l="l" t="t" r="r" b="b"/>
            <a:pathLst>
              <a:path w="7663180" h="708025">
                <a:moveTo>
                  <a:pt x="7662862" y="0"/>
                </a:moveTo>
                <a:lnTo>
                  <a:pt x="0" y="0"/>
                </a:lnTo>
                <a:lnTo>
                  <a:pt x="0" y="708025"/>
                </a:lnTo>
                <a:lnTo>
                  <a:pt x="7662862" y="708025"/>
                </a:lnTo>
                <a:lnTo>
                  <a:pt x="7662862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1183902" y="5631184"/>
            <a:ext cx="7410450" cy="3302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dirty="0">
                <a:latin typeface="Arial"/>
                <a:cs typeface="Arial"/>
              </a:rPr>
              <a:t>Схематическое</a:t>
            </a:r>
            <a:r>
              <a:rPr sz="2000" spc="-3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Arial"/>
                <a:cs typeface="Arial"/>
              </a:rPr>
              <a:t>изображение</a:t>
            </a:r>
            <a:r>
              <a:rPr sz="2000" spc="-3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Arial"/>
                <a:cs typeface="Arial"/>
              </a:rPr>
              <a:t>силы</a:t>
            </a:r>
            <a:r>
              <a:rPr sz="2000" spc="-3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Arial"/>
                <a:cs typeface="Arial"/>
              </a:rPr>
              <a:t>и</a:t>
            </a:r>
            <a:r>
              <a:rPr sz="2000" spc="-3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Arial"/>
                <a:cs typeface="Arial"/>
              </a:rPr>
              <a:t>направления</a:t>
            </a:r>
            <a:r>
              <a:rPr sz="2000" spc="-30" dirty="0">
                <a:latin typeface="Times New Roman"/>
                <a:cs typeface="Times New Roman"/>
              </a:rPr>
              <a:t> </a:t>
            </a:r>
            <a:r>
              <a:rPr sz="2000" spc="-10" dirty="0">
                <a:latin typeface="Arial"/>
                <a:cs typeface="Arial"/>
              </a:rPr>
              <a:t>корреляции</a:t>
            </a:r>
            <a:endParaRPr sz="2000" dirty="0">
              <a:latin typeface="Arial"/>
              <a:cs typeface="Arial"/>
            </a:endParaRPr>
          </a:p>
        </p:txBody>
      </p:sp>
      <p:sp>
        <p:nvSpPr>
          <p:cNvPr id="9" name="Нижний колонтитул 8">
            <a:extLst>
              <a:ext uri="{FF2B5EF4-FFF2-40B4-BE49-F238E27FC236}">
                <a16:creationId xmlns:a16="http://schemas.microsoft.com/office/drawing/2014/main" id="{9B4AD8CD-7786-4DEA-A982-C9C47D4ACB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10" name="Номер слайда 9">
            <a:extLst>
              <a:ext uri="{FF2B5EF4-FFF2-40B4-BE49-F238E27FC236}">
                <a16:creationId xmlns:a16="http://schemas.microsoft.com/office/drawing/2014/main" id="{8BD3FAF6-CA81-4809-9FC4-D4DCF98CF0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C5FB71-5E9C-41B5-9BB8-3F1EBEAEB16A}" type="slidenum">
              <a:rPr lang="ru-RU" smtClean="0"/>
              <a:t>10</a:t>
            </a:fld>
            <a:endParaRPr lang="ru-RU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701029" y="6095632"/>
            <a:ext cx="203835" cy="227329"/>
          </a:xfrm>
          <a:prstGeom prst="rect">
            <a:avLst/>
          </a:prstGeom>
        </p:spPr>
        <p:txBody>
          <a:bodyPr vert="horz" wrap="square" lIns="0" tIns="1841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45"/>
              </a:spcBef>
            </a:pPr>
            <a:r>
              <a:rPr sz="1250" i="1" spc="-60" dirty="0">
                <a:latin typeface="Arial Black"/>
                <a:cs typeface="Arial Black"/>
              </a:rPr>
              <a:t>19</a:t>
            </a:r>
            <a:endParaRPr sz="1250">
              <a:latin typeface="Arial Black"/>
              <a:cs typeface="Arial Black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2081237" y="-9652"/>
            <a:ext cx="543941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dirty="0"/>
              <a:t>Коэффициент</a:t>
            </a:r>
            <a:r>
              <a:rPr sz="2400" b="0" spc="-30" dirty="0">
                <a:latin typeface="Times New Roman"/>
                <a:cs typeface="Times New Roman"/>
              </a:rPr>
              <a:t> </a:t>
            </a:r>
            <a:r>
              <a:rPr sz="2400" dirty="0"/>
              <a:t>корреляции</a:t>
            </a:r>
            <a:r>
              <a:rPr sz="2400" b="0" spc="-35" dirty="0">
                <a:latin typeface="Times New Roman"/>
                <a:cs typeface="Times New Roman"/>
              </a:rPr>
              <a:t> </a:t>
            </a:r>
            <a:r>
              <a:rPr sz="2400" spc="-10" dirty="0"/>
              <a:t>Пирсона</a:t>
            </a:r>
            <a:endParaRPr sz="2400">
              <a:latin typeface="Times New Roman"/>
              <a:cs typeface="Times New Roman"/>
            </a:endParaRPr>
          </a:p>
        </p:txBody>
      </p:sp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022350" y="3188913"/>
            <a:ext cx="3086100" cy="1865779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5232400" y="3094037"/>
            <a:ext cx="3282950" cy="1954212"/>
          </a:xfrm>
          <a:prstGeom prst="rect">
            <a:avLst/>
          </a:prstGeom>
        </p:spPr>
      </p:pic>
      <p:sp>
        <p:nvSpPr>
          <p:cNvPr id="6" name="object 6"/>
          <p:cNvSpPr txBox="1"/>
          <p:nvPr/>
        </p:nvSpPr>
        <p:spPr>
          <a:xfrm>
            <a:off x="931217" y="5055095"/>
            <a:ext cx="3407410" cy="3302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dirty="0">
                <a:latin typeface="Times New Roman"/>
                <a:cs typeface="Times New Roman"/>
              </a:rPr>
              <a:t>Диаграмма</a:t>
            </a:r>
            <a:r>
              <a:rPr sz="2000" spc="-3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рассеяния</a:t>
            </a:r>
            <a:r>
              <a:rPr sz="2000" spc="-1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(r</a:t>
            </a:r>
            <a:r>
              <a:rPr sz="2000" spc="-3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=</a:t>
            </a:r>
            <a:r>
              <a:rPr sz="2000" spc="-25" dirty="0">
                <a:latin typeface="Times New Roman"/>
                <a:cs typeface="Times New Roman"/>
              </a:rPr>
              <a:t> </a:t>
            </a:r>
            <a:r>
              <a:rPr sz="2000" spc="-10" dirty="0">
                <a:latin typeface="Times New Roman"/>
                <a:cs typeface="Times New Roman"/>
              </a:rPr>
              <a:t>0.84)</a:t>
            </a:r>
            <a:endParaRPr sz="2000" dirty="0">
              <a:latin typeface="Times New Roman"/>
              <a:cs typeface="Times New Roman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625475" y="5013325"/>
            <a:ext cx="8143875" cy="1476375"/>
          </a:xfrm>
          <a:custGeom>
            <a:avLst/>
            <a:gdLst/>
            <a:ahLst/>
            <a:cxnLst/>
            <a:rect l="l" t="t" r="r" b="b"/>
            <a:pathLst>
              <a:path w="8143875" h="1476375">
                <a:moveTo>
                  <a:pt x="8143875" y="0"/>
                </a:moveTo>
                <a:lnTo>
                  <a:pt x="4541837" y="0"/>
                </a:lnTo>
                <a:lnTo>
                  <a:pt x="4541837" y="384175"/>
                </a:lnTo>
                <a:lnTo>
                  <a:pt x="0" y="384175"/>
                </a:lnTo>
                <a:lnTo>
                  <a:pt x="0" y="1476375"/>
                </a:lnTo>
                <a:lnTo>
                  <a:pt x="8143875" y="1476375"/>
                </a:lnTo>
                <a:lnTo>
                  <a:pt x="8143875" y="400050"/>
                </a:lnTo>
                <a:lnTo>
                  <a:pt x="8143875" y="384175"/>
                </a:lnTo>
                <a:lnTo>
                  <a:pt x="8143875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 txBox="1"/>
          <p:nvPr/>
        </p:nvSpPr>
        <p:spPr>
          <a:xfrm>
            <a:off x="5246039" y="4954503"/>
            <a:ext cx="3444240" cy="400751"/>
          </a:xfrm>
          <a:prstGeom prst="rect">
            <a:avLst/>
          </a:prstGeom>
        </p:spPr>
        <p:txBody>
          <a:bodyPr vert="horz" wrap="square" lIns="0" tIns="920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25"/>
              </a:spcBef>
            </a:pPr>
            <a:r>
              <a:rPr sz="2000" dirty="0">
                <a:latin typeface="Times New Roman"/>
                <a:cs typeface="Times New Roman"/>
              </a:rPr>
              <a:t>Диаграмма</a:t>
            </a:r>
            <a:r>
              <a:rPr sz="2000" spc="-3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рассеяния</a:t>
            </a:r>
            <a:r>
              <a:rPr sz="2000" spc="-1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(r</a:t>
            </a:r>
            <a:r>
              <a:rPr sz="2000" spc="-3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=</a:t>
            </a:r>
            <a:r>
              <a:rPr sz="2000" spc="-25" dirty="0">
                <a:latin typeface="Times New Roman"/>
                <a:cs typeface="Times New Roman"/>
              </a:rPr>
              <a:t> </a:t>
            </a:r>
            <a:r>
              <a:rPr sz="2000" spc="-10" dirty="0">
                <a:latin typeface="Times New Roman"/>
                <a:cs typeface="Times New Roman"/>
              </a:rPr>
              <a:t>0.09)</a:t>
            </a:r>
            <a:endParaRPr sz="2000" dirty="0">
              <a:latin typeface="Arial"/>
              <a:cs typeface="Arial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704204" y="5417815"/>
            <a:ext cx="7811146" cy="102592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indent="-635">
              <a:spcBef>
                <a:spcPts val="100"/>
              </a:spcBef>
              <a:tabLst>
                <a:tab pos="1142365" algn="l"/>
                <a:tab pos="2473960" algn="l"/>
                <a:tab pos="3868420" algn="l"/>
              </a:tabLst>
            </a:pPr>
            <a:r>
              <a:rPr sz="2000" spc="-10" dirty="0" err="1">
                <a:latin typeface="Arial"/>
                <a:cs typeface="Arial"/>
              </a:rPr>
              <a:t>Частая</a:t>
            </a:r>
            <a:r>
              <a:rPr lang="ru-RU" sz="2000" spc="-10" dirty="0">
                <a:latin typeface="Arial"/>
                <a:cs typeface="Arial"/>
              </a:rPr>
              <a:t> </a:t>
            </a:r>
            <a:r>
              <a:rPr sz="2000" b="1" spc="-10" dirty="0" err="1">
                <a:latin typeface="Arial"/>
                <a:cs typeface="Arial"/>
              </a:rPr>
              <a:t>нулевая</a:t>
            </a:r>
            <a:r>
              <a:rPr lang="ru-RU" sz="2000" b="1" spc="-10" dirty="0">
                <a:latin typeface="Arial"/>
                <a:cs typeface="Arial"/>
              </a:rPr>
              <a:t> </a:t>
            </a:r>
            <a:r>
              <a:rPr sz="2000" b="1" spc="-10" dirty="0" err="1">
                <a:latin typeface="Arial"/>
                <a:cs typeface="Arial"/>
              </a:rPr>
              <a:t>гипотеза</a:t>
            </a:r>
            <a:r>
              <a:rPr lang="ru-RU" sz="2000" b="1" spc="-10" dirty="0">
                <a:latin typeface="Arial"/>
                <a:cs typeface="Arial"/>
              </a:rPr>
              <a:t> </a:t>
            </a:r>
            <a:r>
              <a:rPr sz="2000" spc="-25" dirty="0" err="1">
                <a:latin typeface="Arial"/>
                <a:cs typeface="Arial"/>
              </a:rPr>
              <a:t>для</a:t>
            </a:r>
            <a:r>
              <a:rPr lang="ru-RU" sz="2000" spc="-25" dirty="0">
                <a:latin typeface="Arial"/>
                <a:cs typeface="Arial"/>
              </a:rPr>
              <a:t> </a:t>
            </a:r>
            <a:r>
              <a:rPr lang="ru-RU" sz="2000" spc="-10" dirty="0">
                <a:latin typeface="Arial"/>
                <a:cs typeface="Arial"/>
              </a:rPr>
              <a:t>корреляционного анализа:</a:t>
            </a:r>
            <a:endParaRPr lang="ru-RU" sz="2000" dirty="0">
              <a:latin typeface="Arial"/>
              <a:cs typeface="Arial"/>
            </a:endParaRPr>
          </a:p>
          <a:p>
            <a:pPr marL="12700" marR="5080" indent="-635">
              <a:lnSpc>
                <a:spcPct val="100000"/>
              </a:lnSpc>
              <a:spcBef>
                <a:spcPts val="100"/>
              </a:spcBef>
              <a:tabLst>
                <a:tab pos="1142365" algn="l"/>
                <a:tab pos="2473960" algn="l"/>
                <a:tab pos="3868420" algn="l"/>
              </a:tabLst>
            </a:pPr>
            <a:r>
              <a:rPr sz="2000" spc="-2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Arial"/>
                <a:cs typeface="Arial"/>
              </a:rPr>
              <a:t>переменные</a:t>
            </a:r>
            <a:r>
              <a:rPr sz="2000" spc="2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Arial"/>
                <a:cs typeface="Arial"/>
              </a:rPr>
              <a:t>не</a:t>
            </a:r>
            <a:r>
              <a:rPr sz="2000" spc="1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Arial"/>
                <a:cs typeface="Arial"/>
              </a:rPr>
              <a:t>связаны</a:t>
            </a:r>
            <a:r>
              <a:rPr sz="2000" spc="1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Arial"/>
                <a:cs typeface="Arial"/>
              </a:rPr>
              <a:t>(r</a:t>
            </a:r>
            <a:r>
              <a:rPr sz="2000" spc="1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Arial"/>
                <a:cs typeface="Arial"/>
              </a:rPr>
              <a:t>=</a:t>
            </a:r>
            <a:r>
              <a:rPr sz="2000" spc="10" dirty="0">
                <a:latin typeface="Times New Roman"/>
                <a:cs typeface="Times New Roman"/>
              </a:rPr>
              <a:t> </a:t>
            </a:r>
            <a:r>
              <a:rPr sz="2000" spc="-25" dirty="0">
                <a:latin typeface="Arial"/>
                <a:cs typeface="Arial"/>
              </a:rPr>
              <a:t>0).</a:t>
            </a:r>
            <a:endParaRPr sz="2000" dirty="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600"/>
              </a:spcBef>
            </a:pPr>
            <a:r>
              <a:rPr sz="2000" b="1" spc="-10" dirty="0">
                <a:latin typeface="Arial"/>
                <a:cs typeface="Arial"/>
              </a:rPr>
              <a:t>Альтернативная</a:t>
            </a:r>
            <a:r>
              <a:rPr sz="2000" spc="-35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Arial"/>
                <a:cs typeface="Arial"/>
              </a:rPr>
              <a:t>гипотеза:</a:t>
            </a:r>
            <a:r>
              <a:rPr sz="2000" spc="-3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Arial"/>
                <a:cs typeface="Arial"/>
              </a:rPr>
              <a:t>r</a:t>
            </a:r>
            <a:r>
              <a:rPr sz="2000" spc="-3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Arial"/>
                <a:cs typeface="Arial"/>
              </a:rPr>
              <a:t>≠</a:t>
            </a:r>
            <a:r>
              <a:rPr sz="2000" spc="-30" dirty="0">
                <a:latin typeface="Times New Roman"/>
                <a:cs typeface="Times New Roman"/>
              </a:rPr>
              <a:t> </a:t>
            </a:r>
            <a:r>
              <a:rPr sz="2000" spc="-25" dirty="0">
                <a:latin typeface="Arial"/>
                <a:cs typeface="Arial"/>
              </a:rPr>
              <a:t>0.</a:t>
            </a:r>
            <a:endParaRPr sz="2000" dirty="0">
              <a:latin typeface="Arial"/>
              <a:cs typeface="Arial"/>
            </a:endParaRPr>
          </a:p>
        </p:txBody>
      </p:sp>
      <p:sp>
        <p:nvSpPr>
          <p:cNvPr id="10" name="object 10"/>
          <p:cNvSpPr/>
          <p:nvPr/>
        </p:nvSpPr>
        <p:spPr>
          <a:xfrm>
            <a:off x="558800" y="476250"/>
            <a:ext cx="8237855" cy="2632075"/>
          </a:xfrm>
          <a:custGeom>
            <a:avLst/>
            <a:gdLst/>
            <a:ahLst/>
            <a:cxnLst/>
            <a:rect l="l" t="t" r="r" b="b"/>
            <a:pathLst>
              <a:path w="8237855" h="2632075">
                <a:moveTo>
                  <a:pt x="8237537" y="0"/>
                </a:moveTo>
                <a:lnTo>
                  <a:pt x="0" y="0"/>
                </a:lnTo>
                <a:lnTo>
                  <a:pt x="0" y="2632075"/>
                </a:lnTo>
                <a:lnTo>
                  <a:pt x="8237537" y="2632075"/>
                </a:lnTo>
                <a:lnTo>
                  <a:pt x="8237537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 txBox="1"/>
          <p:nvPr/>
        </p:nvSpPr>
        <p:spPr>
          <a:xfrm>
            <a:off x="8159949" y="495300"/>
            <a:ext cx="556895" cy="3302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spc="-20" dirty="0">
                <a:latin typeface="Arial"/>
                <a:cs typeface="Arial"/>
              </a:rPr>
              <a:t>двух</a:t>
            </a:r>
            <a:endParaRPr sz="2000">
              <a:latin typeface="Arial"/>
              <a:cs typeface="Arial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637529" y="495300"/>
            <a:ext cx="7359015" cy="25400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indent="-635">
              <a:lnSpc>
                <a:spcPct val="100000"/>
              </a:lnSpc>
              <a:spcBef>
                <a:spcPts val="100"/>
              </a:spcBef>
              <a:tabLst>
                <a:tab pos="1979295" algn="l"/>
                <a:tab pos="3676015" algn="l"/>
                <a:tab pos="4951095" algn="l"/>
                <a:tab pos="5281295" algn="l"/>
                <a:tab pos="6068695" algn="l"/>
                <a:tab pos="6912609" algn="l"/>
              </a:tabLst>
            </a:pPr>
            <a:r>
              <a:rPr sz="2000" b="1" spc="-10" dirty="0">
                <a:latin typeface="Arial"/>
                <a:cs typeface="Arial"/>
              </a:rPr>
              <a:t>Коэффициент</a:t>
            </a:r>
            <a:r>
              <a:rPr sz="2000" dirty="0">
                <a:latin typeface="Times New Roman"/>
                <a:cs typeface="Times New Roman"/>
              </a:rPr>
              <a:t>	</a:t>
            </a:r>
            <a:r>
              <a:rPr sz="2000" b="1" spc="-10" dirty="0">
                <a:latin typeface="Arial"/>
                <a:cs typeface="Arial"/>
              </a:rPr>
              <a:t>корреляции</a:t>
            </a:r>
            <a:r>
              <a:rPr sz="2000" dirty="0">
                <a:latin typeface="Times New Roman"/>
                <a:cs typeface="Times New Roman"/>
              </a:rPr>
              <a:t>	</a:t>
            </a:r>
            <a:r>
              <a:rPr sz="2000" b="1" spc="-10" dirty="0">
                <a:latin typeface="Arial"/>
                <a:cs typeface="Arial"/>
              </a:rPr>
              <a:t>Пирсона</a:t>
            </a:r>
            <a:r>
              <a:rPr sz="2000" dirty="0">
                <a:latin typeface="Times New Roman"/>
                <a:cs typeface="Times New Roman"/>
              </a:rPr>
              <a:t>	</a:t>
            </a:r>
            <a:r>
              <a:rPr sz="2000" spc="-50" dirty="0">
                <a:latin typeface="Arial"/>
                <a:cs typeface="Arial"/>
              </a:rPr>
              <a:t>–</a:t>
            </a:r>
            <a:r>
              <a:rPr sz="2000" dirty="0">
                <a:latin typeface="Times New Roman"/>
                <a:cs typeface="Times New Roman"/>
              </a:rPr>
              <a:t>	</a:t>
            </a:r>
            <a:r>
              <a:rPr sz="2000" spc="-20" dirty="0">
                <a:latin typeface="Arial"/>
                <a:cs typeface="Arial"/>
              </a:rPr>
              <a:t>мера</a:t>
            </a:r>
            <a:r>
              <a:rPr sz="2000" dirty="0">
                <a:latin typeface="Times New Roman"/>
                <a:cs typeface="Times New Roman"/>
              </a:rPr>
              <a:t>	</a:t>
            </a:r>
            <a:r>
              <a:rPr sz="2000" spc="-10" dirty="0">
                <a:latin typeface="Arial"/>
                <a:cs typeface="Arial"/>
              </a:rPr>
              <a:t>связи</a:t>
            </a:r>
            <a:r>
              <a:rPr sz="2000" dirty="0">
                <a:latin typeface="Times New Roman"/>
                <a:cs typeface="Times New Roman"/>
              </a:rPr>
              <a:t>	</a:t>
            </a:r>
            <a:r>
              <a:rPr sz="2000" spc="-25" dirty="0">
                <a:latin typeface="Arial"/>
                <a:cs typeface="Arial"/>
              </a:rPr>
              <a:t>для</a:t>
            </a:r>
            <a:r>
              <a:rPr sz="2000" spc="-2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Arial"/>
                <a:cs typeface="Arial"/>
              </a:rPr>
              <a:t>непрерывных</a:t>
            </a:r>
            <a:r>
              <a:rPr sz="200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Arial"/>
                <a:cs typeface="Arial"/>
              </a:rPr>
              <a:t>или</a:t>
            </a:r>
            <a:r>
              <a:rPr sz="2000" spc="-5" dirty="0">
                <a:latin typeface="Times New Roman"/>
                <a:cs typeface="Times New Roman"/>
              </a:rPr>
              <a:t> </a:t>
            </a:r>
            <a:r>
              <a:rPr sz="2000" spc="-10" dirty="0">
                <a:latin typeface="Arial"/>
                <a:cs typeface="Arial"/>
              </a:rPr>
              <a:t>характеризующих</a:t>
            </a:r>
            <a:r>
              <a:rPr sz="200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Arial"/>
                <a:cs typeface="Arial"/>
              </a:rPr>
              <a:t>отношения</a:t>
            </a:r>
            <a:r>
              <a:rPr sz="2000" dirty="0">
                <a:latin typeface="Times New Roman"/>
                <a:cs typeface="Times New Roman"/>
              </a:rPr>
              <a:t> </a:t>
            </a:r>
            <a:r>
              <a:rPr sz="2000" spc="-10" dirty="0">
                <a:latin typeface="Arial"/>
                <a:cs typeface="Arial"/>
              </a:rPr>
              <a:t>переменных.</a:t>
            </a:r>
            <a:endParaRPr sz="2000" dirty="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600"/>
              </a:spcBef>
            </a:pPr>
            <a:r>
              <a:rPr sz="2000" b="1" spc="-10" dirty="0">
                <a:latin typeface="Arial"/>
                <a:cs typeface="Arial"/>
              </a:rPr>
              <a:t>Обозначение:</a:t>
            </a:r>
            <a:endParaRPr sz="2000" dirty="0">
              <a:latin typeface="Arial"/>
              <a:cs typeface="Arial"/>
            </a:endParaRPr>
          </a:p>
          <a:p>
            <a:pPr marL="354965" indent="-342265">
              <a:lnSpc>
                <a:spcPct val="100000"/>
              </a:lnSpc>
              <a:spcBef>
                <a:spcPts val="600"/>
              </a:spcBef>
              <a:buFont typeface="Wingdings"/>
              <a:buChar char=""/>
              <a:tabLst>
                <a:tab pos="354965" algn="l"/>
              </a:tabLst>
            </a:pPr>
            <a:r>
              <a:rPr sz="2000" dirty="0">
                <a:latin typeface="Arial"/>
                <a:cs typeface="Arial"/>
              </a:rPr>
              <a:t>для</a:t>
            </a:r>
            <a:r>
              <a:rPr sz="2000" spc="2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Arial"/>
                <a:cs typeface="Arial"/>
              </a:rPr>
              <a:t>выборки</a:t>
            </a:r>
            <a:r>
              <a:rPr sz="2000" spc="1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Arial"/>
                <a:cs typeface="Arial"/>
              </a:rPr>
              <a:t>–</a:t>
            </a:r>
            <a:r>
              <a:rPr sz="2000" spc="30" dirty="0">
                <a:latin typeface="Times New Roman"/>
                <a:cs typeface="Times New Roman"/>
              </a:rPr>
              <a:t> </a:t>
            </a:r>
            <a:r>
              <a:rPr sz="2000" spc="-25" dirty="0">
                <a:latin typeface="Arial"/>
                <a:cs typeface="Arial"/>
              </a:rPr>
              <a:t>r,</a:t>
            </a:r>
            <a:endParaRPr sz="2000" dirty="0">
              <a:latin typeface="Arial"/>
              <a:cs typeface="Arial"/>
            </a:endParaRPr>
          </a:p>
          <a:p>
            <a:pPr marL="12700" marR="2843530" indent="342265">
              <a:lnSpc>
                <a:spcPct val="125000"/>
              </a:lnSpc>
              <a:buFont typeface="Wingdings"/>
              <a:buChar char=""/>
              <a:tabLst>
                <a:tab pos="354965" algn="l"/>
              </a:tabLst>
            </a:pPr>
            <a:r>
              <a:rPr sz="2000" dirty="0">
                <a:latin typeface="Arial"/>
                <a:cs typeface="Arial"/>
              </a:rPr>
              <a:t>для</a:t>
            </a:r>
            <a:r>
              <a:rPr sz="200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Arial"/>
                <a:cs typeface="Arial"/>
              </a:rPr>
              <a:t>генеральной</a:t>
            </a:r>
            <a:r>
              <a:rPr sz="2000" spc="-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Arial"/>
                <a:cs typeface="Arial"/>
              </a:rPr>
              <a:t>совокупности</a:t>
            </a:r>
            <a:r>
              <a:rPr sz="2000" spc="-1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Arial"/>
                <a:cs typeface="Arial"/>
              </a:rPr>
              <a:t>–</a:t>
            </a:r>
            <a:r>
              <a:rPr sz="2000" spc="5" dirty="0">
                <a:latin typeface="Times New Roman"/>
                <a:cs typeface="Times New Roman"/>
              </a:rPr>
              <a:t> </a:t>
            </a:r>
            <a:r>
              <a:rPr sz="2000" spc="-25" dirty="0">
                <a:latin typeface="Arial"/>
                <a:cs typeface="Arial"/>
              </a:rPr>
              <a:t>ρ.</a:t>
            </a:r>
            <a:r>
              <a:rPr sz="2000" spc="-2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Arial"/>
                <a:cs typeface="Arial"/>
              </a:rPr>
              <a:t>Принимает</a:t>
            </a:r>
            <a:r>
              <a:rPr sz="2000" spc="-25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Arial"/>
                <a:cs typeface="Arial"/>
              </a:rPr>
              <a:t>значения</a:t>
            </a:r>
            <a:r>
              <a:rPr sz="2000" spc="-3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Arial"/>
                <a:cs typeface="Arial"/>
              </a:rPr>
              <a:t>от</a:t>
            </a:r>
            <a:r>
              <a:rPr sz="2000" spc="-3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Arial"/>
                <a:cs typeface="Arial"/>
              </a:rPr>
              <a:t>–1</a:t>
            </a:r>
            <a:r>
              <a:rPr sz="2000" spc="-2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Arial"/>
                <a:cs typeface="Arial"/>
              </a:rPr>
              <a:t>до</a:t>
            </a:r>
            <a:r>
              <a:rPr sz="2000" spc="-30" dirty="0">
                <a:latin typeface="Times New Roman"/>
                <a:cs typeface="Times New Roman"/>
              </a:rPr>
              <a:t> </a:t>
            </a:r>
            <a:r>
              <a:rPr sz="2000" spc="-25" dirty="0">
                <a:latin typeface="Arial"/>
                <a:cs typeface="Arial"/>
              </a:rPr>
              <a:t>+1.</a:t>
            </a:r>
            <a:endParaRPr sz="2000" dirty="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600"/>
              </a:spcBef>
            </a:pPr>
            <a:r>
              <a:rPr sz="2000" dirty="0">
                <a:latin typeface="Arial"/>
                <a:cs typeface="Arial"/>
              </a:rPr>
              <a:t>0</a:t>
            </a:r>
            <a:r>
              <a:rPr sz="2000" spc="-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Arial"/>
                <a:cs typeface="Arial"/>
              </a:rPr>
              <a:t>(нуль)</a:t>
            </a:r>
            <a:r>
              <a:rPr sz="2000" spc="-1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Arial"/>
                <a:cs typeface="Arial"/>
              </a:rPr>
              <a:t>–</a:t>
            </a:r>
            <a:r>
              <a:rPr sz="2000" spc="-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Arial"/>
                <a:cs typeface="Arial"/>
              </a:rPr>
              <a:t>отсутствие</a:t>
            </a:r>
            <a:r>
              <a:rPr sz="2000" spc="-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Arial"/>
                <a:cs typeface="Arial"/>
              </a:rPr>
              <a:t>связи</a:t>
            </a:r>
            <a:r>
              <a:rPr sz="2000" spc="-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Arial"/>
                <a:cs typeface="Arial"/>
              </a:rPr>
              <a:t>между</a:t>
            </a:r>
            <a:r>
              <a:rPr sz="2000" spc="-5" dirty="0">
                <a:latin typeface="Times New Roman"/>
                <a:cs typeface="Times New Roman"/>
              </a:rPr>
              <a:t> </a:t>
            </a:r>
            <a:r>
              <a:rPr sz="2000" spc="-10" dirty="0">
                <a:latin typeface="Arial"/>
                <a:cs typeface="Arial"/>
              </a:rPr>
              <a:t>переменными.</a:t>
            </a:r>
            <a:endParaRPr sz="2000" dirty="0">
              <a:latin typeface="Arial"/>
              <a:cs typeface="Arial"/>
            </a:endParaRPr>
          </a:p>
        </p:txBody>
      </p:sp>
      <p:sp>
        <p:nvSpPr>
          <p:cNvPr id="15" name="Нижний колонтитул 14">
            <a:extLst>
              <a:ext uri="{FF2B5EF4-FFF2-40B4-BE49-F238E27FC236}">
                <a16:creationId xmlns:a16="http://schemas.microsoft.com/office/drawing/2014/main" id="{2118FE19-F2AF-4C25-9C48-5DD6A31955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16" name="Номер слайда 15">
            <a:extLst>
              <a:ext uri="{FF2B5EF4-FFF2-40B4-BE49-F238E27FC236}">
                <a16:creationId xmlns:a16="http://schemas.microsoft.com/office/drawing/2014/main" id="{C0BA07C3-D71D-43BF-B9AF-4C700C86DA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C5FB71-5E9C-41B5-9BB8-3F1EBEAEB16A}" type="slidenum">
              <a:rPr lang="ru-RU" smtClean="0"/>
              <a:t>11</a:t>
            </a:fld>
            <a:endParaRPr lang="ru-RU" dirty="0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object 3"/>
          <p:cNvGrpSpPr/>
          <p:nvPr/>
        </p:nvGrpSpPr>
        <p:grpSpPr>
          <a:xfrm>
            <a:off x="962044" y="1085837"/>
            <a:ext cx="8189977" cy="4023944"/>
            <a:chOff x="594359" y="490727"/>
            <a:chExt cx="8189977" cy="4023944"/>
          </a:xfrm>
        </p:grpSpPr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594359" y="490727"/>
              <a:ext cx="8068056" cy="2773680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795270" y="2908375"/>
              <a:ext cx="4575048" cy="1606296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2267711" y="886968"/>
              <a:ext cx="3630167" cy="935736"/>
            </a:xfrm>
            <a:prstGeom prst="rect">
              <a:avLst/>
            </a:prstGeom>
          </p:spPr>
        </p:pic>
        <p:pic>
          <p:nvPicPr>
            <p:cNvPr id="7" name="object 7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5544312" y="890015"/>
              <a:ext cx="3240024" cy="935736"/>
            </a:xfrm>
            <a:prstGeom prst="rect">
              <a:avLst/>
            </a:prstGeom>
          </p:spPr>
        </p:pic>
      </p:grpSp>
      <p:sp>
        <p:nvSpPr>
          <p:cNvPr id="8" name="object 8"/>
          <p:cNvSpPr txBox="1">
            <a:spLocks noGrp="1"/>
          </p:cNvSpPr>
          <p:nvPr>
            <p:ph type="title"/>
          </p:nvPr>
        </p:nvSpPr>
        <p:spPr>
          <a:xfrm>
            <a:off x="537972" y="191848"/>
            <a:ext cx="8068056" cy="50526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625475">
              <a:lnSpc>
                <a:spcPct val="100000"/>
              </a:lnSpc>
              <a:spcBef>
                <a:spcPts val="100"/>
              </a:spcBef>
            </a:pPr>
            <a:r>
              <a:rPr lang="ru-RU" sz="3200" dirty="0"/>
              <a:t>Коэффициент корреляции Пирсона</a:t>
            </a:r>
            <a:endParaRPr lang="ru-RU" sz="3200" dirty="0">
              <a:latin typeface="Times New Roman"/>
              <a:cs typeface="Times New Roman"/>
            </a:endParaRPr>
          </a:p>
        </p:txBody>
      </p:sp>
      <p:pic>
        <p:nvPicPr>
          <p:cNvPr id="11" name="object 11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6629400" y="5142229"/>
            <a:ext cx="1597152" cy="798576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0C4A3F9A-11B7-4B58-8B11-A4D8F5D1F3A6}"/>
              </a:ext>
            </a:extLst>
          </p:cNvPr>
          <p:cNvSpPr txBox="1"/>
          <p:nvPr/>
        </p:nvSpPr>
        <p:spPr>
          <a:xfrm>
            <a:off x="705167" y="5248481"/>
            <a:ext cx="6096939" cy="830469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l"/>
            <a:r>
              <a:rPr lang="ru-RU" dirty="0"/>
              <a:t>Формула	для	проверки статистической значимости коэффициента корреляции Пирсона:</a:t>
            </a:r>
          </a:p>
        </p:txBody>
      </p:sp>
      <p:sp>
        <p:nvSpPr>
          <p:cNvPr id="15" name="Нижний колонтитул 14">
            <a:extLst>
              <a:ext uri="{FF2B5EF4-FFF2-40B4-BE49-F238E27FC236}">
                <a16:creationId xmlns:a16="http://schemas.microsoft.com/office/drawing/2014/main" id="{AA8A4204-EF06-40BC-866B-4798F99B1F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16" name="Номер слайда 15">
            <a:extLst>
              <a:ext uri="{FF2B5EF4-FFF2-40B4-BE49-F238E27FC236}">
                <a16:creationId xmlns:a16="http://schemas.microsoft.com/office/drawing/2014/main" id="{7FB49953-6CBB-499B-9914-371BDCE568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C5FB71-5E9C-41B5-9BB8-3F1EBEAEB16A}" type="slidenum">
              <a:rPr lang="ru-RU" smtClean="0"/>
              <a:t>12</a:t>
            </a:fld>
            <a:endParaRPr lang="ru-RU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object 8"/>
          <p:cNvSpPr txBox="1">
            <a:spLocks noGrp="1"/>
          </p:cNvSpPr>
          <p:nvPr>
            <p:ph type="title"/>
          </p:nvPr>
        </p:nvSpPr>
        <p:spPr>
          <a:xfrm>
            <a:off x="628650" y="448895"/>
            <a:ext cx="7886700" cy="345223"/>
          </a:xfrm>
        </p:spPr>
        <p:txBody>
          <a:bodyPr vert="horz" wrap="square" lIns="0" tIns="12700" rIns="0" bIns="0" rtlCol="0">
            <a:spAutoFit/>
          </a:bodyPr>
          <a:lstStyle/>
          <a:p>
            <a:pPr algn="ctr"/>
            <a:r>
              <a:rPr lang="ru-RU" sz="2400" dirty="0"/>
              <a:t>Метрики качества линейных регрессионных моделей</a:t>
            </a:r>
          </a:p>
        </p:txBody>
      </p:sp>
      <p:sp>
        <p:nvSpPr>
          <p:cNvPr id="13" name="Объект 12">
            <a:extLst>
              <a:ext uri="{FF2B5EF4-FFF2-40B4-BE49-F238E27FC236}">
                <a16:creationId xmlns:a16="http://schemas.microsoft.com/office/drawing/2014/main" id="{B5704FEA-EE22-494F-9F5A-65BD9F69DC5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8650" y="1143000"/>
            <a:ext cx="7886700" cy="5033963"/>
          </a:xfrm>
        </p:spPr>
        <p:txBody>
          <a:bodyPr>
            <a:normAutofit lnSpcReduction="10000"/>
          </a:bodyPr>
          <a:lstStyle/>
          <a:p>
            <a:pPr marL="0" indent="0" algn="just">
              <a:buNone/>
            </a:pPr>
            <a:r>
              <a:rPr lang="ru-RU" b="1" dirty="0"/>
              <a:t>Необходимо оценить качество модели регрессии:</a:t>
            </a:r>
          </a:p>
          <a:p>
            <a:pPr algn="just"/>
            <a:r>
              <a:rPr lang="ru-RU" dirty="0"/>
              <a:t>На выборке настройки параметров – для оценки уровня значимости коэффициентов модели,</a:t>
            </a:r>
          </a:p>
          <a:p>
            <a:pPr algn="just"/>
            <a:r>
              <a:rPr lang="ru-RU" dirty="0"/>
              <a:t>На отложенной выборке – для оценки качества обобщения моделью псевдо-реальных данных.</a:t>
            </a:r>
          </a:p>
          <a:p>
            <a:pPr marL="0" indent="0" algn="just">
              <a:buNone/>
            </a:pPr>
            <a:r>
              <a:rPr lang="ru-RU" b="1" dirty="0"/>
              <a:t>Корректный выбор метрик:</a:t>
            </a:r>
          </a:p>
          <a:p>
            <a:pPr algn="just"/>
            <a:r>
              <a:rPr lang="ru-RU" dirty="0"/>
              <a:t>Объясняющие метрики на тренировочной выборке,</a:t>
            </a:r>
          </a:p>
          <a:p>
            <a:pPr algn="just"/>
            <a:r>
              <a:rPr lang="ru-RU" dirty="0"/>
              <a:t>Метрики качества прогнозирования на отложенной.</a:t>
            </a:r>
          </a:p>
          <a:p>
            <a:pPr marL="0" indent="0" algn="just">
              <a:buNone/>
            </a:pPr>
            <a:r>
              <a:rPr lang="ru-RU" b="1" dirty="0"/>
              <a:t>Признаки хорошей модели:</a:t>
            </a:r>
          </a:p>
          <a:p>
            <a:pPr algn="just"/>
            <a:r>
              <a:rPr lang="ru-RU" dirty="0"/>
              <a:t>Легкая интерпретируемость (малое число сущностей)</a:t>
            </a:r>
          </a:p>
          <a:p>
            <a:pPr algn="just"/>
            <a:r>
              <a:rPr lang="ru-RU" dirty="0"/>
              <a:t>Хорошее обобщение данных</a:t>
            </a:r>
          </a:p>
          <a:p>
            <a:pPr marL="0" indent="0" algn="just">
              <a:buNone/>
            </a:pPr>
            <a:r>
              <a:rPr lang="ru-RU" dirty="0"/>
              <a:t>Модель должна значимо увеличивать соответствие модели данным чтобы оправдать рост сложности и соответствующее снижение интерпретируемости.</a:t>
            </a:r>
          </a:p>
        </p:txBody>
      </p:sp>
      <p:sp>
        <p:nvSpPr>
          <p:cNvPr id="15" name="Нижний колонтитул 14">
            <a:extLst>
              <a:ext uri="{FF2B5EF4-FFF2-40B4-BE49-F238E27FC236}">
                <a16:creationId xmlns:a16="http://schemas.microsoft.com/office/drawing/2014/main" id="{AA8A4204-EF06-40BC-866B-4798F99B1F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028950" y="6356351"/>
            <a:ext cx="3086100" cy="365125"/>
          </a:xfrm>
        </p:spPr>
        <p:txBody>
          <a:bodyPr/>
          <a:lstStyle/>
          <a:p>
            <a:endParaRPr lang="ru-RU" dirty="0"/>
          </a:p>
        </p:txBody>
      </p:sp>
      <p:sp>
        <p:nvSpPr>
          <p:cNvPr id="16" name="Номер слайда 15">
            <a:extLst>
              <a:ext uri="{FF2B5EF4-FFF2-40B4-BE49-F238E27FC236}">
                <a16:creationId xmlns:a16="http://schemas.microsoft.com/office/drawing/2014/main" id="{7FB49953-6CBB-499B-9914-371BDCE568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457950" y="6356351"/>
            <a:ext cx="2057400" cy="365125"/>
          </a:xfrm>
        </p:spPr>
        <p:txBody>
          <a:bodyPr/>
          <a:lstStyle/>
          <a:p>
            <a:fld id="{81C5FB71-5E9C-41B5-9BB8-3F1EBEAEB16A}" type="slidenum">
              <a:rPr lang="ru-RU" smtClean="0"/>
              <a:pPr/>
              <a:t>13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001160741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object 8"/>
          <p:cNvSpPr txBox="1">
            <a:spLocks noGrp="1"/>
          </p:cNvSpPr>
          <p:nvPr>
            <p:ph type="title"/>
          </p:nvPr>
        </p:nvSpPr>
        <p:spPr>
          <a:xfrm>
            <a:off x="838200" y="508425"/>
            <a:ext cx="7886700" cy="345223"/>
          </a:xfrm>
        </p:spPr>
        <p:txBody>
          <a:bodyPr vert="horz" wrap="square" lIns="0" tIns="12700" rIns="0" bIns="0" rtlCol="0">
            <a:spAutoFit/>
          </a:bodyPr>
          <a:lstStyle/>
          <a:p>
            <a:pPr algn="ctr"/>
            <a:r>
              <a:rPr lang="ru-RU" sz="2400" dirty="0"/>
              <a:t>Метрики качества линейных регрессионных моделей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3" name="Объект 12">
                <a:extLst>
                  <a:ext uri="{FF2B5EF4-FFF2-40B4-BE49-F238E27FC236}">
                    <a16:creationId xmlns:a16="http://schemas.microsoft.com/office/drawing/2014/main" id="{B5704FEA-EE22-494F-9F5A-65BD9F69DC51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pPr algn="l">
                  <a:buFont typeface="Arial" panose="020B0604020202020204" pitchFamily="34" charset="0"/>
                  <a:buChar char="•"/>
                </a:pPr>
                <a:r>
                  <a:rPr lang="ru-RU" b="0" i="0" dirty="0">
                    <a:solidFill>
                      <a:srgbClr val="333333"/>
                    </a:solidFill>
                    <a:effectLst/>
                    <a:latin typeface="Source Sans Pro" panose="020B0503030403020204" pitchFamily="34" charset="0"/>
                  </a:rPr>
                  <a:t>Среднеквадратичная ошибка </a:t>
                </a:r>
                <a:br>
                  <a:rPr lang="en-US" b="0" i="1" dirty="0">
                    <a:solidFill>
                      <a:srgbClr val="333333"/>
                    </a:solidFill>
                    <a:effectLst/>
                    <a:latin typeface="Cambria Math" panose="02040503050406030204" pitchFamily="18" charset="0"/>
                  </a:rPr>
                </a:br>
                <a14:m>
                  <m:oMath xmlns:m="http://schemas.openxmlformats.org/officeDocument/2006/math">
                    <m:r>
                      <a:rPr lang="en-US" b="0" i="1" dirty="0" smtClean="0">
                        <a:solidFill>
                          <a:srgbClr val="333333"/>
                        </a:solidFill>
                        <a:effectLst/>
                        <a:latin typeface="Cambria Math" panose="02040503050406030204" pitchFamily="18" charset="0"/>
                      </a:rPr>
                      <m:t>𝑀𝑆𝐸</m:t>
                    </m:r>
                    <m:r>
                      <a:rPr lang="ru-RU" b="0" i="1" dirty="0" smtClean="0">
                        <a:solidFill>
                          <a:srgbClr val="333333"/>
                        </a:solidFill>
                        <a:effectLst/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ctrlPr>
                          <a:rPr lang="en-US" b="0" i="1" dirty="0" smtClean="0">
                            <a:solidFill>
                              <a:srgbClr val="333333"/>
                            </a:solidFill>
                            <a:effectLst/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dirty="0" smtClean="0">
                            <a:solidFill>
                              <a:srgbClr val="333333"/>
                            </a:solidFill>
                            <a:effectLst/>
                            <a:latin typeface="Cambria Math" panose="02040503050406030204" pitchFamily="18" charset="0"/>
                          </a:rPr>
                          <m:t>1/</m:t>
                        </m:r>
                        <m:r>
                          <a:rPr lang="en-US" b="0" i="1" dirty="0" smtClean="0">
                            <a:solidFill>
                              <a:srgbClr val="333333"/>
                            </a:solidFill>
                            <a:effectLst/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</m:d>
                    <m:r>
                      <a:rPr lang="en-US" b="0" i="1" dirty="0" smtClean="0">
                        <a:solidFill>
                          <a:srgbClr val="333333"/>
                        </a:solidFill>
                        <a:effectLst/>
                        <a:latin typeface="Cambria Math" panose="02040503050406030204" pitchFamily="18" charset="0"/>
                      </a:rPr>
                      <m:t>⋅∑</m:t>
                    </m:r>
                    <m:sSup>
                      <m:sSupPr>
                        <m:ctrlPr>
                          <a:rPr lang="en-US" b="0" i="1" dirty="0" smtClean="0">
                            <a:solidFill>
                              <a:srgbClr val="333333"/>
                            </a:solidFill>
                            <a:effectLst/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en-US" b="0" i="1" dirty="0" smtClean="0">
                                <a:solidFill>
                                  <a:srgbClr val="333333"/>
                                </a:solidFill>
                                <a:effectLst/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acc>
                              <m:accPr>
                                <m:chr m:val="̂"/>
                                <m:ctrlPr>
                                  <a:rPr lang="en-US" b="0" i="1" dirty="0" smtClean="0">
                                    <a:solidFill>
                                      <a:srgbClr val="333333"/>
                                    </a:solidFill>
                                    <a:effectLst/>
                                    <a:latin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en-US" b="0" i="1" dirty="0" smtClean="0">
                                    <a:solidFill>
                                      <a:srgbClr val="333333"/>
                                    </a:solidFill>
                                    <a:effectLst/>
                                    <a:latin typeface="Cambria Math" panose="02040503050406030204" pitchFamily="18" charset="0"/>
                                  </a:rPr>
                                  <m:t>𝑦</m:t>
                                </m:r>
                              </m:e>
                            </m:acc>
                            <m:r>
                              <a:rPr lang="en-US" b="0" i="1" dirty="0" smtClean="0">
                                <a:solidFill>
                                  <a:srgbClr val="333333"/>
                                </a:solidFill>
                                <a:effectLst/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US" b="0" i="1" dirty="0" smtClean="0">
                                <a:solidFill>
                                  <a:srgbClr val="333333"/>
                                </a:solidFill>
                                <a:effectLst/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</m:d>
                      </m:e>
                      <m:sup>
                        <m:r>
                          <a:rPr lang="en-US" b="0" i="1" dirty="0" smtClean="0">
                            <a:solidFill>
                              <a:srgbClr val="333333"/>
                            </a:solidFill>
                            <a:effectLst/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endParaRPr lang="en-US" b="0" i="0" dirty="0">
                  <a:solidFill>
                    <a:srgbClr val="333333"/>
                  </a:solidFill>
                  <a:effectLst/>
                  <a:latin typeface="Source Sans Pro" panose="020B0503030403020204" pitchFamily="34" charset="0"/>
                </a:endParaRPr>
              </a:p>
              <a:p>
                <a:r>
                  <a:rPr lang="ru-RU" b="0" i="0" dirty="0">
                    <a:solidFill>
                      <a:srgbClr val="333333"/>
                    </a:solidFill>
                    <a:effectLst/>
                    <a:latin typeface="Source Sans Pro" panose="020B0503030403020204" pitchFamily="34" charset="0"/>
                  </a:rPr>
                  <a:t>Корень из среднеквадратичной ошибки </a:t>
                </a:r>
                <a:endParaRPr lang="en-US" b="0" i="1" dirty="0">
                  <a:solidFill>
                    <a:srgbClr val="333333"/>
                  </a:solidFill>
                  <a:effectLst/>
                  <a:latin typeface="Cambria Math" panose="02040503050406030204" pitchFamily="18" charset="0"/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dirty="0" smtClean="0">
                          <a:solidFill>
                            <a:srgbClr val="333333"/>
                          </a:solidFill>
                          <a:effectLst/>
                          <a:latin typeface="Cambria Math" panose="02040503050406030204" pitchFamily="18" charset="0"/>
                        </a:rPr>
                        <m:t>𝑅𝑀𝑆𝐸</m:t>
                      </m:r>
                      <m:r>
                        <a:rPr lang="en-US" b="0" i="1" dirty="0" smtClean="0">
                          <a:solidFill>
                            <a:srgbClr val="333333"/>
                          </a:solidFill>
                          <a:effectLst/>
                          <a:latin typeface="Cambria Math" panose="02040503050406030204" pitchFamily="18" charset="0"/>
                        </a:rPr>
                        <m:t>=</m:t>
                      </m:r>
                      <m:rad>
                        <m:radPr>
                          <m:degHide m:val="on"/>
                          <m:ctrlPr>
                            <a:rPr lang="en-US" b="0" i="1" dirty="0" smtClean="0">
                              <a:solidFill>
                                <a:srgbClr val="333333"/>
                              </a:solidFill>
                              <a:effectLst/>
                              <a:latin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d>
                            <m:dPr>
                              <m:ctrlPr>
                                <a:rPr lang="en-US" i="1" dirty="0">
                                  <a:solidFill>
                                    <a:srgbClr val="333333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i="1" dirty="0">
                                  <a:solidFill>
                                    <a:srgbClr val="333333"/>
                                  </a:solidFill>
                                  <a:latin typeface="Cambria Math" panose="02040503050406030204" pitchFamily="18" charset="0"/>
                                </a:rPr>
                                <m:t>1/</m:t>
                              </m:r>
                              <m:r>
                                <a:rPr lang="en-US" i="1" dirty="0">
                                  <a:solidFill>
                                    <a:srgbClr val="333333"/>
                                  </a:solidFill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e>
                          </m:d>
                          <m:r>
                            <a:rPr lang="en-US" i="1" dirty="0">
                              <a:solidFill>
                                <a:srgbClr val="333333"/>
                              </a:solidFill>
                              <a:latin typeface="Cambria Math" panose="02040503050406030204" pitchFamily="18" charset="0"/>
                            </a:rPr>
                            <m:t>⋅∑</m:t>
                          </m:r>
                          <m:sSup>
                            <m:sSupPr>
                              <m:ctrlPr>
                                <a:rPr lang="en-US" i="1" dirty="0">
                                  <a:solidFill>
                                    <a:srgbClr val="333333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lang="en-US" i="1" dirty="0">
                                      <a:solidFill>
                                        <a:srgbClr val="333333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acc>
                                    <m:accPr>
                                      <m:chr m:val="̂"/>
                                      <m:ctrlPr>
                                        <a:rPr lang="en-US" i="1" dirty="0">
                                          <a:solidFill>
                                            <a:srgbClr val="333333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accPr>
                                    <m:e>
                                      <m:r>
                                        <a:rPr lang="en-US" i="1" dirty="0">
                                          <a:solidFill>
                                            <a:srgbClr val="333333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𝑦</m:t>
                                      </m:r>
                                    </m:e>
                                  </m:acc>
                                  <m:r>
                                    <a:rPr lang="en-US" i="1" dirty="0">
                                      <a:solidFill>
                                        <a:srgbClr val="333333"/>
                                      </a:solidFill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r>
                                    <a:rPr lang="en-US" i="1" dirty="0">
                                      <a:solidFill>
                                        <a:srgbClr val="333333"/>
                                      </a:solidFill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</m:e>
                              </m:d>
                            </m:e>
                            <m:sup>
                              <m:r>
                                <a:rPr lang="en-US" i="1" dirty="0">
                                  <a:solidFill>
                                    <a:srgbClr val="333333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e>
                      </m:rad>
                    </m:oMath>
                  </m:oMathPara>
                </a14:m>
                <a:endParaRPr lang="en-US" b="0" i="0" dirty="0">
                  <a:solidFill>
                    <a:srgbClr val="333333"/>
                  </a:solidFill>
                  <a:effectLst/>
                  <a:latin typeface="Source Sans Pro" panose="020B0503030403020204" pitchFamily="34" charset="0"/>
                </a:endParaRPr>
              </a:p>
              <a:p>
                <a:r>
                  <a:rPr lang="ru-RU" b="0" i="0" dirty="0">
                    <a:effectLst/>
                    <a:latin typeface="Source Sans Pro" panose="020B0503030403020204" pitchFamily="34" charset="0"/>
                  </a:rPr>
                  <a:t>Среднеквадратичная ошибка в процентах </a:t>
                </a:r>
                <a:br>
                  <a:rPr lang="en-US" b="0" i="1" dirty="0">
                    <a:effectLst/>
                    <a:latin typeface="Cambria Math" panose="02040503050406030204" pitchFamily="18" charset="0"/>
                  </a:rPr>
                </a:br>
                <a14:m>
                  <m:oMath xmlns:m="http://schemas.openxmlformats.org/officeDocument/2006/math">
                    <m:r>
                      <a:rPr lang="en-US" b="0" i="1" dirty="0" smtClean="0">
                        <a:effectLst/>
                        <a:latin typeface="Cambria Math" panose="02040503050406030204" pitchFamily="18" charset="0"/>
                      </a:rPr>
                      <m:t>𝑀𝑆𝑃𝐸</m:t>
                    </m:r>
                    <m:r>
                      <a:rPr lang="en-US" b="0" i="1" dirty="0" smtClean="0">
                        <a:effectLst/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ctrlPr>
                          <a:rPr lang="en-US" i="1" dirty="0">
                            <a:solidFill>
                              <a:srgbClr val="333333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dirty="0" smtClean="0">
                            <a:solidFill>
                              <a:srgbClr val="333333"/>
                            </a:solidFill>
                            <a:latin typeface="Cambria Math" panose="02040503050406030204" pitchFamily="18" charset="0"/>
                          </a:rPr>
                          <m:t>100</m:t>
                        </m:r>
                        <m:r>
                          <a:rPr lang="en-US" i="1" dirty="0">
                            <a:solidFill>
                              <a:srgbClr val="333333"/>
                            </a:solidFill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en-US" i="1" dirty="0">
                            <a:solidFill>
                              <a:srgbClr val="333333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</m:d>
                    <m:r>
                      <a:rPr lang="en-US" i="1" dirty="0">
                        <a:solidFill>
                          <a:srgbClr val="333333"/>
                        </a:solidFill>
                        <a:latin typeface="Cambria Math" panose="02040503050406030204" pitchFamily="18" charset="0"/>
                      </a:rPr>
                      <m:t>⋅∑</m:t>
                    </m:r>
                    <m:sSup>
                      <m:sSupPr>
                        <m:ctrlPr>
                          <a:rPr lang="en-US" i="1" dirty="0">
                            <a:solidFill>
                              <a:srgbClr val="333333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en-US" i="1" dirty="0">
                                <a:solidFill>
                                  <a:srgbClr val="333333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acc>
                              <m:accPr>
                                <m:chr m:val="̂"/>
                                <m:ctrlPr>
                                  <a:rPr lang="en-US" i="1" dirty="0">
                                    <a:solidFill>
                                      <a:srgbClr val="333333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en-US" b="0" i="1" dirty="0" smtClean="0">
                                    <a:solidFill>
                                      <a:srgbClr val="333333"/>
                                    </a:solidFill>
                                    <a:latin typeface="Cambria Math" panose="02040503050406030204" pitchFamily="18" charset="0"/>
                                  </a:rPr>
                                  <m:t>(</m:t>
                                </m:r>
                                <m:r>
                                  <a:rPr lang="en-US" i="1" dirty="0">
                                    <a:solidFill>
                                      <a:srgbClr val="333333"/>
                                    </a:solidFill>
                                    <a:latin typeface="Cambria Math" panose="02040503050406030204" pitchFamily="18" charset="0"/>
                                  </a:rPr>
                                  <m:t>𝑦</m:t>
                                </m:r>
                              </m:e>
                            </m:acc>
                            <m:r>
                              <a:rPr lang="en-US" i="1" dirty="0">
                                <a:solidFill>
                                  <a:srgbClr val="333333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US" i="1" dirty="0">
                                <a:solidFill>
                                  <a:srgbClr val="333333"/>
                                </a:solidFill>
                                <a:latin typeface="Cambria Math" panose="02040503050406030204" pitchFamily="18" charset="0"/>
                              </a:rPr>
                              <m:t>𝑦</m:t>
                            </m:r>
                            <m:r>
                              <a:rPr lang="en-US" b="0" i="1" dirty="0" smtClean="0">
                                <a:solidFill>
                                  <a:srgbClr val="333333"/>
                                </a:solidFill>
                                <a:latin typeface="Cambria Math" panose="02040503050406030204" pitchFamily="18" charset="0"/>
                              </a:rPr>
                              <m:t>)/(</m:t>
                            </m:r>
                            <m:r>
                              <a:rPr lang="en-US" i="1" dirty="0">
                                <a:solidFill>
                                  <a:srgbClr val="333333"/>
                                </a:solidFill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</m:d>
                        <m:r>
                          <a:rPr lang="en-US" b="0" i="1" dirty="0" smtClean="0">
                            <a:solidFill>
                              <a:srgbClr val="333333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US" i="1" dirty="0">
                            <a:solidFill>
                              <a:srgbClr val="333333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endParaRPr lang="en-US" b="0" i="0" dirty="0">
                  <a:effectLst/>
                  <a:latin typeface="Source Sans Pro" panose="020B0503030403020204" pitchFamily="34" charset="0"/>
                </a:endParaRPr>
              </a:p>
              <a:p>
                <a:r>
                  <a:rPr lang="ru-RU" b="0" i="0" u="none" strike="noStrike" dirty="0">
                    <a:effectLst/>
                    <a:latin typeface="Source Sans Pro" panose="020B0503030403020204" pitchFamily="34" charset="0"/>
                  </a:rPr>
                  <a:t>Средняя абсолютная ошибка</a:t>
                </a:r>
                <a:r>
                  <a:rPr lang="ru-RU" b="0" i="0" dirty="0">
                    <a:effectLst/>
                    <a:latin typeface="Source Sans Pro" panose="020B0503030403020204" pitchFamily="34" charset="0"/>
                  </a:rPr>
                  <a:t> </a:t>
                </a:r>
                <a:endParaRPr lang="en-US" b="0" i="1" dirty="0">
                  <a:effectLst/>
                  <a:latin typeface="Cambria Math" panose="02040503050406030204" pitchFamily="18" charset="0"/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dirty="0" smtClean="0">
                          <a:effectLst/>
                          <a:latin typeface="Cambria Math" panose="02040503050406030204" pitchFamily="18" charset="0"/>
                        </a:rPr>
                        <m:t>𝑀𝐴𝐸</m:t>
                      </m:r>
                      <m:r>
                        <a:rPr lang="en-US" b="0" i="1" dirty="0" smtClean="0">
                          <a:effectLst/>
                          <a:latin typeface="Cambria Math" panose="02040503050406030204" pitchFamily="18" charset="0"/>
                        </a:rPr>
                        <m:t> = </m:t>
                      </m:r>
                      <m:d>
                        <m:dPr>
                          <m:ctrlPr>
                            <a:rPr lang="en-US" i="1" dirty="0">
                              <a:solidFill>
                                <a:srgbClr val="333333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i="1" dirty="0">
                              <a:solidFill>
                                <a:srgbClr val="333333"/>
                              </a:solidFill>
                              <a:latin typeface="Cambria Math" panose="02040503050406030204" pitchFamily="18" charset="0"/>
                            </a:rPr>
                            <m:t>1/</m:t>
                          </m:r>
                          <m:r>
                            <a:rPr lang="en-US" i="1" dirty="0">
                              <a:solidFill>
                                <a:srgbClr val="333333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</m:e>
                      </m:d>
                      <m:r>
                        <a:rPr lang="en-US" i="1" dirty="0">
                          <a:solidFill>
                            <a:srgbClr val="333333"/>
                          </a:solidFill>
                          <a:latin typeface="Cambria Math" panose="02040503050406030204" pitchFamily="18" charset="0"/>
                        </a:rPr>
                        <m:t>⋅∑</m:t>
                      </m:r>
                      <m:r>
                        <a:rPr lang="en-US" b="0" i="1" dirty="0" smtClean="0">
                          <a:solidFill>
                            <a:srgbClr val="333333"/>
                          </a:solidFill>
                          <a:latin typeface="Cambria Math" panose="02040503050406030204" pitchFamily="18" charset="0"/>
                        </a:rPr>
                        <m:t>|</m:t>
                      </m:r>
                      <m:acc>
                        <m:accPr>
                          <m:chr m:val="̂"/>
                          <m:ctrlPr>
                            <a:rPr lang="en-US" i="1" dirty="0">
                              <a:solidFill>
                                <a:srgbClr val="333333"/>
                              </a:solidFill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i="1" dirty="0">
                              <a:solidFill>
                                <a:srgbClr val="333333"/>
                              </a:solidFill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</m:acc>
                      <m:r>
                        <a:rPr lang="en-US" i="1" dirty="0">
                          <a:solidFill>
                            <a:srgbClr val="333333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US" i="1" dirty="0">
                          <a:solidFill>
                            <a:srgbClr val="333333"/>
                          </a:solidFill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n-US" b="0" i="1" dirty="0" smtClean="0">
                          <a:solidFill>
                            <a:srgbClr val="333333"/>
                          </a:solidFill>
                          <a:latin typeface="Cambria Math" panose="02040503050406030204" pitchFamily="18" charset="0"/>
                        </a:rPr>
                        <m:t>|</m:t>
                      </m:r>
                    </m:oMath>
                  </m:oMathPara>
                </a14:m>
                <a:endParaRPr lang="en-US" b="0" i="0" dirty="0">
                  <a:effectLst/>
                  <a:latin typeface="Source Sans Pro" panose="020B0503030403020204" pitchFamily="34" charset="0"/>
                </a:endParaRPr>
              </a:p>
              <a:p>
                <a:r>
                  <a:rPr lang="ru-RU" b="0" i="0" dirty="0">
                    <a:effectLst/>
                    <a:latin typeface="Source Sans Pro" panose="020B0503030403020204" pitchFamily="34" charset="0"/>
                  </a:rPr>
                  <a:t>Средняя абсолютная ошибка в процентах </a:t>
                </a:r>
                <a:br>
                  <a:rPr lang="en-US" b="0" i="1" dirty="0">
                    <a:effectLst/>
                    <a:latin typeface="Cambria Math" panose="02040503050406030204" pitchFamily="18" charset="0"/>
                  </a:rPr>
                </a:br>
                <a14:m>
                  <m:oMath xmlns:m="http://schemas.openxmlformats.org/officeDocument/2006/math">
                    <m:r>
                      <a:rPr lang="en-US" b="0" i="1" dirty="0" smtClean="0">
                        <a:effectLst/>
                        <a:latin typeface="Cambria Math" panose="02040503050406030204" pitchFamily="18" charset="0"/>
                      </a:rPr>
                      <m:t>𝑀𝐴𝑃𝐸</m:t>
                    </m:r>
                    <m:r>
                      <a:rPr lang="en-US" b="0" i="1" dirty="0" smtClean="0">
                        <a:effectLst/>
                        <a:latin typeface="Cambria Math" panose="02040503050406030204" pitchFamily="18" charset="0"/>
                      </a:rPr>
                      <m:t>= </m:t>
                    </m:r>
                    <m:d>
                      <m:dPr>
                        <m:ctrlPr>
                          <a:rPr lang="en-US" i="1" dirty="0">
                            <a:solidFill>
                              <a:srgbClr val="333333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 dirty="0">
                            <a:solidFill>
                              <a:srgbClr val="333333"/>
                            </a:solidFill>
                            <a:latin typeface="Cambria Math" panose="02040503050406030204" pitchFamily="18" charset="0"/>
                          </a:rPr>
                          <m:t>1/</m:t>
                        </m:r>
                        <m:r>
                          <a:rPr lang="en-US" i="1" dirty="0">
                            <a:solidFill>
                              <a:srgbClr val="333333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</m:d>
                    <m:r>
                      <a:rPr lang="en-US" i="1" dirty="0">
                        <a:solidFill>
                          <a:srgbClr val="333333"/>
                        </a:solidFill>
                        <a:latin typeface="Cambria Math" panose="02040503050406030204" pitchFamily="18" charset="0"/>
                      </a:rPr>
                      <m:t>⋅∑|</m:t>
                    </m:r>
                    <m:acc>
                      <m:accPr>
                        <m:chr m:val="̂"/>
                        <m:ctrlPr>
                          <a:rPr lang="en-US" i="1" dirty="0">
                            <a:solidFill>
                              <a:srgbClr val="333333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i="1" dirty="0">
                            <a:solidFill>
                              <a:srgbClr val="333333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</m:acc>
                    <m:r>
                      <a:rPr lang="en-US" i="1" dirty="0">
                        <a:solidFill>
                          <a:srgbClr val="333333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i="1" dirty="0">
                        <a:solidFill>
                          <a:srgbClr val="333333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US" i="1" dirty="0">
                        <a:solidFill>
                          <a:srgbClr val="333333"/>
                        </a:solidFill>
                        <a:latin typeface="Cambria Math" panose="02040503050406030204" pitchFamily="18" charset="0"/>
                      </a:rPr>
                      <m:t>|/|</m:t>
                    </m:r>
                    <m:r>
                      <a:rPr lang="en-US" b="0" i="1" dirty="0" smtClean="0">
                        <a:solidFill>
                          <a:srgbClr val="333333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US" b="0" i="1" dirty="0" smtClean="0">
                        <a:solidFill>
                          <a:srgbClr val="333333"/>
                        </a:solidFill>
                        <a:latin typeface="Cambria Math" panose="02040503050406030204" pitchFamily="18" charset="0"/>
                      </a:rPr>
                      <m:t>|</m:t>
                    </m:r>
                  </m:oMath>
                </a14:m>
                <a:endParaRPr lang="en-US" b="0" i="0" dirty="0">
                  <a:effectLst/>
                  <a:latin typeface="Source Sans Pro" panose="020B0503030403020204" pitchFamily="34" charset="0"/>
                </a:endParaRPr>
              </a:p>
              <a:p>
                <a:r>
                  <a:rPr lang="ru-RU" b="0" i="0" dirty="0">
                    <a:effectLst/>
                    <a:latin typeface="Source Sans Pro" panose="020B0503030403020204" pitchFamily="34" charset="0"/>
                  </a:rPr>
                  <a:t>Симметричная средняя абсолютная процентная ошибка </a:t>
                </a:r>
                <a:br>
                  <a:rPr lang="en-US" b="0" i="1" dirty="0">
                    <a:effectLst/>
                    <a:latin typeface="Cambria Math" panose="02040503050406030204" pitchFamily="18" charset="0"/>
                  </a:rPr>
                </a:br>
                <a14:m>
                  <m:oMath xmlns:m="http://schemas.openxmlformats.org/officeDocument/2006/math">
                    <m:r>
                      <a:rPr lang="en-US" b="0" i="1" dirty="0" smtClean="0">
                        <a:effectLst/>
                        <a:latin typeface="Cambria Math" panose="02040503050406030204" pitchFamily="18" charset="0"/>
                      </a:rPr>
                      <m:t>𝑆𝑀𝐴𝑃𝐸</m:t>
                    </m:r>
                    <m:r>
                      <a:rPr lang="en-US" b="0" i="1" dirty="0" smtClean="0">
                        <a:effectLst/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ctrlPr>
                          <a:rPr lang="en-US" i="1" dirty="0">
                            <a:solidFill>
                              <a:srgbClr val="333333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 dirty="0">
                            <a:solidFill>
                              <a:srgbClr val="333333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a:rPr lang="en-US" b="0" i="1" dirty="0" smtClean="0">
                            <a:solidFill>
                              <a:srgbClr val="333333"/>
                            </a:solidFill>
                            <a:latin typeface="Cambria Math" panose="02040503050406030204" pitchFamily="18" charset="0"/>
                          </a:rPr>
                          <m:t>00</m:t>
                        </m:r>
                        <m:r>
                          <a:rPr lang="en-US" i="1" dirty="0">
                            <a:solidFill>
                              <a:srgbClr val="333333"/>
                            </a:solidFill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en-US" i="1" dirty="0">
                            <a:solidFill>
                              <a:srgbClr val="333333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</m:d>
                    <m:r>
                      <a:rPr lang="en-US" i="1" dirty="0">
                        <a:solidFill>
                          <a:srgbClr val="333333"/>
                        </a:solidFill>
                        <a:latin typeface="Cambria Math" panose="02040503050406030204" pitchFamily="18" charset="0"/>
                      </a:rPr>
                      <m:t>⋅∑|</m:t>
                    </m:r>
                    <m:acc>
                      <m:accPr>
                        <m:chr m:val="̂"/>
                        <m:ctrlPr>
                          <a:rPr lang="en-US" i="1" dirty="0">
                            <a:solidFill>
                              <a:srgbClr val="333333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i="1" dirty="0">
                            <a:solidFill>
                              <a:srgbClr val="333333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</m:acc>
                    <m:r>
                      <a:rPr lang="en-US" i="1" dirty="0">
                        <a:solidFill>
                          <a:srgbClr val="333333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i="1" dirty="0">
                        <a:solidFill>
                          <a:srgbClr val="333333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US" i="1" dirty="0">
                        <a:solidFill>
                          <a:srgbClr val="333333"/>
                        </a:solidFill>
                        <a:latin typeface="Cambria Math" panose="02040503050406030204" pitchFamily="18" charset="0"/>
                      </a:rPr>
                      <m:t>|/</m:t>
                    </m:r>
                    <m:sSup>
                      <m:sSupPr>
                        <m:ctrlPr>
                          <a:rPr lang="en-US" b="0" i="1" dirty="0" smtClean="0">
                            <a:solidFill>
                              <a:srgbClr val="333333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en-US" b="0" i="1" dirty="0" smtClean="0">
                                <a:solidFill>
                                  <a:srgbClr val="333333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d>
                              <m:dPr>
                                <m:begChr m:val="|"/>
                                <m:endChr m:val="|"/>
                                <m:ctrlPr>
                                  <a:rPr lang="en-US" i="1" dirty="0">
                                    <a:solidFill>
                                      <a:srgbClr val="333333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i="1" dirty="0">
                                    <a:solidFill>
                                      <a:srgbClr val="333333"/>
                                    </a:solidFill>
                                    <a:latin typeface="Cambria Math" panose="02040503050406030204" pitchFamily="18" charset="0"/>
                                  </a:rPr>
                                  <m:t>𝑦</m:t>
                                </m:r>
                              </m:e>
                            </m:d>
                            <m:r>
                              <a:rPr lang="en-US" b="0" i="1" dirty="0" smtClean="0">
                                <a:solidFill>
                                  <a:srgbClr val="333333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d>
                              <m:dPr>
                                <m:begChr m:val="|"/>
                                <m:endChr m:val="|"/>
                                <m:ctrlPr>
                                  <a:rPr lang="en-US" b="0" i="1" dirty="0" smtClean="0">
                                    <a:solidFill>
                                      <a:srgbClr val="333333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acc>
                                  <m:accPr>
                                    <m:chr m:val="̂"/>
                                    <m:ctrlPr>
                                      <a:rPr lang="en-US" b="0" i="1" dirty="0" smtClean="0">
                                        <a:solidFill>
                                          <a:srgbClr val="333333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accPr>
                                  <m:e>
                                    <m:r>
                                      <a:rPr lang="en-US" b="0" i="1" dirty="0" smtClean="0">
                                        <a:solidFill>
                                          <a:srgbClr val="333333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𝑦</m:t>
                                    </m:r>
                                  </m:e>
                                </m:acc>
                              </m:e>
                            </m:d>
                          </m:e>
                        </m:d>
                      </m:e>
                      <m:sup>
                        <m:r>
                          <a:rPr lang="en-US" b="0" i="1" dirty="0" smtClean="0">
                            <a:solidFill>
                              <a:srgbClr val="333333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endParaRPr lang="en-US" b="0" i="0" dirty="0">
                  <a:effectLst/>
                  <a:latin typeface="Source Sans Pro" panose="020B0503030403020204" pitchFamily="34" charset="0"/>
                </a:endParaRPr>
              </a:p>
            </p:txBody>
          </p:sp>
        </mc:Choice>
        <mc:Fallback xmlns="">
          <p:sp>
            <p:nvSpPr>
              <p:cNvPr id="13" name="Объект 12">
                <a:extLst>
                  <a:ext uri="{FF2B5EF4-FFF2-40B4-BE49-F238E27FC236}">
                    <a16:creationId xmlns:a16="http://schemas.microsoft.com/office/drawing/2014/main" id="{B5704FEA-EE22-494F-9F5A-65BD9F69DC51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4"/>
                <a:stretch>
                  <a:fillRect l="-773" t="-1392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5" name="Нижний колонтитул 14">
            <a:extLst>
              <a:ext uri="{FF2B5EF4-FFF2-40B4-BE49-F238E27FC236}">
                <a16:creationId xmlns:a16="http://schemas.microsoft.com/office/drawing/2014/main" id="{AA8A4204-EF06-40BC-866B-4798F99B1F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028950" y="6356351"/>
            <a:ext cx="3086100" cy="365125"/>
          </a:xfrm>
        </p:spPr>
        <p:txBody>
          <a:bodyPr/>
          <a:lstStyle/>
          <a:p>
            <a:endParaRPr lang="ru-RU" dirty="0"/>
          </a:p>
        </p:txBody>
      </p:sp>
      <p:sp>
        <p:nvSpPr>
          <p:cNvPr id="16" name="Номер слайда 15">
            <a:extLst>
              <a:ext uri="{FF2B5EF4-FFF2-40B4-BE49-F238E27FC236}">
                <a16:creationId xmlns:a16="http://schemas.microsoft.com/office/drawing/2014/main" id="{7FB49953-6CBB-499B-9914-371BDCE568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457950" y="6356351"/>
            <a:ext cx="2057400" cy="365125"/>
          </a:xfrm>
        </p:spPr>
        <p:txBody>
          <a:bodyPr/>
          <a:lstStyle/>
          <a:p>
            <a:fld id="{81C5FB71-5E9C-41B5-9BB8-3F1EBEAEB16A}" type="slidenum">
              <a:rPr lang="ru-RU" smtClean="0"/>
              <a:pPr/>
              <a:t>14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494562602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>
          <a:extLst>
            <a:ext uri="{FF2B5EF4-FFF2-40B4-BE49-F238E27FC236}">
              <a16:creationId xmlns:a16="http://schemas.microsoft.com/office/drawing/2014/main" id="{FDD8BB17-AA2E-D734-3E54-F15BA8AC5E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object 8">
            <a:extLst>
              <a:ext uri="{FF2B5EF4-FFF2-40B4-BE49-F238E27FC236}">
                <a16:creationId xmlns:a16="http://schemas.microsoft.com/office/drawing/2014/main" id="{77141E1C-6CE1-7C9D-0581-945B3FC04357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838200" y="508425"/>
            <a:ext cx="7886700" cy="345223"/>
          </a:xfrm>
        </p:spPr>
        <p:txBody>
          <a:bodyPr vert="horz" wrap="square" lIns="0" tIns="12700" rIns="0" bIns="0" rtlCol="0">
            <a:spAutoFit/>
          </a:bodyPr>
          <a:lstStyle/>
          <a:p>
            <a:pPr algn="ctr"/>
            <a:r>
              <a:rPr lang="ru-RU" sz="2400" dirty="0"/>
              <a:t>Метрики качества линейных регрессионных моделей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3" name="Объект 12">
                <a:extLst>
                  <a:ext uri="{FF2B5EF4-FFF2-40B4-BE49-F238E27FC236}">
                    <a16:creationId xmlns:a16="http://schemas.microsoft.com/office/drawing/2014/main" id="{40BB228D-3DD1-490F-4166-56041ADDD033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pPr algn="l">
                  <a:buFont typeface="Arial" panose="020B0604020202020204" pitchFamily="34" charset="0"/>
                  <a:buChar char="•"/>
                </a:pPr>
                <a:r>
                  <a:rPr lang="ru-RU" b="0" i="0" dirty="0">
                    <a:effectLst/>
                    <a:latin typeface="Source Sans Pro" panose="020B0503030403020204" pitchFamily="34" charset="0"/>
                  </a:rPr>
                  <a:t>Средняя абсолютная масштабированная ошибка</a:t>
                </a:r>
                <a:r>
                  <a:rPr lang="en-US" b="0" i="0" dirty="0">
                    <a:effectLst/>
                    <a:latin typeface="Source Sans Pro" panose="020B0503030403020204" pitchFamily="34" charset="0"/>
                  </a:rPr>
                  <a:t> (</a:t>
                </a:r>
                <a:r>
                  <a:rPr lang="ru-RU" b="0" i="0" dirty="0">
                    <a:effectLst/>
                    <a:latin typeface="Source Sans Pro" panose="020B0503030403020204" pitchFamily="34" charset="0"/>
                  </a:rPr>
                  <a:t>между моделями</a:t>
                </a:r>
                <a:r>
                  <a:rPr lang="en-US" b="0" i="0" dirty="0">
                    <a:effectLst/>
                    <a:latin typeface="Source Sans Pro" panose="020B0503030403020204" pitchFamily="34" charset="0"/>
                  </a:rPr>
                  <a:t>)</a:t>
                </a:r>
                <a:r>
                  <a:rPr lang="ru-RU" b="0" i="0" dirty="0">
                    <a:effectLst/>
                    <a:latin typeface="Source Sans Pro" panose="020B0503030403020204" pitchFamily="34" charset="0"/>
                  </a:rPr>
                  <a:t> </a:t>
                </a:r>
                <a:endParaRPr lang="en-US" b="0" i="1" dirty="0">
                  <a:effectLst/>
                  <a:latin typeface="Cambria Math" panose="02040503050406030204" pitchFamily="18" charset="0"/>
                </a:endParaRPr>
              </a:p>
              <a:p>
                <a:pPr marL="0" indent="0" algn="l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dirty="0" smtClean="0">
                          <a:effectLst/>
                          <a:latin typeface="Cambria Math" panose="02040503050406030204" pitchFamily="18" charset="0"/>
                        </a:rPr>
                        <m:t>𝑀𝐴𝑆𝐸</m:t>
                      </m:r>
                      <m:r>
                        <a:rPr lang="en-US" b="0" i="1" dirty="0" smtClean="0">
                          <a:effectLst/>
                          <a:latin typeface="Cambria Math" panose="02040503050406030204" pitchFamily="18" charset="0"/>
                        </a:rPr>
                        <m:t> =</m:t>
                      </m:r>
                      <m:r>
                        <a:rPr lang="en-US" b="0" i="1" dirty="0" smtClean="0">
                          <a:effectLst/>
                          <a:latin typeface="Cambria Math" panose="02040503050406030204" pitchFamily="18" charset="0"/>
                        </a:rPr>
                        <m:t>𝑀𝐴</m:t>
                      </m:r>
                      <m:sSub>
                        <m:sSubPr>
                          <m:ctrlPr>
                            <a:rPr lang="en-US" b="0" i="1" dirty="0" smtClean="0">
                              <a:effectLst/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dirty="0" smtClean="0">
                              <a:effectLst/>
                              <a:latin typeface="Cambria Math" panose="02040503050406030204" pitchFamily="18" charset="0"/>
                            </a:rPr>
                            <m:t>𝐸</m:t>
                          </m:r>
                        </m:e>
                        <m:sub>
                          <m:r>
                            <a:rPr lang="en-US" b="0" i="1" dirty="0" smtClean="0">
                              <a:effectLst/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US" b="0" i="1" dirty="0" smtClean="0">
                          <a:effectLst/>
                          <a:latin typeface="Cambria Math" panose="02040503050406030204" pitchFamily="18" charset="0"/>
                        </a:rPr>
                        <m:t>/</m:t>
                      </m:r>
                      <m:r>
                        <a:rPr lang="en-US" b="0" i="1" dirty="0" smtClean="0">
                          <a:effectLst/>
                          <a:latin typeface="Cambria Math" panose="02040503050406030204" pitchFamily="18" charset="0"/>
                        </a:rPr>
                        <m:t>𝑀𝐴</m:t>
                      </m:r>
                      <m:sSub>
                        <m:sSubPr>
                          <m:ctrlPr>
                            <a:rPr lang="en-US" b="0" i="1" dirty="0" smtClean="0">
                              <a:effectLst/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dirty="0" smtClean="0">
                              <a:effectLst/>
                              <a:latin typeface="Cambria Math" panose="02040503050406030204" pitchFamily="18" charset="0"/>
                            </a:rPr>
                            <m:t>𝐸</m:t>
                          </m:r>
                        </m:e>
                        <m:sub>
                          <m:r>
                            <a:rPr lang="en-US" b="0" i="1" dirty="0" smtClean="0">
                              <a:effectLst/>
                              <a:latin typeface="Cambria Math" panose="02040503050406030204" pitchFamily="18" charset="0"/>
                            </a:rPr>
                            <m:t>𝑗</m:t>
                          </m:r>
                        </m:sub>
                      </m:sSub>
                    </m:oMath>
                  </m:oMathPara>
                </a14:m>
                <a:endParaRPr lang="en-US" b="0" i="0" dirty="0">
                  <a:effectLst/>
                  <a:latin typeface="Source Sans Pro" panose="020B0503030403020204" pitchFamily="34" charset="0"/>
                </a:endParaRPr>
              </a:p>
              <a:p>
                <a:pPr algn="l">
                  <a:buFont typeface="Arial" panose="020B0604020202020204" pitchFamily="34" charset="0"/>
                  <a:buChar char="•"/>
                </a:pPr>
                <a:r>
                  <a:rPr lang="ru-RU" b="0" i="0" dirty="0">
                    <a:effectLst/>
                    <a:latin typeface="Source Sans Pro" panose="020B0503030403020204" pitchFamily="34" charset="0"/>
                  </a:rPr>
                  <a:t>Средняя относительная ошибка </a:t>
                </a:r>
                <a:endParaRPr lang="en-US" b="0" i="1" dirty="0">
                  <a:effectLst/>
                  <a:latin typeface="Cambria Math" panose="02040503050406030204" pitchFamily="18" charset="0"/>
                </a:endParaRPr>
              </a:p>
              <a:p>
                <a:pPr marL="0" indent="0" algn="l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dirty="0" smtClean="0">
                          <a:effectLst/>
                          <a:latin typeface="Cambria Math" panose="02040503050406030204" pitchFamily="18" charset="0"/>
                        </a:rPr>
                        <m:t>𝑀𝑅𝐸</m:t>
                      </m:r>
                      <m:r>
                        <a:rPr lang="en-US" b="0" i="1" dirty="0" smtClean="0">
                          <a:effectLst/>
                          <a:latin typeface="Cambria Math" panose="02040503050406030204" pitchFamily="18" charset="0"/>
                        </a:rPr>
                        <m:t> =</m:t>
                      </m:r>
                      <m:d>
                        <m:dPr>
                          <m:ctrlPr>
                            <a:rPr lang="en-US" b="0" i="1" dirty="0" smtClean="0">
                              <a:effectLst/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dirty="0" smtClean="0">
                              <a:effectLst/>
                              <a:latin typeface="Cambria Math" panose="02040503050406030204" pitchFamily="18" charset="0"/>
                            </a:rPr>
                            <m:t>1/</m:t>
                          </m:r>
                          <m:r>
                            <a:rPr lang="en-US" b="0" i="1" dirty="0" smtClean="0">
                              <a:effectLst/>
                              <a:latin typeface="Cambria Math" panose="02040503050406030204" pitchFamily="18" charset="0"/>
                            </a:rPr>
                            <m:t>𝑛</m:t>
                          </m:r>
                        </m:e>
                      </m:d>
                      <m:r>
                        <a:rPr lang="en-US" b="0" i="1" dirty="0" smtClean="0">
                          <a:effectLst/>
                          <a:latin typeface="Cambria Math" panose="02040503050406030204" pitchFamily="18" charset="0"/>
                        </a:rPr>
                        <m:t>⋅</m:t>
                      </m:r>
                      <m:nary>
                        <m:naryPr>
                          <m:chr m:val="∑"/>
                          <m:ctrlPr>
                            <a:rPr lang="en-US" b="0" i="1" dirty="0" smtClean="0">
                              <a:effectLst/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US" b="0" i="1" dirty="0" smtClean="0">
                              <a:effectLst/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b="0" i="1" dirty="0" smtClean="0">
                              <a:effectLst/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en-US" b="0" i="1" dirty="0" smtClean="0">
                              <a:effectLst/>
                              <a:latin typeface="Cambria Math" panose="02040503050406030204" pitchFamily="18" charset="0"/>
                            </a:rPr>
                            <m:t>𝑛</m:t>
                          </m:r>
                        </m:sup>
                        <m:e>
                          <m:f>
                            <m:fPr>
                              <m:ctrlPr>
                                <a:rPr lang="en-US" b="0" i="1" dirty="0" smtClean="0">
                                  <a:effectLst/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b="0" i="1" dirty="0" smtClean="0">
                                  <a:effectLst/>
                                  <a:latin typeface="Cambria Math" panose="02040503050406030204" pitchFamily="18" charset="0"/>
                                </a:rPr>
                                <m:t>|</m:t>
                              </m:r>
                              <m:sSub>
                                <m:sSubPr>
                                  <m:ctrlPr>
                                    <a:rPr lang="en-US" b="0" i="1" dirty="0" smtClean="0">
                                      <a:effectLst/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acc>
                                    <m:accPr>
                                      <m:chr m:val="̂"/>
                                      <m:ctrlPr>
                                        <a:rPr lang="en-US" b="0" i="1" dirty="0" smtClean="0">
                                          <a:effectLst/>
                                          <a:latin typeface="Cambria Math" panose="02040503050406030204" pitchFamily="18" charset="0"/>
                                        </a:rPr>
                                      </m:ctrlPr>
                                    </m:accPr>
                                    <m:e>
                                      <m:r>
                                        <a:rPr lang="en-US" b="0" i="1" dirty="0" smtClean="0">
                                          <a:effectLst/>
                                          <a:latin typeface="Cambria Math" panose="02040503050406030204" pitchFamily="18" charset="0"/>
                                        </a:rPr>
                                        <m:t>𝑦</m:t>
                                      </m:r>
                                    </m:e>
                                  </m:acc>
                                </m:e>
                                <m:sub>
                                  <m:r>
                                    <a:rPr lang="en-US" b="0" i="1" dirty="0" smtClean="0">
                                      <a:effectLst/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  <m:r>
                                <a:rPr lang="en-US" b="0" i="1" dirty="0" smtClean="0">
                                  <a:effectLst/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sSub>
                                <m:sSubPr>
                                  <m:ctrlPr>
                                    <a:rPr lang="en-US" b="0" i="1" dirty="0" smtClean="0">
                                      <a:effectLst/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0" i="1" dirty="0" smtClean="0">
                                      <a:effectLst/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</m:e>
                                <m:sub>
                                  <m:r>
                                    <a:rPr lang="en-US" b="0" i="1" dirty="0" smtClean="0">
                                      <a:effectLst/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  <m:r>
                                <a:rPr lang="en-US" b="0" i="1" dirty="0" smtClean="0">
                                  <a:effectLst/>
                                  <a:latin typeface="Cambria Math" panose="02040503050406030204" pitchFamily="18" charset="0"/>
                                </a:rPr>
                                <m:t>|</m:t>
                              </m:r>
                            </m:num>
                            <m:den>
                              <m:r>
                                <a:rPr lang="en-US" b="0" i="1" dirty="0" smtClean="0">
                                  <a:effectLst/>
                                  <a:latin typeface="Cambria Math" panose="02040503050406030204" pitchFamily="18" charset="0"/>
                                </a:rPr>
                                <m:t>|</m:t>
                              </m:r>
                              <m:sSub>
                                <m:sSubPr>
                                  <m:ctrlPr>
                                    <a:rPr lang="en-US" b="0" i="1" dirty="0" smtClean="0">
                                      <a:effectLst/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0" i="1" dirty="0" smtClean="0">
                                      <a:effectLst/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</m:e>
                                <m:sub>
                                  <m:r>
                                    <a:rPr lang="en-US" b="0" i="1" dirty="0" smtClean="0">
                                      <a:effectLst/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  <m:r>
                                <a:rPr lang="en-US" b="0" i="1" dirty="0" smtClean="0">
                                  <a:effectLst/>
                                  <a:latin typeface="Cambria Math" panose="02040503050406030204" pitchFamily="18" charset="0"/>
                                </a:rPr>
                                <m:t>|</m:t>
                              </m:r>
                            </m:den>
                          </m:f>
                        </m:e>
                      </m:nary>
                    </m:oMath>
                  </m:oMathPara>
                </a14:m>
                <a:endParaRPr lang="en-US" b="0" i="0" dirty="0">
                  <a:effectLst/>
                  <a:latin typeface="Source Sans Pro" panose="020B0503030403020204" pitchFamily="34" charset="0"/>
                </a:endParaRPr>
              </a:p>
              <a:p>
                <a:pPr algn="l">
                  <a:buFont typeface="Arial" panose="020B0604020202020204" pitchFamily="34" charset="0"/>
                  <a:buChar char="•"/>
                </a:pPr>
                <a:r>
                  <a:rPr lang="ru-RU" b="0" i="0" dirty="0">
                    <a:effectLst/>
                    <a:latin typeface="Source Sans Pro" panose="020B0503030403020204" pitchFamily="34" charset="0"/>
                  </a:rPr>
                  <a:t>Среднеквадратичная логарифмическая ошибка</a:t>
                </a:r>
                <a:r>
                  <a:rPr lang="en-US" b="0" i="0" dirty="0">
                    <a:effectLst/>
                    <a:latin typeface="Source Sans Pro" panose="020B0503030403020204" pitchFamily="34" charset="0"/>
                  </a:rPr>
                  <a:t> 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dirty="0" smtClean="0">
                          <a:effectLst/>
                          <a:latin typeface="Cambria Math" panose="02040503050406030204" pitchFamily="18" charset="0"/>
                        </a:rPr>
                        <m:t>𝑅𝑀𝑆𝐿𝐸</m:t>
                      </m:r>
                      <m:r>
                        <a:rPr lang="en-US" b="0" i="0" dirty="0" smtClean="0">
                          <a:latin typeface="Cambria Math" panose="02040503050406030204" pitchFamily="18" charset="0"/>
                        </a:rPr>
                        <m:t>=</m:t>
                      </m:r>
                      <m:rad>
                        <m:radPr>
                          <m:degHide m:val="on"/>
                          <m:ctrlPr>
                            <a:rPr lang="en-US" b="0" i="1" dirty="0" smtClean="0">
                              <a:latin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d>
                            <m:dPr>
                              <m:ctrlPr>
                                <a:rPr lang="en-US" b="0" i="1" dirty="0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b="0" i="1" dirty="0" smtClean="0">
                                  <a:latin typeface="Cambria Math" panose="02040503050406030204" pitchFamily="18" charset="0"/>
                                </a:rPr>
                                <m:t>1/</m:t>
                              </m:r>
                              <m:r>
                                <a:rPr lang="en-US" b="0" i="1" dirty="0" smtClean="0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e>
                          </m:d>
                          <m:r>
                            <m:rPr>
                              <m:brk m:alnAt="23"/>
                            </m:rPr>
                            <a:rPr lang="en-US" b="0" i="1" dirty="0" smtClean="0">
                              <a:latin typeface="Cambria Math" panose="02040503050406030204" pitchFamily="18" charset="0"/>
                            </a:rPr>
                            <m:t>⋅</m:t>
                          </m:r>
                          <m:r>
                            <a:rPr lang="en-US" b="0" i="1" dirty="0" smtClean="0">
                              <a:latin typeface="Cambria Math" panose="02040503050406030204" pitchFamily="18" charset="0"/>
                            </a:rPr>
                            <m:t>∑</m:t>
                          </m:r>
                          <m:sSup>
                            <m:sSupPr>
                              <m:ctrlPr>
                                <a:rPr lang="en-US" i="1" dirty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lang="en-US" i="1" dirty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func>
                                    <m:funcPr>
                                      <m:ctrlPr>
                                        <a:rPr lang="en-US" i="1" dirty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funcPr>
                                    <m:fName>
                                      <m:r>
                                        <m:rPr>
                                          <m:sty m:val="p"/>
                                        </m:rPr>
                                        <a:rPr lang="en-US" dirty="0">
                                          <a:latin typeface="Cambria Math" panose="02040503050406030204" pitchFamily="18" charset="0"/>
                                        </a:rPr>
                                        <m:t>log</m:t>
                                      </m:r>
                                    </m:fName>
                                    <m:e>
                                      <m:d>
                                        <m:dPr>
                                          <m:ctrlPr>
                                            <a:rPr lang="en-US" i="1" dirty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dPr>
                                        <m:e>
                                          <m:sSub>
                                            <m:sSubPr>
                                              <m:ctrlPr>
                                                <a:rPr lang="en-US" i="1" dirty="0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sSubPr>
                                            <m:e>
                                              <m:acc>
                                                <m:accPr>
                                                  <m:chr m:val="̂"/>
                                                  <m:ctrlPr>
                                                    <a:rPr lang="en-US" i="1" dirty="0">
                                                      <a:latin typeface="Cambria Math" panose="02040503050406030204" pitchFamily="18" charset="0"/>
                                                    </a:rPr>
                                                  </m:ctrlPr>
                                                </m:accPr>
                                                <m:e>
                                                  <m:r>
                                                    <a:rPr lang="en-US" i="1" dirty="0">
                                                      <a:latin typeface="Cambria Math" panose="02040503050406030204" pitchFamily="18" charset="0"/>
                                                    </a:rPr>
                                                    <m:t>𝑦</m:t>
                                                  </m:r>
                                                </m:e>
                                              </m:acc>
                                            </m:e>
                                            <m:sub>
                                              <m:r>
                                                <a:rPr lang="en-US" i="1" dirty="0">
                                                  <a:latin typeface="Cambria Math" panose="02040503050406030204" pitchFamily="18" charset="0"/>
                                                </a:rPr>
                                                <m:t>𝑖</m:t>
                                              </m:r>
                                            </m:sub>
                                          </m:sSub>
                                          <m:r>
                                            <a:rPr lang="en-US" i="1" dirty="0">
                                              <a:latin typeface="Cambria Math" panose="02040503050406030204" pitchFamily="18" charset="0"/>
                                            </a:rPr>
                                            <m:t>+1</m:t>
                                          </m:r>
                                        </m:e>
                                      </m:d>
                                    </m:e>
                                  </m:func>
                                  <m:r>
                                    <a:rPr lang="en-US" i="1" dirty="0"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func>
                                    <m:funcPr>
                                      <m:ctrlPr>
                                        <a:rPr lang="en-US" i="1" dirty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funcPr>
                                    <m:fName>
                                      <m:r>
                                        <m:rPr>
                                          <m:sty m:val="p"/>
                                        </m:rPr>
                                        <a:rPr lang="en-US" dirty="0">
                                          <a:latin typeface="Cambria Math" panose="02040503050406030204" pitchFamily="18" charset="0"/>
                                        </a:rPr>
                                        <m:t>log</m:t>
                                      </m:r>
                                    </m:fName>
                                    <m:e>
                                      <m:d>
                                        <m:dPr>
                                          <m:ctrlPr>
                                            <a:rPr lang="en-US" i="1" dirty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dPr>
                                        <m:e>
                                          <m:sSub>
                                            <m:sSubPr>
                                              <m:ctrlPr>
                                                <a:rPr lang="en-US" i="1" dirty="0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sSubPr>
                                            <m:e>
                                              <m:r>
                                                <a:rPr lang="en-US" i="1" dirty="0">
                                                  <a:latin typeface="Cambria Math" panose="02040503050406030204" pitchFamily="18" charset="0"/>
                                                </a:rPr>
                                                <m:t>𝑦</m:t>
                                              </m:r>
                                            </m:e>
                                            <m:sub>
                                              <m:r>
                                                <a:rPr lang="en-US" i="1" dirty="0">
                                                  <a:latin typeface="Cambria Math" panose="02040503050406030204" pitchFamily="18" charset="0"/>
                                                </a:rPr>
                                                <m:t>𝑖</m:t>
                                              </m:r>
                                            </m:sub>
                                          </m:sSub>
                                          <m:r>
                                            <a:rPr lang="en-US" i="1" dirty="0">
                                              <a:latin typeface="Cambria Math" panose="02040503050406030204" pitchFamily="18" charset="0"/>
                                            </a:rPr>
                                            <m:t>+1</m:t>
                                          </m:r>
                                        </m:e>
                                      </m:d>
                                    </m:e>
                                  </m:func>
                                </m:e>
                              </m:d>
                            </m:e>
                            <m:sup>
                              <m:r>
                                <a:rPr lang="en-US" i="1" dirty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e>
                      </m:rad>
                    </m:oMath>
                  </m:oMathPara>
                </a14:m>
                <a:endParaRPr lang="en-US" b="0" i="0" dirty="0">
                  <a:effectLst/>
                  <a:latin typeface="Source Sans Pro" panose="020B0503030403020204" pitchFamily="34" charset="0"/>
                </a:endParaRPr>
              </a:p>
              <a:p>
                <a:pPr algn="l">
                  <a:buFont typeface="Arial" panose="020B0604020202020204" pitchFamily="34" charset="0"/>
                  <a:buChar char="•"/>
                </a:pPr>
                <a:r>
                  <a:rPr lang="ru-RU" b="0" i="0" u="none" strike="noStrike" dirty="0">
                    <a:effectLst/>
                    <a:latin typeface="Source Sans Pro" panose="020B0503030403020204" pitchFamily="34" charset="0"/>
                  </a:rPr>
                  <a:t>Коэффициент детерминации </a:t>
                </a:r>
                <a:r>
                  <a:rPr lang="en-US" b="0" i="1" dirty="0">
                    <a:effectLst/>
                    <a:latin typeface="KaTeX_Math"/>
                  </a:rPr>
                  <a:t>R</a:t>
                </a:r>
                <a:r>
                  <a:rPr lang="en-US" b="0" i="0" dirty="0">
                    <a:effectLst/>
                    <a:latin typeface="Source Sans Pro" panose="020B0503030403020204" pitchFamily="34" charset="0"/>
                  </a:rPr>
                  <a:t>-</a:t>
                </a:r>
                <a:r>
                  <a:rPr lang="ru-RU" b="0" i="0" dirty="0">
                    <a:effectLst/>
                    <a:latin typeface="Source Sans Pro" panose="020B0503030403020204" pitchFamily="34" charset="0"/>
                  </a:rPr>
                  <a:t>квадрат</a:t>
                </a:r>
                <a:endParaRPr lang="en-US" b="0" i="0" dirty="0">
                  <a:effectLst/>
                  <a:latin typeface="Source Sans Pro" panose="020B0503030403020204" pitchFamily="34" charset="0"/>
                </a:endParaRPr>
              </a:p>
              <a:p>
                <a:pPr marL="0" indent="0" algn="l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b="0" i="1" smtClean="0">
                              <a:effectLst/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0" i="1" smtClean="0">
                              <a:effectLst/>
                              <a:latin typeface="Cambria Math" panose="02040503050406030204" pitchFamily="18" charset="0"/>
                            </a:rPr>
                            <m:t>𝑅</m:t>
                          </m:r>
                        </m:e>
                        <m:sup>
                          <m:r>
                            <a:rPr lang="en-US" b="0" i="1" smtClean="0">
                              <a:effectLst/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b="0" i="1" smtClean="0">
                          <a:effectLst/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0" i="0" smtClean="0">
                          <a:effectLst/>
                          <a:latin typeface="Cambria Math" panose="02040503050406030204" pitchFamily="18" charset="0"/>
                        </a:rPr>
                        <m:t>1−</m:t>
                      </m:r>
                      <m:r>
                        <a:rPr lang="en-US" b="0" i="1" smtClean="0">
                          <a:effectLst/>
                          <a:latin typeface="Cambria Math" panose="02040503050406030204" pitchFamily="18" charset="0"/>
                        </a:rPr>
                        <m:t>∑</m:t>
                      </m:r>
                      <m:sSup>
                        <m:sSupPr>
                          <m:ctrlPr>
                            <a:rPr lang="en-US" b="0" i="1" smtClean="0">
                              <a:effectLst/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US" b="0" i="1" smtClean="0">
                                  <a:effectLst/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acc>
                                <m:accPr>
                                  <m:chr m:val="̂"/>
                                  <m:ctrlPr>
                                    <a:rPr lang="en-US" b="0" i="1" smtClean="0">
                                      <a:effectLst/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sSub>
                                    <m:sSubPr>
                                      <m:ctrlPr>
                                        <a:rPr lang="en-US" b="0" i="1" smtClean="0">
                                          <a:effectLst/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b="0" i="1" smtClean="0">
                                          <a:effectLst/>
                                          <a:latin typeface="Cambria Math" panose="02040503050406030204" pitchFamily="18" charset="0"/>
                                        </a:rPr>
                                        <m:t>𝑦</m:t>
                                      </m:r>
                                    </m:e>
                                    <m:sub>
                                      <m:r>
                                        <a:rPr lang="en-US" b="0" i="1" smtClean="0">
                                          <a:effectLst/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</m:sub>
                                  </m:sSub>
                                </m:e>
                              </m:acc>
                              <m:r>
                                <a:rPr lang="en-US" b="0" i="1" smtClean="0">
                                  <a:effectLst/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sSub>
                                <m:sSubPr>
                                  <m:ctrlPr>
                                    <a:rPr lang="en-US" b="0" i="1" smtClean="0">
                                      <a:effectLst/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0" i="1" smtClean="0">
                                      <a:effectLst/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effectLst/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</m:e>
                          </m:d>
                        </m:e>
                        <m:sup>
                          <m:r>
                            <a:rPr lang="en-US" b="0" i="1" smtClean="0">
                              <a:effectLst/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b="0" i="1" smtClean="0">
                          <a:effectLst/>
                          <a:latin typeface="Cambria Math" panose="02040503050406030204" pitchFamily="18" charset="0"/>
                        </a:rPr>
                        <m:t>/∑</m:t>
                      </m:r>
                      <m:sSup>
                        <m:sSupPr>
                          <m:ctrlPr>
                            <a:rPr lang="en-US" b="0" i="1" smtClean="0">
                              <a:effectLst/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US" b="0" i="1" smtClean="0">
                                  <a:effectLst/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bar>
                                <m:barPr>
                                  <m:pos m:val="top"/>
                                  <m:ctrlPr>
                                    <a:rPr lang="en-US" b="0" i="1" smtClean="0">
                                      <a:effectLst/>
                                      <a:latin typeface="Cambria Math" panose="02040503050406030204" pitchFamily="18" charset="0"/>
                                    </a:rPr>
                                  </m:ctrlPr>
                                </m:barPr>
                                <m:e>
                                  <m:sSub>
                                    <m:sSubPr>
                                      <m:ctrlPr>
                                        <a:rPr lang="en-US" b="0" i="1" smtClean="0">
                                          <a:effectLst/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b="0" i="1" smtClean="0">
                                          <a:effectLst/>
                                          <a:latin typeface="Cambria Math" panose="02040503050406030204" pitchFamily="18" charset="0"/>
                                        </a:rPr>
                                        <m:t>𝑦</m:t>
                                      </m:r>
                                    </m:e>
                                    <m:sub>
                                      <m:r>
                                        <a:rPr lang="en-US" b="0" i="1" smtClean="0">
                                          <a:effectLst/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</m:sub>
                                  </m:sSub>
                                </m:e>
                              </m:bar>
                              <m:r>
                                <a:rPr lang="en-US" b="0" i="1" smtClean="0">
                                  <a:effectLst/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sSub>
                                <m:sSubPr>
                                  <m:ctrlPr>
                                    <a:rPr lang="en-US" b="0" i="1" smtClean="0">
                                      <a:effectLst/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0" i="1" smtClean="0">
                                      <a:effectLst/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effectLst/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</m:e>
                          </m:d>
                        </m:e>
                        <m:sup>
                          <m:r>
                            <a:rPr lang="en-US" b="0" i="1" smtClean="0">
                              <a:effectLst/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</m:oMath>
                  </m:oMathPara>
                </a14:m>
                <a:endParaRPr lang="ru-RU" b="0" i="0" dirty="0">
                  <a:effectLst/>
                  <a:latin typeface="Source Sans Pro" panose="020B0503030403020204" pitchFamily="34" charset="0"/>
                </a:endParaRPr>
              </a:p>
              <a:p>
                <a:pPr algn="l">
                  <a:buFont typeface="Arial" panose="020B0604020202020204" pitchFamily="34" charset="0"/>
                  <a:buChar char="•"/>
                </a:pPr>
                <a:r>
                  <a:rPr lang="ru-RU" b="0" i="0" u="none" strike="noStrike" dirty="0">
                    <a:effectLst/>
                    <a:latin typeface="Source Sans Pro" panose="020B0503030403020204" pitchFamily="34" charset="0"/>
                  </a:rPr>
                  <a:t>Скорректированный коэффициент детерминации</a:t>
                </a:r>
                <a:endParaRPr lang="en-US" u="none" strike="noStrike" dirty="0">
                  <a:latin typeface="Source Sans Pro" panose="020B0503030403020204" pitchFamily="34" charset="0"/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b="0" i="1" smtClean="0">
                              <a:effectLst/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b="0" i="1" smtClean="0">
                              <a:effectLst/>
                              <a:latin typeface="Cambria Math" panose="02040503050406030204" pitchFamily="18" charset="0"/>
                            </a:rPr>
                            <m:t>𝑅</m:t>
                          </m:r>
                        </m:e>
                        <m:sub>
                          <m:r>
                            <a:rPr lang="en-US" b="0" i="1" smtClean="0">
                              <a:effectLst/>
                              <a:latin typeface="Cambria Math" panose="02040503050406030204" pitchFamily="18" charset="0"/>
                            </a:rPr>
                            <m:t>𝑎𝑑𝑗</m:t>
                          </m:r>
                        </m:sub>
                        <m:sup>
                          <m:r>
                            <a:rPr lang="en-US" b="0" i="1" smtClean="0">
                              <a:effectLst/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bSup>
                      <m:r>
                        <a:rPr lang="en-US" b="0" i="1" smtClean="0">
                          <a:effectLst/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>
                          <a:latin typeface="Cambria Math" panose="02040503050406030204" pitchFamily="18" charset="0"/>
                        </a:rPr>
                        <m:t>1−</m:t>
                      </m:r>
                      <m:f>
                        <m:f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∑</m:t>
                          </m:r>
                          <m:sSup>
                            <m:sSup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acc>
                                    <m:accPr>
                                      <m:chr m:val="̂"/>
                                      <m:ctrlP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accPr>
                                    <m:e>
                                      <m:sSub>
                                        <m:sSubPr>
                                          <m:ctrlP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  <m:t>𝑦</m:t>
                                          </m:r>
                                        </m:e>
                                        <m:sub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  <m:t>𝑖</m:t>
                                          </m:r>
                                        </m:sub>
                                      </m:sSub>
                                    </m:e>
                                  </m:acc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sSub>
                                    <m:sSubPr>
                                      <m:ctrlP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𝑦</m:t>
                                      </m:r>
                                    </m:e>
                                    <m:sub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</m:sub>
                                  </m:sSub>
                                </m:e>
                              </m:d>
                            </m:e>
                            <m:sup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num>
                        <m:den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∑</m:t>
                          </m:r>
                          <m:sSup>
                            <m:sSup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bar>
                                    <m:barPr>
                                      <m:pos m:val="top"/>
                                      <m:ctrlP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barPr>
                                    <m:e>
                                      <m:sSub>
                                        <m:sSubPr>
                                          <m:ctrlP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  <m:t>𝑦</m:t>
                                          </m:r>
                                        </m:e>
                                        <m:sub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  <m:t>𝑖</m:t>
                                          </m:r>
                                        </m:sub>
                                      </m:sSub>
                                    </m:e>
                                  </m:bar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sSub>
                                    <m:sSubPr>
                                      <m:ctrlP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𝑦</m:t>
                                      </m:r>
                                    </m:e>
                                    <m:sub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</m:sub>
                                  </m:sSub>
                                </m:e>
                              </m:d>
                            </m:e>
                            <m:sup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den>
                      </m:f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⋅</m:t>
                      </m:r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−1)</m:t>
                          </m:r>
                        </m:num>
                        <m:den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𝑘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)</m:t>
                          </m:r>
                        </m:den>
                      </m:f>
                    </m:oMath>
                  </m:oMathPara>
                </a14:m>
                <a:endParaRPr lang="ru-RU" dirty="0">
                  <a:latin typeface="Source Sans Pro" panose="020B0503030403020204" pitchFamily="34" charset="0"/>
                </a:endParaRPr>
              </a:p>
              <a:p>
                <a:pPr marL="0" indent="0" algn="l">
                  <a:buNone/>
                </a:pPr>
                <a:endParaRPr lang="ru-RU" b="0" i="0" dirty="0">
                  <a:effectLst/>
                  <a:latin typeface="Source Sans Pro" panose="020B0503030403020204" pitchFamily="34" charset="0"/>
                </a:endParaRPr>
              </a:p>
              <a:p>
                <a:pPr marL="0" indent="0" algn="just">
                  <a:buNone/>
                </a:pPr>
                <a:endParaRPr lang="ru-RU" dirty="0"/>
              </a:p>
            </p:txBody>
          </p:sp>
        </mc:Choice>
        <mc:Fallback xmlns="">
          <p:sp>
            <p:nvSpPr>
              <p:cNvPr id="13" name="Объект 12">
                <a:extLst>
                  <a:ext uri="{FF2B5EF4-FFF2-40B4-BE49-F238E27FC236}">
                    <a16:creationId xmlns:a16="http://schemas.microsoft.com/office/drawing/2014/main" id="{40BB228D-3DD1-490F-4166-56041ADDD033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4"/>
                <a:stretch>
                  <a:fillRect l="-773" t="-1392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5" name="Нижний колонтитул 14">
            <a:extLst>
              <a:ext uri="{FF2B5EF4-FFF2-40B4-BE49-F238E27FC236}">
                <a16:creationId xmlns:a16="http://schemas.microsoft.com/office/drawing/2014/main" id="{CA7049A8-B525-1A6E-F938-40A70C346D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028950" y="6356351"/>
            <a:ext cx="3086100" cy="365125"/>
          </a:xfrm>
        </p:spPr>
        <p:txBody>
          <a:bodyPr/>
          <a:lstStyle/>
          <a:p>
            <a:endParaRPr lang="ru-RU" dirty="0"/>
          </a:p>
        </p:txBody>
      </p:sp>
      <p:sp>
        <p:nvSpPr>
          <p:cNvPr id="16" name="Номер слайда 15">
            <a:extLst>
              <a:ext uri="{FF2B5EF4-FFF2-40B4-BE49-F238E27FC236}">
                <a16:creationId xmlns:a16="http://schemas.microsoft.com/office/drawing/2014/main" id="{190E7977-4D08-0670-866A-2D0A026188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457950" y="6356351"/>
            <a:ext cx="2057400" cy="365125"/>
          </a:xfrm>
        </p:spPr>
        <p:txBody>
          <a:bodyPr/>
          <a:lstStyle/>
          <a:p>
            <a:fld id="{81C5FB71-5E9C-41B5-9BB8-3F1EBEAEB16A}" type="slidenum">
              <a:rPr lang="ru-RU" smtClean="0"/>
              <a:pPr/>
              <a:t>15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14434195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object 8"/>
          <p:cNvSpPr txBox="1">
            <a:spLocks noGrp="1"/>
          </p:cNvSpPr>
          <p:nvPr>
            <p:ph type="title"/>
          </p:nvPr>
        </p:nvSpPr>
        <p:spPr>
          <a:xfrm>
            <a:off x="1000124" y="20411"/>
            <a:ext cx="7886700" cy="345223"/>
          </a:xfrm>
        </p:spPr>
        <p:txBody>
          <a:bodyPr vert="horz" wrap="square" lIns="0" tIns="12700" rIns="0" bIns="0" rtlCol="0">
            <a:spAutoFit/>
          </a:bodyPr>
          <a:lstStyle/>
          <a:p>
            <a:pPr algn="ctr"/>
            <a:r>
              <a:rPr lang="ru-RU" sz="2400" dirty="0"/>
              <a:t>Метрики качества линейных регрессионных моделей</a:t>
            </a:r>
          </a:p>
        </p:txBody>
      </p:sp>
      <p:graphicFrame>
        <p:nvGraphicFramePr>
          <p:cNvPr id="3" name="Объект 2">
            <a:extLst>
              <a:ext uri="{FF2B5EF4-FFF2-40B4-BE49-F238E27FC236}">
                <a16:creationId xmlns:a16="http://schemas.microsoft.com/office/drawing/2014/main" id="{9BA4049B-91A3-4035-A37F-E04E30B3314B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635107778"/>
              </p:ext>
            </p:extLst>
          </p:nvPr>
        </p:nvGraphicFramePr>
        <p:xfrm>
          <a:off x="628650" y="457200"/>
          <a:ext cx="8296275" cy="6074697"/>
        </p:xfrm>
        <a:graphic>
          <a:graphicData uri="http://schemas.openxmlformats.org/drawingml/2006/table">
            <a:tbl>
              <a:tblPr/>
              <a:tblGrid>
                <a:gridCol w="666750">
                  <a:extLst>
                    <a:ext uri="{9D8B030D-6E8A-4147-A177-3AD203B41FA5}">
                      <a16:colId xmlns:a16="http://schemas.microsoft.com/office/drawing/2014/main" val="2090287290"/>
                    </a:ext>
                  </a:extLst>
                </a:gridCol>
                <a:gridCol w="3795195">
                  <a:extLst>
                    <a:ext uri="{9D8B030D-6E8A-4147-A177-3AD203B41FA5}">
                      <a16:colId xmlns:a16="http://schemas.microsoft.com/office/drawing/2014/main" val="1186863528"/>
                    </a:ext>
                  </a:extLst>
                </a:gridCol>
                <a:gridCol w="3834330">
                  <a:extLst>
                    <a:ext uri="{9D8B030D-6E8A-4147-A177-3AD203B41FA5}">
                      <a16:colId xmlns:a16="http://schemas.microsoft.com/office/drawing/2014/main" val="4288098143"/>
                    </a:ext>
                  </a:extLst>
                </a:gridCol>
              </a:tblGrid>
              <a:tr h="254899"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/>
                        </a:rPr>
                        <a:t>Мера</a:t>
                      </a:r>
                    </a:p>
                  </a:txBody>
                  <a:tcPr marL="38077" marR="38077" marT="50770" marB="50770" anchor="ctr">
                    <a:lnL>
                      <a:noFill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/>
                        </a:rPr>
                        <a:t>Сильные стороны</a:t>
                      </a:r>
                    </a:p>
                  </a:txBody>
                  <a:tcPr marL="38077" marR="38077" marT="50770" marB="50770" anchor="ctr">
                    <a:lnL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/>
                        </a:rPr>
                        <a:t>Слабые стороны</a:t>
                      </a:r>
                    </a:p>
                  </a:txBody>
                  <a:tcPr marL="38077" marR="38077" marT="50770" marB="50770" anchor="ctr">
                    <a:lnL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35708812"/>
                  </a:ext>
                </a:extLst>
              </a:tr>
              <a:tr h="572391">
                <a:tc>
                  <a:txBody>
                    <a:bodyPr/>
                    <a:lstStyle/>
                    <a:p>
                      <a:pPr algn="l" fontAlgn="ctr"/>
                      <a:r>
                        <a:rPr lang="en-US" sz="1000" b="1" dirty="0">
                          <a:solidFill>
                            <a:srgbClr val="333333"/>
                          </a:solidFill>
                          <a:effectLst/>
                        </a:rPr>
                        <a:t>MSE</a:t>
                      </a:r>
                    </a:p>
                  </a:txBody>
                  <a:tcPr marL="38077" marR="38077" marT="50770" marB="50770" anchor="ctr">
                    <a:lnL>
                      <a:noFill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BFB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ru-RU" sz="1100" dirty="0">
                          <a:solidFill>
                            <a:srgbClr val="333333"/>
                          </a:solidFill>
                          <a:effectLst/>
                        </a:rPr>
                        <a:t>Позволяет подчеркнуть большие отклонения, простота вычисления.</a:t>
                      </a:r>
                    </a:p>
                  </a:txBody>
                  <a:tcPr marL="38077" marR="38077" marT="50770" marB="50770" anchor="ctr">
                    <a:lnL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BFB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ru-RU" sz="1100" dirty="0">
                          <a:solidFill>
                            <a:srgbClr val="333333"/>
                          </a:solidFill>
                          <a:effectLst/>
                        </a:rPr>
                        <a:t>Имеет тенденцию занижать качество модели, чувствительна к выбросам. Сложность интерпретации из-за квадратичной зависимости.</a:t>
                      </a:r>
                    </a:p>
                  </a:txBody>
                  <a:tcPr marL="38077" marR="38077" marT="50770" marB="50770" anchor="ctr">
                    <a:lnL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B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70652281"/>
                  </a:ext>
                </a:extLst>
              </a:tr>
              <a:tr h="413645">
                <a:tc>
                  <a:txBody>
                    <a:bodyPr/>
                    <a:lstStyle/>
                    <a:p>
                      <a:pPr algn="l" fontAlgn="ctr"/>
                      <a:r>
                        <a:rPr lang="en-US" sz="1000" b="1" dirty="0">
                          <a:solidFill>
                            <a:srgbClr val="333333"/>
                          </a:solidFill>
                          <a:effectLst/>
                        </a:rPr>
                        <a:t>RMSE</a:t>
                      </a:r>
                    </a:p>
                  </a:txBody>
                  <a:tcPr marL="38077" marR="38077" marT="50770" marB="50770" anchor="ctr">
                    <a:lnL>
                      <a:noFill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BFB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ru-RU" sz="1100" dirty="0">
                          <a:solidFill>
                            <a:srgbClr val="333333"/>
                          </a:solidFill>
                          <a:effectLst/>
                        </a:rPr>
                        <a:t>Простота интерпретации, поскольку измеряется в тех же единицах, что и целевая переменная.</a:t>
                      </a:r>
                    </a:p>
                  </a:txBody>
                  <a:tcPr marL="38077" marR="38077" marT="50770" marB="50770" anchor="ctr">
                    <a:lnL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BFB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ru-RU" sz="1100">
                          <a:solidFill>
                            <a:srgbClr val="333333"/>
                          </a:solidFill>
                          <a:effectLst/>
                        </a:rPr>
                        <a:t>Имеет тенденцию занижать качество модели, чувствительна к выбросам.</a:t>
                      </a:r>
                    </a:p>
                  </a:txBody>
                  <a:tcPr marL="38077" marR="38077" marT="50770" marB="50770" anchor="ctr">
                    <a:lnL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B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88074657"/>
                  </a:ext>
                </a:extLst>
              </a:tr>
              <a:tr h="572391">
                <a:tc>
                  <a:txBody>
                    <a:bodyPr/>
                    <a:lstStyle/>
                    <a:p>
                      <a:pPr algn="l" fontAlgn="ctr"/>
                      <a:r>
                        <a:rPr lang="en-US" sz="1000" b="1" dirty="0">
                          <a:solidFill>
                            <a:srgbClr val="333333"/>
                          </a:solidFill>
                          <a:effectLst/>
                        </a:rPr>
                        <a:t>MSPE</a:t>
                      </a:r>
                    </a:p>
                  </a:txBody>
                  <a:tcPr marL="38077" marR="38077" marT="50770" marB="50770" anchor="ctr">
                    <a:lnL>
                      <a:noFill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BFB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ru-RU" sz="1100" dirty="0">
                          <a:solidFill>
                            <a:srgbClr val="333333"/>
                          </a:solidFill>
                          <a:effectLst/>
                        </a:rPr>
                        <a:t>Нечувствительна к выбросам. Хорошо интерпретируема, поскольку имеет линейный характер.</a:t>
                      </a:r>
                    </a:p>
                  </a:txBody>
                  <a:tcPr marL="38077" marR="38077" marT="50770" marB="50770" anchor="ctr">
                    <a:lnL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BFB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ru-RU" sz="1100" dirty="0">
                          <a:solidFill>
                            <a:srgbClr val="333333"/>
                          </a:solidFill>
                          <a:effectLst/>
                        </a:rPr>
                        <a:t>Поскольку вклад всех ошибок отдельных наблюдений взвешивается одинаково, не позволяет подчёркивать большие и малые ошибки.</a:t>
                      </a:r>
                    </a:p>
                  </a:txBody>
                  <a:tcPr marL="38077" marR="38077" marT="50770" marB="50770" anchor="ctr">
                    <a:lnL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B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06406475"/>
                  </a:ext>
                </a:extLst>
              </a:tr>
              <a:tr h="413645">
                <a:tc>
                  <a:txBody>
                    <a:bodyPr/>
                    <a:lstStyle/>
                    <a:p>
                      <a:pPr algn="l" fontAlgn="ctr"/>
                      <a:r>
                        <a:rPr lang="en-US" sz="1000" b="1" dirty="0">
                          <a:solidFill>
                            <a:srgbClr val="333333"/>
                          </a:solidFill>
                          <a:effectLst/>
                        </a:rPr>
                        <a:t>MAPE</a:t>
                      </a:r>
                    </a:p>
                  </a:txBody>
                  <a:tcPr marL="38077" marR="38077" marT="50770" marB="50770" anchor="ctr">
                    <a:lnL>
                      <a:noFill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BFB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ru-RU" sz="1100" dirty="0">
                          <a:solidFill>
                            <a:srgbClr val="333333"/>
                          </a:solidFill>
                          <a:effectLst/>
                        </a:rPr>
                        <a:t>Является безразмерной величиной, поэтому её интерпретация не зависит от предметной области.</a:t>
                      </a:r>
                    </a:p>
                  </a:txBody>
                  <a:tcPr marL="38077" marR="38077" marT="50770" marB="50770" anchor="ctr">
                    <a:lnL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BFB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ru-RU" sz="1100" dirty="0">
                          <a:solidFill>
                            <a:srgbClr val="333333"/>
                          </a:solidFill>
                          <a:effectLst/>
                        </a:rPr>
                        <a:t>Нельзя использовать для наблюдений, в которых значения выходной переменной равны нулю.</a:t>
                      </a:r>
                    </a:p>
                  </a:txBody>
                  <a:tcPr marL="38077" marR="38077" marT="50770" marB="50770" anchor="ctr">
                    <a:lnL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B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26450400"/>
                  </a:ext>
                </a:extLst>
              </a:tr>
              <a:tr h="731137">
                <a:tc>
                  <a:txBody>
                    <a:bodyPr/>
                    <a:lstStyle/>
                    <a:p>
                      <a:pPr algn="l" fontAlgn="ctr"/>
                      <a:r>
                        <a:rPr lang="en-US" sz="1000" b="1" dirty="0">
                          <a:solidFill>
                            <a:srgbClr val="333333"/>
                          </a:solidFill>
                          <a:effectLst/>
                        </a:rPr>
                        <a:t>SMAPE</a:t>
                      </a:r>
                    </a:p>
                  </a:txBody>
                  <a:tcPr marL="38077" marR="38077" marT="50770" marB="50770" anchor="ctr">
                    <a:lnL>
                      <a:noFill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BFB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ru-RU" sz="1100" dirty="0">
                          <a:solidFill>
                            <a:srgbClr val="333333"/>
                          </a:solidFill>
                          <a:effectLst/>
                        </a:rPr>
                        <a:t>Позволяет корректно работать с предсказанными значениями независимо от того больше они фактического, или меньше.</a:t>
                      </a:r>
                    </a:p>
                  </a:txBody>
                  <a:tcPr marL="38077" marR="38077" marT="50770" marB="50770" anchor="ctr">
                    <a:lnL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BFB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ru-RU" sz="1100" dirty="0">
                          <a:solidFill>
                            <a:srgbClr val="333333"/>
                          </a:solidFill>
                          <a:effectLst/>
                        </a:rPr>
                        <a:t>Приближение к нулю фактического или предсказанного значения приводит к резкому росту ошибки, поскольку в знаменателе присутствует как фактическое, так и предсказанное значения.</a:t>
                      </a:r>
                    </a:p>
                  </a:txBody>
                  <a:tcPr marL="38077" marR="38077" marT="50770" marB="50770" anchor="ctr">
                    <a:lnL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B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88866004"/>
                  </a:ext>
                </a:extLst>
              </a:tr>
              <a:tr h="731137">
                <a:tc>
                  <a:txBody>
                    <a:bodyPr/>
                    <a:lstStyle/>
                    <a:p>
                      <a:pPr algn="l" fontAlgn="ctr"/>
                      <a:r>
                        <a:rPr lang="en-US" sz="1000" b="1" dirty="0">
                          <a:solidFill>
                            <a:srgbClr val="333333"/>
                          </a:solidFill>
                          <a:effectLst/>
                        </a:rPr>
                        <a:t>MASE</a:t>
                      </a:r>
                    </a:p>
                  </a:txBody>
                  <a:tcPr marL="38077" marR="38077" marT="50770" marB="50770" anchor="ctr">
                    <a:lnL>
                      <a:noFill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BFB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ru-RU" sz="1100" dirty="0">
                          <a:solidFill>
                            <a:srgbClr val="333333"/>
                          </a:solidFill>
                          <a:effectLst/>
                        </a:rPr>
                        <a:t>Не зависит от масштаба данных, является симметричной: положительные и отрицательные отклонения от фактического значения учитываются одинаково. Устойчива к выбросам. Позволяет сравнивать модели.</a:t>
                      </a:r>
                    </a:p>
                  </a:txBody>
                  <a:tcPr marL="38077" marR="38077" marT="50770" marB="50770" anchor="ctr">
                    <a:lnL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BFB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ru-RU" sz="1100" dirty="0">
                          <a:solidFill>
                            <a:srgbClr val="333333"/>
                          </a:solidFill>
                          <a:effectLst/>
                        </a:rPr>
                        <a:t>Сложность интерпретации.</a:t>
                      </a:r>
                    </a:p>
                  </a:txBody>
                  <a:tcPr marL="38077" marR="38077" marT="50770" marB="50770" anchor="ctr">
                    <a:lnL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B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19879452"/>
                  </a:ext>
                </a:extLst>
              </a:tr>
              <a:tr h="413645">
                <a:tc>
                  <a:txBody>
                    <a:bodyPr/>
                    <a:lstStyle/>
                    <a:p>
                      <a:pPr algn="l" fontAlgn="ctr"/>
                      <a:r>
                        <a:rPr lang="en-US" sz="1000" b="1" dirty="0">
                          <a:solidFill>
                            <a:srgbClr val="333333"/>
                          </a:solidFill>
                          <a:effectLst/>
                        </a:rPr>
                        <a:t>MRE</a:t>
                      </a:r>
                    </a:p>
                  </a:txBody>
                  <a:tcPr marL="38077" marR="38077" marT="50770" marB="50770" anchor="ctr">
                    <a:lnL>
                      <a:noFill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BFB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ru-RU" sz="1100" dirty="0">
                          <a:solidFill>
                            <a:srgbClr val="333333"/>
                          </a:solidFill>
                          <a:effectLst/>
                        </a:rPr>
                        <a:t>Позволяет оценить величину ошибки относительно значения целевой переменной.</a:t>
                      </a:r>
                    </a:p>
                  </a:txBody>
                  <a:tcPr marL="38077" marR="38077" marT="50770" marB="50770" anchor="ctr">
                    <a:lnL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BFB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ru-RU" sz="1100" dirty="0">
                          <a:solidFill>
                            <a:srgbClr val="333333"/>
                          </a:solidFill>
                          <a:effectLst/>
                        </a:rPr>
                        <a:t>Неприменима для наблюдений с нулевым значением выходной переменной.</a:t>
                      </a:r>
                    </a:p>
                  </a:txBody>
                  <a:tcPr marL="38077" marR="38077" marT="50770" marB="50770" anchor="ctr">
                    <a:lnL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B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87605854"/>
                  </a:ext>
                </a:extLst>
              </a:tr>
              <a:tr h="731137">
                <a:tc>
                  <a:txBody>
                    <a:bodyPr/>
                    <a:lstStyle/>
                    <a:p>
                      <a:pPr algn="l" fontAlgn="ctr"/>
                      <a:r>
                        <a:rPr lang="en-US" sz="1000" b="1" dirty="0">
                          <a:solidFill>
                            <a:srgbClr val="333333"/>
                          </a:solidFill>
                          <a:effectLst/>
                        </a:rPr>
                        <a:t>RMSLE</a:t>
                      </a:r>
                    </a:p>
                  </a:txBody>
                  <a:tcPr marL="38077" marR="38077" marT="50770" marB="50770" anchor="ctr">
                    <a:lnL>
                      <a:noFill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BFB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ru-RU" sz="1100" dirty="0">
                          <a:solidFill>
                            <a:srgbClr val="333333"/>
                          </a:solidFill>
                          <a:effectLst/>
                        </a:rPr>
                        <a:t>Логарифмирование позволяет сделать величину ошибки более устойчивой, когда разность между фактическим и предсказанным значениями различается на порядок и выше</a:t>
                      </a:r>
                    </a:p>
                  </a:txBody>
                  <a:tcPr marL="38077" marR="38077" marT="50770" marB="50770" anchor="ctr">
                    <a:lnL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BFB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ru-RU" sz="1100" dirty="0">
                          <a:solidFill>
                            <a:srgbClr val="333333"/>
                          </a:solidFill>
                          <a:effectLst/>
                        </a:rPr>
                        <a:t>Может быть затруднена интерпретация из-за нелинейности.</a:t>
                      </a:r>
                    </a:p>
                  </a:txBody>
                  <a:tcPr marL="38077" marR="38077" marT="50770" marB="50770" anchor="ctr">
                    <a:lnL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B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93886822"/>
                  </a:ext>
                </a:extLst>
              </a:tr>
              <a:tr h="572391">
                <a:tc>
                  <a:txBody>
                    <a:bodyPr/>
                    <a:lstStyle/>
                    <a:p>
                      <a:pPr algn="l" fontAlgn="ctr"/>
                      <a:r>
                        <a:rPr lang="en-US" sz="1000" b="1" dirty="0">
                          <a:solidFill>
                            <a:srgbClr val="333333"/>
                          </a:solidFill>
                          <a:effectLst/>
                        </a:rPr>
                        <a:t>R-</a:t>
                      </a:r>
                      <a:r>
                        <a:rPr lang="ru-RU" sz="1000" b="1" dirty="0">
                          <a:solidFill>
                            <a:srgbClr val="333333"/>
                          </a:solidFill>
                          <a:effectLst/>
                        </a:rPr>
                        <a:t>квадрат</a:t>
                      </a:r>
                    </a:p>
                  </a:txBody>
                  <a:tcPr marL="38077" marR="38077" marT="50770" marB="50770" anchor="ctr">
                    <a:lnL>
                      <a:noFill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BFB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ru-RU" sz="1100" dirty="0">
                          <a:solidFill>
                            <a:srgbClr val="333333"/>
                          </a:solidFill>
                          <a:effectLst/>
                        </a:rPr>
                        <a:t>Универсальность, простота интерпретации.</a:t>
                      </a:r>
                    </a:p>
                  </a:txBody>
                  <a:tcPr marL="38077" marR="38077" marT="50770" marB="50770" anchor="ctr">
                    <a:lnL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BFB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ru-RU" sz="1100" dirty="0">
                          <a:solidFill>
                            <a:srgbClr val="333333"/>
                          </a:solidFill>
                          <a:effectLst/>
                        </a:rPr>
                        <a:t>Возрастает даже при включении в модель бесполезных переменных. Плохо работает когда входные переменные зависимы.</a:t>
                      </a:r>
                    </a:p>
                  </a:txBody>
                  <a:tcPr marL="38077" marR="38077" marT="50770" marB="50770" anchor="ctr">
                    <a:lnL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B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32021820"/>
                  </a:ext>
                </a:extLst>
              </a:tr>
              <a:tr h="384782">
                <a:tc>
                  <a:txBody>
                    <a:bodyPr/>
                    <a:lstStyle/>
                    <a:p>
                      <a:pPr algn="l" fontAlgn="ctr"/>
                      <a:r>
                        <a:rPr lang="en-US" sz="1000" b="1" dirty="0">
                          <a:solidFill>
                            <a:srgbClr val="333333"/>
                          </a:solidFill>
                          <a:effectLst/>
                        </a:rPr>
                        <a:t>R-</a:t>
                      </a:r>
                      <a:r>
                        <a:rPr lang="ru-RU" sz="1000" b="1" dirty="0">
                          <a:solidFill>
                            <a:srgbClr val="333333"/>
                          </a:solidFill>
                          <a:effectLst/>
                        </a:rPr>
                        <a:t>квадрат </a:t>
                      </a:r>
                      <a:r>
                        <a:rPr lang="ru-RU" sz="1000" b="1" dirty="0" err="1">
                          <a:solidFill>
                            <a:srgbClr val="333333"/>
                          </a:solidFill>
                          <a:effectLst/>
                        </a:rPr>
                        <a:t>скорр</a:t>
                      </a:r>
                      <a:r>
                        <a:rPr lang="ru-RU" sz="1000" b="1" dirty="0">
                          <a:solidFill>
                            <a:srgbClr val="333333"/>
                          </a:solidFill>
                          <a:effectLst/>
                        </a:rPr>
                        <a:t>.</a:t>
                      </a:r>
                    </a:p>
                  </a:txBody>
                  <a:tcPr marL="38077" marR="38077" marT="50770" marB="50770" anchor="ctr">
                    <a:lnL>
                      <a:noFill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BFBFB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ru-RU" sz="1100" dirty="0">
                          <a:solidFill>
                            <a:srgbClr val="333333"/>
                          </a:solidFill>
                          <a:effectLst/>
                        </a:rPr>
                        <a:t>Корректно отражает вклад каждой переменной в модель.</a:t>
                      </a:r>
                    </a:p>
                  </a:txBody>
                  <a:tcPr marL="38077" marR="38077" marT="50770" marB="50770" anchor="ctr">
                    <a:lnL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BFBFB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ru-RU" sz="1100" dirty="0">
                          <a:solidFill>
                            <a:srgbClr val="333333"/>
                          </a:solidFill>
                          <a:effectLst/>
                        </a:rPr>
                        <a:t>Плохо работает, когда входные переменные зависимы.</a:t>
                      </a:r>
                    </a:p>
                  </a:txBody>
                  <a:tcPr marL="38077" marR="38077" marT="50770" marB="50770" anchor="ctr">
                    <a:lnL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BFB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49042260"/>
                  </a:ext>
                </a:extLst>
              </a:tr>
            </a:tbl>
          </a:graphicData>
        </a:graphic>
      </p:graphicFrame>
      <p:sp>
        <p:nvSpPr>
          <p:cNvPr id="15" name="Нижний колонтитул 14">
            <a:extLst>
              <a:ext uri="{FF2B5EF4-FFF2-40B4-BE49-F238E27FC236}">
                <a16:creationId xmlns:a16="http://schemas.microsoft.com/office/drawing/2014/main" id="{AA8A4204-EF06-40BC-866B-4798F99B1F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028950" y="6356351"/>
            <a:ext cx="3086100" cy="365125"/>
          </a:xfrm>
        </p:spPr>
        <p:txBody>
          <a:bodyPr/>
          <a:lstStyle/>
          <a:p>
            <a:endParaRPr lang="ru-RU" dirty="0"/>
          </a:p>
        </p:txBody>
      </p:sp>
      <p:sp>
        <p:nvSpPr>
          <p:cNvPr id="16" name="Номер слайда 15">
            <a:extLst>
              <a:ext uri="{FF2B5EF4-FFF2-40B4-BE49-F238E27FC236}">
                <a16:creationId xmlns:a16="http://schemas.microsoft.com/office/drawing/2014/main" id="{7FB49953-6CBB-499B-9914-371BDCE568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457950" y="6356351"/>
            <a:ext cx="2057400" cy="365125"/>
          </a:xfrm>
        </p:spPr>
        <p:txBody>
          <a:bodyPr/>
          <a:lstStyle/>
          <a:p>
            <a:fld id="{81C5FB71-5E9C-41B5-9BB8-3F1EBEAEB16A}" type="slidenum">
              <a:rPr lang="ru-RU" smtClean="0"/>
              <a:pPr/>
              <a:t>16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690478728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object 8"/>
          <p:cNvSpPr txBox="1">
            <a:spLocks noGrp="1"/>
          </p:cNvSpPr>
          <p:nvPr>
            <p:ph type="title"/>
          </p:nvPr>
        </p:nvSpPr>
        <p:spPr>
          <a:xfrm>
            <a:off x="628650" y="428120"/>
            <a:ext cx="7886700" cy="386773"/>
          </a:xfrm>
        </p:spPr>
        <p:txBody>
          <a:bodyPr vert="horz" wrap="square" lIns="0" tIns="12700" rIns="0" bIns="0" rtlCol="0">
            <a:spAutoFit/>
          </a:bodyPr>
          <a:lstStyle/>
          <a:p>
            <a:pPr algn="ctr"/>
            <a:r>
              <a:rPr lang="ru-RU" dirty="0"/>
              <a:t>Коэффициент детерминации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3" name="Объект 12">
                <a:extLst>
                  <a:ext uri="{FF2B5EF4-FFF2-40B4-BE49-F238E27FC236}">
                    <a16:creationId xmlns:a16="http://schemas.microsoft.com/office/drawing/2014/main" id="{82AE6CBD-CFDE-4063-9B36-1FDB84579F98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647700" y="1019909"/>
                <a:ext cx="7886700" cy="5409971"/>
              </a:xfrm>
            </p:spPr>
            <p:txBody>
              <a:bodyPr>
                <a:normAutofit/>
              </a:bodyPr>
              <a:lstStyle/>
              <a:p>
                <a:pPr marL="0" indent="0" algn="just">
                  <a:buNone/>
                </a:pPr>
                <a:r>
                  <a:rPr lang="ru-RU" sz="1800" dirty="0"/>
                  <a:t>Перечисленные в таблице выше ошибки не так просто интерпретировать. Действительно, просто зная значение средней абсолютной ошибки, скажем, равное 10, мы сразу не можем сказать хорошая это ошибка или плохая, и что нужно сделать чтобы улучшить модель.</a:t>
                </a:r>
              </a:p>
              <a:p>
                <a:pPr marL="0" indent="0" algn="just">
                  <a:buNone/>
                </a:pPr>
                <a:r>
                  <a:rPr lang="ru-RU" sz="1800" dirty="0"/>
                  <a:t>В этой связи представляет интерес использование для оценки качества регрессионной модели не значения ошибок, а величину показывающую, насколько данная модель работает лучше, чем модель, в которой присутствует только константа, а входные переменные отсутствуют или коэффициенты регрессии при них равны нулю.</a:t>
                </a:r>
                <a:endParaRPr lang="en-US" sz="1800" dirty="0"/>
              </a:p>
              <a:p>
                <a:pPr marL="0" indent="0" algn="just">
                  <a:buNone/>
                </a:pPr>
                <a:endParaRPr lang="en-US" sz="1800" dirty="0"/>
              </a:p>
              <a:p>
                <a:pPr marL="0" indent="0" algn="just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sz="2400" b="0" i="1" smtClean="0">
                              <a:effectLst/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400" b="0" i="1" smtClean="0">
                              <a:effectLst/>
                              <a:latin typeface="Cambria Math" panose="02040503050406030204" pitchFamily="18" charset="0"/>
                            </a:rPr>
                            <m:t>𝑅</m:t>
                          </m:r>
                        </m:e>
                        <m:sup>
                          <m:r>
                            <a:rPr lang="en-US" sz="2400" b="0" i="1" smtClean="0">
                              <a:effectLst/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sz="2400" b="0" i="1" smtClean="0">
                          <a:effectLst/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400" b="0" i="0" smtClean="0">
                          <a:effectLst/>
                          <a:latin typeface="Cambria Math" panose="02040503050406030204" pitchFamily="18" charset="0"/>
                        </a:rPr>
                        <m:t>1−</m:t>
                      </m:r>
                      <m:f>
                        <m:fPr>
                          <m:ctrlPr>
                            <a:rPr lang="en-US" sz="2400" b="0" i="1" smtClean="0">
                              <a:effectLst/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nary>
                            <m:naryPr>
                              <m:chr m:val="∑"/>
                              <m:ctrlPr>
                                <a:rPr lang="en-US" sz="2400" b="0" i="1" smtClean="0">
                                  <a:effectLst/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a:rPr lang="en-US" sz="2400" b="0" i="1" smtClean="0">
                                  <a:effectLst/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  <m:r>
                                <a:rPr lang="en-US" sz="2400" b="0" i="1" smtClean="0">
                                  <a:effectLst/>
                                  <a:latin typeface="Cambria Math" panose="02040503050406030204" pitchFamily="18" charset="0"/>
                                </a:rPr>
                                <m:t>=1</m:t>
                              </m:r>
                            </m:sub>
                            <m:sup>
                              <m:r>
                                <a:rPr lang="en-US" sz="2400" b="0" i="1" smtClean="0">
                                  <a:effectLst/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sup>
                            <m:e>
                              <m:sSup>
                                <m:sSupPr>
                                  <m:ctrlP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d>
                                    <m:dPr>
                                      <m:ctrlPr>
                                        <a:rPr lang="en-US" sz="24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acc>
                                        <m:accPr>
                                          <m:chr m:val="̂"/>
                                          <m:ctrlPr>
                                            <a:rPr lang="en-US" sz="24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accPr>
                                        <m:e>
                                          <m:sSub>
                                            <m:sSubPr>
                                              <m:ctrlPr>
                                                <a:rPr lang="en-US" sz="2400" i="1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sSubPr>
                                            <m:e>
                                              <m:r>
                                                <a:rPr lang="en-US" sz="2400" i="1">
                                                  <a:latin typeface="Cambria Math" panose="02040503050406030204" pitchFamily="18" charset="0"/>
                                                </a:rPr>
                                                <m:t>𝑦</m:t>
                                              </m:r>
                                            </m:e>
                                            <m:sub>
                                              <m:r>
                                                <a:rPr lang="en-US" sz="2400" i="1">
                                                  <a:latin typeface="Cambria Math" panose="02040503050406030204" pitchFamily="18" charset="0"/>
                                                </a:rPr>
                                                <m:t>𝑖</m:t>
                                              </m:r>
                                            </m:sub>
                                          </m:sSub>
                                        </m:e>
                                      </m:acc>
                                      <m:r>
                                        <a:rPr lang="en-US" sz="2400" i="1">
                                          <a:latin typeface="Cambria Math" panose="02040503050406030204" pitchFamily="18" charset="0"/>
                                        </a:rPr>
                                        <m:t>−</m:t>
                                      </m:r>
                                      <m:sSub>
                                        <m:sSubPr>
                                          <m:ctrlPr>
                                            <a:rPr lang="en-US" sz="24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sz="2400" i="1">
                                              <a:latin typeface="Cambria Math" panose="02040503050406030204" pitchFamily="18" charset="0"/>
                                            </a:rPr>
                                            <m:t>𝑦</m:t>
                                          </m:r>
                                        </m:e>
                                        <m:sub>
                                          <m:r>
                                            <a:rPr lang="en-US" sz="2400" i="1">
                                              <a:latin typeface="Cambria Math" panose="02040503050406030204" pitchFamily="18" charset="0"/>
                                            </a:rPr>
                                            <m:t>𝑖</m:t>
                                          </m:r>
                                        </m:sub>
                                      </m:sSub>
                                    </m:e>
                                  </m:d>
                                </m:e>
                                <m:sup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</m:e>
                          </m:nary>
                        </m:num>
                        <m:den>
                          <m:nary>
                            <m:naryPr>
                              <m:chr m:val="∑"/>
                              <m:ctrlPr>
                                <a:rPr lang="en-US" sz="2400" b="0" i="1" smtClean="0">
                                  <a:effectLst/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a:rPr lang="en-US" sz="2400" b="0" i="1" smtClean="0">
                                  <a:effectLst/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  <m:r>
                                <a:rPr lang="en-US" sz="2400" b="0" i="1" smtClean="0">
                                  <a:effectLst/>
                                  <a:latin typeface="Cambria Math" panose="02040503050406030204" pitchFamily="18" charset="0"/>
                                </a:rPr>
                                <m:t>=1</m:t>
                              </m:r>
                            </m:sub>
                            <m:sup>
                              <m:r>
                                <a:rPr lang="en-US" sz="2400" b="0" i="1" smtClean="0">
                                  <a:effectLst/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sup>
                            <m:e>
                              <m:sSup>
                                <m:sSupPr>
                                  <m:ctrlP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d>
                                    <m:dPr>
                                      <m:ctrlPr>
                                        <a:rPr lang="en-US" sz="24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bar>
                                        <m:barPr>
                                          <m:pos m:val="top"/>
                                          <m:ctrlPr>
                                            <a:rPr lang="en-US" sz="24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barPr>
                                        <m:e>
                                          <m:sSub>
                                            <m:sSubPr>
                                              <m:ctrlPr>
                                                <a:rPr lang="en-US" sz="2400" i="1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sSubPr>
                                            <m:e>
                                              <m:r>
                                                <a:rPr lang="en-US" sz="2400" i="1">
                                                  <a:latin typeface="Cambria Math" panose="02040503050406030204" pitchFamily="18" charset="0"/>
                                                </a:rPr>
                                                <m:t>𝑦</m:t>
                                              </m:r>
                                            </m:e>
                                            <m:sub>
                                              <m:r>
                                                <a:rPr lang="en-US" sz="2400" i="1">
                                                  <a:latin typeface="Cambria Math" panose="02040503050406030204" pitchFamily="18" charset="0"/>
                                                </a:rPr>
                                                <m:t>𝑖</m:t>
                                              </m:r>
                                            </m:sub>
                                          </m:sSub>
                                        </m:e>
                                      </m:bar>
                                      <m:r>
                                        <a:rPr lang="en-US" sz="2400" i="1">
                                          <a:latin typeface="Cambria Math" panose="02040503050406030204" pitchFamily="18" charset="0"/>
                                        </a:rPr>
                                        <m:t>−</m:t>
                                      </m:r>
                                      <m:sSub>
                                        <m:sSubPr>
                                          <m:ctrlPr>
                                            <a:rPr lang="en-US" sz="24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sz="2400" i="1">
                                              <a:latin typeface="Cambria Math" panose="02040503050406030204" pitchFamily="18" charset="0"/>
                                            </a:rPr>
                                            <m:t>𝑦</m:t>
                                          </m:r>
                                        </m:e>
                                        <m:sub>
                                          <m:r>
                                            <a:rPr lang="en-US" sz="2400" i="1">
                                              <a:latin typeface="Cambria Math" panose="02040503050406030204" pitchFamily="18" charset="0"/>
                                            </a:rPr>
                                            <m:t>𝑖</m:t>
                                          </m:r>
                                        </m:sub>
                                      </m:sSub>
                                    </m:e>
                                  </m:d>
                                </m:e>
                                <m:sup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</m:e>
                          </m:nary>
                        </m:den>
                      </m:f>
                    </m:oMath>
                  </m:oMathPara>
                </a14:m>
                <a:endParaRPr lang="ru-RU" sz="2400" dirty="0"/>
              </a:p>
              <a:p>
                <a:pPr marL="0" indent="0" algn="just">
                  <a:buNone/>
                </a:pPr>
                <a:endParaRPr lang="en-US" sz="1800" dirty="0"/>
              </a:p>
              <a:p>
                <a:pPr marL="0" indent="0" algn="just">
                  <a:buNone/>
                </a:pPr>
                <a:r>
                  <a:rPr lang="ru-RU" sz="1800" dirty="0"/>
                  <a:t>Именно такой мерой и является коэффициент детерминации (</a:t>
                </a:r>
                <a:r>
                  <a:rPr lang="ru-RU" sz="1800" dirty="0" err="1"/>
                  <a:t>Coefficient</a:t>
                </a:r>
                <a:r>
                  <a:rPr lang="ru-RU" sz="1800" dirty="0"/>
                  <a:t> </a:t>
                </a:r>
                <a:r>
                  <a:rPr lang="ru-RU" sz="1800" dirty="0" err="1"/>
                  <a:t>of</a:t>
                </a:r>
                <a:r>
                  <a:rPr lang="ru-RU" sz="1800" dirty="0"/>
                  <a:t> </a:t>
                </a:r>
                <a:r>
                  <a:rPr lang="ru-RU" sz="1800" dirty="0" err="1"/>
                  <a:t>determination</a:t>
                </a:r>
                <a:r>
                  <a:rPr lang="ru-RU" sz="1800" dirty="0"/>
                  <a:t>), который показывает долю дисперсии зависимой переменной, объяснённой с помощью регрессионной модели. Наиболее общей формулой для вычисления коэффициента детерминации является следующая:</a:t>
                </a:r>
              </a:p>
              <a:p>
                <a:pPr marL="0" indent="0">
                  <a:buNone/>
                </a:pPr>
                <a:endParaRPr lang="ru-RU" dirty="0"/>
              </a:p>
              <a:p>
                <a:pPr marL="0" indent="0">
                  <a:buNone/>
                </a:pPr>
                <a:endParaRPr lang="ru-RU" dirty="0"/>
              </a:p>
              <a:p>
                <a:pPr marL="0" indent="0">
                  <a:buNone/>
                </a:pPr>
                <a:endParaRPr lang="ru-RU" dirty="0"/>
              </a:p>
            </p:txBody>
          </p:sp>
        </mc:Choice>
        <mc:Fallback xmlns="">
          <p:sp>
            <p:nvSpPr>
              <p:cNvPr id="13" name="Объект 12">
                <a:extLst>
                  <a:ext uri="{FF2B5EF4-FFF2-40B4-BE49-F238E27FC236}">
                    <a16:creationId xmlns:a16="http://schemas.microsoft.com/office/drawing/2014/main" id="{82AE6CBD-CFDE-4063-9B36-1FDB84579F98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47700" y="1019909"/>
                <a:ext cx="7886700" cy="5409971"/>
              </a:xfrm>
              <a:blipFill>
                <a:blip r:embed="rId3"/>
                <a:stretch>
                  <a:fillRect l="-618" t="-1014" r="-696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5" name="Нижний колонтитул 14">
            <a:extLst>
              <a:ext uri="{FF2B5EF4-FFF2-40B4-BE49-F238E27FC236}">
                <a16:creationId xmlns:a16="http://schemas.microsoft.com/office/drawing/2014/main" id="{AA8A4204-EF06-40BC-866B-4798F99B1F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028950" y="6356351"/>
            <a:ext cx="3086100" cy="365125"/>
          </a:xfrm>
        </p:spPr>
        <p:txBody>
          <a:bodyPr/>
          <a:lstStyle/>
          <a:p>
            <a:endParaRPr lang="ru-RU" dirty="0"/>
          </a:p>
        </p:txBody>
      </p:sp>
      <p:sp>
        <p:nvSpPr>
          <p:cNvPr id="16" name="Номер слайда 15">
            <a:extLst>
              <a:ext uri="{FF2B5EF4-FFF2-40B4-BE49-F238E27FC236}">
                <a16:creationId xmlns:a16="http://schemas.microsoft.com/office/drawing/2014/main" id="{7FB49953-6CBB-499B-9914-371BDCE568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457950" y="6356351"/>
            <a:ext cx="2057400" cy="365125"/>
          </a:xfrm>
        </p:spPr>
        <p:txBody>
          <a:bodyPr/>
          <a:lstStyle/>
          <a:p>
            <a:fld id="{81C5FB71-5E9C-41B5-9BB8-3F1EBEAEB16A}" type="slidenum">
              <a:rPr lang="ru-RU" smtClean="0"/>
              <a:pPr/>
              <a:t>17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95519580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object 8"/>
          <p:cNvSpPr txBox="1">
            <a:spLocks noGrp="1"/>
          </p:cNvSpPr>
          <p:nvPr>
            <p:ph type="title"/>
          </p:nvPr>
        </p:nvSpPr>
        <p:spPr>
          <a:xfrm>
            <a:off x="628650" y="428120"/>
            <a:ext cx="7886700" cy="386773"/>
          </a:xfrm>
        </p:spPr>
        <p:txBody>
          <a:bodyPr vert="horz" wrap="square" lIns="0" tIns="12700" rIns="0" bIns="0" rtlCol="0">
            <a:spAutoFit/>
          </a:bodyPr>
          <a:lstStyle/>
          <a:p>
            <a:pPr algn="ctr"/>
            <a:r>
              <a:rPr lang="ru-RU" dirty="0"/>
              <a:t>Коэффициент детерминации</a:t>
            </a:r>
          </a:p>
        </p:txBody>
      </p:sp>
      <p:sp>
        <p:nvSpPr>
          <p:cNvPr id="13" name="Объект 12">
            <a:extLst>
              <a:ext uri="{FF2B5EF4-FFF2-40B4-BE49-F238E27FC236}">
                <a16:creationId xmlns:a16="http://schemas.microsoft.com/office/drawing/2014/main" id="{82AE6CBD-CFDE-4063-9B36-1FDB84579F9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ru-RU" dirty="0"/>
              <a:t>Коэффициент детерминации показывает, сколько процентов дисперсии в одной переменной связано с дисперсией другой переменной.</a:t>
            </a:r>
          </a:p>
        </p:txBody>
      </p:sp>
      <p:sp>
        <p:nvSpPr>
          <p:cNvPr id="15" name="Нижний колонтитул 14">
            <a:extLst>
              <a:ext uri="{FF2B5EF4-FFF2-40B4-BE49-F238E27FC236}">
                <a16:creationId xmlns:a16="http://schemas.microsoft.com/office/drawing/2014/main" id="{AA8A4204-EF06-40BC-866B-4798F99B1F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028950" y="6356351"/>
            <a:ext cx="3086100" cy="365125"/>
          </a:xfrm>
        </p:spPr>
        <p:txBody>
          <a:bodyPr/>
          <a:lstStyle/>
          <a:p>
            <a:endParaRPr lang="ru-RU" dirty="0"/>
          </a:p>
        </p:txBody>
      </p:sp>
      <p:sp>
        <p:nvSpPr>
          <p:cNvPr id="16" name="Номер слайда 15">
            <a:extLst>
              <a:ext uri="{FF2B5EF4-FFF2-40B4-BE49-F238E27FC236}">
                <a16:creationId xmlns:a16="http://schemas.microsoft.com/office/drawing/2014/main" id="{7FB49953-6CBB-499B-9914-371BDCE568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457950" y="6356351"/>
            <a:ext cx="2057400" cy="365125"/>
          </a:xfrm>
        </p:spPr>
        <p:txBody>
          <a:bodyPr/>
          <a:lstStyle/>
          <a:p>
            <a:fld id="{81C5FB71-5E9C-41B5-9BB8-3F1EBEAEB16A}" type="slidenum">
              <a:rPr lang="ru-RU" smtClean="0"/>
              <a:pPr/>
              <a:t>18</a:t>
            </a:fld>
            <a:endParaRPr lang="ru-RU"/>
          </a:p>
        </p:txBody>
      </p:sp>
      <p:pic>
        <p:nvPicPr>
          <p:cNvPr id="17" name="Рисунок 16">
            <a:extLst>
              <a:ext uri="{FF2B5EF4-FFF2-40B4-BE49-F238E27FC236}">
                <a16:creationId xmlns:a16="http://schemas.microsoft.com/office/drawing/2014/main" id="{90443C58-5F52-4A4D-AAF4-2E5414CB38B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7700" y="2667000"/>
            <a:ext cx="7543800" cy="31924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5810121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object 8"/>
          <p:cNvSpPr txBox="1">
            <a:spLocks noGrp="1"/>
          </p:cNvSpPr>
          <p:nvPr>
            <p:ph type="title"/>
          </p:nvPr>
        </p:nvSpPr>
        <p:spPr>
          <a:xfrm>
            <a:off x="628650" y="428120"/>
            <a:ext cx="7886700" cy="386773"/>
          </a:xfrm>
        </p:spPr>
        <p:txBody>
          <a:bodyPr vert="horz" wrap="square" lIns="0" tIns="12700" rIns="0" bIns="0" rtlCol="0">
            <a:spAutoFit/>
          </a:bodyPr>
          <a:lstStyle/>
          <a:p>
            <a:pPr algn="ctr"/>
            <a:r>
              <a:rPr lang="ru-RU" dirty="0"/>
              <a:t>Коэффициент детерминации</a:t>
            </a:r>
          </a:p>
        </p:txBody>
      </p:sp>
      <p:sp>
        <p:nvSpPr>
          <p:cNvPr id="13" name="Объект 12">
            <a:extLst>
              <a:ext uri="{FF2B5EF4-FFF2-40B4-BE49-F238E27FC236}">
                <a16:creationId xmlns:a16="http://schemas.microsoft.com/office/drawing/2014/main" id="{82AE6CBD-CFDE-4063-9B36-1FDB84579F9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7700" y="1019909"/>
            <a:ext cx="7886700" cy="5409971"/>
          </a:xfrm>
        </p:spPr>
        <p:txBody>
          <a:bodyPr>
            <a:normAutofit fontScale="92500" lnSpcReduction="10000"/>
          </a:bodyPr>
          <a:lstStyle/>
          <a:p>
            <a:pPr marL="0" indent="0" algn="just">
              <a:buNone/>
            </a:pPr>
            <a:r>
              <a:rPr lang="ru-RU" b="0" i="0" dirty="0">
                <a:solidFill>
                  <a:srgbClr val="333333"/>
                </a:solidFill>
                <a:effectLst/>
                <a:latin typeface="Source Sans Pro" panose="020B0503030403020204" pitchFamily="34" charset="0"/>
              </a:rPr>
              <a:t>Главным преимуществом коэффициента детерминации перед мерами, основанными на ошибках, является его инвариантность к масштабу данных. Кроме того, он всегда изменяется в диапазоне от −∞ до 1. При этом значения близкие к 1 указывают на высокую степень соответствия модели данным. Очевидно, что это имеет место, когда отношение в формуле стремится к 0, т.е. ошибка модели с переменными намного меньше ошибки модели с константой. </a:t>
            </a:r>
            <a:r>
              <a:rPr lang="ru-RU" b="0" i="0" dirty="0">
                <a:solidFill>
                  <a:srgbClr val="333333"/>
                </a:solidFill>
                <a:effectLst/>
                <a:latin typeface="KaTeX_Main"/>
              </a:rPr>
              <a:t>R</a:t>
            </a:r>
            <a:r>
              <a:rPr lang="ru-RU" b="0" i="0" baseline="30000" dirty="0">
                <a:solidFill>
                  <a:srgbClr val="333333"/>
                </a:solidFill>
                <a:effectLst/>
                <a:latin typeface="KaTeX_Main"/>
              </a:rPr>
              <a:t>2</a:t>
            </a:r>
            <a:r>
              <a:rPr lang="ru-RU" b="0" i="0" dirty="0">
                <a:solidFill>
                  <a:srgbClr val="333333"/>
                </a:solidFill>
                <a:effectLst/>
                <a:latin typeface="KaTeX_Main"/>
              </a:rPr>
              <a:t>=0</a:t>
            </a:r>
            <a:r>
              <a:rPr lang="ru-RU" b="0" i="0" dirty="0">
                <a:solidFill>
                  <a:srgbClr val="333333"/>
                </a:solidFill>
                <a:effectLst/>
                <a:latin typeface="Source Sans Pro" panose="020B0503030403020204" pitchFamily="34" charset="0"/>
              </a:rPr>
              <a:t> показывает, что между независимой и зависимой переменными модели имеет место функциональная зависимость.</a:t>
            </a:r>
          </a:p>
          <a:p>
            <a:pPr marL="0" indent="0" algn="just">
              <a:buNone/>
            </a:pPr>
            <a:r>
              <a:rPr lang="ru-RU" b="0" i="0" dirty="0">
                <a:solidFill>
                  <a:srgbClr val="333333"/>
                </a:solidFill>
                <a:effectLst/>
                <a:latin typeface="Source Sans Pro" panose="020B0503030403020204" pitchFamily="34" charset="0"/>
              </a:rPr>
              <a:t>Когда значение коэффициента близко к 0 (т.е. ошибка модели с переменными примерно равна ошибке модели только с константой), это указывает на низкое соответствие модели данным, когда модель с переменными работает не лучше модели с константой.</a:t>
            </a:r>
          </a:p>
          <a:p>
            <a:pPr marL="0" indent="0" algn="just">
              <a:buNone/>
            </a:pPr>
            <a:r>
              <a:rPr lang="ru-RU" b="0" i="0" dirty="0">
                <a:solidFill>
                  <a:srgbClr val="333333"/>
                </a:solidFill>
                <a:effectLst/>
                <a:latin typeface="Source Sans Pro" panose="020B0503030403020204" pitchFamily="34" charset="0"/>
              </a:rPr>
              <a:t>Кроме этого, бывают ситуации, когда коэффициент </a:t>
            </a:r>
            <a:r>
              <a:rPr lang="ru-RU" b="0" i="0" dirty="0">
                <a:solidFill>
                  <a:srgbClr val="333333"/>
                </a:solidFill>
                <a:effectLst/>
                <a:latin typeface="KaTeX_Main"/>
              </a:rPr>
              <a:t>R</a:t>
            </a:r>
            <a:r>
              <a:rPr lang="ru-RU" b="0" i="0" baseline="30000" dirty="0">
                <a:solidFill>
                  <a:srgbClr val="333333"/>
                </a:solidFill>
                <a:effectLst/>
                <a:latin typeface="KaTeX_Main"/>
              </a:rPr>
              <a:t>2</a:t>
            </a:r>
            <a:r>
              <a:rPr lang="ru-RU" b="0" i="0" dirty="0">
                <a:solidFill>
                  <a:srgbClr val="333333"/>
                </a:solidFill>
                <a:effectLst/>
                <a:latin typeface="Source Sans Pro" panose="020B0503030403020204" pitchFamily="34" charset="0"/>
              </a:rPr>
              <a:t> принимает отрицательные значения (обычно небольшие). Это произойдёт, если ошибка модели среднего становится меньше ошибки модели с переменной. В этом случае оказывается, что добавление в модель с константой некоторой переменной только ухудшает её (т.е. регрессионная модель с переменной работает хуже, чем предсказание с помощью простой средней).</a:t>
            </a:r>
          </a:p>
          <a:p>
            <a:pPr marL="0" indent="0">
              <a:buNone/>
            </a:pPr>
            <a:endParaRPr lang="ru-RU" dirty="0"/>
          </a:p>
        </p:txBody>
      </p:sp>
      <p:sp>
        <p:nvSpPr>
          <p:cNvPr id="15" name="Нижний колонтитул 14">
            <a:extLst>
              <a:ext uri="{FF2B5EF4-FFF2-40B4-BE49-F238E27FC236}">
                <a16:creationId xmlns:a16="http://schemas.microsoft.com/office/drawing/2014/main" id="{AA8A4204-EF06-40BC-866B-4798F99B1F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028950" y="6356351"/>
            <a:ext cx="3086100" cy="365125"/>
          </a:xfrm>
        </p:spPr>
        <p:txBody>
          <a:bodyPr/>
          <a:lstStyle/>
          <a:p>
            <a:endParaRPr lang="ru-RU" dirty="0"/>
          </a:p>
        </p:txBody>
      </p:sp>
      <p:sp>
        <p:nvSpPr>
          <p:cNvPr id="16" name="Номер слайда 15">
            <a:extLst>
              <a:ext uri="{FF2B5EF4-FFF2-40B4-BE49-F238E27FC236}">
                <a16:creationId xmlns:a16="http://schemas.microsoft.com/office/drawing/2014/main" id="{7FB49953-6CBB-499B-9914-371BDCE568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457950" y="6356351"/>
            <a:ext cx="2057400" cy="365125"/>
          </a:xfrm>
        </p:spPr>
        <p:txBody>
          <a:bodyPr/>
          <a:lstStyle/>
          <a:p>
            <a:fld id="{81C5FB71-5E9C-41B5-9BB8-3F1EBEAEB16A}" type="slidenum">
              <a:rPr lang="ru-RU" smtClean="0"/>
              <a:pPr/>
              <a:t>19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094074329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object 8"/>
          <p:cNvSpPr txBox="1">
            <a:spLocks noGrp="1"/>
          </p:cNvSpPr>
          <p:nvPr>
            <p:ph type="title"/>
          </p:nvPr>
        </p:nvSpPr>
        <p:spPr>
          <a:xfrm>
            <a:off x="628650" y="428120"/>
            <a:ext cx="7886700" cy="386773"/>
          </a:xfrm>
        </p:spPr>
        <p:txBody>
          <a:bodyPr vert="horz" wrap="square" lIns="0" tIns="12700" rIns="0" bIns="0" rtlCol="0">
            <a:spAutoFit/>
          </a:bodyPr>
          <a:lstStyle/>
          <a:p>
            <a:pPr algn="ctr"/>
            <a:r>
              <a:rPr lang="ru-RU" dirty="0"/>
              <a:t>Коэффициент детерминации</a:t>
            </a:r>
          </a:p>
        </p:txBody>
      </p:sp>
      <p:sp>
        <p:nvSpPr>
          <p:cNvPr id="13" name="Объект 12">
            <a:extLst>
              <a:ext uri="{FF2B5EF4-FFF2-40B4-BE49-F238E27FC236}">
                <a16:creationId xmlns:a16="http://schemas.microsoft.com/office/drawing/2014/main" id="{82AE6CBD-CFDE-4063-9B36-1FDB84579F9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7700" y="1019909"/>
            <a:ext cx="7886700" cy="5409971"/>
          </a:xfrm>
        </p:spPr>
        <p:txBody>
          <a:bodyPr>
            <a:normAutofit/>
          </a:bodyPr>
          <a:lstStyle/>
          <a:p>
            <a:pPr marL="0" indent="0" algn="just">
              <a:buNone/>
            </a:pPr>
            <a:endParaRPr lang="en-US" b="0" i="0" dirty="0">
              <a:solidFill>
                <a:srgbClr val="333333"/>
              </a:solidFill>
              <a:effectLst/>
              <a:latin typeface="Source Sans Pro" panose="020B0503030403020204" pitchFamily="34" charset="0"/>
            </a:endParaRPr>
          </a:p>
          <a:p>
            <a:pPr marL="0" indent="0" algn="just">
              <a:buNone/>
            </a:pPr>
            <a:r>
              <a:rPr lang="ru-RU" b="0" i="0" dirty="0">
                <a:solidFill>
                  <a:srgbClr val="333333"/>
                </a:solidFill>
                <a:effectLst/>
                <a:latin typeface="Source Sans Pro" panose="020B0503030403020204" pitchFamily="34" charset="0"/>
              </a:rPr>
              <a:t>На практике используют следующую шкалу оценок:</a:t>
            </a:r>
          </a:p>
          <a:p>
            <a:pPr algn="just"/>
            <a:r>
              <a:rPr lang="ru-RU" b="0" i="0" dirty="0">
                <a:solidFill>
                  <a:srgbClr val="333333"/>
                </a:solidFill>
                <a:effectLst/>
                <a:latin typeface="Source Sans Pro" panose="020B0503030403020204" pitchFamily="34" charset="0"/>
              </a:rPr>
              <a:t>Модель, для которой </a:t>
            </a:r>
            <a:r>
              <a:rPr lang="ru-RU" b="0" i="1" dirty="0">
                <a:solidFill>
                  <a:srgbClr val="333333"/>
                </a:solidFill>
                <a:effectLst/>
                <a:latin typeface="KaTeX_Math"/>
              </a:rPr>
              <a:t>R</a:t>
            </a:r>
            <a:r>
              <a:rPr lang="ru-RU" b="0" i="0" baseline="30000" dirty="0">
                <a:solidFill>
                  <a:srgbClr val="333333"/>
                </a:solidFill>
                <a:effectLst/>
                <a:latin typeface="KaTeX_Main"/>
              </a:rPr>
              <a:t>2</a:t>
            </a:r>
            <a:r>
              <a:rPr lang="ru-RU" b="0" i="0" dirty="0">
                <a:solidFill>
                  <a:srgbClr val="333333"/>
                </a:solidFill>
                <a:effectLst/>
                <a:latin typeface="KaTeX_Main"/>
              </a:rPr>
              <a:t>&gt;0.5</a:t>
            </a:r>
            <a:r>
              <a:rPr lang="ru-RU" b="0" i="0" dirty="0">
                <a:solidFill>
                  <a:srgbClr val="333333"/>
                </a:solidFill>
                <a:effectLst/>
                <a:latin typeface="Source Sans Pro" panose="020B0503030403020204" pitchFamily="34" charset="0"/>
              </a:rPr>
              <a:t>, является удовлетворительной. </a:t>
            </a:r>
          </a:p>
          <a:p>
            <a:pPr algn="just"/>
            <a:r>
              <a:rPr lang="ru-RU" b="0" i="0" dirty="0">
                <a:solidFill>
                  <a:srgbClr val="333333"/>
                </a:solidFill>
                <a:effectLst/>
                <a:latin typeface="Source Sans Pro" panose="020B0503030403020204" pitchFamily="34" charset="0"/>
              </a:rPr>
              <a:t>Если </a:t>
            </a:r>
            <a:r>
              <a:rPr lang="ru-RU" b="0" i="1" dirty="0">
                <a:solidFill>
                  <a:srgbClr val="333333"/>
                </a:solidFill>
                <a:effectLst/>
                <a:latin typeface="KaTeX_Math"/>
              </a:rPr>
              <a:t>R</a:t>
            </a:r>
            <a:r>
              <a:rPr lang="ru-RU" b="0" i="0" baseline="30000" dirty="0">
                <a:solidFill>
                  <a:srgbClr val="333333"/>
                </a:solidFill>
                <a:effectLst/>
                <a:latin typeface="KaTeX_Main"/>
              </a:rPr>
              <a:t>2</a:t>
            </a:r>
            <a:r>
              <a:rPr lang="ru-RU" b="0" i="0" dirty="0">
                <a:solidFill>
                  <a:srgbClr val="333333"/>
                </a:solidFill>
                <a:effectLst/>
                <a:latin typeface="KaTeX_Main"/>
              </a:rPr>
              <a:t>&gt;0.8</a:t>
            </a:r>
            <a:r>
              <a:rPr lang="ru-RU" b="0" i="0" dirty="0">
                <a:solidFill>
                  <a:srgbClr val="333333"/>
                </a:solidFill>
                <a:effectLst/>
                <a:latin typeface="Source Sans Pro" panose="020B0503030403020204" pitchFamily="34" charset="0"/>
              </a:rPr>
              <a:t>, то модель рассматривается как очень хорошая. </a:t>
            </a:r>
          </a:p>
          <a:p>
            <a:pPr algn="just"/>
            <a:r>
              <a:rPr lang="ru-RU" b="0" i="0" dirty="0">
                <a:solidFill>
                  <a:srgbClr val="333333"/>
                </a:solidFill>
                <a:effectLst/>
                <a:latin typeface="Source Sans Pro" panose="020B0503030403020204" pitchFamily="34" charset="0"/>
              </a:rPr>
              <a:t>Значения, меньшие 0.5 говорят о том, что модель плохая.</a:t>
            </a:r>
          </a:p>
          <a:p>
            <a:pPr marL="0" indent="0">
              <a:buNone/>
            </a:pPr>
            <a:endParaRPr lang="ru-RU" dirty="0"/>
          </a:p>
        </p:txBody>
      </p:sp>
      <p:sp>
        <p:nvSpPr>
          <p:cNvPr id="15" name="Нижний колонтитул 14">
            <a:extLst>
              <a:ext uri="{FF2B5EF4-FFF2-40B4-BE49-F238E27FC236}">
                <a16:creationId xmlns:a16="http://schemas.microsoft.com/office/drawing/2014/main" id="{AA8A4204-EF06-40BC-866B-4798F99B1F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028950" y="6356351"/>
            <a:ext cx="3086100" cy="365125"/>
          </a:xfrm>
        </p:spPr>
        <p:txBody>
          <a:bodyPr/>
          <a:lstStyle/>
          <a:p>
            <a:endParaRPr lang="ru-RU" dirty="0"/>
          </a:p>
        </p:txBody>
      </p:sp>
      <p:sp>
        <p:nvSpPr>
          <p:cNvPr id="16" name="Номер слайда 15">
            <a:extLst>
              <a:ext uri="{FF2B5EF4-FFF2-40B4-BE49-F238E27FC236}">
                <a16:creationId xmlns:a16="http://schemas.microsoft.com/office/drawing/2014/main" id="{7FB49953-6CBB-499B-9914-371BDCE568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457950" y="6356351"/>
            <a:ext cx="2057400" cy="365125"/>
          </a:xfrm>
        </p:spPr>
        <p:txBody>
          <a:bodyPr/>
          <a:lstStyle/>
          <a:p>
            <a:fld id="{81C5FB71-5E9C-41B5-9BB8-3F1EBEAEB16A}" type="slidenum">
              <a:rPr lang="ru-RU" smtClean="0"/>
              <a:pPr/>
              <a:t>20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54713849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object 8"/>
          <p:cNvSpPr txBox="1">
            <a:spLocks noGrp="1"/>
          </p:cNvSpPr>
          <p:nvPr>
            <p:ph type="title"/>
          </p:nvPr>
        </p:nvSpPr>
        <p:spPr>
          <a:xfrm>
            <a:off x="628650" y="428120"/>
            <a:ext cx="7886700" cy="386773"/>
          </a:xfrm>
        </p:spPr>
        <p:txBody>
          <a:bodyPr vert="horz" wrap="square" lIns="0" tIns="12700" rIns="0" bIns="0" rtlCol="0">
            <a:spAutoFit/>
          </a:bodyPr>
          <a:lstStyle/>
          <a:p>
            <a:pPr algn="ctr"/>
            <a:r>
              <a:rPr lang="ru-RU" b="1" i="0" dirty="0">
                <a:solidFill>
                  <a:srgbClr val="000000"/>
                </a:solidFill>
                <a:effectLst/>
                <a:latin typeface="Source Sans Pro" panose="020B0503030403020204" pitchFamily="34" charset="0"/>
              </a:rPr>
              <a:t>Скорректированный </a:t>
            </a:r>
            <a:r>
              <a:rPr lang="en-US" b="1" i="0" dirty="0">
                <a:solidFill>
                  <a:srgbClr val="000000"/>
                </a:solidFill>
                <a:effectLst/>
                <a:latin typeface="Source Sans Pro" panose="020B0503030403020204" pitchFamily="34" charset="0"/>
              </a:rPr>
              <a:t>R-</a:t>
            </a:r>
            <a:r>
              <a:rPr lang="ru-RU" b="1" i="0" dirty="0">
                <a:solidFill>
                  <a:srgbClr val="000000"/>
                </a:solidFill>
                <a:effectLst/>
                <a:latin typeface="Source Sans Pro" panose="020B0503030403020204" pitchFamily="34" charset="0"/>
              </a:rPr>
              <a:t>квадрат</a:t>
            </a:r>
          </a:p>
        </p:txBody>
      </p:sp>
      <p:sp>
        <p:nvSpPr>
          <p:cNvPr id="13" name="Объект 12">
            <a:extLst>
              <a:ext uri="{FF2B5EF4-FFF2-40B4-BE49-F238E27FC236}">
                <a16:creationId xmlns:a16="http://schemas.microsoft.com/office/drawing/2014/main" id="{82AE6CBD-CFDE-4063-9B36-1FDB84579F9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7700" y="1019909"/>
            <a:ext cx="7886700" cy="5409971"/>
          </a:xfrm>
        </p:spPr>
        <p:txBody>
          <a:bodyPr>
            <a:normAutofit/>
          </a:bodyPr>
          <a:lstStyle/>
          <a:p>
            <a:pPr marL="0" indent="0" algn="just">
              <a:buNone/>
            </a:pPr>
            <a:endParaRPr lang="en-US" b="0" i="0" dirty="0">
              <a:solidFill>
                <a:srgbClr val="333333"/>
              </a:solidFill>
              <a:effectLst/>
              <a:latin typeface="Source Sans Pro" panose="020B0503030403020204" pitchFamily="34" charset="0"/>
            </a:endParaRPr>
          </a:p>
          <a:p>
            <a:pPr marL="0" indent="0" algn="just">
              <a:buNone/>
            </a:pPr>
            <a:r>
              <a:rPr lang="ru-RU" dirty="0"/>
              <a:t>Основной проблемой при использовании коэффициента детерминации является то, что он увеличивается (или, по крайней мере, не уменьшается) при добавлении в модель новых переменных, даже если эти переменные никак не связаны с зависимой переменной.</a:t>
            </a:r>
          </a:p>
          <a:p>
            <a:pPr marL="0" indent="0" algn="just">
              <a:buNone/>
            </a:pPr>
            <a:endParaRPr lang="ru-RU" dirty="0"/>
          </a:p>
          <a:p>
            <a:pPr marL="0" indent="0" algn="just">
              <a:buNone/>
            </a:pPr>
            <a:r>
              <a:rPr lang="ru-RU" dirty="0"/>
              <a:t>В связи с этим возникают две проблемы. Первая заключается в том, что не все переменные, добавляемые в модель, могут значимо увеличивать её точность, но при этом всегда увеличивают её сложность. Вторая проблема — с помощью коэффициента детерминации нельзя сравнивать модели с разным числом переменных. Чтобы преодолеть эти проблемы используют альтернативные показатели, одним из которых является скорректированный коэффициент детерминации (</a:t>
            </a:r>
            <a:r>
              <a:rPr lang="ru-RU" dirty="0" err="1"/>
              <a:t>Adjasted</a:t>
            </a:r>
            <a:r>
              <a:rPr lang="ru-RU" dirty="0"/>
              <a:t> </a:t>
            </a:r>
            <a:r>
              <a:rPr lang="ru-RU" dirty="0" err="1"/>
              <a:t>coefficient</a:t>
            </a:r>
            <a:r>
              <a:rPr lang="ru-RU" dirty="0"/>
              <a:t> </a:t>
            </a:r>
            <a:r>
              <a:rPr lang="ru-RU" dirty="0" err="1"/>
              <a:t>of</a:t>
            </a:r>
            <a:r>
              <a:rPr lang="ru-RU" dirty="0"/>
              <a:t> </a:t>
            </a:r>
            <a:r>
              <a:rPr lang="ru-RU" dirty="0" err="1"/>
              <a:t>determinftion</a:t>
            </a:r>
            <a:r>
              <a:rPr lang="ru-RU" dirty="0"/>
              <a:t>).</a:t>
            </a:r>
          </a:p>
        </p:txBody>
      </p:sp>
      <p:sp>
        <p:nvSpPr>
          <p:cNvPr id="15" name="Нижний колонтитул 14">
            <a:extLst>
              <a:ext uri="{FF2B5EF4-FFF2-40B4-BE49-F238E27FC236}">
                <a16:creationId xmlns:a16="http://schemas.microsoft.com/office/drawing/2014/main" id="{AA8A4204-EF06-40BC-866B-4798F99B1F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028950" y="6356351"/>
            <a:ext cx="3086100" cy="365125"/>
          </a:xfrm>
        </p:spPr>
        <p:txBody>
          <a:bodyPr/>
          <a:lstStyle/>
          <a:p>
            <a:endParaRPr lang="ru-RU" dirty="0"/>
          </a:p>
        </p:txBody>
      </p:sp>
      <p:sp>
        <p:nvSpPr>
          <p:cNvPr id="16" name="Номер слайда 15">
            <a:extLst>
              <a:ext uri="{FF2B5EF4-FFF2-40B4-BE49-F238E27FC236}">
                <a16:creationId xmlns:a16="http://schemas.microsoft.com/office/drawing/2014/main" id="{7FB49953-6CBB-499B-9914-371BDCE568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457950" y="6356351"/>
            <a:ext cx="2057400" cy="365125"/>
          </a:xfrm>
        </p:spPr>
        <p:txBody>
          <a:bodyPr/>
          <a:lstStyle/>
          <a:p>
            <a:fld id="{81C5FB71-5E9C-41B5-9BB8-3F1EBEAEB16A}" type="slidenum">
              <a:rPr lang="ru-RU" smtClean="0"/>
              <a:pPr/>
              <a:t>21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662557403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object 8"/>
          <p:cNvSpPr txBox="1">
            <a:spLocks noGrp="1"/>
          </p:cNvSpPr>
          <p:nvPr>
            <p:ph type="title"/>
          </p:nvPr>
        </p:nvSpPr>
        <p:spPr>
          <a:xfrm>
            <a:off x="628650" y="428120"/>
            <a:ext cx="7886700" cy="386773"/>
          </a:xfrm>
        </p:spPr>
        <p:txBody>
          <a:bodyPr vert="horz" wrap="square" lIns="0" tIns="12700" rIns="0" bIns="0" rtlCol="0">
            <a:spAutoFit/>
          </a:bodyPr>
          <a:lstStyle/>
          <a:p>
            <a:pPr algn="ctr"/>
            <a:r>
              <a:rPr lang="ru-RU" b="1" i="0" dirty="0">
                <a:solidFill>
                  <a:srgbClr val="000000"/>
                </a:solidFill>
                <a:effectLst/>
                <a:latin typeface="Source Sans Pro" panose="020B0503030403020204" pitchFamily="34" charset="0"/>
              </a:rPr>
              <a:t>Скорректированный </a:t>
            </a:r>
            <a:r>
              <a:rPr lang="en-US" b="1" i="0" dirty="0">
                <a:solidFill>
                  <a:srgbClr val="000000"/>
                </a:solidFill>
                <a:effectLst/>
                <a:latin typeface="Source Sans Pro" panose="020B0503030403020204" pitchFamily="34" charset="0"/>
              </a:rPr>
              <a:t>R-</a:t>
            </a:r>
            <a:r>
              <a:rPr lang="ru-RU" b="1" i="0" dirty="0">
                <a:solidFill>
                  <a:srgbClr val="000000"/>
                </a:solidFill>
                <a:effectLst/>
                <a:latin typeface="Source Sans Pro" panose="020B0503030403020204" pitchFamily="34" charset="0"/>
              </a:rPr>
              <a:t>квадрат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3" name="Объект 12">
                <a:extLst>
                  <a:ext uri="{FF2B5EF4-FFF2-40B4-BE49-F238E27FC236}">
                    <a16:creationId xmlns:a16="http://schemas.microsoft.com/office/drawing/2014/main" id="{82AE6CBD-CFDE-4063-9B36-1FDB84579F98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647700" y="1019909"/>
                <a:ext cx="7886700" cy="5409971"/>
              </a:xfrm>
            </p:spPr>
            <p:txBody>
              <a:bodyPr>
                <a:normAutofit/>
              </a:bodyPr>
              <a:lstStyle/>
              <a:p>
                <a:pPr marL="0" indent="0" algn="just">
                  <a:buNone/>
                </a:pPr>
                <a:r>
                  <a:rPr lang="ru-RU" b="0" i="0" dirty="0">
                    <a:solidFill>
                      <a:srgbClr val="333333"/>
                    </a:solidFill>
                    <a:effectLst/>
                    <a:latin typeface="Source Sans Pro" panose="020B0503030403020204" pitchFamily="34" charset="0"/>
                  </a:rPr>
                  <a:t>Скорректированный коэффициент детерминации даёт возможность сравнивать модели с разным числом переменных так, чтобы их число не влияло на статистику </a:t>
                </a:r>
                <a:r>
                  <a:rPr lang="ru-RU" b="0" i="1" dirty="0">
                    <a:solidFill>
                      <a:srgbClr val="333333"/>
                    </a:solidFill>
                    <a:effectLst/>
                    <a:latin typeface="KaTeX_Main"/>
                  </a:rPr>
                  <a:t>R</a:t>
                </a:r>
                <a:r>
                  <a:rPr lang="ru-RU" b="0" i="0" baseline="30000" dirty="0">
                    <a:solidFill>
                      <a:srgbClr val="333333"/>
                    </a:solidFill>
                    <a:effectLst/>
                    <a:latin typeface="KaTeX_Main"/>
                  </a:rPr>
                  <a:t>2</a:t>
                </a:r>
                <a:r>
                  <a:rPr lang="ru-RU" b="0" i="0" dirty="0">
                    <a:solidFill>
                      <a:srgbClr val="333333"/>
                    </a:solidFill>
                    <a:effectLst/>
                    <a:latin typeface="Source Sans Pro" panose="020B0503030403020204" pitchFamily="34" charset="0"/>
                  </a:rPr>
                  <a:t>, и накладывает штраф за дополнительно включённые в модель переменные. Вычисляется по формуле:</a:t>
                </a:r>
                <a:endParaRPr lang="en-US" b="0" i="0" dirty="0">
                  <a:solidFill>
                    <a:srgbClr val="333333"/>
                  </a:solidFill>
                  <a:effectLst/>
                  <a:latin typeface="Source Sans Pro" panose="020B0503030403020204" pitchFamily="34" charset="0"/>
                </a:endParaRPr>
              </a:p>
              <a:p>
                <a:pPr marL="0" indent="0" algn="just">
                  <a:buNone/>
                </a:pPr>
                <a:endParaRPr lang="en-US" dirty="0">
                  <a:solidFill>
                    <a:srgbClr val="333333"/>
                  </a:solidFill>
                  <a:latin typeface="Source Sans Pro" panose="020B0503030403020204" pitchFamily="34" charset="0"/>
                </a:endParaRPr>
              </a:p>
              <a:p>
                <a:pPr marL="0" indent="0" algn="just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b="0" i="1" smtClean="0">
                              <a:effectLst/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b="0" i="1" smtClean="0">
                              <a:effectLst/>
                              <a:latin typeface="Cambria Math" panose="02040503050406030204" pitchFamily="18" charset="0"/>
                            </a:rPr>
                            <m:t>𝑅</m:t>
                          </m:r>
                        </m:e>
                        <m:sub>
                          <m:r>
                            <a:rPr lang="en-US" b="0" i="1" smtClean="0">
                              <a:effectLst/>
                              <a:latin typeface="Cambria Math" panose="02040503050406030204" pitchFamily="18" charset="0"/>
                            </a:rPr>
                            <m:t>𝑎𝑑𝑗</m:t>
                          </m:r>
                        </m:sub>
                        <m:sup>
                          <m:r>
                            <a:rPr lang="en-US" b="0" i="1" smtClean="0">
                              <a:effectLst/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bSup>
                      <m:r>
                        <a:rPr lang="en-US" b="0" i="1" smtClean="0">
                          <a:effectLst/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>
                          <a:latin typeface="Cambria Math" panose="02040503050406030204" pitchFamily="18" charset="0"/>
                        </a:rPr>
                        <m:t>1−</m:t>
                      </m:r>
                      <m:f>
                        <m:f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nary>
                            <m:naryPr>
                              <m:chr m:val="∑"/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=1</m:t>
                              </m:r>
                            </m:sub>
                            <m:sup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sup>
                            <m:e>
                              <m:sSup>
                                <m:sSup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d>
                                    <m:dPr>
                                      <m:ctrlP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acc>
                                        <m:accPr>
                                          <m:chr m:val="̂"/>
                                          <m:ctrlP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accPr>
                                        <m:e>
                                          <m:sSub>
                                            <m:sSubPr>
                                              <m:ctrlPr>
                                                <a:rPr lang="en-US" i="1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sSubPr>
                                            <m:e>
                                              <m:r>
                                                <a:rPr lang="en-US" i="1">
                                                  <a:latin typeface="Cambria Math" panose="02040503050406030204" pitchFamily="18" charset="0"/>
                                                </a:rPr>
                                                <m:t>𝑦</m:t>
                                              </m:r>
                                            </m:e>
                                            <m:sub>
                                              <m:r>
                                                <a:rPr lang="en-US" i="1">
                                                  <a:latin typeface="Cambria Math" panose="02040503050406030204" pitchFamily="18" charset="0"/>
                                                </a:rPr>
                                                <m:t>𝑖</m:t>
                                              </m:r>
                                            </m:sub>
                                          </m:sSub>
                                        </m:e>
                                      </m:acc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−</m:t>
                                      </m:r>
                                      <m:sSub>
                                        <m:sSubPr>
                                          <m:ctrlP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  <m:t>𝑦</m:t>
                                          </m:r>
                                        </m:e>
                                        <m:sub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  <m:t>𝑖</m:t>
                                          </m:r>
                                        </m:sub>
                                      </m:sSub>
                                    </m:e>
                                  </m:d>
                                </m:e>
                                <m:sup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</m:e>
                          </m:nary>
                        </m:num>
                        <m:den>
                          <m:nary>
                            <m:naryPr>
                              <m:chr m:val="∑"/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=1</m:t>
                              </m:r>
                            </m:sub>
                            <m:sup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sup>
                            <m:e>
                              <m:sSup>
                                <m:sSup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d>
                                    <m:dPr>
                                      <m:ctrlP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bar>
                                        <m:barPr>
                                          <m:pos m:val="top"/>
                                          <m:ctrlP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barPr>
                                        <m:e>
                                          <m:sSub>
                                            <m:sSubPr>
                                              <m:ctrlPr>
                                                <a:rPr lang="en-US" i="1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sSubPr>
                                            <m:e>
                                              <m:r>
                                                <a:rPr lang="en-US" i="1">
                                                  <a:latin typeface="Cambria Math" panose="02040503050406030204" pitchFamily="18" charset="0"/>
                                                </a:rPr>
                                                <m:t>𝑦</m:t>
                                              </m:r>
                                            </m:e>
                                            <m:sub>
                                              <m:r>
                                                <a:rPr lang="en-US" i="1">
                                                  <a:latin typeface="Cambria Math" panose="02040503050406030204" pitchFamily="18" charset="0"/>
                                                </a:rPr>
                                                <m:t>𝑖</m:t>
                                              </m:r>
                                            </m:sub>
                                          </m:sSub>
                                        </m:e>
                                      </m:bar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−</m:t>
                                      </m:r>
                                      <m:sSub>
                                        <m:sSubPr>
                                          <m:ctrlP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  <m:t>𝑦</m:t>
                                          </m:r>
                                        </m:e>
                                        <m:sub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  <m:t>𝑖</m:t>
                                          </m:r>
                                        </m:sub>
                                      </m:sSub>
                                    </m:e>
                                  </m:d>
                                </m:e>
                                <m:sup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</m:e>
                          </m:nary>
                        </m:den>
                      </m:f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⋅</m:t>
                      </m:r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−1)</m:t>
                          </m:r>
                        </m:num>
                        <m:den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𝑘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)</m:t>
                          </m:r>
                        </m:den>
                      </m:f>
                    </m:oMath>
                  </m:oMathPara>
                </a14:m>
                <a:endParaRPr lang="en-US" dirty="0">
                  <a:solidFill>
                    <a:srgbClr val="333333"/>
                  </a:solidFill>
                  <a:latin typeface="Source Sans Pro" panose="020B0503030403020204" pitchFamily="34" charset="0"/>
                </a:endParaRPr>
              </a:p>
              <a:p>
                <a:pPr marL="0" indent="0" algn="just">
                  <a:buNone/>
                </a:pPr>
                <a:endParaRPr lang="en-US" b="0" i="0" dirty="0">
                  <a:solidFill>
                    <a:srgbClr val="333333"/>
                  </a:solidFill>
                  <a:effectLst/>
                  <a:latin typeface="Source Sans Pro" panose="020B0503030403020204" pitchFamily="34" charset="0"/>
                </a:endParaRPr>
              </a:p>
              <a:p>
                <a:pPr marL="0" indent="0" algn="just">
                  <a:buNone/>
                </a:pPr>
                <a:r>
                  <a:rPr lang="ru-RU" b="0" i="0" dirty="0">
                    <a:solidFill>
                      <a:srgbClr val="333333"/>
                    </a:solidFill>
                    <a:effectLst/>
                    <a:latin typeface="Source Sans Pro" panose="020B0503030403020204" pitchFamily="34" charset="0"/>
                  </a:rPr>
                  <a:t>где </a:t>
                </a:r>
                <a:r>
                  <a:rPr lang="ru-RU" b="0" i="1" dirty="0">
                    <a:solidFill>
                      <a:srgbClr val="333333"/>
                    </a:solidFill>
                    <a:effectLst/>
                    <a:latin typeface="KaTeX_Math"/>
                  </a:rPr>
                  <a:t>n</a:t>
                </a:r>
                <a:r>
                  <a:rPr lang="ru-RU" b="0" i="0" dirty="0">
                    <a:solidFill>
                      <a:srgbClr val="333333"/>
                    </a:solidFill>
                    <a:effectLst/>
                    <a:latin typeface="Source Sans Pro" panose="020B0503030403020204" pitchFamily="34" charset="0"/>
                  </a:rPr>
                  <a:t> — число наблюдений, на основе которых строится модель, </a:t>
                </a:r>
                <a:r>
                  <a:rPr lang="ru-RU" b="0" i="1" dirty="0">
                    <a:solidFill>
                      <a:srgbClr val="333333"/>
                    </a:solidFill>
                    <a:effectLst/>
                    <a:latin typeface="KaTeX_Math"/>
                  </a:rPr>
                  <a:t>k</a:t>
                </a:r>
                <a:r>
                  <a:rPr lang="ru-RU" b="0" i="0" dirty="0">
                    <a:solidFill>
                      <a:srgbClr val="333333"/>
                    </a:solidFill>
                    <a:effectLst/>
                    <a:latin typeface="Source Sans Pro" panose="020B0503030403020204" pitchFamily="34" charset="0"/>
                  </a:rPr>
                  <a:t> — количество переменных в модели.</a:t>
                </a:r>
              </a:p>
              <a:p>
                <a:pPr marL="0" indent="0" algn="just">
                  <a:buNone/>
                </a:pPr>
                <a:r>
                  <a:rPr lang="ru-RU" b="0" i="0" dirty="0">
                    <a:solidFill>
                      <a:srgbClr val="333333"/>
                    </a:solidFill>
                    <a:effectLst/>
                    <a:latin typeface="Source Sans Pro" panose="020B0503030403020204" pitchFamily="34" charset="0"/>
                  </a:rPr>
                  <a:t>Скорректированный коэффициент детерминации всегда меньше единицы, но теоретически может принимать значения и меньше нуля только при очень малом значении обычного коэффициента детерминации и большом количестве переменных модели.</a:t>
                </a:r>
              </a:p>
              <a:p>
                <a:pPr marL="0" indent="0" algn="just">
                  <a:buNone/>
                </a:pPr>
                <a:endParaRPr lang="en-US" b="0" i="0" dirty="0">
                  <a:solidFill>
                    <a:srgbClr val="333333"/>
                  </a:solidFill>
                  <a:effectLst/>
                  <a:latin typeface="Source Sans Pro" panose="020B0503030403020204" pitchFamily="34" charset="0"/>
                </a:endParaRPr>
              </a:p>
            </p:txBody>
          </p:sp>
        </mc:Choice>
        <mc:Fallback xmlns="">
          <p:sp>
            <p:nvSpPr>
              <p:cNvPr id="13" name="Объект 12">
                <a:extLst>
                  <a:ext uri="{FF2B5EF4-FFF2-40B4-BE49-F238E27FC236}">
                    <a16:creationId xmlns:a16="http://schemas.microsoft.com/office/drawing/2014/main" id="{82AE6CBD-CFDE-4063-9B36-1FDB84579F98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47700" y="1019909"/>
                <a:ext cx="7886700" cy="5409971"/>
              </a:xfrm>
              <a:blipFill>
                <a:blip r:embed="rId3"/>
                <a:stretch>
                  <a:fillRect l="-927" t="-1239" r="-927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5" name="Нижний колонтитул 14">
            <a:extLst>
              <a:ext uri="{FF2B5EF4-FFF2-40B4-BE49-F238E27FC236}">
                <a16:creationId xmlns:a16="http://schemas.microsoft.com/office/drawing/2014/main" id="{AA8A4204-EF06-40BC-866B-4798F99B1F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028950" y="6356351"/>
            <a:ext cx="3086100" cy="365125"/>
          </a:xfrm>
        </p:spPr>
        <p:txBody>
          <a:bodyPr/>
          <a:lstStyle/>
          <a:p>
            <a:endParaRPr lang="ru-RU" dirty="0"/>
          </a:p>
        </p:txBody>
      </p:sp>
      <p:sp>
        <p:nvSpPr>
          <p:cNvPr id="16" name="Номер слайда 15">
            <a:extLst>
              <a:ext uri="{FF2B5EF4-FFF2-40B4-BE49-F238E27FC236}">
                <a16:creationId xmlns:a16="http://schemas.microsoft.com/office/drawing/2014/main" id="{7FB49953-6CBB-499B-9914-371BDCE568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457950" y="6356351"/>
            <a:ext cx="2057400" cy="365125"/>
          </a:xfrm>
        </p:spPr>
        <p:txBody>
          <a:bodyPr/>
          <a:lstStyle/>
          <a:p>
            <a:fld id="{81C5FB71-5E9C-41B5-9BB8-3F1EBEAEB16A}" type="slidenum">
              <a:rPr lang="ru-RU" smtClean="0"/>
              <a:pPr/>
              <a:t>22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20573337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object 17"/>
          <p:cNvSpPr/>
          <p:nvPr/>
        </p:nvSpPr>
        <p:spPr>
          <a:xfrm>
            <a:off x="463550" y="4633912"/>
            <a:ext cx="8486775" cy="1386205"/>
          </a:xfrm>
          <a:custGeom>
            <a:avLst/>
            <a:gdLst/>
            <a:ahLst/>
            <a:cxnLst/>
            <a:rect l="l" t="t" r="r" b="b"/>
            <a:pathLst>
              <a:path w="8486775" h="1386204">
                <a:moveTo>
                  <a:pt x="8486775" y="0"/>
                </a:moveTo>
                <a:lnTo>
                  <a:pt x="0" y="0"/>
                </a:lnTo>
                <a:lnTo>
                  <a:pt x="0" y="1385887"/>
                </a:lnTo>
                <a:lnTo>
                  <a:pt x="8486775" y="1385887"/>
                </a:lnTo>
                <a:lnTo>
                  <a:pt x="8486775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object 18"/>
          <p:cNvSpPr txBox="1"/>
          <p:nvPr/>
        </p:nvSpPr>
        <p:spPr>
          <a:xfrm>
            <a:off x="494865" y="774444"/>
            <a:ext cx="8219670" cy="5324022"/>
          </a:xfrm>
          <a:prstGeom prst="rect">
            <a:avLst/>
          </a:prstGeom>
        </p:spPr>
        <p:txBody>
          <a:bodyPr vert="horz" wrap="square" lIns="0" tIns="85725" rIns="0" bIns="0" rtlCol="0">
            <a:spAutoFit/>
          </a:bodyPr>
          <a:lstStyle/>
          <a:p>
            <a:pPr marL="12700" algn="just">
              <a:lnSpc>
                <a:spcPct val="100000"/>
              </a:lnSpc>
              <a:spcBef>
                <a:spcPts val="675"/>
              </a:spcBef>
            </a:pPr>
            <a:r>
              <a:rPr lang="ru-RU" sz="2000" dirty="0">
                <a:latin typeface="Arial"/>
                <a:cs typeface="Arial"/>
              </a:rPr>
              <a:t>Регрессионный анализ –  это метод определения связи между двумя варьирующими переменными. </a:t>
            </a:r>
          </a:p>
          <a:p>
            <a:pPr marL="12700" algn="just">
              <a:lnSpc>
                <a:spcPct val="100000"/>
              </a:lnSpc>
              <a:spcBef>
                <a:spcPts val="675"/>
              </a:spcBef>
            </a:pPr>
            <a:r>
              <a:rPr lang="ru-RU" sz="2000" dirty="0">
                <a:latin typeface="Arial"/>
                <a:cs typeface="Arial"/>
              </a:rPr>
              <a:t>Оценивать y по x можно имея данные о функциональном</a:t>
            </a:r>
          </a:p>
          <a:p>
            <a:pPr marL="12700" algn="just">
              <a:lnSpc>
                <a:spcPct val="100000"/>
              </a:lnSpc>
              <a:spcBef>
                <a:spcPts val="675"/>
              </a:spcBef>
            </a:pPr>
            <a:r>
              <a:rPr lang="ru-RU" sz="2000" dirty="0">
                <a:latin typeface="Arial"/>
                <a:cs typeface="Arial"/>
              </a:rPr>
              <a:t>отношении связи между переменными x и y.</a:t>
            </a:r>
          </a:p>
          <a:p>
            <a:pPr marL="355600" indent="-342900" algn="just">
              <a:lnSpc>
                <a:spcPct val="100000"/>
              </a:lnSpc>
              <a:spcBef>
                <a:spcPts val="675"/>
              </a:spcBef>
              <a:buFont typeface="Wingdings" panose="05000000000000000000" pitchFamily="2" charset="2"/>
              <a:buChar char="ü"/>
            </a:pPr>
            <a:r>
              <a:rPr sz="2000" dirty="0" err="1">
                <a:latin typeface="Arial"/>
                <a:cs typeface="Arial"/>
              </a:rPr>
              <a:t>Переменная</a:t>
            </a:r>
            <a:r>
              <a:rPr sz="2000" dirty="0">
                <a:latin typeface="Arial"/>
                <a:cs typeface="Arial"/>
              </a:rPr>
              <a:t>,</a:t>
            </a:r>
            <a:r>
              <a:rPr sz="2000" spc="295" dirty="0">
                <a:latin typeface="Times New Roman"/>
                <a:cs typeface="Times New Roman"/>
              </a:rPr>
              <a:t>  </a:t>
            </a:r>
            <a:r>
              <a:rPr sz="2000" dirty="0">
                <a:latin typeface="Arial"/>
                <a:cs typeface="Arial"/>
              </a:rPr>
              <a:t>которую</a:t>
            </a:r>
            <a:r>
              <a:rPr sz="2000" spc="295" dirty="0">
                <a:latin typeface="Times New Roman"/>
                <a:cs typeface="Times New Roman"/>
              </a:rPr>
              <a:t>  </a:t>
            </a:r>
            <a:r>
              <a:rPr sz="2000" dirty="0">
                <a:latin typeface="Arial"/>
                <a:cs typeface="Arial"/>
              </a:rPr>
              <a:t>необходимо</a:t>
            </a:r>
            <a:r>
              <a:rPr sz="2000" spc="300" dirty="0">
                <a:latin typeface="Times New Roman"/>
                <a:cs typeface="Times New Roman"/>
              </a:rPr>
              <a:t>  </a:t>
            </a:r>
            <a:r>
              <a:rPr sz="2000" dirty="0">
                <a:latin typeface="Arial"/>
                <a:cs typeface="Arial"/>
              </a:rPr>
              <a:t>оценить</a:t>
            </a:r>
            <a:r>
              <a:rPr sz="2000" spc="295" dirty="0">
                <a:latin typeface="Times New Roman"/>
                <a:cs typeface="Times New Roman"/>
              </a:rPr>
              <a:t>  </a:t>
            </a:r>
            <a:r>
              <a:rPr sz="2000" dirty="0">
                <a:latin typeface="Arial"/>
                <a:cs typeface="Arial"/>
              </a:rPr>
              <a:t>–</a:t>
            </a:r>
            <a:r>
              <a:rPr sz="2000" spc="300" dirty="0">
                <a:latin typeface="Times New Roman"/>
                <a:cs typeface="Times New Roman"/>
              </a:rPr>
              <a:t>  </a:t>
            </a:r>
            <a:r>
              <a:rPr sz="2000" b="1" spc="-10" dirty="0">
                <a:solidFill>
                  <a:schemeClr val="tx1"/>
                </a:solidFill>
                <a:latin typeface="Arial"/>
                <a:cs typeface="Arial"/>
              </a:rPr>
              <a:t>зависимая</a:t>
            </a:r>
            <a:r>
              <a:rPr sz="2000" spc="-10" dirty="0">
                <a:solidFill>
                  <a:schemeClr val="tx1"/>
                </a:solidFill>
                <a:latin typeface="Times New Roman"/>
                <a:cs typeface="Times New Roman"/>
              </a:rPr>
              <a:t> </a:t>
            </a:r>
            <a:r>
              <a:rPr sz="2000" b="1" dirty="0">
                <a:solidFill>
                  <a:schemeClr val="tx1"/>
                </a:solidFill>
                <a:latin typeface="Arial"/>
                <a:cs typeface="Arial"/>
              </a:rPr>
              <a:t>переменная</a:t>
            </a:r>
            <a:r>
              <a:rPr sz="2000" spc="-15" dirty="0">
                <a:solidFill>
                  <a:srgbClr val="164060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latin typeface="Arial"/>
                <a:cs typeface="Arial"/>
              </a:rPr>
              <a:t>(y):</a:t>
            </a:r>
            <a:r>
              <a:rPr sz="2000" spc="-1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Arial"/>
                <a:cs typeface="Arial"/>
              </a:rPr>
              <a:t>правильность</a:t>
            </a:r>
            <a:r>
              <a:rPr sz="2000" spc="-10" dirty="0">
                <a:latin typeface="Times New Roman"/>
                <a:cs typeface="Times New Roman"/>
              </a:rPr>
              <a:t> </a:t>
            </a:r>
            <a:r>
              <a:rPr sz="2000" spc="-10" dirty="0">
                <a:latin typeface="Arial"/>
                <a:cs typeface="Arial"/>
              </a:rPr>
              <a:t>ответа,</a:t>
            </a:r>
            <a:r>
              <a:rPr sz="2000" spc="-1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Arial"/>
                <a:cs typeface="Arial"/>
              </a:rPr>
              <a:t>скорость</a:t>
            </a:r>
            <a:r>
              <a:rPr sz="2000" spc="-1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Arial"/>
                <a:cs typeface="Arial"/>
              </a:rPr>
              <a:t>реакции</a:t>
            </a:r>
            <a:r>
              <a:rPr sz="2000" spc="-2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Arial"/>
                <a:cs typeface="Arial"/>
              </a:rPr>
              <a:t>и</a:t>
            </a:r>
            <a:r>
              <a:rPr sz="2000" spc="-20" dirty="0">
                <a:latin typeface="Times New Roman"/>
                <a:cs typeface="Times New Roman"/>
              </a:rPr>
              <a:t> </a:t>
            </a:r>
            <a:r>
              <a:rPr sz="2000" spc="-20" dirty="0">
                <a:latin typeface="Arial"/>
                <a:cs typeface="Arial"/>
              </a:rPr>
              <a:t>т.д.</a:t>
            </a:r>
            <a:endParaRPr sz="2000" dirty="0">
              <a:latin typeface="Arial"/>
              <a:cs typeface="Arial"/>
            </a:endParaRPr>
          </a:p>
          <a:p>
            <a:pPr marL="355600" marR="5080" indent="-342900" algn="just">
              <a:lnSpc>
                <a:spcPct val="100000"/>
              </a:lnSpc>
              <a:spcBef>
                <a:spcPts val="595"/>
              </a:spcBef>
              <a:buFont typeface="Wingdings" panose="05000000000000000000" pitchFamily="2" charset="2"/>
              <a:buChar char="ü"/>
              <a:tabLst>
                <a:tab pos="355600" algn="l"/>
              </a:tabLst>
            </a:pPr>
            <a:r>
              <a:rPr sz="2000" dirty="0">
                <a:latin typeface="Arial"/>
                <a:cs typeface="Arial"/>
              </a:rPr>
              <a:t>Переменная</a:t>
            </a:r>
            <a:r>
              <a:rPr sz="2000" spc="145" dirty="0">
                <a:latin typeface="Times New Roman"/>
                <a:cs typeface="Times New Roman"/>
              </a:rPr>
              <a:t>  </a:t>
            </a:r>
            <a:r>
              <a:rPr sz="2000" dirty="0">
                <a:latin typeface="Arial"/>
                <a:cs typeface="Arial"/>
              </a:rPr>
              <a:t>в</a:t>
            </a:r>
            <a:r>
              <a:rPr sz="2000" spc="145" dirty="0">
                <a:latin typeface="Times New Roman"/>
                <a:cs typeface="Times New Roman"/>
              </a:rPr>
              <a:t>  </a:t>
            </a:r>
            <a:r>
              <a:rPr sz="2000" dirty="0">
                <a:latin typeface="Arial"/>
                <a:cs typeface="Arial"/>
              </a:rPr>
              <a:t>фокусе</a:t>
            </a:r>
            <a:r>
              <a:rPr sz="2000" spc="145" dirty="0">
                <a:latin typeface="Times New Roman"/>
                <a:cs typeface="Times New Roman"/>
              </a:rPr>
              <a:t>  </a:t>
            </a:r>
            <a:r>
              <a:rPr sz="2000" dirty="0">
                <a:latin typeface="Arial"/>
                <a:cs typeface="Arial"/>
              </a:rPr>
              <a:t>интереса,</a:t>
            </a:r>
            <a:r>
              <a:rPr sz="2000" spc="150" dirty="0">
                <a:latin typeface="Times New Roman"/>
                <a:cs typeface="Times New Roman"/>
              </a:rPr>
              <a:t>  </a:t>
            </a:r>
            <a:r>
              <a:rPr sz="2000" dirty="0">
                <a:latin typeface="Arial"/>
                <a:cs typeface="Arial"/>
              </a:rPr>
              <a:t>которую</a:t>
            </a:r>
            <a:r>
              <a:rPr sz="2000" spc="145" dirty="0">
                <a:latin typeface="Times New Roman"/>
                <a:cs typeface="Times New Roman"/>
              </a:rPr>
              <a:t>  </a:t>
            </a:r>
            <a:r>
              <a:rPr sz="2000" dirty="0">
                <a:latin typeface="Arial"/>
                <a:cs typeface="Arial"/>
              </a:rPr>
              <a:t>используют</a:t>
            </a:r>
            <a:r>
              <a:rPr sz="2000" spc="150" dirty="0">
                <a:latin typeface="Times New Roman"/>
                <a:cs typeface="Times New Roman"/>
              </a:rPr>
              <a:t>  </a:t>
            </a:r>
            <a:r>
              <a:rPr sz="2000" spc="-25" dirty="0">
                <a:latin typeface="Arial"/>
                <a:cs typeface="Arial"/>
              </a:rPr>
              <a:t>для</a:t>
            </a:r>
            <a:r>
              <a:rPr sz="2000" spc="-2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Arial"/>
                <a:cs typeface="Arial"/>
              </a:rPr>
              <a:t>оценки</a:t>
            </a:r>
            <a:r>
              <a:rPr sz="2000" spc="350" dirty="0">
                <a:latin typeface="Times New Roman"/>
                <a:cs typeface="Times New Roman"/>
              </a:rPr>
              <a:t>  </a:t>
            </a:r>
            <a:r>
              <a:rPr sz="2000" dirty="0">
                <a:latin typeface="Arial"/>
                <a:cs typeface="Arial"/>
              </a:rPr>
              <a:t>зависимой</a:t>
            </a:r>
            <a:r>
              <a:rPr sz="2000" spc="350" dirty="0">
                <a:latin typeface="Times New Roman"/>
                <a:cs typeface="Times New Roman"/>
              </a:rPr>
              <a:t>  </a:t>
            </a:r>
            <a:r>
              <a:rPr sz="2000" dirty="0">
                <a:latin typeface="Arial"/>
                <a:cs typeface="Arial"/>
              </a:rPr>
              <a:t>переменной</a:t>
            </a:r>
            <a:r>
              <a:rPr sz="2000" spc="350" dirty="0">
                <a:latin typeface="Times New Roman"/>
                <a:cs typeface="Times New Roman"/>
              </a:rPr>
              <a:t>  </a:t>
            </a:r>
            <a:r>
              <a:rPr sz="2000" dirty="0">
                <a:latin typeface="Arial"/>
                <a:cs typeface="Arial"/>
              </a:rPr>
              <a:t>называется</a:t>
            </a:r>
            <a:r>
              <a:rPr sz="2000" spc="355" dirty="0">
                <a:latin typeface="Times New Roman"/>
                <a:cs typeface="Times New Roman"/>
              </a:rPr>
              <a:t>  </a:t>
            </a:r>
            <a:r>
              <a:rPr sz="2000" b="1" spc="-10" dirty="0">
                <a:solidFill>
                  <a:srgbClr val="164060"/>
                </a:solidFill>
                <a:latin typeface="Arial"/>
                <a:cs typeface="Arial"/>
              </a:rPr>
              <a:t>независимой</a:t>
            </a:r>
            <a:r>
              <a:rPr sz="2000" spc="-10" dirty="0">
                <a:solidFill>
                  <a:srgbClr val="164060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latin typeface="Arial"/>
                <a:cs typeface="Arial"/>
              </a:rPr>
              <a:t>(фактором,</a:t>
            </a:r>
            <a:r>
              <a:rPr sz="2000" spc="-8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Arial"/>
                <a:cs typeface="Arial"/>
              </a:rPr>
              <a:t>предикатором)</a:t>
            </a:r>
            <a:r>
              <a:rPr sz="2000" spc="-70" dirty="0">
                <a:latin typeface="Times New Roman"/>
                <a:cs typeface="Times New Roman"/>
              </a:rPr>
              <a:t> </a:t>
            </a:r>
            <a:r>
              <a:rPr sz="2000" spc="-20" dirty="0">
                <a:latin typeface="Arial"/>
                <a:cs typeface="Arial"/>
              </a:rPr>
              <a:t>(x).</a:t>
            </a:r>
            <a:endParaRPr sz="2000" dirty="0">
              <a:latin typeface="Arial"/>
              <a:cs typeface="Arial"/>
            </a:endParaRPr>
          </a:p>
          <a:p>
            <a:pPr marL="354965" marR="5715" indent="-342900" algn="just">
              <a:lnSpc>
                <a:spcPts val="2590"/>
              </a:lnSpc>
              <a:spcBef>
                <a:spcPts val="705"/>
              </a:spcBef>
              <a:buClr>
                <a:srgbClr val="000000"/>
              </a:buClr>
              <a:buFont typeface="Wingdings" panose="05000000000000000000" pitchFamily="2" charset="2"/>
              <a:buChar char="ü"/>
              <a:tabLst>
                <a:tab pos="354965" algn="l"/>
              </a:tabLst>
            </a:pPr>
            <a:r>
              <a:rPr sz="2000" b="1" dirty="0" err="1">
                <a:solidFill>
                  <a:schemeClr val="tx1"/>
                </a:solidFill>
                <a:latin typeface="Arial"/>
                <a:cs typeface="Arial"/>
              </a:rPr>
              <a:t>Главная</a:t>
            </a:r>
            <a:r>
              <a:rPr sz="2000" spc="310" dirty="0">
                <a:solidFill>
                  <a:schemeClr val="tx1"/>
                </a:solidFill>
                <a:latin typeface="Times New Roman"/>
                <a:cs typeface="Times New Roman"/>
              </a:rPr>
              <a:t> </a:t>
            </a:r>
            <a:r>
              <a:rPr sz="2000" b="1" dirty="0" err="1">
                <a:solidFill>
                  <a:schemeClr val="tx1"/>
                </a:solidFill>
                <a:latin typeface="Arial"/>
                <a:cs typeface="Arial"/>
              </a:rPr>
              <a:t>задача</a:t>
            </a:r>
            <a:r>
              <a:rPr sz="2000" spc="305" dirty="0">
                <a:solidFill>
                  <a:schemeClr val="tx1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latin typeface="Arial"/>
                <a:cs typeface="Arial"/>
              </a:rPr>
              <a:t>–</a:t>
            </a:r>
            <a:r>
              <a:rPr sz="2000" spc="31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Arial"/>
                <a:cs typeface="Arial"/>
              </a:rPr>
              <a:t>выразить</a:t>
            </a:r>
            <a:r>
              <a:rPr sz="2000" spc="31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Arial"/>
                <a:cs typeface="Arial"/>
              </a:rPr>
              <a:t>корреляционную</a:t>
            </a:r>
            <a:r>
              <a:rPr sz="2000" spc="31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Arial"/>
                <a:cs typeface="Arial"/>
              </a:rPr>
              <a:t>зависимости</a:t>
            </a:r>
            <a:r>
              <a:rPr sz="2000" spc="305" dirty="0">
                <a:latin typeface="Times New Roman"/>
                <a:cs typeface="Times New Roman"/>
              </a:rPr>
              <a:t> </a:t>
            </a:r>
            <a:r>
              <a:rPr sz="2000" spc="-50" dirty="0">
                <a:latin typeface="Arial"/>
                <a:cs typeface="Arial"/>
              </a:rPr>
              <a:t>в</a:t>
            </a:r>
            <a:r>
              <a:rPr sz="2000" spc="-5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Arial"/>
                <a:cs typeface="Arial"/>
              </a:rPr>
              <a:t>виде</a:t>
            </a:r>
            <a:r>
              <a:rPr sz="2000" spc="-5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Arial"/>
                <a:cs typeface="Arial"/>
              </a:rPr>
              <a:t>функциональных</a:t>
            </a:r>
            <a:r>
              <a:rPr sz="2000" spc="-50" dirty="0">
                <a:latin typeface="Times New Roman"/>
                <a:cs typeface="Times New Roman"/>
              </a:rPr>
              <a:t> </a:t>
            </a:r>
            <a:r>
              <a:rPr sz="2000" spc="-10" dirty="0">
                <a:latin typeface="Arial"/>
                <a:cs typeface="Arial"/>
              </a:rPr>
              <a:t>отношений.</a:t>
            </a:r>
            <a:endParaRPr sz="2000" dirty="0">
              <a:latin typeface="Arial"/>
              <a:cs typeface="Arial"/>
            </a:endParaRPr>
          </a:p>
          <a:p>
            <a:pPr marL="225425" algn="just">
              <a:lnSpc>
                <a:spcPct val="100000"/>
              </a:lnSpc>
              <a:spcBef>
                <a:spcPts val="695"/>
              </a:spcBef>
            </a:pPr>
            <a:r>
              <a:rPr sz="2000" b="1" dirty="0">
                <a:latin typeface="Arial"/>
                <a:cs typeface="Arial"/>
              </a:rPr>
              <a:t>Примеры</a:t>
            </a:r>
            <a:r>
              <a:rPr sz="2000" spc="-10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Arial"/>
                <a:cs typeface="Arial"/>
              </a:rPr>
              <a:t>задач</a:t>
            </a:r>
            <a:r>
              <a:rPr sz="2000" spc="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Arial"/>
                <a:cs typeface="Arial"/>
              </a:rPr>
              <a:t>оценивания</a:t>
            </a:r>
            <a:r>
              <a:rPr sz="200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Arial"/>
                <a:cs typeface="Arial"/>
              </a:rPr>
              <a:t>y</a:t>
            </a:r>
            <a:r>
              <a:rPr sz="2000" spc="-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Arial"/>
                <a:cs typeface="Arial"/>
              </a:rPr>
              <a:t>по</a:t>
            </a:r>
            <a:r>
              <a:rPr sz="2000" spc="-5" dirty="0">
                <a:latin typeface="Times New Roman"/>
                <a:cs typeface="Times New Roman"/>
              </a:rPr>
              <a:t> </a:t>
            </a:r>
            <a:r>
              <a:rPr sz="2000" spc="-25" dirty="0">
                <a:latin typeface="Arial"/>
                <a:cs typeface="Arial"/>
              </a:rPr>
              <a:t>x:</a:t>
            </a:r>
            <a:endParaRPr sz="2000" dirty="0">
              <a:latin typeface="Arial"/>
              <a:cs typeface="Arial"/>
            </a:endParaRPr>
          </a:p>
          <a:p>
            <a:pPr marL="681990" lvl="1" indent="-412115" algn="just">
              <a:lnSpc>
                <a:spcPts val="2510"/>
              </a:lnSpc>
              <a:spcBef>
                <a:spcPts val="70"/>
              </a:spcBef>
              <a:buFont typeface="Wingdings"/>
              <a:buChar char=""/>
              <a:tabLst>
                <a:tab pos="681990" algn="l"/>
              </a:tabLst>
            </a:pPr>
            <a:r>
              <a:rPr sz="2000" dirty="0">
                <a:latin typeface="Arial"/>
                <a:cs typeface="Arial"/>
              </a:rPr>
              <a:t>Предсказание</a:t>
            </a:r>
            <a:r>
              <a:rPr sz="2000" spc="-3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Arial"/>
                <a:cs typeface="Arial"/>
              </a:rPr>
              <a:t>объема</a:t>
            </a:r>
            <a:r>
              <a:rPr sz="2000" spc="-3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Arial"/>
                <a:cs typeface="Arial"/>
              </a:rPr>
              <a:t>продаж</a:t>
            </a:r>
            <a:r>
              <a:rPr sz="2000" spc="-3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Arial"/>
                <a:cs typeface="Arial"/>
              </a:rPr>
              <a:t>(y)</a:t>
            </a:r>
            <a:r>
              <a:rPr sz="2000" spc="-2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Arial"/>
                <a:cs typeface="Arial"/>
              </a:rPr>
              <a:t>по</a:t>
            </a:r>
            <a:r>
              <a:rPr sz="2000" spc="-3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Arial"/>
                <a:cs typeface="Arial"/>
              </a:rPr>
              <a:t>рекламным</a:t>
            </a:r>
            <a:r>
              <a:rPr sz="2000" spc="-2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Arial"/>
                <a:cs typeface="Arial"/>
              </a:rPr>
              <a:t>затратам</a:t>
            </a:r>
            <a:r>
              <a:rPr sz="2000" spc="-20" dirty="0">
                <a:latin typeface="Times New Roman"/>
                <a:cs typeface="Times New Roman"/>
              </a:rPr>
              <a:t> </a:t>
            </a:r>
            <a:r>
              <a:rPr sz="2000" spc="-20" dirty="0">
                <a:latin typeface="Arial"/>
                <a:cs typeface="Arial"/>
              </a:rPr>
              <a:t>(x).</a:t>
            </a:r>
            <a:endParaRPr sz="2000" dirty="0">
              <a:latin typeface="Arial"/>
              <a:cs typeface="Arial"/>
            </a:endParaRPr>
          </a:p>
          <a:p>
            <a:pPr marL="682625" marR="13335" lvl="1" indent="-412750" algn="just">
              <a:lnSpc>
                <a:spcPts val="2500"/>
              </a:lnSpc>
              <a:spcBef>
                <a:spcPts val="90"/>
              </a:spcBef>
              <a:buFont typeface="Wingdings"/>
              <a:buChar char=""/>
              <a:tabLst>
                <a:tab pos="682625" algn="l"/>
              </a:tabLst>
            </a:pPr>
            <a:r>
              <a:rPr sz="2000" dirty="0">
                <a:latin typeface="Arial"/>
                <a:cs typeface="Arial"/>
              </a:rPr>
              <a:t>Прогнозирование</a:t>
            </a:r>
            <a:r>
              <a:rPr sz="2000" spc="295" dirty="0">
                <a:latin typeface="Times New Roman"/>
                <a:cs typeface="Times New Roman"/>
              </a:rPr>
              <a:t>  </a:t>
            </a:r>
            <a:r>
              <a:rPr sz="2000" dirty="0">
                <a:latin typeface="Arial"/>
                <a:cs typeface="Arial"/>
              </a:rPr>
              <a:t>текучести</a:t>
            </a:r>
            <a:r>
              <a:rPr sz="2000" spc="295" dirty="0">
                <a:latin typeface="Times New Roman"/>
                <a:cs typeface="Times New Roman"/>
              </a:rPr>
              <a:t>  </a:t>
            </a:r>
            <a:r>
              <a:rPr sz="2000" dirty="0">
                <a:latin typeface="Arial"/>
                <a:cs typeface="Arial"/>
              </a:rPr>
              <a:t>кадров</a:t>
            </a:r>
            <a:r>
              <a:rPr sz="2000" spc="295" dirty="0">
                <a:latin typeface="Times New Roman"/>
                <a:cs typeface="Times New Roman"/>
              </a:rPr>
              <a:t>  </a:t>
            </a:r>
            <a:r>
              <a:rPr sz="2000" dirty="0">
                <a:latin typeface="Arial"/>
                <a:cs typeface="Arial"/>
              </a:rPr>
              <a:t>(y)</a:t>
            </a:r>
            <a:r>
              <a:rPr sz="2000" spc="295" dirty="0">
                <a:latin typeface="Times New Roman"/>
                <a:cs typeface="Times New Roman"/>
              </a:rPr>
              <a:t>  </a:t>
            </a:r>
            <a:r>
              <a:rPr sz="2000" dirty="0">
                <a:latin typeface="Arial"/>
                <a:cs typeface="Arial"/>
              </a:rPr>
              <a:t>в</a:t>
            </a:r>
            <a:r>
              <a:rPr sz="2000" spc="295" dirty="0">
                <a:latin typeface="Times New Roman"/>
                <a:cs typeface="Times New Roman"/>
              </a:rPr>
              <a:t>  </a:t>
            </a:r>
            <a:r>
              <a:rPr sz="2000" dirty="0">
                <a:latin typeface="Arial"/>
                <a:cs typeface="Arial"/>
              </a:rPr>
              <a:t>зависимости</a:t>
            </a:r>
            <a:r>
              <a:rPr sz="2000" spc="295" dirty="0">
                <a:latin typeface="Times New Roman"/>
                <a:cs typeface="Times New Roman"/>
              </a:rPr>
              <a:t>  </a:t>
            </a:r>
            <a:r>
              <a:rPr sz="2000" spc="-25" dirty="0">
                <a:latin typeface="Arial"/>
                <a:cs typeface="Arial"/>
              </a:rPr>
              <a:t>от</a:t>
            </a:r>
            <a:r>
              <a:rPr sz="2000" spc="-2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Arial"/>
                <a:cs typeface="Arial"/>
              </a:rPr>
              <a:t>уровня</a:t>
            </a:r>
            <a:r>
              <a:rPr sz="2000" spc="15" dirty="0">
                <a:latin typeface="Times New Roman"/>
                <a:cs typeface="Times New Roman"/>
              </a:rPr>
              <a:t> </a:t>
            </a:r>
            <a:r>
              <a:rPr sz="2000" spc="-20" dirty="0">
                <a:latin typeface="Arial"/>
                <a:cs typeface="Arial"/>
              </a:rPr>
              <a:t>удовлетворенности</a:t>
            </a:r>
            <a:r>
              <a:rPr sz="2000" spc="1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Arial"/>
                <a:cs typeface="Arial"/>
              </a:rPr>
              <a:t>работой</a:t>
            </a:r>
            <a:r>
              <a:rPr sz="2000" spc="1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Arial"/>
                <a:cs typeface="Arial"/>
              </a:rPr>
              <a:t>(x)</a:t>
            </a:r>
            <a:r>
              <a:rPr sz="2000" spc="1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Arial"/>
                <a:cs typeface="Arial"/>
              </a:rPr>
              <a:t>и</a:t>
            </a:r>
            <a:r>
              <a:rPr sz="2000" spc="15" dirty="0">
                <a:latin typeface="Times New Roman"/>
                <a:cs typeface="Times New Roman"/>
              </a:rPr>
              <a:t> </a:t>
            </a:r>
            <a:r>
              <a:rPr sz="2000" spc="-25" dirty="0">
                <a:latin typeface="Arial"/>
                <a:cs typeface="Arial"/>
              </a:rPr>
              <a:t>др.</a:t>
            </a:r>
            <a:endParaRPr sz="2000" dirty="0">
              <a:latin typeface="Arial"/>
              <a:cs typeface="Arial"/>
            </a:endParaRPr>
          </a:p>
        </p:txBody>
      </p:sp>
      <p:sp>
        <p:nvSpPr>
          <p:cNvPr id="19" name="object 19"/>
          <p:cNvSpPr txBox="1">
            <a:spLocks noGrp="1"/>
          </p:cNvSpPr>
          <p:nvPr>
            <p:ph type="title"/>
          </p:nvPr>
        </p:nvSpPr>
        <p:spPr>
          <a:xfrm>
            <a:off x="2519318" y="185118"/>
            <a:ext cx="4375238" cy="50526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200" spc="-10" dirty="0"/>
              <a:t>Регрессионный</a:t>
            </a:r>
            <a:r>
              <a:rPr sz="3200" b="0" spc="-50" dirty="0">
                <a:latin typeface="Times New Roman"/>
                <a:cs typeface="Times New Roman"/>
              </a:rPr>
              <a:t> </a:t>
            </a:r>
            <a:r>
              <a:rPr sz="3200" spc="-10" dirty="0"/>
              <a:t>анализ</a:t>
            </a:r>
            <a:endParaRPr sz="3200" dirty="0">
              <a:latin typeface="Times New Roman"/>
              <a:cs typeface="Times New Roman"/>
            </a:endParaRPr>
          </a:p>
        </p:txBody>
      </p:sp>
      <p:sp>
        <p:nvSpPr>
          <p:cNvPr id="23" name="Нижний колонтитул 22">
            <a:extLst>
              <a:ext uri="{FF2B5EF4-FFF2-40B4-BE49-F238E27FC236}">
                <a16:creationId xmlns:a16="http://schemas.microsoft.com/office/drawing/2014/main" id="{22325AC6-203E-4DCF-9098-B00BDB9492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25" name="Номер слайда 15">
            <a:extLst>
              <a:ext uri="{FF2B5EF4-FFF2-40B4-BE49-F238E27FC236}">
                <a16:creationId xmlns:a16="http://schemas.microsoft.com/office/drawing/2014/main" id="{1C9A6FF0-E806-40E1-ABA8-96DB4AF189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457950" y="6356351"/>
            <a:ext cx="2057400" cy="365125"/>
          </a:xfrm>
        </p:spPr>
        <p:txBody>
          <a:bodyPr/>
          <a:lstStyle/>
          <a:p>
            <a:fld id="{81C5FB71-5E9C-41B5-9BB8-3F1EBEAEB16A}" type="slidenum">
              <a:rPr lang="ru-RU" smtClean="0"/>
              <a:t>23</a:t>
            </a:fld>
            <a:endParaRPr lang="ru-RU" dirty="0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/>
          <p:nvPr/>
        </p:nvSpPr>
        <p:spPr>
          <a:xfrm>
            <a:off x="427037" y="606425"/>
            <a:ext cx="8350250" cy="5046980"/>
          </a:xfrm>
          <a:custGeom>
            <a:avLst/>
            <a:gdLst/>
            <a:ahLst/>
            <a:cxnLst/>
            <a:rect l="l" t="t" r="r" b="b"/>
            <a:pathLst>
              <a:path w="8350250" h="5046980">
                <a:moveTo>
                  <a:pt x="8350250" y="0"/>
                </a:moveTo>
                <a:lnTo>
                  <a:pt x="0" y="0"/>
                </a:lnTo>
                <a:lnTo>
                  <a:pt x="0" y="5046662"/>
                </a:lnTo>
                <a:lnTo>
                  <a:pt x="8350250" y="5046662"/>
                </a:lnTo>
                <a:lnTo>
                  <a:pt x="8350250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 txBox="1"/>
          <p:nvPr/>
        </p:nvSpPr>
        <p:spPr>
          <a:xfrm>
            <a:off x="475615" y="1141095"/>
            <a:ext cx="8192770" cy="4512310"/>
          </a:xfrm>
          <a:prstGeom prst="rect">
            <a:avLst/>
          </a:prstGeom>
        </p:spPr>
        <p:txBody>
          <a:bodyPr vert="horz" wrap="square" lIns="0" tIns="10795" rIns="0" bIns="0" rtlCol="0">
            <a:spAutoFit/>
          </a:bodyPr>
          <a:lstStyle/>
          <a:p>
            <a:pPr marL="12700" marR="5080" algn="just">
              <a:lnSpc>
                <a:spcPct val="100600"/>
              </a:lnSpc>
              <a:spcBef>
                <a:spcPts val="85"/>
              </a:spcBef>
            </a:pPr>
            <a:r>
              <a:rPr sz="2100" b="1" dirty="0">
                <a:solidFill>
                  <a:srgbClr val="164060"/>
                </a:solidFill>
                <a:latin typeface="Arial"/>
                <a:cs typeface="Arial"/>
              </a:rPr>
              <a:t>Пример.</a:t>
            </a:r>
            <a:r>
              <a:rPr sz="2100" spc="235" dirty="0">
                <a:solidFill>
                  <a:srgbClr val="164060"/>
                </a:solidFill>
                <a:latin typeface="Times New Roman"/>
                <a:cs typeface="Times New Roman"/>
              </a:rPr>
              <a:t>   </a:t>
            </a:r>
            <a:r>
              <a:rPr sz="2100" dirty="0">
                <a:latin typeface="Arial"/>
                <a:cs typeface="Arial"/>
              </a:rPr>
              <a:t>Необходимо</a:t>
            </a:r>
            <a:r>
              <a:rPr sz="2100" spc="229" dirty="0">
                <a:latin typeface="Times New Roman"/>
                <a:cs typeface="Times New Roman"/>
              </a:rPr>
              <a:t>   </a:t>
            </a:r>
            <a:r>
              <a:rPr sz="2100" dirty="0">
                <a:latin typeface="Arial"/>
                <a:cs typeface="Arial"/>
              </a:rPr>
              <a:t>предсказать</a:t>
            </a:r>
            <a:r>
              <a:rPr sz="2100" spc="235" dirty="0">
                <a:latin typeface="Times New Roman"/>
                <a:cs typeface="Times New Roman"/>
              </a:rPr>
              <a:t>   </a:t>
            </a:r>
            <a:r>
              <a:rPr sz="2100" dirty="0">
                <a:latin typeface="Arial"/>
                <a:cs typeface="Arial"/>
              </a:rPr>
              <a:t>средний</a:t>
            </a:r>
            <a:r>
              <a:rPr sz="2100" spc="235" dirty="0">
                <a:latin typeface="Times New Roman"/>
                <a:cs typeface="Times New Roman"/>
              </a:rPr>
              <a:t>   </a:t>
            </a:r>
            <a:r>
              <a:rPr sz="2100" dirty="0">
                <a:latin typeface="Arial"/>
                <a:cs typeface="Arial"/>
              </a:rPr>
              <a:t>балл</a:t>
            </a:r>
            <a:r>
              <a:rPr sz="2100" spc="235" dirty="0">
                <a:latin typeface="Times New Roman"/>
                <a:cs typeface="Times New Roman"/>
              </a:rPr>
              <a:t>   </a:t>
            </a:r>
            <a:r>
              <a:rPr sz="2100" spc="-10" dirty="0">
                <a:latin typeface="Arial"/>
                <a:cs typeface="Arial"/>
              </a:rPr>
              <a:t>оценок</a:t>
            </a:r>
            <a:r>
              <a:rPr sz="2100" spc="-10" dirty="0">
                <a:latin typeface="Times New Roman"/>
                <a:cs typeface="Times New Roman"/>
              </a:rPr>
              <a:t> </a:t>
            </a:r>
            <a:r>
              <a:rPr sz="2100" dirty="0">
                <a:latin typeface="Arial"/>
                <a:cs typeface="Arial"/>
              </a:rPr>
              <a:t>студентов,</a:t>
            </a:r>
            <a:r>
              <a:rPr sz="2100" spc="15" dirty="0">
                <a:latin typeface="Times New Roman"/>
                <a:cs typeface="Times New Roman"/>
              </a:rPr>
              <a:t>  </a:t>
            </a:r>
            <a:r>
              <a:rPr sz="2100" dirty="0">
                <a:latin typeface="Arial"/>
                <a:cs typeface="Arial"/>
              </a:rPr>
              <a:t>полученных</a:t>
            </a:r>
            <a:r>
              <a:rPr sz="2100" spc="20" dirty="0">
                <a:latin typeface="Times New Roman"/>
                <a:cs typeface="Times New Roman"/>
              </a:rPr>
              <a:t>  </a:t>
            </a:r>
            <a:r>
              <a:rPr sz="2100" dirty="0">
                <a:latin typeface="Arial"/>
                <a:cs typeface="Arial"/>
              </a:rPr>
              <a:t>во</a:t>
            </a:r>
            <a:r>
              <a:rPr sz="2100" spc="15" dirty="0">
                <a:latin typeface="Times New Roman"/>
                <a:cs typeface="Times New Roman"/>
              </a:rPr>
              <a:t>  </a:t>
            </a:r>
            <a:r>
              <a:rPr sz="2100" dirty="0">
                <a:latin typeface="Arial"/>
                <a:cs typeface="Arial"/>
              </a:rPr>
              <a:t>время</a:t>
            </a:r>
            <a:r>
              <a:rPr sz="2100" spc="15" dirty="0">
                <a:latin typeface="Times New Roman"/>
                <a:cs typeface="Times New Roman"/>
              </a:rPr>
              <a:t>  </a:t>
            </a:r>
            <a:r>
              <a:rPr sz="2100" dirty="0">
                <a:latin typeface="Arial"/>
                <a:cs typeface="Arial"/>
              </a:rPr>
              <a:t>сессии</a:t>
            </a:r>
            <a:r>
              <a:rPr sz="2100" spc="20" dirty="0">
                <a:latin typeface="Times New Roman"/>
                <a:cs typeface="Times New Roman"/>
              </a:rPr>
              <a:t>  </a:t>
            </a:r>
            <a:r>
              <a:rPr sz="2100" dirty="0">
                <a:latin typeface="Arial"/>
                <a:cs typeface="Arial"/>
              </a:rPr>
              <a:t>(y)</a:t>
            </a:r>
            <a:r>
              <a:rPr sz="2100" spc="15" dirty="0">
                <a:latin typeface="Times New Roman"/>
                <a:cs typeface="Times New Roman"/>
              </a:rPr>
              <a:t>  </a:t>
            </a:r>
            <a:r>
              <a:rPr sz="2100" dirty="0">
                <a:latin typeface="Arial"/>
                <a:cs typeface="Arial"/>
              </a:rPr>
              <a:t>в</a:t>
            </a:r>
            <a:r>
              <a:rPr sz="2100" spc="15" dirty="0">
                <a:latin typeface="Times New Roman"/>
                <a:cs typeface="Times New Roman"/>
              </a:rPr>
              <a:t>  </a:t>
            </a:r>
            <a:r>
              <a:rPr sz="2100" dirty="0">
                <a:latin typeface="Arial"/>
                <a:cs typeface="Arial"/>
              </a:rPr>
              <a:t>зависимости</a:t>
            </a:r>
            <a:r>
              <a:rPr sz="2100" spc="20" dirty="0">
                <a:latin typeface="Times New Roman"/>
                <a:cs typeface="Times New Roman"/>
              </a:rPr>
              <a:t>  </a:t>
            </a:r>
            <a:r>
              <a:rPr sz="2100" spc="-25" dirty="0">
                <a:latin typeface="Arial"/>
                <a:cs typeface="Arial"/>
              </a:rPr>
              <a:t>от</a:t>
            </a:r>
            <a:r>
              <a:rPr sz="2100" spc="-25" dirty="0">
                <a:latin typeface="Times New Roman"/>
                <a:cs typeface="Times New Roman"/>
              </a:rPr>
              <a:t> </a:t>
            </a:r>
            <a:r>
              <a:rPr sz="2100" dirty="0">
                <a:latin typeface="Arial"/>
                <a:cs typeface="Arial"/>
              </a:rPr>
              <a:t>времени,</a:t>
            </a:r>
            <a:r>
              <a:rPr sz="2100" spc="204" dirty="0">
                <a:latin typeface="Times New Roman"/>
                <a:cs typeface="Times New Roman"/>
              </a:rPr>
              <a:t>  </a:t>
            </a:r>
            <a:r>
              <a:rPr sz="2100" dirty="0">
                <a:latin typeface="Arial"/>
                <a:cs typeface="Arial"/>
              </a:rPr>
              <a:t>потраченного</a:t>
            </a:r>
            <a:r>
              <a:rPr sz="2100" spc="210" dirty="0">
                <a:latin typeface="Times New Roman"/>
                <a:cs typeface="Times New Roman"/>
              </a:rPr>
              <a:t>  </a:t>
            </a:r>
            <a:r>
              <a:rPr sz="2100" dirty="0">
                <a:latin typeface="Arial"/>
                <a:cs typeface="Arial"/>
              </a:rPr>
              <a:t>на</a:t>
            </a:r>
            <a:r>
              <a:rPr sz="2100" spc="204" dirty="0">
                <a:latin typeface="Times New Roman"/>
                <a:cs typeface="Times New Roman"/>
              </a:rPr>
              <a:t>  </a:t>
            </a:r>
            <a:r>
              <a:rPr sz="2100" dirty="0">
                <a:latin typeface="Arial"/>
                <a:cs typeface="Arial"/>
              </a:rPr>
              <a:t>просмотр</a:t>
            </a:r>
            <a:r>
              <a:rPr sz="2100" spc="210" dirty="0">
                <a:latin typeface="Times New Roman"/>
                <a:cs typeface="Times New Roman"/>
              </a:rPr>
              <a:t>  </a:t>
            </a:r>
            <a:r>
              <a:rPr sz="2100" dirty="0">
                <a:latin typeface="Arial"/>
                <a:cs typeface="Arial"/>
              </a:rPr>
              <a:t>в</a:t>
            </a:r>
            <a:r>
              <a:rPr sz="2100" spc="204" dirty="0">
                <a:latin typeface="Times New Roman"/>
                <a:cs typeface="Times New Roman"/>
              </a:rPr>
              <a:t>  </a:t>
            </a:r>
            <a:r>
              <a:rPr sz="2100" dirty="0">
                <a:latin typeface="Arial"/>
                <a:cs typeface="Arial"/>
              </a:rPr>
              <a:t>период</a:t>
            </a:r>
            <a:r>
              <a:rPr sz="2100" spc="210" dirty="0">
                <a:latin typeface="Times New Roman"/>
                <a:cs typeface="Times New Roman"/>
              </a:rPr>
              <a:t>  </a:t>
            </a:r>
            <a:r>
              <a:rPr sz="2100" dirty="0">
                <a:latin typeface="Arial"/>
                <a:cs typeface="Arial"/>
              </a:rPr>
              <a:t>подготовки</a:t>
            </a:r>
            <a:r>
              <a:rPr sz="2100" spc="210" dirty="0">
                <a:latin typeface="Times New Roman"/>
                <a:cs typeface="Times New Roman"/>
              </a:rPr>
              <a:t>  </a:t>
            </a:r>
            <a:r>
              <a:rPr sz="2100" spc="-50" dirty="0">
                <a:latin typeface="Arial"/>
                <a:cs typeface="Arial"/>
              </a:rPr>
              <a:t>к</a:t>
            </a:r>
            <a:r>
              <a:rPr sz="2100" spc="-50" dirty="0">
                <a:latin typeface="Times New Roman"/>
                <a:cs typeface="Times New Roman"/>
              </a:rPr>
              <a:t> </a:t>
            </a:r>
            <a:r>
              <a:rPr sz="2100" dirty="0">
                <a:latin typeface="Arial"/>
                <a:cs typeface="Arial"/>
              </a:rPr>
              <a:t>экзаменам</a:t>
            </a:r>
            <a:r>
              <a:rPr sz="2100" dirty="0">
                <a:latin typeface="Times New Roman"/>
                <a:cs typeface="Times New Roman"/>
              </a:rPr>
              <a:t> </a:t>
            </a:r>
            <a:r>
              <a:rPr sz="2100" dirty="0">
                <a:latin typeface="Arial"/>
                <a:cs typeface="Arial"/>
              </a:rPr>
              <a:t>сериалов</a:t>
            </a:r>
            <a:r>
              <a:rPr sz="2100" spc="5" dirty="0">
                <a:latin typeface="Times New Roman"/>
                <a:cs typeface="Times New Roman"/>
              </a:rPr>
              <a:t> </a:t>
            </a:r>
            <a:r>
              <a:rPr sz="2100" spc="-20" dirty="0">
                <a:latin typeface="Arial"/>
                <a:cs typeface="Arial"/>
              </a:rPr>
              <a:t>(х).</a:t>
            </a:r>
            <a:endParaRPr sz="2100" dirty="0">
              <a:latin typeface="Arial"/>
              <a:cs typeface="Arial"/>
            </a:endParaRPr>
          </a:p>
          <a:p>
            <a:pPr marL="12700" algn="just">
              <a:lnSpc>
                <a:spcPts val="2485"/>
              </a:lnSpc>
            </a:pPr>
            <a:r>
              <a:rPr sz="2100" dirty="0">
                <a:latin typeface="Arial"/>
                <a:cs typeface="Arial"/>
              </a:rPr>
              <a:t>Для</a:t>
            </a:r>
            <a:r>
              <a:rPr sz="2100" spc="20" dirty="0">
                <a:latin typeface="Times New Roman"/>
                <a:cs typeface="Times New Roman"/>
              </a:rPr>
              <a:t> </a:t>
            </a:r>
            <a:r>
              <a:rPr sz="2100" spc="-10" dirty="0">
                <a:latin typeface="Arial"/>
                <a:cs typeface="Arial"/>
              </a:rPr>
              <a:t>этого:</a:t>
            </a:r>
            <a:endParaRPr sz="2100" dirty="0">
              <a:latin typeface="Arial"/>
              <a:cs typeface="Arial"/>
            </a:endParaRPr>
          </a:p>
          <a:p>
            <a:pPr marL="354965" indent="-331470" algn="just">
              <a:lnSpc>
                <a:spcPts val="2510"/>
              </a:lnSpc>
              <a:buFont typeface="Wingdings"/>
              <a:buChar char=""/>
              <a:tabLst>
                <a:tab pos="354965" algn="l"/>
              </a:tabLst>
            </a:pPr>
            <a:r>
              <a:rPr sz="2100" dirty="0">
                <a:latin typeface="Arial"/>
                <a:cs typeface="Arial"/>
              </a:rPr>
              <a:t>узнать,</a:t>
            </a:r>
            <a:r>
              <a:rPr sz="2100" spc="45" dirty="0">
                <a:latin typeface="Times New Roman"/>
                <a:cs typeface="Times New Roman"/>
              </a:rPr>
              <a:t>  </a:t>
            </a:r>
            <a:r>
              <a:rPr sz="2100" dirty="0">
                <a:latin typeface="Arial"/>
                <a:cs typeface="Arial"/>
              </a:rPr>
              <a:t>сколько</a:t>
            </a:r>
            <a:r>
              <a:rPr sz="2100" spc="40" dirty="0">
                <a:latin typeface="Times New Roman"/>
                <a:cs typeface="Times New Roman"/>
              </a:rPr>
              <a:t>  </a:t>
            </a:r>
            <a:r>
              <a:rPr sz="2100" dirty="0">
                <a:latin typeface="Arial"/>
                <a:cs typeface="Arial"/>
              </a:rPr>
              <a:t>часов</a:t>
            </a:r>
            <a:r>
              <a:rPr sz="2100" spc="40" dirty="0">
                <a:latin typeface="Times New Roman"/>
                <a:cs typeface="Times New Roman"/>
              </a:rPr>
              <a:t>  </a:t>
            </a:r>
            <a:r>
              <a:rPr sz="2100" dirty="0">
                <a:latin typeface="Arial"/>
                <a:cs typeface="Arial"/>
              </a:rPr>
              <a:t>в</a:t>
            </a:r>
            <a:r>
              <a:rPr sz="2100" spc="40" dirty="0">
                <a:latin typeface="Times New Roman"/>
                <a:cs typeface="Times New Roman"/>
              </a:rPr>
              <a:t>  </a:t>
            </a:r>
            <a:r>
              <a:rPr sz="2100" dirty="0">
                <a:latin typeface="Arial"/>
                <a:cs typeface="Arial"/>
              </a:rPr>
              <a:t>неделю</a:t>
            </a:r>
            <a:r>
              <a:rPr sz="2100" spc="40" dirty="0">
                <a:latin typeface="Times New Roman"/>
                <a:cs typeface="Times New Roman"/>
              </a:rPr>
              <a:t>  </a:t>
            </a:r>
            <a:r>
              <a:rPr sz="2100" dirty="0">
                <a:latin typeface="Arial"/>
                <a:cs typeface="Arial"/>
              </a:rPr>
              <a:t>n</a:t>
            </a:r>
            <a:r>
              <a:rPr sz="2100" spc="40" dirty="0">
                <a:latin typeface="Times New Roman"/>
                <a:cs typeface="Times New Roman"/>
              </a:rPr>
              <a:t>  </a:t>
            </a:r>
            <a:r>
              <a:rPr sz="2100" dirty="0">
                <a:latin typeface="Arial"/>
                <a:cs typeface="Arial"/>
              </a:rPr>
              <a:t>студентов</a:t>
            </a:r>
            <a:r>
              <a:rPr sz="2100" spc="40" dirty="0">
                <a:latin typeface="Times New Roman"/>
                <a:cs typeface="Times New Roman"/>
              </a:rPr>
              <a:t>  </a:t>
            </a:r>
            <a:r>
              <a:rPr sz="2100" dirty="0">
                <a:latin typeface="Arial"/>
                <a:cs typeface="Arial"/>
              </a:rPr>
              <a:t>потратили</a:t>
            </a:r>
            <a:r>
              <a:rPr sz="2100" spc="45" dirty="0">
                <a:latin typeface="Times New Roman"/>
                <a:cs typeface="Times New Roman"/>
              </a:rPr>
              <a:t>  </a:t>
            </a:r>
            <a:r>
              <a:rPr sz="2100" spc="-25" dirty="0">
                <a:latin typeface="Arial"/>
                <a:cs typeface="Arial"/>
              </a:rPr>
              <a:t>на</a:t>
            </a:r>
            <a:endParaRPr sz="2100" dirty="0">
              <a:latin typeface="Arial"/>
              <a:cs typeface="Arial"/>
            </a:endParaRPr>
          </a:p>
          <a:p>
            <a:pPr marL="354965" algn="just">
              <a:lnSpc>
                <a:spcPts val="2510"/>
              </a:lnSpc>
              <a:spcBef>
                <a:spcPts val="95"/>
              </a:spcBef>
            </a:pPr>
            <a:r>
              <a:rPr sz="2100" dirty="0">
                <a:latin typeface="Arial"/>
                <a:cs typeface="Arial"/>
              </a:rPr>
              <a:t>просмотр</a:t>
            </a:r>
            <a:r>
              <a:rPr sz="2100" spc="-10" dirty="0">
                <a:latin typeface="Times New Roman"/>
                <a:cs typeface="Times New Roman"/>
              </a:rPr>
              <a:t> </a:t>
            </a:r>
            <a:r>
              <a:rPr sz="2100" dirty="0">
                <a:latin typeface="Arial"/>
                <a:cs typeface="Arial"/>
              </a:rPr>
              <a:t>сериалов</a:t>
            </a:r>
            <a:r>
              <a:rPr sz="2100" spc="-5" dirty="0">
                <a:latin typeface="Times New Roman"/>
                <a:cs typeface="Times New Roman"/>
              </a:rPr>
              <a:t> </a:t>
            </a:r>
            <a:r>
              <a:rPr sz="2100" dirty="0">
                <a:latin typeface="Arial"/>
                <a:cs typeface="Arial"/>
              </a:rPr>
              <a:t>во</a:t>
            </a:r>
            <a:r>
              <a:rPr sz="2100" spc="-5" dirty="0">
                <a:latin typeface="Times New Roman"/>
                <a:cs typeface="Times New Roman"/>
              </a:rPr>
              <a:t> </a:t>
            </a:r>
            <a:r>
              <a:rPr sz="2100" dirty="0">
                <a:latin typeface="Arial"/>
                <a:cs typeface="Arial"/>
              </a:rPr>
              <a:t>время</a:t>
            </a:r>
            <a:r>
              <a:rPr sz="2100" spc="-5" dirty="0">
                <a:latin typeface="Times New Roman"/>
                <a:cs typeface="Times New Roman"/>
              </a:rPr>
              <a:t> </a:t>
            </a:r>
            <a:r>
              <a:rPr sz="2100" spc="-10" dirty="0">
                <a:latin typeface="Arial"/>
                <a:cs typeface="Arial"/>
              </a:rPr>
              <a:t>подготовки</a:t>
            </a:r>
            <a:r>
              <a:rPr sz="2100" spc="5" dirty="0">
                <a:latin typeface="Times New Roman"/>
                <a:cs typeface="Times New Roman"/>
              </a:rPr>
              <a:t> </a:t>
            </a:r>
            <a:r>
              <a:rPr sz="2100" dirty="0">
                <a:latin typeface="Arial"/>
                <a:cs typeface="Arial"/>
              </a:rPr>
              <a:t>к</a:t>
            </a:r>
            <a:r>
              <a:rPr sz="2100" spc="-5" dirty="0">
                <a:latin typeface="Times New Roman"/>
                <a:cs typeface="Times New Roman"/>
              </a:rPr>
              <a:t> </a:t>
            </a:r>
            <a:r>
              <a:rPr sz="2100" spc="-10" dirty="0">
                <a:latin typeface="Arial"/>
                <a:cs typeface="Arial"/>
              </a:rPr>
              <a:t>сессии;</a:t>
            </a:r>
            <a:endParaRPr sz="2100" dirty="0">
              <a:latin typeface="Arial"/>
              <a:cs typeface="Arial"/>
            </a:endParaRPr>
          </a:p>
          <a:p>
            <a:pPr marL="354965" marR="5080" indent="-332105">
              <a:lnSpc>
                <a:spcPts val="2500"/>
              </a:lnSpc>
              <a:spcBef>
                <a:spcPts val="85"/>
              </a:spcBef>
              <a:buFont typeface="Wingdings"/>
              <a:buChar char=""/>
              <a:tabLst>
                <a:tab pos="354965" algn="l"/>
                <a:tab pos="1736725" algn="l"/>
                <a:tab pos="2983230" algn="l"/>
                <a:tab pos="3808729" algn="l"/>
                <a:tab pos="4959985" algn="l"/>
                <a:tab pos="6664959" algn="l"/>
                <a:tab pos="7484745" algn="l"/>
                <a:tab pos="8030845" algn="l"/>
              </a:tabLst>
            </a:pPr>
            <a:r>
              <a:rPr sz="2100" spc="-10" dirty="0">
                <a:latin typeface="Arial"/>
                <a:cs typeface="Arial"/>
              </a:rPr>
              <a:t>измерить</a:t>
            </a:r>
            <a:r>
              <a:rPr sz="2100" dirty="0">
                <a:latin typeface="Times New Roman"/>
                <a:cs typeface="Times New Roman"/>
              </a:rPr>
              <a:t>	</a:t>
            </a:r>
            <a:r>
              <a:rPr sz="2100" spc="-10" dirty="0">
                <a:latin typeface="Arial"/>
                <a:cs typeface="Arial"/>
              </a:rPr>
              <a:t>средний</a:t>
            </a:r>
            <a:r>
              <a:rPr sz="2100" dirty="0">
                <a:latin typeface="Times New Roman"/>
                <a:cs typeface="Times New Roman"/>
              </a:rPr>
              <a:t>	</a:t>
            </a:r>
            <a:r>
              <a:rPr sz="2100" spc="-20" dirty="0">
                <a:latin typeface="Arial"/>
                <a:cs typeface="Arial"/>
              </a:rPr>
              <a:t>балл</a:t>
            </a:r>
            <a:r>
              <a:rPr sz="2100" dirty="0">
                <a:latin typeface="Times New Roman"/>
                <a:cs typeface="Times New Roman"/>
              </a:rPr>
              <a:t>	</a:t>
            </a:r>
            <a:r>
              <a:rPr sz="2100" spc="-10" dirty="0">
                <a:latin typeface="Arial"/>
                <a:cs typeface="Arial"/>
              </a:rPr>
              <a:t>оценок,</a:t>
            </a:r>
            <a:r>
              <a:rPr sz="2100" dirty="0">
                <a:latin typeface="Times New Roman"/>
                <a:cs typeface="Times New Roman"/>
              </a:rPr>
              <a:t>	</a:t>
            </a:r>
            <a:r>
              <a:rPr sz="2100" spc="-10" dirty="0">
                <a:latin typeface="Arial"/>
                <a:cs typeface="Arial"/>
              </a:rPr>
              <a:t>полученных</a:t>
            </a:r>
            <a:r>
              <a:rPr sz="2100" dirty="0">
                <a:latin typeface="Times New Roman"/>
                <a:cs typeface="Times New Roman"/>
              </a:rPr>
              <a:t>	</a:t>
            </a:r>
            <a:r>
              <a:rPr sz="2100" spc="-20" dirty="0">
                <a:latin typeface="Arial"/>
                <a:cs typeface="Arial"/>
              </a:rPr>
              <a:t>теми</a:t>
            </a:r>
            <a:r>
              <a:rPr sz="2100" dirty="0">
                <a:latin typeface="Times New Roman"/>
                <a:cs typeface="Times New Roman"/>
              </a:rPr>
              <a:t>	</a:t>
            </a:r>
            <a:r>
              <a:rPr sz="2100" spc="-25" dirty="0">
                <a:latin typeface="Arial"/>
                <a:cs typeface="Arial"/>
              </a:rPr>
              <a:t>же</a:t>
            </a:r>
            <a:r>
              <a:rPr sz="2100" dirty="0">
                <a:latin typeface="Times New Roman"/>
                <a:cs typeface="Times New Roman"/>
              </a:rPr>
              <a:t>	</a:t>
            </a:r>
            <a:r>
              <a:rPr sz="2100" spc="-50" dirty="0">
                <a:latin typeface="Arial"/>
                <a:cs typeface="Arial"/>
              </a:rPr>
              <a:t>n</a:t>
            </a:r>
            <a:r>
              <a:rPr sz="2100" spc="-50" dirty="0">
                <a:latin typeface="Times New Roman"/>
                <a:cs typeface="Times New Roman"/>
              </a:rPr>
              <a:t> </a:t>
            </a:r>
            <a:r>
              <a:rPr sz="2100" dirty="0">
                <a:latin typeface="Arial"/>
                <a:cs typeface="Arial"/>
              </a:rPr>
              <a:t>студентами</a:t>
            </a:r>
            <a:r>
              <a:rPr sz="2100" spc="-30" dirty="0">
                <a:latin typeface="Times New Roman"/>
                <a:cs typeface="Times New Roman"/>
              </a:rPr>
              <a:t> </a:t>
            </a:r>
            <a:r>
              <a:rPr sz="2100" dirty="0">
                <a:latin typeface="Arial"/>
                <a:cs typeface="Arial"/>
              </a:rPr>
              <a:t>во</a:t>
            </a:r>
            <a:r>
              <a:rPr sz="2100" spc="-30" dirty="0">
                <a:latin typeface="Times New Roman"/>
                <a:cs typeface="Times New Roman"/>
              </a:rPr>
              <a:t> </a:t>
            </a:r>
            <a:r>
              <a:rPr sz="2100" dirty="0">
                <a:latin typeface="Arial"/>
                <a:cs typeface="Arial"/>
              </a:rPr>
              <a:t>время</a:t>
            </a:r>
            <a:r>
              <a:rPr sz="2100" spc="-25" dirty="0">
                <a:latin typeface="Times New Roman"/>
                <a:cs typeface="Times New Roman"/>
              </a:rPr>
              <a:t> </a:t>
            </a:r>
            <a:r>
              <a:rPr sz="2100" spc="-10" dirty="0">
                <a:latin typeface="Arial"/>
                <a:cs typeface="Arial"/>
              </a:rPr>
              <a:t>сессии;</a:t>
            </a:r>
            <a:endParaRPr sz="2100" dirty="0">
              <a:latin typeface="Arial"/>
              <a:cs typeface="Arial"/>
            </a:endParaRPr>
          </a:p>
          <a:p>
            <a:pPr marL="354965" indent="-331470">
              <a:lnSpc>
                <a:spcPts val="2400"/>
              </a:lnSpc>
              <a:buFont typeface="Wingdings"/>
              <a:buChar char=""/>
              <a:tabLst>
                <a:tab pos="354965" algn="l"/>
              </a:tabLst>
            </a:pPr>
            <a:r>
              <a:rPr sz="2100" dirty="0">
                <a:latin typeface="Arial"/>
                <a:cs typeface="Arial"/>
              </a:rPr>
              <a:t>вывести</a:t>
            </a:r>
            <a:r>
              <a:rPr sz="2100" spc="-25" dirty="0">
                <a:latin typeface="Times New Roman"/>
                <a:cs typeface="Times New Roman"/>
              </a:rPr>
              <a:t> </a:t>
            </a:r>
            <a:r>
              <a:rPr sz="2100" dirty="0">
                <a:latin typeface="Arial"/>
                <a:cs typeface="Arial"/>
              </a:rPr>
              <a:t>уравнение,</a:t>
            </a:r>
            <a:r>
              <a:rPr sz="2100" spc="-25" dirty="0">
                <a:latin typeface="Times New Roman"/>
                <a:cs typeface="Times New Roman"/>
              </a:rPr>
              <a:t> </a:t>
            </a:r>
            <a:r>
              <a:rPr sz="2100" dirty="0">
                <a:latin typeface="Arial"/>
                <a:cs typeface="Arial"/>
              </a:rPr>
              <a:t>которое</a:t>
            </a:r>
            <a:r>
              <a:rPr sz="2100" spc="-25" dirty="0">
                <a:latin typeface="Times New Roman"/>
                <a:cs typeface="Times New Roman"/>
              </a:rPr>
              <a:t> </a:t>
            </a:r>
            <a:r>
              <a:rPr sz="2100" dirty="0">
                <a:latin typeface="Arial"/>
                <a:cs typeface="Arial"/>
              </a:rPr>
              <a:t>связывает</a:t>
            </a:r>
            <a:r>
              <a:rPr sz="2100" spc="-20" dirty="0">
                <a:latin typeface="Times New Roman"/>
                <a:cs typeface="Times New Roman"/>
              </a:rPr>
              <a:t> </a:t>
            </a:r>
            <a:r>
              <a:rPr sz="2100" dirty="0">
                <a:latin typeface="Arial"/>
                <a:cs typeface="Arial"/>
              </a:rPr>
              <a:t>y</a:t>
            </a:r>
            <a:r>
              <a:rPr sz="2100" spc="-25" dirty="0">
                <a:latin typeface="Times New Roman"/>
                <a:cs typeface="Times New Roman"/>
              </a:rPr>
              <a:t> </a:t>
            </a:r>
            <a:r>
              <a:rPr sz="2100" dirty="0">
                <a:latin typeface="Arial"/>
                <a:cs typeface="Arial"/>
              </a:rPr>
              <a:t>и</a:t>
            </a:r>
            <a:r>
              <a:rPr sz="2100" spc="-20" dirty="0">
                <a:latin typeface="Times New Roman"/>
                <a:cs typeface="Times New Roman"/>
              </a:rPr>
              <a:t> </a:t>
            </a:r>
            <a:r>
              <a:rPr sz="2100" spc="-25" dirty="0">
                <a:latin typeface="Arial"/>
                <a:cs typeface="Arial"/>
              </a:rPr>
              <a:t>x;</a:t>
            </a:r>
            <a:endParaRPr sz="2100" dirty="0">
              <a:latin typeface="Arial"/>
              <a:cs typeface="Arial"/>
            </a:endParaRPr>
          </a:p>
          <a:p>
            <a:pPr marL="354965" indent="-331470">
              <a:lnSpc>
                <a:spcPts val="2510"/>
              </a:lnSpc>
              <a:buFont typeface="Wingdings"/>
              <a:buChar char=""/>
              <a:tabLst>
                <a:tab pos="354965" algn="l"/>
              </a:tabLst>
            </a:pPr>
            <a:r>
              <a:rPr sz="2100" dirty="0">
                <a:latin typeface="Arial"/>
                <a:cs typeface="Arial"/>
              </a:rPr>
              <a:t>использовать</a:t>
            </a:r>
            <a:r>
              <a:rPr sz="2100" spc="240" dirty="0">
                <a:latin typeface="Times New Roman"/>
                <a:cs typeface="Times New Roman"/>
              </a:rPr>
              <a:t> </a:t>
            </a:r>
            <a:r>
              <a:rPr sz="2100" dirty="0">
                <a:latin typeface="Arial"/>
                <a:cs typeface="Arial"/>
              </a:rPr>
              <a:t>уравнение</a:t>
            </a:r>
            <a:r>
              <a:rPr sz="2100" spc="225" dirty="0">
                <a:latin typeface="Times New Roman"/>
                <a:cs typeface="Times New Roman"/>
              </a:rPr>
              <a:t> </a:t>
            </a:r>
            <a:r>
              <a:rPr sz="2100" dirty="0">
                <a:latin typeface="Arial"/>
                <a:cs typeface="Arial"/>
              </a:rPr>
              <a:t>среднего</a:t>
            </a:r>
            <a:r>
              <a:rPr sz="2100" spc="229" dirty="0">
                <a:latin typeface="Times New Roman"/>
                <a:cs typeface="Times New Roman"/>
              </a:rPr>
              <a:t> </a:t>
            </a:r>
            <a:r>
              <a:rPr sz="2100" dirty="0">
                <a:latin typeface="Arial"/>
                <a:cs typeface="Arial"/>
              </a:rPr>
              <a:t>балла</a:t>
            </a:r>
            <a:r>
              <a:rPr sz="2100" spc="235" dirty="0">
                <a:latin typeface="Times New Roman"/>
                <a:cs typeface="Times New Roman"/>
              </a:rPr>
              <a:t> </a:t>
            </a:r>
            <a:r>
              <a:rPr sz="2100" dirty="0">
                <a:latin typeface="Arial"/>
                <a:cs typeface="Arial"/>
              </a:rPr>
              <a:t>оценок,</a:t>
            </a:r>
            <a:r>
              <a:rPr sz="2100" spc="235" dirty="0">
                <a:latin typeface="Times New Roman"/>
                <a:cs typeface="Times New Roman"/>
              </a:rPr>
              <a:t> </a:t>
            </a:r>
            <a:r>
              <a:rPr sz="2100" spc="-10" dirty="0">
                <a:latin typeface="Arial"/>
                <a:cs typeface="Arial"/>
              </a:rPr>
              <a:t>полученных</a:t>
            </a:r>
            <a:endParaRPr sz="2100" dirty="0">
              <a:latin typeface="Arial"/>
              <a:cs typeface="Arial"/>
            </a:endParaRPr>
          </a:p>
          <a:p>
            <a:pPr marL="354965" marR="5080" algn="just">
              <a:lnSpc>
                <a:spcPts val="2500"/>
              </a:lnSpc>
              <a:spcBef>
                <a:spcPts val="200"/>
              </a:spcBef>
            </a:pPr>
            <a:r>
              <a:rPr sz="2100" dirty="0">
                <a:latin typeface="Arial"/>
                <a:cs typeface="Arial"/>
              </a:rPr>
              <a:t>в</a:t>
            </a:r>
            <a:r>
              <a:rPr sz="2100" spc="245" dirty="0">
                <a:latin typeface="Times New Roman"/>
                <a:cs typeface="Times New Roman"/>
              </a:rPr>
              <a:t> </a:t>
            </a:r>
            <a:r>
              <a:rPr sz="2100" dirty="0">
                <a:latin typeface="Arial"/>
                <a:cs typeface="Arial"/>
              </a:rPr>
              <a:t>сессию</a:t>
            </a:r>
            <a:r>
              <a:rPr sz="2100" spc="250" dirty="0">
                <a:latin typeface="Times New Roman"/>
                <a:cs typeface="Times New Roman"/>
              </a:rPr>
              <a:t> </a:t>
            </a:r>
            <a:r>
              <a:rPr sz="2100" dirty="0">
                <a:latin typeface="Arial"/>
                <a:cs typeface="Arial"/>
              </a:rPr>
              <a:t>(y)</a:t>
            </a:r>
            <a:r>
              <a:rPr sz="2100" spc="250" dirty="0">
                <a:latin typeface="Times New Roman"/>
                <a:cs typeface="Times New Roman"/>
              </a:rPr>
              <a:t> </a:t>
            </a:r>
            <a:r>
              <a:rPr sz="2100" dirty="0">
                <a:latin typeface="Arial"/>
                <a:cs typeface="Arial"/>
              </a:rPr>
              <a:t>теми</a:t>
            </a:r>
            <a:r>
              <a:rPr sz="2100" spc="254" dirty="0">
                <a:latin typeface="Times New Roman"/>
                <a:cs typeface="Times New Roman"/>
              </a:rPr>
              <a:t> </a:t>
            </a:r>
            <a:r>
              <a:rPr sz="2100" dirty="0">
                <a:latin typeface="Arial"/>
                <a:cs typeface="Arial"/>
              </a:rPr>
              <a:t>студентами,</a:t>
            </a:r>
            <a:r>
              <a:rPr sz="2100" spc="260" dirty="0">
                <a:latin typeface="Times New Roman"/>
                <a:cs typeface="Times New Roman"/>
              </a:rPr>
              <a:t> </a:t>
            </a:r>
            <a:r>
              <a:rPr sz="2100" dirty="0">
                <a:latin typeface="Arial"/>
                <a:cs typeface="Arial"/>
              </a:rPr>
              <a:t>про</a:t>
            </a:r>
            <a:r>
              <a:rPr sz="2100" spc="245" dirty="0">
                <a:latin typeface="Times New Roman"/>
                <a:cs typeface="Times New Roman"/>
              </a:rPr>
              <a:t> </a:t>
            </a:r>
            <a:r>
              <a:rPr sz="2100" dirty="0">
                <a:latin typeface="Arial"/>
                <a:cs typeface="Arial"/>
              </a:rPr>
              <a:t>которых</a:t>
            </a:r>
            <a:r>
              <a:rPr sz="2100" spc="254" dirty="0">
                <a:latin typeface="Times New Roman"/>
                <a:cs typeface="Times New Roman"/>
              </a:rPr>
              <a:t> </a:t>
            </a:r>
            <a:r>
              <a:rPr sz="2100" dirty="0">
                <a:latin typeface="Arial"/>
                <a:cs typeface="Arial"/>
              </a:rPr>
              <a:t>известно</a:t>
            </a:r>
            <a:r>
              <a:rPr sz="2100" spc="245" dirty="0">
                <a:latin typeface="Times New Roman"/>
                <a:cs typeface="Times New Roman"/>
              </a:rPr>
              <a:t> </a:t>
            </a:r>
            <a:r>
              <a:rPr sz="2100" spc="-10" dirty="0">
                <a:latin typeface="Arial"/>
                <a:cs typeface="Arial"/>
              </a:rPr>
              <a:t>сколько</a:t>
            </a:r>
            <a:r>
              <a:rPr sz="2100" spc="-10" dirty="0">
                <a:latin typeface="Times New Roman"/>
                <a:cs typeface="Times New Roman"/>
              </a:rPr>
              <a:t> </a:t>
            </a:r>
            <a:r>
              <a:rPr sz="2100" dirty="0">
                <a:latin typeface="Arial"/>
                <a:cs typeface="Arial"/>
              </a:rPr>
              <a:t>времени</a:t>
            </a:r>
            <a:r>
              <a:rPr sz="2100" spc="215" dirty="0">
                <a:latin typeface="Times New Roman"/>
                <a:cs typeface="Times New Roman"/>
              </a:rPr>
              <a:t>  </a:t>
            </a:r>
            <a:r>
              <a:rPr sz="2100" dirty="0">
                <a:latin typeface="Arial"/>
                <a:cs typeface="Arial"/>
              </a:rPr>
              <a:t>они</a:t>
            </a:r>
            <a:r>
              <a:rPr sz="2100" spc="220" dirty="0">
                <a:latin typeface="Times New Roman"/>
                <a:cs typeface="Times New Roman"/>
              </a:rPr>
              <a:t>  </a:t>
            </a:r>
            <a:r>
              <a:rPr sz="2100" dirty="0">
                <a:latin typeface="Arial"/>
                <a:cs typeface="Arial"/>
              </a:rPr>
              <a:t>потратили</a:t>
            </a:r>
            <a:r>
              <a:rPr sz="2100" spc="215" dirty="0">
                <a:latin typeface="Times New Roman"/>
                <a:cs typeface="Times New Roman"/>
              </a:rPr>
              <a:t>  </a:t>
            </a:r>
            <a:r>
              <a:rPr sz="2100" dirty="0">
                <a:latin typeface="Arial"/>
                <a:cs typeface="Arial"/>
              </a:rPr>
              <a:t>на</a:t>
            </a:r>
            <a:r>
              <a:rPr sz="2100" spc="215" dirty="0">
                <a:latin typeface="Times New Roman"/>
                <a:cs typeface="Times New Roman"/>
              </a:rPr>
              <a:t>  </a:t>
            </a:r>
            <a:r>
              <a:rPr sz="2100" dirty="0">
                <a:latin typeface="Arial"/>
                <a:cs typeface="Arial"/>
              </a:rPr>
              <a:t>просмотр</a:t>
            </a:r>
            <a:r>
              <a:rPr sz="2100" spc="215" dirty="0">
                <a:latin typeface="Times New Roman"/>
                <a:cs typeface="Times New Roman"/>
              </a:rPr>
              <a:t>  </a:t>
            </a:r>
            <a:r>
              <a:rPr sz="2100" dirty="0">
                <a:latin typeface="Arial"/>
                <a:cs typeface="Arial"/>
              </a:rPr>
              <a:t>сериалов</a:t>
            </a:r>
            <a:r>
              <a:rPr sz="2100" spc="215" dirty="0">
                <a:latin typeface="Times New Roman"/>
                <a:cs typeface="Times New Roman"/>
              </a:rPr>
              <a:t>  </a:t>
            </a:r>
            <a:r>
              <a:rPr sz="2100" dirty="0">
                <a:latin typeface="Arial"/>
                <a:cs typeface="Arial"/>
              </a:rPr>
              <a:t>в</a:t>
            </a:r>
            <a:r>
              <a:rPr sz="2100" spc="215" dirty="0">
                <a:latin typeface="Times New Roman"/>
                <a:cs typeface="Times New Roman"/>
              </a:rPr>
              <a:t>  </a:t>
            </a:r>
            <a:r>
              <a:rPr sz="2100" spc="-10" dirty="0">
                <a:latin typeface="Arial"/>
                <a:cs typeface="Arial"/>
              </a:rPr>
              <a:t>период</a:t>
            </a:r>
            <a:r>
              <a:rPr sz="2100" spc="-10" dirty="0">
                <a:latin typeface="Times New Roman"/>
                <a:cs typeface="Times New Roman"/>
              </a:rPr>
              <a:t> </a:t>
            </a:r>
            <a:r>
              <a:rPr sz="2100" spc="-10" dirty="0">
                <a:latin typeface="Arial"/>
                <a:cs typeface="Arial"/>
              </a:rPr>
              <a:t>подготовки</a:t>
            </a:r>
            <a:r>
              <a:rPr sz="2100" dirty="0">
                <a:latin typeface="Times New Roman"/>
                <a:cs typeface="Times New Roman"/>
              </a:rPr>
              <a:t> </a:t>
            </a:r>
            <a:r>
              <a:rPr sz="2100" dirty="0">
                <a:latin typeface="Arial"/>
                <a:cs typeface="Arial"/>
              </a:rPr>
              <a:t>к</a:t>
            </a:r>
            <a:r>
              <a:rPr sz="2100" spc="-10" dirty="0">
                <a:latin typeface="Times New Roman"/>
                <a:cs typeface="Times New Roman"/>
              </a:rPr>
              <a:t> </a:t>
            </a:r>
            <a:r>
              <a:rPr sz="2100" dirty="0">
                <a:latin typeface="Arial"/>
                <a:cs typeface="Arial"/>
              </a:rPr>
              <a:t>сессии</a:t>
            </a:r>
            <a:r>
              <a:rPr sz="2100" dirty="0">
                <a:latin typeface="Times New Roman"/>
                <a:cs typeface="Times New Roman"/>
              </a:rPr>
              <a:t> </a:t>
            </a:r>
            <a:r>
              <a:rPr sz="2100" spc="-20" dirty="0">
                <a:latin typeface="Arial"/>
                <a:cs typeface="Arial"/>
              </a:rPr>
              <a:t>(x).</a:t>
            </a:r>
            <a:endParaRPr sz="2100" dirty="0">
              <a:latin typeface="Arial"/>
              <a:cs typeface="Arial"/>
            </a:endParaRPr>
          </a:p>
        </p:txBody>
      </p:sp>
      <p:sp>
        <p:nvSpPr>
          <p:cNvPr id="15" name="object 15"/>
          <p:cNvSpPr txBox="1">
            <a:spLocks noGrp="1"/>
          </p:cNvSpPr>
          <p:nvPr>
            <p:ph type="title"/>
          </p:nvPr>
        </p:nvSpPr>
        <p:spPr>
          <a:xfrm>
            <a:off x="1981200" y="341409"/>
            <a:ext cx="4391342" cy="50526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200" spc="-10" dirty="0"/>
              <a:t>Регрессионный</a:t>
            </a:r>
            <a:r>
              <a:rPr sz="3200" b="0" spc="-50" dirty="0">
                <a:latin typeface="Times New Roman"/>
                <a:cs typeface="Times New Roman"/>
              </a:rPr>
              <a:t> </a:t>
            </a:r>
            <a:r>
              <a:rPr sz="3200" spc="-10" dirty="0"/>
              <a:t>анализ</a:t>
            </a:r>
            <a:endParaRPr sz="3200" dirty="0">
              <a:latin typeface="Times New Roman"/>
              <a:cs typeface="Times New Roman"/>
            </a:endParaRPr>
          </a:p>
        </p:txBody>
      </p:sp>
      <p:sp>
        <p:nvSpPr>
          <p:cNvPr id="19" name="Нижний колонтитул 18">
            <a:extLst>
              <a:ext uri="{FF2B5EF4-FFF2-40B4-BE49-F238E27FC236}">
                <a16:creationId xmlns:a16="http://schemas.microsoft.com/office/drawing/2014/main" id="{D59EFC2E-FBCF-46FC-ACFA-AEA8B03DE4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21" name="Номер слайда 15">
            <a:extLst>
              <a:ext uri="{FF2B5EF4-FFF2-40B4-BE49-F238E27FC236}">
                <a16:creationId xmlns:a16="http://schemas.microsoft.com/office/drawing/2014/main" id="{BB20C046-3D9F-4EDB-9C49-F0AE09C650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457950" y="6356351"/>
            <a:ext cx="2057400" cy="365125"/>
          </a:xfrm>
        </p:spPr>
        <p:txBody>
          <a:bodyPr/>
          <a:lstStyle/>
          <a:p>
            <a:fld id="{81C5FB71-5E9C-41B5-9BB8-3F1EBEAEB16A}" type="slidenum">
              <a:rPr lang="ru-RU" smtClean="0"/>
              <a:t>24</a:t>
            </a:fld>
            <a:endParaRPr lang="ru-RU" dirty="0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object 14"/>
          <p:cNvSpPr txBox="1">
            <a:spLocks noGrp="1"/>
          </p:cNvSpPr>
          <p:nvPr>
            <p:ph type="title"/>
          </p:nvPr>
        </p:nvSpPr>
        <p:spPr>
          <a:xfrm>
            <a:off x="1500187" y="-20701"/>
            <a:ext cx="6509384" cy="443711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800" spc="-10" dirty="0"/>
              <a:t>Однофакторный</a:t>
            </a:r>
            <a:r>
              <a:rPr sz="2800" b="0" spc="-70" dirty="0">
                <a:cs typeface="Times New Roman"/>
              </a:rPr>
              <a:t> </a:t>
            </a:r>
            <a:r>
              <a:rPr sz="2800" dirty="0"/>
              <a:t>регрессионный</a:t>
            </a:r>
            <a:r>
              <a:rPr sz="2800" b="0" spc="-65" dirty="0">
                <a:cs typeface="Times New Roman"/>
              </a:rPr>
              <a:t> </a:t>
            </a:r>
            <a:r>
              <a:rPr sz="2800" spc="-10" dirty="0"/>
              <a:t>анализ</a:t>
            </a:r>
            <a:endParaRPr sz="2800" dirty="0">
              <a:cs typeface="Times New Roman"/>
            </a:endParaRPr>
          </a:p>
        </p:txBody>
      </p:sp>
      <p:sp>
        <p:nvSpPr>
          <p:cNvPr id="24" name="Нижний колонтитул 23">
            <a:extLst>
              <a:ext uri="{FF2B5EF4-FFF2-40B4-BE49-F238E27FC236}">
                <a16:creationId xmlns:a16="http://schemas.microsoft.com/office/drawing/2014/main" id="{0DC382D6-D5EE-41A4-827C-0A3466E44A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25" name="Номер слайда 24">
            <a:extLst>
              <a:ext uri="{FF2B5EF4-FFF2-40B4-BE49-F238E27FC236}">
                <a16:creationId xmlns:a16="http://schemas.microsoft.com/office/drawing/2014/main" id="{89FA09CD-36F4-4366-8F39-E3050ECB85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38100">
              <a:lnSpc>
                <a:spcPct val="100000"/>
              </a:lnSpc>
              <a:spcBef>
                <a:spcPts val="244"/>
              </a:spcBef>
            </a:pPr>
            <a:fld id="{81D60167-4931-47E6-BA6A-407CBD079E47}" type="slidenum">
              <a:rPr lang="ru-RU" spc="-25" smtClean="0"/>
              <a:t>25</a:t>
            </a:fld>
            <a:endParaRPr lang="ru-RU" spc="-25" dirty="0"/>
          </a:p>
        </p:txBody>
      </p:sp>
      <p:sp>
        <p:nvSpPr>
          <p:cNvPr id="15" name="object 15"/>
          <p:cNvSpPr txBox="1"/>
          <p:nvPr/>
        </p:nvSpPr>
        <p:spPr>
          <a:xfrm>
            <a:off x="762001" y="503106"/>
            <a:ext cx="7753348" cy="27076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51765">
              <a:lnSpc>
                <a:spcPct val="100000"/>
              </a:lnSpc>
              <a:spcBef>
                <a:spcPts val="100"/>
              </a:spcBef>
            </a:pPr>
            <a:r>
              <a:rPr sz="2000" spc="-10" dirty="0">
                <a:latin typeface="Arial"/>
                <a:cs typeface="Arial"/>
              </a:rPr>
              <a:t>Известно:</a:t>
            </a:r>
            <a:endParaRPr sz="2000" dirty="0">
              <a:latin typeface="Arial"/>
              <a:cs typeface="Arial"/>
            </a:endParaRPr>
          </a:p>
          <a:p>
            <a:pPr marL="494030" indent="-342265">
              <a:lnSpc>
                <a:spcPts val="2615"/>
              </a:lnSpc>
              <a:spcBef>
                <a:spcPts val="45"/>
              </a:spcBef>
              <a:buFont typeface="Wingdings"/>
              <a:buChar char=""/>
              <a:tabLst>
                <a:tab pos="494030" algn="l"/>
              </a:tabLst>
            </a:pPr>
            <a:r>
              <a:rPr sz="2000" spc="-35" dirty="0">
                <a:latin typeface="Arial"/>
                <a:cs typeface="Arial"/>
              </a:rPr>
              <a:t>результаты</a:t>
            </a:r>
            <a:r>
              <a:rPr sz="2000" spc="-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Arial"/>
                <a:cs typeface="Arial"/>
              </a:rPr>
              <a:t>n</a:t>
            </a:r>
            <a:r>
              <a:rPr sz="2000" spc="-5" dirty="0">
                <a:latin typeface="Times New Roman"/>
                <a:cs typeface="Times New Roman"/>
              </a:rPr>
              <a:t> </a:t>
            </a:r>
            <a:r>
              <a:rPr sz="2000" spc="-10" dirty="0">
                <a:latin typeface="Arial"/>
                <a:cs typeface="Arial"/>
              </a:rPr>
              <a:t>измерений.</a:t>
            </a:r>
            <a:endParaRPr sz="2000" dirty="0">
              <a:latin typeface="Arial"/>
              <a:cs typeface="Arial"/>
            </a:endParaRPr>
          </a:p>
          <a:p>
            <a:pPr marL="495300" marR="68580" indent="-342900">
              <a:lnSpc>
                <a:spcPts val="2620"/>
              </a:lnSpc>
              <a:spcBef>
                <a:spcPts val="80"/>
              </a:spcBef>
              <a:buFont typeface="Wingdings"/>
              <a:buChar char=""/>
              <a:tabLst>
                <a:tab pos="495300" algn="l"/>
                <a:tab pos="1370330" algn="l"/>
                <a:tab pos="2776855" algn="l"/>
                <a:tab pos="3180715" algn="l"/>
                <a:tab pos="4622800" algn="l"/>
                <a:tab pos="5457190" algn="l"/>
                <a:tab pos="7034530" algn="l"/>
              </a:tabLst>
            </a:pPr>
            <a:r>
              <a:rPr sz="2000" spc="-10" dirty="0">
                <a:latin typeface="Arial"/>
                <a:cs typeface="Arial"/>
              </a:rPr>
              <a:t>(x</a:t>
            </a:r>
            <a:r>
              <a:rPr sz="2000" spc="-15" baseline="-18518" dirty="0">
                <a:latin typeface="Arial"/>
                <a:cs typeface="Arial"/>
              </a:rPr>
              <a:t>i</a:t>
            </a:r>
            <a:r>
              <a:rPr sz="2000" spc="-10" dirty="0">
                <a:latin typeface="Arial"/>
                <a:cs typeface="Arial"/>
              </a:rPr>
              <a:t>,y</a:t>
            </a:r>
            <a:r>
              <a:rPr sz="2000" spc="-15" baseline="-18518" dirty="0">
                <a:latin typeface="Arial"/>
                <a:cs typeface="Arial"/>
              </a:rPr>
              <a:t>i</a:t>
            </a:r>
            <a:r>
              <a:rPr sz="2000" spc="-10" dirty="0">
                <a:latin typeface="Arial"/>
                <a:cs typeface="Arial"/>
              </a:rPr>
              <a:t>)</a:t>
            </a:r>
            <a:r>
              <a:rPr sz="2000" dirty="0">
                <a:latin typeface="Times New Roman"/>
                <a:cs typeface="Times New Roman"/>
              </a:rPr>
              <a:t>	</a:t>
            </a:r>
            <a:r>
              <a:rPr sz="2000" spc="-10" dirty="0">
                <a:latin typeface="Arial"/>
                <a:cs typeface="Arial"/>
              </a:rPr>
              <a:t>(i=1,…,n)</a:t>
            </a:r>
            <a:r>
              <a:rPr sz="2000" dirty="0">
                <a:latin typeface="Times New Roman"/>
                <a:cs typeface="Times New Roman"/>
              </a:rPr>
              <a:t>	</a:t>
            </a:r>
            <a:r>
              <a:rPr sz="2000" spc="-50" dirty="0">
                <a:latin typeface="Arial"/>
                <a:cs typeface="Arial"/>
              </a:rPr>
              <a:t>–</a:t>
            </a:r>
            <a:r>
              <a:rPr sz="2000" dirty="0">
                <a:latin typeface="Times New Roman"/>
                <a:cs typeface="Times New Roman"/>
              </a:rPr>
              <a:t>	</a:t>
            </a:r>
            <a:r>
              <a:rPr sz="2000" spc="-10" dirty="0">
                <a:latin typeface="Arial"/>
                <a:cs typeface="Arial"/>
              </a:rPr>
              <a:t>значения</a:t>
            </a:r>
            <a:r>
              <a:rPr sz="2000" dirty="0">
                <a:latin typeface="Times New Roman"/>
                <a:cs typeface="Times New Roman"/>
              </a:rPr>
              <a:t>	</a:t>
            </a:r>
            <a:r>
              <a:rPr sz="2000" spc="-20" dirty="0">
                <a:latin typeface="Arial"/>
                <a:cs typeface="Arial"/>
              </a:rPr>
              <a:t>двух</a:t>
            </a:r>
            <a:r>
              <a:rPr sz="2000" dirty="0">
                <a:latin typeface="Times New Roman"/>
                <a:cs typeface="Times New Roman"/>
              </a:rPr>
              <a:t>	</a:t>
            </a:r>
            <a:r>
              <a:rPr sz="2000" spc="-10" dirty="0">
                <a:latin typeface="Arial"/>
                <a:cs typeface="Arial"/>
              </a:rPr>
              <a:t>признаков</a:t>
            </a:r>
            <a:r>
              <a:rPr sz="2000" dirty="0">
                <a:latin typeface="Times New Roman"/>
                <a:cs typeface="Times New Roman"/>
              </a:rPr>
              <a:t>	</a:t>
            </a:r>
            <a:r>
              <a:rPr sz="2000" spc="-10" dirty="0">
                <a:latin typeface="Arial"/>
                <a:cs typeface="Arial"/>
              </a:rPr>
              <a:t>и</a:t>
            </a:r>
            <a:r>
              <a:rPr lang="ru-RU" sz="2000" spc="-10" dirty="0">
                <a:latin typeface="Arial"/>
                <a:cs typeface="Arial"/>
              </a:rPr>
              <a:t>з</a:t>
            </a:r>
            <a:r>
              <a:rPr sz="2000" spc="-10" dirty="0">
                <a:latin typeface="Arial"/>
                <a:cs typeface="Arial"/>
              </a:rPr>
              <a:t>м</a:t>
            </a:r>
            <a:r>
              <a:rPr lang="ru-RU" sz="2000" spc="-10" dirty="0">
                <a:latin typeface="Arial"/>
                <a:cs typeface="Arial"/>
              </a:rPr>
              <a:t>ер</a:t>
            </a:r>
            <a:r>
              <a:rPr sz="2000" spc="-10" dirty="0">
                <a:latin typeface="Arial"/>
                <a:cs typeface="Arial"/>
              </a:rPr>
              <a:t>я</a:t>
            </a:r>
            <a:r>
              <a:rPr lang="ru-RU" sz="2000" spc="-10" dirty="0">
                <a:latin typeface="Arial"/>
                <a:cs typeface="Arial"/>
              </a:rPr>
              <a:t>е</a:t>
            </a:r>
            <a:r>
              <a:rPr sz="2000" spc="-10" dirty="0">
                <a:latin typeface="Arial"/>
                <a:cs typeface="Arial"/>
              </a:rPr>
              <a:t>м</a:t>
            </a:r>
            <a:r>
              <a:rPr lang="ru-RU" sz="2000" spc="-10" dirty="0">
                <a:latin typeface="Arial"/>
                <a:cs typeface="Arial"/>
              </a:rPr>
              <a:t>о</a:t>
            </a:r>
            <a:r>
              <a:rPr sz="2000" spc="-10" dirty="0">
                <a:latin typeface="Arial"/>
                <a:cs typeface="Arial"/>
              </a:rPr>
              <a:t>г</a:t>
            </a:r>
            <a:r>
              <a:rPr lang="ru-RU" sz="2000" spc="-10" dirty="0">
                <a:latin typeface="Arial"/>
                <a:cs typeface="Arial"/>
              </a:rPr>
              <a:t>о</a:t>
            </a:r>
            <a:r>
              <a:rPr sz="2000" spc="-10" dirty="0">
                <a:latin typeface="Times New Roman"/>
                <a:cs typeface="Times New Roman"/>
              </a:rPr>
              <a:t> </a:t>
            </a:r>
            <a:r>
              <a:rPr sz="2000" spc="-10" dirty="0">
                <a:latin typeface="Arial"/>
                <a:cs typeface="Arial"/>
              </a:rPr>
              <a:t>объекта.</a:t>
            </a:r>
            <a:endParaRPr sz="2000" dirty="0">
              <a:latin typeface="Arial"/>
              <a:cs typeface="Arial"/>
            </a:endParaRPr>
          </a:p>
          <a:p>
            <a:pPr marL="152400">
              <a:lnSpc>
                <a:spcPts val="2590"/>
              </a:lnSpc>
            </a:pPr>
            <a:r>
              <a:rPr sz="2000" spc="-10" dirty="0">
                <a:latin typeface="Arial"/>
                <a:cs typeface="Arial"/>
              </a:rPr>
              <a:t>Таблица</a:t>
            </a:r>
            <a:endParaRPr sz="2000" dirty="0">
              <a:latin typeface="Arial"/>
              <a:cs typeface="Arial"/>
            </a:endParaRPr>
          </a:p>
          <a:p>
            <a:pPr marL="494665" indent="-342265">
              <a:lnSpc>
                <a:spcPts val="2630"/>
              </a:lnSpc>
              <a:buFont typeface="Wingdings"/>
              <a:buChar char=""/>
              <a:tabLst>
                <a:tab pos="494665" algn="l"/>
              </a:tabLst>
            </a:pPr>
            <a:r>
              <a:rPr sz="2000" dirty="0">
                <a:latin typeface="Arial"/>
                <a:cs typeface="Arial"/>
              </a:rPr>
              <a:t>строка</a:t>
            </a:r>
            <a:r>
              <a:rPr sz="2000" spc="-10" dirty="0">
                <a:latin typeface="Times New Roman"/>
                <a:cs typeface="Times New Roman"/>
              </a:rPr>
              <a:t> </a:t>
            </a:r>
            <a:r>
              <a:rPr sz="2000" spc="-25" dirty="0">
                <a:latin typeface="Arial"/>
                <a:cs typeface="Arial"/>
              </a:rPr>
              <a:t>соответствует</a:t>
            </a:r>
            <a:r>
              <a:rPr sz="2000" spc="-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Arial"/>
                <a:cs typeface="Arial"/>
              </a:rPr>
              <a:t>одному</a:t>
            </a:r>
            <a:r>
              <a:rPr sz="2000" spc="-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Arial"/>
                <a:cs typeface="Arial"/>
              </a:rPr>
              <a:t>объекту</a:t>
            </a:r>
            <a:r>
              <a:rPr sz="2000" spc="-10" dirty="0">
                <a:latin typeface="Times New Roman"/>
                <a:cs typeface="Times New Roman"/>
              </a:rPr>
              <a:t> </a:t>
            </a:r>
            <a:r>
              <a:rPr sz="2000" spc="-10" dirty="0">
                <a:latin typeface="Arial"/>
                <a:cs typeface="Arial"/>
              </a:rPr>
              <a:t>(наблюдению).</a:t>
            </a:r>
            <a:endParaRPr sz="2000" dirty="0">
              <a:latin typeface="Arial"/>
              <a:cs typeface="Arial"/>
            </a:endParaRPr>
          </a:p>
          <a:p>
            <a:pPr marL="494665" indent="-342265">
              <a:lnSpc>
                <a:spcPts val="2615"/>
              </a:lnSpc>
              <a:spcBef>
                <a:spcPts val="50"/>
              </a:spcBef>
              <a:buFont typeface="Wingdings"/>
              <a:buChar char=""/>
              <a:tabLst>
                <a:tab pos="494665" algn="l"/>
              </a:tabLst>
            </a:pPr>
            <a:r>
              <a:rPr sz="2000" dirty="0">
                <a:latin typeface="Arial"/>
                <a:cs typeface="Arial"/>
              </a:rPr>
              <a:t>признак,</a:t>
            </a:r>
            <a:r>
              <a:rPr sz="2000" spc="-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Arial"/>
                <a:cs typeface="Arial"/>
              </a:rPr>
              <a:t>который</a:t>
            </a:r>
            <a:r>
              <a:rPr sz="2000" spc="-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Arial"/>
                <a:cs typeface="Arial"/>
              </a:rPr>
              <a:t>может</a:t>
            </a:r>
            <a:r>
              <a:rPr sz="200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Arial"/>
                <a:cs typeface="Arial"/>
              </a:rPr>
              <a:t>быть</a:t>
            </a:r>
            <a:r>
              <a:rPr sz="2000" spc="-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Arial"/>
                <a:cs typeface="Arial"/>
              </a:rPr>
              <a:t>измерен</a:t>
            </a:r>
            <a:r>
              <a:rPr sz="2000" spc="-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Arial"/>
                <a:cs typeface="Arial"/>
              </a:rPr>
              <a:t>(x)</a:t>
            </a:r>
            <a:r>
              <a:rPr sz="200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Arial"/>
                <a:cs typeface="Arial"/>
              </a:rPr>
              <a:t>–</a:t>
            </a:r>
            <a:r>
              <a:rPr sz="2000" spc="-10" dirty="0">
                <a:latin typeface="Times New Roman"/>
                <a:cs typeface="Times New Roman"/>
              </a:rPr>
              <a:t> </a:t>
            </a:r>
            <a:r>
              <a:rPr sz="2000" spc="-10" dirty="0">
                <a:latin typeface="Arial"/>
                <a:cs typeface="Arial"/>
              </a:rPr>
              <a:t>фактор</a:t>
            </a:r>
            <a:endParaRPr sz="2000" dirty="0">
              <a:latin typeface="Arial"/>
              <a:cs typeface="Arial"/>
            </a:endParaRPr>
          </a:p>
          <a:p>
            <a:pPr marL="494665" indent="-342265">
              <a:lnSpc>
                <a:spcPts val="2615"/>
              </a:lnSpc>
              <a:buFont typeface="Wingdings"/>
              <a:buChar char=""/>
              <a:tabLst>
                <a:tab pos="494665" algn="l"/>
              </a:tabLst>
            </a:pPr>
            <a:r>
              <a:rPr sz="2000" dirty="0">
                <a:latin typeface="Arial"/>
                <a:cs typeface="Arial"/>
              </a:rPr>
              <a:t>прогнозируемая</a:t>
            </a:r>
            <a:r>
              <a:rPr sz="2000" spc="-1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Arial"/>
                <a:cs typeface="Arial"/>
              </a:rPr>
              <a:t>переменная</a:t>
            </a:r>
            <a:r>
              <a:rPr sz="2000" spc="-1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Arial"/>
                <a:cs typeface="Arial"/>
              </a:rPr>
              <a:t>(y)</a:t>
            </a:r>
            <a:r>
              <a:rPr sz="200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Arial"/>
                <a:cs typeface="Arial"/>
              </a:rPr>
              <a:t>–</a:t>
            </a:r>
            <a:r>
              <a:rPr sz="2000" spc="-1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Arial"/>
                <a:cs typeface="Arial"/>
              </a:rPr>
              <a:t>переменная</a:t>
            </a:r>
            <a:r>
              <a:rPr sz="2000" spc="-10" dirty="0">
                <a:latin typeface="Times New Roman"/>
                <a:cs typeface="Times New Roman"/>
              </a:rPr>
              <a:t> </a:t>
            </a:r>
            <a:r>
              <a:rPr sz="2000" spc="-10" dirty="0">
                <a:latin typeface="Arial"/>
                <a:cs typeface="Arial"/>
              </a:rPr>
              <a:t>отклика.</a:t>
            </a:r>
            <a:endParaRPr sz="2000" dirty="0">
              <a:latin typeface="Arial"/>
              <a:cs typeface="Arial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762000" y="3215214"/>
            <a:ext cx="7753349" cy="93615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algn="just"/>
            <a:r>
              <a:rPr lang="ru-RU" sz="2000" b="1" i="0" u="none" strike="noStrike" baseline="0" dirty="0">
                <a:latin typeface="Arial-BoldMT"/>
              </a:rPr>
              <a:t>Цель исследования </a:t>
            </a:r>
            <a:r>
              <a:rPr lang="ru-RU" sz="2000" b="0" i="0" u="none" strike="noStrike" baseline="0" dirty="0">
                <a:latin typeface="ArialMT"/>
              </a:rPr>
              <a:t>– построить (линейную) функцию (регрессионную модель), которая по известному значению фактора позволит прогнозировать значение переменной отклика</a:t>
            </a:r>
            <a:endParaRPr sz="2000" dirty="0">
              <a:latin typeface="Arial"/>
              <a:cs typeface="Arial"/>
            </a:endParaRPr>
          </a:p>
        </p:txBody>
      </p:sp>
      <p:graphicFrame>
        <p:nvGraphicFramePr>
          <p:cNvPr id="20" name="object 2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53383363"/>
              </p:ext>
            </p:extLst>
          </p:nvPr>
        </p:nvGraphicFramePr>
        <p:xfrm>
          <a:off x="1122362" y="4313237"/>
          <a:ext cx="6887209" cy="205359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9367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8567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76478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3784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200"/>
                        </a:spcBef>
                      </a:pPr>
                      <a:r>
                        <a:rPr sz="1600" b="1" dirty="0">
                          <a:latin typeface="Trebuchet MS"/>
                          <a:cs typeface="Trebuchet MS"/>
                        </a:rPr>
                        <a:t>№</a:t>
                      </a:r>
                      <a:r>
                        <a:rPr sz="1600" spc="4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600" b="1" dirty="0">
                          <a:latin typeface="Trebuchet MS"/>
                          <a:cs typeface="Trebuchet MS"/>
                        </a:rPr>
                        <a:t>наблюдения,</a:t>
                      </a:r>
                      <a:r>
                        <a:rPr sz="1600" spc="4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600" b="1" spc="-50" dirty="0">
                          <a:latin typeface="Trebuchet MS"/>
                          <a:cs typeface="Trebuchet MS"/>
                        </a:rPr>
                        <a:t>i</a:t>
                      </a:r>
                      <a:endParaRPr sz="1600" dirty="0">
                        <a:latin typeface="Trebuchet MS"/>
                        <a:cs typeface="Trebuchet MS"/>
                      </a:endParaRPr>
                    </a:p>
                  </a:txBody>
                  <a:tcPr marL="0" marR="0" marT="15240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1905" algn="ctr">
                        <a:lnSpc>
                          <a:spcPct val="100000"/>
                        </a:lnSpc>
                        <a:spcBef>
                          <a:spcPts val="1200"/>
                        </a:spcBef>
                      </a:pPr>
                      <a:r>
                        <a:rPr sz="1600" b="1" dirty="0">
                          <a:latin typeface="Trebuchet MS"/>
                          <a:cs typeface="Trebuchet MS"/>
                        </a:rPr>
                        <a:t>Значения</a:t>
                      </a:r>
                      <a:r>
                        <a:rPr sz="1600" spc="3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600" b="1" dirty="0">
                          <a:latin typeface="Trebuchet MS"/>
                          <a:cs typeface="Trebuchet MS"/>
                        </a:rPr>
                        <a:t>фактора,</a:t>
                      </a:r>
                      <a:r>
                        <a:rPr sz="1600" spc="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600" b="1" spc="-25" dirty="0">
                          <a:latin typeface="Trebuchet MS"/>
                          <a:cs typeface="Trebuchet MS"/>
                        </a:rPr>
                        <a:t>x</a:t>
                      </a:r>
                      <a:r>
                        <a:rPr sz="1650" b="1" spc="-37" baseline="-15151" dirty="0">
                          <a:latin typeface="Trebuchet MS"/>
                          <a:cs typeface="Trebuchet MS"/>
                        </a:rPr>
                        <a:t>i</a:t>
                      </a:r>
                      <a:endParaRPr sz="1650" baseline="-15151">
                        <a:latin typeface="Trebuchet MS"/>
                        <a:cs typeface="Trebuchet MS"/>
                      </a:endParaRPr>
                    </a:p>
                  </a:txBody>
                  <a:tcPr marL="0" marR="0" marT="15240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00"/>
                        </a:spcBef>
                      </a:pPr>
                      <a:r>
                        <a:rPr sz="1600" b="1" dirty="0">
                          <a:latin typeface="Trebuchet MS"/>
                          <a:cs typeface="Trebuchet MS"/>
                        </a:rPr>
                        <a:t>Значения</a:t>
                      </a:r>
                      <a:r>
                        <a:rPr sz="1600" spc="3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600" b="1" spc="-10" dirty="0">
                          <a:latin typeface="Trebuchet MS"/>
                          <a:cs typeface="Trebuchet MS"/>
                        </a:rPr>
                        <a:t>переменной</a:t>
                      </a:r>
                      <a:endParaRPr sz="1600" dirty="0">
                        <a:latin typeface="Trebuchet MS"/>
                        <a:cs typeface="Trebuchet MS"/>
                      </a:endParaRPr>
                    </a:p>
                    <a:p>
                      <a:pPr marL="1905" algn="ctr">
                        <a:lnSpc>
                          <a:spcPts val="1830"/>
                        </a:lnSpc>
                        <a:spcBef>
                          <a:spcPts val="285"/>
                        </a:spcBef>
                      </a:pPr>
                      <a:r>
                        <a:rPr sz="1600" b="1" dirty="0">
                          <a:latin typeface="Trebuchet MS"/>
                          <a:cs typeface="Trebuchet MS"/>
                        </a:rPr>
                        <a:t>отклика,</a:t>
                      </a:r>
                      <a:r>
                        <a:rPr sz="1600" spc="3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600" b="1" spc="-25" dirty="0">
                          <a:latin typeface="Trebuchet MS"/>
                          <a:cs typeface="Trebuchet MS"/>
                        </a:rPr>
                        <a:t>y</a:t>
                      </a:r>
                      <a:r>
                        <a:rPr sz="1650" b="1" spc="-37" baseline="-15151" dirty="0">
                          <a:latin typeface="Trebuchet MS"/>
                          <a:cs typeface="Trebuchet MS"/>
                        </a:rPr>
                        <a:t>i</a:t>
                      </a:r>
                      <a:endParaRPr sz="1650" baseline="-15151" dirty="0">
                        <a:latin typeface="Trebuchet MS"/>
                        <a:cs typeface="Trebuchet MS"/>
                      </a:endParaRPr>
                    </a:p>
                  </a:txBody>
                  <a:tcPr marL="0" marR="0" marT="1270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89560">
                <a:tc>
                  <a:txBody>
                    <a:bodyPr/>
                    <a:lstStyle/>
                    <a:p>
                      <a:pPr algn="ctr">
                        <a:lnSpc>
                          <a:spcPts val="2080"/>
                        </a:lnSpc>
                        <a:spcBef>
                          <a:spcPts val="100"/>
                        </a:spcBef>
                      </a:pPr>
                      <a:r>
                        <a:rPr sz="1800" b="1" spc="-50" dirty="0">
                          <a:latin typeface="Trebuchet MS"/>
                          <a:cs typeface="Trebuchet MS"/>
                        </a:rPr>
                        <a:t>1</a:t>
                      </a:r>
                      <a:endParaRPr sz="1800">
                        <a:latin typeface="Trebuchet MS"/>
                        <a:cs typeface="Trebuchet MS"/>
                      </a:endParaRPr>
                    </a:p>
                  </a:txBody>
                  <a:tcPr marL="0" marR="0" marT="1270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1905" algn="ctr">
                        <a:lnSpc>
                          <a:spcPts val="2080"/>
                        </a:lnSpc>
                        <a:spcBef>
                          <a:spcPts val="100"/>
                        </a:spcBef>
                      </a:pPr>
                      <a:r>
                        <a:rPr sz="1800" spc="-25" dirty="0">
                          <a:latin typeface="Trebuchet MS"/>
                          <a:cs typeface="Trebuchet MS"/>
                        </a:rPr>
                        <a:t>x</a:t>
                      </a:r>
                      <a:r>
                        <a:rPr sz="1800" spc="-37" baseline="-13888" dirty="0">
                          <a:latin typeface="Trebuchet MS"/>
                          <a:cs typeface="Trebuchet MS"/>
                        </a:rPr>
                        <a:t>1</a:t>
                      </a:r>
                      <a:endParaRPr sz="1800" baseline="-13888" dirty="0">
                        <a:latin typeface="Trebuchet MS"/>
                        <a:cs typeface="Trebuchet MS"/>
                      </a:endParaRPr>
                    </a:p>
                  </a:txBody>
                  <a:tcPr marL="0" marR="0" marT="1270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080"/>
                        </a:lnSpc>
                        <a:spcBef>
                          <a:spcPts val="100"/>
                        </a:spcBef>
                      </a:pPr>
                      <a:r>
                        <a:rPr sz="1800" spc="-25" dirty="0">
                          <a:latin typeface="Trebuchet MS"/>
                          <a:cs typeface="Trebuchet MS"/>
                        </a:rPr>
                        <a:t>y</a:t>
                      </a:r>
                      <a:r>
                        <a:rPr sz="1800" spc="-37" baseline="-13888" dirty="0">
                          <a:latin typeface="Trebuchet MS"/>
                          <a:cs typeface="Trebuchet MS"/>
                        </a:rPr>
                        <a:t>1</a:t>
                      </a:r>
                      <a:endParaRPr sz="1800" baseline="-13888">
                        <a:latin typeface="Trebuchet MS"/>
                        <a:cs typeface="Trebuchet MS"/>
                      </a:endParaRPr>
                    </a:p>
                  </a:txBody>
                  <a:tcPr marL="0" marR="0" marT="1270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89560">
                <a:tc>
                  <a:txBody>
                    <a:bodyPr/>
                    <a:lstStyle/>
                    <a:p>
                      <a:pPr algn="ctr">
                        <a:lnSpc>
                          <a:spcPts val="2085"/>
                        </a:lnSpc>
                        <a:spcBef>
                          <a:spcPts val="95"/>
                        </a:spcBef>
                      </a:pPr>
                      <a:r>
                        <a:rPr sz="1800" b="1" spc="-50" dirty="0">
                          <a:latin typeface="Trebuchet MS"/>
                          <a:cs typeface="Trebuchet MS"/>
                        </a:rPr>
                        <a:t>…</a:t>
                      </a:r>
                      <a:endParaRPr sz="1800" dirty="0">
                        <a:latin typeface="Trebuchet MS"/>
                        <a:cs typeface="Trebuchet MS"/>
                      </a:endParaRPr>
                    </a:p>
                  </a:txBody>
                  <a:tcPr marL="0" marR="0" marT="1206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8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8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5750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95"/>
                        </a:spcBef>
                      </a:pPr>
                      <a:r>
                        <a:rPr sz="1800" b="1" spc="-50" dirty="0">
                          <a:latin typeface="Trebuchet MS"/>
                          <a:cs typeface="Trebuchet MS"/>
                        </a:rPr>
                        <a:t>i</a:t>
                      </a:r>
                      <a:endParaRPr sz="1800">
                        <a:latin typeface="Trebuchet MS"/>
                        <a:cs typeface="Trebuchet MS"/>
                      </a:endParaRPr>
                    </a:p>
                  </a:txBody>
                  <a:tcPr marL="0" marR="0" marT="1206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1905" algn="ctr">
                        <a:lnSpc>
                          <a:spcPct val="100000"/>
                        </a:lnSpc>
                        <a:spcBef>
                          <a:spcPts val="95"/>
                        </a:spcBef>
                      </a:pPr>
                      <a:r>
                        <a:rPr sz="1800" spc="-25" dirty="0">
                          <a:latin typeface="Trebuchet MS"/>
                          <a:cs typeface="Trebuchet MS"/>
                        </a:rPr>
                        <a:t>x</a:t>
                      </a:r>
                      <a:r>
                        <a:rPr sz="1800" spc="-37" baseline="-13888" dirty="0">
                          <a:latin typeface="Trebuchet MS"/>
                          <a:cs typeface="Trebuchet MS"/>
                        </a:rPr>
                        <a:t>i</a:t>
                      </a:r>
                      <a:endParaRPr sz="1800" baseline="-13888" dirty="0">
                        <a:latin typeface="Trebuchet MS"/>
                        <a:cs typeface="Trebuchet MS"/>
                      </a:endParaRPr>
                    </a:p>
                  </a:txBody>
                  <a:tcPr marL="0" marR="0" marT="1206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95"/>
                        </a:spcBef>
                      </a:pPr>
                      <a:r>
                        <a:rPr sz="1800" spc="-25" dirty="0">
                          <a:latin typeface="Trebuchet MS"/>
                          <a:cs typeface="Trebuchet MS"/>
                        </a:rPr>
                        <a:t>y</a:t>
                      </a:r>
                      <a:r>
                        <a:rPr sz="1800" spc="-37" baseline="-13888" dirty="0">
                          <a:latin typeface="Trebuchet MS"/>
                          <a:cs typeface="Trebuchet MS"/>
                        </a:rPr>
                        <a:t>i</a:t>
                      </a:r>
                      <a:endParaRPr sz="1800" baseline="-13888" dirty="0">
                        <a:latin typeface="Trebuchet MS"/>
                        <a:cs typeface="Trebuchet MS"/>
                      </a:endParaRPr>
                    </a:p>
                  </a:txBody>
                  <a:tcPr marL="0" marR="0" marT="1206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89560">
                <a:tc>
                  <a:txBody>
                    <a:bodyPr/>
                    <a:lstStyle/>
                    <a:p>
                      <a:pPr algn="ctr">
                        <a:lnSpc>
                          <a:spcPts val="2075"/>
                        </a:lnSpc>
                        <a:spcBef>
                          <a:spcPts val="110"/>
                        </a:spcBef>
                      </a:pPr>
                      <a:r>
                        <a:rPr sz="1800" b="1" spc="-50" dirty="0">
                          <a:latin typeface="Trebuchet MS"/>
                          <a:cs typeface="Trebuchet MS"/>
                        </a:rPr>
                        <a:t>…</a:t>
                      </a:r>
                      <a:endParaRPr sz="1800">
                        <a:latin typeface="Trebuchet MS"/>
                        <a:cs typeface="Trebuchet MS"/>
                      </a:endParaRPr>
                    </a:p>
                  </a:txBody>
                  <a:tcPr marL="0" marR="0" marT="1397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8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89560">
                <a:tc>
                  <a:txBody>
                    <a:bodyPr/>
                    <a:lstStyle/>
                    <a:p>
                      <a:pPr algn="ctr">
                        <a:lnSpc>
                          <a:spcPts val="2075"/>
                        </a:lnSpc>
                        <a:spcBef>
                          <a:spcPts val="105"/>
                        </a:spcBef>
                      </a:pPr>
                      <a:r>
                        <a:rPr sz="1800" b="1" spc="-50" dirty="0">
                          <a:latin typeface="Trebuchet MS"/>
                          <a:cs typeface="Trebuchet MS"/>
                        </a:rPr>
                        <a:t>n</a:t>
                      </a:r>
                      <a:endParaRPr sz="1800">
                        <a:latin typeface="Trebuchet MS"/>
                        <a:cs typeface="Trebuchet MS"/>
                      </a:endParaRPr>
                    </a:p>
                  </a:txBody>
                  <a:tcPr marL="0" marR="0" marT="1333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1905" algn="ctr">
                        <a:lnSpc>
                          <a:spcPts val="2075"/>
                        </a:lnSpc>
                        <a:spcBef>
                          <a:spcPts val="105"/>
                        </a:spcBef>
                      </a:pPr>
                      <a:r>
                        <a:rPr sz="1800" spc="-25" dirty="0">
                          <a:latin typeface="Trebuchet MS"/>
                          <a:cs typeface="Trebuchet MS"/>
                        </a:rPr>
                        <a:t>x</a:t>
                      </a:r>
                      <a:r>
                        <a:rPr sz="1800" spc="-37" baseline="-13888" dirty="0">
                          <a:latin typeface="Trebuchet MS"/>
                          <a:cs typeface="Trebuchet MS"/>
                        </a:rPr>
                        <a:t>n</a:t>
                      </a:r>
                      <a:endParaRPr sz="1800" baseline="-13888">
                        <a:latin typeface="Trebuchet MS"/>
                        <a:cs typeface="Trebuchet MS"/>
                      </a:endParaRPr>
                    </a:p>
                  </a:txBody>
                  <a:tcPr marL="0" marR="0" marT="1333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ts val="2075"/>
                        </a:lnSpc>
                        <a:spcBef>
                          <a:spcPts val="105"/>
                        </a:spcBef>
                      </a:pPr>
                      <a:r>
                        <a:rPr sz="1800" spc="-25" dirty="0">
                          <a:latin typeface="Trebuchet MS"/>
                          <a:cs typeface="Trebuchet MS"/>
                        </a:rPr>
                        <a:t>y</a:t>
                      </a:r>
                      <a:r>
                        <a:rPr sz="1800" spc="-37" baseline="-13888" dirty="0">
                          <a:latin typeface="Trebuchet MS"/>
                          <a:cs typeface="Trebuchet MS"/>
                        </a:rPr>
                        <a:t>n</a:t>
                      </a:r>
                      <a:endParaRPr sz="1800" baseline="-13888" dirty="0">
                        <a:latin typeface="Trebuchet MS"/>
                        <a:cs typeface="Trebuchet MS"/>
                      </a:endParaRPr>
                    </a:p>
                  </a:txBody>
                  <a:tcPr marL="0" marR="0" marT="1333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802634" y="6095632"/>
            <a:ext cx="101600" cy="227329"/>
          </a:xfrm>
          <a:prstGeom prst="rect">
            <a:avLst/>
          </a:prstGeom>
        </p:spPr>
        <p:txBody>
          <a:bodyPr vert="horz" wrap="square" lIns="0" tIns="1841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45"/>
              </a:spcBef>
            </a:pPr>
            <a:r>
              <a:rPr sz="1250" i="1" spc="-95" dirty="0">
                <a:latin typeface="Arial Black"/>
                <a:cs typeface="Arial Black"/>
              </a:rPr>
              <a:t>4</a:t>
            </a:r>
            <a:endParaRPr sz="1250">
              <a:latin typeface="Arial Black"/>
              <a:cs typeface="Arial Black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904234" y="843091"/>
            <a:ext cx="7611115" cy="2509709"/>
          </a:xfrm>
          <a:custGeom>
            <a:avLst/>
            <a:gdLst/>
            <a:ahLst/>
            <a:cxnLst/>
            <a:rect l="l" t="t" r="r" b="b"/>
            <a:pathLst>
              <a:path w="8352155" h="3570604">
                <a:moveTo>
                  <a:pt x="8351837" y="0"/>
                </a:moveTo>
                <a:lnTo>
                  <a:pt x="0" y="0"/>
                </a:lnTo>
                <a:lnTo>
                  <a:pt x="0" y="3570287"/>
                </a:lnTo>
                <a:lnTo>
                  <a:pt x="8351837" y="3570287"/>
                </a:lnTo>
                <a:lnTo>
                  <a:pt x="8351837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pPr algn="l"/>
            <a:r>
              <a:rPr lang="ru-RU" sz="1600" b="1" i="0" u="none" strike="noStrike" baseline="0" dirty="0">
                <a:solidFill>
                  <a:schemeClr val="tx1"/>
                </a:solidFill>
                <a:latin typeface="Arial-BoldMT"/>
              </a:rPr>
              <a:t>Задача однофакторной линейной регрессии</a:t>
            </a:r>
          </a:p>
          <a:p>
            <a:pPr algn="l"/>
            <a:r>
              <a:rPr lang="ru-RU" sz="1600" b="1" i="0" u="none" strike="noStrike" baseline="0" dirty="0">
                <a:solidFill>
                  <a:srgbClr val="000000"/>
                </a:solidFill>
                <a:latin typeface="Arial-BoldMT"/>
              </a:rPr>
              <a:t>Пример:</a:t>
            </a:r>
          </a:p>
          <a:p>
            <a:pPr marL="285750" indent="-285750" algn="just">
              <a:buFont typeface="Wingdings" panose="05000000000000000000" pitchFamily="2" charset="2"/>
              <a:buChar char="ü"/>
            </a:pPr>
            <a:r>
              <a:rPr lang="ru-RU" sz="1600" b="1" i="0" u="none" strike="noStrike" baseline="0" dirty="0">
                <a:solidFill>
                  <a:schemeClr val="tx1"/>
                </a:solidFill>
                <a:latin typeface="Arial-BoldMT"/>
              </a:rPr>
              <a:t>фактор</a:t>
            </a:r>
            <a:r>
              <a:rPr lang="ru-RU" sz="1600" b="1" i="0" u="none" strike="noStrike" baseline="0" dirty="0">
                <a:solidFill>
                  <a:srgbClr val="174161"/>
                </a:solidFill>
                <a:latin typeface="Arial-BoldMT"/>
              </a:rPr>
              <a:t> </a:t>
            </a:r>
            <a:r>
              <a:rPr lang="ru-RU" sz="1600" b="0" i="0" u="none" strike="noStrike" baseline="0" dirty="0">
                <a:solidFill>
                  <a:srgbClr val="000000"/>
                </a:solidFill>
                <a:latin typeface="ArialMT"/>
              </a:rPr>
              <a:t>– затраты на рекламу (x, при визуализации данных откладывается по оси ох),</a:t>
            </a:r>
          </a:p>
          <a:p>
            <a:pPr marL="285750" indent="-285750" algn="just">
              <a:buFont typeface="Wingdings" panose="05000000000000000000" pitchFamily="2" charset="2"/>
              <a:buChar char="ü"/>
            </a:pPr>
            <a:r>
              <a:rPr lang="ru-RU" sz="1600" b="1" i="0" u="none" strike="noStrike" baseline="0" dirty="0">
                <a:solidFill>
                  <a:schemeClr val="tx1"/>
                </a:solidFill>
                <a:latin typeface="Arial-BoldMT"/>
              </a:rPr>
              <a:t>переменная отклика </a:t>
            </a:r>
            <a:r>
              <a:rPr lang="ru-RU" sz="1600" b="0" i="0" u="none" strike="noStrike" baseline="0" dirty="0">
                <a:solidFill>
                  <a:srgbClr val="000000"/>
                </a:solidFill>
                <a:latin typeface="ArialMT"/>
              </a:rPr>
              <a:t>(прогнозируемая переменная) – объём продаж, зафиксированный через промежуток времени после проведения рекламной кампании (y, при визуализации откладывается по оси оу).</a:t>
            </a:r>
          </a:p>
          <a:p>
            <a:pPr marL="285750" indent="-285750" algn="just">
              <a:buFont typeface="Wingdings" panose="05000000000000000000" pitchFamily="2" charset="2"/>
              <a:buChar char="ü"/>
            </a:pPr>
            <a:r>
              <a:rPr lang="ru-RU" sz="1600" b="1" i="0" u="none" strike="noStrike" baseline="0" dirty="0">
                <a:solidFill>
                  <a:schemeClr val="tx1"/>
                </a:solidFill>
                <a:latin typeface="Arial-BoldMT"/>
              </a:rPr>
              <a:t>задача исследователей: </a:t>
            </a:r>
            <a:r>
              <a:rPr lang="ru-RU" sz="1600" b="0" i="0" u="none" strike="noStrike" baseline="0" dirty="0">
                <a:solidFill>
                  <a:srgbClr val="000000"/>
                </a:solidFill>
                <a:latin typeface="ArialMT"/>
              </a:rPr>
              <a:t>найти линейную функцию, отражающую зависимость переменной отклика y от фактора x.</a:t>
            </a:r>
            <a:endParaRPr lang="ru-RU" sz="1600" dirty="0"/>
          </a:p>
        </p:txBody>
      </p:sp>
      <p:grpSp>
        <p:nvGrpSpPr>
          <p:cNvPr id="10" name="object 10"/>
          <p:cNvGrpSpPr/>
          <p:nvPr/>
        </p:nvGrpSpPr>
        <p:grpSpPr>
          <a:xfrm>
            <a:off x="675953" y="3406971"/>
            <a:ext cx="8067675" cy="2565400"/>
            <a:chOff x="766762" y="3841750"/>
            <a:chExt cx="8067675" cy="2565400"/>
          </a:xfrm>
        </p:grpSpPr>
        <p:pic>
          <p:nvPicPr>
            <p:cNvPr id="11" name="object 11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766762" y="3841750"/>
              <a:ext cx="4019550" cy="2565400"/>
            </a:xfrm>
            <a:prstGeom prst="rect">
              <a:avLst/>
            </a:prstGeom>
          </p:spPr>
        </p:pic>
        <p:pic>
          <p:nvPicPr>
            <p:cNvPr id="12" name="object 12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4870450" y="3854450"/>
              <a:ext cx="3963987" cy="2552700"/>
            </a:xfrm>
            <a:prstGeom prst="rect">
              <a:avLst/>
            </a:prstGeom>
          </p:spPr>
        </p:pic>
      </p:grpSp>
      <p:sp>
        <p:nvSpPr>
          <p:cNvPr id="15" name="object 15"/>
          <p:cNvSpPr txBox="1">
            <a:spLocks noGrp="1"/>
          </p:cNvSpPr>
          <p:nvPr>
            <p:ph type="title"/>
          </p:nvPr>
        </p:nvSpPr>
        <p:spPr>
          <a:xfrm>
            <a:off x="1847012" y="136524"/>
            <a:ext cx="5449976" cy="50526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200" spc="-10" dirty="0"/>
              <a:t>Однофакторный</a:t>
            </a:r>
            <a:r>
              <a:rPr sz="3200" b="0" spc="-30" dirty="0">
                <a:cs typeface="Times New Roman"/>
              </a:rPr>
              <a:t> </a:t>
            </a:r>
            <a:r>
              <a:rPr sz="3200" spc="-10" dirty="0"/>
              <a:t>анализ</a:t>
            </a:r>
            <a:endParaRPr sz="3200" dirty="0">
              <a:cs typeface="Times New Roman"/>
            </a:endParaRPr>
          </a:p>
        </p:txBody>
      </p:sp>
      <p:sp>
        <p:nvSpPr>
          <p:cNvPr id="19" name="Нижний колонтитул 18">
            <a:extLst>
              <a:ext uri="{FF2B5EF4-FFF2-40B4-BE49-F238E27FC236}">
                <a16:creationId xmlns:a16="http://schemas.microsoft.com/office/drawing/2014/main" id="{9C1A99AA-E9BF-44C7-A3F6-8C0B4912E0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20" name="Номер слайда 19">
            <a:extLst>
              <a:ext uri="{FF2B5EF4-FFF2-40B4-BE49-F238E27FC236}">
                <a16:creationId xmlns:a16="http://schemas.microsoft.com/office/drawing/2014/main" id="{E0154D2A-D20A-4711-AF78-3F37B32A72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38100">
              <a:lnSpc>
                <a:spcPct val="100000"/>
              </a:lnSpc>
              <a:spcBef>
                <a:spcPts val="244"/>
              </a:spcBef>
            </a:pPr>
            <a:fld id="{81D60167-4931-47E6-BA6A-407CBD079E47}" type="slidenum">
              <a:rPr lang="ru-RU" spc="-25" smtClean="0"/>
              <a:t>26</a:t>
            </a:fld>
            <a:endParaRPr lang="ru-RU" spc="-25" dirty="0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D821B117-286E-4DAF-A363-B889357B09D6}"/>
              </a:ext>
            </a:extLst>
          </p:cNvPr>
          <p:cNvSpPr txBox="1"/>
          <p:nvPr/>
        </p:nvSpPr>
        <p:spPr>
          <a:xfrm>
            <a:off x="6324600" y="5972371"/>
            <a:ext cx="15430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y = a + bx</a:t>
            </a:r>
            <a:endParaRPr lang="ru-RU" dirty="0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object 5"/>
          <p:cNvSpPr txBox="1"/>
          <p:nvPr/>
        </p:nvSpPr>
        <p:spPr>
          <a:xfrm>
            <a:off x="675004" y="990439"/>
            <a:ext cx="7848600" cy="259814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algn="just"/>
            <a:r>
              <a:rPr lang="ru-RU" sz="2400" b="1" i="0" u="none" strike="noStrike" baseline="0" dirty="0">
                <a:latin typeface="+mn-lt"/>
              </a:rPr>
              <a:t>МНК </a:t>
            </a:r>
            <a:r>
              <a:rPr lang="ru-RU" sz="2400" b="0" i="0" u="none" strike="noStrike" baseline="0" dirty="0">
                <a:latin typeface="+mn-lt"/>
              </a:rPr>
              <a:t>– принцип поиска коэффициентов регрессии путём</a:t>
            </a:r>
            <a:r>
              <a:rPr lang="en-US" sz="2400" b="0" i="0" u="none" strike="noStrike" baseline="0" dirty="0">
                <a:latin typeface="+mn-lt"/>
              </a:rPr>
              <a:t> </a:t>
            </a:r>
            <a:r>
              <a:rPr lang="ru-RU" sz="2400" b="0" i="0" u="none" strike="noStrike" baseline="0" dirty="0">
                <a:latin typeface="+mn-lt"/>
              </a:rPr>
              <a:t>минимизации суммы квадратов отклонений между реальными</a:t>
            </a:r>
            <a:r>
              <a:rPr lang="en-US" sz="2400" b="0" i="0" u="none" strike="noStrike" baseline="0" dirty="0">
                <a:latin typeface="+mn-lt"/>
              </a:rPr>
              <a:t> </a:t>
            </a:r>
            <a:r>
              <a:rPr lang="ru-RU" sz="2400" b="0" i="0" u="none" strike="noStrike" baseline="0" dirty="0">
                <a:latin typeface="+mn-lt"/>
              </a:rPr>
              <a:t>значениями признака и прогнозируемыми согласно</a:t>
            </a:r>
            <a:r>
              <a:rPr lang="en-US" sz="2400" b="0" i="0" u="none" strike="noStrike" baseline="0" dirty="0">
                <a:latin typeface="+mn-lt"/>
              </a:rPr>
              <a:t> </a:t>
            </a:r>
            <a:r>
              <a:rPr lang="ru-RU" sz="2400" b="0" i="0" u="none" strike="noStrike" baseline="0" dirty="0">
                <a:latin typeface="+mn-lt"/>
              </a:rPr>
              <a:t>предполагаемой форме зависимости.</a:t>
            </a:r>
          </a:p>
          <a:p>
            <a:pPr algn="just"/>
            <a:r>
              <a:rPr lang="ru-RU" sz="2400" b="1" i="0" u="none" strike="noStrike" baseline="0" dirty="0">
                <a:latin typeface="+mn-lt"/>
              </a:rPr>
              <a:t>Задача метода наименьших квадратов: </a:t>
            </a:r>
            <a:r>
              <a:rPr lang="ru-RU" sz="2400" b="0" i="0" u="none" strike="noStrike" baseline="0" dirty="0">
                <a:latin typeface="+mn-lt"/>
              </a:rPr>
              <a:t>подобрать прямую</a:t>
            </a:r>
            <a:r>
              <a:rPr lang="en-US" sz="2400" b="0" i="0" u="none" strike="noStrike" baseline="0" dirty="0">
                <a:latin typeface="+mn-lt"/>
              </a:rPr>
              <a:t> </a:t>
            </a:r>
            <a:r>
              <a:rPr lang="ru-RU" sz="2400" b="0" i="0" u="none" strike="noStrike" baseline="0" dirty="0">
                <a:latin typeface="+mn-lt"/>
              </a:rPr>
              <a:t>линию, которая ближе всего расположена к точкам</a:t>
            </a:r>
            <a:r>
              <a:rPr lang="en-US" sz="2400" b="0" i="0" u="none" strike="noStrike" baseline="0" dirty="0">
                <a:latin typeface="+mn-lt"/>
              </a:rPr>
              <a:t> </a:t>
            </a:r>
            <a:r>
              <a:rPr lang="ru-RU" sz="2400" b="0" i="0" u="none" strike="noStrike" baseline="0" dirty="0">
                <a:latin typeface="+mn-lt"/>
              </a:rPr>
              <a:t>корреляционного поля.</a:t>
            </a:r>
            <a:endParaRPr lang="ru-RU" sz="2400" dirty="0">
              <a:latin typeface="+mn-lt"/>
              <a:cs typeface="Arial"/>
            </a:endParaRPr>
          </a:p>
        </p:txBody>
      </p:sp>
      <p:sp>
        <p:nvSpPr>
          <p:cNvPr id="7" name="object 7"/>
          <p:cNvSpPr txBox="1">
            <a:spLocks noGrp="1"/>
          </p:cNvSpPr>
          <p:nvPr>
            <p:ph type="title"/>
          </p:nvPr>
        </p:nvSpPr>
        <p:spPr>
          <a:xfrm>
            <a:off x="1515268" y="268174"/>
            <a:ext cx="6800850" cy="491032"/>
          </a:xfrm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1923414" marR="5080" indent="-1911350">
              <a:lnSpc>
                <a:spcPct val="100800"/>
              </a:lnSpc>
              <a:spcBef>
                <a:spcPts val="75"/>
              </a:spcBef>
            </a:pPr>
            <a:r>
              <a:rPr sz="3200" b="0" dirty="0">
                <a:cs typeface="Arial"/>
              </a:rPr>
              <a:t>М</a:t>
            </a:r>
            <a:r>
              <a:rPr sz="3200" dirty="0"/>
              <a:t>етод</a:t>
            </a:r>
            <a:r>
              <a:rPr sz="3200" b="0" spc="-65" dirty="0">
                <a:cs typeface="Times New Roman"/>
              </a:rPr>
              <a:t> </a:t>
            </a:r>
            <a:r>
              <a:rPr sz="3200" dirty="0"/>
              <a:t>наименьших</a:t>
            </a:r>
            <a:r>
              <a:rPr sz="3200" b="0" spc="-60" dirty="0">
                <a:cs typeface="Times New Roman"/>
              </a:rPr>
              <a:t> </a:t>
            </a:r>
            <a:r>
              <a:rPr sz="3200" spc="-10" dirty="0"/>
              <a:t>квадратов</a:t>
            </a:r>
            <a:r>
              <a:rPr sz="3200" b="0" spc="-10" dirty="0">
                <a:cs typeface="Times New Roman"/>
              </a:rPr>
              <a:t> </a:t>
            </a:r>
            <a:r>
              <a:rPr sz="3200" spc="-20" dirty="0"/>
              <a:t>(МНК)</a:t>
            </a:r>
            <a:endParaRPr sz="3200" dirty="0">
              <a:cs typeface="Times New Roman"/>
            </a:endParaRPr>
          </a:p>
        </p:txBody>
      </p:sp>
      <p:sp>
        <p:nvSpPr>
          <p:cNvPr id="11" name="Нижний колонтитул 10">
            <a:extLst>
              <a:ext uri="{FF2B5EF4-FFF2-40B4-BE49-F238E27FC236}">
                <a16:creationId xmlns:a16="http://schemas.microsoft.com/office/drawing/2014/main" id="{3EC1D850-17A9-4F2F-B2CD-1A212C3E0E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12" name="Номер слайда 11">
            <a:extLst>
              <a:ext uri="{FF2B5EF4-FFF2-40B4-BE49-F238E27FC236}">
                <a16:creationId xmlns:a16="http://schemas.microsoft.com/office/drawing/2014/main" id="{CACE98A8-1451-43F3-8BAC-E9C362172A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38100">
              <a:lnSpc>
                <a:spcPct val="100000"/>
              </a:lnSpc>
              <a:spcBef>
                <a:spcPts val="244"/>
              </a:spcBef>
            </a:pPr>
            <a:fld id="{81D60167-4931-47E6-BA6A-407CBD079E47}" type="slidenum">
              <a:rPr lang="ru-RU" spc="-25" smtClean="0"/>
              <a:t>27</a:t>
            </a:fld>
            <a:endParaRPr lang="ru-RU" spc="-25" dirty="0"/>
          </a:p>
        </p:txBody>
      </p:sp>
      <p:pic>
        <p:nvPicPr>
          <p:cNvPr id="24" name="Рисунок 23">
            <a:extLst>
              <a:ext uri="{FF2B5EF4-FFF2-40B4-BE49-F238E27FC236}">
                <a16:creationId xmlns:a16="http://schemas.microsoft.com/office/drawing/2014/main" id="{F982E79B-E98C-495D-9AD0-A4F38B3779C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77193" y="3745851"/>
            <a:ext cx="6477000" cy="2453235"/>
          </a:xfrm>
          <a:prstGeom prst="rect">
            <a:avLst/>
          </a:prstGeom>
        </p:spPr>
      </p:pic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665440" y="964943"/>
            <a:ext cx="351536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dirty="0">
                <a:latin typeface="Arial"/>
                <a:cs typeface="Arial"/>
              </a:rPr>
              <a:t>Математическая</a:t>
            </a:r>
            <a:r>
              <a:rPr sz="2400" spc="-130" dirty="0"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Arial"/>
                <a:cs typeface="Arial"/>
              </a:rPr>
              <a:t>запись:</a:t>
            </a:r>
            <a:endParaRPr sz="2400" dirty="0">
              <a:latin typeface="Arial"/>
              <a:cs typeface="Arial"/>
            </a:endParaRPr>
          </a:p>
        </p:txBody>
      </p:sp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4284980" y="746759"/>
            <a:ext cx="3888136" cy="987202"/>
          </a:xfrm>
          <a:prstGeom prst="rect">
            <a:avLst/>
          </a:prstGeom>
        </p:spPr>
      </p:pic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1013793" y="189800"/>
            <a:ext cx="7334916" cy="50526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200" dirty="0">
                <a:cs typeface="Arial"/>
              </a:rPr>
              <a:t>М</a:t>
            </a:r>
            <a:r>
              <a:rPr sz="3200" dirty="0"/>
              <a:t>етод</a:t>
            </a:r>
            <a:r>
              <a:rPr sz="3200" spc="-65" dirty="0">
                <a:cs typeface="Times New Roman"/>
              </a:rPr>
              <a:t> </a:t>
            </a:r>
            <a:r>
              <a:rPr sz="3200" dirty="0"/>
              <a:t>наименьших</a:t>
            </a:r>
            <a:r>
              <a:rPr sz="3200" spc="-60" dirty="0">
                <a:cs typeface="Times New Roman"/>
              </a:rPr>
              <a:t> </a:t>
            </a:r>
            <a:r>
              <a:rPr sz="3200" dirty="0"/>
              <a:t>квадратов</a:t>
            </a:r>
            <a:r>
              <a:rPr sz="3200" spc="-60" dirty="0">
                <a:cs typeface="Times New Roman"/>
              </a:rPr>
              <a:t> </a:t>
            </a:r>
            <a:r>
              <a:rPr sz="3200" spc="-10" dirty="0"/>
              <a:t>(МНК)</a:t>
            </a:r>
            <a:endParaRPr sz="3200" dirty="0">
              <a:cs typeface="Times New Roman"/>
            </a:endParaRPr>
          </a:p>
        </p:txBody>
      </p:sp>
      <p:sp>
        <p:nvSpPr>
          <p:cNvPr id="27" name="Нижний колонтитул 26">
            <a:extLst>
              <a:ext uri="{FF2B5EF4-FFF2-40B4-BE49-F238E27FC236}">
                <a16:creationId xmlns:a16="http://schemas.microsoft.com/office/drawing/2014/main" id="{0DB22C61-1396-4DF6-95EA-FF080D2533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28" name="Номер слайда 27">
            <a:extLst>
              <a:ext uri="{FF2B5EF4-FFF2-40B4-BE49-F238E27FC236}">
                <a16:creationId xmlns:a16="http://schemas.microsoft.com/office/drawing/2014/main" id="{4F2528A8-216A-4973-8E91-580A0E57E3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38100">
              <a:lnSpc>
                <a:spcPct val="100000"/>
              </a:lnSpc>
              <a:spcBef>
                <a:spcPts val="244"/>
              </a:spcBef>
            </a:pPr>
            <a:fld id="{81D60167-4931-47E6-BA6A-407CBD079E47}" type="slidenum">
              <a:rPr lang="ru-RU" spc="-25" smtClean="0"/>
              <a:t>28</a:t>
            </a:fld>
            <a:endParaRPr lang="ru-RU" spc="-25" dirty="0"/>
          </a:p>
        </p:txBody>
      </p:sp>
      <p:pic>
        <p:nvPicPr>
          <p:cNvPr id="6" name="object 6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432411" y="2405822"/>
            <a:ext cx="2185416" cy="640079"/>
          </a:xfrm>
          <a:prstGeom prst="rect">
            <a:avLst/>
          </a:prstGeom>
        </p:spPr>
      </p:pic>
      <p:sp>
        <p:nvSpPr>
          <p:cNvPr id="9" name="object 9"/>
          <p:cNvSpPr/>
          <p:nvPr/>
        </p:nvSpPr>
        <p:spPr>
          <a:xfrm>
            <a:off x="3839857" y="2636722"/>
            <a:ext cx="859173" cy="180124"/>
          </a:xfrm>
          <a:custGeom>
            <a:avLst/>
            <a:gdLst/>
            <a:ahLst/>
            <a:cxnLst/>
            <a:rect l="l" t="t" r="r" b="b"/>
            <a:pathLst>
              <a:path w="576579" h="119380">
                <a:moveTo>
                  <a:pt x="516731" y="0"/>
                </a:moveTo>
                <a:lnTo>
                  <a:pt x="516731" y="29762"/>
                </a:lnTo>
                <a:lnTo>
                  <a:pt x="0" y="29762"/>
                </a:lnTo>
                <a:lnTo>
                  <a:pt x="0" y="89293"/>
                </a:lnTo>
                <a:lnTo>
                  <a:pt x="516731" y="89293"/>
                </a:lnTo>
                <a:lnTo>
                  <a:pt x="516731" y="119062"/>
                </a:lnTo>
                <a:lnTo>
                  <a:pt x="576262" y="59531"/>
                </a:lnTo>
                <a:lnTo>
                  <a:pt x="516731" y="0"/>
                </a:lnTo>
                <a:close/>
              </a:path>
            </a:pathLst>
          </a:custGeom>
          <a:solidFill>
            <a:srgbClr val="5ECAEE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11" name="object 11"/>
          <p:cNvGrpSpPr/>
          <p:nvPr/>
        </p:nvGrpSpPr>
        <p:grpSpPr>
          <a:xfrm>
            <a:off x="1357947" y="1854134"/>
            <a:ext cx="6986016" cy="4745804"/>
            <a:chOff x="1357947" y="1854134"/>
            <a:chExt cx="6986016" cy="4745804"/>
          </a:xfrm>
        </p:grpSpPr>
        <p:pic>
          <p:nvPicPr>
            <p:cNvPr id="12" name="object 12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4921060" y="1854134"/>
              <a:ext cx="3422903" cy="1743456"/>
            </a:xfrm>
            <a:prstGeom prst="rect">
              <a:avLst/>
            </a:prstGeom>
          </p:spPr>
        </p:pic>
        <p:pic>
          <p:nvPicPr>
            <p:cNvPr id="14" name="object 14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1357947" y="3993198"/>
              <a:ext cx="6986016" cy="853439"/>
            </a:xfrm>
            <a:prstGeom prst="rect">
              <a:avLst/>
            </a:prstGeom>
          </p:spPr>
        </p:pic>
        <p:pic>
          <p:nvPicPr>
            <p:cNvPr id="16" name="object 16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1357947" y="5359402"/>
              <a:ext cx="1783080" cy="1240536"/>
            </a:xfrm>
            <a:prstGeom prst="rect">
              <a:avLst/>
            </a:prstGeom>
          </p:spPr>
        </p:pic>
        <p:sp>
          <p:nvSpPr>
            <p:cNvPr id="18" name="object 18"/>
            <p:cNvSpPr/>
            <p:nvPr/>
          </p:nvSpPr>
          <p:spPr>
            <a:xfrm>
              <a:off x="6443598" y="3592638"/>
              <a:ext cx="180975" cy="400560"/>
            </a:xfrm>
            <a:custGeom>
              <a:avLst/>
              <a:gdLst/>
              <a:ahLst/>
              <a:cxnLst/>
              <a:rect l="l" t="t" r="r" b="b"/>
              <a:pathLst>
                <a:path w="180975" h="338454">
                  <a:moveTo>
                    <a:pt x="135731" y="0"/>
                  </a:moveTo>
                  <a:lnTo>
                    <a:pt x="45243" y="0"/>
                  </a:lnTo>
                  <a:lnTo>
                    <a:pt x="45243" y="247650"/>
                  </a:lnTo>
                  <a:lnTo>
                    <a:pt x="0" y="247650"/>
                  </a:lnTo>
                  <a:lnTo>
                    <a:pt x="90487" y="338137"/>
                  </a:lnTo>
                  <a:lnTo>
                    <a:pt x="180975" y="247650"/>
                  </a:lnTo>
                  <a:lnTo>
                    <a:pt x="135731" y="247650"/>
                  </a:lnTo>
                  <a:lnTo>
                    <a:pt x="135731" y="0"/>
                  </a:lnTo>
                  <a:close/>
                </a:path>
              </a:pathLst>
            </a:custGeom>
            <a:solidFill>
              <a:srgbClr val="5ECAE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" name="object 20"/>
            <p:cNvSpPr/>
            <p:nvPr/>
          </p:nvSpPr>
          <p:spPr>
            <a:xfrm>
              <a:off x="2165350" y="4846636"/>
              <a:ext cx="196849" cy="512747"/>
            </a:xfrm>
            <a:custGeom>
              <a:avLst/>
              <a:gdLst/>
              <a:ahLst/>
              <a:cxnLst/>
              <a:rect l="l" t="t" r="r" b="b"/>
              <a:pathLst>
                <a:path w="168275" h="469900">
                  <a:moveTo>
                    <a:pt x="126206" y="0"/>
                  </a:moveTo>
                  <a:lnTo>
                    <a:pt x="42068" y="0"/>
                  </a:lnTo>
                  <a:lnTo>
                    <a:pt x="42068" y="385762"/>
                  </a:lnTo>
                  <a:lnTo>
                    <a:pt x="0" y="385762"/>
                  </a:lnTo>
                  <a:lnTo>
                    <a:pt x="84137" y="469900"/>
                  </a:lnTo>
                  <a:lnTo>
                    <a:pt x="168275" y="385762"/>
                  </a:lnTo>
                  <a:lnTo>
                    <a:pt x="126206" y="385762"/>
                  </a:lnTo>
                  <a:lnTo>
                    <a:pt x="126206" y="0"/>
                  </a:lnTo>
                  <a:close/>
                </a:path>
              </a:pathLst>
            </a:custGeom>
            <a:solidFill>
              <a:srgbClr val="5ECAE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2" name="object 22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5230367" y="5556504"/>
              <a:ext cx="2621280" cy="466344"/>
            </a:xfrm>
            <a:prstGeom prst="rect">
              <a:avLst/>
            </a:prstGeom>
          </p:spPr>
        </p:pic>
      </p:grp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290512" y="577849"/>
            <a:ext cx="8524875" cy="1851025"/>
          </a:xfrm>
          <a:custGeom>
            <a:avLst/>
            <a:gdLst/>
            <a:ahLst/>
            <a:cxnLst/>
            <a:rect l="l" t="t" r="r" b="b"/>
            <a:pathLst>
              <a:path w="8524875" h="1851025">
                <a:moveTo>
                  <a:pt x="8524875" y="0"/>
                </a:moveTo>
                <a:lnTo>
                  <a:pt x="0" y="0"/>
                </a:lnTo>
                <a:lnTo>
                  <a:pt x="0" y="769937"/>
                </a:lnTo>
                <a:lnTo>
                  <a:pt x="53975" y="769937"/>
                </a:lnTo>
                <a:lnTo>
                  <a:pt x="53975" y="1851025"/>
                </a:lnTo>
                <a:lnTo>
                  <a:pt x="8524875" y="1851025"/>
                </a:lnTo>
                <a:lnTo>
                  <a:pt x="8524875" y="769937"/>
                </a:lnTo>
                <a:lnTo>
                  <a:pt x="8524875" y="742950"/>
                </a:lnTo>
                <a:lnTo>
                  <a:pt x="8524875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424939" y="2524126"/>
            <a:ext cx="5975350" cy="3832225"/>
          </a:xfrm>
          <a:prstGeom prst="rect">
            <a:avLst/>
          </a:prstGeom>
        </p:spPr>
      </p:pic>
      <p:sp>
        <p:nvSpPr>
          <p:cNvPr id="6" name="object 6"/>
          <p:cNvSpPr txBox="1"/>
          <p:nvPr/>
        </p:nvSpPr>
        <p:spPr>
          <a:xfrm>
            <a:off x="328613" y="778922"/>
            <a:ext cx="8202779" cy="1719059"/>
          </a:xfrm>
          <a:prstGeom prst="rect">
            <a:avLst/>
          </a:prstGeom>
        </p:spPr>
        <p:txBody>
          <a:bodyPr vert="horz" wrap="square" lIns="0" tIns="26034" rIns="0" bIns="0" rtlCol="0">
            <a:spAutoFit/>
          </a:bodyPr>
          <a:lstStyle/>
          <a:p>
            <a:pPr marL="355600" marR="5080" indent="-342900">
              <a:lnSpc>
                <a:spcPts val="2620"/>
              </a:lnSpc>
              <a:spcBef>
                <a:spcPts val="204"/>
              </a:spcBef>
              <a:buFont typeface="Wingdings" panose="05000000000000000000" pitchFamily="2" charset="2"/>
              <a:buChar char="ü"/>
            </a:pPr>
            <a:r>
              <a:rPr lang="ru-RU" sz="2200" dirty="0">
                <a:latin typeface="Arial"/>
                <a:cs typeface="Arial"/>
              </a:rPr>
              <a:t>График линейной зависимости называется прямой</a:t>
            </a:r>
            <a:r>
              <a:rPr lang="en-US" sz="2200" dirty="0">
                <a:latin typeface="Arial"/>
                <a:cs typeface="Arial"/>
              </a:rPr>
              <a:t> </a:t>
            </a:r>
            <a:r>
              <a:rPr lang="ru-RU" sz="2200" dirty="0">
                <a:latin typeface="Arial"/>
                <a:cs typeface="Arial"/>
              </a:rPr>
              <a:t>регрессии (y на x).</a:t>
            </a:r>
          </a:p>
          <a:p>
            <a:pPr marL="355600" marR="5080" indent="-342900">
              <a:lnSpc>
                <a:spcPts val="2620"/>
              </a:lnSpc>
              <a:spcBef>
                <a:spcPts val="204"/>
              </a:spcBef>
              <a:buFont typeface="Wingdings" panose="05000000000000000000" pitchFamily="2" charset="2"/>
              <a:buChar char="ü"/>
            </a:pPr>
            <a:r>
              <a:rPr lang="ru-RU" sz="2200" dirty="0">
                <a:latin typeface="Arial"/>
                <a:cs typeface="Arial"/>
              </a:rPr>
              <a:t>Найденная</a:t>
            </a:r>
            <a:r>
              <a:rPr lang="en-US" sz="2200" dirty="0">
                <a:latin typeface="Arial"/>
                <a:cs typeface="Arial"/>
              </a:rPr>
              <a:t> </a:t>
            </a:r>
            <a:r>
              <a:rPr lang="ru-RU" sz="2200" dirty="0">
                <a:latin typeface="Arial"/>
                <a:cs typeface="Arial"/>
              </a:rPr>
              <a:t>линейная функция позволяет прогнозировать</a:t>
            </a:r>
            <a:r>
              <a:rPr lang="en-US" sz="2200" dirty="0">
                <a:latin typeface="Arial"/>
                <a:cs typeface="Arial"/>
              </a:rPr>
              <a:t> </a:t>
            </a:r>
            <a:r>
              <a:rPr lang="ru-RU" sz="2200" dirty="0">
                <a:latin typeface="Arial"/>
                <a:cs typeface="Arial"/>
              </a:rPr>
              <a:t>значение зависимого признака (y) по заданным значениям</a:t>
            </a:r>
            <a:r>
              <a:rPr lang="en-US" sz="2200" dirty="0">
                <a:latin typeface="Arial"/>
                <a:cs typeface="Arial"/>
              </a:rPr>
              <a:t> </a:t>
            </a:r>
            <a:r>
              <a:rPr lang="ru-RU" sz="2200" dirty="0">
                <a:latin typeface="Arial"/>
                <a:cs typeface="Arial"/>
              </a:rPr>
              <a:t>независимого фактора (x).</a:t>
            </a:r>
          </a:p>
        </p:txBody>
      </p:sp>
      <p:sp>
        <p:nvSpPr>
          <p:cNvPr id="7" name="object 7"/>
          <p:cNvSpPr/>
          <p:nvPr/>
        </p:nvSpPr>
        <p:spPr>
          <a:xfrm>
            <a:off x="1287462" y="80962"/>
            <a:ext cx="6250305" cy="462280"/>
          </a:xfrm>
          <a:custGeom>
            <a:avLst/>
            <a:gdLst/>
            <a:ahLst/>
            <a:cxnLst/>
            <a:rect l="l" t="t" r="r" b="b"/>
            <a:pathLst>
              <a:path w="6250305" h="462280">
                <a:moveTo>
                  <a:pt x="6249987" y="0"/>
                </a:moveTo>
                <a:lnTo>
                  <a:pt x="0" y="0"/>
                </a:lnTo>
                <a:lnTo>
                  <a:pt x="0" y="461962"/>
                </a:lnTo>
                <a:lnTo>
                  <a:pt x="6249987" y="461962"/>
                </a:lnTo>
                <a:lnTo>
                  <a:pt x="6249987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 txBox="1">
            <a:spLocks noGrp="1"/>
          </p:cNvSpPr>
          <p:nvPr>
            <p:ph type="title"/>
          </p:nvPr>
        </p:nvSpPr>
        <p:spPr>
          <a:xfrm>
            <a:off x="1117441" y="136524"/>
            <a:ext cx="6909117" cy="50526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200" b="0" dirty="0">
                <a:latin typeface="Arial"/>
                <a:cs typeface="Arial"/>
              </a:rPr>
              <a:t>М</a:t>
            </a:r>
            <a:r>
              <a:rPr sz="3200" dirty="0"/>
              <a:t>етод</a:t>
            </a:r>
            <a:r>
              <a:rPr sz="3200" b="0" spc="-65" dirty="0">
                <a:latin typeface="Times New Roman"/>
                <a:cs typeface="Times New Roman"/>
              </a:rPr>
              <a:t> </a:t>
            </a:r>
            <a:r>
              <a:rPr sz="3200" dirty="0"/>
              <a:t>наименьших</a:t>
            </a:r>
            <a:r>
              <a:rPr sz="3200" b="0" spc="-60" dirty="0">
                <a:latin typeface="Times New Roman"/>
                <a:cs typeface="Times New Roman"/>
              </a:rPr>
              <a:t> </a:t>
            </a:r>
            <a:r>
              <a:rPr sz="3200" dirty="0"/>
              <a:t>квадратов</a:t>
            </a:r>
            <a:r>
              <a:rPr sz="3200" b="0" spc="-60" dirty="0">
                <a:latin typeface="Times New Roman"/>
                <a:cs typeface="Times New Roman"/>
              </a:rPr>
              <a:t> </a:t>
            </a:r>
            <a:r>
              <a:rPr sz="3200" spc="-10" dirty="0"/>
              <a:t>(МНК)</a:t>
            </a:r>
            <a:endParaRPr sz="3200" dirty="0">
              <a:latin typeface="Times New Roman"/>
              <a:cs typeface="Times New Roman"/>
            </a:endParaRPr>
          </a:p>
        </p:txBody>
      </p:sp>
      <p:sp>
        <p:nvSpPr>
          <p:cNvPr id="12" name="Нижний колонтитул 11">
            <a:extLst>
              <a:ext uri="{FF2B5EF4-FFF2-40B4-BE49-F238E27FC236}">
                <a16:creationId xmlns:a16="http://schemas.microsoft.com/office/drawing/2014/main" id="{5EEAEEE1-798D-4E2E-AB34-DC0861D214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13" name="Номер слайда 12">
            <a:extLst>
              <a:ext uri="{FF2B5EF4-FFF2-40B4-BE49-F238E27FC236}">
                <a16:creationId xmlns:a16="http://schemas.microsoft.com/office/drawing/2014/main" id="{95C27961-9611-4B74-ACCB-F096A91E46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38100">
              <a:lnSpc>
                <a:spcPct val="100000"/>
              </a:lnSpc>
              <a:spcBef>
                <a:spcPts val="244"/>
              </a:spcBef>
            </a:pPr>
            <a:fld id="{81D60167-4931-47E6-BA6A-407CBD079E47}" type="slidenum">
              <a:rPr lang="ru-RU" spc="-25" smtClean="0"/>
              <a:t>29</a:t>
            </a:fld>
            <a:endParaRPr lang="ru-RU" spc="-25" dirty="0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DDA165B-F597-D43A-F021-E768E44F78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ru-RU" dirty="0"/>
              <a:t>Многофакторная модель регрессии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Объект 2">
                <a:extLst>
                  <a:ext uri="{FF2B5EF4-FFF2-40B4-BE49-F238E27FC236}">
                    <a16:creationId xmlns:a16="http://schemas.microsoft.com/office/drawing/2014/main" id="{81735CD6-D48C-F011-389A-E3358D32982F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628650" y="990600"/>
                <a:ext cx="7886700" cy="5186363"/>
              </a:xfrm>
            </p:spPr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ru-RU" sz="1800" dirty="0">
                    <a:latin typeface="Arial" panose="020B0604020202020204" pitchFamily="34" charset="0"/>
                    <a:cs typeface="Arial" panose="020B0604020202020204" pitchFamily="34" charset="0"/>
                  </a:rPr>
                  <a:t>Оценка параметров модели: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𝑊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p>
                                <m:sSupPr>
                                  <m:ctrlPr>
                                    <a:rPr lang="en-US" sz="24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sz="2400" b="0" i="1" smtClean="0">
                                      <a:latin typeface="Cambria Math" panose="02040503050406030204" pitchFamily="18" charset="0"/>
                                    </a:rPr>
                                    <m:t>𝑋</m:t>
                                  </m:r>
                                </m:e>
                                <m:sup>
                                  <m:r>
                                    <a:rPr lang="en-US" sz="2400" b="0" i="1" smtClean="0">
                                      <a:latin typeface="Cambria Math" panose="02040503050406030204" pitchFamily="18" charset="0"/>
                                    </a:rPr>
                                    <m:t>𝑇</m:t>
                                  </m:r>
                                </m:sup>
                              </m:sSup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𝑋</m:t>
                              </m:r>
                            </m:e>
                          </m:d>
                        </m:e>
                        <m:sup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−1</m:t>
                          </m:r>
                        </m:sup>
                      </m:sSup>
                      <m:sSup>
                        <m:sSup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𝑋</m:t>
                          </m:r>
                        </m:e>
                        <m:sup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𝑇</m:t>
                          </m:r>
                        </m:sup>
                      </m:sSup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𝑦</m:t>
                      </m:r>
                    </m:oMath>
                  </m:oMathPara>
                </a14:m>
                <a:endParaRPr lang="en-US" sz="2400" b="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marL="0" indent="0">
                  <a:buNone/>
                </a:pPr>
                <a:r>
                  <a:rPr lang="ru-RU" sz="1800" dirty="0">
                    <a:latin typeface="Arial" panose="020B0604020202020204" pitchFamily="34" charset="0"/>
                    <a:cs typeface="Arial" panose="020B0604020202020204" pitchFamily="34" charset="0"/>
                  </a:rPr>
                  <a:t>Оценка параметров модели с использованием </a:t>
                </a:r>
                <a:r>
                  <a:rPr lang="en-US" sz="1800" dirty="0">
                    <a:latin typeface="Arial" panose="020B0604020202020204" pitchFamily="34" charset="0"/>
                    <a:cs typeface="Arial" panose="020B0604020202020204" pitchFamily="34" charset="0"/>
                  </a:rPr>
                  <a:t>Ridge</a:t>
                </a:r>
                <a:r>
                  <a:rPr lang="ru-RU" sz="1800" dirty="0">
                    <a:latin typeface="Arial" panose="020B0604020202020204" pitchFamily="34" charset="0"/>
                    <a:cs typeface="Arial" panose="020B0604020202020204" pitchFamily="34" charset="0"/>
                  </a:rPr>
                  <a:t>:</a:t>
                </a:r>
                <a:br>
                  <a:rPr lang="ru-RU" sz="1800" dirty="0">
                    <a:latin typeface="Arial" panose="020B0604020202020204" pitchFamily="34" charset="0"/>
                    <a:cs typeface="Arial" panose="020B0604020202020204" pitchFamily="34" charset="0"/>
                  </a:rPr>
                </a:b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𝑊</m:t>
                          </m:r>
                        </m:e>
                        <m:sub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𝑟𝑖𝑑𝑔𝑒</m:t>
                          </m:r>
                        </m:sub>
                      </m:sSub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p>
                                <m:sSupPr>
                                  <m:ctrlPr>
                                    <a:rPr lang="en-US" sz="24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sz="2400" b="0" i="1" smtClean="0">
                                      <a:latin typeface="Cambria Math" panose="02040503050406030204" pitchFamily="18" charset="0"/>
                                    </a:rPr>
                                    <m:t>𝑋</m:t>
                                  </m:r>
                                </m:e>
                                <m:sup>
                                  <m:r>
                                    <a:rPr lang="en-US" sz="2400" b="0" i="1" smtClean="0">
                                      <a:latin typeface="Cambria Math" panose="02040503050406030204" pitchFamily="18" charset="0"/>
                                    </a:rPr>
                                    <m:t>𝑇</m:t>
                                  </m:r>
                                </m:sup>
                              </m:sSup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𝑋</m:t>
                              </m:r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𝜆</m:t>
                              </m:r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𝐸</m:t>
                              </m:r>
                            </m:e>
                          </m:d>
                        </m:e>
                        <m:sup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−1</m:t>
                          </m:r>
                        </m:sup>
                      </m:sSup>
                      <m:sSup>
                        <m:sSup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𝑋</m:t>
                          </m:r>
                        </m:e>
                        <m:sup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𝑇</m:t>
                          </m:r>
                        </m:sup>
                      </m:sSup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𝑦</m:t>
                      </m:r>
                    </m:oMath>
                  </m:oMathPara>
                </a14:m>
                <a:endParaRPr lang="en-US" sz="2400" b="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marL="0" indent="0">
                  <a:buNone/>
                </a:pPr>
                <a:r>
                  <a:rPr lang="ru-RU" sz="1800" b="0" dirty="0">
                    <a:latin typeface="Arial" panose="020B0604020202020204" pitchFamily="34" charset="0"/>
                    <a:cs typeface="Arial" panose="020B0604020202020204" pitchFamily="34" charset="0"/>
                  </a:rPr>
                  <a:t>Оценка значимости модели многофакторной регрессии: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𝐹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p>
                            <m:sSupPr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𝑅</m:t>
                              </m:r>
                            </m:e>
                            <m:sup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/(</m:t>
                          </m:r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𝑘</m:t>
                          </m:r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−1)</m:t>
                          </m:r>
                        </m:num>
                        <m:den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(1−</m:t>
                          </m:r>
                          <m:sSup>
                            <m:sSupPr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𝑅</m:t>
                              </m:r>
                            </m:e>
                            <m:sup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)</m:t>
                          </m:r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/(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𝑘</m:t>
                          </m:r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)</m:t>
                          </m:r>
                        </m:den>
                      </m:f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∼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𝐹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𝑘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−1,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𝑛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𝑘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sz="2400" b="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14:m>
                  <m:oMath xmlns:m="http://schemas.openxmlformats.org/officeDocument/2006/math">
                    <m:r>
                      <a:rPr lang="en-US" sz="1800" b="0" i="1" smtClean="0"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lang="en-US" sz="1800" b="0" dirty="0">
                    <a:latin typeface="Arial" panose="020B0604020202020204" pitchFamily="34" charset="0"/>
                    <a:cs typeface="Arial" panose="020B0604020202020204" pitchFamily="34" charset="0"/>
                  </a:rPr>
                  <a:t> – </a:t>
                </a:r>
                <a:r>
                  <a:rPr lang="ru-RU" sz="1800" b="0" dirty="0">
                    <a:latin typeface="Arial" panose="020B0604020202020204" pitchFamily="34" charset="0"/>
                    <a:cs typeface="Arial" panose="020B0604020202020204" pitchFamily="34" charset="0"/>
                  </a:rPr>
                  <a:t>количество оцениваемых параметров (включая смещение),</a:t>
                </a:r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sz="18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800" b="0" i="1" smtClean="0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b>
                        <m:r>
                          <a:rPr lang="en-US" sz="1800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n-US" sz="1800" b="0" i="1" smtClean="0">
                            <a:latin typeface="Cambria Math" panose="02040503050406030204" pitchFamily="18" charset="0"/>
                          </a:rPr>
                          <m:t>×</m:t>
                        </m:r>
                        <m:r>
                          <m:rPr>
                            <m:sty m:val="p"/>
                          </m:rPr>
                          <a:rPr lang="en-US" sz="1800" b="0" i="1" smtClean="0">
                            <a:latin typeface="Cambria Math" panose="02040503050406030204" pitchFamily="18" charset="0"/>
                          </a:rPr>
                          <m:t>m</m:t>
                        </m:r>
                      </m:sub>
                    </m:sSub>
                  </m:oMath>
                </a14:m>
                <a:r>
                  <a:rPr lang="en-US" sz="1800" b="0" dirty="0"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:r>
                  <a:rPr lang="en-US" sz="1800" dirty="0">
                    <a:latin typeface="Arial" panose="020B0604020202020204" pitchFamily="34" charset="0"/>
                    <a:cs typeface="Arial" panose="020B0604020202020204" pitchFamily="34" charset="0"/>
                  </a:rPr>
                  <a:t>–</a:t>
                </a:r>
                <a:r>
                  <a:rPr lang="en-US" sz="1800" b="0" dirty="0"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:r>
                  <a:rPr lang="ru-RU" sz="1800" b="0" dirty="0">
                    <a:latin typeface="Arial" panose="020B0604020202020204" pitchFamily="34" charset="0"/>
                    <a:cs typeface="Arial" panose="020B0604020202020204" pitchFamily="34" charset="0"/>
                  </a:rPr>
                  <a:t>выборка числовых измерений свободных предикторов (строки – прецеденты, столбцы – переменные),</a:t>
                </a:r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ru-RU" sz="18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800" b="0" i="1" smtClean="0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US" sz="1800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n-US" sz="1800" b="0" i="1" smtClean="0">
                            <a:latin typeface="Cambria Math" panose="02040503050406030204" pitchFamily="18" charset="0"/>
                          </a:rPr>
                          <m:t>×</m:t>
                        </m:r>
                        <m:r>
                          <a:rPr lang="en-US" sz="1800" b="0" i="1" smtClean="0"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</m:oMath>
                </a14:m>
                <a:r>
                  <a:rPr lang="en-US" sz="1800" b="0" dirty="0">
                    <a:latin typeface="Arial" panose="020B0604020202020204" pitchFamily="34" charset="0"/>
                    <a:cs typeface="Arial" panose="020B0604020202020204" pitchFamily="34" charset="0"/>
                  </a:rPr>
                  <a:t> – </a:t>
                </a:r>
                <a:r>
                  <a:rPr lang="ru-RU" sz="1800" b="0" dirty="0">
                    <a:latin typeface="Arial" panose="020B0604020202020204" pitchFamily="34" charset="0"/>
                    <a:cs typeface="Arial" panose="020B0604020202020204" pitchFamily="34" charset="0"/>
                  </a:rPr>
                  <a:t>целевой отклик (</a:t>
                </a:r>
                <a:r>
                  <a:rPr lang="en-US" sz="1800" b="0" dirty="0">
                    <a:latin typeface="Arial" panose="020B0604020202020204" pitchFamily="34" charset="0"/>
                    <a:cs typeface="Arial" panose="020B0604020202020204" pitchFamily="34" charset="0"/>
                  </a:rPr>
                  <a:t>k=1) </a:t>
                </a:r>
                <a:r>
                  <a:rPr lang="ru-RU" sz="1800" b="0" dirty="0">
                    <a:latin typeface="Arial" panose="020B0604020202020204" pitchFamily="34" charset="0"/>
                    <a:cs typeface="Arial" panose="020B0604020202020204" pitchFamily="34" charset="0"/>
                  </a:rPr>
                  <a:t>или </a:t>
                </a:r>
                <a:r>
                  <a:rPr lang="ru-RU" sz="1800" dirty="0">
                    <a:latin typeface="Arial" panose="020B0604020202020204" pitchFamily="34" charset="0"/>
                    <a:cs typeface="Arial" panose="020B0604020202020204" pitchFamily="34" charset="0"/>
                  </a:rPr>
                  <a:t>матрица откликов</a:t>
                </a:r>
                <a:r>
                  <a:rPr lang="en-US" sz="1800" dirty="0">
                    <a:latin typeface="Arial" panose="020B0604020202020204" pitchFamily="34" charset="0"/>
                    <a:cs typeface="Arial" panose="020B0604020202020204" pitchFamily="34" charset="0"/>
                  </a:rPr>
                  <a:t> (k &gt; 1)</a:t>
                </a:r>
                <a:r>
                  <a:rPr lang="ru-RU" sz="1800" dirty="0">
                    <a:latin typeface="Arial" panose="020B0604020202020204" pitchFamily="34" charset="0"/>
                    <a:cs typeface="Arial" panose="020B0604020202020204" pitchFamily="34" charset="0"/>
                  </a:rPr>
                  <a:t>,</a:t>
                </a:r>
              </a:p>
              <a:p>
                <a14:m>
                  <m:oMath xmlns:m="http://schemas.openxmlformats.org/officeDocument/2006/math">
                    <m:r>
                      <a:rPr lang="ru-RU" sz="1800" b="0" i="1" smtClean="0">
                        <a:latin typeface="Cambria Math" panose="02040503050406030204" pitchFamily="18" charset="0"/>
                      </a:rPr>
                      <m:t>𝜆</m:t>
                    </m:r>
                  </m:oMath>
                </a14:m>
                <a:r>
                  <a:rPr lang="en-US" sz="1800" b="0" dirty="0">
                    <a:latin typeface="Arial" panose="020B0604020202020204" pitchFamily="34" charset="0"/>
                    <a:cs typeface="Arial" panose="020B0604020202020204" pitchFamily="34" charset="0"/>
                  </a:rPr>
                  <a:t> – </a:t>
                </a:r>
                <a:r>
                  <a:rPr lang="ru-RU" sz="1800" b="0" dirty="0" err="1">
                    <a:latin typeface="Arial" panose="020B0604020202020204" pitchFamily="34" charset="0"/>
                    <a:cs typeface="Arial" panose="020B0604020202020204" pitchFamily="34" charset="0"/>
                  </a:rPr>
                  <a:t>гиперпараметр</a:t>
                </a:r>
                <a:r>
                  <a:rPr lang="ru-RU" sz="1800" b="0" dirty="0">
                    <a:latin typeface="Arial" panose="020B0604020202020204" pitchFamily="34" charset="0"/>
                    <a:cs typeface="Arial" panose="020B0604020202020204" pitchFamily="34" charset="0"/>
                  </a:rPr>
                  <a:t> регуляризации,</a:t>
                </a:r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sz="18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800" b="0" i="1" smtClean="0">
                            <a:latin typeface="Cambria Math" panose="02040503050406030204" pitchFamily="18" charset="0"/>
                          </a:rPr>
                          <m:t>𝑊</m:t>
                        </m:r>
                      </m:e>
                      <m:sub>
                        <m:r>
                          <a:rPr lang="en-US" sz="1800" b="0" i="1" smtClean="0">
                            <a:latin typeface="Cambria Math" panose="02040503050406030204" pitchFamily="18" charset="0"/>
                          </a:rPr>
                          <m:t>𝑚</m:t>
                        </m:r>
                        <m:r>
                          <a:rPr lang="en-US" sz="1800" b="0" i="1" smtClean="0">
                            <a:latin typeface="Cambria Math" panose="02040503050406030204" pitchFamily="18" charset="0"/>
                          </a:rPr>
                          <m:t>×</m:t>
                        </m:r>
                        <m:r>
                          <a:rPr lang="en-US" sz="1800" b="0" i="1" smtClean="0"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</m:oMath>
                </a14:m>
                <a:r>
                  <a:rPr lang="en-US" sz="1800" b="0" dirty="0">
                    <a:latin typeface="Arial" panose="020B0604020202020204" pitchFamily="34" charset="0"/>
                    <a:cs typeface="Arial" panose="020B0604020202020204" pitchFamily="34" charset="0"/>
                  </a:rPr>
                  <a:t> – </a:t>
                </a:r>
                <a:r>
                  <a:rPr lang="ru-RU" sz="1800" b="0" dirty="0">
                    <a:latin typeface="Arial" panose="020B0604020202020204" pitchFamily="34" charset="0"/>
                    <a:cs typeface="Arial" panose="020B0604020202020204" pitchFamily="34" charset="0"/>
                  </a:rPr>
                  <a:t>параметры линейной модели</a:t>
                </a:r>
                <a:r>
                  <a:rPr lang="en-US" sz="1800" b="0" dirty="0"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sz="1800" b="0" i="1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𝑋𝑊</m:t>
                    </m:r>
                    <m:r>
                      <a:rPr lang="en-US" sz="1800" b="0" i="1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≈</m:t>
                    </m:r>
                    <m:r>
                      <a:rPr lang="en-US" sz="1800" b="0" i="1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𝑦</m:t>
                    </m:r>
                  </m:oMath>
                </a14:m>
                <a:r>
                  <a:rPr lang="en-US" sz="1800" b="0" dirty="0">
                    <a:latin typeface="Arial" panose="020B0604020202020204" pitchFamily="34" charset="0"/>
                    <a:cs typeface="Arial" panose="020B0604020202020204" pitchFamily="34" charset="0"/>
                  </a:rPr>
                  <a:t> (</a:t>
                </a:r>
                <a:r>
                  <a:rPr lang="ru-RU" sz="1800" b="0" dirty="0">
                    <a:latin typeface="Arial" panose="020B0604020202020204" pitchFamily="34" charset="0"/>
                    <a:cs typeface="Arial" panose="020B0604020202020204" pitchFamily="34" charset="0"/>
                  </a:rPr>
                  <a:t>строки – коэффициенты, столбцы - модели</a:t>
                </a:r>
                <a:r>
                  <a:rPr lang="en-US" sz="1800" b="0" dirty="0">
                    <a:latin typeface="Arial" panose="020B0604020202020204" pitchFamily="34" charset="0"/>
                    <a:cs typeface="Arial" panose="020B0604020202020204" pitchFamily="34" charset="0"/>
                  </a:rPr>
                  <a:t>)</a:t>
                </a:r>
                <a:endParaRPr lang="ru-RU" sz="1800" b="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marL="0" indent="0">
                  <a:buNone/>
                </a:pPr>
                <a:endParaRPr lang="en-US" b="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>
          <p:sp>
            <p:nvSpPr>
              <p:cNvPr id="3" name="Объект 2">
                <a:extLst>
                  <a:ext uri="{FF2B5EF4-FFF2-40B4-BE49-F238E27FC236}">
                    <a16:creationId xmlns:a16="http://schemas.microsoft.com/office/drawing/2014/main" id="{81735CD6-D48C-F011-389A-E3358D32982F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28650" y="990600"/>
                <a:ext cx="7886700" cy="5186363"/>
              </a:xfrm>
              <a:blipFill>
                <a:blip r:embed="rId2"/>
                <a:stretch>
                  <a:fillRect l="-618" t="-1176" r="-464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C93C0C4C-C365-5246-9154-EBC8CB7B3F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A3C5FEE0-88B6-46BC-F0AA-67CF26D517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C5FB71-5E9C-41B5-9BB8-3F1EBEAEB16A}" type="slidenum">
              <a:rPr lang="ru-RU" smtClean="0"/>
              <a:t>30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471063702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608084" y="-4772"/>
            <a:ext cx="2862566" cy="50526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200" spc="-10" dirty="0"/>
              <a:t>Дисперсия</a:t>
            </a:r>
            <a:endParaRPr sz="3200" dirty="0"/>
          </a:p>
        </p:txBody>
      </p:sp>
      <p:sp>
        <p:nvSpPr>
          <p:cNvPr id="11" name="Нижний колонтитул 10">
            <a:extLst>
              <a:ext uri="{FF2B5EF4-FFF2-40B4-BE49-F238E27FC236}">
                <a16:creationId xmlns:a16="http://schemas.microsoft.com/office/drawing/2014/main" id="{4392DA30-0DE1-4FEB-9713-D45F9ABD2D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12" name="Номер слайда 11">
            <a:extLst>
              <a:ext uri="{FF2B5EF4-FFF2-40B4-BE49-F238E27FC236}">
                <a16:creationId xmlns:a16="http://schemas.microsoft.com/office/drawing/2014/main" id="{66468B53-2303-4208-B666-25BDCDC28E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38100">
              <a:lnSpc>
                <a:spcPct val="100000"/>
              </a:lnSpc>
              <a:spcBef>
                <a:spcPts val="244"/>
              </a:spcBef>
            </a:pPr>
            <a:fld id="{81D60167-4931-47E6-BA6A-407CBD079E47}" type="slidenum">
              <a:rPr lang="ru-RU" spc="-25" smtClean="0"/>
              <a:t>31</a:t>
            </a:fld>
            <a:endParaRPr lang="ru-RU" spc="-25" dirty="0"/>
          </a:p>
        </p:txBody>
      </p:sp>
      <p:sp>
        <p:nvSpPr>
          <p:cNvPr id="3" name="object 3"/>
          <p:cNvSpPr/>
          <p:nvPr/>
        </p:nvSpPr>
        <p:spPr>
          <a:xfrm>
            <a:off x="366712" y="922337"/>
            <a:ext cx="8410575" cy="1631950"/>
          </a:xfrm>
          <a:custGeom>
            <a:avLst/>
            <a:gdLst/>
            <a:ahLst/>
            <a:cxnLst/>
            <a:rect l="l" t="t" r="r" b="b"/>
            <a:pathLst>
              <a:path w="8410575" h="1631950">
                <a:moveTo>
                  <a:pt x="8410575" y="0"/>
                </a:moveTo>
                <a:lnTo>
                  <a:pt x="0" y="0"/>
                </a:lnTo>
                <a:lnTo>
                  <a:pt x="0" y="1631950"/>
                </a:lnTo>
                <a:lnTo>
                  <a:pt x="8410575" y="1631950"/>
                </a:lnTo>
                <a:lnTo>
                  <a:pt x="8410575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4" name="object 4"/>
          <p:cNvGrpSpPr/>
          <p:nvPr/>
        </p:nvGrpSpPr>
        <p:grpSpPr>
          <a:xfrm>
            <a:off x="1173162" y="2971800"/>
            <a:ext cx="7604125" cy="3614420"/>
            <a:chOff x="1173162" y="2954337"/>
            <a:chExt cx="7604125" cy="3614420"/>
          </a:xfrm>
        </p:grpSpPr>
        <p:pic>
          <p:nvPicPr>
            <p:cNvPr id="5" name="object 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746504" y="3404616"/>
              <a:ext cx="6455664" cy="3163824"/>
            </a:xfrm>
            <a:prstGeom prst="rect">
              <a:avLst/>
            </a:prstGeom>
          </p:spPr>
        </p:pic>
        <p:sp>
          <p:nvSpPr>
            <p:cNvPr id="6" name="object 6"/>
            <p:cNvSpPr/>
            <p:nvPr/>
          </p:nvSpPr>
          <p:spPr>
            <a:xfrm>
              <a:off x="1173162" y="2954337"/>
              <a:ext cx="7604125" cy="455930"/>
            </a:xfrm>
            <a:custGeom>
              <a:avLst/>
              <a:gdLst/>
              <a:ahLst/>
              <a:cxnLst/>
              <a:rect l="l" t="t" r="r" b="b"/>
              <a:pathLst>
                <a:path w="7604125" h="455929">
                  <a:moveTo>
                    <a:pt x="7604125" y="0"/>
                  </a:moveTo>
                  <a:lnTo>
                    <a:pt x="0" y="0"/>
                  </a:lnTo>
                  <a:lnTo>
                    <a:pt x="0" y="455612"/>
                  </a:lnTo>
                  <a:lnTo>
                    <a:pt x="7604125" y="455612"/>
                  </a:lnTo>
                  <a:lnTo>
                    <a:pt x="7604125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" name="object 7"/>
          <p:cNvSpPr txBox="1"/>
          <p:nvPr/>
        </p:nvSpPr>
        <p:spPr>
          <a:xfrm>
            <a:off x="685800" y="474002"/>
            <a:ext cx="8012094" cy="3186129"/>
          </a:xfrm>
          <a:prstGeom prst="rect">
            <a:avLst/>
          </a:prstGeom>
        </p:spPr>
        <p:txBody>
          <a:bodyPr vert="horz" wrap="square" lIns="0" tIns="94615" rIns="0" bIns="0" rtlCol="0">
            <a:spAutoFit/>
          </a:bodyPr>
          <a:lstStyle/>
          <a:p>
            <a:pPr marL="12700" algn="just">
              <a:lnSpc>
                <a:spcPct val="100000"/>
              </a:lnSpc>
              <a:spcBef>
                <a:spcPts val="745"/>
              </a:spcBef>
            </a:pPr>
            <a:r>
              <a:rPr sz="2000" dirty="0">
                <a:latin typeface="Arial"/>
                <a:cs typeface="Arial"/>
              </a:rPr>
              <a:t>Регрессия</a:t>
            </a:r>
            <a:r>
              <a:rPr sz="2000" spc="-1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Arial"/>
                <a:cs typeface="Arial"/>
              </a:rPr>
              <a:t>и</a:t>
            </a:r>
            <a:r>
              <a:rPr sz="2000" spc="-1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Arial"/>
                <a:cs typeface="Arial"/>
              </a:rPr>
              <a:t>дисперсионный</a:t>
            </a:r>
            <a:r>
              <a:rPr sz="2000" spc="-2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Arial"/>
                <a:cs typeface="Arial"/>
              </a:rPr>
              <a:t>анализ</a:t>
            </a:r>
            <a:r>
              <a:rPr sz="2000" spc="-20" dirty="0">
                <a:latin typeface="Times New Roman"/>
                <a:cs typeface="Times New Roman"/>
              </a:rPr>
              <a:t> </a:t>
            </a:r>
            <a:r>
              <a:rPr sz="2000" spc="-10" dirty="0">
                <a:latin typeface="Arial"/>
                <a:cs typeface="Arial"/>
              </a:rPr>
              <a:t>(ANOVA)</a:t>
            </a:r>
            <a:endParaRPr sz="2000" dirty="0">
              <a:latin typeface="Arial"/>
              <a:cs typeface="Arial"/>
            </a:endParaRPr>
          </a:p>
          <a:p>
            <a:pPr marL="12700" marR="6350" algn="just">
              <a:lnSpc>
                <a:spcPct val="100000"/>
              </a:lnSpc>
              <a:spcBef>
                <a:spcPts val="650"/>
              </a:spcBef>
            </a:pPr>
            <a:r>
              <a:rPr sz="2000" b="1" dirty="0">
                <a:latin typeface="Arial"/>
                <a:cs typeface="Arial"/>
              </a:rPr>
              <a:t>Дисперсия</a:t>
            </a:r>
            <a:r>
              <a:rPr sz="2000" spc="430" dirty="0">
                <a:latin typeface="Times New Roman"/>
                <a:cs typeface="Times New Roman"/>
              </a:rPr>
              <a:t>  </a:t>
            </a:r>
            <a:r>
              <a:rPr sz="2000" dirty="0">
                <a:latin typeface="Arial"/>
                <a:cs typeface="Arial"/>
              </a:rPr>
              <a:t>–</a:t>
            </a:r>
            <a:r>
              <a:rPr sz="2000" spc="434" dirty="0">
                <a:latin typeface="Times New Roman"/>
                <a:cs typeface="Times New Roman"/>
              </a:rPr>
              <a:t>  </a:t>
            </a:r>
            <a:r>
              <a:rPr sz="2000" dirty="0">
                <a:latin typeface="Arial"/>
                <a:cs typeface="Arial"/>
              </a:rPr>
              <a:t>характеристика</a:t>
            </a:r>
            <a:r>
              <a:rPr sz="2000" spc="434" dirty="0">
                <a:latin typeface="Times New Roman"/>
                <a:cs typeface="Times New Roman"/>
              </a:rPr>
              <a:t>  </a:t>
            </a:r>
            <a:r>
              <a:rPr sz="2000" dirty="0">
                <a:latin typeface="Arial"/>
                <a:cs typeface="Arial"/>
              </a:rPr>
              <a:t>рассеивания</a:t>
            </a:r>
            <a:r>
              <a:rPr sz="2000" spc="434" dirty="0">
                <a:latin typeface="Times New Roman"/>
                <a:cs typeface="Times New Roman"/>
              </a:rPr>
              <a:t>  </a:t>
            </a:r>
            <a:r>
              <a:rPr sz="2000" dirty="0">
                <a:latin typeface="Arial"/>
                <a:cs typeface="Arial"/>
              </a:rPr>
              <a:t>данных</a:t>
            </a:r>
            <a:r>
              <a:rPr sz="2000" spc="434" dirty="0">
                <a:latin typeface="Times New Roman"/>
                <a:cs typeface="Times New Roman"/>
              </a:rPr>
              <a:t>  </a:t>
            </a:r>
            <a:r>
              <a:rPr sz="2000" dirty="0">
                <a:latin typeface="Arial"/>
                <a:cs typeface="Arial"/>
              </a:rPr>
              <a:t>вокруг</a:t>
            </a:r>
            <a:r>
              <a:rPr sz="2000" spc="430" dirty="0">
                <a:latin typeface="Times New Roman"/>
                <a:cs typeface="Times New Roman"/>
              </a:rPr>
              <a:t>  </a:t>
            </a:r>
            <a:r>
              <a:rPr sz="2000" spc="-25" dirty="0">
                <a:latin typeface="Arial"/>
                <a:cs typeface="Arial"/>
              </a:rPr>
              <a:t>их</a:t>
            </a:r>
            <a:r>
              <a:rPr sz="2000" spc="-2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Arial"/>
                <a:cs typeface="Arial"/>
              </a:rPr>
              <a:t>среднего</a:t>
            </a:r>
            <a:r>
              <a:rPr sz="2000" spc="-114" dirty="0">
                <a:latin typeface="Times New Roman"/>
                <a:cs typeface="Times New Roman"/>
              </a:rPr>
              <a:t> </a:t>
            </a:r>
            <a:r>
              <a:rPr sz="2000" spc="-10" dirty="0">
                <a:latin typeface="Arial"/>
                <a:cs typeface="Arial"/>
              </a:rPr>
              <a:t>значения.</a:t>
            </a:r>
            <a:endParaRPr sz="2000" dirty="0">
              <a:latin typeface="Arial"/>
              <a:cs typeface="Arial"/>
            </a:endParaRPr>
          </a:p>
          <a:p>
            <a:pPr marL="12700" marR="5080" algn="just">
              <a:lnSpc>
                <a:spcPct val="100000"/>
              </a:lnSpc>
            </a:pPr>
            <a:r>
              <a:rPr sz="2000" b="1" dirty="0">
                <a:latin typeface="Arial"/>
                <a:cs typeface="Arial"/>
              </a:rPr>
              <a:t>Дисперсионный</a:t>
            </a:r>
            <a:r>
              <a:rPr sz="2000" spc="125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Arial"/>
                <a:cs typeface="Arial"/>
              </a:rPr>
              <a:t>анализ</a:t>
            </a:r>
            <a:r>
              <a:rPr sz="2000" spc="145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Arial"/>
                <a:cs typeface="Arial"/>
              </a:rPr>
              <a:t>(ANOVA)</a:t>
            </a:r>
            <a:r>
              <a:rPr sz="2000" spc="130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Arial"/>
                <a:cs typeface="Arial"/>
              </a:rPr>
              <a:t>–</a:t>
            </a:r>
            <a:r>
              <a:rPr sz="2000" spc="14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Arial"/>
                <a:cs typeface="Arial"/>
              </a:rPr>
              <a:t>статистическая</a:t>
            </a:r>
            <a:r>
              <a:rPr sz="2000" spc="14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Arial"/>
                <a:cs typeface="Arial"/>
              </a:rPr>
              <a:t>процедура</a:t>
            </a:r>
            <a:r>
              <a:rPr sz="2000" spc="145" dirty="0">
                <a:latin typeface="Times New Roman"/>
                <a:cs typeface="Times New Roman"/>
              </a:rPr>
              <a:t> </a:t>
            </a:r>
            <a:r>
              <a:rPr sz="2000" spc="-25" dirty="0">
                <a:latin typeface="Arial"/>
                <a:cs typeface="Arial"/>
              </a:rPr>
              <a:t>для</a:t>
            </a:r>
            <a:r>
              <a:rPr sz="2000" spc="-2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Arial"/>
                <a:cs typeface="Arial"/>
              </a:rPr>
              <a:t>сравнения</a:t>
            </a:r>
            <a:r>
              <a:rPr sz="2000" spc="20" dirty="0">
                <a:latin typeface="Times New Roman"/>
                <a:cs typeface="Times New Roman"/>
              </a:rPr>
              <a:t>  </a:t>
            </a:r>
            <a:r>
              <a:rPr sz="2000" dirty="0">
                <a:latin typeface="Arial"/>
                <a:cs typeface="Arial"/>
              </a:rPr>
              <a:t>средних</a:t>
            </a:r>
            <a:r>
              <a:rPr sz="2000" spc="20" dirty="0">
                <a:latin typeface="Times New Roman"/>
                <a:cs typeface="Times New Roman"/>
              </a:rPr>
              <a:t>  </a:t>
            </a:r>
            <a:r>
              <a:rPr sz="2000" dirty="0">
                <a:latin typeface="Arial"/>
                <a:cs typeface="Arial"/>
              </a:rPr>
              <a:t>значений</a:t>
            </a:r>
            <a:r>
              <a:rPr sz="2000" spc="15" dirty="0">
                <a:latin typeface="Times New Roman"/>
                <a:cs typeface="Times New Roman"/>
              </a:rPr>
              <a:t>  </a:t>
            </a:r>
            <a:r>
              <a:rPr sz="2000" dirty="0">
                <a:latin typeface="Arial"/>
                <a:cs typeface="Arial"/>
              </a:rPr>
              <a:t>определенной</a:t>
            </a:r>
            <a:r>
              <a:rPr sz="2000" spc="15" dirty="0">
                <a:latin typeface="Times New Roman"/>
                <a:cs typeface="Times New Roman"/>
              </a:rPr>
              <a:t>  </a:t>
            </a:r>
            <a:r>
              <a:rPr sz="2000" dirty="0">
                <a:latin typeface="Arial"/>
                <a:cs typeface="Arial"/>
              </a:rPr>
              <a:t>переменной</a:t>
            </a:r>
            <a:r>
              <a:rPr sz="2000" spc="20" dirty="0">
                <a:latin typeface="Times New Roman"/>
                <a:cs typeface="Times New Roman"/>
              </a:rPr>
              <a:t>  </a:t>
            </a:r>
            <a:r>
              <a:rPr sz="2000" dirty="0">
                <a:latin typeface="Arial"/>
                <a:cs typeface="Arial"/>
              </a:rPr>
              <a:t>в</a:t>
            </a:r>
            <a:r>
              <a:rPr sz="2000" spc="20" dirty="0">
                <a:latin typeface="Times New Roman"/>
                <a:cs typeface="Times New Roman"/>
              </a:rPr>
              <a:t>  </a:t>
            </a:r>
            <a:r>
              <a:rPr sz="2000" dirty="0">
                <a:latin typeface="Arial"/>
                <a:cs typeface="Arial"/>
              </a:rPr>
              <a:t>двух</a:t>
            </a:r>
            <a:r>
              <a:rPr sz="2000" spc="20" dirty="0">
                <a:latin typeface="Times New Roman"/>
                <a:cs typeface="Times New Roman"/>
              </a:rPr>
              <a:t>  </a:t>
            </a:r>
            <a:r>
              <a:rPr sz="2000" spc="-50" dirty="0">
                <a:latin typeface="Arial"/>
                <a:cs typeface="Arial"/>
              </a:rPr>
              <a:t>и</a:t>
            </a:r>
            <a:r>
              <a:rPr sz="2000" spc="-5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Arial"/>
                <a:cs typeface="Arial"/>
              </a:rPr>
              <a:t>более</a:t>
            </a:r>
            <a:r>
              <a:rPr sz="2000" spc="-5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Arial"/>
                <a:cs typeface="Arial"/>
              </a:rPr>
              <a:t>независимых</a:t>
            </a:r>
            <a:r>
              <a:rPr sz="2000" spc="-50" dirty="0">
                <a:latin typeface="Times New Roman"/>
                <a:cs typeface="Times New Roman"/>
              </a:rPr>
              <a:t> </a:t>
            </a:r>
            <a:r>
              <a:rPr sz="2000" spc="-10" dirty="0">
                <a:latin typeface="Arial"/>
                <a:cs typeface="Arial"/>
              </a:rPr>
              <a:t>группах.</a:t>
            </a:r>
            <a:endParaRPr sz="2000" dirty="0">
              <a:latin typeface="Arial"/>
              <a:cs typeface="Arial"/>
            </a:endParaRPr>
          </a:p>
          <a:p>
            <a:pPr marL="128270">
              <a:lnSpc>
                <a:spcPct val="100000"/>
              </a:lnSpc>
              <a:spcBef>
                <a:spcPts val="1040"/>
              </a:spcBef>
            </a:pPr>
            <a:r>
              <a:rPr sz="2400" i="1" spc="-10" dirty="0">
                <a:latin typeface="Times New Roman"/>
                <a:cs typeface="Times New Roman"/>
              </a:rPr>
              <a:t>F-отношение</a:t>
            </a:r>
            <a:endParaRPr sz="2400" dirty="0">
              <a:latin typeface="Times New Roman"/>
              <a:cs typeface="Times New Roman"/>
            </a:endParaRPr>
          </a:p>
          <a:p>
            <a:pPr marL="894080">
              <a:lnSpc>
                <a:spcPct val="100000"/>
              </a:lnSpc>
              <a:spcBef>
                <a:spcPts val="765"/>
              </a:spcBef>
            </a:pPr>
            <a:r>
              <a:rPr sz="1800" spc="-10" dirty="0">
                <a:latin typeface="Arial"/>
                <a:cs typeface="Arial"/>
              </a:rPr>
              <a:t>F-распределение</a:t>
            </a:r>
            <a:r>
              <a:rPr sz="1800" spc="1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Arial"/>
                <a:cs typeface="Arial"/>
              </a:rPr>
              <a:t>для</a:t>
            </a:r>
            <a:r>
              <a:rPr sz="1800" spc="2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Arial"/>
                <a:cs typeface="Arial"/>
              </a:rPr>
              <a:t>числа</a:t>
            </a:r>
            <a:r>
              <a:rPr sz="1800" spc="1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Arial"/>
                <a:cs typeface="Arial"/>
              </a:rPr>
              <a:t>групп</a:t>
            </a:r>
            <a:r>
              <a:rPr sz="1800" spc="2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Arial"/>
                <a:cs typeface="Arial"/>
              </a:rPr>
              <a:t>–</a:t>
            </a:r>
            <a:r>
              <a:rPr sz="1800" spc="1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Arial"/>
                <a:cs typeface="Arial"/>
              </a:rPr>
              <a:t>2</a:t>
            </a:r>
            <a:r>
              <a:rPr sz="1800" spc="1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Arial"/>
                <a:cs typeface="Arial"/>
              </a:rPr>
              <a:t>и</a:t>
            </a:r>
            <a:r>
              <a:rPr sz="1800" spc="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Arial"/>
                <a:cs typeface="Arial"/>
              </a:rPr>
              <a:t>числа</a:t>
            </a:r>
            <a:r>
              <a:rPr sz="1800" spc="1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Arial"/>
                <a:cs typeface="Arial"/>
              </a:rPr>
              <a:t>степеней</a:t>
            </a:r>
            <a:r>
              <a:rPr sz="1800" spc="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Arial"/>
                <a:cs typeface="Arial"/>
              </a:rPr>
              <a:t>свободы</a:t>
            </a:r>
            <a:r>
              <a:rPr sz="1800" spc="1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Arial"/>
                <a:cs typeface="Arial"/>
              </a:rPr>
              <a:t>–</a:t>
            </a:r>
            <a:r>
              <a:rPr sz="1800" spc="15" dirty="0">
                <a:latin typeface="Times New Roman"/>
                <a:cs typeface="Times New Roman"/>
              </a:rPr>
              <a:t> </a:t>
            </a:r>
            <a:r>
              <a:rPr sz="1800" spc="-50" dirty="0">
                <a:latin typeface="Arial"/>
                <a:cs typeface="Arial"/>
              </a:rPr>
              <a:t>2</a:t>
            </a:r>
            <a:endParaRPr sz="1800" dirty="0">
              <a:latin typeface="Arial"/>
              <a:cs typeface="Arial"/>
            </a:endParaRP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object 3"/>
          <p:cNvGrpSpPr/>
          <p:nvPr/>
        </p:nvGrpSpPr>
        <p:grpSpPr>
          <a:xfrm>
            <a:off x="885825" y="131063"/>
            <a:ext cx="7835900" cy="2919095"/>
            <a:chOff x="885825" y="131063"/>
            <a:chExt cx="7835900" cy="2919095"/>
          </a:xfrm>
        </p:grpSpPr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087880" y="131063"/>
              <a:ext cx="5026152" cy="2520695"/>
            </a:xfrm>
            <a:prstGeom prst="rect">
              <a:avLst/>
            </a:prstGeom>
          </p:spPr>
        </p:pic>
        <p:sp>
          <p:nvSpPr>
            <p:cNvPr id="5" name="object 5"/>
            <p:cNvSpPr/>
            <p:nvPr/>
          </p:nvSpPr>
          <p:spPr>
            <a:xfrm>
              <a:off x="885825" y="2649537"/>
              <a:ext cx="7835900" cy="400050"/>
            </a:xfrm>
            <a:custGeom>
              <a:avLst/>
              <a:gdLst/>
              <a:ahLst/>
              <a:cxnLst/>
              <a:rect l="l" t="t" r="r" b="b"/>
              <a:pathLst>
                <a:path w="7835900" h="400050">
                  <a:moveTo>
                    <a:pt x="7835900" y="0"/>
                  </a:moveTo>
                  <a:lnTo>
                    <a:pt x="0" y="0"/>
                  </a:lnTo>
                  <a:lnTo>
                    <a:pt x="0" y="400050"/>
                  </a:lnTo>
                  <a:lnTo>
                    <a:pt x="7835900" y="400050"/>
                  </a:lnTo>
                  <a:lnTo>
                    <a:pt x="783590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6" name="object 6"/>
          <p:cNvGrpSpPr/>
          <p:nvPr/>
        </p:nvGrpSpPr>
        <p:grpSpPr>
          <a:xfrm>
            <a:off x="887412" y="3240023"/>
            <a:ext cx="7834630" cy="3185160"/>
            <a:chOff x="887412" y="3240023"/>
            <a:chExt cx="7834630" cy="3185160"/>
          </a:xfrm>
        </p:grpSpPr>
        <p:pic>
          <p:nvPicPr>
            <p:cNvPr id="7" name="object 7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2191511" y="3240023"/>
              <a:ext cx="5090160" cy="2688336"/>
            </a:xfrm>
            <a:prstGeom prst="rect">
              <a:avLst/>
            </a:prstGeom>
          </p:spPr>
        </p:pic>
        <p:sp>
          <p:nvSpPr>
            <p:cNvPr id="8" name="object 8"/>
            <p:cNvSpPr/>
            <p:nvPr/>
          </p:nvSpPr>
          <p:spPr>
            <a:xfrm>
              <a:off x="887412" y="5926137"/>
              <a:ext cx="7834630" cy="498475"/>
            </a:xfrm>
            <a:custGeom>
              <a:avLst/>
              <a:gdLst/>
              <a:ahLst/>
              <a:cxnLst/>
              <a:rect l="l" t="t" r="r" b="b"/>
              <a:pathLst>
                <a:path w="7834630" h="498475">
                  <a:moveTo>
                    <a:pt x="7834312" y="0"/>
                  </a:moveTo>
                  <a:lnTo>
                    <a:pt x="0" y="0"/>
                  </a:lnTo>
                  <a:lnTo>
                    <a:pt x="0" y="498475"/>
                  </a:lnTo>
                  <a:lnTo>
                    <a:pt x="7834312" y="498475"/>
                  </a:lnTo>
                  <a:lnTo>
                    <a:pt x="7834312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9" name="object 9"/>
          <p:cNvSpPr txBox="1">
            <a:spLocks noGrp="1"/>
          </p:cNvSpPr>
          <p:nvPr>
            <p:ph type="title"/>
          </p:nvPr>
        </p:nvSpPr>
        <p:spPr>
          <a:xfrm>
            <a:off x="1154831" y="2668511"/>
            <a:ext cx="7298055" cy="3302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b="0" spc="-10" dirty="0">
                <a:latin typeface="Times New Roman"/>
                <a:cs typeface="Times New Roman"/>
              </a:rPr>
              <a:t>F-</a:t>
            </a:r>
            <a:r>
              <a:rPr sz="2000" b="0" dirty="0">
                <a:latin typeface="Times New Roman"/>
                <a:cs typeface="Times New Roman"/>
              </a:rPr>
              <a:t>распределение</a:t>
            </a:r>
            <a:r>
              <a:rPr sz="2000" b="0" spc="-45" dirty="0">
                <a:latin typeface="Times New Roman"/>
                <a:cs typeface="Times New Roman"/>
              </a:rPr>
              <a:t> </a:t>
            </a:r>
            <a:r>
              <a:rPr sz="2000" b="0" dirty="0">
                <a:latin typeface="Times New Roman"/>
                <a:cs typeface="Times New Roman"/>
              </a:rPr>
              <a:t>для</a:t>
            </a:r>
            <a:r>
              <a:rPr sz="2000" b="0" spc="-40" dirty="0">
                <a:latin typeface="Times New Roman"/>
                <a:cs typeface="Times New Roman"/>
              </a:rPr>
              <a:t> </a:t>
            </a:r>
            <a:r>
              <a:rPr sz="2000" b="0" dirty="0">
                <a:latin typeface="Times New Roman"/>
                <a:cs typeface="Times New Roman"/>
              </a:rPr>
              <a:t>числа</a:t>
            </a:r>
            <a:r>
              <a:rPr sz="2000" b="0" spc="-40" dirty="0">
                <a:latin typeface="Times New Roman"/>
                <a:cs typeface="Times New Roman"/>
              </a:rPr>
              <a:t> </a:t>
            </a:r>
            <a:r>
              <a:rPr sz="2000" b="0" dirty="0">
                <a:latin typeface="Times New Roman"/>
                <a:cs typeface="Times New Roman"/>
              </a:rPr>
              <a:t>групп</a:t>
            </a:r>
            <a:r>
              <a:rPr sz="2000" b="0" spc="-35" dirty="0">
                <a:latin typeface="Times New Roman"/>
                <a:cs typeface="Times New Roman"/>
              </a:rPr>
              <a:t> </a:t>
            </a:r>
            <a:r>
              <a:rPr sz="2000" b="0" dirty="0">
                <a:latin typeface="Times New Roman"/>
                <a:cs typeface="Times New Roman"/>
              </a:rPr>
              <a:t>–</a:t>
            </a:r>
            <a:r>
              <a:rPr sz="2000" b="0" spc="-35" dirty="0">
                <a:latin typeface="Times New Roman"/>
                <a:cs typeface="Times New Roman"/>
              </a:rPr>
              <a:t> </a:t>
            </a:r>
            <a:r>
              <a:rPr sz="2000" b="0" dirty="0">
                <a:latin typeface="Times New Roman"/>
                <a:cs typeface="Times New Roman"/>
              </a:rPr>
              <a:t>5</a:t>
            </a:r>
            <a:r>
              <a:rPr sz="2000" b="0" spc="-40" dirty="0">
                <a:latin typeface="Times New Roman"/>
                <a:cs typeface="Times New Roman"/>
              </a:rPr>
              <a:t> </a:t>
            </a:r>
            <a:r>
              <a:rPr sz="2000" b="0" dirty="0">
                <a:latin typeface="Times New Roman"/>
                <a:cs typeface="Times New Roman"/>
              </a:rPr>
              <a:t>и</a:t>
            </a:r>
            <a:r>
              <a:rPr sz="2000" b="0" spc="-40" dirty="0">
                <a:latin typeface="Times New Roman"/>
                <a:cs typeface="Times New Roman"/>
              </a:rPr>
              <a:t> </a:t>
            </a:r>
            <a:r>
              <a:rPr sz="2000" b="0" dirty="0">
                <a:latin typeface="Times New Roman"/>
                <a:cs typeface="Times New Roman"/>
              </a:rPr>
              <a:t>числа</a:t>
            </a:r>
            <a:r>
              <a:rPr sz="2000" b="0" spc="-40" dirty="0">
                <a:latin typeface="Times New Roman"/>
                <a:cs typeface="Times New Roman"/>
              </a:rPr>
              <a:t> </a:t>
            </a:r>
            <a:r>
              <a:rPr sz="2000" b="0" dirty="0">
                <a:latin typeface="Times New Roman"/>
                <a:cs typeface="Times New Roman"/>
              </a:rPr>
              <a:t>степеней</a:t>
            </a:r>
            <a:r>
              <a:rPr sz="2000" b="0" spc="-35" dirty="0">
                <a:latin typeface="Times New Roman"/>
                <a:cs typeface="Times New Roman"/>
              </a:rPr>
              <a:t> </a:t>
            </a:r>
            <a:r>
              <a:rPr sz="2000" b="0" dirty="0">
                <a:latin typeface="Times New Roman"/>
                <a:cs typeface="Times New Roman"/>
              </a:rPr>
              <a:t>свободы</a:t>
            </a:r>
            <a:r>
              <a:rPr sz="2000" b="0" spc="-30" dirty="0">
                <a:latin typeface="Times New Roman"/>
                <a:cs typeface="Times New Roman"/>
              </a:rPr>
              <a:t> </a:t>
            </a:r>
            <a:r>
              <a:rPr sz="2000" b="0" dirty="0">
                <a:latin typeface="Times New Roman"/>
                <a:cs typeface="Times New Roman"/>
              </a:rPr>
              <a:t>–</a:t>
            </a:r>
            <a:r>
              <a:rPr sz="2000" b="0" spc="-40" dirty="0">
                <a:latin typeface="Times New Roman"/>
                <a:cs typeface="Times New Roman"/>
              </a:rPr>
              <a:t> </a:t>
            </a:r>
            <a:r>
              <a:rPr sz="2000" b="0" spc="-50" dirty="0">
                <a:latin typeface="Times New Roman"/>
                <a:cs typeface="Times New Roman"/>
              </a:rPr>
              <a:t>5</a:t>
            </a:r>
            <a:endParaRPr sz="2000" dirty="0">
              <a:latin typeface="Times New Roman"/>
              <a:cs typeface="Times New Roman"/>
            </a:endParaRPr>
          </a:p>
        </p:txBody>
      </p:sp>
      <p:sp>
        <p:nvSpPr>
          <p:cNvPr id="13" name="Нижний колонтитул 12">
            <a:extLst>
              <a:ext uri="{FF2B5EF4-FFF2-40B4-BE49-F238E27FC236}">
                <a16:creationId xmlns:a16="http://schemas.microsoft.com/office/drawing/2014/main" id="{89CC95F7-5536-4B3B-BED4-A715ECEED6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14" name="Номер слайда 13">
            <a:extLst>
              <a:ext uri="{FF2B5EF4-FFF2-40B4-BE49-F238E27FC236}">
                <a16:creationId xmlns:a16="http://schemas.microsoft.com/office/drawing/2014/main" id="{6D409523-1589-4364-9439-EAAB2C6950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38100">
              <a:lnSpc>
                <a:spcPct val="100000"/>
              </a:lnSpc>
              <a:spcBef>
                <a:spcPts val="244"/>
              </a:spcBef>
            </a:pPr>
            <a:fld id="{81D60167-4931-47E6-BA6A-407CBD079E47}" type="slidenum">
              <a:rPr lang="ru-RU" spc="-25" smtClean="0"/>
              <a:t>32</a:t>
            </a:fld>
            <a:endParaRPr lang="ru-RU" spc="-25" dirty="0"/>
          </a:p>
        </p:txBody>
      </p:sp>
      <p:sp>
        <p:nvSpPr>
          <p:cNvPr id="10" name="object 10"/>
          <p:cNvSpPr txBox="1"/>
          <p:nvPr/>
        </p:nvSpPr>
        <p:spPr>
          <a:xfrm>
            <a:off x="1028625" y="6048747"/>
            <a:ext cx="7552055" cy="3302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spc="-10" dirty="0">
                <a:latin typeface="Times New Roman"/>
                <a:cs typeface="Times New Roman"/>
              </a:rPr>
              <a:t>F-</a:t>
            </a:r>
            <a:r>
              <a:rPr sz="2000" dirty="0">
                <a:latin typeface="Times New Roman"/>
                <a:cs typeface="Times New Roman"/>
              </a:rPr>
              <a:t>распределение</a:t>
            </a:r>
            <a:r>
              <a:rPr sz="2000" spc="-4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для</a:t>
            </a:r>
            <a:r>
              <a:rPr sz="2000" spc="-4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числа</a:t>
            </a:r>
            <a:r>
              <a:rPr sz="2000" spc="-4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групп</a:t>
            </a:r>
            <a:r>
              <a:rPr sz="2000" spc="-3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–</a:t>
            </a:r>
            <a:r>
              <a:rPr sz="2000" spc="-3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10</a:t>
            </a:r>
            <a:r>
              <a:rPr sz="2000" spc="-4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и</a:t>
            </a:r>
            <a:r>
              <a:rPr sz="2000" spc="-4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числа</a:t>
            </a:r>
            <a:r>
              <a:rPr sz="2000" spc="-4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степеней</a:t>
            </a:r>
            <a:r>
              <a:rPr sz="2000" spc="-3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свободы</a:t>
            </a:r>
            <a:r>
              <a:rPr sz="2000" spc="-3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–</a:t>
            </a:r>
            <a:r>
              <a:rPr sz="2000" spc="-40" dirty="0">
                <a:latin typeface="Times New Roman"/>
                <a:cs typeface="Times New Roman"/>
              </a:rPr>
              <a:t> </a:t>
            </a:r>
            <a:r>
              <a:rPr sz="2000" spc="-25" dirty="0">
                <a:latin typeface="Times New Roman"/>
                <a:cs typeface="Times New Roman"/>
              </a:rPr>
              <a:t>10</a:t>
            </a:r>
            <a:endParaRPr sz="2000" dirty="0">
              <a:latin typeface="Times New Roman"/>
              <a:cs typeface="Times New Roman"/>
            </a:endParaRP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240631" y="235776"/>
            <a:ext cx="6662738" cy="50526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algn="ctr">
              <a:lnSpc>
                <a:spcPct val="100000"/>
              </a:lnSpc>
              <a:spcBef>
                <a:spcPts val="100"/>
              </a:spcBef>
            </a:pPr>
            <a:r>
              <a:rPr sz="3200" dirty="0"/>
              <a:t>Дисперсионный</a:t>
            </a:r>
            <a:r>
              <a:rPr sz="3200" b="0" spc="-100" dirty="0">
                <a:latin typeface="Times New Roman"/>
                <a:cs typeface="Times New Roman"/>
              </a:rPr>
              <a:t> </a:t>
            </a:r>
            <a:r>
              <a:rPr sz="3200" spc="-10" dirty="0"/>
              <a:t>анализ</a:t>
            </a:r>
            <a:endParaRPr sz="3200" dirty="0">
              <a:latin typeface="Times New Roman"/>
              <a:cs typeface="Times New Roman"/>
            </a:endParaRPr>
          </a:p>
        </p:txBody>
      </p:sp>
      <p:sp>
        <p:nvSpPr>
          <p:cNvPr id="10" name="Нижний колонтитул 9">
            <a:extLst>
              <a:ext uri="{FF2B5EF4-FFF2-40B4-BE49-F238E27FC236}">
                <a16:creationId xmlns:a16="http://schemas.microsoft.com/office/drawing/2014/main" id="{B5273F99-7350-4CCE-9813-A7FFA7B1A2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34112" y="1411224"/>
            <a:ext cx="8875776" cy="637031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160337" y="1009650"/>
            <a:ext cx="1901825" cy="311150"/>
          </a:xfrm>
          <a:prstGeom prst="rect">
            <a:avLst/>
          </a:prstGeom>
          <a:solidFill>
            <a:srgbClr val="E9F6FC"/>
          </a:solidFill>
          <a:ln w="12700">
            <a:solidFill>
              <a:srgbClr val="FFFFFF"/>
            </a:solidFill>
          </a:ln>
        </p:spPr>
        <p:txBody>
          <a:bodyPr vert="horz" wrap="square" lIns="0" tIns="1270" rIns="0" bIns="0" rtlCol="0">
            <a:spAutoFit/>
          </a:bodyPr>
          <a:lstStyle/>
          <a:p>
            <a:pPr marL="26034">
              <a:lnSpc>
                <a:spcPct val="100000"/>
              </a:lnSpc>
              <a:spcBef>
                <a:spcPts val="10"/>
              </a:spcBef>
            </a:pPr>
            <a:r>
              <a:rPr sz="1400" dirty="0">
                <a:latin typeface="Trebuchet MS"/>
                <a:cs typeface="Trebuchet MS"/>
              </a:rPr>
              <a:t>Дизайн</a:t>
            </a:r>
            <a:r>
              <a:rPr sz="1400" spc="35" dirty="0">
                <a:latin typeface="Times New Roman"/>
                <a:cs typeface="Times New Roman"/>
              </a:rPr>
              <a:t> </a:t>
            </a:r>
            <a:r>
              <a:rPr sz="1400" spc="-10" dirty="0">
                <a:latin typeface="Trebuchet MS"/>
                <a:cs typeface="Trebuchet MS"/>
              </a:rPr>
              <a:t>эксперимента</a:t>
            </a:r>
            <a:endParaRPr sz="1400" dirty="0">
              <a:latin typeface="Trebuchet MS"/>
              <a:cs typeface="Trebuchet MS"/>
            </a:endParaRPr>
          </a:p>
        </p:txBody>
      </p:sp>
      <p:pic>
        <p:nvPicPr>
          <p:cNvPr id="5" name="object 5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58495" y="2651760"/>
            <a:ext cx="8851392" cy="1240536"/>
          </a:xfrm>
          <a:prstGeom prst="rect">
            <a:avLst/>
          </a:prstGeom>
        </p:spPr>
      </p:pic>
      <p:sp>
        <p:nvSpPr>
          <p:cNvPr id="6" name="object 6"/>
          <p:cNvSpPr txBox="1"/>
          <p:nvPr/>
        </p:nvSpPr>
        <p:spPr>
          <a:xfrm>
            <a:off x="163512" y="2279650"/>
            <a:ext cx="3486150" cy="285750"/>
          </a:xfrm>
          <a:prstGeom prst="rect">
            <a:avLst/>
          </a:prstGeom>
          <a:solidFill>
            <a:srgbClr val="E9F6FC"/>
          </a:solidFill>
          <a:ln w="12700">
            <a:solidFill>
              <a:srgbClr val="FFFFFF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 marL="25400">
              <a:lnSpc>
                <a:spcPts val="1675"/>
              </a:lnSpc>
            </a:pPr>
            <a:r>
              <a:rPr sz="1400" dirty="0">
                <a:latin typeface="Trebuchet MS"/>
                <a:cs typeface="Trebuchet MS"/>
              </a:rPr>
              <a:t>Дизайн</a:t>
            </a:r>
            <a:r>
              <a:rPr sz="1400" spc="1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rebuchet MS"/>
                <a:cs typeface="Trebuchet MS"/>
              </a:rPr>
              <a:t>многофакторного</a:t>
            </a:r>
            <a:r>
              <a:rPr sz="1400" spc="15" dirty="0">
                <a:latin typeface="Times New Roman"/>
                <a:cs typeface="Times New Roman"/>
              </a:rPr>
              <a:t> </a:t>
            </a:r>
            <a:r>
              <a:rPr sz="1400" spc="-10" dirty="0">
                <a:latin typeface="Trebuchet MS"/>
                <a:cs typeface="Trebuchet MS"/>
              </a:rPr>
              <a:t>эксперимента</a:t>
            </a:r>
            <a:endParaRPr sz="1400">
              <a:latin typeface="Trebuchet MS"/>
              <a:cs typeface="Trebuchet MS"/>
            </a:endParaRP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457200" y="762001"/>
            <a:ext cx="8458200" cy="5410200"/>
          </a:xfrm>
          <a:prstGeom prst="rect">
            <a:avLst/>
          </a:prstGeom>
        </p:spPr>
      </p:pic>
      <p:sp>
        <p:nvSpPr>
          <p:cNvPr id="14" name="object 14"/>
          <p:cNvSpPr txBox="1">
            <a:spLocks noGrp="1"/>
          </p:cNvSpPr>
          <p:nvPr>
            <p:ph type="title"/>
          </p:nvPr>
        </p:nvSpPr>
        <p:spPr>
          <a:xfrm>
            <a:off x="1524000" y="165099"/>
            <a:ext cx="7157789" cy="370679"/>
          </a:xfrm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48895" marR="5080" indent="-36830" algn="ctr">
              <a:lnSpc>
                <a:spcPct val="100800"/>
              </a:lnSpc>
              <a:spcBef>
                <a:spcPts val="75"/>
              </a:spcBef>
            </a:pPr>
            <a:r>
              <a:rPr sz="2400" dirty="0">
                <a:latin typeface="+mn-lt"/>
              </a:rPr>
              <a:t>Проверка,</a:t>
            </a:r>
            <a:r>
              <a:rPr sz="2400" b="0" spc="-10" dirty="0">
                <a:latin typeface="+mn-lt"/>
                <a:cs typeface="Times New Roman"/>
              </a:rPr>
              <a:t> </a:t>
            </a:r>
            <a:r>
              <a:rPr sz="2400" dirty="0">
                <a:latin typeface="+mn-lt"/>
              </a:rPr>
              <a:t>что</a:t>
            </a:r>
            <a:r>
              <a:rPr sz="2400" b="0" spc="-5" dirty="0">
                <a:latin typeface="+mn-lt"/>
                <a:cs typeface="Times New Roman"/>
              </a:rPr>
              <a:t> </a:t>
            </a:r>
            <a:r>
              <a:rPr sz="2400" dirty="0">
                <a:latin typeface="+mn-lt"/>
              </a:rPr>
              <a:t>нам</a:t>
            </a:r>
            <a:r>
              <a:rPr sz="2400" b="0" dirty="0">
                <a:latin typeface="+mn-lt"/>
                <a:cs typeface="Times New Roman"/>
              </a:rPr>
              <a:t> </a:t>
            </a:r>
            <a:r>
              <a:rPr sz="2400" spc="-10" dirty="0">
                <a:latin typeface="+mn-lt"/>
              </a:rPr>
              <a:t>подходит</a:t>
            </a:r>
            <a:r>
              <a:rPr sz="2400" b="0" spc="-10" dirty="0">
                <a:latin typeface="+mn-lt"/>
                <a:cs typeface="Times New Roman"/>
              </a:rPr>
              <a:t> </a:t>
            </a:r>
            <a:r>
              <a:rPr sz="2400" dirty="0">
                <a:latin typeface="+mn-lt"/>
              </a:rPr>
              <a:t>дисперсионный</a:t>
            </a:r>
            <a:r>
              <a:rPr sz="2400" b="0" spc="-110" dirty="0">
                <a:latin typeface="+mn-lt"/>
                <a:cs typeface="Times New Roman"/>
              </a:rPr>
              <a:t> </a:t>
            </a:r>
            <a:r>
              <a:rPr sz="2400" spc="-10" dirty="0">
                <a:latin typeface="+mn-lt"/>
              </a:rPr>
              <a:t>анализ</a:t>
            </a:r>
            <a:endParaRPr sz="2400" dirty="0">
              <a:latin typeface="+mn-lt"/>
              <a:cs typeface="Times New Roman"/>
            </a:endParaRPr>
          </a:p>
        </p:txBody>
      </p:sp>
      <p:sp>
        <p:nvSpPr>
          <p:cNvPr id="18" name="Нижний колонтитул 17">
            <a:extLst>
              <a:ext uri="{FF2B5EF4-FFF2-40B4-BE49-F238E27FC236}">
                <a16:creationId xmlns:a16="http://schemas.microsoft.com/office/drawing/2014/main" id="{057C19D4-B6A3-427E-9913-43DF41390064}"/>
              </a:ext>
            </a:extLst>
          </p:cNvPr>
          <p:cNvSpPr>
            <a:spLocks noGrp="1"/>
          </p:cNvSpPr>
          <p:nvPr>
            <p:ph type="ftr" sz="quarter" idx="5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21" name="Номер слайда 12">
            <a:extLst>
              <a:ext uri="{FF2B5EF4-FFF2-40B4-BE49-F238E27FC236}">
                <a16:creationId xmlns:a16="http://schemas.microsoft.com/office/drawing/2014/main" id="{57F2BD48-9F9E-46EA-A65A-16BEC619D244}"/>
              </a:ext>
            </a:extLst>
          </p:cNvPr>
          <p:cNvSpPr txBox="1">
            <a:spLocks/>
          </p:cNvSpPr>
          <p:nvPr/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/>
          <a:lstStyle>
            <a:defPPr>
              <a:defRPr kern="0"/>
            </a:defPPr>
          </a:lstStyle>
          <a:p>
            <a:pPr marL="38100" algn="r">
              <a:spcBef>
                <a:spcPts val="244"/>
              </a:spcBef>
            </a:pPr>
            <a:fld id="{81D60167-4931-47E6-BA6A-407CBD079E47}" type="slidenum">
              <a:rPr lang="ru-RU" spc="-25" smtClean="0"/>
              <a:pPr marL="38100" algn="r">
                <a:spcBef>
                  <a:spcPts val="244"/>
                </a:spcBef>
              </a:pPr>
              <a:t>34</a:t>
            </a:fld>
            <a:endParaRPr lang="ru-RU" spc="-25" dirty="0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/>
          <p:nvPr/>
        </p:nvSpPr>
        <p:spPr>
          <a:xfrm>
            <a:off x="1598612" y="144462"/>
            <a:ext cx="7178675" cy="831850"/>
          </a:xfrm>
          <a:custGeom>
            <a:avLst/>
            <a:gdLst/>
            <a:ahLst/>
            <a:cxnLst/>
            <a:rect l="l" t="t" r="r" b="b"/>
            <a:pathLst>
              <a:path w="7178675" h="831850">
                <a:moveTo>
                  <a:pt x="7178675" y="0"/>
                </a:moveTo>
                <a:lnTo>
                  <a:pt x="0" y="0"/>
                </a:lnTo>
                <a:lnTo>
                  <a:pt x="0" y="831850"/>
                </a:lnTo>
                <a:lnTo>
                  <a:pt x="7178675" y="831850"/>
                </a:lnTo>
                <a:lnTo>
                  <a:pt x="7178675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762000" y="421195"/>
            <a:ext cx="7753350" cy="400622"/>
          </a:xfrm>
        </p:spPr>
        <p:txBody>
          <a:bodyPr vert="horz" wrap="square" lIns="0" tIns="12700" rIns="0" bIns="0" rtlCol="0">
            <a:spAutoFit/>
          </a:bodyPr>
          <a:lstStyle/>
          <a:p>
            <a:pPr algn="ctr"/>
            <a:r>
              <a:rPr lang="ru-RU" sz="2800" dirty="0"/>
              <a:t>Межгрупповая и внутригрупповая дисперсии</a:t>
            </a:r>
          </a:p>
        </p:txBody>
      </p:sp>
      <p:sp>
        <p:nvSpPr>
          <p:cNvPr id="17" name="Объект 16">
            <a:extLst>
              <a:ext uri="{FF2B5EF4-FFF2-40B4-BE49-F238E27FC236}">
                <a16:creationId xmlns:a16="http://schemas.microsoft.com/office/drawing/2014/main" id="{D1628850-5A6C-44E4-BD77-B7166E7223C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0" indent="0" algn="just">
              <a:buNone/>
            </a:pPr>
            <a:r>
              <a:rPr lang="ru-RU" sz="1800" b="1" i="0" u="none" strike="noStrike" baseline="0" dirty="0">
                <a:latin typeface="Arial-BoldMT"/>
              </a:rPr>
              <a:t>Общая сумма квадратов </a:t>
            </a:r>
            <a:r>
              <a:rPr lang="ru-RU" sz="1800" b="0" i="0" u="none" strike="noStrike" baseline="0" dirty="0">
                <a:latin typeface="ArialMT"/>
              </a:rPr>
              <a:t>SST </a:t>
            </a:r>
            <a:r>
              <a:rPr lang="ru-RU" sz="1800" b="1" i="0" u="none" strike="noStrike" baseline="0" dirty="0">
                <a:latin typeface="Arial-BoldMT"/>
              </a:rPr>
              <a:t>– </a:t>
            </a:r>
            <a:r>
              <a:rPr lang="ru-RU" sz="1800" b="0" i="0" u="none" strike="noStrike" baseline="0" dirty="0">
                <a:latin typeface="ArialMT"/>
              </a:rPr>
              <a:t>показатель, характеризующий степень изменчивости данных без учета разделения их на группы.</a:t>
            </a:r>
          </a:p>
          <a:p>
            <a:pPr marL="0" indent="0" algn="just">
              <a:buNone/>
            </a:pPr>
            <a:r>
              <a:rPr lang="ru-RU" sz="1800" b="0" i="0" u="none" strike="noStrike" baseline="0" dirty="0">
                <a:latin typeface="ArialMT"/>
              </a:rPr>
              <a:t>Общая сумма квадратов </a:t>
            </a:r>
            <a:r>
              <a:rPr lang="en-US" sz="1800" b="0" i="0" u="none" strike="noStrike" baseline="0" dirty="0">
                <a:latin typeface="ArialMT"/>
              </a:rPr>
              <a:t>SST:</a:t>
            </a:r>
          </a:p>
          <a:p>
            <a:pPr lvl="1" algn="just">
              <a:buFont typeface="Wingdings" panose="05000000000000000000" pitchFamily="2" charset="2"/>
              <a:buChar char="Ø"/>
            </a:pPr>
            <a:r>
              <a:rPr lang="ru-RU" sz="1500" b="1" i="0" u="none" strike="noStrike" baseline="0" dirty="0">
                <a:latin typeface="Arial-BoldMT"/>
              </a:rPr>
              <a:t> </a:t>
            </a:r>
            <a:r>
              <a:rPr lang="ru-RU" b="1" i="0" u="none" strike="noStrike" baseline="0" dirty="0">
                <a:latin typeface="Arial-BoldMT"/>
              </a:rPr>
              <a:t>межгрупповая сумма квадратов </a:t>
            </a:r>
            <a:r>
              <a:rPr lang="en-US" b="0" i="0" u="none" strike="noStrike" baseline="0" dirty="0">
                <a:latin typeface="ArialMT"/>
              </a:rPr>
              <a:t>SSB</a:t>
            </a:r>
          </a:p>
          <a:p>
            <a:pPr lvl="1" algn="just">
              <a:buFont typeface="Wingdings" panose="05000000000000000000" pitchFamily="2" charset="2"/>
              <a:buChar char="Ø"/>
            </a:pPr>
            <a:r>
              <a:rPr lang="ru-RU" b="1" i="0" u="none" strike="noStrike" baseline="0" dirty="0">
                <a:latin typeface="Arial-BoldMT"/>
              </a:rPr>
              <a:t> внутригрупповая сумма квадратов </a:t>
            </a:r>
            <a:r>
              <a:rPr lang="en-US" b="0" i="0" u="none" strike="noStrike" baseline="0" dirty="0">
                <a:latin typeface="ArialMT"/>
              </a:rPr>
              <a:t>SSW</a:t>
            </a:r>
          </a:p>
          <a:p>
            <a:pPr marL="0" indent="0" algn="just">
              <a:buNone/>
            </a:pPr>
            <a:endParaRPr lang="ru-RU" sz="1800" b="1" i="0" u="none" strike="noStrike" baseline="0" dirty="0">
              <a:latin typeface="Arial-BoldMT"/>
            </a:endParaRPr>
          </a:p>
          <a:p>
            <a:pPr marL="0" indent="0" algn="just">
              <a:buNone/>
            </a:pPr>
            <a:r>
              <a:rPr lang="ru-RU" sz="1800" b="1" i="0" u="none" strike="noStrike" baseline="0" dirty="0">
                <a:latin typeface="Arial-BoldMT"/>
              </a:rPr>
              <a:t>Фактическое отношение Фишера </a:t>
            </a:r>
            <a:r>
              <a:rPr lang="ru-RU" sz="1800" b="0" i="0" u="none" strike="noStrike" baseline="0" dirty="0">
                <a:latin typeface="ArialMT"/>
              </a:rPr>
              <a:t>– отношение межгрупповой и внутригрупповой дисперсий</a:t>
            </a:r>
          </a:p>
          <a:p>
            <a:pPr marL="0" indent="0" algn="just">
              <a:buNone/>
            </a:pPr>
            <a:endParaRPr lang="ru-RU" sz="1800" b="1" i="0" u="none" strike="noStrike" baseline="0" dirty="0">
              <a:latin typeface="Arial-BoldMT"/>
            </a:endParaRPr>
          </a:p>
          <a:p>
            <a:pPr marL="0" indent="0" algn="just">
              <a:buNone/>
            </a:pPr>
            <a:r>
              <a:rPr lang="ru-RU" sz="1800" b="1" i="0" u="none" strike="noStrike" baseline="0" dirty="0">
                <a:latin typeface="Arial-BoldMT"/>
              </a:rPr>
              <a:t>Критическое значение отношения Фишера</a:t>
            </a:r>
          </a:p>
          <a:p>
            <a:pPr lvl="1" algn="just">
              <a:buFont typeface="Wingdings" panose="05000000000000000000" pitchFamily="2" charset="2"/>
              <a:buChar char="ü"/>
            </a:pPr>
            <a:r>
              <a:rPr lang="ru-RU" b="0" i="0" u="none" strike="noStrike" baseline="0" dirty="0">
                <a:latin typeface="ArialMT"/>
              </a:rPr>
              <a:t>Фактическое отношение Фишера &gt; критического →</a:t>
            </a:r>
          </a:p>
          <a:p>
            <a:pPr lvl="1" algn="just">
              <a:buFont typeface="Wingdings" panose="05000000000000000000" pitchFamily="2" charset="2"/>
              <a:buChar char="ü"/>
            </a:pPr>
            <a:r>
              <a:rPr lang="ru-RU" b="0" i="0" u="none" strike="noStrike" baseline="0" dirty="0">
                <a:latin typeface="ArialMT"/>
              </a:rPr>
              <a:t>различны средние классов градации,</a:t>
            </a:r>
          </a:p>
          <a:p>
            <a:pPr lvl="1" algn="just">
              <a:buFont typeface="Wingdings" panose="05000000000000000000" pitchFamily="2" charset="2"/>
              <a:buChar char="ü"/>
            </a:pPr>
            <a:r>
              <a:rPr lang="ru-RU" b="0" i="0" u="none" strike="noStrike" baseline="0" dirty="0">
                <a:latin typeface="ArialMT"/>
              </a:rPr>
              <a:t>исследуемый фактор оказывает влияние на изменение данных.</a:t>
            </a:r>
          </a:p>
          <a:p>
            <a:pPr marL="0" indent="0" algn="just">
              <a:buNone/>
            </a:pPr>
            <a:endParaRPr lang="ru-RU" sz="1800" b="1" i="0" u="none" strike="noStrike" baseline="0" dirty="0">
              <a:latin typeface="Arial-BoldMT"/>
            </a:endParaRPr>
          </a:p>
          <a:p>
            <a:pPr marL="0" indent="0" algn="just">
              <a:buNone/>
            </a:pPr>
            <a:r>
              <a:rPr lang="ru-RU" sz="1800" b="1" i="0" u="none" strike="noStrike" baseline="0" dirty="0">
                <a:latin typeface="Arial-BoldMT"/>
              </a:rPr>
              <a:t>Цель дисперсионного анализа: </a:t>
            </a:r>
            <a:r>
              <a:rPr lang="ru-RU" sz="1800" b="0" i="0" u="none" strike="noStrike" baseline="0" dirty="0">
                <a:latin typeface="ArialMT"/>
              </a:rPr>
              <a:t>исследование наличия/отсутствия существенного влияния некоторого количественного/качественного фактора на изменения исследуемого признака</a:t>
            </a:r>
            <a:r>
              <a:rPr lang="ru-RU" sz="1800" b="0" i="1" u="none" strike="noStrike" baseline="0" dirty="0">
                <a:latin typeface="Arial-ItalicMT"/>
              </a:rPr>
              <a:t>.</a:t>
            </a:r>
            <a:endParaRPr lang="ru-RU" dirty="0"/>
          </a:p>
        </p:txBody>
      </p:sp>
      <p:sp>
        <p:nvSpPr>
          <p:cNvPr id="12" name="Нижний колонтитул 11">
            <a:extLst>
              <a:ext uri="{FF2B5EF4-FFF2-40B4-BE49-F238E27FC236}">
                <a16:creationId xmlns:a16="http://schemas.microsoft.com/office/drawing/2014/main" id="{5D624261-B6F4-4C55-A48F-5EE06C7B62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028950" y="6356351"/>
            <a:ext cx="3086100" cy="365125"/>
          </a:xfrm>
        </p:spPr>
        <p:txBody>
          <a:bodyPr/>
          <a:lstStyle/>
          <a:p>
            <a:endParaRPr lang="ru-RU"/>
          </a:p>
        </p:txBody>
      </p:sp>
      <p:sp>
        <p:nvSpPr>
          <p:cNvPr id="13" name="Номер слайда 12">
            <a:extLst>
              <a:ext uri="{FF2B5EF4-FFF2-40B4-BE49-F238E27FC236}">
                <a16:creationId xmlns:a16="http://schemas.microsoft.com/office/drawing/2014/main" id="{45A0D1B6-AB27-4460-9173-4A707FF685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457950" y="6356351"/>
            <a:ext cx="2057400" cy="365125"/>
          </a:xfrm>
        </p:spPr>
        <p:txBody>
          <a:bodyPr/>
          <a:lstStyle/>
          <a:p>
            <a:fld id="{81D60167-4931-47E6-BA6A-407CBD079E47}" type="slidenum">
              <a:rPr lang="ru-RU" smtClean="0"/>
              <a:pPr/>
              <a:t>35</a:t>
            </a:fld>
            <a:endParaRPr lang="ru-RU" dirty="0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Заголовок 12">
            <a:extLst>
              <a:ext uri="{FF2B5EF4-FFF2-40B4-BE49-F238E27FC236}">
                <a16:creationId xmlns:a16="http://schemas.microsoft.com/office/drawing/2014/main" id="{01D44354-FB65-4F2F-9B9D-4231A89FDA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ru-RU" sz="2800" dirty="0"/>
              <a:t>Межгрупповая и внутригрупповая дисперсии</a:t>
            </a:r>
          </a:p>
        </p:txBody>
      </p:sp>
      <p:sp>
        <p:nvSpPr>
          <p:cNvPr id="14" name="Объект 13">
            <a:extLst>
              <a:ext uri="{FF2B5EF4-FFF2-40B4-BE49-F238E27FC236}">
                <a16:creationId xmlns:a16="http://schemas.microsoft.com/office/drawing/2014/main" id="{E34DA183-228F-4D09-8F74-3A7AA74002E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 marL="0" indent="0" algn="just">
              <a:buNone/>
            </a:pPr>
            <a:r>
              <a:rPr lang="ru-RU" sz="1800" b="1" i="0" u="none" strike="noStrike" baseline="0" dirty="0">
                <a:latin typeface="Arial-BoldMT"/>
              </a:rPr>
              <a:t>Пример 1. </a:t>
            </a:r>
            <a:r>
              <a:rPr lang="ru-RU" sz="1800" b="0" i="0" u="none" strike="noStrike" baseline="0" dirty="0">
                <a:latin typeface="ArialMT"/>
              </a:rPr>
              <a:t>Исследование зависимости прибыли предприятия от типа используемого сырья. Группы – типы сырья.</a:t>
            </a:r>
          </a:p>
          <a:p>
            <a:pPr marL="0" indent="0" algn="just">
              <a:buNone/>
            </a:pPr>
            <a:r>
              <a:rPr lang="ru-RU" sz="1800" b="1" i="0" u="none" strike="noStrike" baseline="0" dirty="0">
                <a:latin typeface="Arial-BoldMT"/>
              </a:rPr>
              <a:t>Пример 2. </a:t>
            </a:r>
            <a:r>
              <a:rPr lang="ru-RU" sz="1800" b="0" i="0" u="none" strike="noStrike" baseline="0" dirty="0">
                <a:latin typeface="ArialMT"/>
              </a:rPr>
              <a:t>Исследование зависимости себестоимости выпуска единицы продукции от размера предприятия. Группы – величины предприятий.</a:t>
            </a:r>
          </a:p>
          <a:p>
            <a:pPr marL="0" indent="0" algn="just">
              <a:buNone/>
            </a:pPr>
            <a:r>
              <a:rPr lang="ru-RU" sz="1800" b="0" i="1" u="none" strike="noStrike" baseline="0" dirty="0">
                <a:latin typeface="Arial-ItalicMT"/>
              </a:rPr>
              <a:t>Минимальное число групп </a:t>
            </a:r>
            <a:r>
              <a:rPr lang="ru-RU" sz="1800" b="0" i="0" u="none" strike="noStrike" baseline="0" dirty="0">
                <a:latin typeface="ArialMT"/>
              </a:rPr>
              <a:t>– 2.</a:t>
            </a:r>
          </a:p>
          <a:p>
            <a:pPr marL="0" indent="0" algn="just">
              <a:buNone/>
            </a:pPr>
            <a:r>
              <a:rPr lang="ru-RU" sz="1800" b="1" i="0" u="none" strike="noStrike" baseline="0" dirty="0">
                <a:latin typeface="Arial-BoldMT"/>
              </a:rPr>
              <a:t>Группы</a:t>
            </a:r>
          </a:p>
          <a:p>
            <a:pPr lvl="1" algn="just">
              <a:buFont typeface="Wingdings" panose="05000000000000000000" pitchFamily="2" charset="2"/>
              <a:buChar char="ü"/>
            </a:pPr>
            <a:r>
              <a:rPr lang="ru-RU" sz="1500" b="0" i="0" u="none" strike="noStrike" baseline="0" dirty="0">
                <a:latin typeface="Wingdings-Regular"/>
              </a:rPr>
              <a:t> </a:t>
            </a:r>
            <a:r>
              <a:rPr lang="ru-RU" sz="1500" b="0" i="0" u="none" strike="noStrike" baseline="0" dirty="0">
                <a:latin typeface="ArialMT"/>
              </a:rPr>
              <a:t>количественные</a:t>
            </a:r>
          </a:p>
          <a:p>
            <a:pPr lvl="1" algn="just">
              <a:buFont typeface="Wingdings" panose="05000000000000000000" pitchFamily="2" charset="2"/>
              <a:buChar char="ü"/>
            </a:pPr>
            <a:r>
              <a:rPr lang="ru-RU" sz="1500" b="0" i="0" u="none" strike="noStrike" baseline="0" dirty="0">
                <a:latin typeface="Wingdings-Regular"/>
              </a:rPr>
              <a:t> </a:t>
            </a:r>
            <a:r>
              <a:rPr lang="ru-RU" sz="1500" b="0" i="0" u="none" strike="noStrike" baseline="0" dirty="0">
                <a:latin typeface="ArialMT"/>
              </a:rPr>
              <a:t>качественные.</a:t>
            </a:r>
          </a:p>
          <a:p>
            <a:pPr marL="0" indent="0" algn="just">
              <a:buNone/>
            </a:pPr>
            <a:r>
              <a:rPr lang="ru-RU" sz="1800" b="0" i="0" u="none" strike="noStrike" baseline="0" dirty="0">
                <a:latin typeface="ArialMT"/>
              </a:rPr>
              <a:t>Удельный вес суммарного воздействия факторов.</a:t>
            </a:r>
          </a:p>
          <a:p>
            <a:pPr marL="0" indent="0" algn="just">
              <a:buNone/>
            </a:pPr>
            <a:r>
              <a:rPr lang="ru-RU" sz="1800" b="1" i="0" u="none" strike="noStrike" baseline="0" dirty="0">
                <a:latin typeface="Arial-BoldMT"/>
              </a:rPr>
              <a:t>Гипотезы</a:t>
            </a:r>
            <a:r>
              <a:rPr lang="ru-RU" sz="1800" b="0" i="0" u="none" strike="noStrike" baseline="0" dirty="0">
                <a:latin typeface="ArialMT"/>
              </a:rPr>
              <a:t>:</a:t>
            </a:r>
          </a:p>
          <a:p>
            <a:pPr marL="0" indent="0" algn="just">
              <a:buNone/>
            </a:pPr>
            <a:r>
              <a:rPr lang="ru-RU" sz="1800" b="0" i="0" u="none" strike="noStrike" baseline="0" dirty="0">
                <a:latin typeface="ArialMT"/>
              </a:rPr>
              <a:t>H0: все a классов градации имеют одинаковые значения средних: </a:t>
            </a:r>
          </a:p>
          <a:p>
            <a:pPr marL="0" indent="0" algn="just">
              <a:buNone/>
            </a:pPr>
            <a:r>
              <a:rPr lang="el-GR" sz="1800" b="0" i="0" u="none" strike="noStrike" baseline="0" dirty="0">
                <a:latin typeface="ArialMT"/>
              </a:rPr>
              <a:t>μ1 = μ2 = ... = μ</a:t>
            </a:r>
            <a:r>
              <a:rPr lang="en-US" sz="1800" b="0" i="0" u="none" strike="noStrike" baseline="0" dirty="0">
                <a:latin typeface="ArialMT"/>
              </a:rPr>
              <a:t>a.</a:t>
            </a:r>
          </a:p>
          <a:p>
            <a:pPr marL="0" indent="0" algn="just">
              <a:buNone/>
            </a:pPr>
            <a:r>
              <a:rPr lang="ru-RU" sz="1800" b="0" i="0" u="none" strike="noStrike" baseline="0" dirty="0">
                <a:latin typeface="ArialMT"/>
              </a:rPr>
              <a:t>H1: не все классы градации имеют одно значение средних.</a:t>
            </a:r>
          </a:p>
          <a:p>
            <a:pPr marL="0" indent="0" algn="just">
              <a:buNone/>
            </a:pPr>
            <a:r>
              <a:rPr lang="ru-RU" sz="1800" b="1" i="0" u="none" strike="noStrike" baseline="0" dirty="0">
                <a:latin typeface="Arial-BoldMT"/>
              </a:rPr>
              <a:t>Статистический комплекс </a:t>
            </a:r>
            <a:r>
              <a:rPr lang="ru-RU" sz="1800" b="0" i="0" u="none" strike="noStrike" baseline="0" dirty="0">
                <a:latin typeface="ArialMT"/>
              </a:rPr>
              <a:t>– таблица эмпирических данных.</a:t>
            </a:r>
          </a:p>
          <a:p>
            <a:pPr marL="0" indent="0" algn="just">
              <a:buNone/>
            </a:pPr>
            <a:r>
              <a:rPr lang="ru-RU" sz="1800" b="0" i="0" u="none" strike="noStrike" baseline="0" dirty="0">
                <a:latin typeface="ArialMT"/>
              </a:rPr>
              <a:t>Статистический комплекс:</a:t>
            </a:r>
          </a:p>
          <a:p>
            <a:pPr lvl="1" algn="just">
              <a:buFont typeface="Wingdings" panose="05000000000000000000" pitchFamily="2" charset="2"/>
              <a:buChar char="Ø"/>
            </a:pPr>
            <a:r>
              <a:rPr lang="ru-RU" sz="1500" b="0" i="0" u="none" strike="noStrike" baseline="0" dirty="0">
                <a:latin typeface="Wingdings-Regular"/>
              </a:rPr>
              <a:t> </a:t>
            </a:r>
            <a:r>
              <a:rPr lang="ru-RU" sz="1500" b="1" i="0" u="none" strike="noStrike" baseline="0" dirty="0">
                <a:latin typeface="Arial-BoldMT"/>
              </a:rPr>
              <a:t>однородный </a:t>
            </a:r>
            <a:r>
              <a:rPr lang="ru-RU" sz="1500" b="0" i="0" u="none" strike="noStrike" baseline="0" dirty="0">
                <a:latin typeface="ArialMT"/>
              </a:rPr>
              <a:t>– во всех классах градаций одинаковое число вариантов</a:t>
            </a:r>
          </a:p>
          <a:p>
            <a:pPr lvl="1" algn="just">
              <a:buFont typeface="Wingdings" panose="05000000000000000000" pitchFamily="2" charset="2"/>
              <a:buChar char="Ø"/>
            </a:pPr>
            <a:r>
              <a:rPr lang="ru-RU" sz="1500" b="0" i="0" u="none" strike="noStrike" baseline="0" dirty="0">
                <a:latin typeface="Wingdings-Regular"/>
              </a:rPr>
              <a:t> </a:t>
            </a:r>
            <a:r>
              <a:rPr lang="ru-RU" sz="1500" b="1" i="0" u="none" strike="noStrike" baseline="0" dirty="0">
                <a:latin typeface="Arial-BoldMT"/>
              </a:rPr>
              <a:t>разнородный </a:t>
            </a:r>
            <a:r>
              <a:rPr lang="ru-RU" sz="1500" b="0" i="0" u="none" strike="noStrike" baseline="0" dirty="0">
                <a:latin typeface="ArialMT"/>
              </a:rPr>
              <a:t>– число вариантов разное</a:t>
            </a:r>
            <a:endParaRPr lang="ru-RU" dirty="0"/>
          </a:p>
        </p:txBody>
      </p:sp>
      <p:sp>
        <p:nvSpPr>
          <p:cNvPr id="8" name="Нижний колонтитул 7">
            <a:extLst>
              <a:ext uri="{FF2B5EF4-FFF2-40B4-BE49-F238E27FC236}">
                <a16:creationId xmlns:a16="http://schemas.microsoft.com/office/drawing/2014/main" id="{418C87FA-60D5-4596-A89D-7D699CFA8D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028950" y="6356351"/>
            <a:ext cx="3086100" cy="365125"/>
          </a:xfrm>
        </p:spPr>
        <p:txBody>
          <a:bodyPr/>
          <a:lstStyle/>
          <a:p>
            <a:endParaRPr lang="ru-RU"/>
          </a:p>
        </p:txBody>
      </p:sp>
      <p:sp>
        <p:nvSpPr>
          <p:cNvPr id="15" name="Номер слайда 12">
            <a:extLst>
              <a:ext uri="{FF2B5EF4-FFF2-40B4-BE49-F238E27FC236}">
                <a16:creationId xmlns:a16="http://schemas.microsoft.com/office/drawing/2014/main" id="{235E36DE-ED71-4DE0-A09D-9CEC0B7C04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457950" y="6356350"/>
            <a:ext cx="2057400" cy="365125"/>
          </a:xfrm>
        </p:spPr>
        <p:txBody>
          <a:bodyPr/>
          <a:lstStyle/>
          <a:p>
            <a:fld id="{81D60167-4931-47E6-BA6A-407CBD079E47}" type="slidenum">
              <a:rPr lang="ru-RU" smtClean="0"/>
              <a:pPr/>
              <a:t>36</a:t>
            </a:fld>
            <a:endParaRPr lang="ru-RU" dirty="0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1460500" y="77787"/>
            <a:ext cx="7180580" cy="462280"/>
          </a:xfrm>
          <a:custGeom>
            <a:avLst/>
            <a:gdLst/>
            <a:ahLst/>
            <a:cxnLst/>
            <a:rect l="l" t="t" r="r" b="b"/>
            <a:pathLst>
              <a:path w="7180580" h="462280">
                <a:moveTo>
                  <a:pt x="7180262" y="0"/>
                </a:moveTo>
                <a:lnTo>
                  <a:pt x="0" y="0"/>
                </a:lnTo>
                <a:lnTo>
                  <a:pt x="0" y="461962"/>
                </a:lnTo>
                <a:lnTo>
                  <a:pt x="7180262" y="461962"/>
                </a:lnTo>
                <a:lnTo>
                  <a:pt x="7180262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628650" y="421196"/>
            <a:ext cx="7886700" cy="400622"/>
          </a:xfrm>
        </p:spPr>
        <p:txBody>
          <a:bodyPr vert="horz" wrap="square" lIns="0" tIns="12700" rIns="0" bIns="0" rtlCol="0">
            <a:spAutoFit/>
          </a:bodyPr>
          <a:lstStyle/>
          <a:p>
            <a:pPr algn="ctr"/>
            <a:r>
              <a:rPr lang="ru-RU" sz="2800" dirty="0"/>
              <a:t>Однофакторный</a:t>
            </a:r>
            <a:r>
              <a:rPr lang="ru-RU" dirty="0"/>
              <a:t> дисперсионный анализ</a:t>
            </a:r>
          </a:p>
        </p:txBody>
      </p:sp>
      <p:sp>
        <p:nvSpPr>
          <p:cNvPr id="14" name="Объект 13">
            <a:extLst>
              <a:ext uri="{FF2B5EF4-FFF2-40B4-BE49-F238E27FC236}">
                <a16:creationId xmlns:a16="http://schemas.microsoft.com/office/drawing/2014/main" id="{9AFFAE0E-5D8C-47D4-B00D-5676CCF73B9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8650" y="1171576"/>
            <a:ext cx="7886700" cy="5005388"/>
          </a:xfrm>
        </p:spPr>
        <p:txBody>
          <a:bodyPr>
            <a:normAutofit/>
          </a:bodyPr>
          <a:lstStyle/>
          <a:p>
            <a:pPr algn="just">
              <a:buFont typeface="Wingdings" panose="05000000000000000000" pitchFamily="2" charset="2"/>
              <a:buChar char="ü"/>
            </a:pPr>
            <a:r>
              <a:rPr lang="ru-RU" sz="1800" b="0" i="1" u="none" strike="noStrike" baseline="0" dirty="0">
                <a:latin typeface="Arial-ItalicMT"/>
              </a:rPr>
              <a:t>Одна переменная (фактор)</a:t>
            </a:r>
          </a:p>
          <a:p>
            <a:pPr algn="just">
              <a:buFont typeface="Wingdings" panose="05000000000000000000" pitchFamily="2" charset="2"/>
              <a:buChar char="ü"/>
            </a:pPr>
            <a:r>
              <a:rPr lang="ru-RU" sz="1800" b="0" i="1" u="none" strike="noStrike" baseline="0" dirty="0">
                <a:latin typeface="Arial-ItalicMT"/>
              </a:rPr>
              <a:t>Фактор может иметь более двух уровней</a:t>
            </a:r>
          </a:p>
          <a:p>
            <a:pPr algn="just">
              <a:buFont typeface="Wingdings" panose="05000000000000000000" pitchFamily="2" charset="2"/>
              <a:buChar char="ü"/>
            </a:pPr>
            <a:r>
              <a:rPr lang="ru-RU" sz="1800" b="0" i="1" u="none" strike="noStrike" baseline="0" dirty="0">
                <a:latin typeface="Arial-ItalicMT"/>
              </a:rPr>
              <a:t>Однофакторный дисперсионный анализ с двумя уровнями аналогичен    </a:t>
            </a:r>
            <a:r>
              <a:rPr lang="en-US" sz="1800" b="0" i="1" u="none" strike="noStrike" baseline="0" dirty="0">
                <a:latin typeface="Arial-ItalicMT"/>
              </a:rPr>
              <a:t>t-</a:t>
            </a:r>
            <a:r>
              <a:rPr lang="ru-RU" sz="1800" b="0" i="1" u="none" strike="noStrike" baseline="0" dirty="0">
                <a:latin typeface="Arial-ItalicMT"/>
              </a:rPr>
              <a:t>критерию</a:t>
            </a:r>
          </a:p>
          <a:p>
            <a:pPr marL="0" indent="0" algn="just">
              <a:buNone/>
            </a:pPr>
            <a:r>
              <a:rPr lang="ru-RU" sz="1800" b="1" i="0" u="none" strike="noStrike" baseline="0" dirty="0">
                <a:latin typeface="Arial-BoldMT"/>
              </a:rPr>
              <a:t>Пример. </a:t>
            </a:r>
            <a:r>
              <a:rPr lang="ru-RU" sz="1800" b="0" i="0" u="none" strike="noStrike" baseline="0" dirty="0">
                <a:latin typeface="ArialMT"/>
              </a:rPr>
              <a:t>Исследуется эффективность работы нового станка по обработке металлов с помощью дисперсионного анализа.</a:t>
            </a:r>
          </a:p>
          <a:p>
            <a:pPr marL="0" indent="0" algn="just">
              <a:buNone/>
            </a:pPr>
            <a:r>
              <a:rPr lang="ru-RU" sz="1800" b="1" i="0" u="none" strike="noStrike" baseline="0" dirty="0">
                <a:latin typeface="Arial-BoldMT"/>
              </a:rPr>
              <a:t>Основные условия проведения дисперсионного анализа:</a:t>
            </a:r>
          </a:p>
          <a:p>
            <a:pPr marL="0" indent="0" algn="just">
              <a:buNone/>
            </a:pPr>
            <a:r>
              <a:rPr lang="ru-RU" sz="1800" b="0" i="0" u="none" strike="noStrike" baseline="0" dirty="0">
                <a:latin typeface="ArialMT"/>
              </a:rPr>
              <a:t>1. Зависимая переменная должна быть непрерывной, неограниченной в широком интервале и представлена интервальными данными; факторы должны быть дихотомическими/категориальными.</a:t>
            </a:r>
          </a:p>
          <a:p>
            <a:pPr marL="0" indent="0" algn="just">
              <a:buNone/>
            </a:pPr>
            <a:r>
              <a:rPr lang="ru-RU" sz="1800" b="0" i="0" u="none" strike="noStrike" baseline="0" dirty="0">
                <a:latin typeface="ArialMT"/>
              </a:rPr>
              <a:t>2. Каждое значение зависимой переменной не должно зависеть от других ее значений.</a:t>
            </a:r>
          </a:p>
          <a:p>
            <a:pPr marL="0" indent="0" algn="just">
              <a:buNone/>
            </a:pPr>
            <a:r>
              <a:rPr lang="ru-RU" sz="1800" b="0" i="0" u="none" strike="noStrike" baseline="0" dirty="0">
                <a:latin typeface="ArialMT"/>
              </a:rPr>
              <a:t>3. В каждой группе непрерывная переменная имеет приблизительно нормальное распределение.</a:t>
            </a:r>
          </a:p>
          <a:p>
            <a:pPr marL="0" indent="0" algn="just">
              <a:buNone/>
            </a:pPr>
            <a:r>
              <a:rPr lang="ru-RU" sz="1800" b="0" i="0" u="none" strike="noStrike" baseline="0" dirty="0">
                <a:latin typeface="ArialMT"/>
              </a:rPr>
              <a:t>4. Дисперсии изучаемых групп должны быть приблизительно одинаковыми.</a:t>
            </a:r>
            <a:endParaRPr lang="ru-RU" dirty="0"/>
          </a:p>
        </p:txBody>
      </p:sp>
      <p:sp>
        <p:nvSpPr>
          <p:cNvPr id="10" name="Нижний колонтитул 9">
            <a:extLst>
              <a:ext uri="{FF2B5EF4-FFF2-40B4-BE49-F238E27FC236}">
                <a16:creationId xmlns:a16="http://schemas.microsoft.com/office/drawing/2014/main" id="{259A614C-DA80-4917-9D0D-3057CEDF69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028950" y="6356351"/>
            <a:ext cx="3086100" cy="365125"/>
          </a:xfrm>
        </p:spPr>
        <p:txBody>
          <a:bodyPr/>
          <a:lstStyle/>
          <a:p>
            <a:endParaRPr lang="ru-RU"/>
          </a:p>
        </p:txBody>
      </p:sp>
      <p:sp>
        <p:nvSpPr>
          <p:cNvPr id="16" name="Номер слайда 12">
            <a:extLst>
              <a:ext uri="{FF2B5EF4-FFF2-40B4-BE49-F238E27FC236}">
                <a16:creationId xmlns:a16="http://schemas.microsoft.com/office/drawing/2014/main" id="{9892E795-D16A-4AE7-9DAA-3DA9EF3EDA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457950" y="6356350"/>
            <a:ext cx="2057400" cy="365125"/>
          </a:xfrm>
        </p:spPr>
        <p:txBody>
          <a:bodyPr/>
          <a:lstStyle/>
          <a:p>
            <a:fld id="{81D60167-4931-47E6-BA6A-407CBD079E47}" type="slidenum">
              <a:rPr lang="ru-RU" smtClean="0"/>
              <a:pPr/>
              <a:t>37</a:t>
            </a:fld>
            <a:endParaRPr lang="ru-RU" dirty="0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D35241A-46E7-E6B0-38E1-02A6D3DFA7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Примеры</a:t>
            </a:r>
          </a:p>
        </p:txBody>
      </p:sp>
      <p:pic>
        <p:nvPicPr>
          <p:cNvPr id="7" name="Объект 6">
            <a:extLst>
              <a:ext uri="{FF2B5EF4-FFF2-40B4-BE49-F238E27FC236}">
                <a16:creationId xmlns:a16="http://schemas.microsoft.com/office/drawing/2014/main" id="{69E1EA29-5EEC-D898-A39A-D225E88C4A3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rcRect r="725"/>
          <a:stretch/>
        </p:blipFill>
        <p:spPr>
          <a:xfrm>
            <a:off x="78652" y="1050385"/>
            <a:ext cx="8986695" cy="2471513"/>
          </a:xfrm>
        </p:spPr>
      </p:pic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F0123AB8-2122-95BA-8301-4DB615D74B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9401FE7F-1066-5DF2-84D9-ACFDAEDD50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C5FB71-5E9C-41B5-9BB8-3F1EBEAEB16A}" type="slidenum">
              <a:rPr lang="ru-RU" smtClean="0"/>
              <a:t>38</a:t>
            </a:fld>
            <a:endParaRPr lang="ru-RU"/>
          </a:p>
        </p:txBody>
      </p:sp>
      <p:pic>
        <p:nvPicPr>
          <p:cNvPr id="9" name="Рисунок 8">
            <a:extLst>
              <a:ext uri="{FF2B5EF4-FFF2-40B4-BE49-F238E27FC236}">
                <a16:creationId xmlns:a16="http://schemas.microsoft.com/office/drawing/2014/main" id="{2DC6793D-CCEE-C153-9CF3-833ECD2369B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3521898"/>
            <a:ext cx="9144000" cy="25064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5701775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1460500" y="77787"/>
            <a:ext cx="6394450" cy="462280"/>
          </a:xfrm>
          <a:custGeom>
            <a:avLst/>
            <a:gdLst/>
            <a:ahLst/>
            <a:cxnLst/>
            <a:rect l="l" t="t" r="r" b="b"/>
            <a:pathLst>
              <a:path w="6394450" h="462280">
                <a:moveTo>
                  <a:pt x="6394450" y="0"/>
                </a:moveTo>
                <a:lnTo>
                  <a:pt x="0" y="0"/>
                </a:lnTo>
                <a:lnTo>
                  <a:pt x="0" y="461962"/>
                </a:lnTo>
                <a:lnTo>
                  <a:pt x="6394450" y="461962"/>
                </a:lnTo>
                <a:lnTo>
                  <a:pt x="6394450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1539227" y="70764"/>
            <a:ext cx="7223773" cy="443711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800" spc="-10" dirty="0"/>
              <a:t>Однофакторный</a:t>
            </a:r>
            <a:r>
              <a:rPr sz="2800" b="0" spc="-55" dirty="0">
                <a:latin typeface="Times New Roman"/>
                <a:cs typeface="Times New Roman"/>
              </a:rPr>
              <a:t> </a:t>
            </a:r>
            <a:r>
              <a:rPr sz="2800" dirty="0"/>
              <a:t>дисперсионный</a:t>
            </a:r>
            <a:r>
              <a:rPr sz="2800" b="0" spc="-55" dirty="0">
                <a:latin typeface="Times New Roman"/>
                <a:cs typeface="Times New Roman"/>
              </a:rPr>
              <a:t> </a:t>
            </a:r>
            <a:r>
              <a:rPr sz="2800" spc="-10" dirty="0"/>
              <a:t>анализ</a:t>
            </a:r>
            <a:endParaRPr sz="2800" dirty="0">
              <a:latin typeface="Times New Roman"/>
              <a:cs typeface="Times New Roman"/>
            </a:endParaRPr>
          </a:p>
        </p:txBody>
      </p:sp>
      <p:sp>
        <p:nvSpPr>
          <p:cNvPr id="12" name="Нижний колонтитул 11">
            <a:extLst>
              <a:ext uri="{FF2B5EF4-FFF2-40B4-BE49-F238E27FC236}">
                <a16:creationId xmlns:a16="http://schemas.microsoft.com/office/drawing/2014/main" id="{6D7D6BCC-07BF-40D7-A084-93AC982F0E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object 4"/>
          <p:cNvSpPr txBox="1"/>
          <p:nvPr/>
        </p:nvSpPr>
        <p:spPr>
          <a:xfrm>
            <a:off x="618477" y="699945"/>
            <a:ext cx="7815338" cy="1590820"/>
          </a:xfrm>
          <a:prstGeom prst="rect">
            <a:avLst/>
          </a:prstGeom>
        </p:spPr>
        <p:txBody>
          <a:bodyPr vert="horz" wrap="square" lIns="0" tIns="168275" rIns="0" bIns="0" rtlCol="0">
            <a:spAutoFit/>
          </a:bodyPr>
          <a:lstStyle/>
          <a:p>
            <a:pPr marL="2816225">
              <a:lnSpc>
                <a:spcPct val="100000"/>
              </a:lnSpc>
              <a:spcBef>
                <a:spcPts val="1325"/>
              </a:spcBef>
            </a:pPr>
            <a:r>
              <a:rPr sz="2400" i="1" dirty="0">
                <a:latin typeface="Arial"/>
                <a:cs typeface="Arial"/>
              </a:rPr>
              <a:t>SST=</a:t>
            </a:r>
            <a:r>
              <a:rPr sz="2400" spc="40" dirty="0">
                <a:latin typeface="Times New Roman"/>
                <a:cs typeface="Times New Roman"/>
              </a:rPr>
              <a:t> </a:t>
            </a:r>
            <a:r>
              <a:rPr sz="2400" i="1" dirty="0">
                <a:latin typeface="Arial"/>
                <a:cs typeface="Arial"/>
              </a:rPr>
              <a:t>SSB</a:t>
            </a:r>
            <a:r>
              <a:rPr sz="2400" spc="50" dirty="0">
                <a:latin typeface="Times New Roman"/>
                <a:cs typeface="Times New Roman"/>
              </a:rPr>
              <a:t> </a:t>
            </a:r>
            <a:r>
              <a:rPr sz="2400" i="1" dirty="0">
                <a:latin typeface="Arial"/>
                <a:cs typeface="Arial"/>
              </a:rPr>
              <a:t>+</a:t>
            </a:r>
            <a:r>
              <a:rPr sz="2400" spc="55" dirty="0">
                <a:latin typeface="Times New Roman"/>
                <a:cs typeface="Times New Roman"/>
              </a:rPr>
              <a:t> </a:t>
            </a:r>
            <a:r>
              <a:rPr sz="2400" i="1" spc="-25" dirty="0">
                <a:latin typeface="Arial"/>
                <a:cs typeface="Arial"/>
              </a:rPr>
              <a:t>SSW</a:t>
            </a:r>
            <a:endParaRPr sz="2400" dirty="0">
              <a:latin typeface="Arial"/>
              <a:cs typeface="Arial"/>
            </a:endParaRPr>
          </a:p>
          <a:p>
            <a:pPr marL="12700" marR="385445">
              <a:lnSpc>
                <a:spcPct val="100000"/>
              </a:lnSpc>
              <a:spcBef>
                <a:spcPts val="1025"/>
              </a:spcBef>
            </a:pPr>
            <a:r>
              <a:rPr sz="2000" dirty="0">
                <a:latin typeface="Arial" panose="020B0604020202020204" pitchFamily="34" charset="0"/>
                <a:cs typeface="Arial" panose="020B0604020202020204" pitchFamily="34" charset="0"/>
              </a:rPr>
              <a:t>SSB</a:t>
            </a:r>
            <a:r>
              <a:rPr sz="2000" spc="-15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000" dirty="0">
                <a:latin typeface="Arial" panose="020B0604020202020204" pitchFamily="34" charset="0"/>
                <a:cs typeface="Arial" panose="020B0604020202020204" pitchFamily="34" charset="0"/>
              </a:rPr>
              <a:t>–</a:t>
            </a:r>
            <a:r>
              <a:rPr sz="2000" spc="-15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000" dirty="0">
                <a:latin typeface="Arial" panose="020B0604020202020204" pitchFamily="34" charset="0"/>
                <a:cs typeface="Arial" panose="020B0604020202020204" pitchFamily="34" charset="0"/>
              </a:rPr>
              <a:t>межгрупповая</a:t>
            </a:r>
            <a:r>
              <a:rPr sz="2000" spc="-15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000" dirty="0" err="1">
                <a:latin typeface="Arial" panose="020B0604020202020204" pitchFamily="34" charset="0"/>
                <a:cs typeface="Arial" panose="020B0604020202020204" pitchFamily="34" charset="0"/>
              </a:rPr>
              <a:t>сумма</a:t>
            </a:r>
            <a:r>
              <a:rPr sz="2000" spc="-15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000" spc="-10" dirty="0" err="1">
                <a:latin typeface="Arial" panose="020B0604020202020204" pitchFamily="34" charset="0"/>
                <a:cs typeface="Arial" panose="020B0604020202020204" pitchFamily="34" charset="0"/>
              </a:rPr>
              <a:t>квадратов</a:t>
            </a:r>
            <a:r>
              <a:rPr lang="ru-RU" sz="2000" spc="-10" dirty="0">
                <a:latin typeface="Arial" panose="020B0604020202020204" pitchFamily="34" charset="0"/>
                <a:cs typeface="Arial" panose="020B0604020202020204" pitchFamily="34" charset="0"/>
              </a:rPr>
              <a:t> отклонений</a:t>
            </a:r>
            <a:r>
              <a:rPr sz="2000" spc="-1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br>
              <a:rPr lang="ru-RU" sz="2000" spc="-10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sz="2000" dirty="0">
                <a:latin typeface="Arial" panose="020B0604020202020204" pitchFamily="34" charset="0"/>
                <a:cs typeface="Arial" panose="020B0604020202020204" pitchFamily="34" charset="0"/>
              </a:rPr>
              <a:t>SSW</a:t>
            </a:r>
            <a:r>
              <a:rPr sz="2000" spc="-3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000" dirty="0">
                <a:latin typeface="Arial" panose="020B0604020202020204" pitchFamily="34" charset="0"/>
                <a:cs typeface="Arial" panose="020B0604020202020204" pitchFamily="34" charset="0"/>
              </a:rPr>
              <a:t>–</a:t>
            </a:r>
            <a:r>
              <a:rPr sz="2000" spc="-1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000" dirty="0">
                <a:latin typeface="Arial" panose="020B0604020202020204" pitchFamily="34" charset="0"/>
                <a:cs typeface="Arial" panose="020B0604020202020204" pitchFamily="34" charset="0"/>
              </a:rPr>
              <a:t>внутригрупповая</a:t>
            </a:r>
            <a:r>
              <a:rPr sz="2000" spc="-15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000" dirty="0">
                <a:latin typeface="Arial" panose="020B0604020202020204" pitchFamily="34" charset="0"/>
                <a:cs typeface="Arial" panose="020B0604020202020204" pitchFamily="34" charset="0"/>
              </a:rPr>
              <a:t>сумма</a:t>
            </a:r>
            <a:r>
              <a:rPr sz="2000" spc="-1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000" spc="-10" dirty="0" err="1">
                <a:latin typeface="Arial" panose="020B0604020202020204" pitchFamily="34" charset="0"/>
                <a:cs typeface="Arial" panose="020B0604020202020204" pitchFamily="34" charset="0"/>
              </a:rPr>
              <a:t>квадратов</a:t>
            </a:r>
            <a:r>
              <a:rPr sz="2000" spc="-1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ru-RU" sz="2000" spc="-10" dirty="0">
                <a:latin typeface="Arial" panose="020B0604020202020204" pitchFamily="34" charset="0"/>
                <a:cs typeface="Arial" panose="020B0604020202020204" pitchFamily="34" charset="0"/>
              </a:rPr>
              <a:t>отклонений</a:t>
            </a:r>
            <a:br>
              <a:rPr lang="ru-RU" sz="2000" spc="-10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sz="2000" dirty="0">
                <a:latin typeface="Arial" panose="020B0604020202020204" pitchFamily="34" charset="0"/>
                <a:cs typeface="Arial" panose="020B0604020202020204" pitchFamily="34" charset="0"/>
              </a:rPr>
              <a:t>SST</a:t>
            </a:r>
            <a:r>
              <a:rPr sz="2000" spc="-25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000" dirty="0">
                <a:latin typeface="Arial" panose="020B0604020202020204" pitchFamily="34" charset="0"/>
                <a:cs typeface="Arial" panose="020B0604020202020204" pitchFamily="34" charset="0"/>
              </a:rPr>
              <a:t>–</a:t>
            </a:r>
            <a:r>
              <a:rPr sz="2000" spc="15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000" dirty="0">
                <a:latin typeface="Arial" panose="020B0604020202020204" pitchFamily="34" charset="0"/>
                <a:cs typeface="Arial" panose="020B0604020202020204" pitchFamily="34" charset="0"/>
              </a:rPr>
              <a:t>общая</a:t>
            </a:r>
            <a:r>
              <a:rPr sz="2000" spc="15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000" dirty="0" err="1">
                <a:latin typeface="Arial" panose="020B0604020202020204" pitchFamily="34" charset="0"/>
                <a:cs typeface="Arial" panose="020B0604020202020204" pitchFamily="34" charset="0"/>
              </a:rPr>
              <a:t>сумма</a:t>
            </a:r>
            <a:r>
              <a:rPr sz="2000" spc="1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000" spc="-10" dirty="0" err="1">
                <a:latin typeface="Arial" panose="020B0604020202020204" pitchFamily="34" charset="0"/>
                <a:cs typeface="Arial" panose="020B0604020202020204" pitchFamily="34" charset="0"/>
              </a:rPr>
              <a:t>квадратов</a:t>
            </a:r>
            <a:r>
              <a:rPr lang="ru-RU" sz="2000" spc="-10" dirty="0">
                <a:latin typeface="Arial" panose="020B0604020202020204" pitchFamily="34" charset="0"/>
                <a:cs typeface="Arial" panose="020B0604020202020204" pitchFamily="34" charset="0"/>
              </a:rPr>
              <a:t> отклонений</a:t>
            </a:r>
            <a:endParaRPr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3806952" y="2456688"/>
            <a:ext cx="1761744" cy="466343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606551" y="3188207"/>
            <a:ext cx="7827264" cy="710183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3419855" y="4099559"/>
            <a:ext cx="2535936" cy="905256"/>
          </a:xfrm>
          <a:prstGeom prst="rect">
            <a:avLst/>
          </a:prstGeom>
        </p:spPr>
      </p:pic>
      <p:sp>
        <p:nvSpPr>
          <p:cNvPr id="8" name="object 8"/>
          <p:cNvSpPr txBox="1"/>
          <p:nvPr/>
        </p:nvSpPr>
        <p:spPr>
          <a:xfrm>
            <a:off x="1231254" y="5332487"/>
            <a:ext cx="4488815" cy="3302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dirty="0">
                <a:latin typeface="Arial"/>
                <a:cs typeface="Arial"/>
              </a:rPr>
              <a:t>–</a:t>
            </a:r>
            <a:r>
              <a:rPr sz="2000" spc="-2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Arial"/>
                <a:cs typeface="Arial"/>
              </a:rPr>
              <a:t>среднее</a:t>
            </a:r>
            <a:r>
              <a:rPr sz="2000" spc="-2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Arial"/>
                <a:cs typeface="Arial"/>
              </a:rPr>
              <a:t>значение</a:t>
            </a:r>
            <a:r>
              <a:rPr sz="2000" spc="-2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Arial"/>
                <a:cs typeface="Arial"/>
              </a:rPr>
              <a:t>всех</a:t>
            </a:r>
            <a:r>
              <a:rPr sz="2000" spc="-20" dirty="0">
                <a:latin typeface="Times New Roman"/>
                <a:cs typeface="Times New Roman"/>
              </a:rPr>
              <a:t> </a:t>
            </a:r>
            <a:r>
              <a:rPr sz="2000" spc="-10" dirty="0">
                <a:latin typeface="Arial"/>
                <a:cs typeface="Arial"/>
              </a:rPr>
              <a:t>наблюдений</a:t>
            </a:r>
            <a:endParaRPr sz="2000" dirty="0">
              <a:latin typeface="Arial"/>
              <a:cs typeface="Arial"/>
            </a:endParaRPr>
          </a:p>
        </p:txBody>
      </p:sp>
      <p:pic>
        <p:nvPicPr>
          <p:cNvPr id="9" name="object 9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710183" y="5248655"/>
            <a:ext cx="445008" cy="463296"/>
          </a:xfrm>
          <a:prstGeom prst="rect">
            <a:avLst/>
          </a:prstGeom>
        </p:spPr>
      </p:pic>
      <p:sp>
        <p:nvSpPr>
          <p:cNvPr id="16" name="Номер слайда 12">
            <a:extLst>
              <a:ext uri="{FF2B5EF4-FFF2-40B4-BE49-F238E27FC236}">
                <a16:creationId xmlns:a16="http://schemas.microsoft.com/office/drawing/2014/main" id="{3D677C6B-5163-472D-ABF8-45F520E426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457950" y="6356350"/>
            <a:ext cx="2057400" cy="365125"/>
          </a:xfrm>
        </p:spPr>
        <p:txBody>
          <a:bodyPr/>
          <a:lstStyle/>
          <a:p>
            <a:fld id="{81D60167-4931-47E6-BA6A-407CBD079E47}" type="slidenum">
              <a:rPr lang="ru-RU" smtClean="0"/>
              <a:pPr/>
              <a:t>39</a:t>
            </a:fld>
            <a:endParaRPr lang="ru-RU" dirty="0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538988" y="1177843"/>
            <a:ext cx="8592312" cy="4730496"/>
            <a:chOff x="512063" y="798575"/>
            <a:chExt cx="8592312" cy="4730496"/>
          </a:xfrm>
        </p:grpSpPr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606551" y="798575"/>
              <a:ext cx="3380232" cy="1146048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606551" y="2249423"/>
              <a:ext cx="2118360" cy="466343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539495" y="3133344"/>
              <a:ext cx="3087624" cy="969263"/>
            </a:xfrm>
            <a:prstGeom prst="rect">
              <a:avLst/>
            </a:prstGeom>
          </p:spPr>
        </p:pic>
        <p:pic>
          <p:nvPicPr>
            <p:cNvPr id="7" name="object 7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512063" y="4349495"/>
              <a:ext cx="3139440" cy="1103375"/>
            </a:xfrm>
            <a:prstGeom prst="rect">
              <a:avLst/>
            </a:prstGeom>
          </p:spPr>
        </p:pic>
        <p:pic>
          <p:nvPicPr>
            <p:cNvPr id="8" name="object 8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4800600" y="804671"/>
              <a:ext cx="3581400" cy="1146048"/>
            </a:xfrm>
            <a:prstGeom prst="rect">
              <a:avLst/>
            </a:prstGeom>
          </p:spPr>
        </p:pic>
        <p:pic>
          <p:nvPicPr>
            <p:cNvPr id="9" name="object 9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4828032" y="2185416"/>
              <a:ext cx="3581400" cy="466343"/>
            </a:xfrm>
            <a:prstGeom prst="rect">
              <a:avLst/>
            </a:prstGeom>
          </p:spPr>
        </p:pic>
        <p:pic>
          <p:nvPicPr>
            <p:cNvPr id="10" name="object 10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4821935" y="3617976"/>
              <a:ext cx="2048256" cy="850392"/>
            </a:xfrm>
            <a:prstGeom prst="rect">
              <a:avLst/>
            </a:prstGeom>
          </p:spPr>
        </p:pic>
        <p:pic>
          <p:nvPicPr>
            <p:cNvPr id="11" name="object 11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4800600" y="4675631"/>
              <a:ext cx="2209800" cy="853440"/>
            </a:xfrm>
            <a:prstGeom prst="rect">
              <a:avLst/>
            </a:prstGeom>
          </p:spPr>
        </p:pic>
        <p:pic>
          <p:nvPicPr>
            <p:cNvPr id="12" name="object 12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3953255" y="1136903"/>
              <a:ext cx="697991" cy="466344"/>
            </a:xfrm>
            <a:prstGeom prst="rect">
              <a:avLst/>
            </a:prstGeom>
          </p:spPr>
        </p:pic>
        <p:pic>
          <p:nvPicPr>
            <p:cNvPr id="13" name="object 13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4800600" y="2819400"/>
              <a:ext cx="2987040" cy="463296"/>
            </a:xfrm>
            <a:prstGeom prst="rect">
              <a:avLst/>
            </a:prstGeom>
          </p:spPr>
        </p:pic>
        <p:pic>
          <p:nvPicPr>
            <p:cNvPr id="14" name="object 14"/>
            <p:cNvPicPr/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2877311" y="2212847"/>
              <a:ext cx="701039" cy="463296"/>
            </a:xfrm>
            <a:prstGeom prst="rect">
              <a:avLst/>
            </a:prstGeom>
          </p:spPr>
        </p:pic>
        <p:pic>
          <p:nvPicPr>
            <p:cNvPr id="15" name="object 15"/>
            <p:cNvPicPr/>
            <p:nvPr/>
          </p:nvPicPr>
          <p:blipFill>
            <a:blip r:embed="rId14" cstate="print"/>
            <a:stretch>
              <a:fillRect/>
            </a:stretch>
          </p:blipFill>
          <p:spPr>
            <a:xfrm>
              <a:off x="3624071" y="3386327"/>
              <a:ext cx="697991" cy="466344"/>
            </a:xfrm>
            <a:prstGeom prst="rect">
              <a:avLst/>
            </a:prstGeom>
          </p:spPr>
        </p:pic>
        <p:pic>
          <p:nvPicPr>
            <p:cNvPr id="16" name="object 16"/>
            <p:cNvPicPr/>
            <p:nvPr/>
          </p:nvPicPr>
          <p:blipFill>
            <a:blip r:embed="rId15" cstate="print"/>
            <a:stretch>
              <a:fillRect/>
            </a:stretch>
          </p:blipFill>
          <p:spPr>
            <a:xfrm>
              <a:off x="3566159" y="4639055"/>
              <a:ext cx="697991" cy="466344"/>
            </a:xfrm>
            <a:prstGeom prst="rect">
              <a:avLst/>
            </a:prstGeom>
          </p:spPr>
        </p:pic>
        <p:pic>
          <p:nvPicPr>
            <p:cNvPr id="17" name="object 17"/>
            <p:cNvPicPr/>
            <p:nvPr/>
          </p:nvPicPr>
          <p:blipFill>
            <a:blip r:embed="rId16" cstate="print"/>
            <a:stretch>
              <a:fillRect/>
            </a:stretch>
          </p:blipFill>
          <p:spPr>
            <a:xfrm>
              <a:off x="8406383" y="1008887"/>
              <a:ext cx="697992" cy="463296"/>
            </a:xfrm>
            <a:prstGeom prst="rect">
              <a:avLst/>
            </a:prstGeom>
          </p:spPr>
        </p:pic>
        <p:pic>
          <p:nvPicPr>
            <p:cNvPr id="18" name="object 18"/>
            <p:cNvPicPr/>
            <p:nvPr/>
          </p:nvPicPr>
          <p:blipFill>
            <a:blip r:embed="rId17" cstate="print"/>
            <a:stretch>
              <a:fillRect/>
            </a:stretch>
          </p:blipFill>
          <p:spPr>
            <a:xfrm>
              <a:off x="7994904" y="2151887"/>
              <a:ext cx="697992" cy="466343"/>
            </a:xfrm>
            <a:prstGeom prst="rect">
              <a:avLst/>
            </a:prstGeom>
          </p:spPr>
        </p:pic>
        <p:pic>
          <p:nvPicPr>
            <p:cNvPr id="19" name="object 19"/>
            <p:cNvPicPr/>
            <p:nvPr/>
          </p:nvPicPr>
          <p:blipFill>
            <a:blip r:embed="rId18" cstate="print"/>
            <a:stretch>
              <a:fillRect/>
            </a:stretch>
          </p:blipFill>
          <p:spPr>
            <a:xfrm>
              <a:off x="6986016" y="3703319"/>
              <a:ext cx="697992" cy="463295"/>
            </a:xfrm>
            <a:prstGeom prst="rect">
              <a:avLst/>
            </a:prstGeom>
          </p:spPr>
        </p:pic>
        <p:pic>
          <p:nvPicPr>
            <p:cNvPr id="20" name="object 20"/>
            <p:cNvPicPr/>
            <p:nvPr/>
          </p:nvPicPr>
          <p:blipFill>
            <a:blip r:embed="rId19" cstate="print"/>
            <a:stretch>
              <a:fillRect/>
            </a:stretch>
          </p:blipFill>
          <p:spPr>
            <a:xfrm>
              <a:off x="7089647" y="4870704"/>
              <a:ext cx="697992" cy="463295"/>
            </a:xfrm>
            <a:prstGeom prst="rect">
              <a:avLst/>
            </a:prstGeom>
          </p:spPr>
        </p:pic>
      </p:grpSp>
      <p:sp>
        <p:nvSpPr>
          <p:cNvPr id="32" name="object 32"/>
          <p:cNvSpPr/>
          <p:nvPr/>
        </p:nvSpPr>
        <p:spPr>
          <a:xfrm>
            <a:off x="1460500" y="77787"/>
            <a:ext cx="6394450" cy="462280"/>
          </a:xfrm>
          <a:custGeom>
            <a:avLst/>
            <a:gdLst/>
            <a:ahLst/>
            <a:cxnLst/>
            <a:rect l="l" t="t" r="r" b="b"/>
            <a:pathLst>
              <a:path w="6394450" h="462280">
                <a:moveTo>
                  <a:pt x="6394450" y="0"/>
                </a:moveTo>
                <a:lnTo>
                  <a:pt x="0" y="0"/>
                </a:lnTo>
                <a:lnTo>
                  <a:pt x="0" y="461962"/>
                </a:lnTo>
                <a:lnTo>
                  <a:pt x="6394450" y="461962"/>
                </a:lnTo>
                <a:lnTo>
                  <a:pt x="6394450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3" name="object 33"/>
          <p:cNvSpPr txBox="1">
            <a:spLocks noGrp="1"/>
          </p:cNvSpPr>
          <p:nvPr>
            <p:ph type="title"/>
          </p:nvPr>
        </p:nvSpPr>
        <p:spPr>
          <a:xfrm>
            <a:off x="628650" y="345097"/>
            <a:ext cx="7886700" cy="551445"/>
          </a:xfrm>
          <a:prstGeom prst="rect">
            <a:avLst/>
          </a:prstGeom>
        </p:spPr>
        <p:txBody>
          <a:bodyPr vert="horz" wrap="square" lIns="0" tIns="119392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100"/>
              </a:spcBef>
            </a:pPr>
            <a:r>
              <a:rPr spc="-10" dirty="0">
                <a:latin typeface="+mn-lt"/>
              </a:rPr>
              <a:t>Однофакторный</a:t>
            </a:r>
            <a:r>
              <a:rPr b="0" spc="-55" dirty="0">
                <a:latin typeface="+mn-lt"/>
                <a:cs typeface="Times New Roman"/>
              </a:rPr>
              <a:t> </a:t>
            </a:r>
            <a:r>
              <a:rPr dirty="0">
                <a:latin typeface="+mn-lt"/>
              </a:rPr>
              <a:t>дисперсионный</a:t>
            </a:r>
            <a:r>
              <a:rPr b="0" spc="-55" dirty="0">
                <a:latin typeface="+mn-lt"/>
                <a:cs typeface="Times New Roman"/>
              </a:rPr>
              <a:t> </a:t>
            </a:r>
            <a:r>
              <a:rPr spc="-10" dirty="0">
                <a:latin typeface="+mn-lt"/>
              </a:rPr>
              <a:t>анализ</a:t>
            </a:r>
            <a:endParaRPr dirty="0">
              <a:latin typeface="+mn-lt"/>
              <a:cs typeface="Times New Roman"/>
            </a:endParaRPr>
          </a:p>
        </p:txBody>
      </p:sp>
      <p:sp>
        <p:nvSpPr>
          <p:cNvPr id="36" name="Нижний колонтитул 35">
            <a:extLst>
              <a:ext uri="{FF2B5EF4-FFF2-40B4-BE49-F238E27FC236}">
                <a16:creationId xmlns:a16="http://schemas.microsoft.com/office/drawing/2014/main" id="{6A6D2258-A40C-4BCB-BFB4-74C5F4706A02}"/>
              </a:ext>
            </a:extLst>
          </p:cNvPr>
          <p:cNvSpPr>
            <a:spLocks noGrp="1"/>
          </p:cNvSpPr>
          <p:nvPr>
            <p:ph type="ftr" sz="quarter" idx="5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1" name="Номер слайда 12">
            <a:extLst>
              <a:ext uri="{FF2B5EF4-FFF2-40B4-BE49-F238E27FC236}">
                <a16:creationId xmlns:a16="http://schemas.microsoft.com/office/drawing/2014/main" id="{C9717B3E-4263-46B7-9F0F-D52417B7CDC7}"/>
              </a:ext>
            </a:extLst>
          </p:cNvPr>
          <p:cNvSpPr txBox="1">
            <a:spLocks/>
          </p:cNvSpPr>
          <p:nvPr/>
        </p:nvSpPr>
        <p:spPr>
          <a:xfrm>
            <a:off x="6457950" y="6356350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kern="0"/>
            </a:defPPr>
            <a:lvl1pPr algn="r">
              <a:defRPr sz="15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1D60167-4931-47E6-BA6A-407CBD079E47}" type="slidenum">
              <a:rPr lang="ru-RU"/>
              <a:pPr/>
              <a:t>40</a:t>
            </a:fld>
            <a:endParaRPr lang="ru-RU" dirty="0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1460500" y="77787"/>
            <a:ext cx="6394450" cy="462280"/>
          </a:xfrm>
          <a:custGeom>
            <a:avLst/>
            <a:gdLst/>
            <a:ahLst/>
            <a:cxnLst/>
            <a:rect l="l" t="t" r="r" b="b"/>
            <a:pathLst>
              <a:path w="6394450" h="462280">
                <a:moveTo>
                  <a:pt x="6394450" y="0"/>
                </a:moveTo>
                <a:lnTo>
                  <a:pt x="0" y="0"/>
                </a:lnTo>
                <a:lnTo>
                  <a:pt x="0" y="461962"/>
                </a:lnTo>
                <a:lnTo>
                  <a:pt x="6394450" y="461962"/>
                </a:lnTo>
                <a:lnTo>
                  <a:pt x="6394450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Нижний колонтитул 8">
            <a:extLst>
              <a:ext uri="{FF2B5EF4-FFF2-40B4-BE49-F238E27FC236}">
                <a16:creationId xmlns:a16="http://schemas.microsoft.com/office/drawing/2014/main" id="{F2B6E31B-5995-437A-8704-FC0565D8D7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object 7"/>
          <p:cNvSpPr txBox="1"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</p:spPr>
        <p:txBody>
          <a:bodyPr vert="horz" wrap="square" lIns="0" tIns="31114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244"/>
              </a:spcBef>
            </a:pPr>
            <a:r>
              <a:rPr spc="-25" dirty="0"/>
              <a:t>37</a:t>
            </a:r>
          </a:p>
        </p:txBody>
      </p:sp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423672" y="777240"/>
            <a:ext cx="8296656" cy="1999488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667255" y="3773423"/>
            <a:ext cx="6169152" cy="2944368"/>
          </a:xfrm>
          <a:prstGeom prst="rect">
            <a:avLst/>
          </a:prstGeom>
        </p:spPr>
      </p:pic>
      <p:sp>
        <p:nvSpPr>
          <p:cNvPr id="6" name="object 6"/>
          <p:cNvSpPr txBox="1"/>
          <p:nvPr/>
        </p:nvSpPr>
        <p:spPr>
          <a:xfrm>
            <a:off x="523189" y="2802653"/>
            <a:ext cx="6548120" cy="922019"/>
          </a:xfrm>
          <a:prstGeom prst="rect">
            <a:avLst/>
          </a:prstGeom>
        </p:spPr>
        <p:txBody>
          <a:bodyPr vert="horz" wrap="square" lIns="0" tIns="1555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25"/>
              </a:spcBef>
            </a:pPr>
            <a:r>
              <a:rPr sz="2000" dirty="0">
                <a:latin typeface="Arial"/>
                <a:cs typeface="Arial"/>
              </a:rPr>
              <a:t>Нахождение</a:t>
            </a:r>
            <a:r>
              <a:rPr sz="2000" spc="-6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Arial"/>
                <a:cs typeface="Arial"/>
              </a:rPr>
              <a:t>критического</a:t>
            </a:r>
            <a:r>
              <a:rPr sz="2000" spc="-5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Arial"/>
                <a:cs typeface="Arial"/>
              </a:rPr>
              <a:t>значения</a:t>
            </a:r>
            <a:r>
              <a:rPr sz="2000" spc="-55" dirty="0">
                <a:latin typeface="Times New Roman"/>
                <a:cs typeface="Times New Roman"/>
              </a:rPr>
              <a:t> </a:t>
            </a:r>
            <a:r>
              <a:rPr sz="2000" spc="-10" dirty="0">
                <a:latin typeface="Arial"/>
                <a:cs typeface="Arial"/>
              </a:rPr>
              <a:t>F-распределения:</a:t>
            </a:r>
            <a:endParaRPr sz="2000" dirty="0">
              <a:latin typeface="Arial"/>
              <a:cs typeface="Arial"/>
            </a:endParaRPr>
          </a:p>
          <a:p>
            <a:pPr marL="1633220">
              <a:lnSpc>
                <a:spcPct val="100000"/>
              </a:lnSpc>
              <a:spcBef>
                <a:spcPts val="1130"/>
              </a:spcBef>
            </a:pPr>
            <a:r>
              <a:rPr sz="2000" spc="-10" dirty="0">
                <a:latin typeface="Times New Roman"/>
                <a:cs typeface="Times New Roman"/>
              </a:rPr>
              <a:t>F-</a:t>
            </a:r>
            <a:r>
              <a:rPr sz="2000" dirty="0">
                <a:latin typeface="Times New Roman"/>
                <a:cs typeface="Times New Roman"/>
              </a:rPr>
              <a:t>распределение</a:t>
            </a:r>
            <a:r>
              <a:rPr sz="2000" spc="-7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для</a:t>
            </a:r>
            <a:r>
              <a:rPr sz="2000" spc="-7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уровня</a:t>
            </a:r>
            <a:r>
              <a:rPr sz="2000" spc="-7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значимости</a:t>
            </a:r>
            <a:r>
              <a:rPr sz="2000" spc="-70" dirty="0">
                <a:latin typeface="Times New Roman"/>
                <a:cs typeface="Times New Roman"/>
              </a:rPr>
              <a:t> </a:t>
            </a:r>
            <a:r>
              <a:rPr sz="2000" spc="-20" dirty="0">
                <a:latin typeface="Times New Roman"/>
                <a:cs typeface="Times New Roman"/>
              </a:rPr>
              <a:t>0,05</a:t>
            </a:r>
            <a:endParaRPr sz="2000" dirty="0">
              <a:latin typeface="Times New Roman"/>
              <a:cs typeface="Times New Roman"/>
            </a:endParaRPr>
          </a:p>
        </p:txBody>
      </p:sp>
      <p:sp>
        <p:nvSpPr>
          <p:cNvPr id="11" name="Заголовок 10">
            <a:extLst>
              <a:ext uri="{FF2B5EF4-FFF2-40B4-BE49-F238E27FC236}">
                <a16:creationId xmlns:a16="http://schemas.microsoft.com/office/drawing/2014/main" id="{6257714A-CEC9-4DC0-9C8B-2BB74B9C5B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70791"/>
            <a:ext cx="7886700" cy="843609"/>
          </a:xfrm>
        </p:spPr>
        <p:txBody>
          <a:bodyPr/>
          <a:lstStyle/>
          <a:p>
            <a:pPr algn="ctr"/>
            <a:r>
              <a:rPr lang="ru-RU" dirty="0"/>
              <a:t>Однофакторный дисперсионный анализ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1460500" y="77787"/>
            <a:ext cx="6394450" cy="462280"/>
          </a:xfrm>
          <a:custGeom>
            <a:avLst/>
            <a:gdLst/>
            <a:ahLst/>
            <a:cxnLst/>
            <a:rect l="l" t="t" r="r" b="b"/>
            <a:pathLst>
              <a:path w="6394450" h="462280">
                <a:moveTo>
                  <a:pt x="6394450" y="0"/>
                </a:moveTo>
                <a:lnTo>
                  <a:pt x="0" y="0"/>
                </a:lnTo>
                <a:lnTo>
                  <a:pt x="0" y="461962"/>
                </a:lnTo>
                <a:lnTo>
                  <a:pt x="6394450" y="461962"/>
                </a:lnTo>
                <a:lnTo>
                  <a:pt x="6394450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1914207" y="70121"/>
            <a:ext cx="622998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10" dirty="0"/>
              <a:t>Однофакторный</a:t>
            </a:r>
            <a:r>
              <a:rPr sz="2400" b="0" spc="-55" dirty="0">
                <a:latin typeface="Times New Roman"/>
                <a:cs typeface="Times New Roman"/>
              </a:rPr>
              <a:t> </a:t>
            </a:r>
            <a:r>
              <a:rPr sz="2400" dirty="0"/>
              <a:t>дисперсионный</a:t>
            </a:r>
            <a:r>
              <a:rPr sz="2400" b="0" spc="-55" dirty="0">
                <a:latin typeface="Times New Roman"/>
                <a:cs typeface="Times New Roman"/>
              </a:rPr>
              <a:t> </a:t>
            </a:r>
            <a:r>
              <a:rPr sz="2400" spc="-10" dirty="0"/>
              <a:t>анализ</a:t>
            </a:r>
            <a:endParaRPr sz="2400" dirty="0">
              <a:latin typeface="Times New Roman"/>
              <a:cs typeface="Times New Roman"/>
            </a:endParaRPr>
          </a:p>
        </p:txBody>
      </p:sp>
      <p:sp>
        <p:nvSpPr>
          <p:cNvPr id="33" name="Нижний колонтитул 32">
            <a:extLst>
              <a:ext uri="{FF2B5EF4-FFF2-40B4-BE49-F238E27FC236}">
                <a16:creationId xmlns:a16="http://schemas.microsoft.com/office/drawing/2014/main" id="{82F68CB0-09DA-4C28-8C55-1F1F28EE26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31" name="object 31"/>
          <p:cNvSpPr txBox="1"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</p:spPr>
        <p:txBody>
          <a:bodyPr vert="horz" wrap="square" lIns="0" tIns="31114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244"/>
              </a:spcBef>
            </a:pPr>
            <a:r>
              <a:rPr spc="-25" dirty="0"/>
              <a:t>38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712139" y="626373"/>
            <a:ext cx="1074420" cy="3302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b="1" spc="-10" dirty="0">
                <a:latin typeface="Arial"/>
                <a:cs typeface="Arial"/>
              </a:rPr>
              <a:t>Пример.</a:t>
            </a:r>
            <a:endParaRPr sz="2000">
              <a:latin typeface="Arial"/>
              <a:cs typeface="Arial"/>
            </a:endParaRPr>
          </a:p>
        </p:txBody>
      </p:sp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600456" y="1589466"/>
            <a:ext cx="7613903" cy="704701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605840" y="2465832"/>
            <a:ext cx="4423360" cy="681522"/>
          </a:xfrm>
          <a:prstGeom prst="rect">
            <a:avLst/>
          </a:prstGeom>
        </p:spPr>
      </p:pic>
      <p:grpSp>
        <p:nvGrpSpPr>
          <p:cNvPr id="9" name="object 9"/>
          <p:cNvGrpSpPr/>
          <p:nvPr/>
        </p:nvGrpSpPr>
        <p:grpSpPr>
          <a:xfrm>
            <a:off x="603250" y="3238055"/>
            <a:ext cx="4197350" cy="1156699"/>
            <a:chOff x="603250" y="3238055"/>
            <a:chExt cx="4635500" cy="1259205"/>
          </a:xfrm>
        </p:grpSpPr>
        <p:pic>
          <p:nvPicPr>
            <p:cNvPr id="10" name="object 10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609600" y="3243071"/>
              <a:ext cx="4623816" cy="1249679"/>
            </a:xfrm>
            <a:prstGeom prst="rect">
              <a:avLst/>
            </a:prstGeom>
            <a:ln>
              <a:noFill/>
            </a:ln>
          </p:spPr>
        </p:pic>
        <p:sp>
          <p:nvSpPr>
            <p:cNvPr id="11" name="object 11"/>
            <p:cNvSpPr/>
            <p:nvPr/>
          </p:nvSpPr>
          <p:spPr>
            <a:xfrm>
              <a:off x="609600" y="3244405"/>
              <a:ext cx="4622800" cy="1246505"/>
            </a:xfrm>
            <a:custGeom>
              <a:avLst/>
              <a:gdLst/>
              <a:ahLst/>
              <a:cxnLst/>
              <a:rect l="l" t="t" r="r" b="b"/>
              <a:pathLst>
                <a:path w="4622800" h="1246504">
                  <a:moveTo>
                    <a:pt x="0" y="1246485"/>
                  </a:moveTo>
                  <a:lnTo>
                    <a:pt x="4622800" y="1246485"/>
                  </a:lnTo>
                  <a:lnTo>
                    <a:pt x="4622800" y="0"/>
                  </a:lnTo>
                  <a:lnTo>
                    <a:pt x="0" y="0"/>
                  </a:lnTo>
                  <a:lnTo>
                    <a:pt x="0" y="1246485"/>
                  </a:lnTo>
                  <a:close/>
                </a:path>
              </a:pathLst>
            </a:custGeom>
            <a:ln w="12699">
              <a:noFill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12" name="object 12"/>
          <p:cNvGrpSpPr/>
          <p:nvPr/>
        </p:nvGrpSpPr>
        <p:grpSpPr>
          <a:xfrm>
            <a:off x="607541" y="4582117"/>
            <a:ext cx="3218815" cy="413384"/>
            <a:chOff x="607541" y="4582117"/>
            <a:chExt cx="3218815" cy="413384"/>
          </a:xfrm>
        </p:grpSpPr>
        <p:pic>
          <p:nvPicPr>
            <p:cNvPr id="13" name="object 13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612647" y="4587240"/>
              <a:ext cx="3209543" cy="402336"/>
            </a:xfrm>
            <a:prstGeom prst="rect">
              <a:avLst/>
            </a:prstGeom>
          </p:spPr>
        </p:pic>
        <p:sp>
          <p:nvSpPr>
            <p:cNvPr id="14" name="object 14"/>
            <p:cNvSpPr/>
            <p:nvPr/>
          </p:nvSpPr>
          <p:spPr>
            <a:xfrm>
              <a:off x="613891" y="4588467"/>
              <a:ext cx="3206115" cy="400685"/>
            </a:xfrm>
            <a:custGeom>
              <a:avLst/>
              <a:gdLst/>
              <a:ahLst/>
              <a:cxnLst/>
              <a:rect l="l" t="t" r="r" b="b"/>
              <a:pathLst>
                <a:path w="3206115" h="400685">
                  <a:moveTo>
                    <a:pt x="0" y="400124"/>
                  </a:moveTo>
                  <a:lnTo>
                    <a:pt x="3205880" y="400124"/>
                  </a:lnTo>
                  <a:lnTo>
                    <a:pt x="3205880" y="0"/>
                  </a:lnTo>
                  <a:lnTo>
                    <a:pt x="0" y="0"/>
                  </a:lnTo>
                  <a:lnTo>
                    <a:pt x="0" y="400124"/>
                  </a:lnTo>
                  <a:close/>
                </a:path>
              </a:pathLst>
            </a:custGeom>
            <a:ln w="12700">
              <a:solidFill>
                <a:srgbClr val="5ECAEE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pic>
        <p:nvPicPr>
          <p:cNvPr id="16" name="object 16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600456" y="5143479"/>
            <a:ext cx="3349752" cy="402336"/>
          </a:xfrm>
          <a:prstGeom prst="rect">
            <a:avLst/>
          </a:prstGeom>
        </p:spPr>
      </p:pic>
      <p:pic>
        <p:nvPicPr>
          <p:cNvPr id="19" name="object 19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609600" y="5738301"/>
            <a:ext cx="5529072" cy="402336"/>
          </a:xfrm>
          <a:prstGeom prst="rect">
            <a:avLst/>
          </a:prstGeom>
        </p:spPr>
      </p:pic>
      <p:grpSp>
        <p:nvGrpSpPr>
          <p:cNvPr id="21" name="object 21"/>
          <p:cNvGrpSpPr/>
          <p:nvPr/>
        </p:nvGrpSpPr>
        <p:grpSpPr>
          <a:xfrm>
            <a:off x="1272755" y="6288955"/>
            <a:ext cx="3296920" cy="413384"/>
            <a:chOff x="1272755" y="6288955"/>
            <a:chExt cx="3296920" cy="413384"/>
          </a:xfrm>
        </p:grpSpPr>
        <p:pic>
          <p:nvPicPr>
            <p:cNvPr id="22" name="object 22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1277112" y="6294120"/>
              <a:ext cx="3288791" cy="402336"/>
            </a:xfrm>
            <a:prstGeom prst="rect">
              <a:avLst/>
            </a:prstGeom>
          </p:spPr>
        </p:pic>
        <p:sp>
          <p:nvSpPr>
            <p:cNvPr id="23" name="object 23"/>
            <p:cNvSpPr/>
            <p:nvPr/>
          </p:nvSpPr>
          <p:spPr>
            <a:xfrm>
              <a:off x="1279105" y="6295305"/>
              <a:ext cx="3284220" cy="400685"/>
            </a:xfrm>
            <a:custGeom>
              <a:avLst/>
              <a:gdLst/>
              <a:ahLst/>
              <a:cxnLst/>
              <a:rect l="l" t="t" r="r" b="b"/>
              <a:pathLst>
                <a:path w="3284220" h="400684">
                  <a:moveTo>
                    <a:pt x="0" y="400099"/>
                  </a:moveTo>
                  <a:lnTo>
                    <a:pt x="3283794" y="400099"/>
                  </a:lnTo>
                  <a:lnTo>
                    <a:pt x="3283794" y="0"/>
                  </a:lnTo>
                  <a:lnTo>
                    <a:pt x="0" y="0"/>
                  </a:lnTo>
                  <a:lnTo>
                    <a:pt x="0" y="400099"/>
                  </a:lnTo>
                  <a:close/>
                </a:path>
              </a:pathLst>
            </a:custGeom>
            <a:ln w="12700">
              <a:solidFill>
                <a:srgbClr val="5ECAEE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aphicFrame>
        <p:nvGraphicFramePr>
          <p:cNvPr id="24" name="object 2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5514108"/>
              </p:ext>
            </p:extLst>
          </p:nvPr>
        </p:nvGraphicFramePr>
        <p:xfrm>
          <a:off x="2127250" y="623887"/>
          <a:ext cx="4493895" cy="98171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49796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9796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9796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56540">
                <a:tc>
                  <a:txBody>
                    <a:bodyPr/>
                    <a:lstStyle/>
                    <a:p>
                      <a:pPr algn="ctr">
                        <a:lnSpc>
                          <a:spcPts val="1860"/>
                        </a:lnSpc>
                        <a:spcBef>
                          <a:spcPts val="60"/>
                        </a:spcBef>
                      </a:pPr>
                      <a:r>
                        <a:rPr sz="1600" b="1" dirty="0">
                          <a:solidFill>
                            <a:srgbClr val="006FBE"/>
                          </a:solidFill>
                          <a:latin typeface="Trebuchet MS"/>
                          <a:cs typeface="Trebuchet MS"/>
                        </a:rPr>
                        <a:t>Группа</a:t>
                      </a:r>
                      <a:r>
                        <a:rPr sz="1600" spc="50" dirty="0">
                          <a:solidFill>
                            <a:srgbClr val="006FBE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600" b="1" spc="-60" dirty="0">
                          <a:solidFill>
                            <a:srgbClr val="006FBE"/>
                          </a:solidFill>
                          <a:latin typeface="Trebuchet MS"/>
                          <a:cs typeface="Trebuchet MS"/>
                        </a:rPr>
                        <a:t>1</a:t>
                      </a:r>
                      <a:endParaRPr sz="1600" dirty="0">
                        <a:latin typeface="Trebuchet MS"/>
                        <a:cs typeface="Trebuchet MS"/>
                      </a:endParaRPr>
                    </a:p>
                  </a:txBody>
                  <a:tcPr marL="0" marR="0" marT="7620" marB="0">
                    <a:lnL w="12700">
                      <a:solidFill>
                        <a:srgbClr val="5ECAEE"/>
                      </a:solidFill>
                      <a:prstDash val="solid"/>
                    </a:lnL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860"/>
                        </a:lnSpc>
                        <a:spcBef>
                          <a:spcPts val="60"/>
                        </a:spcBef>
                      </a:pPr>
                      <a:r>
                        <a:rPr sz="1600" b="1" dirty="0">
                          <a:solidFill>
                            <a:srgbClr val="FF0000"/>
                          </a:solidFill>
                          <a:latin typeface="Trebuchet MS"/>
                          <a:cs typeface="Trebuchet MS"/>
                        </a:rPr>
                        <a:t>Группа</a:t>
                      </a:r>
                      <a:r>
                        <a:rPr sz="1600" spc="50" dirty="0">
                          <a:solidFill>
                            <a:srgbClr val="FF0000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600" b="1" spc="-60" dirty="0">
                          <a:solidFill>
                            <a:srgbClr val="FF0000"/>
                          </a:solidFill>
                          <a:latin typeface="Trebuchet MS"/>
                          <a:cs typeface="Trebuchet MS"/>
                        </a:rPr>
                        <a:t>2</a:t>
                      </a:r>
                      <a:endParaRPr sz="1600">
                        <a:latin typeface="Trebuchet MS"/>
                        <a:cs typeface="Trebuchet MS"/>
                      </a:endParaRPr>
                    </a:p>
                  </a:txBody>
                  <a:tcPr marL="0" marR="0" marT="7620" marB="0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860"/>
                        </a:lnSpc>
                        <a:spcBef>
                          <a:spcPts val="60"/>
                        </a:spcBef>
                      </a:pPr>
                      <a:r>
                        <a:rPr sz="1600" b="1" dirty="0">
                          <a:latin typeface="Trebuchet MS"/>
                          <a:cs typeface="Trebuchet MS"/>
                        </a:rPr>
                        <a:t>Группа</a:t>
                      </a:r>
                      <a:r>
                        <a:rPr sz="1600" spc="5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600" b="1" spc="-60" dirty="0">
                          <a:latin typeface="Trebuchet MS"/>
                          <a:cs typeface="Trebuchet MS"/>
                        </a:rPr>
                        <a:t>3</a:t>
                      </a:r>
                      <a:endParaRPr sz="1600">
                        <a:latin typeface="Trebuchet MS"/>
                        <a:cs typeface="Trebuchet MS"/>
                      </a:endParaRPr>
                    </a:p>
                  </a:txBody>
                  <a:tcPr marL="0" marR="0" marT="7620" marB="0">
                    <a:lnR w="12700">
                      <a:solidFill>
                        <a:srgbClr val="5ECAEE"/>
                      </a:solidFill>
                      <a:prstDash val="solid"/>
                    </a:ln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37490">
                <a:tc>
                  <a:txBody>
                    <a:bodyPr/>
                    <a:lstStyle/>
                    <a:p>
                      <a:pPr algn="ctr">
                        <a:lnSpc>
                          <a:spcPts val="1770"/>
                        </a:lnSpc>
                      </a:pPr>
                      <a:r>
                        <a:rPr sz="1600" b="1" spc="-50" dirty="0">
                          <a:solidFill>
                            <a:srgbClr val="006FBE"/>
                          </a:solidFill>
                          <a:latin typeface="Trebuchet MS"/>
                          <a:cs typeface="Trebuchet MS"/>
                        </a:rPr>
                        <a:t>1</a:t>
                      </a:r>
                      <a:endParaRPr sz="1600" dirty="0">
                        <a:latin typeface="Trebuchet MS"/>
                        <a:cs typeface="Trebuchet MS"/>
                      </a:endParaRPr>
                    </a:p>
                  </a:txBody>
                  <a:tcPr marL="0" marR="0" marT="0" marB="0">
                    <a:lnL w="12700">
                      <a:solidFill>
                        <a:srgbClr val="5ECAEE"/>
                      </a:solidFill>
                      <a:prstDash val="solid"/>
                    </a:lnL>
                    <a:lnB w="12700">
                      <a:solidFill>
                        <a:srgbClr val="5ECAEE"/>
                      </a:solidFill>
                      <a:prstDash val="soli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770"/>
                        </a:lnSpc>
                      </a:pPr>
                      <a:r>
                        <a:rPr sz="1600" spc="-50" dirty="0">
                          <a:solidFill>
                            <a:srgbClr val="FF0000"/>
                          </a:solidFill>
                          <a:latin typeface="Trebuchet MS"/>
                          <a:cs typeface="Trebuchet MS"/>
                        </a:rPr>
                        <a:t>3</a:t>
                      </a:r>
                      <a:endParaRPr sz="1600" dirty="0">
                        <a:latin typeface="Trebuchet MS"/>
                        <a:cs typeface="Trebuchet MS"/>
                      </a:endParaRPr>
                    </a:p>
                  </a:txBody>
                  <a:tcPr marL="0" marR="0" marT="0" marB="0">
                    <a:lnB w="12700">
                      <a:solidFill>
                        <a:srgbClr val="5ECAEE"/>
                      </a:solidFill>
                      <a:prstDash val="soli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770"/>
                        </a:lnSpc>
                      </a:pPr>
                      <a:r>
                        <a:rPr sz="1600" spc="-50" dirty="0">
                          <a:latin typeface="Trebuchet MS"/>
                          <a:cs typeface="Trebuchet MS"/>
                        </a:rPr>
                        <a:t>5</a:t>
                      </a:r>
                      <a:endParaRPr sz="1600" dirty="0">
                        <a:latin typeface="Trebuchet MS"/>
                        <a:cs typeface="Trebuchet MS"/>
                      </a:endParaRPr>
                    </a:p>
                  </a:txBody>
                  <a:tcPr marL="0" marR="0" marT="0" marB="0">
                    <a:lnR w="12700">
                      <a:solidFill>
                        <a:srgbClr val="5ECAEE"/>
                      </a:solidFill>
                      <a:prstDash val="solid"/>
                    </a:lnR>
                    <a:lnB w="12700">
                      <a:solidFill>
                        <a:srgbClr val="5ECAEE"/>
                      </a:solidFill>
                      <a:prstDash val="solid"/>
                    </a:lnB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43840">
                <a:tc>
                  <a:txBody>
                    <a:bodyPr/>
                    <a:lstStyle/>
                    <a:p>
                      <a:pPr algn="ctr">
                        <a:lnSpc>
                          <a:spcPts val="1814"/>
                        </a:lnSpc>
                        <a:spcBef>
                          <a:spcPts val="5"/>
                        </a:spcBef>
                      </a:pPr>
                      <a:r>
                        <a:rPr sz="1600" b="1" spc="-50" dirty="0">
                          <a:solidFill>
                            <a:srgbClr val="006FBE"/>
                          </a:solidFill>
                          <a:latin typeface="Trebuchet MS"/>
                          <a:cs typeface="Trebuchet MS"/>
                        </a:rPr>
                        <a:t>2</a:t>
                      </a:r>
                      <a:endParaRPr sz="1600">
                        <a:latin typeface="Trebuchet MS"/>
                        <a:cs typeface="Trebuchet MS"/>
                      </a:endParaRPr>
                    </a:p>
                  </a:txBody>
                  <a:tcPr marL="0" marR="0" marT="635" marB="0">
                    <a:lnL w="12700">
                      <a:solidFill>
                        <a:srgbClr val="5ECAEE"/>
                      </a:solidFill>
                      <a:prstDash val="solid"/>
                    </a:lnL>
                    <a:lnT w="12700">
                      <a:solidFill>
                        <a:srgbClr val="5ECAEE"/>
                      </a:solidFill>
                      <a:prstDash val="solid"/>
                    </a:lnT>
                    <a:lnB w="12700">
                      <a:solidFill>
                        <a:srgbClr val="5ECAEE"/>
                      </a:solidFill>
                      <a:prstDash val="soli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814"/>
                        </a:lnSpc>
                        <a:spcBef>
                          <a:spcPts val="5"/>
                        </a:spcBef>
                      </a:pPr>
                      <a:r>
                        <a:rPr sz="1600" spc="-50" dirty="0">
                          <a:solidFill>
                            <a:srgbClr val="FF0000"/>
                          </a:solidFill>
                          <a:latin typeface="Trebuchet MS"/>
                          <a:cs typeface="Trebuchet MS"/>
                        </a:rPr>
                        <a:t>4</a:t>
                      </a:r>
                      <a:endParaRPr sz="1600" dirty="0">
                        <a:latin typeface="Trebuchet MS"/>
                        <a:cs typeface="Trebuchet MS"/>
                      </a:endParaRPr>
                    </a:p>
                  </a:txBody>
                  <a:tcPr marL="0" marR="0" marT="635" marB="0">
                    <a:lnT w="12700">
                      <a:solidFill>
                        <a:srgbClr val="5ECAEE"/>
                      </a:solidFill>
                      <a:prstDash val="solid"/>
                    </a:lnT>
                    <a:lnB w="12700">
                      <a:solidFill>
                        <a:srgbClr val="5ECAEE"/>
                      </a:solidFill>
                      <a:prstDash val="soli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814"/>
                        </a:lnSpc>
                        <a:spcBef>
                          <a:spcPts val="5"/>
                        </a:spcBef>
                      </a:pPr>
                      <a:r>
                        <a:rPr sz="1600" spc="-50" dirty="0">
                          <a:latin typeface="Trebuchet MS"/>
                          <a:cs typeface="Trebuchet MS"/>
                        </a:rPr>
                        <a:t>6</a:t>
                      </a:r>
                      <a:endParaRPr sz="1600">
                        <a:latin typeface="Trebuchet MS"/>
                        <a:cs typeface="Trebuchet MS"/>
                      </a:endParaRPr>
                    </a:p>
                  </a:txBody>
                  <a:tcPr marL="0" marR="0" marT="635" marB="0">
                    <a:lnR w="12700">
                      <a:solidFill>
                        <a:srgbClr val="5ECAEE"/>
                      </a:solidFill>
                      <a:prstDash val="solid"/>
                    </a:lnR>
                    <a:lnT w="12700">
                      <a:solidFill>
                        <a:srgbClr val="5ECAEE"/>
                      </a:solidFill>
                      <a:prstDash val="solid"/>
                    </a:lnT>
                    <a:lnB w="12700">
                      <a:solidFill>
                        <a:srgbClr val="5ECAEE"/>
                      </a:solidFill>
                      <a:prstDash val="solid"/>
                    </a:lnB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43840">
                <a:tc>
                  <a:txBody>
                    <a:bodyPr/>
                    <a:lstStyle/>
                    <a:p>
                      <a:pPr algn="ctr">
                        <a:lnSpc>
                          <a:spcPts val="1814"/>
                        </a:lnSpc>
                        <a:spcBef>
                          <a:spcPts val="5"/>
                        </a:spcBef>
                      </a:pPr>
                      <a:r>
                        <a:rPr sz="1600" b="1" spc="-50" dirty="0">
                          <a:solidFill>
                            <a:srgbClr val="006FBE"/>
                          </a:solidFill>
                          <a:latin typeface="Trebuchet MS"/>
                          <a:cs typeface="Trebuchet MS"/>
                        </a:rPr>
                        <a:t>3</a:t>
                      </a:r>
                      <a:endParaRPr sz="1600" dirty="0">
                        <a:latin typeface="Trebuchet MS"/>
                        <a:cs typeface="Trebuchet MS"/>
                      </a:endParaRPr>
                    </a:p>
                  </a:txBody>
                  <a:tcPr marL="0" marR="0" marT="635" marB="0">
                    <a:lnL w="12700">
                      <a:solidFill>
                        <a:srgbClr val="5ECAEE"/>
                      </a:solidFill>
                      <a:prstDash val="solid"/>
                    </a:lnL>
                    <a:lnT w="12700">
                      <a:solidFill>
                        <a:srgbClr val="5ECAEE"/>
                      </a:solidFill>
                      <a:prstDash val="solid"/>
                    </a:lnT>
                    <a:lnB w="12700">
                      <a:solidFill>
                        <a:srgbClr val="5ECAEE"/>
                      </a:solidFill>
                      <a:prstDash val="soli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814"/>
                        </a:lnSpc>
                        <a:spcBef>
                          <a:spcPts val="5"/>
                        </a:spcBef>
                      </a:pPr>
                      <a:r>
                        <a:rPr sz="1600" spc="-50" dirty="0">
                          <a:solidFill>
                            <a:srgbClr val="FF0000"/>
                          </a:solidFill>
                          <a:latin typeface="Trebuchet MS"/>
                          <a:cs typeface="Trebuchet MS"/>
                        </a:rPr>
                        <a:t>5</a:t>
                      </a:r>
                      <a:endParaRPr sz="1600" dirty="0">
                        <a:latin typeface="Trebuchet MS"/>
                        <a:cs typeface="Trebuchet MS"/>
                      </a:endParaRPr>
                    </a:p>
                  </a:txBody>
                  <a:tcPr marL="0" marR="0" marT="635" marB="0">
                    <a:lnT w="12700">
                      <a:solidFill>
                        <a:srgbClr val="5ECAEE"/>
                      </a:solidFill>
                      <a:prstDash val="solid"/>
                    </a:lnT>
                    <a:lnB w="12700">
                      <a:solidFill>
                        <a:srgbClr val="5ECAEE"/>
                      </a:solidFill>
                      <a:prstDash val="soli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814"/>
                        </a:lnSpc>
                        <a:spcBef>
                          <a:spcPts val="5"/>
                        </a:spcBef>
                      </a:pPr>
                      <a:r>
                        <a:rPr sz="1600" spc="-50" dirty="0">
                          <a:latin typeface="Trebuchet MS"/>
                          <a:cs typeface="Trebuchet MS"/>
                        </a:rPr>
                        <a:t>7</a:t>
                      </a:r>
                      <a:endParaRPr sz="1600" dirty="0">
                        <a:latin typeface="Trebuchet MS"/>
                        <a:cs typeface="Trebuchet MS"/>
                      </a:endParaRPr>
                    </a:p>
                  </a:txBody>
                  <a:tcPr marL="0" marR="0" marT="635" marB="0">
                    <a:lnR w="12700">
                      <a:solidFill>
                        <a:srgbClr val="5ECAEE"/>
                      </a:solidFill>
                      <a:prstDash val="solid"/>
                    </a:lnR>
                    <a:lnT w="12700">
                      <a:solidFill>
                        <a:srgbClr val="5ECAEE"/>
                      </a:solidFill>
                      <a:prstDash val="solid"/>
                    </a:lnT>
                    <a:lnB w="12700">
                      <a:solidFill>
                        <a:srgbClr val="5ECAEE"/>
                      </a:solidFill>
                      <a:prstDash val="solid"/>
                    </a:lnB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grpSp>
        <p:nvGrpSpPr>
          <p:cNvPr id="25" name="object 25"/>
          <p:cNvGrpSpPr/>
          <p:nvPr/>
        </p:nvGrpSpPr>
        <p:grpSpPr>
          <a:xfrm>
            <a:off x="6345110" y="2402408"/>
            <a:ext cx="1943100" cy="1905000"/>
            <a:chOff x="6345110" y="2402408"/>
            <a:chExt cx="1943100" cy="1905000"/>
          </a:xfrm>
        </p:grpSpPr>
        <p:pic>
          <p:nvPicPr>
            <p:cNvPr id="26" name="object 26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6355079" y="2414016"/>
              <a:ext cx="1923287" cy="1883663"/>
            </a:xfrm>
            <a:prstGeom prst="rect">
              <a:avLst/>
            </a:prstGeom>
          </p:spPr>
        </p:pic>
        <p:sp>
          <p:nvSpPr>
            <p:cNvPr id="27" name="object 27"/>
            <p:cNvSpPr/>
            <p:nvPr/>
          </p:nvSpPr>
          <p:spPr>
            <a:xfrm>
              <a:off x="6351460" y="2408758"/>
              <a:ext cx="1930400" cy="1892300"/>
            </a:xfrm>
            <a:custGeom>
              <a:avLst/>
              <a:gdLst/>
              <a:ahLst/>
              <a:cxnLst/>
              <a:rect l="l" t="t" r="r" b="b"/>
              <a:pathLst>
                <a:path w="1930400" h="1892300">
                  <a:moveTo>
                    <a:pt x="0" y="1892300"/>
                  </a:moveTo>
                  <a:lnTo>
                    <a:pt x="1930400" y="1892300"/>
                  </a:lnTo>
                  <a:lnTo>
                    <a:pt x="1930400" y="0"/>
                  </a:lnTo>
                  <a:lnTo>
                    <a:pt x="0" y="0"/>
                  </a:lnTo>
                  <a:lnTo>
                    <a:pt x="0" y="1892300"/>
                  </a:lnTo>
                  <a:close/>
                </a:path>
              </a:pathLst>
            </a:custGeom>
            <a:ln w="12700">
              <a:solidFill>
                <a:srgbClr val="5ECAEE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28" name="object 28"/>
          <p:cNvGrpSpPr/>
          <p:nvPr/>
        </p:nvGrpSpPr>
        <p:grpSpPr>
          <a:xfrm>
            <a:off x="5595467" y="4471244"/>
            <a:ext cx="3251200" cy="1155700"/>
            <a:chOff x="5595467" y="4471244"/>
            <a:chExt cx="3251200" cy="1155700"/>
          </a:xfrm>
        </p:grpSpPr>
        <p:pic>
          <p:nvPicPr>
            <p:cNvPr id="29" name="object 29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5605272" y="4483607"/>
              <a:ext cx="3230879" cy="1130808"/>
            </a:xfrm>
            <a:prstGeom prst="rect">
              <a:avLst/>
            </a:prstGeom>
          </p:spPr>
        </p:pic>
        <p:sp>
          <p:nvSpPr>
            <p:cNvPr id="30" name="object 30"/>
            <p:cNvSpPr/>
            <p:nvPr/>
          </p:nvSpPr>
          <p:spPr>
            <a:xfrm>
              <a:off x="5601817" y="4477594"/>
              <a:ext cx="3238500" cy="1143000"/>
            </a:xfrm>
            <a:custGeom>
              <a:avLst/>
              <a:gdLst/>
              <a:ahLst/>
              <a:cxnLst/>
              <a:rect l="l" t="t" r="r" b="b"/>
              <a:pathLst>
                <a:path w="3238500" h="1143000">
                  <a:moveTo>
                    <a:pt x="0" y="1142999"/>
                  </a:moveTo>
                  <a:lnTo>
                    <a:pt x="3238499" y="1142999"/>
                  </a:lnTo>
                  <a:lnTo>
                    <a:pt x="3238499" y="0"/>
                  </a:lnTo>
                  <a:lnTo>
                    <a:pt x="0" y="0"/>
                  </a:lnTo>
                  <a:lnTo>
                    <a:pt x="0" y="1142999"/>
                  </a:lnTo>
                  <a:close/>
                </a:path>
              </a:pathLst>
            </a:custGeom>
            <a:ln w="12699">
              <a:solidFill>
                <a:srgbClr val="5ECAEE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/>
          <p:nvPr/>
        </p:nvSpPr>
        <p:spPr>
          <a:xfrm>
            <a:off x="1460500" y="77787"/>
            <a:ext cx="6394450" cy="462280"/>
          </a:xfrm>
          <a:custGeom>
            <a:avLst/>
            <a:gdLst/>
            <a:ahLst/>
            <a:cxnLst/>
            <a:rect l="l" t="t" r="r" b="b"/>
            <a:pathLst>
              <a:path w="6394450" h="462280">
                <a:moveTo>
                  <a:pt x="6394450" y="0"/>
                </a:moveTo>
                <a:lnTo>
                  <a:pt x="0" y="0"/>
                </a:lnTo>
                <a:lnTo>
                  <a:pt x="0" y="461962"/>
                </a:lnTo>
                <a:lnTo>
                  <a:pt x="6394450" y="461962"/>
                </a:lnTo>
                <a:lnTo>
                  <a:pt x="6394450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1479093" y="58048"/>
            <a:ext cx="6702412" cy="443711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800" spc="-10" dirty="0"/>
              <a:t>Однофакторный</a:t>
            </a:r>
            <a:r>
              <a:rPr sz="2800" b="0" spc="-55" dirty="0">
                <a:latin typeface="Times New Roman"/>
                <a:cs typeface="Times New Roman"/>
              </a:rPr>
              <a:t> </a:t>
            </a:r>
            <a:r>
              <a:rPr sz="2800" dirty="0"/>
              <a:t>дисперсионный</a:t>
            </a:r>
            <a:r>
              <a:rPr sz="2800" b="0" spc="-55" dirty="0">
                <a:latin typeface="Times New Roman"/>
                <a:cs typeface="Times New Roman"/>
              </a:rPr>
              <a:t> </a:t>
            </a:r>
            <a:r>
              <a:rPr sz="2800" spc="-10" dirty="0"/>
              <a:t>анализ</a:t>
            </a:r>
            <a:endParaRPr sz="2800" dirty="0">
              <a:latin typeface="Times New Roman"/>
              <a:cs typeface="Times New Roman"/>
            </a:endParaRPr>
          </a:p>
        </p:txBody>
      </p:sp>
      <p:sp>
        <p:nvSpPr>
          <p:cNvPr id="55" name="Нижний колонтитул 54">
            <a:extLst>
              <a:ext uri="{FF2B5EF4-FFF2-40B4-BE49-F238E27FC236}">
                <a16:creationId xmlns:a16="http://schemas.microsoft.com/office/drawing/2014/main" id="{D520F20A-9CE7-407B-9BD6-F0C0788816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6" name="Номер слайда 55">
            <a:extLst>
              <a:ext uri="{FF2B5EF4-FFF2-40B4-BE49-F238E27FC236}">
                <a16:creationId xmlns:a16="http://schemas.microsoft.com/office/drawing/2014/main" id="{9B47F772-D4D8-443D-B0BC-D4A9A851A4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38100">
              <a:lnSpc>
                <a:spcPct val="100000"/>
              </a:lnSpc>
              <a:spcBef>
                <a:spcPts val="244"/>
              </a:spcBef>
            </a:pPr>
            <a:fld id="{81D60167-4931-47E6-BA6A-407CBD079E47}" type="slidenum">
              <a:rPr lang="ru-RU" spc="-25" smtClean="0"/>
              <a:t>43</a:t>
            </a:fld>
            <a:endParaRPr lang="ru-RU" spc="-25" dirty="0"/>
          </a:p>
        </p:txBody>
      </p:sp>
      <p:graphicFrame>
        <p:nvGraphicFramePr>
          <p:cNvPr id="5" name="object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27257520"/>
              </p:ext>
            </p:extLst>
          </p:nvPr>
        </p:nvGraphicFramePr>
        <p:xfrm>
          <a:off x="2127250" y="623887"/>
          <a:ext cx="4493895" cy="98171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49796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9796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9796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56540">
                <a:tc>
                  <a:txBody>
                    <a:bodyPr/>
                    <a:lstStyle/>
                    <a:p>
                      <a:pPr algn="ctr">
                        <a:lnSpc>
                          <a:spcPts val="1860"/>
                        </a:lnSpc>
                        <a:spcBef>
                          <a:spcPts val="60"/>
                        </a:spcBef>
                      </a:pPr>
                      <a:r>
                        <a:rPr sz="1600" b="1" dirty="0">
                          <a:solidFill>
                            <a:srgbClr val="006FBE"/>
                          </a:solidFill>
                          <a:latin typeface="Trebuchet MS"/>
                          <a:cs typeface="Trebuchet MS"/>
                        </a:rPr>
                        <a:t>Группа</a:t>
                      </a:r>
                      <a:r>
                        <a:rPr sz="1600" spc="50" dirty="0">
                          <a:solidFill>
                            <a:srgbClr val="006FBE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600" b="1" spc="-60" dirty="0">
                          <a:solidFill>
                            <a:srgbClr val="006FBE"/>
                          </a:solidFill>
                          <a:latin typeface="Trebuchet MS"/>
                          <a:cs typeface="Trebuchet MS"/>
                        </a:rPr>
                        <a:t>1</a:t>
                      </a:r>
                      <a:endParaRPr sz="1600" dirty="0">
                        <a:latin typeface="Trebuchet MS"/>
                        <a:cs typeface="Trebuchet MS"/>
                      </a:endParaRPr>
                    </a:p>
                  </a:txBody>
                  <a:tcPr marL="0" marR="0" marT="7620" marB="0">
                    <a:lnL w="12700">
                      <a:solidFill>
                        <a:srgbClr val="5ECAEE"/>
                      </a:solidFill>
                      <a:prstDash val="solid"/>
                    </a:lnL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860"/>
                        </a:lnSpc>
                        <a:spcBef>
                          <a:spcPts val="60"/>
                        </a:spcBef>
                      </a:pPr>
                      <a:r>
                        <a:rPr sz="1600" b="1" dirty="0">
                          <a:solidFill>
                            <a:srgbClr val="FF0000"/>
                          </a:solidFill>
                          <a:latin typeface="Trebuchet MS"/>
                          <a:cs typeface="Trebuchet MS"/>
                        </a:rPr>
                        <a:t>Группа</a:t>
                      </a:r>
                      <a:r>
                        <a:rPr sz="1600" spc="50" dirty="0">
                          <a:solidFill>
                            <a:srgbClr val="FF0000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600" b="1" spc="-60" dirty="0">
                          <a:solidFill>
                            <a:srgbClr val="FF0000"/>
                          </a:solidFill>
                          <a:latin typeface="Trebuchet MS"/>
                          <a:cs typeface="Trebuchet MS"/>
                        </a:rPr>
                        <a:t>2</a:t>
                      </a:r>
                      <a:endParaRPr sz="1600">
                        <a:latin typeface="Trebuchet MS"/>
                        <a:cs typeface="Trebuchet MS"/>
                      </a:endParaRPr>
                    </a:p>
                  </a:txBody>
                  <a:tcPr marL="0" marR="0" marT="7620" marB="0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860"/>
                        </a:lnSpc>
                        <a:spcBef>
                          <a:spcPts val="60"/>
                        </a:spcBef>
                      </a:pPr>
                      <a:r>
                        <a:rPr sz="1600" b="1" dirty="0">
                          <a:latin typeface="Trebuchet MS"/>
                          <a:cs typeface="Trebuchet MS"/>
                        </a:rPr>
                        <a:t>Группа</a:t>
                      </a:r>
                      <a:r>
                        <a:rPr sz="1600" spc="5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600" b="1" spc="-60" dirty="0">
                          <a:latin typeface="Trebuchet MS"/>
                          <a:cs typeface="Trebuchet MS"/>
                        </a:rPr>
                        <a:t>3</a:t>
                      </a:r>
                      <a:endParaRPr sz="1600">
                        <a:latin typeface="Trebuchet MS"/>
                        <a:cs typeface="Trebuchet MS"/>
                      </a:endParaRPr>
                    </a:p>
                  </a:txBody>
                  <a:tcPr marL="0" marR="0" marT="7620" marB="0">
                    <a:lnR w="12700">
                      <a:solidFill>
                        <a:srgbClr val="5ECAEE"/>
                      </a:solidFill>
                      <a:prstDash val="solid"/>
                    </a:ln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37490">
                <a:tc>
                  <a:txBody>
                    <a:bodyPr/>
                    <a:lstStyle/>
                    <a:p>
                      <a:pPr algn="ctr">
                        <a:lnSpc>
                          <a:spcPts val="1770"/>
                        </a:lnSpc>
                      </a:pPr>
                      <a:r>
                        <a:rPr sz="1600" b="1" spc="-50" dirty="0">
                          <a:solidFill>
                            <a:srgbClr val="006FBE"/>
                          </a:solidFill>
                          <a:latin typeface="Trebuchet MS"/>
                          <a:cs typeface="Trebuchet MS"/>
                        </a:rPr>
                        <a:t>1</a:t>
                      </a:r>
                      <a:endParaRPr sz="1600" dirty="0">
                        <a:latin typeface="Trebuchet MS"/>
                        <a:cs typeface="Trebuchet MS"/>
                      </a:endParaRPr>
                    </a:p>
                  </a:txBody>
                  <a:tcPr marL="0" marR="0" marT="0" marB="0">
                    <a:lnL w="12700">
                      <a:solidFill>
                        <a:srgbClr val="5ECAEE"/>
                      </a:solidFill>
                      <a:prstDash val="solid"/>
                    </a:lnL>
                    <a:lnB w="12700">
                      <a:solidFill>
                        <a:srgbClr val="5ECAEE"/>
                      </a:solidFill>
                      <a:prstDash val="soli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770"/>
                        </a:lnSpc>
                      </a:pPr>
                      <a:r>
                        <a:rPr sz="1600" spc="-50" dirty="0">
                          <a:solidFill>
                            <a:srgbClr val="FF0000"/>
                          </a:solidFill>
                          <a:latin typeface="Trebuchet MS"/>
                          <a:cs typeface="Trebuchet MS"/>
                        </a:rPr>
                        <a:t>3</a:t>
                      </a:r>
                      <a:endParaRPr sz="1600" dirty="0">
                        <a:latin typeface="Trebuchet MS"/>
                        <a:cs typeface="Trebuchet MS"/>
                      </a:endParaRPr>
                    </a:p>
                  </a:txBody>
                  <a:tcPr marL="0" marR="0" marT="0" marB="0">
                    <a:lnB w="12700">
                      <a:solidFill>
                        <a:srgbClr val="5ECAEE"/>
                      </a:solidFill>
                      <a:prstDash val="soli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770"/>
                        </a:lnSpc>
                      </a:pPr>
                      <a:r>
                        <a:rPr sz="1600" spc="-50" dirty="0">
                          <a:latin typeface="Trebuchet MS"/>
                          <a:cs typeface="Trebuchet MS"/>
                        </a:rPr>
                        <a:t>5</a:t>
                      </a:r>
                      <a:endParaRPr sz="1600">
                        <a:latin typeface="Trebuchet MS"/>
                        <a:cs typeface="Trebuchet MS"/>
                      </a:endParaRPr>
                    </a:p>
                  </a:txBody>
                  <a:tcPr marL="0" marR="0" marT="0" marB="0">
                    <a:lnR w="12700">
                      <a:solidFill>
                        <a:srgbClr val="5ECAEE"/>
                      </a:solidFill>
                      <a:prstDash val="solid"/>
                    </a:lnR>
                    <a:lnB w="12700">
                      <a:solidFill>
                        <a:srgbClr val="5ECAEE"/>
                      </a:solidFill>
                      <a:prstDash val="solid"/>
                    </a:lnB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43840">
                <a:tc>
                  <a:txBody>
                    <a:bodyPr/>
                    <a:lstStyle/>
                    <a:p>
                      <a:pPr algn="ctr">
                        <a:lnSpc>
                          <a:spcPts val="1814"/>
                        </a:lnSpc>
                        <a:spcBef>
                          <a:spcPts val="5"/>
                        </a:spcBef>
                      </a:pPr>
                      <a:r>
                        <a:rPr sz="1600" b="1" spc="-50" dirty="0">
                          <a:solidFill>
                            <a:srgbClr val="006FBE"/>
                          </a:solidFill>
                          <a:latin typeface="Trebuchet MS"/>
                          <a:cs typeface="Trebuchet MS"/>
                        </a:rPr>
                        <a:t>2</a:t>
                      </a:r>
                      <a:endParaRPr sz="1600">
                        <a:latin typeface="Trebuchet MS"/>
                        <a:cs typeface="Trebuchet MS"/>
                      </a:endParaRPr>
                    </a:p>
                  </a:txBody>
                  <a:tcPr marL="0" marR="0" marT="635" marB="0">
                    <a:lnL w="12700">
                      <a:solidFill>
                        <a:srgbClr val="5ECAEE"/>
                      </a:solidFill>
                      <a:prstDash val="solid"/>
                    </a:lnL>
                    <a:lnT w="12700">
                      <a:solidFill>
                        <a:srgbClr val="5ECAEE"/>
                      </a:solidFill>
                      <a:prstDash val="solid"/>
                    </a:lnT>
                    <a:lnB w="12700">
                      <a:solidFill>
                        <a:srgbClr val="5ECAEE"/>
                      </a:solidFill>
                      <a:prstDash val="soli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814"/>
                        </a:lnSpc>
                        <a:spcBef>
                          <a:spcPts val="5"/>
                        </a:spcBef>
                      </a:pPr>
                      <a:r>
                        <a:rPr sz="1600" spc="-50" dirty="0">
                          <a:solidFill>
                            <a:srgbClr val="FF0000"/>
                          </a:solidFill>
                          <a:latin typeface="Trebuchet MS"/>
                          <a:cs typeface="Trebuchet MS"/>
                        </a:rPr>
                        <a:t>4</a:t>
                      </a:r>
                      <a:endParaRPr sz="1600" dirty="0">
                        <a:latin typeface="Trebuchet MS"/>
                        <a:cs typeface="Trebuchet MS"/>
                      </a:endParaRPr>
                    </a:p>
                  </a:txBody>
                  <a:tcPr marL="0" marR="0" marT="635" marB="0">
                    <a:lnT w="12700">
                      <a:solidFill>
                        <a:srgbClr val="5ECAEE"/>
                      </a:solidFill>
                      <a:prstDash val="solid"/>
                    </a:lnT>
                    <a:lnB w="12700">
                      <a:solidFill>
                        <a:srgbClr val="5ECAEE"/>
                      </a:solidFill>
                      <a:prstDash val="soli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814"/>
                        </a:lnSpc>
                        <a:spcBef>
                          <a:spcPts val="5"/>
                        </a:spcBef>
                      </a:pPr>
                      <a:r>
                        <a:rPr sz="1600" spc="-50" dirty="0">
                          <a:latin typeface="Trebuchet MS"/>
                          <a:cs typeface="Trebuchet MS"/>
                        </a:rPr>
                        <a:t>6</a:t>
                      </a:r>
                      <a:endParaRPr sz="1600">
                        <a:latin typeface="Trebuchet MS"/>
                        <a:cs typeface="Trebuchet MS"/>
                      </a:endParaRPr>
                    </a:p>
                  </a:txBody>
                  <a:tcPr marL="0" marR="0" marT="635" marB="0">
                    <a:lnR w="12700">
                      <a:solidFill>
                        <a:srgbClr val="5ECAEE"/>
                      </a:solidFill>
                      <a:prstDash val="solid"/>
                    </a:lnR>
                    <a:lnT w="12700">
                      <a:solidFill>
                        <a:srgbClr val="5ECAEE"/>
                      </a:solidFill>
                      <a:prstDash val="solid"/>
                    </a:lnT>
                    <a:lnB w="12700">
                      <a:solidFill>
                        <a:srgbClr val="5ECAEE"/>
                      </a:solidFill>
                      <a:prstDash val="solid"/>
                    </a:lnB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43840">
                <a:tc>
                  <a:txBody>
                    <a:bodyPr/>
                    <a:lstStyle/>
                    <a:p>
                      <a:pPr algn="ctr">
                        <a:lnSpc>
                          <a:spcPts val="1814"/>
                        </a:lnSpc>
                        <a:spcBef>
                          <a:spcPts val="5"/>
                        </a:spcBef>
                      </a:pPr>
                      <a:r>
                        <a:rPr sz="1600" b="1" spc="-50" dirty="0">
                          <a:solidFill>
                            <a:srgbClr val="006FBE"/>
                          </a:solidFill>
                          <a:latin typeface="Trebuchet MS"/>
                          <a:cs typeface="Trebuchet MS"/>
                        </a:rPr>
                        <a:t>3</a:t>
                      </a:r>
                      <a:endParaRPr sz="1600" dirty="0">
                        <a:latin typeface="Trebuchet MS"/>
                        <a:cs typeface="Trebuchet MS"/>
                      </a:endParaRPr>
                    </a:p>
                  </a:txBody>
                  <a:tcPr marL="0" marR="0" marT="635" marB="0">
                    <a:lnL w="12700">
                      <a:solidFill>
                        <a:srgbClr val="5ECAEE"/>
                      </a:solidFill>
                      <a:prstDash val="solid"/>
                    </a:lnL>
                    <a:lnT w="12700">
                      <a:solidFill>
                        <a:srgbClr val="5ECAEE"/>
                      </a:solidFill>
                      <a:prstDash val="solid"/>
                    </a:lnT>
                    <a:lnB w="12700">
                      <a:solidFill>
                        <a:srgbClr val="5ECAEE"/>
                      </a:solidFill>
                      <a:prstDash val="soli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814"/>
                        </a:lnSpc>
                        <a:spcBef>
                          <a:spcPts val="5"/>
                        </a:spcBef>
                      </a:pPr>
                      <a:r>
                        <a:rPr sz="1600" spc="-50" dirty="0">
                          <a:solidFill>
                            <a:srgbClr val="FF0000"/>
                          </a:solidFill>
                          <a:latin typeface="Trebuchet MS"/>
                          <a:cs typeface="Trebuchet MS"/>
                        </a:rPr>
                        <a:t>5</a:t>
                      </a:r>
                      <a:endParaRPr sz="1600" dirty="0">
                        <a:latin typeface="Trebuchet MS"/>
                        <a:cs typeface="Trebuchet MS"/>
                      </a:endParaRPr>
                    </a:p>
                  </a:txBody>
                  <a:tcPr marL="0" marR="0" marT="635" marB="0">
                    <a:lnT w="12700">
                      <a:solidFill>
                        <a:srgbClr val="5ECAEE"/>
                      </a:solidFill>
                      <a:prstDash val="solid"/>
                    </a:lnT>
                    <a:lnB w="12700">
                      <a:solidFill>
                        <a:srgbClr val="5ECAEE"/>
                      </a:solidFill>
                      <a:prstDash val="soli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814"/>
                        </a:lnSpc>
                        <a:spcBef>
                          <a:spcPts val="5"/>
                        </a:spcBef>
                      </a:pPr>
                      <a:r>
                        <a:rPr sz="1600" spc="-50" dirty="0">
                          <a:latin typeface="Trebuchet MS"/>
                          <a:cs typeface="Trebuchet MS"/>
                        </a:rPr>
                        <a:t>7</a:t>
                      </a:r>
                      <a:endParaRPr sz="1600" dirty="0">
                        <a:latin typeface="Trebuchet MS"/>
                        <a:cs typeface="Trebuchet MS"/>
                      </a:endParaRPr>
                    </a:p>
                  </a:txBody>
                  <a:tcPr marL="0" marR="0" marT="635" marB="0">
                    <a:lnR w="12700">
                      <a:solidFill>
                        <a:srgbClr val="5ECAEE"/>
                      </a:solidFill>
                      <a:prstDash val="solid"/>
                    </a:lnR>
                    <a:lnT w="12700">
                      <a:solidFill>
                        <a:srgbClr val="5ECAEE"/>
                      </a:solidFill>
                      <a:prstDash val="solid"/>
                    </a:lnT>
                    <a:lnB w="12700">
                      <a:solidFill>
                        <a:srgbClr val="5ECAEE"/>
                      </a:solidFill>
                      <a:prstDash val="solid"/>
                    </a:lnB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6" name="object 6"/>
          <p:cNvSpPr txBox="1"/>
          <p:nvPr/>
        </p:nvSpPr>
        <p:spPr>
          <a:xfrm>
            <a:off x="712139" y="626370"/>
            <a:ext cx="1074420" cy="3302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b="1" spc="-10" dirty="0">
                <a:latin typeface="Arial"/>
                <a:cs typeface="Arial"/>
              </a:rPr>
              <a:t>Пример.</a:t>
            </a:r>
            <a:endParaRPr sz="2000">
              <a:latin typeface="Arial"/>
              <a:cs typeface="Arial"/>
            </a:endParaRPr>
          </a:p>
        </p:txBody>
      </p:sp>
      <p:pic>
        <p:nvPicPr>
          <p:cNvPr id="7" name="object 7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658368" y="1584960"/>
            <a:ext cx="7946135" cy="786384"/>
          </a:xfrm>
          <a:prstGeom prst="rect">
            <a:avLst/>
          </a:prstGeom>
        </p:spPr>
      </p:pic>
      <p:pic>
        <p:nvPicPr>
          <p:cNvPr id="9" name="object 9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638278" y="2502408"/>
            <a:ext cx="880872" cy="405384"/>
          </a:xfrm>
          <a:prstGeom prst="rect">
            <a:avLst/>
          </a:prstGeom>
        </p:spPr>
      </p:pic>
      <p:pic>
        <p:nvPicPr>
          <p:cNvPr id="12" name="object 12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1657350" y="2502408"/>
            <a:ext cx="1371600" cy="481584"/>
          </a:xfrm>
          <a:prstGeom prst="rect">
            <a:avLst/>
          </a:prstGeom>
        </p:spPr>
      </p:pic>
      <p:grpSp>
        <p:nvGrpSpPr>
          <p:cNvPr id="14" name="object 14"/>
          <p:cNvGrpSpPr/>
          <p:nvPr/>
        </p:nvGrpSpPr>
        <p:grpSpPr>
          <a:xfrm>
            <a:off x="1664493" y="3113908"/>
            <a:ext cx="1356360" cy="413384"/>
            <a:chOff x="1664493" y="3113908"/>
            <a:chExt cx="1356360" cy="413384"/>
          </a:xfrm>
        </p:grpSpPr>
        <p:pic>
          <p:nvPicPr>
            <p:cNvPr id="15" name="object 15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1670304" y="3118104"/>
              <a:ext cx="1347216" cy="402336"/>
            </a:xfrm>
            <a:prstGeom prst="rect">
              <a:avLst/>
            </a:prstGeom>
          </p:spPr>
        </p:pic>
        <p:sp>
          <p:nvSpPr>
            <p:cNvPr id="16" name="object 16"/>
            <p:cNvSpPr/>
            <p:nvPr/>
          </p:nvSpPr>
          <p:spPr>
            <a:xfrm>
              <a:off x="1670843" y="3120258"/>
              <a:ext cx="1343660" cy="400685"/>
            </a:xfrm>
            <a:custGeom>
              <a:avLst/>
              <a:gdLst/>
              <a:ahLst/>
              <a:cxnLst/>
              <a:rect l="l" t="t" r="r" b="b"/>
              <a:pathLst>
                <a:path w="1343660" h="400685">
                  <a:moveTo>
                    <a:pt x="0" y="400124"/>
                  </a:moveTo>
                  <a:lnTo>
                    <a:pt x="1343621" y="400124"/>
                  </a:lnTo>
                  <a:lnTo>
                    <a:pt x="1343621" y="0"/>
                  </a:lnTo>
                  <a:lnTo>
                    <a:pt x="0" y="0"/>
                  </a:lnTo>
                  <a:lnTo>
                    <a:pt x="0" y="400124"/>
                  </a:lnTo>
                  <a:close/>
                </a:path>
              </a:pathLst>
            </a:custGeom>
            <a:ln w="12700">
              <a:solidFill>
                <a:srgbClr val="5ECAEE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17" name="object 17"/>
          <p:cNvGrpSpPr/>
          <p:nvPr/>
        </p:nvGrpSpPr>
        <p:grpSpPr>
          <a:xfrm>
            <a:off x="4352207" y="2493220"/>
            <a:ext cx="1294130" cy="413384"/>
            <a:chOff x="4352207" y="2493220"/>
            <a:chExt cx="1294130" cy="413384"/>
          </a:xfrm>
        </p:grpSpPr>
        <p:pic>
          <p:nvPicPr>
            <p:cNvPr id="18" name="object 18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4355592" y="2499360"/>
              <a:ext cx="1286256" cy="402336"/>
            </a:xfrm>
            <a:prstGeom prst="rect">
              <a:avLst/>
            </a:prstGeom>
          </p:spPr>
        </p:pic>
        <p:sp>
          <p:nvSpPr>
            <p:cNvPr id="19" name="object 19"/>
            <p:cNvSpPr/>
            <p:nvPr/>
          </p:nvSpPr>
          <p:spPr>
            <a:xfrm>
              <a:off x="4358557" y="2499570"/>
              <a:ext cx="1281430" cy="400685"/>
            </a:xfrm>
            <a:custGeom>
              <a:avLst/>
              <a:gdLst/>
              <a:ahLst/>
              <a:cxnLst/>
              <a:rect l="l" t="t" r="r" b="b"/>
              <a:pathLst>
                <a:path w="1281429" h="400685">
                  <a:moveTo>
                    <a:pt x="0" y="400099"/>
                  </a:moveTo>
                  <a:lnTo>
                    <a:pt x="1280941" y="400099"/>
                  </a:lnTo>
                  <a:lnTo>
                    <a:pt x="1280941" y="0"/>
                  </a:lnTo>
                  <a:lnTo>
                    <a:pt x="0" y="0"/>
                  </a:lnTo>
                  <a:lnTo>
                    <a:pt x="0" y="400099"/>
                  </a:lnTo>
                  <a:close/>
                </a:path>
              </a:pathLst>
            </a:custGeom>
            <a:ln w="12700">
              <a:solidFill>
                <a:srgbClr val="5ECAEE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pic>
        <p:nvPicPr>
          <p:cNvPr id="21" name="object 21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4355592" y="3099329"/>
            <a:ext cx="1411224" cy="402336"/>
          </a:xfrm>
          <a:prstGeom prst="rect">
            <a:avLst/>
          </a:prstGeom>
        </p:spPr>
      </p:pic>
      <p:grpSp>
        <p:nvGrpSpPr>
          <p:cNvPr id="23" name="object 23"/>
          <p:cNvGrpSpPr/>
          <p:nvPr/>
        </p:nvGrpSpPr>
        <p:grpSpPr>
          <a:xfrm>
            <a:off x="6063430" y="2493220"/>
            <a:ext cx="1301115" cy="413384"/>
            <a:chOff x="6063430" y="2493220"/>
            <a:chExt cx="1301115" cy="413384"/>
          </a:xfrm>
        </p:grpSpPr>
        <p:pic>
          <p:nvPicPr>
            <p:cNvPr id="24" name="object 24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6068567" y="2499360"/>
              <a:ext cx="1292352" cy="402336"/>
            </a:xfrm>
            <a:prstGeom prst="rect">
              <a:avLst/>
            </a:prstGeom>
          </p:spPr>
        </p:pic>
        <p:sp>
          <p:nvSpPr>
            <p:cNvPr id="25" name="object 25"/>
            <p:cNvSpPr/>
            <p:nvPr/>
          </p:nvSpPr>
          <p:spPr>
            <a:xfrm>
              <a:off x="6069780" y="2499570"/>
              <a:ext cx="1288415" cy="400685"/>
            </a:xfrm>
            <a:custGeom>
              <a:avLst/>
              <a:gdLst/>
              <a:ahLst/>
              <a:cxnLst/>
              <a:rect l="l" t="t" r="r" b="b"/>
              <a:pathLst>
                <a:path w="1288415" h="400685">
                  <a:moveTo>
                    <a:pt x="0" y="400099"/>
                  </a:moveTo>
                  <a:lnTo>
                    <a:pt x="1288402" y="400099"/>
                  </a:lnTo>
                  <a:lnTo>
                    <a:pt x="1288402" y="0"/>
                  </a:lnTo>
                  <a:lnTo>
                    <a:pt x="0" y="0"/>
                  </a:lnTo>
                  <a:lnTo>
                    <a:pt x="0" y="400099"/>
                  </a:lnTo>
                  <a:close/>
                </a:path>
              </a:pathLst>
            </a:custGeom>
            <a:ln w="12699">
              <a:solidFill>
                <a:srgbClr val="5ECAEE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pic>
        <p:nvPicPr>
          <p:cNvPr id="27" name="object 27"/>
          <p:cNvPicPr/>
          <p:nvPr/>
        </p:nvPicPr>
        <p:blipFill>
          <a:blip r:embed="rId10" cstate="print"/>
          <a:stretch>
            <a:fillRect/>
          </a:stretch>
        </p:blipFill>
        <p:spPr>
          <a:xfrm>
            <a:off x="6047682" y="3085148"/>
            <a:ext cx="1359408" cy="402336"/>
          </a:xfrm>
          <a:prstGeom prst="rect">
            <a:avLst/>
          </a:prstGeom>
        </p:spPr>
      </p:pic>
      <p:sp>
        <p:nvSpPr>
          <p:cNvPr id="29" name="object 29"/>
          <p:cNvSpPr/>
          <p:nvPr/>
        </p:nvSpPr>
        <p:spPr>
          <a:xfrm>
            <a:off x="3382856" y="3983121"/>
            <a:ext cx="314325" cy="266700"/>
          </a:xfrm>
          <a:custGeom>
            <a:avLst/>
            <a:gdLst/>
            <a:ahLst/>
            <a:cxnLst/>
            <a:rect l="l" t="t" r="r" b="b"/>
            <a:pathLst>
              <a:path w="314325" h="266700">
                <a:moveTo>
                  <a:pt x="314325" y="0"/>
                </a:moveTo>
                <a:lnTo>
                  <a:pt x="0" y="266700"/>
                </a:lnTo>
              </a:path>
            </a:pathLst>
          </a:custGeom>
          <a:ln w="127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0" name="object 30"/>
          <p:cNvSpPr/>
          <p:nvPr/>
        </p:nvSpPr>
        <p:spPr>
          <a:xfrm>
            <a:off x="4904460" y="3993583"/>
            <a:ext cx="361950" cy="266700"/>
          </a:xfrm>
          <a:custGeom>
            <a:avLst/>
            <a:gdLst/>
            <a:ahLst/>
            <a:cxnLst/>
            <a:rect l="l" t="t" r="r" b="b"/>
            <a:pathLst>
              <a:path w="361950" h="266700">
                <a:moveTo>
                  <a:pt x="0" y="0"/>
                </a:moveTo>
                <a:lnTo>
                  <a:pt x="361950" y="266700"/>
                </a:lnTo>
              </a:path>
            </a:pathLst>
          </a:custGeom>
          <a:ln w="127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1" name="object 31"/>
          <p:cNvSpPr txBox="1"/>
          <p:nvPr/>
        </p:nvSpPr>
        <p:spPr>
          <a:xfrm>
            <a:off x="3900195" y="3745483"/>
            <a:ext cx="91694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Arial"/>
                <a:cs typeface="Arial"/>
              </a:rPr>
              <a:t>SST</a:t>
            </a:r>
            <a:r>
              <a:rPr sz="1800" spc="5" dirty="0">
                <a:latin typeface="Times New Roman"/>
                <a:cs typeface="Times New Roman"/>
              </a:rPr>
              <a:t> </a:t>
            </a:r>
            <a:r>
              <a:rPr sz="1800" spc="-25" dirty="0">
                <a:latin typeface="Arial"/>
                <a:cs typeface="Arial"/>
              </a:rPr>
              <a:t>=30</a:t>
            </a:r>
            <a:endParaRPr sz="1800">
              <a:latin typeface="Arial"/>
              <a:cs typeface="Arial"/>
            </a:endParaRPr>
          </a:p>
        </p:txBody>
      </p:sp>
      <p:sp>
        <p:nvSpPr>
          <p:cNvPr id="32" name="object 32"/>
          <p:cNvSpPr txBox="1"/>
          <p:nvPr/>
        </p:nvSpPr>
        <p:spPr>
          <a:xfrm>
            <a:off x="2412152" y="4201288"/>
            <a:ext cx="73723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10" dirty="0">
                <a:latin typeface="Arial"/>
                <a:cs typeface="Arial"/>
              </a:rPr>
              <a:t>SSB24</a:t>
            </a:r>
            <a:endParaRPr sz="1800" dirty="0">
              <a:latin typeface="Arial"/>
              <a:cs typeface="Arial"/>
            </a:endParaRPr>
          </a:p>
        </p:txBody>
      </p:sp>
      <p:sp>
        <p:nvSpPr>
          <p:cNvPr id="33" name="object 33"/>
          <p:cNvSpPr txBox="1"/>
          <p:nvPr/>
        </p:nvSpPr>
        <p:spPr>
          <a:xfrm>
            <a:off x="5419343" y="4249821"/>
            <a:ext cx="80645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10" dirty="0">
                <a:latin typeface="Arial"/>
                <a:cs typeface="Arial"/>
              </a:rPr>
              <a:t>SSW=6</a:t>
            </a:r>
            <a:endParaRPr sz="1800" dirty="0">
              <a:latin typeface="Arial"/>
              <a:cs typeface="Arial"/>
            </a:endParaRPr>
          </a:p>
        </p:txBody>
      </p:sp>
      <p:grpSp>
        <p:nvGrpSpPr>
          <p:cNvPr id="34" name="object 34"/>
          <p:cNvGrpSpPr/>
          <p:nvPr/>
        </p:nvGrpSpPr>
        <p:grpSpPr>
          <a:xfrm>
            <a:off x="947098" y="4583687"/>
            <a:ext cx="2950210" cy="735965"/>
            <a:chOff x="608285" y="4728736"/>
            <a:chExt cx="2950210" cy="735965"/>
          </a:xfrm>
        </p:grpSpPr>
        <p:pic>
          <p:nvPicPr>
            <p:cNvPr id="35" name="object 35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612647" y="4733543"/>
              <a:ext cx="2941319" cy="725424"/>
            </a:xfrm>
            <a:prstGeom prst="rect">
              <a:avLst/>
            </a:prstGeom>
          </p:spPr>
        </p:pic>
        <p:sp>
          <p:nvSpPr>
            <p:cNvPr id="36" name="object 36"/>
            <p:cNvSpPr/>
            <p:nvPr/>
          </p:nvSpPr>
          <p:spPr>
            <a:xfrm>
              <a:off x="614635" y="4735086"/>
              <a:ext cx="2937510" cy="723265"/>
            </a:xfrm>
            <a:custGeom>
              <a:avLst/>
              <a:gdLst/>
              <a:ahLst/>
              <a:cxnLst/>
              <a:rect l="l" t="t" r="r" b="b"/>
              <a:pathLst>
                <a:path w="2937510" h="723264">
                  <a:moveTo>
                    <a:pt x="0" y="722884"/>
                  </a:moveTo>
                  <a:lnTo>
                    <a:pt x="2937148" y="722884"/>
                  </a:lnTo>
                  <a:lnTo>
                    <a:pt x="2937148" y="0"/>
                  </a:lnTo>
                  <a:lnTo>
                    <a:pt x="0" y="0"/>
                  </a:lnTo>
                  <a:lnTo>
                    <a:pt x="0" y="722884"/>
                  </a:lnTo>
                  <a:close/>
                </a:path>
              </a:pathLst>
            </a:custGeom>
            <a:ln w="12700">
              <a:solidFill>
                <a:srgbClr val="5ECAEE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pic>
        <p:nvPicPr>
          <p:cNvPr id="38" name="object 38"/>
          <p:cNvPicPr/>
          <p:nvPr/>
        </p:nvPicPr>
        <p:blipFill>
          <a:blip r:embed="rId12" cstate="print"/>
          <a:stretch>
            <a:fillRect/>
          </a:stretch>
        </p:blipFill>
        <p:spPr>
          <a:xfrm>
            <a:off x="4411827" y="4586455"/>
            <a:ext cx="2764536" cy="725423"/>
          </a:xfrm>
          <a:prstGeom prst="rect">
            <a:avLst/>
          </a:prstGeom>
        </p:spPr>
      </p:pic>
      <p:pic>
        <p:nvPicPr>
          <p:cNvPr id="41" name="object 41"/>
          <p:cNvPicPr/>
          <p:nvPr/>
        </p:nvPicPr>
        <p:blipFill>
          <a:blip r:embed="rId13" cstate="print"/>
          <a:stretch>
            <a:fillRect/>
          </a:stretch>
        </p:blipFill>
        <p:spPr>
          <a:xfrm>
            <a:off x="742390" y="5436762"/>
            <a:ext cx="2542032" cy="725424"/>
          </a:xfrm>
          <a:prstGeom prst="rect">
            <a:avLst/>
          </a:prstGeom>
        </p:spPr>
      </p:pic>
      <p:sp>
        <p:nvSpPr>
          <p:cNvPr id="45" name="object 45"/>
          <p:cNvSpPr txBox="1"/>
          <p:nvPr/>
        </p:nvSpPr>
        <p:spPr>
          <a:xfrm>
            <a:off x="3540018" y="5426762"/>
            <a:ext cx="1770380" cy="462280"/>
          </a:xfrm>
          <a:prstGeom prst="rect">
            <a:avLst/>
          </a:prstGeom>
          <a:ln w="12700">
            <a:solidFill>
              <a:srgbClr val="5ECAEE"/>
            </a:solidFill>
          </a:ln>
        </p:spPr>
        <p:txBody>
          <a:bodyPr vert="horz" wrap="square" lIns="0" tIns="97155" rIns="0" bIns="0" rtlCol="0">
            <a:spAutoFit/>
          </a:bodyPr>
          <a:lstStyle/>
          <a:p>
            <a:pPr marL="90805">
              <a:lnSpc>
                <a:spcPts val="2870"/>
              </a:lnSpc>
              <a:spcBef>
                <a:spcPts val="765"/>
              </a:spcBef>
            </a:pPr>
            <a:r>
              <a:rPr sz="3600" i="1" baseline="11574" dirty="0">
                <a:latin typeface="Times New Roman"/>
                <a:cs typeface="Times New Roman"/>
              </a:rPr>
              <a:t>F</a:t>
            </a:r>
            <a:r>
              <a:rPr sz="1600" i="1" dirty="0">
                <a:latin typeface="Times New Roman"/>
                <a:cs typeface="Times New Roman"/>
              </a:rPr>
              <a:t>0,05;</a:t>
            </a:r>
            <a:r>
              <a:rPr sz="1600" spc="-30" dirty="0">
                <a:latin typeface="Times New Roman"/>
                <a:cs typeface="Times New Roman"/>
              </a:rPr>
              <a:t> </a:t>
            </a:r>
            <a:r>
              <a:rPr sz="1600" i="1" dirty="0">
                <a:latin typeface="Times New Roman"/>
                <a:cs typeface="Times New Roman"/>
              </a:rPr>
              <a:t>2;6</a:t>
            </a:r>
            <a:r>
              <a:rPr sz="1600" spc="-25" dirty="0">
                <a:latin typeface="Times New Roman"/>
                <a:cs typeface="Times New Roman"/>
              </a:rPr>
              <a:t> </a:t>
            </a:r>
            <a:r>
              <a:rPr sz="3600" i="1" spc="-30" baseline="11574" dirty="0">
                <a:latin typeface="Times New Roman"/>
                <a:cs typeface="Times New Roman"/>
              </a:rPr>
              <a:t>=5,1</a:t>
            </a:r>
            <a:endParaRPr sz="3600" baseline="11574" dirty="0">
              <a:latin typeface="Times New Roman"/>
              <a:cs typeface="Times New Roman"/>
            </a:endParaRPr>
          </a:p>
        </p:txBody>
      </p:sp>
      <p:pic>
        <p:nvPicPr>
          <p:cNvPr id="47" name="object 47"/>
          <p:cNvPicPr/>
          <p:nvPr/>
        </p:nvPicPr>
        <p:blipFill>
          <a:blip r:embed="rId14" cstate="print"/>
          <a:stretch>
            <a:fillRect/>
          </a:stretch>
        </p:blipFill>
        <p:spPr>
          <a:xfrm>
            <a:off x="5602987" y="5427289"/>
            <a:ext cx="3560063" cy="481584"/>
          </a:xfrm>
          <a:prstGeom prst="rect">
            <a:avLst/>
          </a:prstGeom>
        </p:spPr>
      </p:pic>
      <p:sp>
        <p:nvSpPr>
          <p:cNvPr id="49" name="object 49"/>
          <p:cNvSpPr txBox="1"/>
          <p:nvPr/>
        </p:nvSpPr>
        <p:spPr>
          <a:xfrm>
            <a:off x="3446998" y="6001886"/>
            <a:ext cx="5614340" cy="320601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88265">
              <a:lnSpc>
                <a:spcPct val="100000"/>
              </a:lnSpc>
              <a:spcBef>
                <a:spcPts val="100"/>
              </a:spcBef>
            </a:pPr>
            <a:r>
              <a:rPr sz="2000" dirty="0">
                <a:latin typeface="Arial"/>
                <a:cs typeface="Arial"/>
              </a:rPr>
              <a:t>Есть</a:t>
            </a:r>
            <a:r>
              <a:rPr sz="2000" spc="-4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Arial"/>
                <a:cs typeface="Arial"/>
              </a:rPr>
              <a:t>существенные</a:t>
            </a:r>
            <a:r>
              <a:rPr sz="2000" spc="-3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Arial"/>
                <a:cs typeface="Arial"/>
              </a:rPr>
              <a:t>различия</a:t>
            </a:r>
            <a:r>
              <a:rPr sz="2000" spc="-3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Arial"/>
                <a:cs typeface="Arial"/>
              </a:rPr>
              <a:t>между</a:t>
            </a:r>
            <a:r>
              <a:rPr sz="2000" spc="-30" dirty="0">
                <a:latin typeface="Times New Roman"/>
                <a:cs typeface="Times New Roman"/>
              </a:rPr>
              <a:t> </a:t>
            </a:r>
            <a:r>
              <a:rPr sz="2000" spc="-10" dirty="0">
                <a:latin typeface="Arial"/>
                <a:cs typeface="Arial"/>
              </a:rPr>
              <a:t>группами</a:t>
            </a:r>
            <a:endParaRPr sz="2000" dirty="0">
              <a:latin typeface="Arial"/>
              <a:cs typeface="Arial"/>
            </a:endParaRPr>
          </a:p>
        </p:txBody>
      </p:sp>
      <p:grpSp>
        <p:nvGrpSpPr>
          <p:cNvPr id="50" name="object 50"/>
          <p:cNvGrpSpPr/>
          <p:nvPr/>
        </p:nvGrpSpPr>
        <p:grpSpPr>
          <a:xfrm>
            <a:off x="3289300" y="2419794"/>
            <a:ext cx="890269" cy="1182370"/>
            <a:chOff x="3289300" y="2419794"/>
            <a:chExt cx="890269" cy="1182370"/>
          </a:xfrm>
        </p:grpSpPr>
        <p:pic>
          <p:nvPicPr>
            <p:cNvPr id="51" name="object 51"/>
            <p:cNvPicPr/>
            <p:nvPr/>
          </p:nvPicPr>
          <p:blipFill>
            <a:blip r:embed="rId15" cstate="print"/>
            <a:stretch>
              <a:fillRect/>
            </a:stretch>
          </p:blipFill>
          <p:spPr>
            <a:xfrm>
              <a:off x="3396794" y="2432304"/>
              <a:ext cx="772869" cy="1158239"/>
            </a:xfrm>
            <a:prstGeom prst="rect">
              <a:avLst/>
            </a:prstGeom>
          </p:spPr>
        </p:pic>
        <p:sp>
          <p:nvSpPr>
            <p:cNvPr id="52" name="object 52"/>
            <p:cNvSpPr/>
            <p:nvPr/>
          </p:nvSpPr>
          <p:spPr>
            <a:xfrm>
              <a:off x="3295650" y="2426144"/>
              <a:ext cx="877569" cy="1169670"/>
            </a:xfrm>
            <a:custGeom>
              <a:avLst/>
              <a:gdLst/>
              <a:ahLst/>
              <a:cxnLst/>
              <a:rect l="l" t="t" r="r" b="b"/>
              <a:pathLst>
                <a:path w="877570" h="1169670">
                  <a:moveTo>
                    <a:pt x="0" y="1169543"/>
                  </a:moveTo>
                  <a:lnTo>
                    <a:pt x="877512" y="1169543"/>
                  </a:lnTo>
                  <a:lnTo>
                    <a:pt x="877512" y="0"/>
                  </a:lnTo>
                  <a:lnTo>
                    <a:pt x="0" y="0"/>
                  </a:lnTo>
                  <a:lnTo>
                    <a:pt x="0" y="1169543"/>
                  </a:lnTo>
                  <a:close/>
                </a:path>
              </a:pathLst>
            </a:custGeom>
            <a:ln w="12699">
              <a:solidFill>
                <a:srgbClr val="5ECAEE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378174" y="221996"/>
            <a:ext cx="270192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20" dirty="0">
                <a:latin typeface="Arial"/>
                <a:cs typeface="Arial"/>
              </a:rPr>
              <a:t>Пост-</a:t>
            </a:r>
            <a:r>
              <a:rPr sz="2400" dirty="0">
                <a:latin typeface="Arial"/>
                <a:cs typeface="Arial"/>
              </a:rPr>
              <a:t>хок</a:t>
            </a:r>
            <a:r>
              <a:rPr sz="2400" b="0" spc="35" dirty="0">
                <a:latin typeface="Times New Roman"/>
                <a:cs typeface="Times New Roman"/>
              </a:rPr>
              <a:t> </a:t>
            </a:r>
            <a:r>
              <a:rPr sz="2400" spc="-20" dirty="0">
                <a:latin typeface="Arial"/>
                <a:cs typeface="Arial"/>
              </a:rPr>
              <a:t>тесты</a:t>
            </a:r>
            <a:endParaRPr sz="2400" dirty="0">
              <a:latin typeface="Arial"/>
              <a:cs typeface="Arial"/>
            </a:endParaRPr>
          </a:p>
        </p:txBody>
      </p:sp>
      <p:sp>
        <p:nvSpPr>
          <p:cNvPr id="7" name="Нижний колонтитул 6">
            <a:extLst>
              <a:ext uri="{FF2B5EF4-FFF2-40B4-BE49-F238E27FC236}">
                <a16:creationId xmlns:a16="http://schemas.microsoft.com/office/drawing/2014/main" id="{CE0CE26D-499D-4DB7-9A87-45FE59CF34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3" name="object 3"/>
          <p:cNvSpPr/>
          <p:nvPr/>
        </p:nvSpPr>
        <p:spPr>
          <a:xfrm>
            <a:off x="581025" y="665162"/>
            <a:ext cx="8295005" cy="1938655"/>
          </a:xfrm>
          <a:custGeom>
            <a:avLst/>
            <a:gdLst/>
            <a:ahLst/>
            <a:cxnLst/>
            <a:rect l="l" t="t" r="r" b="b"/>
            <a:pathLst>
              <a:path w="8295005" h="1938655">
                <a:moveTo>
                  <a:pt x="8294687" y="0"/>
                </a:moveTo>
                <a:lnTo>
                  <a:pt x="0" y="0"/>
                </a:lnTo>
                <a:lnTo>
                  <a:pt x="0" y="1938337"/>
                </a:lnTo>
                <a:lnTo>
                  <a:pt x="8294687" y="1938337"/>
                </a:lnTo>
                <a:lnTo>
                  <a:pt x="8294687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659710" y="684288"/>
            <a:ext cx="8136890" cy="375031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b="1" dirty="0">
                <a:latin typeface="Arial"/>
                <a:cs typeface="Arial"/>
              </a:rPr>
              <a:t>Свойства</a:t>
            </a:r>
            <a:r>
              <a:rPr sz="2000" spc="-35" dirty="0">
                <a:latin typeface="Times New Roman"/>
                <a:cs typeface="Times New Roman"/>
              </a:rPr>
              <a:t> </a:t>
            </a:r>
            <a:r>
              <a:rPr sz="2000" b="1" spc="-20" dirty="0">
                <a:latin typeface="Arial"/>
                <a:cs typeface="Arial"/>
              </a:rPr>
              <a:t>пост-</a:t>
            </a:r>
            <a:r>
              <a:rPr sz="2000" b="1" dirty="0">
                <a:latin typeface="Arial"/>
                <a:cs typeface="Arial"/>
              </a:rPr>
              <a:t>хок</a:t>
            </a:r>
            <a:r>
              <a:rPr sz="2000" spc="-30" dirty="0">
                <a:latin typeface="Times New Roman"/>
                <a:cs typeface="Times New Roman"/>
              </a:rPr>
              <a:t> </a:t>
            </a:r>
            <a:r>
              <a:rPr sz="2000" b="1" spc="-10" dirty="0">
                <a:latin typeface="Arial"/>
                <a:cs typeface="Arial"/>
              </a:rPr>
              <a:t>тестов</a:t>
            </a:r>
            <a:endParaRPr sz="2000" dirty="0">
              <a:latin typeface="Arial"/>
              <a:cs typeface="Arial"/>
            </a:endParaRPr>
          </a:p>
          <a:p>
            <a:pPr marL="129539" indent="-123825" algn="just">
              <a:lnSpc>
                <a:spcPct val="100000"/>
              </a:lnSpc>
              <a:buSzPct val="95000"/>
              <a:buFont typeface="Symbol"/>
              <a:buChar char=""/>
              <a:tabLst>
                <a:tab pos="129539" algn="l"/>
              </a:tabLst>
            </a:pPr>
            <a:r>
              <a:rPr sz="2000" spc="-10" dirty="0">
                <a:latin typeface="Arial"/>
                <a:cs typeface="Arial"/>
              </a:rPr>
              <a:t>post-</a:t>
            </a:r>
            <a:r>
              <a:rPr sz="2000" dirty="0">
                <a:latin typeface="Arial"/>
                <a:cs typeface="Arial"/>
              </a:rPr>
              <a:t>hoc</a:t>
            </a:r>
            <a:r>
              <a:rPr sz="2000" spc="-4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Arial"/>
                <a:cs typeface="Arial"/>
              </a:rPr>
              <a:t>тесты</a:t>
            </a:r>
            <a:r>
              <a:rPr sz="2000" spc="-3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Arial"/>
                <a:cs typeface="Arial"/>
              </a:rPr>
              <a:t>применяются</a:t>
            </a:r>
            <a:r>
              <a:rPr sz="2000" spc="-3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Arial"/>
                <a:cs typeface="Arial"/>
              </a:rPr>
              <a:t>когда</a:t>
            </a:r>
            <a:r>
              <a:rPr sz="2000" spc="-3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Arial"/>
                <a:cs typeface="Arial"/>
              </a:rPr>
              <a:t>влияние</a:t>
            </a:r>
            <a:r>
              <a:rPr sz="2000" spc="-3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Arial"/>
                <a:cs typeface="Arial"/>
              </a:rPr>
              <a:t>фактора</a:t>
            </a:r>
            <a:r>
              <a:rPr sz="2000" spc="-35" dirty="0">
                <a:latin typeface="Times New Roman"/>
                <a:cs typeface="Times New Roman"/>
              </a:rPr>
              <a:t> </a:t>
            </a:r>
            <a:r>
              <a:rPr sz="2000" spc="-10" dirty="0">
                <a:latin typeface="Arial"/>
                <a:cs typeface="Arial"/>
              </a:rPr>
              <a:t>значимо;</a:t>
            </a:r>
            <a:endParaRPr sz="2000" dirty="0">
              <a:latin typeface="Arial"/>
              <a:cs typeface="Arial"/>
            </a:endParaRPr>
          </a:p>
          <a:p>
            <a:pPr marL="129539" indent="-123825" algn="just">
              <a:lnSpc>
                <a:spcPct val="100000"/>
              </a:lnSpc>
              <a:buSzPct val="95000"/>
              <a:buFont typeface="Symbol"/>
              <a:buChar char=""/>
              <a:tabLst>
                <a:tab pos="129539" algn="l"/>
              </a:tabLst>
            </a:pPr>
            <a:r>
              <a:rPr sz="2000" dirty="0">
                <a:latin typeface="Arial"/>
                <a:cs typeface="Arial"/>
              </a:rPr>
              <a:t>делают</a:t>
            </a:r>
            <a:r>
              <a:rPr sz="2000" spc="-1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Arial"/>
                <a:cs typeface="Arial"/>
              </a:rPr>
              <a:t>поправку</a:t>
            </a:r>
            <a:r>
              <a:rPr sz="200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Arial"/>
                <a:cs typeface="Arial"/>
              </a:rPr>
              <a:t>для</a:t>
            </a:r>
            <a:r>
              <a:rPr sz="200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Arial"/>
                <a:cs typeface="Arial"/>
              </a:rPr>
              <a:t>снижения</a:t>
            </a:r>
            <a:r>
              <a:rPr sz="2000" spc="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Arial"/>
                <a:cs typeface="Arial"/>
              </a:rPr>
              <a:t>вероятности</a:t>
            </a:r>
            <a:r>
              <a:rPr sz="2000" spc="-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Arial"/>
                <a:cs typeface="Arial"/>
              </a:rPr>
              <a:t>ошибки</a:t>
            </a:r>
            <a:r>
              <a:rPr sz="2000" spc="-1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Arial"/>
                <a:cs typeface="Arial"/>
              </a:rPr>
              <a:t>I</a:t>
            </a:r>
            <a:r>
              <a:rPr sz="2000" spc="-10" dirty="0">
                <a:latin typeface="Times New Roman"/>
                <a:cs typeface="Times New Roman"/>
              </a:rPr>
              <a:t> </a:t>
            </a:r>
            <a:r>
              <a:rPr sz="2000" spc="-10" dirty="0">
                <a:latin typeface="Arial"/>
                <a:cs typeface="Arial"/>
              </a:rPr>
              <a:t>рода;</a:t>
            </a:r>
            <a:endParaRPr sz="2000" dirty="0">
              <a:latin typeface="Arial"/>
              <a:cs typeface="Arial"/>
            </a:endParaRPr>
          </a:p>
          <a:p>
            <a:pPr marL="12700" marR="5080" indent="-6985" algn="just">
              <a:lnSpc>
                <a:spcPct val="100000"/>
              </a:lnSpc>
              <a:buSzPct val="95000"/>
              <a:buFont typeface="Symbol"/>
              <a:buChar char=""/>
              <a:tabLst>
                <a:tab pos="129539" algn="l"/>
                <a:tab pos="1583055" algn="l"/>
                <a:tab pos="2857500" algn="l"/>
                <a:tab pos="4134485" algn="l"/>
                <a:tab pos="5072380" algn="l"/>
                <a:tab pos="6401435" algn="l"/>
                <a:tab pos="7981315" algn="l"/>
              </a:tabLst>
            </a:pPr>
            <a:r>
              <a:rPr sz="2000" spc="-10" dirty="0">
                <a:latin typeface="Arial"/>
                <a:cs typeface="Arial"/>
              </a:rPr>
              <a:t>	учитывают</a:t>
            </a:r>
            <a:r>
              <a:rPr sz="2000" dirty="0">
                <a:latin typeface="Times New Roman"/>
                <a:cs typeface="Times New Roman"/>
              </a:rPr>
              <a:t>	</a:t>
            </a:r>
            <a:r>
              <a:rPr sz="2000" spc="-10" dirty="0">
                <a:latin typeface="Arial"/>
                <a:cs typeface="Arial"/>
              </a:rPr>
              <a:t>величину</a:t>
            </a:r>
            <a:r>
              <a:rPr sz="2000" dirty="0">
                <a:latin typeface="Times New Roman"/>
                <a:cs typeface="Times New Roman"/>
              </a:rPr>
              <a:t>	</a:t>
            </a:r>
            <a:r>
              <a:rPr sz="2000" spc="-10" dirty="0">
                <a:latin typeface="Arial"/>
                <a:cs typeface="Arial"/>
              </a:rPr>
              <a:t>различий</a:t>
            </a:r>
            <a:r>
              <a:rPr sz="2000" dirty="0">
                <a:latin typeface="Times New Roman"/>
                <a:cs typeface="Times New Roman"/>
              </a:rPr>
              <a:t>	</a:t>
            </a:r>
            <a:r>
              <a:rPr sz="2000" spc="-10" dirty="0">
                <a:latin typeface="Arial"/>
                <a:cs typeface="Arial"/>
              </a:rPr>
              <a:t>между</a:t>
            </a:r>
            <a:r>
              <a:rPr sz="2000" dirty="0">
                <a:latin typeface="Times New Roman"/>
                <a:cs typeface="Times New Roman"/>
              </a:rPr>
              <a:t>	</a:t>
            </a:r>
            <a:r>
              <a:rPr sz="2000" spc="-10" dirty="0">
                <a:latin typeface="Arial"/>
                <a:cs typeface="Arial"/>
              </a:rPr>
              <a:t>средними</a:t>
            </a:r>
            <a:r>
              <a:rPr sz="2000" dirty="0">
                <a:latin typeface="Times New Roman"/>
                <a:cs typeface="Times New Roman"/>
              </a:rPr>
              <a:t>	</a:t>
            </a:r>
            <a:r>
              <a:rPr sz="2000" spc="-10" dirty="0">
                <a:latin typeface="Arial"/>
                <a:cs typeface="Arial"/>
              </a:rPr>
              <a:t>значениями</a:t>
            </a:r>
            <a:r>
              <a:rPr sz="2000" dirty="0">
                <a:latin typeface="Times New Roman"/>
                <a:cs typeface="Times New Roman"/>
              </a:rPr>
              <a:t>	</a:t>
            </a:r>
            <a:r>
              <a:rPr sz="2000" spc="-50" dirty="0">
                <a:latin typeface="Arial"/>
                <a:cs typeface="Arial"/>
              </a:rPr>
              <a:t>и</a:t>
            </a:r>
            <a:r>
              <a:rPr sz="2000" spc="-5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Arial"/>
                <a:cs typeface="Arial"/>
              </a:rPr>
              <a:t>количество</a:t>
            </a:r>
            <a:r>
              <a:rPr sz="2000" spc="-1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Arial"/>
                <a:cs typeface="Arial"/>
              </a:rPr>
              <a:t>сравниваемых</a:t>
            </a:r>
            <a:r>
              <a:rPr sz="2000" spc="-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Arial"/>
                <a:cs typeface="Arial"/>
              </a:rPr>
              <a:t>между</a:t>
            </a:r>
            <a:r>
              <a:rPr sz="2000" spc="-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Arial"/>
                <a:cs typeface="Arial"/>
              </a:rPr>
              <a:t>собой</a:t>
            </a:r>
            <a:r>
              <a:rPr sz="2000" spc="-10" dirty="0">
                <a:latin typeface="Times New Roman"/>
                <a:cs typeface="Times New Roman"/>
              </a:rPr>
              <a:t> </a:t>
            </a:r>
            <a:r>
              <a:rPr sz="2000" spc="-20" dirty="0">
                <a:latin typeface="Arial"/>
                <a:cs typeface="Arial"/>
              </a:rPr>
              <a:t>пар;</a:t>
            </a:r>
            <a:endParaRPr sz="2000" dirty="0">
              <a:latin typeface="Arial"/>
              <a:cs typeface="Arial"/>
            </a:endParaRPr>
          </a:p>
          <a:p>
            <a:pPr marL="129539" indent="-123825" algn="just">
              <a:lnSpc>
                <a:spcPct val="100000"/>
              </a:lnSpc>
              <a:buSzPct val="95000"/>
              <a:buFont typeface="Symbol"/>
              <a:buChar char=""/>
              <a:tabLst>
                <a:tab pos="129539" algn="l"/>
              </a:tabLst>
            </a:pPr>
            <a:r>
              <a:rPr sz="2000" spc="-10" dirty="0">
                <a:latin typeface="Arial"/>
                <a:cs typeface="Arial"/>
              </a:rPr>
              <a:t>отличаются</a:t>
            </a:r>
            <a:r>
              <a:rPr sz="2000" spc="-2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Arial"/>
                <a:cs typeface="Arial"/>
              </a:rPr>
              <a:t>по</a:t>
            </a:r>
            <a:r>
              <a:rPr sz="2000" spc="-2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Arial"/>
                <a:cs typeface="Arial"/>
              </a:rPr>
              <a:t>степени</a:t>
            </a:r>
            <a:r>
              <a:rPr sz="2000" spc="-25" dirty="0">
                <a:latin typeface="Times New Roman"/>
                <a:cs typeface="Times New Roman"/>
              </a:rPr>
              <a:t> </a:t>
            </a:r>
            <a:r>
              <a:rPr sz="2000" spc="-10" dirty="0">
                <a:latin typeface="Arial"/>
                <a:cs typeface="Arial"/>
              </a:rPr>
              <a:t>консервативности.</a:t>
            </a:r>
            <a:endParaRPr sz="2000" dirty="0">
              <a:latin typeface="Arial"/>
              <a:cs typeface="Arial"/>
            </a:endParaRPr>
          </a:p>
          <a:p>
            <a:pPr marL="22225" algn="just">
              <a:lnSpc>
                <a:spcPct val="100000"/>
              </a:lnSpc>
              <a:spcBef>
                <a:spcPts val="1830"/>
              </a:spcBef>
            </a:pPr>
            <a:r>
              <a:rPr sz="2400" b="1" i="1" spc="-10" dirty="0">
                <a:latin typeface="Times New Roman"/>
                <a:cs typeface="Times New Roman"/>
              </a:rPr>
              <a:t>Пост-</a:t>
            </a:r>
            <a:r>
              <a:rPr sz="2400" b="1" i="1" dirty="0">
                <a:latin typeface="Times New Roman"/>
                <a:cs typeface="Times New Roman"/>
              </a:rPr>
              <a:t>хок</a:t>
            </a:r>
            <a:r>
              <a:rPr sz="2400" spc="-65" dirty="0">
                <a:latin typeface="Times New Roman"/>
                <a:cs typeface="Times New Roman"/>
              </a:rPr>
              <a:t> </a:t>
            </a:r>
            <a:r>
              <a:rPr sz="2400" b="1" i="1" dirty="0">
                <a:latin typeface="Times New Roman"/>
                <a:cs typeface="Times New Roman"/>
              </a:rPr>
              <a:t>тест</a:t>
            </a:r>
            <a:r>
              <a:rPr sz="2400" spc="-65" dirty="0">
                <a:latin typeface="Times New Roman"/>
                <a:cs typeface="Times New Roman"/>
              </a:rPr>
              <a:t> </a:t>
            </a:r>
            <a:r>
              <a:rPr sz="2400" b="1" i="1" spc="-20" dirty="0">
                <a:latin typeface="Times New Roman"/>
                <a:cs typeface="Times New Roman"/>
              </a:rPr>
              <a:t>Тьюки</a:t>
            </a:r>
            <a:endParaRPr sz="2400" dirty="0">
              <a:latin typeface="Times New Roman"/>
              <a:cs typeface="Times New Roman"/>
            </a:endParaRPr>
          </a:p>
          <a:p>
            <a:pPr marL="153035" indent="-123825" algn="just">
              <a:lnSpc>
                <a:spcPct val="100000"/>
              </a:lnSpc>
              <a:spcBef>
                <a:spcPts val="615"/>
              </a:spcBef>
              <a:buSzPct val="95000"/>
              <a:buFont typeface="Symbol"/>
              <a:buChar char=""/>
              <a:tabLst>
                <a:tab pos="153035" algn="l"/>
              </a:tabLst>
            </a:pPr>
            <a:r>
              <a:rPr sz="2000" dirty="0">
                <a:latin typeface="Arial"/>
                <a:cs typeface="Arial"/>
              </a:rPr>
              <a:t>строго</a:t>
            </a:r>
            <a:r>
              <a:rPr sz="2000" spc="-30" dirty="0">
                <a:latin typeface="Times New Roman"/>
                <a:cs typeface="Times New Roman"/>
              </a:rPr>
              <a:t> </a:t>
            </a:r>
            <a:r>
              <a:rPr sz="2000" spc="-10" dirty="0">
                <a:latin typeface="Arial"/>
                <a:cs typeface="Arial"/>
              </a:rPr>
              <a:t>контролирует</a:t>
            </a:r>
            <a:r>
              <a:rPr sz="2000" spc="-2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Arial"/>
                <a:cs typeface="Arial"/>
              </a:rPr>
              <a:t>значимость</a:t>
            </a:r>
            <a:r>
              <a:rPr sz="2000" spc="-3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Arial"/>
                <a:cs typeface="Arial"/>
              </a:rPr>
              <a:t>критерия</a:t>
            </a:r>
            <a:r>
              <a:rPr sz="2000" spc="-2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Arial"/>
                <a:cs typeface="Arial"/>
              </a:rPr>
              <a:t>α</a:t>
            </a:r>
            <a:r>
              <a:rPr sz="2000" spc="-20" dirty="0">
                <a:latin typeface="Times New Roman"/>
                <a:cs typeface="Times New Roman"/>
              </a:rPr>
              <a:t> </a:t>
            </a:r>
            <a:r>
              <a:rPr sz="2000" spc="-10" dirty="0">
                <a:latin typeface="Arial"/>
                <a:cs typeface="Arial"/>
              </a:rPr>
              <a:t>(0.05)</a:t>
            </a:r>
            <a:endParaRPr sz="2000" dirty="0">
              <a:latin typeface="Arial"/>
              <a:cs typeface="Arial"/>
            </a:endParaRPr>
          </a:p>
          <a:p>
            <a:pPr marL="153035" indent="-123825" algn="just">
              <a:lnSpc>
                <a:spcPct val="100000"/>
              </a:lnSpc>
              <a:buSzPct val="95000"/>
              <a:buFont typeface="Symbol"/>
              <a:buChar char=""/>
              <a:tabLst>
                <a:tab pos="153035" algn="l"/>
              </a:tabLst>
            </a:pPr>
            <a:r>
              <a:rPr sz="2000" dirty="0">
                <a:latin typeface="Arial"/>
                <a:cs typeface="Arial"/>
              </a:rPr>
              <a:t>одновременно</a:t>
            </a:r>
            <a:r>
              <a:rPr sz="2000" spc="-40" dirty="0">
                <a:latin typeface="Times New Roman"/>
                <a:cs typeface="Times New Roman"/>
              </a:rPr>
              <a:t> </a:t>
            </a:r>
            <a:r>
              <a:rPr sz="2000" spc="-10" dirty="0">
                <a:latin typeface="Arial"/>
                <a:cs typeface="Arial"/>
              </a:rPr>
              <a:t>проверяет</a:t>
            </a:r>
            <a:r>
              <a:rPr sz="2000" spc="-3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Arial"/>
                <a:cs typeface="Arial"/>
              </a:rPr>
              <a:t>все</a:t>
            </a:r>
            <a:r>
              <a:rPr sz="2000" spc="-3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Arial"/>
                <a:cs typeface="Arial"/>
              </a:rPr>
              <a:t>парные</a:t>
            </a:r>
            <a:r>
              <a:rPr sz="2000" spc="-35" dirty="0">
                <a:latin typeface="Times New Roman"/>
                <a:cs typeface="Times New Roman"/>
              </a:rPr>
              <a:t> </a:t>
            </a:r>
            <a:r>
              <a:rPr sz="2000" spc="-10" dirty="0">
                <a:latin typeface="Arial"/>
                <a:cs typeface="Arial"/>
              </a:rPr>
              <a:t>гипотезы;</a:t>
            </a:r>
            <a:endParaRPr sz="2000" dirty="0">
              <a:latin typeface="Arial"/>
              <a:cs typeface="Arial"/>
            </a:endParaRPr>
          </a:p>
          <a:p>
            <a:pPr marL="153035" indent="-123825" algn="just">
              <a:lnSpc>
                <a:spcPct val="100000"/>
              </a:lnSpc>
              <a:buSzPct val="95000"/>
              <a:buFont typeface="Symbol"/>
              <a:buChar char=""/>
              <a:tabLst>
                <a:tab pos="153035" algn="l"/>
              </a:tabLst>
            </a:pPr>
            <a:r>
              <a:rPr sz="2000" spc="-10" dirty="0">
                <a:latin typeface="Arial"/>
                <a:cs typeface="Arial"/>
              </a:rPr>
              <a:t>чувствителен</a:t>
            </a:r>
            <a:r>
              <a:rPr sz="2000" spc="-2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Arial"/>
                <a:cs typeface="Arial"/>
              </a:rPr>
              <a:t>к</a:t>
            </a:r>
            <a:r>
              <a:rPr sz="2000" spc="-1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Arial"/>
                <a:cs typeface="Arial"/>
              </a:rPr>
              <a:t>неравенству</a:t>
            </a:r>
            <a:r>
              <a:rPr sz="2000" spc="-20" dirty="0">
                <a:latin typeface="Times New Roman"/>
                <a:cs typeface="Times New Roman"/>
              </a:rPr>
              <a:t> </a:t>
            </a:r>
            <a:r>
              <a:rPr sz="2000" spc="-10" dirty="0">
                <a:latin typeface="Arial"/>
                <a:cs typeface="Arial"/>
              </a:rPr>
              <a:t>дисперсий;</a:t>
            </a:r>
            <a:endParaRPr sz="2000" dirty="0">
              <a:latin typeface="Arial"/>
              <a:cs typeface="Arial"/>
            </a:endParaRPr>
          </a:p>
          <a:p>
            <a:pPr marL="153035" indent="-123825" algn="just">
              <a:lnSpc>
                <a:spcPct val="100000"/>
              </a:lnSpc>
              <a:buSzPct val="95000"/>
              <a:buFont typeface="Symbol"/>
              <a:buChar char=""/>
              <a:tabLst>
                <a:tab pos="153035" algn="l"/>
              </a:tabLst>
            </a:pPr>
            <a:r>
              <a:rPr sz="2000" dirty="0">
                <a:latin typeface="Arial"/>
                <a:cs typeface="Arial"/>
              </a:rPr>
              <a:t>если</a:t>
            </a:r>
            <a:r>
              <a:rPr sz="2000" spc="-3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Arial"/>
                <a:cs typeface="Arial"/>
              </a:rPr>
              <a:t>размер</a:t>
            </a:r>
            <a:r>
              <a:rPr sz="2000" spc="-3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Arial"/>
                <a:cs typeface="Arial"/>
              </a:rPr>
              <a:t>групп</a:t>
            </a:r>
            <a:r>
              <a:rPr sz="2000" spc="-3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Arial"/>
                <a:cs typeface="Arial"/>
              </a:rPr>
              <a:t>имеет</a:t>
            </a:r>
            <a:r>
              <a:rPr sz="2000" spc="-3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Arial"/>
                <a:cs typeface="Arial"/>
              </a:rPr>
              <a:t>сильные</a:t>
            </a:r>
            <a:r>
              <a:rPr sz="2000" spc="-3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Arial"/>
                <a:cs typeface="Arial"/>
              </a:rPr>
              <a:t>различия,</a:t>
            </a:r>
            <a:r>
              <a:rPr sz="2000" spc="-35" dirty="0">
                <a:latin typeface="Times New Roman"/>
                <a:cs typeface="Times New Roman"/>
              </a:rPr>
              <a:t> </a:t>
            </a:r>
            <a:r>
              <a:rPr sz="2000" spc="-10" dirty="0">
                <a:latin typeface="Arial"/>
                <a:cs typeface="Arial"/>
              </a:rPr>
              <a:t>работает</a:t>
            </a:r>
            <a:r>
              <a:rPr sz="2000" spc="-40" dirty="0">
                <a:latin typeface="Times New Roman"/>
                <a:cs typeface="Times New Roman"/>
              </a:rPr>
              <a:t> </a:t>
            </a:r>
            <a:r>
              <a:rPr sz="2000" spc="-10" dirty="0">
                <a:latin typeface="Arial"/>
                <a:cs typeface="Arial"/>
              </a:rPr>
              <a:t>плохо.</a:t>
            </a:r>
            <a:endParaRPr sz="2000" dirty="0">
              <a:latin typeface="Arial"/>
              <a:cs typeface="Arial"/>
            </a:endParaRPr>
          </a:p>
        </p:txBody>
      </p:sp>
      <p:sp>
        <p:nvSpPr>
          <p:cNvPr id="8" name="Номер слайда 55">
            <a:extLst>
              <a:ext uri="{FF2B5EF4-FFF2-40B4-BE49-F238E27FC236}">
                <a16:creationId xmlns:a16="http://schemas.microsoft.com/office/drawing/2014/main" id="{D6635203-2D13-4D19-98FD-901C90ADBD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457950" y="6356351"/>
            <a:ext cx="2057400" cy="365125"/>
          </a:xfrm>
        </p:spPr>
        <p:txBody>
          <a:bodyPr/>
          <a:lstStyle/>
          <a:p>
            <a:pPr marL="38100">
              <a:lnSpc>
                <a:spcPct val="100000"/>
              </a:lnSpc>
              <a:spcBef>
                <a:spcPts val="244"/>
              </a:spcBef>
            </a:pPr>
            <a:fld id="{81D60167-4931-47E6-BA6A-407CBD079E47}" type="slidenum">
              <a:rPr lang="ru-RU" spc="-25" smtClean="0"/>
              <a:t>44</a:t>
            </a:fld>
            <a:endParaRPr lang="ru-RU" spc="-25" dirty="0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/>
          <p:nvPr/>
        </p:nvSpPr>
        <p:spPr>
          <a:xfrm>
            <a:off x="838200" y="166115"/>
            <a:ext cx="8039533" cy="1859483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indent="-635" algn="just">
              <a:lnSpc>
                <a:spcPct val="100000"/>
              </a:lnSpc>
              <a:spcBef>
                <a:spcPts val="100"/>
              </a:spcBef>
            </a:pPr>
            <a:r>
              <a:rPr sz="2000" b="1" dirty="0">
                <a:latin typeface="Arial"/>
                <a:cs typeface="Arial"/>
              </a:rPr>
              <a:t>Пример.</a:t>
            </a:r>
            <a:r>
              <a:rPr sz="2000" spc="17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Arial"/>
                <a:cs typeface="Arial"/>
              </a:rPr>
              <a:t>Необходимо</a:t>
            </a:r>
            <a:r>
              <a:rPr sz="2000" spc="18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Arial"/>
                <a:cs typeface="Arial"/>
              </a:rPr>
              <a:t>исследовать</a:t>
            </a:r>
            <a:r>
              <a:rPr sz="2000" spc="17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Arial"/>
                <a:cs typeface="Arial"/>
              </a:rPr>
              <a:t>влияет</a:t>
            </a:r>
            <a:r>
              <a:rPr sz="2000" spc="18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Arial"/>
                <a:cs typeface="Arial"/>
              </a:rPr>
              <a:t>ли</a:t>
            </a:r>
            <a:r>
              <a:rPr sz="2000" spc="17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Arial"/>
                <a:cs typeface="Arial"/>
              </a:rPr>
              <a:t>вид</a:t>
            </a:r>
            <a:r>
              <a:rPr sz="2000" spc="17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Arial"/>
                <a:cs typeface="Arial"/>
              </a:rPr>
              <a:t>используемого</a:t>
            </a:r>
            <a:r>
              <a:rPr sz="2000" spc="180" dirty="0">
                <a:latin typeface="Times New Roman"/>
                <a:cs typeface="Times New Roman"/>
              </a:rPr>
              <a:t> </a:t>
            </a:r>
            <a:r>
              <a:rPr sz="2000" spc="-50" dirty="0">
                <a:latin typeface="Arial"/>
                <a:cs typeface="Arial"/>
              </a:rPr>
              <a:t>в</a:t>
            </a:r>
            <a:r>
              <a:rPr sz="2000" spc="-5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Arial"/>
                <a:cs typeface="Arial"/>
              </a:rPr>
              <a:t>производстве</a:t>
            </a:r>
            <a:r>
              <a:rPr sz="2000" spc="60" dirty="0">
                <a:latin typeface="Times New Roman"/>
                <a:cs typeface="Times New Roman"/>
              </a:rPr>
              <a:t>  </a:t>
            </a:r>
            <a:r>
              <a:rPr sz="2000" dirty="0">
                <a:latin typeface="Arial"/>
                <a:cs typeface="Arial"/>
              </a:rPr>
              <a:t>сырья</a:t>
            </a:r>
            <a:r>
              <a:rPr sz="2000" spc="65" dirty="0">
                <a:latin typeface="Times New Roman"/>
                <a:cs typeface="Times New Roman"/>
              </a:rPr>
              <a:t>  </a:t>
            </a:r>
            <a:r>
              <a:rPr sz="2000" dirty="0">
                <a:latin typeface="Arial"/>
                <a:cs typeface="Arial"/>
              </a:rPr>
              <a:t>на</a:t>
            </a:r>
            <a:r>
              <a:rPr sz="2000" spc="60" dirty="0">
                <a:latin typeface="Times New Roman"/>
                <a:cs typeface="Times New Roman"/>
              </a:rPr>
              <a:t>  </a:t>
            </a:r>
            <a:r>
              <a:rPr sz="2000" dirty="0">
                <a:latin typeface="Arial"/>
                <a:cs typeface="Arial"/>
              </a:rPr>
              <a:t>прибыль</a:t>
            </a:r>
            <a:r>
              <a:rPr sz="2000" spc="60" dirty="0">
                <a:latin typeface="Times New Roman"/>
                <a:cs typeface="Times New Roman"/>
              </a:rPr>
              <a:t>  </a:t>
            </a:r>
            <a:r>
              <a:rPr sz="2000" dirty="0">
                <a:latin typeface="Arial"/>
                <a:cs typeface="Arial"/>
              </a:rPr>
              <a:t>предприятия.</a:t>
            </a:r>
            <a:r>
              <a:rPr sz="2000" spc="60" dirty="0">
                <a:latin typeface="Times New Roman"/>
                <a:cs typeface="Times New Roman"/>
              </a:rPr>
              <a:t>  </a:t>
            </a:r>
            <a:r>
              <a:rPr sz="2000" dirty="0">
                <a:latin typeface="Arial"/>
                <a:cs typeface="Arial"/>
              </a:rPr>
              <a:t>В</a:t>
            </a:r>
            <a:r>
              <a:rPr sz="2000" spc="65" dirty="0">
                <a:latin typeface="Times New Roman"/>
                <a:cs typeface="Times New Roman"/>
              </a:rPr>
              <a:t>  </a:t>
            </a:r>
            <a:r>
              <a:rPr sz="2000" dirty="0">
                <a:latin typeface="Arial"/>
                <a:cs typeface="Arial"/>
              </a:rPr>
              <a:t>шести</a:t>
            </a:r>
            <a:r>
              <a:rPr sz="2000" spc="60" dirty="0">
                <a:latin typeface="Times New Roman"/>
                <a:cs typeface="Times New Roman"/>
              </a:rPr>
              <a:t>  </a:t>
            </a:r>
            <a:r>
              <a:rPr sz="2000" spc="-10" dirty="0">
                <a:latin typeface="Arial"/>
                <a:cs typeface="Arial"/>
              </a:rPr>
              <a:t>классах</a:t>
            </a:r>
            <a:r>
              <a:rPr sz="2000" spc="-1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Arial"/>
                <a:cs typeface="Arial"/>
              </a:rPr>
              <a:t>градации</a:t>
            </a:r>
            <a:r>
              <a:rPr sz="2000" spc="47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Arial"/>
                <a:cs typeface="Arial"/>
              </a:rPr>
              <a:t>(группах)</a:t>
            </a:r>
            <a:r>
              <a:rPr sz="2000" spc="48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Arial"/>
                <a:cs typeface="Arial"/>
              </a:rPr>
              <a:t>фактора</a:t>
            </a:r>
            <a:r>
              <a:rPr sz="2000" spc="484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Arial"/>
                <a:cs typeface="Arial"/>
              </a:rPr>
              <a:t>(первый</a:t>
            </a:r>
            <a:r>
              <a:rPr sz="2000" spc="48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Arial"/>
                <a:cs typeface="Arial"/>
              </a:rPr>
              <a:t>тип,</a:t>
            </a:r>
            <a:r>
              <a:rPr sz="2000" spc="48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Arial"/>
                <a:cs typeface="Arial"/>
              </a:rPr>
              <a:t>второй</a:t>
            </a:r>
            <a:r>
              <a:rPr sz="2000" spc="48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Arial"/>
                <a:cs typeface="Arial"/>
              </a:rPr>
              <a:t>тип,</a:t>
            </a:r>
            <a:r>
              <a:rPr sz="2000" spc="48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Arial"/>
                <a:cs typeface="Arial"/>
              </a:rPr>
              <a:t>…,</a:t>
            </a:r>
            <a:r>
              <a:rPr sz="2000" spc="480" dirty="0">
                <a:latin typeface="Times New Roman"/>
                <a:cs typeface="Times New Roman"/>
              </a:rPr>
              <a:t> </a:t>
            </a:r>
            <a:r>
              <a:rPr sz="2000" spc="-10" dirty="0">
                <a:latin typeface="Arial"/>
                <a:cs typeface="Arial"/>
              </a:rPr>
              <a:t>шестой</a:t>
            </a:r>
            <a:r>
              <a:rPr sz="2000" spc="-1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Arial"/>
                <a:cs typeface="Arial"/>
              </a:rPr>
              <a:t>тип)</a:t>
            </a:r>
            <a:r>
              <a:rPr sz="2000" spc="4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Arial"/>
                <a:cs typeface="Arial"/>
              </a:rPr>
              <a:t>–</a:t>
            </a:r>
            <a:r>
              <a:rPr sz="2000" spc="5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Arial"/>
                <a:cs typeface="Arial"/>
              </a:rPr>
              <a:t>данные</a:t>
            </a:r>
            <a:r>
              <a:rPr sz="2000" spc="4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Arial"/>
                <a:cs typeface="Arial"/>
              </a:rPr>
              <a:t>о</a:t>
            </a:r>
            <a:r>
              <a:rPr sz="2000" spc="4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Arial"/>
                <a:cs typeface="Arial"/>
              </a:rPr>
              <a:t>прибыли</a:t>
            </a:r>
            <a:r>
              <a:rPr sz="2000" spc="5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Arial"/>
                <a:cs typeface="Arial"/>
              </a:rPr>
              <a:t>(в</a:t>
            </a:r>
            <a:r>
              <a:rPr sz="2000" spc="4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Arial"/>
                <a:cs typeface="Arial"/>
              </a:rPr>
              <a:t>миллионах</a:t>
            </a:r>
            <a:r>
              <a:rPr sz="2000" spc="4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Arial"/>
                <a:cs typeface="Arial"/>
              </a:rPr>
              <a:t>рублей)</a:t>
            </a:r>
            <a:r>
              <a:rPr sz="2000" spc="4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Arial"/>
                <a:cs typeface="Arial"/>
              </a:rPr>
              <a:t>предприятия</a:t>
            </a:r>
            <a:r>
              <a:rPr sz="2000" spc="6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Arial"/>
                <a:cs typeface="Arial"/>
              </a:rPr>
              <a:t>в</a:t>
            </a:r>
            <a:r>
              <a:rPr sz="2000" spc="50" dirty="0">
                <a:latin typeface="Times New Roman"/>
                <a:cs typeface="Times New Roman"/>
              </a:rPr>
              <a:t> </a:t>
            </a:r>
            <a:r>
              <a:rPr sz="2000" spc="-20" dirty="0">
                <a:latin typeface="Arial"/>
                <a:cs typeface="Arial"/>
              </a:rPr>
              <a:t>2017</a:t>
            </a:r>
            <a:r>
              <a:rPr lang="en-US" sz="2000" spc="-20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-</a:t>
            </a:r>
            <a:r>
              <a:rPr sz="2000" spc="-1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Arial"/>
                <a:cs typeface="Arial"/>
              </a:rPr>
              <a:t>2019</a:t>
            </a:r>
            <a:r>
              <a:rPr sz="2000" spc="-10" dirty="0">
                <a:latin typeface="Times New Roman"/>
                <a:cs typeface="Times New Roman"/>
              </a:rPr>
              <a:t> </a:t>
            </a:r>
            <a:r>
              <a:rPr sz="2000" spc="-45" dirty="0">
                <a:latin typeface="Arial"/>
                <a:cs typeface="Arial"/>
              </a:rPr>
              <a:t>гг.</a:t>
            </a:r>
            <a:r>
              <a:rPr sz="2000" spc="-1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Arial"/>
                <a:cs typeface="Arial"/>
              </a:rPr>
              <a:t>от</a:t>
            </a:r>
            <a:r>
              <a:rPr sz="2000" spc="-10" dirty="0">
                <a:latin typeface="Times New Roman"/>
                <a:cs typeface="Times New Roman"/>
              </a:rPr>
              <a:t> </a:t>
            </a:r>
            <a:r>
              <a:rPr sz="2000" spc="-10" dirty="0">
                <a:latin typeface="Arial"/>
                <a:cs typeface="Arial"/>
              </a:rPr>
              <a:t>производства</a:t>
            </a:r>
            <a:r>
              <a:rPr sz="2000" spc="-1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Arial"/>
                <a:cs typeface="Arial"/>
              </a:rPr>
              <a:t>одной</a:t>
            </a:r>
            <a:r>
              <a:rPr sz="2000" spc="-1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Arial"/>
                <a:cs typeface="Arial"/>
              </a:rPr>
              <a:t>тысячи</a:t>
            </a:r>
            <a:r>
              <a:rPr sz="2000" spc="-1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Arial"/>
                <a:cs typeface="Arial"/>
              </a:rPr>
              <a:t>единиц</a:t>
            </a:r>
            <a:r>
              <a:rPr sz="2000" dirty="0">
                <a:latin typeface="Times New Roman"/>
                <a:cs typeface="Times New Roman"/>
              </a:rPr>
              <a:t> </a:t>
            </a:r>
            <a:r>
              <a:rPr sz="2000" spc="-10" dirty="0">
                <a:latin typeface="Arial"/>
                <a:cs typeface="Arial"/>
              </a:rPr>
              <a:t>продукции.</a:t>
            </a:r>
            <a:endParaRPr sz="2000" dirty="0">
              <a:latin typeface="Arial"/>
              <a:cs typeface="Arial"/>
            </a:endParaRPr>
          </a:p>
        </p:txBody>
      </p:sp>
      <p:graphicFrame>
        <p:nvGraphicFramePr>
          <p:cNvPr id="4" name="object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62740393"/>
              </p:ext>
            </p:extLst>
          </p:nvPr>
        </p:nvGraphicFramePr>
        <p:xfrm>
          <a:off x="2133600" y="2349550"/>
          <a:ext cx="5288912" cy="177292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29349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9413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9412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40715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81305">
                <a:tc rowSpan="2">
                  <a:txBody>
                    <a:bodyPr/>
                    <a:lstStyle/>
                    <a:p>
                      <a:pPr marL="194945">
                        <a:lnSpc>
                          <a:spcPct val="100000"/>
                        </a:lnSpc>
                        <a:spcBef>
                          <a:spcPts val="1325"/>
                        </a:spcBef>
                      </a:pPr>
                      <a:r>
                        <a:rPr sz="1400" b="1" dirty="0">
                          <a:solidFill>
                            <a:schemeClr val="tx1"/>
                          </a:solidFill>
                          <a:latin typeface="Trebuchet MS"/>
                          <a:cs typeface="Trebuchet MS"/>
                        </a:rPr>
                        <a:t>Вид</a:t>
                      </a:r>
                      <a:r>
                        <a:rPr sz="1400" spc="65" dirty="0">
                          <a:solidFill>
                            <a:schemeClr val="tx1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400" b="1" spc="-10" dirty="0">
                          <a:solidFill>
                            <a:schemeClr val="tx1"/>
                          </a:solidFill>
                          <a:latin typeface="Trebuchet MS"/>
                          <a:cs typeface="Trebuchet MS"/>
                        </a:rPr>
                        <a:t>сырья</a:t>
                      </a:r>
                      <a:endParaRPr sz="1400" dirty="0">
                        <a:solidFill>
                          <a:schemeClr val="tx1"/>
                        </a:solidFill>
                        <a:latin typeface="Trebuchet MS"/>
                        <a:cs typeface="Trebuchet MS"/>
                      </a:endParaRPr>
                    </a:p>
                  </a:txBody>
                  <a:tcPr marL="0" marR="0" marT="16827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38100">
                      <a:solidFill>
                        <a:srgbClr val="FFFFFF"/>
                      </a:solidFill>
                      <a:prstDash val="solid"/>
                    </a:lnR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tc gridSpan="3">
                  <a:txBody>
                    <a:bodyPr/>
                    <a:lstStyle/>
                    <a:p>
                      <a:pPr marL="1223645">
                        <a:lnSpc>
                          <a:spcPts val="1630"/>
                        </a:lnSpc>
                        <a:spcBef>
                          <a:spcPts val="484"/>
                        </a:spcBef>
                      </a:pPr>
                      <a:r>
                        <a:rPr sz="1400" b="1" dirty="0">
                          <a:solidFill>
                            <a:schemeClr val="tx1"/>
                          </a:solidFill>
                          <a:latin typeface="Trebuchet MS"/>
                          <a:cs typeface="Trebuchet MS"/>
                        </a:rPr>
                        <a:t>Год</a:t>
                      </a:r>
                      <a:r>
                        <a:rPr sz="1400" spc="55" dirty="0">
                          <a:solidFill>
                            <a:schemeClr val="tx1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400" b="1" spc="-10" dirty="0">
                          <a:solidFill>
                            <a:schemeClr val="tx1"/>
                          </a:solidFill>
                          <a:latin typeface="Trebuchet MS"/>
                          <a:cs typeface="Trebuchet MS"/>
                        </a:rPr>
                        <a:t>производства</a:t>
                      </a:r>
                      <a:endParaRPr sz="1400" dirty="0">
                        <a:solidFill>
                          <a:schemeClr val="tx1"/>
                        </a:solidFill>
                        <a:latin typeface="Trebuchet MS"/>
                        <a:cs typeface="Trebuchet MS"/>
                      </a:endParaRPr>
                    </a:p>
                  </a:txBody>
                  <a:tcPr marL="0" marR="0" marT="61594" marB="0">
                    <a:lnL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13360"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16827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38100">
                      <a:solidFill>
                        <a:srgbClr val="FFFFFF"/>
                      </a:solidFill>
                      <a:prstDash val="solid"/>
                    </a:lnR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5ECA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580"/>
                        </a:lnSpc>
                      </a:pPr>
                      <a:r>
                        <a:rPr sz="1400" spc="-20" dirty="0">
                          <a:solidFill>
                            <a:schemeClr val="tx1"/>
                          </a:solidFill>
                          <a:latin typeface="Trebuchet MS"/>
                          <a:cs typeface="Trebuchet MS"/>
                        </a:rPr>
                        <a:t>2017</a:t>
                      </a:r>
                      <a:endParaRPr sz="1400" dirty="0">
                        <a:solidFill>
                          <a:schemeClr val="tx1"/>
                        </a:solidFill>
                        <a:latin typeface="Trebuchet MS"/>
                        <a:cs typeface="Trebuchet MS"/>
                      </a:endParaRPr>
                    </a:p>
                  </a:txBody>
                  <a:tcPr marL="0" marR="0" marT="0" marB="0">
                    <a:lnL w="381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580"/>
                        </a:lnSpc>
                      </a:pPr>
                      <a:r>
                        <a:rPr sz="1400" spc="-20" dirty="0">
                          <a:solidFill>
                            <a:schemeClr val="tx1"/>
                          </a:solidFill>
                          <a:latin typeface="Trebuchet MS"/>
                          <a:cs typeface="Trebuchet MS"/>
                        </a:rPr>
                        <a:t>2018</a:t>
                      </a:r>
                      <a:endParaRPr sz="1400" dirty="0">
                        <a:solidFill>
                          <a:schemeClr val="tx1"/>
                        </a:solidFill>
                        <a:latin typeface="Trebuchet MS"/>
                        <a:cs typeface="Trebuchet MS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580"/>
                        </a:lnSpc>
                      </a:pPr>
                      <a:r>
                        <a:rPr sz="1400" spc="-20" dirty="0">
                          <a:solidFill>
                            <a:schemeClr val="tx1"/>
                          </a:solidFill>
                          <a:latin typeface="Trebuchet MS"/>
                          <a:cs typeface="Trebuchet MS"/>
                        </a:rPr>
                        <a:t>2019</a:t>
                      </a:r>
                      <a:endParaRPr sz="1400" dirty="0">
                        <a:solidFill>
                          <a:schemeClr val="tx1"/>
                        </a:solidFill>
                        <a:latin typeface="Trebuchet MS"/>
                        <a:cs typeface="Trebuchet MS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12725">
                <a:tc>
                  <a:txBody>
                    <a:bodyPr/>
                    <a:lstStyle/>
                    <a:p>
                      <a:pPr algn="ctr">
                        <a:lnSpc>
                          <a:spcPts val="1580"/>
                        </a:lnSpc>
                      </a:pPr>
                      <a:r>
                        <a:rPr sz="1400" b="1" spc="-10" dirty="0">
                          <a:solidFill>
                            <a:schemeClr val="tx1"/>
                          </a:solidFill>
                          <a:latin typeface="Trebuchet MS"/>
                          <a:cs typeface="Trebuchet MS"/>
                        </a:rPr>
                        <a:t>Первый</a:t>
                      </a:r>
                      <a:endParaRPr sz="1400" dirty="0">
                        <a:solidFill>
                          <a:schemeClr val="tx1"/>
                        </a:solidFill>
                        <a:latin typeface="Trebuchet MS"/>
                        <a:cs typeface="Trebuchet MS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580"/>
                        </a:lnSpc>
                      </a:pPr>
                      <a:r>
                        <a:rPr sz="1400" spc="-20" dirty="0">
                          <a:solidFill>
                            <a:srgbClr val="7030A0"/>
                          </a:solidFill>
                          <a:latin typeface="Trebuchet MS"/>
                          <a:cs typeface="Trebuchet MS"/>
                        </a:rPr>
                        <a:t>7,01</a:t>
                      </a:r>
                      <a:endParaRPr sz="1400" dirty="0">
                        <a:solidFill>
                          <a:srgbClr val="7030A0"/>
                        </a:solidFill>
                        <a:latin typeface="Trebuchet MS"/>
                        <a:cs typeface="Trebuchet MS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580"/>
                        </a:lnSpc>
                      </a:pPr>
                      <a:r>
                        <a:rPr sz="1400" spc="-20" dirty="0">
                          <a:solidFill>
                            <a:srgbClr val="7030A0"/>
                          </a:solidFill>
                          <a:latin typeface="Trebuchet MS"/>
                          <a:cs typeface="Trebuchet MS"/>
                        </a:rPr>
                        <a:t>7,39</a:t>
                      </a:r>
                      <a:endParaRPr sz="1400" dirty="0">
                        <a:solidFill>
                          <a:srgbClr val="7030A0"/>
                        </a:solidFill>
                        <a:latin typeface="Trebuchet MS"/>
                        <a:cs typeface="Trebuchet MS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580"/>
                        </a:lnSpc>
                      </a:pPr>
                      <a:r>
                        <a:rPr sz="1400" spc="-25" dirty="0">
                          <a:solidFill>
                            <a:srgbClr val="7030A0"/>
                          </a:solidFill>
                          <a:latin typeface="Trebuchet MS"/>
                          <a:cs typeface="Trebuchet MS"/>
                        </a:rPr>
                        <a:t>8,6</a:t>
                      </a:r>
                      <a:endParaRPr sz="1400" dirty="0">
                        <a:solidFill>
                          <a:srgbClr val="7030A0"/>
                        </a:solidFill>
                        <a:latin typeface="Trebuchet MS"/>
                        <a:cs typeface="Trebuchet MS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13360">
                <a:tc>
                  <a:txBody>
                    <a:bodyPr/>
                    <a:lstStyle/>
                    <a:p>
                      <a:pPr algn="ctr">
                        <a:lnSpc>
                          <a:spcPts val="1580"/>
                        </a:lnSpc>
                      </a:pPr>
                      <a:r>
                        <a:rPr sz="1400" b="1" spc="-10" dirty="0">
                          <a:solidFill>
                            <a:schemeClr val="tx1"/>
                          </a:solidFill>
                          <a:latin typeface="Trebuchet MS"/>
                          <a:cs typeface="Trebuchet MS"/>
                        </a:rPr>
                        <a:t>Второй</a:t>
                      </a:r>
                      <a:endParaRPr sz="1400" dirty="0">
                        <a:solidFill>
                          <a:schemeClr val="tx1"/>
                        </a:solidFill>
                        <a:latin typeface="Trebuchet MS"/>
                        <a:cs typeface="Trebuchet MS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580"/>
                        </a:lnSpc>
                      </a:pPr>
                      <a:r>
                        <a:rPr sz="1400" spc="-20" dirty="0">
                          <a:solidFill>
                            <a:srgbClr val="7030A0"/>
                          </a:solidFill>
                          <a:latin typeface="Trebuchet MS"/>
                          <a:cs typeface="Trebuchet MS"/>
                        </a:rPr>
                        <a:t>8,28</a:t>
                      </a:r>
                      <a:endParaRPr sz="1400" dirty="0">
                        <a:solidFill>
                          <a:srgbClr val="7030A0"/>
                        </a:solidFill>
                        <a:latin typeface="Trebuchet MS"/>
                        <a:cs typeface="Trebuchet MS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580"/>
                        </a:lnSpc>
                      </a:pPr>
                      <a:r>
                        <a:rPr sz="1400" spc="-20" dirty="0">
                          <a:solidFill>
                            <a:srgbClr val="7030A0"/>
                          </a:solidFill>
                          <a:latin typeface="Trebuchet MS"/>
                          <a:cs typeface="Trebuchet MS"/>
                        </a:rPr>
                        <a:t>7,29</a:t>
                      </a:r>
                      <a:endParaRPr sz="1400">
                        <a:solidFill>
                          <a:srgbClr val="7030A0"/>
                        </a:solidFill>
                        <a:latin typeface="Trebuchet MS"/>
                        <a:cs typeface="Trebuchet MS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580"/>
                        </a:lnSpc>
                      </a:pPr>
                      <a:r>
                        <a:rPr sz="1400" spc="-20" dirty="0">
                          <a:solidFill>
                            <a:srgbClr val="7030A0"/>
                          </a:solidFill>
                          <a:latin typeface="Trebuchet MS"/>
                          <a:cs typeface="Trebuchet MS"/>
                        </a:rPr>
                        <a:t>8,18</a:t>
                      </a:r>
                      <a:endParaRPr sz="1400" dirty="0">
                        <a:solidFill>
                          <a:srgbClr val="7030A0"/>
                        </a:solidFill>
                        <a:latin typeface="Trebuchet MS"/>
                        <a:cs typeface="Trebuchet MS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12725">
                <a:tc>
                  <a:txBody>
                    <a:bodyPr/>
                    <a:lstStyle/>
                    <a:p>
                      <a:pPr algn="ctr">
                        <a:lnSpc>
                          <a:spcPts val="1580"/>
                        </a:lnSpc>
                      </a:pPr>
                      <a:r>
                        <a:rPr sz="1400" b="1" spc="-10" dirty="0">
                          <a:solidFill>
                            <a:schemeClr val="tx1"/>
                          </a:solidFill>
                          <a:latin typeface="Trebuchet MS"/>
                          <a:cs typeface="Trebuchet MS"/>
                        </a:rPr>
                        <a:t>Третий</a:t>
                      </a:r>
                      <a:endParaRPr sz="1400">
                        <a:solidFill>
                          <a:schemeClr val="tx1"/>
                        </a:solidFill>
                        <a:latin typeface="Trebuchet MS"/>
                        <a:cs typeface="Trebuchet MS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580"/>
                        </a:lnSpc>
                      </a:pPr>
                      <a:r>
                        <a:rPr sz="1400" spc="-20" dirty="0">
                          <a:solidFill>
                            <a:srgbClr val="7030A0"/>
                          </a:solidFill>
                          <a:latin typeface="Trebuchet MS"/>
                          <a:cs typeface="Trebuchet MS"/>
                        </a:rPr>
                        <a:t>7,55</a:t>
                      </a:r>
                      <a:endParaRPr sz="1400" dirty="0">
                        <a:solidFill>
                          <a:srgbClr val="7030A0"/>
                        </a:solidFill>
                        <a:latin typeface="Trebuchet MS"/>
                        <a:cs typeface="Trebuchet MS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580"/>
                        </a:lnSpc>
                      </a:pPr>
                      <a:r>
                        <a:rPr sz="1400" spc="-20" dirty="0">
                          <a:solidFill>
                            <a:srgbClr val="7030A0"/>
                          </a:solidFill>
                          <a:latin typeface="Trebuchet MS"/>
                          <a:cs typeface="Trebuchet MS"/>
                        </a:rPr>
                        <a:t>7,27</a:t>
                      </a:r>
                      <a:endParaRPr sz="1400" dirty="0">
                        <a:solidFill>
                          <a:srgbClr val="7030A0"/>
                        </a:solidFill>
                        <a:latin typeface="Trebuchet MS"/>
                        <a:cs typeface="Trebuchet MS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580"/>
                        </a:lnSpc>
                      </a:pPr>
                      <a:r>
                        <a:rPr sz="1400" spc="-20" dirty="0">
                          <a:solidFill>
                            <a:srgbClr val="7030A0"/>
                          </a:solidFill>
                          <a:latin typeface="Trebuchet MS"/>
                          <a:cs typeface="Trebuchet MS"/>
                        </a:rPr>
                        <a:t>7,84</a:t>
                      </a:r>
                      <a:endParaRPr sz="1400" dirty="0">
                        <a:solidFill>
                          <a:srgbClr val="7030A0"/>
                        </a:solidFill>
                        <a:latin typeface="Trebuchet MS"/>
                        <a:cs typeface="Trebuchet MS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13360">
                <a:tc>
                  <a:txBody>
                    <a:bodyPr/>
                    <a:lstStyle/>
                    <a:p>
                      <a:pPr algn="ctr">
                        <a:lnSpc>
                          <a:spcPts val="1580"/>
                        </a:lnSpc>
                      </a:pPr>
                      <a:r>
                        <a:rPr sz="1400" b="1" spc="-10" dirty="0">
                          <a:solidFill>
                            <a:schemeClr val="tx1"/>
                          </a:solidFill>
                          <a:latin typeface="Trebuchet MS"/>
                          <a:cs typeface="Trebuchet MS"/>
                        </a:rPr>
                        <a:t>Четвертый</a:t>
                      </a:r>
                      <a:endParaRPr sz="1400" dirty="0">
                        <a:solidFill>
                          <a:schemeClr val="tx1"/>
                        </a:solidFill>
                        <a:latin typeface="Trebuchet MS"/>
                        <a:cs typeface="Trebuchet MS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580"/>
                        </a:lnSpc>
                      </a:pPr>
                      <a:r>
                        <a:rPr sz="1400" spc="-20" dirty="0">
                          <a:solidFill>
                            <a:srgbClr val="7030A0"/>
                          </a:solidFill>
                          <a:latin typeface="Trebuchet MS"/>
                          <a:cs typeface="Trebuchet MS"/>
                        </a:rPr>
                        <a:t>7,41</a:t>
                      </a:r>
                      <a:endParaRPr sz="1400" dirty="0">
                        <a:solidFill>
                          <a:srgbClr val="7030A0"/>
                        </a:solidFill>
                        <a:latin typeface="Trebuchet MS"/>
                        <a:cs typeface="Trebuchet MS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580"/>
                        </a:lnSpc>
                      </a:pPr>
                      <a:r>
                        <a:rPr sz="1400" spc="-20" dirty="0">
                          <a:solidFill>
                            <a:srgbClr val="7030A0"/>
                          </a:solidFill>
                          <a:latin typeface="Trebuchet MS"/>
                          <a:cs typeface="Trebuchet MS"/>
                        </a:rPr>
                        <a:t>7,37</a:t>
                      </a:r>
                      <a:endParaRPr sz="1400" dirty="0">
                        <a:solidFill>
                          <a:srgbClr val="7030A0"/>
                        </a:solidFill>
                        <a:latin typeface="Trebuchet MS"/>
                        <a:cs typeface="Trebuchet MS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580"/>
                        </a:lnSpc>
                      </a:pPr>
                      <a:r>
                        <a:rPr sz="1400" spc="-20" dirty="0">
                          <a:solidFill>
                            <a:srgbClr val="7030A0"/>
                          </a:solidFill>
                          <a:latin typeface="Trebuchet MS"/>
                          <a:cs typeface="Trebuchet MS"/>
                        </a:rPr>
                        <a:t>7,42</a:t>
                      </a:r>
                      <a:endParaRPr sz="1400" dirty="0">
                        <a:solidFill>
                          <a:srgbClr val="7030A0"/>
                        </a:solidFill>
                        <a:latin typeface="Trebuchet MS"/>
                        <a:cs typeface="Trebuchet MS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13360">
                <a:tc>
                  <a:txBody>
                    <a:bodyPr/>
                    <a:lstStyle/>
                    <a:p>
                      <a:pPr algn="ctr">
                        <a:lnSpc>
                          <a:spcPts val="1580"/>
                        </a:lnSpc>
                      </a:pPr>
                      <a:r>
                        <a:rPr sz="1400" b="1" spc="-10" dirty="0">
                          <a:solidFill>
                            <a:schemeClr val="tx1"/>
                          </a:solidFill>
                          <a:latin typeface="Trebuchet MS"/>
                          <a:cs typeface="Trebuchet MS"/>
                        </a:rPr>
                        <a:t>Пятый</a:t>
                      </a:r>
                      <a:endParaRPr sz="1400" dirty="0">
                        <a:solidFill>
                          <a:schemeClr val="tx1"/>
                        </a:solidFill>
                        <a:latin typeface="Trebuchet MS"/>
                        <a:cs typeface="Trebuchet MS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580"/>
                        </a:lnSpc>
                      </a:pPr>
                      <a:r>
                        <a:rPr sz="1400" spc="-20" dirty="0">
                          <a:solidFill>
                            <a:srgbClr val="7030A0"/>
                          </a:solidFill>
                          <a:latin typeface="Trebuchet MS"/>
                          <a:cs typeface="Trebuchet MS"/>
                        </a:rPr>
                        <a:t>8,27</a:t>
                      </a:r>
                      <a:endParaRPr sz="1400" dirty="0">
                        <a:solidFill>
                          <a:srgbClr val="7030A0"/>
                        </a:solidFill>
                        <a:latin typeface="Trebuchet MS"/>
                        <a:cs typeface="Trebuchet MS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580"/>
                        </a:lnSpc>
                      </a:pPr>
                      <a:r>
                        <a:rPr sz="1400" spc="-20" dirty="0">
                          <a:solidFill>
                            <a:srgbClr val="7030A0"/>
                          </a:solidFill>
                          <a:latin typeface="Trebuchet MS"/>
                          <a:cs typeface="Trebuchet MS"/>
                        </a:rPr>
                        <a:t>8,07</a:t>
                      </a:r>
                      <a:endParaRPr sz="1400" dirty="0">
                        <a:solidFill>
                          <a:srgbClr val="7030A0"/>
                        </a:solidFill>
                        <a:latin typeface="Trebuchet MS"/>
                        <a:cs typeface="Trebuchet MS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580"/>
                        </a:lnSpc>
                      </a:pPr>
                      <a:r>
                        <a:rPr sz="1400" spc="-25" dirty="0">
                          <a:solidFill>
                            <a:srgbClr val="7030A0"/>
                          </a:solidFill>
                          <a:latin typeface="Trebuchet MS"/>
                          <a:cs typeface="Trebuchet MS"/>
                        </a:rPr>
                        <a:t>7,6</a:t>
                      </a:r>
                      <a:endParaRPr sz="1400" dirty="0">
                        <a:solidFill>
                          <a:srgbClr val="7030A0"/>
                        </a:solidFill>
                        <a:latin typeface="Trebuchet MS"/>
                        <a:cs typeface="Trebuchet MS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12725">
                <a:tc>
                  <a:txBody>
                    <a:bodyPr/>
                    <a:lstStyle/>
                    <a:p>
                      <a:pPr marL="635" algn="ctr">
                        <a:lnSpc>
                          <a:spcPts val="1580"/>
                        </a:lnSpc>
                      </a:pPr>
                      <a:r>
                        <a:rPr sz="1400" b="1" spc="-10" dirty="0">
                          <a:solidFill>
                            <a:schemeClr val="tx1"/>
                          </a:solidFill>
                          <a:latin typeface="Trebuchet MS"/>
                          <a:cs typeface="Trebuchet MS"/>
                        </a:rPr>
                        <a:t>Шестой</a:t>
                      </a:r>
                      <a:endParaRPr sz="1400" dirty="0">
                        <a:solidFill>
                          <a:schemeClr val="tx1"/>
                        </a:solidFill>
                        <a:latin typeface="Trebuchet MS"/>
                        <a:cs typeface="Trebuchet MS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580"/>
                        </a:lnSpc>
                      </a:pPr>
                      <a:r>
                        <a:rPr sz="1400" spc="-20" dirty="0">
                          <a:solidFill>
                            <a:srgbClr val="7030A0"/>
                          </a:solidFill>
                          <a:latin typeface="Trebuchet MS"/>
                          <a:cs typeface="Trebuchet MS"/>
                        </a:rPr>
                        <a:t>8,05</a:t>
                      </a:r>
                      <a:endParaRPr sz="1400" dirty="0">
                        <a:solidFill>
                          <a:srgbClr val="7030A0"/>
                        </a:solidFill>
                        <a:latin typeface="Trebuchet MS"/>
                        <a:cs typeface="Trebuchet MS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580"/>
                        </a:lnSpc>
                      </a:pPr>
                      <a:r>
                        <a:rPr sz="1400" spc="-20" dirty="0">
                          <a:solidFill>
                            <a:srgbClr val="7030A0"/>
                          </a:solidFill>
                          <a:latin typeface="Trebuchet MS"/>
                          <a:cs typeface="Trebuchet MS"/>
                        </a:rPr>
                        <a:t>8,55</a:t>
                      </a:r>
                      <a:endParaRPr sz="1400" dirty="0">
                        <a:solidFill>
                          <a:srgbClr val="7030A0"/>
                        </a:solidFill>
                        <a:latin typeface="Trebuchet MS"/>
                        <a:cs typeface="Trebuchet MS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580"/>
                        </a:lnSpc>
                      </a:pPr>
                      <a:r>
                        <a:rPr sz="1400" spc="-20" dirty="0">
                          <a:solidFill>
                            <a:srgbClr val="7030A0"/>
                          </a:solidFill>
                          <a:latin typeface="Trebuchet MS"/>
                          <a:cs typeface="Trebuchet MS"/>
                        </a:rPr>
                        <a:t>7,53</a:t>
                      </a:r>
                      <a:endParaRPr sz="1400" dirty="0">
                        <a:solidFill>
                          <a:srgbClr val="7030A0"/>
                        </a:solidFill>
                        <a:latin typeface="Trebuchet MS"/>
                        <a:cs typeface="Trebuchet MS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630936" y="4508450"/>
            <a:ext cx="8513064" cy="1621536"/>
          </a:xfrm>
          <a:prstGeom prst="rect">
            <a:avLst/>
          </a:prstGeom>
        </p:spPr>
      </p:pic>
      <p:sp>
        <p:nvSpPr>
          <p:cNvPr id="8" name="Нижний колонтитул 7">
            <a:extLst>
              <a:ext uri="{FF2B5EF4-FFF2-40B4-BE49-F238E27FC236}">
                <a16:creationId xmlns:a16="http://schemas.microsoft.com/office/drawing/2014/main" id="{676EA0FF-9867-4F02-A025-C718F8B24F7B}"/>
              </a:ext>
            </a:extLst>
          </p:cNvPr>
          <p:cNvSpPr>
            <a:spLocks noGrp="1"/>
          </p:cNvSpPr>
          <p:nvPr>
            <p:ph type="ftr" sz="quarter" idx="5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55">
            <a:extLst>
              <a:ext uri="{FF2B5EF4-FFF2-40B4-BE49-F238E27FC236}">
                <a16:creationId xmlns:a16="http://schemas.microsoft.com/office/drawing/2014/main" id="{6C5DA9F6-7B43-4F50-B890-6F73E1DE8CBD}"/>
              </a:ext>
            </a:extLst>
          </p:cNvPr>
          <p:cNvSpPr txBox="1">
            <a:spLocks/>
          </p:cNvSpPr>
          <p:nvPr/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kern="0"/>
            </a:defPPr>
            <a:lvl1pPr marL="38100" algn="r">
              <a:lnSpc>
                <a:spcPct val="100000"/>
              </a:lnSpc>
              <a:spcBef>
                <a:spcPts val="244"/>
              </a:spcBef>
              <a:defRPr sz="1500" spc="-25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1D60167-4931-47E6-BA6A-407CBD079E47}" type="slidenum">
              <a:rPr lang="ru-RU"/>
              <a:pPr/>
              <a:t>45</a:t>
            </a:fld>
            <a:endParaRPr lang="ru-RU" dirty="0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ct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20565906"/>
              </p:ext>
            </p:extLst>
          </p:nvPr>
        </p:nvGraphicFramePr>
        <p:xfrm>
          <a:off x="2260600" y="267970"/>
          <a:ext cx="5175883" cy="177292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29349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9413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9412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29412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81305">
                <a:tc rowSpan="2">
                  <a:txBody>
                    <a:bodyPr/>
                    <a:lstStyle/>
                    <a:p>
                      <a:pPr marL="194945">
                        <a:lnSpc>
                          <a:spcPct val="100000"/>
                        </a:lnSpc>
                        <a:spcBef>
                          <a:spcPts val="1340"/>
                        </a:spcBef>
                      </a:pPr>
                      <a:r>
                        <a:rPr sz="1400" b="1" dirty="0">
                          <a:solidFill>
                            <a:schemeClr val="tx1"/>
                          </a:solidFill>
                          <a:latin typeface="Trebuchet MS"/>
                          <a:cs typeface="Trebuchet MS"/>
                        </a:rPr>
                        <a:t>Вид</a:t>
                      </a:r>
                      <a:r>
                        <a:rPr sz="1400" spc="65" dirty="0">
                          <a:solidFill>
                            <a:schemeClr val="tx1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400" b="1" kern="1200" dirty="0">
                          <a:solidFill>
                            <a:schemeClr val="tx1"/>
                          </a:solidFill>
                          <a:latin typeface="Trebuchet MS"/>
                          <a:ea typeface="+mn-ea"/>
                          <a:cs typeface="Trebuchet MS"/>
                        </a:rPr>
                        <a:t>сырья</a:t>
                      </a:r>
                    </a:p>
                  </a:txBody>
                  <a:tcPr marL="0" marR="0" marT="17018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381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tc gridSpan="3">
                  <a:txBody>
                    <a:bodyPr/>
                    <a:lstStyle/>
                    <a:p>
                      <a:pPr marL="1223645">
                        <a:lnSpc>
                          <a:spcPts val="1614"/>
                        </a:lnSpc>
                        <a:spcBef>
                          <a:spcPts val="500"/>
                        </a:spcBef>
                      </a:pPr>
                      <a:r>
                        <a:rPr sz="1400" b="1" dirty="0">
                          <a:solidFill>
                            <a:schemeClr val="tx1"/>
                          </a:solidFill>
                          <a:latin typeface="Trebuchet MS"/>
                          <a:cs typeface="Trebuchet MS"/>
                        </a:rPr>
                        <a:t>Год</a:t>
                      </a:r>
                      <a:r>
                        <a:rPr sz="1400" spc="55" dirty="0">
                          <a:solidFill>
                            <a:schemeClr val="tx1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400" b="1" spc="-10" dirty="0">
                          <a:solidFill>
                            <a:schemeClr val="tx1"/>
                          </a:solidFill>
                          <a:latin typeface="Trebuchet MS"/>
                          <a:cs typeface="Trebuchet MS"/>
                        </a:rPr>
                        <a:t>производства</a:t>
                      </a:r>
                      <a:endParaRPr sz="1400">
                        <a:solidFill>
                          <a:schemeClr val="tx1"/>
                        </a:solidFill>
                        <a:latin typeface="Trebuchet MS"/>
                        <a:cs typeface="Trebuchet MS"/>
                      </a:endParaRPr>
                    </a:p>
                  </a:txBody>
                  <a:tcPr marL="0" marR="0" marT="63500" marB="0">
                    <a:lnL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13360"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17018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381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5ECA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580"/>
                        </a:lnSpc>
                      </a:pPr>
                      <a:r>
                        <a:rPr sz="1400" b="1" spc="-20" dirty="0">
                          <a:solidFill>
                            <a:schemeClr val="tx1"/>
                          </a:solidFill>
                          <a:latin typeface="Trebuchet MS"/>
                          <a:cs typeface="Trebuchet MS"/>
                        </a:rPr>
                        <a:t>2017</a:t>
                      </a:r>
                      <a:endParaRPr sz="1400" b="1" dirty="0">
                        <a:solidFill>
                          <a:schemeClr val="tx1"/>
                        </a:solidFill>
                        <a:latin typeface="Trebuchet MS"/>
                        <a:cs typeface="Trebuchet MS"/>
                      </a:endParaRPr>
                    </a:p>
                  </a:txBody>
                  <a:tcPr marL="0" marR="0" marT="0" marB="0">
                    <a:lnL w="381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580"/>
                        </a:lnSpc>
                      </a:pPr>
                      <a:r>
                        <a:rPr sz="1400" b="1" spc="-20" dirty="0">
                          <a:solidFill>
                            <a:schemeClr val="tx1"/>
                          </a:solidFill>
                          <a:latin typeface="Trebuchet MS"/>
                          <a:cs typeface="Trebuchet MS"/>
                        </a:rPr>
                        <a:t>2018</a:t>
                      </a:r>
                      <a:endParaRPr sz="1400" b="1" dirty="0">
                        <a:solidFill>
                          <a:schemeClr val="tx1"/>
                        </a:solidFill>
                        <a:latin typeface="Trebuchet MS"/>
                        <a:cs typeface="Trebuchet MS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580"/>
                        </a:lnSpc>
                      </a:pPr>
                      <a:r>
                        <a:rPr sz="1400" b="1" spc="-20" dirty="0">
                          <a:solidFill>
                            <a:schemeClr val="tx1"/>
                          </a:solidFill>
                          <a:latin typeface="Trebuchet MS"/>
                          <a:cs typeface="Trebuchet MS"/>
                        </a:rPr>
                        <a:t>2019</a:t>
                      </a:r>
                      <a:endParaRPr sz="1400" b="1" dirty="0">
                        <a:solidFill>
                          <a:schemeClr val="tx1"/>
                        </a:solidFill>
                        <a:latin typeface="Trebuchet MS"/>
                        <a:cs typeface="Trebuchet MS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12725">
                <a:tc>
                  <a:txBody>
                    <a:bodyPr/>
                    <a:lstStyle/>
                    <a:p>
                      <a:pPr algn="ctr">
                        <a:lnSpc>
                          <a:spcPts val="1580"/>
                        </a:lnSpc>
                      </a:pPr>
                      <a:r>
                        <a:rPr sz="1400" b="1" spc="-10" dirty="0">
                          <a:solidFill>
                            <a:schemeClr val="tx1"/>
                          </a:solidFill>
                          <a:latin typeface="Trebuchet MS"/>
                          <a:cs typeface="Trebuchet MS"/>
                        </a:rPr>
                        <a:t>Первый</a:t>
                      </a:r>
                      <a:endParaRPr sz="1400" dirty="0">
                        <a:solidFill>
                          <a:schemeClr val="tx1"/>
                        </a:solidFill>
                        <a:latin typeface="Trebuchet MS"/>
                        <a:cs typeface="Trebuchet MS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580"/>
                        </a:lnSpc>
                      </a:pPr>
                      <a:r>
                        <a:rPr sz="1400" spc="-20" dirty="0">
                          <a:solidFill>
                            <a:srgbClr val="7030A0"/>
                          </a:solidFill>
                          <a:latin typeface="Trebuchet MS"/>
                          <a:cs typeface="Trebuchet MS"/>
                        </a:rPr>
                        <a:t>7,01</a:t>
                      </a:r>
                      <a:endParaRPr sz="1400" dirty="0">
                        <a:solidFill>
                          <a:srgbClr val="7030A0"/>
                        </a:solidFill>
                        <a:latin typeface="Trebuchet MS"/>
                        <a:cs typeface="Trebuchet MS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580"/>
                        </a:lnSpc>
                      </a:pPr>
                      <a:r>
                        <a:rPr sz="1400" spc="-20" dirty="0">
                          <a:solidFill>
                            <a:srgbClr val="7030A0"/>
                          </a:solidFill>
                          <a:latin typeface="Trebuchet MS"/>
                          <a:cs typeface="Trebuchet MS"/>
                        </a:rPr>
                        <a:t>7,39</a:t>
                      </a:r>
                      <a:endParaRPr sz="1400" dirty="0">
                        <a:solidFill>
                          <a:srgbClr val="7030A0"/>
                        </a:solidFill>
                        <a:latin typeface="Trebuchet MS"/>
                        <a:cs typeface="Trebuchet MS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580"/>
                        </a:lnSpc>
                      </a:pPr>
                      <a:r>
                        <a:rPr sz="1400" spc="-25" dirty="0">
                          <a:solidFill>
                            <a:srgbClr val="7030A0"/>
                          </a:solidFill>
                          <a:latin typeface="Trebuchet MS"/>
                          <a:cs typeface="Trebuchet MS"/>
                        </a:rPr>
                        <a:t>8,6</a:t>
                      </a:r>
                      <a:endParaRPr sz="1400">
                        <a:solidFill>
                          <a:srgbClr val="7030A0"/>
                        </a:solidFill>
                        <a:latin typeface="Trebuchet MS"/>
                        <a:cs typeface="Trebuchet MS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13360">
                <a:tc>
                  <a:txBody>
                    <a:bodyPr/>
                    <a:lstStyle/>
                    <a:p>
                      <a:pPr algn="ctr">
                        <a:lnSpc>
                          <a:spcPts val="1580"/>
                        </a:lnSpc>
                      </a:pPr>
                      <a:r>
                        <a:rPr sz="1400" b="1" spc="-10" dirty="0">
                          <a:solidFill>
                            <a:schemeClr val="tx1"/>
                          </a:solidFill>
                          <a:latin typeface="Trebuchet MS"/>
                          <a:cs typeface="Trebuchet MS"/>
                        </a:rPr>
                        <a:t>Второй</a:t>
                      </a:r>
                      <a:endParaRPr sz="1400" dirty="0">
                        <a:solidFill>
                          <a:schemeClr val="tx1"/>
                        </a:solidFill>
                        <a:latin typeface="Trebuchet MS"/>
                        <a:cs typeface="Trebuchet MS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580"/>
                        </a:lnSpc>
                      </a:pPr>
                      <a:r>
                        <a:rPr sz="1400" spc="-20" dirty="0">
                          <a:solidFill>
                            <a:srgbClr val="7030A0"/>
                          </a:solidFill>
                          <a:latin typeface="Trebuchet MS"/>
                          <a:cs typeface="Trebuchet MS"/>
                        </a:rPr>
                        <a:t>8,28</a:t>
                      </a:r>
                      <a:endParaRPr sz="1400" dirty="0">
                        <a:solidFill>
                          <a:srgbClr val="7030A0"/>
                        </a:solidFill>
                        <a:latin typeface="Trebuchet MS"/>
                        <a:cs typeface="Trebuchet MS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580"/>
                        </a:lnSpc>
                      </a:pPr>
                      <a:r>
                        <a:rPr sz="1400" spc="-20" dirty="0">
                          <a:solidFill>
                            <a:srgbClr val="7030A0"/>
                          </a:solidFill>
                          <a:latin typeface="Trebuchet MS"/>
                          <a:cs typeface="Trebuchet MS"/>
                        </a:rPr>
                        <a:t>7,29</a:t>
                      </a:r>
                      <a:endParaRPr sz="1400" dirty="0">
                        <a:solidFill>
                          <a:srgbClr val="7030A0"/>
                        </a:solidFill>
                        <a:latin typeface="Trebuchet MS"/>
                        <a:cs typeface="Trebuchet MS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580"/>
                        </a:lnSpc>
                      </a:pPr>
                      <a:r>
                        <a:rPr sz="1400" spc="-20" dirty="0">
                          <a:solidFill>
                            <a:srgbClr val="7030A0"/>
                          </a:solidFill>
                          <a:latin typeface="Trebuchet MS"/>
                          <a:cs typeface="Trebuchet MS"/>
                        </a:rPr>
                        <a:t>8,18</a:t>
                      </a:r>
                      <a:endParaRPr sz="1400">
                        <a:solidFill>
                          <a:srgbClr val="7030A0"/>
                        </a:solidFill>
                        <a:latin typeface="Trebuchet MS"/>
                        <a:cs typeface="Trebuchet MS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12725">
                <a:tc>
                  <a:txBody>
                    <a:bodyPr/>
                    <a:lstStyle/>
                    <a:p>
                      <a:pPr algn="ctr">
                        <a:lnSpc>
                          <a:spcPts val="1580"/>
                        </a:lnSpc>
                      </a:pPr>
                      <a:r>
                        <a:rPr sz="1400" b="1" spc="-10" dirty="0">
                          <a:solidFill>
                            <a:schemeClr val="tx1"/>
                          </a:solidFill>
                          <a:latin typeface="Trebuchet MS"/>
                          <a:cs typeface="Trebuchet MS"/>
                        </a:rPr>
                        <a:t>Третий</a:t>
                      </a:r>
                      <a:endParaRPr sz="1400" dirty="0">
                        <a:solidFill>
                          <a:schemeClr val="tx1"/>
                        </a:solidFill>
                        <a:latin typeface="Trebuchet MS"/>
                        <a:cs typeface="Trebuchet MS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580"/>
                        </a:lnSpc>
                      </a:pPr>
                      <a:r>
                        <a:rPr sz="1400" spc="-20" dirty="0">
                          <a:solidFill>
                            <a:srgbClr val="7030A0"/>
                          </a:solidFill>
                          <a:latin typeface="Trebuchet MS"/>
                          <a:cs typeface="Trebuchet MS"/>
                        </a:rPr>
                        <a:t>7,55</a:t>
                      </a:r>
                      <a:endParaRPr sz="1400" dirty="0">
                        <a:solidFill>
                          <a:srgbClr val="7030A0"/>
                        </a:solidFill>
                        <a:latin typeface="Trebuchet MS"/>
                        <a:cs typeface="Trebuchet MS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580"/>
                        </a:lnSpc>
                      </a:pPr>
                      <a:r>
                        <a:rPr sz="1400" spc="-20" dirty="0">
                          <a:solidFill>
                            <a:srgbClr val="7030A0"/>
                          </a:solidFill>
                          <a:latin typeface="Trebuchet MS"/>
                          <a:cs typeface="Trebuchet MS"/>
                        </a:rPr>
                        <a:t>7,27</a:t>
                      </a:r>
                      <a:endParaRPr sz="1400" dirty="0">
                        <a:solidFill>
                          <a:srgbClr val="7030A0"/>
                        </a:solidFill>
                        <a:latin typeface="Trebuchet MS"/>
                        <a:cs typeface="Trebuchet MS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580"/>
                        </a:lnSpc>
                      </a:pPr>
                      <a:r>
                        <a:rPr sz="1400" spc="-20" dirty="0">
                          <a:solidFill>
                            <a:srgbClr val="7030A0"/>
                          </a:solidFill>
                          <a:latin typeface="Trebuchet MS"/>
                          <a:cs typeface="Trebuchet MS"/>
                        </a:rPr>
                        <a:t>7,84</a:t>
                      </a:r>
                      <a:endParaRPr sz="1400">
                        <a:solidFill>
                          <a:srgbClr val="7030A0"/>
                        </a:solidFill>
                        <a:latin typeface="Trebuchet MS"/>
                        <a:cs typeface="Trebuchet MS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13360">
                <a:tc>
                  <a:txBody>
                    <a:bodyPr/>
                    <a:lstStyle/>
                    <a:p>
                      <a:pPr algn="ctr">
                        <a:lnSpc>
                          <a:spcPts val="1580"/>
                        </a:lnSpc>
                      </a:pPr>
                      <a:r>
                        <a:rPr sz="1400" b="1" spc="-10" dirty="0">
                          <a:solidFill>
                            <a:schemeClr val="tx1"/>
                          </a:solidFill>
                          <a:latin typeface="Trebuchet MS"/>
                          <a:cs typeface="Trebuchet MS"/>
                        </a:rPr>
                        <a:t>Четвертый</a:t>
                      </a:r>
                      <a:endParaRPr sz="1400" dirty="0">
                        <a:solidFill>
                          <a:schemeClr val="tx1"/>
                        </a:solidFill>
                        <a:latin typeface="Trebuchet MS"/>
                        <a:cs typeface="Trebuchet MS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580"/>
                        </a:lnSpc>
                      </a:pPr>
                      <a:r>
                        <a:rPr sz="1400" spc="-20" dirty="0">
                          <a:solidFill>
                            <a:srgbClr val="7030A0"/>
                          </a:solidFill>
                          <a:latin typeface="Trebuchet MS"/>
                          <a:cs typeface="Trebuchet MS"/>
                        </a:rPr>
                        <a:t>7,41</a:t>
                      </a:r>
                      <a:endParaRPr sz="1400">
                        <a:solidFill>
                          <a:srgbClr val="7030A0"/>
                        </a:solidFill>
                        <a:latin typeface="Trebuchet MS"/>
                        <a:cs typeface="Trebuchet MS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580"/>
                        </a:lnSpc>
                      </a:pPr>
                      <a:r>
                        <a:rPr sz="1400" spc="-20" dirty="0">
                          <a:solidFill>
                            <a:srgbClr val="7030A0"/>
                          </a:solidFill>
                          <a:latin typeface="Trebuchet MS"/>
                          <a:cs typeface="Trebuchet MS"/>
                        </a:rPr>
                        <a:t>7,37</a:t>
                      </a:r>
                      <a:endParaRPr sz="1400" dirty="0">
                        <a:solidFill>
                          <a:srgbClr val="7030A0"/>
                        </a:solidFill>
                        <a:latin typeface="Trebuchet MS"/>
                        <a:cs typeface="Trebuchet MS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580"/>
                        </a:lnSpc>
                      </a:pPr>
                      <a:r>
                        <a:rPr sz="1400" spc="-20" dirty="0">
                          <a:solidFill>
                            <a:srgbClr val="7030A0"/>
                          </a:solidFill>
                          <a:latin typeface="Trebuchet MS"/>
                          <a:cs typeface="Trebuchet MS"/>
                        </a:rPr>
                        <a:t>7,42</a:t>
                      </a:r>
                      <a:endParaRPr sz="1400" dirty="0">
                        <a:solidFill>
                          <a:srgbClr val="7030A0"/>
                        </a:solidFill>
                        <a:latin typeface="Trebuchet MS"/>
                        <a:cs typeface="Trebuchet MS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13360">
                <a:tc>
                  <a:txBody>
                    <a:bodyPr/>
                    <a:lstStyle/>
                    <a:p>
                      <a:pPr algn="ctr">
                        <a:lnSpc>
                          <a:spcPts val="1580"/>
                        </a:lnSpc>
                      </a:pPr>
                      <a:r>
                        <a:rPr sz="1400" b="1" spc="-10" dirty="0">
                          <a:solidFill>
                            <a:schemeClr val="tx1"/>
                          </a:solidFill>
                          <a:latin typeface="Trebuchet MS"/>
                          <a:cs typeface="Trebuchet MS"/>
                        </a:rPr>
                        <a:t>Пятый</a:t>
                      </a:r>
                      <a:endParaRPr sz="1400" dirty="0">
                        <a:solidFill>
                          <a:schemeClr val="tx1"/>
                        </a:solidFill>
                        <a:latin typeface="Trebuchet MS"/>
                        <a:cs typeface="Trebuchet MS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580"/>
                        </a:lnSpc>
                      </a:pPr>
                      <a:r>
                        <a:rPr sz="1400" spc="-20" dirty="0">
                          <a:solidFill>
                            <a:srgbClr val="7030A0"/>
                          </a:solidFill>
                          <a:latin typeface="Trebuchet MS"/>
                          <a:cs typeface="Trebuchet MS"/>
                        </a:rPr>
                        <a:t>8,27</a:t>
                      </a:r>
                      <a:endParaRPr sz="1400">
                        <a:solidFill>
                          <a:srgbClr val="7030A0"/>
                        </a:solidFill>
                        <a:latin typeface="Trebuchet MS"/>
                        <a:cs typeface="Trebuchet MS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580"/>
                        </a:lnSpc>
                      </a:pPr>
                      <a:r>
                        <a:rPr sz="1400" spc="-20" dirty="0">
                          <a:solidFill>
                            <a:srgbClr val="7030A0"/>
                          </a:solidFill>
                          <a:latin typeface="Trebuchet MS"/>
                          <a:cs typeface="Trebuchet MS"/>
                        </a:rPr>
                        <a:t>8,07</a:t>
                      </a:r>
                      <a:endParaRPr sz="1400" dirty="0">
                        <a:solidFill>
                          <a:srgbClr val="7030A0"/>
                        </a:solidFill>
                        <a:latin typeface="Trebuchet MS"/>
                        <a:cs typeface="Trebuchet MS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580"/>
                        </a:lnSpc>
                      </a:pPr>
                      <a:r>
                        <a:rPr sz="1400" spc="-25" dirty="0">
                          <a:solidFill>
                            <a:srgbClr val="7030A0"/>
                          </a:solidFill>
                          <a:latin typeface="Trebuchet MS"/>
                          <a:cs typeface="Trebuchet MS"/>
                        </a:rPr>
                        <a:t>7,6</a:t>
                      </a:r>
                      <a:endParaRPr sz="1400" dirty="0">
                        <a:solidFill>
                          <a:srgbClr val="7030A0"/>
                        </a:solidFill>
                        <a:latin typeface="Trebuchet MS"/>
                        <a:cs typeface="Trebuchet MS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12725">
                <a:tc>
                  <a:txBody>
                    <a:bodyPr/>
                    <a:lstStyle/>
                    <a:p>
                      <a:pPr marL="635" algn="ctr">
                        <a:lnSpc>
                          <a:spcPts val="1580"/>
                        </a:lnSpc>
                      </a:pPr>
                      <a:r>
                        <a:rPr sz="1400" b="1" spc="-10" dirty="0">
                          <a:solidFill>
                            <a:schemeClr val="tx1"/>
                          </a:solidFill>
                          <a:latin typeface="Trebuchet MS"/>
                          <a:cs typeface="Trebuchet MS"/>
                        </a:rPr>
                        <a:t>Шестой</a:t>
                      </a:r>
                      <a:endParaRPr sz="1400" dirty="0">
                        <a:solidFill>
                          <a:schemeClr val="tx1"/>
                        </a:solidFill>
                        <a:latin typeface="Trebuchet MS"/>
                        <a:cs typeface="Trebuchet MS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580"/>
                        </a:lnSpc>
                      </a:pPr>
                      <a:r>
                        <a:rPr sz="1400" spc="-20" dirty="0">
                          <a:solidFill>
                            <a:srgbClr val="7030A0"/>
                          </a:solidFill>
                          <a:latin typeface="Trebuchet MS"/>
                          <a:cs typeface="Trebuchet MS"/>
                        </a:rPr>
                        <a:t>8,05</a:t>
                      </a:r>
                      <a:endParaRPr sz="1400">
                        <a:solidFill>
                          <a:srgbClr val="7030A0"/>
                        </a:solidFill>
                        <a:latin typeface="Trebuchet MS"/>
                        <a:cs typeface="Trebuchet MS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580"/>
                        </a:lnSpc>
                      </a:pPr>
                      <a:r>
                        <a:rPr sz="1400" spc="-20" dirty="0">
                          <a:solidFill>
                            <a:srgbClr val="7030A0"/>
                          </a:solidFill>
                          <a:latin typeface="Trebuchet MS"/>
                          <a:cs typeface="Trebuchet MS"/>
                        </a:rPr>
                        <a:t>8,55</a:t>
                      </a:r>
                      <a:endParaRPr sz="1400" dirty="0">
                        <a:solidFill>
                          <a:srgbClr val="7030A0"/>
                        </a:solidFill>
                        <a:latin typeface="Trebuchet MS"/>
                        <a:cs typeface="Trebuchet MS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580"/>
                        </a:lnSpc>
                      </a:pPr>
                      <a:r>
                        <a:rPr sz="1400" spc="-20" dirty="0">
                          <a:solidFill>
                            <a:srgbClr val="7030A0"/>
                          </a:solidFill>
                          <a:latin typeface="Trebuchet MS"/>
                          <a:cs typeface="Trebuchet MS"/>
                        </a:rPr>
                        <a:t>7,53</a:t>
                      </a:r>
                      <a:endParaRPr sz="1400" dirty="0">
                        <a:solidFill>
                          <a:srgbClr val="7030A0"/>
                        </a:solidFill>
                        <a:latin typeface="Trebuchet MS"/>
                        <a:cs typeface="Trebuchet MS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539495" y="2161032"/>
            <a:ext cx="8354568" cy="3377184"/>
          </a:xfrm>
          <a:prstGeom prst="rect">
            <a:avLst/>
          </a:prstGeom>
        </p:spPr>
      </p:pic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17B0275B-1C1A-4C5F-A494-312967DF6621}"/>
              </a:ext>
            </a:extLst>
          </p:cNvPr>
          <p:cNvSpPr>
            <a:spLocks noGrp="1"/>
          </p:cNvSpPr>
          <p:nvPr>
            <p:ph type="ftr" sz="quarter" idx="5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55">
            <a:extLst>
              <a:ext uri="{FF2B5EF4-FFF2-40B4-BE49-F238E27FC236}">
                <a16:creationId xmlns:a16="http://schemas.microsoft.com/office/drawing/2014/main" id="{56B55FF4-8918-4396-8E58-CD1D314E5E9C}"/>
              </a:ext>
            </a:extLst>
          </p:cNvPr>
          <p:cNvSpPr txBox="1">
            <a:spLocks/>
          </p:cNvSpPr>
          <p:nvPr/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kern="0"/>
            </a:defPPr>
            <a:lvl1pPr marL="38100" algn="r">
              <a:lnSpc>
                <a:spcPct val="100000"/>
              </a:lnSpc>
              <a:spcBef>
                <a:spcPts val="244"/>
              </a:spcBef>
              <a:defRPr sz="1500" spc="-25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1D60167-4931-47E6-BA6A-407CBD079E47}" type="slidenum">
              <a:rPr lang="ru-RU"/>
              <a:pPr/>
              <a:t>46</a:t>
            </a:fld>
            <a:endParaRPr lang="ru-RU" dirty="0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ct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95020866"/>
              </p:ext>
            </p:extLst>
          </p:nvPr>
        </p:nvGraphicFramePr>
        <p:xfrm>
          <a:off x="2260600" y="196850"/>
          <a:ext cx="5175883" cy="177292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29349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9413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9412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29412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81305">
                <a:tc rowSpan="2">
                  <a:txBody>
                    <a:bodyPr/>
                    <a:lstStyle/>
                    <a:p>
                      <a:pPr marL="194945">
                        <a:lnSpc>
                          <a:spcPct val="100000"/>
                        </a:lnSpc>
                        <a:spcBef>
                          <a:spcPts val="1340"/>
                        </a:spcBef>
                      </a:pPr>
                      <a:r>
                        <a:rPr sz="1400" b="1" dirty="0">
                          <a:solidFill>
                            <a:schemeClr val="tx1"/>
                          </a:solidFill>
                          <a:latin typeface="Trebuchet MS"/>
                          <a:cs typeface="Trebuchet MS"/>
                        </a:rPr>
                        <a:t>Вид</a:t>
                      </a:r>
                      <a:r>
                        <a:rPr sz="1400" spc="65" dirty="0">
                          <a:solidFill>
                            <a:schemeClr val="tx1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400" b="1" spc="-10" dirty="0">
                          <a:solidFill>
                            <a:schemeClr val="tx1"/>
                          </a:solidFill>
                          <a:latin typeface="Trebuchet MS"/>
                          <a:cs typeface="Trebuchet MS"/>
                        </a:rPr>
                        <a:t>сырья</a:t>
                      </a:r>
                      <a:endParaRPr sz="1400" dirty="0">
                        <a:solidFill>
                          <a:schemeClr val="tx1"/>
                        </a:solidFill>
                        <a:latin typeface="Trebuchet MS"/>
                        <a:cs typeface="Trebuchet MS"/>
                      </a:endParaRPr>
                    </a:p>
                  </a:txBody>
                  <a:tcPr marL="0" marR="0" marT="17018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381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gridSpan="3">
                  <a:txBody>
                    <a:bodyPr/>
                    <a:lstStyle/>
                    <a:p>
                      <a:pPr marL="1223645">
                        <a:lnSpc>
                          <a:spcPts val="1614"/>
                        </a:lnSpc>
                        <a:spcBef>
                          <a:spcPts val="500"/>
                        </a:spcBef>
                      </a:pPr>
                      <a:r>
                        <a:rPr sz="1400" b="1" dirty="0">
                          <a:solidFill>
                            <a:schemeClr val="tx1"/>
                          </a:solidFill>
                          <a:latin typeface="Trebuchet MS"/>
                          <a:cs typeface="Trebuchet MS"/>
                        </a:rPr>
                        <a:t>Год</a:t>
                      </a:r>
                      <a:r>
                        <a:rPr sz="1400" spc="55" dirty="0">
                          <a:solidFill>
                            <a:schemeClr val="tx1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400" b="1" spc="-10" dirty="0">
                          <a:solidFill>
                            <a:schemeClr val="tx1"/>
                          </a:solidFill>
                          <a:latin typeface="Trebuchet MS"/>
                          <a:cs typeface="Trebuchet MS"/>
                        </a:rPr>
                        <a:t>производства</a:t>
                      </a:r>
                      <a:endParaRPr sz="1400">
                        <a:solidFill>
                          <a:schemeClr val="tx1"/>
                        </a:solidFill>
                        <a:latin typeface="Trebuchet MS"/>
                        <a:cs typeface="Trebuchet MS"/>
                      </a:endParaRPr>
                    </a:p>
                  </a:txBody>
                  <a:tcPr marL="0" marR="0" marT="63500" marB="0">
                    <a:lnL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13360"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17018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381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5ECA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580"/>
                        </a:lnSpc>
                      </a:pPr>
                      <a:r>
                        <a:rPr sz="1400" spc="-20" dirty="0">
                          <a:solidFill>
                            <a:schemeClr val="tx1"/>
                          </a:solidFill>
                          <a:latin typeface="Trebuchet MS"/>
                          <a:cs typeface="Trebuchet MS"/>
                        </a:rPr>
                        <a:t>2017</a:t>
                      </a:r>
                      <a:endParaRPr sz="1400" dirty="0">
                        <a:solidFill>
                          <a:schemeClr val="tx1"/>
                        </a:solidFill>
                        <a:latin typeface="Trebuchet MS"/>
                        <a:cs typeface="Trebuchet MS"/>
                      </a:endParaRPr>
                    </a:p>
                  </a:txBody>
                  <a:tcPr marL="0" marR="0" marT="0" marB="0">
                    <a:lnL w="381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580"/>
                        </a:lnSpc>
                      </a:pPr>
                      <a:r>
                        <a:rPr sz="1400" spc="-20" dirty="0">
                          <a:solidFill>
                            <a:schemeClr val="tx1"/>
                          </a:solidFill>
                          <a:latin typeface="Trebuchet MS"/>
                          <a:cs typeface="Trebuchet MS"/>
                        </a:rPr>
                        <a:t>2018</a:t>
                      </a:r>
                      <a:endParaRPr sz="1400" dirty="0">
                        <a:solidFill>
                          <a:schemeClr val="tx1"/>
                        </a:solidFill>
                        <a:latin typeface="Trebuchet MS"/>
                        <a:cs typeface="Trebuchet MS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580"/>
                        </a:lnSpc>
                      </a:pPr>
                      <a:r>
                        <a:rPr sz="1400" spc="-20" dirty="0">
                          <a:solidFill>
                            <a:schemeClr val="tx1"/>
                          </a:solidFill>
                          <a:latin typeface="Trebuchet MS"/>
                          <a:cs typeface="Trebuchet MS"/>
                        </a:rPr>
                        <a:t>2019</a:t>
                      </a:r>
                      <a:endParaRPr sz="1400" dirty="0">
                        <a:solidFill>
                          <a:schemeClr val="tx1"/>
                        </a:solidFill>
                        <a:latin typeface="Trebuchet MS"/>
                        <a:cs typeface="Trebuchet MS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12725">
                <a:tc>
                  <a:txBody>
                    <a:bodyPr/>
                    <a:lstStyle/>
                    <a:p>
                      <a:pPr algn="ctr">
                        <a:lnSpc>
                          <a:spcPts val="1580"/>
                        </a:lnSpc>
                      </a:pPr>
                      <a:r>
                        <a:rPr sz="1400" b="1" spc="-10" dirty="0">
                          <a:solidFill>
                            <a:schemeClr val="tx1"/>
                          </a:solidFill>
                          <a:latin typeface="Trebuchet MS"/>
                          <a:cs typeface="Trebuchet MS"/>
                        </a:rPr>
                        <a:t>Первый</a:t>
                      </a:r>
                      <a:endParaRPr sz="1400">
                        <a:solidFill>
                          <a:schemeClr val="tx1"/>
                        </a:solidFill>
                        <a:latin typeface="Trebuchet MS"/>
                        <a:cs typeface="Trebuchet MS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580"/>
                        </a:lnSpc>
                      </a:pPr>
                      <a:r>
                        <a:rPr sz="1400" spc="-20" dirty="0">
                          <a:solidFill>
                            <a:srgbClr val="7030A0"/>
                          </a:solidFill>
                          <a:latin typeface="Trebuchet MS"/>
                          <a:cs typeface="Trebuchet MS"/>
                        </a:rPr>
                        <a:t>7,01</a:t>
                      </a:r>
                      <a:endParaRPr sz="1400" dirty="0">
                        <a:solidFill>
                          <a:srgbClr val="7030A0"/>
                        </a:solidFill>
                        <a:latin typeface="Trebuchet MS"/>
                        <a:cs typeface="Trebuchet MS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580"/>
                        </a:lnSpc>
                      </a:pPr>
                      <a:r>
                        <a:rPr sz="1400" spc="-20" dirty="0">
                          <a:solidFill>
                            <a:srgbClr val="7030A0"/>
                          </a:solidFill>
                          <a:latin typeface="Trebuchet MS"/>
                          <a:cs typeface="Trebuchet MS"/>
                        </a:rPr>
                        <a:t>7,39</a:t>
                      </a:r>
                      <a:endParaRPr sz="1400">
                        <a:solidFill>
                          <a:srgbClr val="7030A0"/>
                        </a:solidFill>
                        <a:latin typeface="Trebuchet MS"/>
                        <a:cs typeface="Trebuchet MS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580"/>
                        </a:lnSpc>
                      </a:pPr>
                      <a:r>
                        <a:rPr sz="1400" spc="-25" dirty="0">
                          <a:solidFill>
                            <a:srgbClr val="7030A0"/>
                          </a:solidFill>
                          <a:latin typeface="Trebuchet MS"/>
                          <a:cs typeface="Trebuchet MS"/>
                        </a:rPr>
                        <a:t>8,6</a:t>
                      </a:r>
                      <a:endParaRPr sz="1400">
                        <a:solidFill>
                          <a:srgbClr val="7030A0"/>
                        </a:solidFill>
                        <a:latin typeface="Trebuchet MS"/>
                        <a:cs typeface="Trebuchet MS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13360">
                <a:tc>
                  <a:txBody>
                    <a:bodyPr/>
                    <a:lstStyle/>
                    <a:p>
                      <a:pPr algn="ctr">
                        <a:lnSpc>
                          <a:spcPts val="1580"/>
                        </a:lnSpc>
                      </a:pPr>
                      <a:r>
                        <a:rPr sz="1400" b="1" spc="-10" dirty="0">
                          <a:solidFill>
                            <a:schemeClr val="tx1"/>
                          </a:solidFill>
                          <a:latin typeface="Trebuchet MS"/>
                          <a:cs typeface="Trebuchet MS"/>
                        </a:rPr>
                        <a:t>Второй</a:t>
                      </a:r>
                      <a:endParaRPr sz="1400" dirty="0">
                        <a:solidFill>
                          <a:schemeClr val="tx1"/>
                        </a:solidFill>
                        <a:latin typeface="Trebuchet MS"/>
                        <a:cs typeface="Trebuchet MS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580"/>
                        </a:lnSpc>
                      </a:pPr>
                      <a:r>
                        <a:rPr sz="1400" spc="-20" dirty="0">
                          <a:solidFill>
                            <a:srgbClr val="7030A0"/>
                          </a:solidFill>
                          <a:latin typeface="Trebuchet MS"/>
                          <a:cs typeface="Trebuchet MS"/>
                        </a:rPr>
                        <a:t>8,28</a:t>
                      </a:r>
                      <a:endParaRPr sz="1400" dirty="0">
                        <a:solidFill>
                          <a:srgbClr val="7030A0"/>
                        </a:solidFill>
                        <a:latin typeface="Trebuchet MS"/>
                        <a:cs typeface="Trebuchet MS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580"/>
                        </a:lnSpc>
                      </a:pPr>
                      <a:r>
                        <a:rPr sz="1400" spc="-20" dirty="0">
                          <a:solidFill>
                            <a:srgbClr val="7030A0"/>
                          </a:solidFill>
                          <a:latin typeface="Trebuchet MS"/>
                          <a:cs typeface="Trebuchet MS"/>
                        </a:rPr>
                        <a:t>7,29</a:t>
                      </a:r>
                      <a:endParaRPr sz="1400">
                        <a:solidFill>
                          <a:srgbClr val="7030A0"/>
                        </a:solidFill>
                        <a:latin typeface="Trebuchet MS"/>
                        <a:cs typeface="Trebuchet MS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580"/>
                        </a:lnSpc>
                      </a:pPr>
                      <a:r>
                        <a:rPr sz="1400" spc="-20" dirty="0">
                          <a:solidFill>
                            <a:srgbClr val="7030A0"/>
                          </a:solidFill>
                          <a:latin typeface="Trebuchet MS"/>
                          <a:cs typeface="Trebuchet MS"/>
                        </a:rPr>
                        <a:t>8,18</a:t>
                      </a:r>
                      <a:endParaRPr sz="1400">
                        <a:solidFill>
                          <a:srgbClr val="7030A0"/>
                        </a:solidFill>
                        <a:latin typeface="Trebuchet MS"/>
                        <a:cs typeface="Trebuchet MS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12725">
                <a:tc>
                  <a:txBody>
                    <a:bodyPr/>
                    <a:lstStyle/>
                    <a:p>
                      <a:pPr algn="ctr">
                        <a:lnSpc>
                          <a:spcPts val="1580"/>
                        </a:lnSpc>
                      </a:pPr>
                      <a:r>
                        <a:rPr sz="1400" b="1" spc="-10" dirty="0">
                          <a:solidFill>
                            <a:schemeClr val="tx1"/>
                          </a:solidFill>
                          <a:latin typeface="Trebuchet MS"/>
                          <a:cs typeface="Trebuchet MS"/>
                        </a:rPr>
                        <a:t>Третий</a:t>
                      </a:r>
                      <a:endParaRPr sz="1400">
                        <a:solidFill>
                          <a:schemeClr val="tx1"/>
                        </a:solidFill>
                        <a:latin typeface="Trebuchet MS"/>
                        <a:cs typeface="Trebuchet MS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580"/>
                        </a:lnSpc>
                      </a:pPr>
                      <a:r>
                        <a:rPr sz="1400" spc="-20" dirty="0">
                          <a:solidFill>
                            <a:srgbClr val="7030A0"/>
                          </a:solidFill>
                          <a:latin typeface="Trebuchet MS"/>
                          <a:cs typeface="Trebuchet MS"/>
                        </a:rPr>
                        <a:t>7,55</a:t>
                      </a:r>
                      <a:endParaRPr sz="1400" dirty="0">
                        <a:solidFill>
                          <a:srgbClr val="7030A0"/>
                        </a:solidFill>
                        <a:latin typeface="Trebuchet MS"/>
                        <a:cs typeface="Trebuchet MS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580"/>
                        </a:lnSpc>
                      </a:pPr>
                      <a:r>
                        <a:rPr sz="1400" spc="-20" dirty="0">
                          <a:solidFill>
                            <a:srgbClr val="7030A0"/>
                          </a:solidFill>
                          <a:latin typeface="Trebuchet MS"/>
                          <a:cs typeface="Trebuchet MS"/>
                        </a:rPr>
                        <a:t>7,27</a:t>
                      </a:r>
                      <a:endParaRPr sz="1400" dirty="0">
                        <a:solidFill>
                          <a:srgbClr val="7030A0"/>
                        </a:solidFill>
                        <a:latin typeface="Trebuchet MS"/>
                        <a:cs typeface="Trebuchet MS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580"/>
                        </a:lnSpc>
                      </a:pPr>
                      <a:r>
                        <a:rPr sz="1400" spc="-20" dirty="0">
                          <a:solidFill>
                            <a:srgbClr val="7030A0"/>
                          </a:solidFill>
                          <a:latin typeface="Trebuchet MS"/>
                          <a:cs typeface="Trebuchet MS"/>
                        </a:rPr>
                        <a:t>7,84</a:t>
                      </a:r>
                      <a:endParaRPr sz="1400">
                        <a:solidFill>
                          <a:srgbClr val="7030A0"/>
                        </a:solidFill>
                        <a:latin typeface="Trebuchet MS"/>
                        <a:cs typeface="Trebuchet MS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13360">
                <a:tc>
                  <a:txBody>
                    <a:bodyPr/>
                    <a:lstStyle/>
                    <a:p>
                      <a:pPr algn="ctr">
                        <a:lnSpc>
                          <a:spcPts val="1580"/>
                        </a:lnSpc>
                      </a:pPr>
                      <a:r>
                        <a:rPr sz="1400" b="1" spc="-10" dirty="0">
                          <a:solidFill>
                            <a:schemeClr val="tx1"/>
                          </a:solidFill>
                          <a:latin typeface="Trebuchet MS"/>
                          <a:cs typeface="Trebuchet MS"/>
                        </a:rPr>
                        <a:t>Четвертый</a:t>
                      </a:r>
                      <a:endParaRPr sz="1400">
                        <a:solidFill>
                          <a:schemeClr val="tx1"/>
                        </a:solidFill>
                        <a:latin typeface="Trebuchet MS"/>
                        <a:cs typeface="Trebuchet MS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580"/>
                        </a:lnSpc>
                      </a:pPr>
                      <a:r>
                        <a:rPr sz="1400" spc="-20" dirty="0">
                          <a:solidFill>
                            <a:srgbClr val="7030A0"/>
                          </a:solidFill>
                          <a:latin typeface="Trebuchet MS"/>
                          <a:cs typeface="Trebuchet MS"/>
                        </a:rPr>
                        <a:t>7,41</a:t>
                      </a:r>
                      <a:endParaRPr sz="1400">
                        <a:solidFill>
                          <a:srgbClr val="7030A0"/>
                        </a:solidFill>
                        <a:latin typeface="Trebuchet MS"/>
                        <a:cs typeface="Trebuchet MS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580"/>
                        </a:lnSpc>
                      </a:pPr>
                      <a:r>
                        <a:rPr sz="1400" spc="-20" dirty="0">
                          <a:solidFill>
                            <a:srgbClr val="7030A0"/>
                          </a:solidFill>
                          <a:latin typeface="Trebuchet MS"/>
                          <a:cs typeface="Trebuchet MS"/>
                        </a:rPr>
                        <a:t>7,37</a:t>
                      </a:r>
                      <a:endParaRPr sz="1400" dirty="0">
                        <a:solidFill>
                          <a:srgbClr val="7030A0"/>
                        </a:solidFill>
                        <a:latin typeface="Trebuchet MS"/>
                        <a:cs typeface="Trebuchet MS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580"/>
                        </a:lnSpc>
                      </a:pPr>
                      <a:r>
                        <a:rPr sz="1400" spc="-20" dirty="0">
                          <a:solidFill>
                            <a:srgbClr val="7030A0"/>
                          </a:solidFill>
                          <a:latin typeface="Trebuchet MS"/>
                          <a:cs typeface="Trebuchet MS"/>
                        </a:rPr>
                        <a:t>7,42</a:t>
                      </a:r>
                      <a:endParaRPr sz="1400" dirty="0">
                        <a:solidFill>
                          <a:srgbClr val="7030A0"/>
                        </a:solidFill>
                        <a:latin typeface="Trebuchet MS"/>
                        <a:cs typeface="Trebuchet MS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13360">
                <a:tc>
                  <a:txBody>
                    <a:bodyPr/>
                    <a:lstStyle/>
                    <a:p>
                      <a:pPr algn="ctr">
                        <a:lnSpc>
                          <a:spcPts val="1580"/>
                        </a:lnSpc>
                      </a:pPr>
                      <a:r>
                        <a:rPr sz="1400" b="1" spc="-10" dirty="0">
                          <a:solidFill>
                            <a:schemeClr val="tx1"/>
                          </a:solidFill>
                          <a:latin typeface="Trebuchet MS"/>
                          <a:cs typeface="Trebuchet MS"/>
                        </a:rPr>
                        <a:t>Пятый</a:t>
                      </a:r>
                      <a:endParaRPr sz="1400">
                        <a:solidFill>
                          <a:schemeClr val="tx1"/>
                        </a:solidFill>
                        <a:latin typeface="Trebuchet MS"/>
                        <a:cs typeface="Trebuchet MS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580"/>
                        </a:lnSpc>
                      </a:pPr>
                      <a:r>
                        <a:rPr sz="1400" spc="-20" dirty="0">
                          <a:solidFill>
                            <a:srgbClr val="7030A0"/>
                          </a:solidFill>
                          <a:latin typeface="Trebuchet MS"/>
                          <a:cs typeface="Trebuchet MS"/>
                        </a:rPr>
                        <a:t>8,27</a:t>
                      </a:r>
                      <a:endParaRPr sz="1400">
                        <a:solidFill>
                          <a:srgbClr val="7030A0"/>
                        </a:solidFill>
                        <a:latin typeface="Trebuchet MS"/>
                        <a:cs typeface="Trebuchet MS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580"/>
                        </a:lnSpc>
                      </a:pPr>
                      <a:r>
                        <a:rPr sz="1400" spc="-20" dirty="0">
                          <a:solidFill>
                            <a:srgbClr val="7030A0"/>
                          </a:solidFill>
                          <a:latin typeface="Trebuchet MS"/>
                          <a:cs typeface="Trebuchet MS"/>
                        </a:rPr>
                        <a:t>8,07</a:t>
                      </a:r>
                      <a:endParaRPr sz="1400" dirty="0">
                        <a:solidFill>
                          <a:srgbClr val="7030A0"/>
                        </a:solidFill>
                        <a:latin typeface="Trebuchet MS"/>
                        <a:cs typeface="Trebuchet MS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580"/>
                        </a:lnSpc>
                      </a:pPr>
                      <a:r>
                        <a:rPr sz="1400" spc="-25" dirty="0">
                          <a:solidFill>
                            <a:srgbClr val="7030A0"/>
                          </a:solidFill>
                          <a:latin typeface="Trebuchet MS"/>
                          <a:cs typeface="Trebuchet MS"/>
                        </a:rPr>
                        <a:t>7,6</a:t>
                      </a:r>
                      <a:endParaRPr sz="1400" dirty="0">
                        <a:solidFill>
                          <a:srgbClr val="7030A0"/>
                        </a:solidFill>
                        <a:latin typeface="Trebuchet MS"/>
                        <a:cs typeface="Trebuchet MS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12725">
                <a:tc>
                  <a:txBody>
                    <a:bodyPr/>
                    <a:lstStyle/>
                    <a:p>
                      <a:pPr marL="635" algn="ctr">
                        <a:lnSpc>
                          <a:spcPts val="1580"/>
                        </a:lnSpc>
                      </a:pPr>
                      <a:r>
                        <a:rPr sz="1400" b="1" spc="-10" dirty="0">
                          <a:solidFill>
                            <a:schemeClr val="tx1"/>
                          </a:solidFill>
                          <a:latin typeface="Trebuchet MS"/>
                          <a:cs typeface="Trebuchet MS"/>
                        </a:rPr>
                        <a:t>Шестой</a:t>
                      </a:r>
                      <a:endParaRPr sz="1400">
                        <a:solidFill>
                          <a:schemeClr val="tx1"/>
                        </a:solidFill>
                        <a:latin typeface="Trebuchet MS"/>
                        <a:cs typeface="Trebuchet MS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580"/>
                        </a:lnSpc>
                      </a:pPr>
                      <a:r>
                        <a:rPr sz="1400" spc="-20" dirty="0">
                          <a:solidFill>
                            <a:srgbClr val="7030A0"/>
                          </a:solidFill>
                          <a:latin typeface="Trebuchet MS"/>
                          <a:cs typeface="Trebuchet MS"/>
                        </a:rPr>
                        <a:t>8,05</a:t>
                      </a:r>
                      <a:endParaRPr sz="1400" dirty="0">
                        <a:solidFill>
                          <a:srgbClr val="7030A0"/>
                        </a:solidFill>
                        <a:latin typeface="Trebuchet MS"/>
                        <a:cs typeface="Trebuchet MS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580"/>
                        </a:lnSpc>
                      </a:pPr>
                      <a:r>
                        <a:rPr sz="1400" spc="-20" dirty="0">
                          <a:solidFill>
                            <a:srgbClr val="7030A0"/>
                          </a:solidFill>
                          <a:latin typeface="Trebuchet MS"/>
                          <a:cs typeface="Trebuchet MS"/>
                        </a:rPr>
                        <a:t>8,55</a:t>
                      </a:r>
                      <a:endParaRPr sz="1400" dirty="0">
                        <a:solidFill>
                          <a:srgbClr val="7030A0"/>
                        </a:solidFill>
                        <a:latin typeface="Trebuchet MS"/>
                        <a:cs typeface="Trebuchet MS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580"/>
                        </a:lnSpc>
                      </a:pPr>
                      <a:r>
                        <a:rPr sz="1400" spc="-20" dirty="0">
                          <a:solidFill>
                            <a:srgbClr val="7030A0"/>
                          </a:solidFill>
                          <a:latin typeface="Trebuchet MS"/>
                          <a:cs typeface="Trebuchet MS"/>
                        </a:rPr>
                        <a:t>7,53</a:t>
                      </a:r>
                      <a:endParaRPr sz="1400" dirty="0">
                        <a:solidFill>
                          <a:srgbClr val="7030A0"/>
                        </a:solidFill>
                        <a:latin typeface="Trebuchet MS"/>
                        <a:cs typeface="Trebuchet MS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539495" y="2161032"/>
            <a:ext cx="8354568" cy="4474464"/>
          </a:xfrm>
          <a:prstGeom prst="rect">
            <a:avLst/>
          </a:prstGeom>
        </p:spPr>
      </p:pic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628D6A80-FC8B-4188-BF46-E0B49CFE333A}"/>
              </a:ext>
            </a:extLst>
          </p:cNvPr>
          <p:cNvSpPr>
            <a:spLocks noGrp="1"/>
          </p:cNvSpPr>
          <p:nvPr>
            <p:ph type="ftr" sz="quarter" idx="5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55">
            <a:extLst>
              <a:ext uri="{FF2B5EF4-FFF2-40B4-BE49-F238E27FC236}">
                <a16:creationId xmlns:a16="http://schemas.microsoft.com/office/drawing/2014/main" id="{534D4747-1CAF-4898-947D-2FBC14BDE2BD}"/>
              </a:ext>
            </a:extLst>
          </p:cNvPr>
          <p:cNvSpPr txBox="1">
            <a:spLocks/>
          </p:cNvSpPr>
          <p:nvPr/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kern="0"/>
            </a:defPPr>
            <a:lvl1pPr marL="38100" algn="r">
              <a:lnSpc>
                <a:spcPct val="100000"/>
              </a:lnSpc>
              <a:spcBef>
                <a:spcPts val="244"/>
              </a:spcBef>
              <a:defRPr sz="1500" spc="-25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1D60167-4931-47E6-BA6A-407CBD079E47}" type="slidenum">
              <a:rPr lang="ru-RU"/>
              <a:pPr/>
              <a:t>47</a:t>
            </a:fld>
            <a:endParaRPr lang="ru-RU" dirty="0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ct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51244872"/>
              </p:ext>
            </p:extLst>
          </p:nvPr>
        </p:nvGraphicFramePr>
        <p:xfrm>
          <a:off x="2260600" y="196850"/>
          <a:ext cx="5175883" cy="177292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29349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9413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9412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29412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81305">
                <a:tc rowSpan="2">
                  <a:txBody>
                    <a:bodyPr/>
                    <a:lstStyle/>
                    <a:p>
                      <a:pPr marL="194945">
                        <a:lnSpc>
                          <a:spcPct val="100000"/>
                        </a:lnSpc>
                        <a:spcBef>
                          <a:spcPts val="1340"/>
                        </a:spcBef>
                      </a:pPr>
                      <a:r>
                        <a:rPr sz="1400" b="1" dirty="0">
                          <a:solidFill>
                            <a:schemeClr val="tx1"/>
                          </a:solidFill>
                          <a:latin typeface="Trebuchet MS"/>
                          <a:cs typeface="Trebuchet MS"/>
                        </a:rPr>
                        <a:t>Вид</a:t>
                      </a:r>
                      <a:r>
                        <a:rPr sz="1400" spc="65" dirty="0">
                          <a:solidFill>
                            <a:schemeClr val="tx1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400" b="1" spc="-10" dirty="0">
                          <a:solidFill>
                            <a:schemeClr val="tx1"/>
                          </a:solidFill>
                          <a:latin typeface="Trebuchet MS"/>
                          <a:cs typeface="Trebuchet MS"/>
                        </a:rPr>
                        <a:t>сырья</a:t>
                      </a:r>
                      <a:endParaRPr sz="1400" dirty="0">
                        <a:solidFill>
                          <a:schemeClr val="tx1"/>
                        </a:solidFill>
                        <a:latin typeface="Trebuchet MS"/>
                        <a:cs typeface="Trebuchet MS"/>
                      </a:endParaRPr>
                    </a:p>
                  </a:txBody>
                  <a:tcPr marL="0" marR="0" marT="17018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381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tc gridSpan="3">
                  <a:txBody>
                    <a:bodyPr/>
                    <a:lstStyle/>
                    <a:p>
                      <a:pPr marL="1223645">
                        <a:lnSpc>
                          <a:spcPts val="1614"/>
                        </a:lnSpc>
                        <a:spcBef>
                          <a:spcPts val="500"/>
                        </a:spcBef>
                      </a:pPr>
                      <a:r>
                        <a:rPr sz="1400" b="1" dirty="0">
                          <a:solidFill>
                            <a:schemeClr val="tx1"/>
                          </a:solidFill>
                          <a:latin typeface="Trebuchet MS"/>
                          <a:cs typeface="Trebuchet MS"/>
                        </a:rPr>
                        <a:t>Год</a:t>
                      </a:r>
                      <a:r>
                        <a:rPr sz="1400" spc="55" dirty="0">
                          <a:solidFill>
                            <a:schemeClr val="tx1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400" b="1" spc="-10" dirty="0">
                          <a:solidFill>
                            <a:schemeClr val="tx1"/>
                          </a:solidFill>
                          <a:latin typeface="Trebuchet MS"/>
                          <a:cs typeface="Trebuchet MS"/>
                        </a:rPr>
                        <a:t>производства</a:t>
                      </a:r>
                      <a:endParaRPr sz="1400">
                        <a:solidFill>
                          <a:schemeClr val="tx1"/>
                        </a:solidFill>
                        <a:latin typeface="Trebuchet MS"/>
                        <a:cs typeface="Trebuchet MS"/>
                      </a:endParaRPr>
                    </a:p>
                  </a:txBody>
                  <a:tcPr marL="0" marR="0" marT="63500" marB="0">
                    <a:lnL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13360"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17018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381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5ECA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580"/>
                        </a:lnSpc>
                      </a:pPr>
                      <a:r>
                        <a:rPr sz="1400" spc="-20" dirty="0">
                          <a:solidFill>
                            <a:schemeClr val="tx1"/>
                          </a:solidFill>
                          <a:latin typeface="Trebuchet MS"/>
                          <a:cs typeface="Trebuchet MS"/>
                        </a:rPr>
                        <a:t>2017</a:t>
                      </a:r>
                      <a:endParaRPr sz="1400" dirty="0">
                        <a:solidFill>
                          <a:schemeClr val="tx1"/>
                        </a:solidFill>
                        <a:latin typeface="Trebuchet MS"/>
                        <a:cs typeface="Trebuchet MS"/>
                      </a:endParaRPr>
                    </a:p>
                  </a:txBody>
                  <a:tcPr marL="0" marR="0" marT="0" marB="0">
                    <a:lnL w="381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580"/>
                        </a:lnSpc>
                      </a:pPr>
                      <a:r>
                        <a:rPr sz="1400" spc="-20" dirty="0">
                          <a:solidFill>
                            <a:schemeClr val="tx1"/>
                          </a:solidFill>
                          <a:latin typeface="Trebuchet MS"/>
                          <a:cs typeface="Trebuchet MS"/>
                        </a:rPr>
                        <a:t>2018</a:t>
                      </a:r>
                      <a:endParaRPr sz="1400" dirty="0">
                        <a:solidFill>
                          <a:schemeClr val="tx1"/>
                        </a:solidFill>
                        <a:latin typeface="Trebuchet MS"/>
                        <a:cs typeface="Trebuchet MS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580"/>
                        </a:lnSpc>
                      </a:pPr>
                      <a:r>
                        <a:rPr sz="1400" spc="-20" dirty="0">
                          <a:solidFill>
                            <a:schemeClr val="tx1"/>
                          </a:solidFill>
                          <a:latin typeface="Trebuchet MS"/>
                          <a:cs typeface="Trebuchet MS"/>
                        </a:rPr>
                        <a:t>2019</a:t>
                      </a:r>
                      <a:endParaRPr sz="1400">
                        <a:solidFill>
                          <a:schemeClr val="tx1"/>
                        </a:solidFill>
                        <a:latin typeface="Trebuchet MS"/>
                        <a:cs typeface="Trebuchet MS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12725">
                <a:tc>
                  <a:txBody>
                    <a:bodyPr/>
                    <a:lstStyle/>
                    <a:p>
                      <a:pPr algn="ctr">
                        <a:lnSpc>
                          <a:spcPts val="1580"/>
                        </a:lnSpc>
                      </a:pPr>
                      <a:r>
                        <a:rPr sz="1400" b="1" spc="-10" dirty="0">
                          <a:solidFill>
                            <a:schemeClr val="tx1"/>
                          </a:solidFill>
                          <a:latin typeface="Trebuchet MS"/>
                          <a:cs typeface="Trebuchet MS"/>
                        </a:rPr>
                        <a:t>Первый</a:t>
                      </a:r>
                      <a:endParaRPr sz="1400">
                        <a:solidFill>
                          <a:schemeClr val="tx1"/>
                        </a:solidFill>
                        <a:latin typeface="Trebuchet MS"/>
                        <a:cs typeface="Trebuchet MS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580"/>
                        </a:lnSpc>
                      </a:pPr>
                      <a:r>
                        <a:rPr sz="1400" spc="-20" dirty="0">
                          <a:solidFill>
                            <a:srgbClr val="7030A0"/>
                          </a:solidFill>
                          <a:latin typeface="Trebuchet MS"/>
                          <a:cs typeface="Trebuchet MS"/>
                        </a:rPr>
                        <a:t>7,01</a:t>
                      </a:r>
                      <a:endParaRPr sz="1400" dirty="0">
                        <a:solidFill>
                          <a:srgbClr val="7030A0"/>
                        </a:solidFill>
                        <a:latin typeface="Trebuchet MS"/>
                        <a:cs typeface="Trebuchet MS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580"/>
                        </a:lnSpc>
                      </a:pPr>
                      <a:r>
                        <a:rPr sz="1400" spc="-20" dirty="0">
                          <a:solidFill>
                            <a:srgbClr val="7030A0"/>
                          </a:solidFill>
                          <a:latin typeface="Trebuchet MS"/>
                          <a:cs typeface="Trebuchet MS"/>
                        </a:rPr>
                        <a:t>7,39</a:t>
                      </a:r>
                      <a:endParaRPr sz="1400" dirty="0">
                        <a:solidFill>
                          <a:srgbClr val="7030A0"/>
                        </a:solidFill>
                        <a:latin typeface="Trebuchet MS"/>
                        <a:cs typeface="Trebuchet MS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580"/>
                        </a:lnSpc>
                      </a:pPr>
                      <a:r>
                        <a:rPr sz="1400" spc="-25" dirty="0">
                          <a:solidFill>
                            <a:srgbClr val="7030A0"/>
                          </a:solidFill>
                          <a:latin typeface="Trebuchet MS"/>
                          <a:cs typeface="Trebuchet MS"/>
                        </a:rPr>
                        <a:t>8,6</a:t>
                      </a:r>
                      <a:endParaRPr sz="1400">
                        <a:solidFill>
                          <a:srgbClr val="7030A0"/>
                        </a:solidFill>
                        <a:latin typeface="Trebuchet MS"/>
                        <a:cs typeface="Trebuchet MS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13360">
                <a:tc>
                  <a:txBody>
                    <a:bodyPr/>
                    <a:lstStyle/>
                    <a:p>
                      <a:pPr algn="ctr">
                        <a:lnSpc>
                          <a:spcPts val="1580"/>
                        </a:lnSpc>
                      </a:pPr>
                      <a:r>
                        <a:rPr sz="1400" b="1" spc="-10" dirty="0">
                          <a:solidFill>
                            <a:schemeClr val="tx1"/>
                          </a:solidFill>
                          <a:latin typeface="Trebuchet MS"/>
                          <a:cs typeface="Trebuchet MS"/>
                        </a:rPr>
                        <a:t>Второй</a:t>
                      </a:r>
                      <a:endParaRPr sz="1400">
                        <a:solidFill>
                          <a:schemeClr val="tx1"/>
                        </a:solidFill>
                        <a:latin typeface="Trebuchet MS"/>
                        <a:cs typeface="Trebuchet MS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580"/>
                        </a:lnSpc>
                      </a:pPr>
                      <a:r>
                        <a:rPr sz="1400" spc="-20" dirty="0">
                          <a:solidFill>
                            <a:srgbClr val="7030A0"/>
                          </a:solidFill>
                          <a:latin typeface="Trebuchet MS"/>
                          <a:cs typeface="Trebuchet MS"/>
                        </a:rPr>
                        <a:t>8,28</a:t>
                      </a:r>
                      <a:endParaRPr sz="1400" dirty="0">
                        <a:solidFill>
                          <a:srgbClr val="7030A0"/>
                        </a:solidFill>
                        <a:latin typeface="Trebuchet MS"/>
                        <a:cs typeface="Trebuchet MS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580"/>
                        </a:lnSpc>
                      </a:pPr>
                      <a:r>
                        <a:rPr sz="1400" spc="-20" dirty="0">
                          <a:solidFill>
                            <a:srgbClr val="7030A0"/>
                          </a:solidFill>
                          <a:latin typeface="Trebuchet MS"/>
                          <a:cs typeface="Trebuchet MS"/>
                        </a:rPr>
                        <a:t>7,29</a:t>
                      </a:r>
                      <a:endParaRPr sz="1400" dirty="0">
                        <a:solidFill>
                          <a:srgbClr val="7030A0"/>
                        </a:solidFill>
                        <a:latin typeface="Trebuchet MS"/>
                        <a:cs typeface="Trebuchet MS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580"/>
                        </a:lnSpc>
                      </a:pPr>
                      <a:r>
                        <a:rPr sz="1400" spc="-20" dirty="0">
                          <a:solidFill>
                            <a:srgbClr val="7030A0"/>
                          </a:solidFill>
                          <a:latin typeface="Trebuchet MS"/>
                          <a:cs typeface="Trebuchet MS"/>
                        </a:rPr>
                        <a:t>8,18</a:t>
                      </a:r>
                      <a:endParaRPr sz="1400">
                        <a:solidFill>
                          <a:srgbClr val="7030A0"/>
                        </a:solidFill>
                        <a:latin typeface="Trebuchet MS"/>
                        <a:cs typeface="Trebuchet MS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12725">
                <a:tc>
                  <a:txBody>
                    <a:bodyPr/>
                    <a:lstStyle/>
                    <a:p>
                      <a:pPr algn="ctr">
                        <a:lnSpc>
                          <a:spcPts val="1580"/>
                        </a:lnSpc>
                      </a:pPr>
                      <a:r>
                        <a:rPr sz="1400" b="1" spc="-10" dirty="0">
                          <a:solidFill>
                            <a:schemeClr val="tx1"/>
                          </a:solidFill>
                          <a:latin typeface="Trebuchet MS"/>
                          <a:cs typeface="Trebuchet MS"/>
                        </a:rPr>
                        <a:t>Третий</a:t>
                      </a:r>
                      <a:endParaRPr sz="1400" dirty="0">
                        <a:solidFill>
                          <a:schemeClr val="tx1"/>
                        </a:solidFill>
                        <a:latin typeface="Trebuchet MS"/>
                        <a:cs typeface="Trebuchet MS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580"/>
                        </a:lnSpc>
                      </a:pPr>
                      <a:r>
                        <a:rPr sz="1400" spc="-20" dirty="0">
                          <a:solidFill>
                            <a:srgbClr val="7030A0"/>
                          </a:solidFill>
                          <a:latin typeface="Trebuchet MS"/>
                          <a:cs typeface="Trebuchet MS"/>
                        </a:rPr>
                        <a:t>7,55</a:t>
                      </a:r>
                      <a:endParaRPr sz="1400" dirty="0">
                        <a:solidFill>
                          <a:srgbClr val="7030A0"/>
                        </a:solidFill>
                        <a:latin typeface="Trebuchet MS"/>
                        <a:cs typeface="Trebuchet MS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580"/>
                        </a:lnSpc>
                      </a:pPr>
                      <a:r>
                        <a:rPr sz="1400" spc="-20" dirty="0">
                          <a:solidFill>
                            <a:srgbClr val="7030A0"/>
                          </a:solidFill>
                          <a:latin typeface="Trebuchet MS"/>
                          <a:cs typeface="Trebuchet MS"/>
                        </a:rPr>
                        <a:t>7,27</a:t>
                      </a:r>
                      <a:endParaRPr sz="1400" dirty="0">
                        <a:solidFill>
                          <a:srgbClr val="7030A0"/>
                        </a:solidFill>
                        <a:latin typeface="Trebuchet MS"/>
                        <a:cs typeface="Trebuchet MS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580"/>
                        </a:lnSpc>
                      </a:pPr>
                      <a:r>
                        <a:rPr sz="1400" spc="-20" dirty="0">
                          <a:solidFill>
                            <a:srgbClr val="7030A0"/>
                          </a:solidFill>
                          <a:latin typeface="Trebuchet MS"/>
                          <a:cs typeface="Trebuchet MS"/>
                        </a:rPr>
                        <a:t>7,84</a:t>
                      </a:r>
                      <a:endParaRPr sz="1400" dirty="0">
                        <a:solidFill>
                          <a:srgbClr val="7030A0"/>
                        </a:solidFill>
                        <a:latin typeface="Trebuchet MS"/>
                        <a:cs typeface="Trebuchet MS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13360">
                <a:tc>
                  <a:txBody>
                    <a:bodyPr/>
                    <a:lstStyle/>
                    <a:p>
                      <a:pPr algn="ctr">
                        <a:lnSpc>
                          <a:spcPts val="1580"/>
                        </a:lnSpc>
                      </a:pPr>
                      <a:r>
                        <a:rPr sz="1400" b="1" spc="-10" dirty="0">
                          <a:solidFill>
                            <a:schemeClr val="tx1"/>
                          </a:solidFill>
                          <a:latin typeface="Trebuchet MS"/>
                          <a:cs typeface="Trebuchet MS"/>
                        </a:rPr>
                        <a:t>Четвертый</a:t>
                      </a:r>
                      <a:endParaRPr sz="1400" dirty="0">
                        <a:solidFill>
                          <a:schemeClr val="tx1"/>
                        </a:solidFill>
                        <a:latin typeface="Trebuchet MS"/>
                        <a:cs typeface="Trebuchet MS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580"/>
                        </a:lnSpc>
                      </a:pPr>
                      <a:r>
                        <a:rPr sz="1400" spc="-20" dirty="0">
                          <a:solidFill>
                            <a:srgbClr val="7030A0"/>
                          </a:solidFill>
                          <a:latin typeface="Trebuchet MS"/>
                          <a:cs typeface="Trebuchet MS"/>
                        </a:rPr>
                        <a:t>7,41</a:t>
                      </a:r>
                      <a:endParaRPr sz="1400">
                        <a:solidFill>
                          <a:srgbClr val="7030A0"/>
                        </a:solidFill>
                        <a:latin typeface="Trebuchet MS"/>
                        <a:cs typeface="Trebuchet MS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580"/>
                        </a:lnSpc>
                      </a:pPr>
                      <a:r>
                        <a:rPr sz="1400" spc="-20" dirty="0">
                          <a:solidFill>
                            <a:srgbClr val="7030A0"/>
                          </a:solidFill>
                          <a:latin typeface="Trebuchet MS"/>
                          <a:cs typeface="Trebuchet MS"/>
                        </a:rPr>
                        <a:t>7,37</a:t>
                      </a:r>
                      <a:endParaRPr sz="1400" dirty="0">
                        <a:solidFill>
                          <a:srgbClr val="7030A0"/>
                        </a:solidFill>
                        <a:latin typeface="Trebuchet MS"/>
                        <a:cs typeface="Trebuchet MS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580"/>
                        </a:lnSpc>
                      </a:pPr>
                      <a:r>
                        <a:rPr sz="1400" spc="-20" dirty="0">
                          <a:solidFill>
                            <a:srgbClr val="7030A0"/>
                          </a:solidFill>
                          <a:latin typeface="Trebuchet MS"/>
                          <a:cs typeface="Trebuchet MS"/>
                        </a:rPr>
                        <a:t>7,42</a:t>
                      </a:r>
                      <a:endParaRPr sz="1400" dirty="0">
                        <a:solidFill>
                          <a:srgbClr val="7030A0"/>
                        </a:solidFill>
                        <a:latin typeface="Trebuchet MS"/>
                        <a:cs typeface="Trebuchet MS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13360">
                <a:tc>
                  <a:txBody>
                    <a:bodyPr/>
                    <a:lstStyle/>
                    <a:p>
                      <a:pPr algn="ctr">
                        <a:lnSpc>
                          <a:spcPts val="1580"/>
                        </a:lnSpc>
                      </a:pPr>
                      <a:r>
                        <a:rPr sz="1400" b="1" spc="-10" dirty="0">
                          <a:solidFill>
                            <a:schemeClr val="tx1"/>
                          </a:solidFill>
                          <a:latin typeface="Trebuchet MS"/>
                          <a:cs typeface="Trebuchet MS"/>
                        </a:rPr>
                        <a:t>Пятый</a:t>
                      </a:r>
                      <a:endParaRPr sz="1400">
                        <a:solidFill>
                          <a:schemeClr val="tx1"/>
                        </a:solidFill>
                        <a:latin typeface="Trebuchet MS"/>
                        <a:cs typeface="Trebuchet MS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580"/>
                        </a:lnSpc>
                      </a:pPr>
                      <a:r>
                        <a:rPr sz="1400" spc="-20" dirty="0">
                          <a:solidFill>
                            <a:srgbClr val="7030A0"/>
                          </a:solidFill>
                          <a:latin typeface="Trebuchet MS"/>
                          <a:cs typeface="Trebuchet MS"/>
                        </a:rPr>
                        <a:t>8,27</a:t>
                      </a:r>
                      <a:endParaRPr sz="1400">
                        <a:solidFill>
                          <a:srgbClr val="7030A0"/>
                        </a:solidFill>
                        <a:latin typeface="Trebuchet MS"/>
                        <a:cs typeface="Trebuchet MS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580"/>
                        </a:lnSpc>
                      </a:pPr>
                      <a:r>
                        <a:rPr sz="1400" spc="-20" dirty="0">
                          <a:solidFill>
                            <a:srgbClr val="7030A0"/>
                          </a:solidFill>
                          <a:latin typeface="Trebuchet MS"/>
                          <a:cs typeface="Trebuchet MS"/>
                        </a:rPr>
                        <a:t>8,07</a:t>
                      </a:r>
                      <a:endParaRPr sz="1400" dirty="0">
                        <a:solidFill>
                          <a:srgbClr val="7030A0"/>
                        </a:solidFill>
                        <a:latin typeface="Trebuchet MS"/>
                        <a:cs typeface="Trebuchet MS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580"/>
                        </a:lnSpc>
                      </a:pPr>
                      <a:r>
                        <a:rPr sz="1400" spc="-25" dirty="0">
                          <a:solidFill>
                            <a:srgbClr val="7030A0"/>
                          </a:solidFill>
                          <a:latin typeface="Trebuchet MS"/>
                          <a:cs typeface="Trebuchet MS"/>
                        </a:rPr>
                        <a:t>7,6</a:t>
                      </a:r>
                      <a:endParaRPr sz="1400" dirty="0">
                        <a:solidFill>
                          <a:srgbClr val="7030A0"/>
                        </a:solidFill>
                        <a:latin typeface="Trebuchet MS"/>
                        <a:cs typeface="Trebuchet MS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12725">
                <a:tc>
                  <a:txBody>
                    <a:bodyPr/>
                    <a:lstStyle/>
                    <a:p>
                      <a:pPr marL="635" algn="ctr">
                        <a:lnSpc>
                          <a:spcPts val="1580"/>
                        </a:lnSpc>
                      </a:pPr>
                      <a:r>
                        <a:rPr sz="1400" b="1" spc="-10" dirty="0">
                          <a:solidFill>
                            <a:schemeClr val="tx1"/>
                          </a:solidFill>
                          <a:latin typeface="Trebuchet MS"/>
                          <a:cs typeface="Trebuchet MS"/>
                        </a:rPr>
                        <a:t>Шестой</a:t>
                      </a:r>
                      <a:endParaRPr sz="1400">
                        <a:solidFill>
                          <a:schemeClr val="tx1"/>
                        </a:solidFill>
                        <a:latin typeface="Trebuchet MS"/>
                        <a:cs typeface="Trebuchet MS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580"/>
                        </a:lnSpc>
                      </a:pPr>
                      <a:r>
                        <a:rPr sz="1400" spc="-20" dirty="0">
                          <a:solidFill>
                            <a:srgbClr val="7030A0"/>
                          </a:solidFill>
                          <a:latin typeface="Trebuchet MS"/>
                          <a:cs typeface="Trebuchet MS"/>
                        </a:rPr>
                        <a:t>8,05</a:t>
                      </a:r>
                      <a:endParaRPr sz="1400">
                        <a:solidFill>
                          <a:srgbClr val="7030A0"/>
                        </a:solidFill>
                        <a:latin typeface="Trebuchet MS"/>
                        <a:cs typeface="Trebuchet MS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580"/>
                        </a:lnSpc>
                      </a:pPr>
                      <a:r>
                        <a:rPr sz="1400" spc="-20" dirty="0">
                          <a:solidFill>
                            <a:srgbClr val="7030A0"/>
                          </a:solidFill>
                          <a:latin typeface="Trebuchet MS"/>
                          <a:cs typeface="Trebuchet MS"/>
                        </a:rPr>
                        <a:t>8,55</a:t>
                      </a:r>
                      <a:endParaRPr sz="1400">
                        <a:solidFill>
                          <a:srgbClr val="7030A0"/>
                        </a:solidFill>
                        <a:latin typeface="Trebuchet MS"/>
                        <a:cs typeface="Trebuchet MS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580"/>
                        </a:lnSpc>
                      </a:pPr>
                      <a:r>
                        <a:rPr sz="1400" spc="-20" dirty="0">
                          <a:solidFill>
                            <a:srgbClr val="7030A0"/>
                          </a:solidFill>
                          <a:latin typeface="Trebuchet MS"/>
                          <a:cs typeface="Trebuchet MS"/>
                        </a:rPr>
                        <a:t>7,53</a:t>
                      </a:r>
                      <a:endParaRPr sz="1400" dirty="0">
                        <a:solidFill>
                          <a:srgbClr val="7030A0"/>
                        </a:solidFill>
                        <a:latin typeface="Trebuchet MS"/>
                        <a:cs typeface="Trebuchet MS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539495" y="2161032"/>
            <a:ext cx="8354568" cy="3057144"/>
          </a:xfrm>
          <a:prstGeom prst="rect">
            <a:avLst/>
          </a:prstGeom>
        </p:spPr>
      </p:pic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A9236D5A-A4F9-4524-A35E-6254550E50EA}"/>
              </a:ext>
            </a:extLst>
          </p:cNvPr>
          <p:cNvSpPr>
            <a:spLocks noGrp="1"/>
          </p:cNvSpPr>
          <p:nvPr>
            <p:ph type="ftr" sz="quarter" idx="5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55">
            <a:extLst>
              <a:ext uri="{FF2B5EF4-FFF2-40B4-BE49-F238E27FC236}">
                <a16:creationId xmlns:a16="http://schemas.microsoft.com/office/drawing/2014/main" id="{CA5D1A76-CFA1-4269-9063-41087D57CC75}"/>
              </a:ext>
            </a:extLst>
          </p:cNvPr>
          <p:cNvSpPr txBox="1">
            <a:spLocks/>
          </p:cNvSpPr>
          <p:nvPr/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kern="0"/>
            </a:defPPr>
            <a:lvl1pPr marL="38100" algn="r">
              <a:lnSpc>
                <a:spcPct val="100000"/>
              </a:lnSpc>
              <a:spcBef>
                <a:spcPts val="244"/>
              </a:spcBef>
              <a:defRPr sz="1500" spc="-25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1D60167-4931-47E6-BA6A-407CBD079E47}" type="slidenum">
              <a:rPr lang="ru-RU"/>
              <a:pPr/>
              <a:t>48</a:t>
            </a:fld>
            <a:endParaRPr lang="ru-RU" dirty="0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ct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03462305"/>
              </p:ext>
            </p:extLst>
          </p:nvPr>
        </p:nvGraphicFramePr>
        <p:xfrm>
          <a:off x="2260600" y="196850"/>
          <a:ext cx="5175883" cy="177292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29349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9413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9412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29412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81305">
                <a:tc rowSpan="2">
                  <a:txBody>
                    <a:bodyPr/>
                    <a:lstStyle/>
                    <a:p>
                      <a:pPr marL="194945">
                        <a:lnSpc>
                          <a:spcPct val="100000"/>
                        </a:lnSpc>
                        <a:spcBef>
                          <a:spcPts val="1340"/>
                        </a:spcBef>
                      </a:pPr>
                      <a:r>
                        <a:rPr sz="1400" b="1" dirty="0">
                          <a:solidFill>
                            <a:schemeClr val="tx1"/>
                          </a:solidFill>
                          <a:latin typeface="Trebuchet MS"/>
                          <a:cs typeface="Trebuchet MS"/>
                        </a:rPr>
                        <a:t>Вид</a:t>
                      </a:r>
                      <a:r>
                        <a:rPr sz="1400" spc="65" dirty="0">
                          <a:solidFill>
                            <a:schemeClr val="tx1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400" b="1" spc="-10" dirty="0">
                          <a:solidFill>
                            <a:schemeClr val="tx1"/>
                          </a:solidFill>
                          <a:latin typeface="Trebuchet MS"/>
                          <a:cs typeface="Trebuchet MS"/>
                        </a:rPr>
                        <a:t>сырья</a:t>
                      </a:r>
                      <a:endParaRPr sz="1400" dirty="0">
                        <a:solidFill>
                          <a:schemeClr val="tx1"/>
                        </a:solidFill>
                        <a:latin typeface="Trebuchet MS"/>
                        <a:cs typeface="Trebuchet MS"/>
                      </a:endParaRPr>
                    </a:p>
                  </a:txBody>
                  <a:tcPr marL="0" marR="0" marT="17018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381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tc gridSpan="3">
                  <a:txBody>
                    <a:bodyPr/>
                    <a:lstStyle/>
                    <a:p>
                      <a:pPr marL="1223645">
                        <a:lnSpc>
                          <a:spcPts val="1614"/>
                        </a:lnSpc>
                        <a:spcBef>
                          <a:spcPts val="500"/>
                        </a:spcBef>
                      </a:pPr>
                      <a:r>
                        <a:rPr sz="1400" b="1" dirty="0">
                          <a:solidFill>
                            <a:schemeClr val="tx1"/>
                          </a:solidFill>
                          <a:latin typeface="Trebuchet MS"/>
                          <a:cs typeface="Trebuchet MS"/>
                        </a:rPr>
                        <a:t>Год</a:t>
                      </a:r>
                      <a:r>
                        <a:rPr sz="1400" spc="55" dirty="0">
                          <a:solidFill>
                            <a:schemeClr val="tx1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400" b="1" spc="-10" dirty="0">
                          <a:solidFill>
                            <a:schemeClr val="tx1"/>
                          </a:solidFill>
                          <a:latin typeface="Trebuchet MS"/>
                          <a:cs typeface="Trebuchet MS"/>
                        </a:rPr>
                        <a:t>производства</a:t>
                      </a:r>
                      <a:endParaRPr sz="1400">
                        <a:solidFill>
                          <a:schemeClr val="tx1"/>
                        </a:solidFill>
                        <a:latin typeface="Trebuchet MS"/>
                        <a:cs typeface="Trebuchet MS"/>
                      </a:endParaRPr>
                    </a:p>
                  </a:txBody>
                  <a:tcPr marL="0" marR="0" marT="63500" marB="0">
                    <a:lnL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13360"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17018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381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5ECA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580"/>
                        </a:lnSpc>
                      </a:pPr>
                      <a:r>
                        <a:rPr sz="1400" spc="-20" dirty="0">
                          <a:solidFill>
                            <a:schemeClr val="tx1"/>
                          </a:solidFill>
                          <a:latin typeface="Trebuchet MS"/>
                          <a:cs typeface="Trebuchet MS"/>
                        </a:rPr>
                        <a:t>2017</a:t>
                      </a:r>
                      <a:endParaRPr sz="1400" dirty="0">
                        <a:solidFill>
                          <a:schemeClr val="tx1"/>
                        </a:solidFill>
                        <a:latin typeface="Trebuchet MS"/>
                        <a:cs typeface="Trebuchet MS"/>
                      </a:endParaRPr>
                    </a:p>
                  </a:txBody>
                  <a:tcPr marL="0" marR="0" marT="0" marB="0">
                    <a:lnL w="381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580"/>
                        </a:lnSpc>
                      </a:pPr>
                      <a:r>
                        <a:rPr sz="1400" spc="-20" dirty="0">
                          <a:solidFill>
                            <a:schemeClr val="tx1"/>
                          </a:solidFill>
                          <a:latin typeface="Trebuchet MS"/>
                          <a:cs typeface="Trebuchet MS"/>
                        </a:rPr>
                        <a:t>2018</a:t>
                      </a:r>
                      <a:endParaRPr sz="1400">
                        <a:solidFill>
                          <a:schemeClr val="tx1"/>
                        </a:solidFill>
                        <a:latin typeface="Trebuchet MS"/>
                        <a:cs typeface="Trebuchet MS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580"/>
                        </a:lnSpc>
                      </a:pPr>
                      <a:r>
                        <a:rPr sz="1400" spc="-20" dirty="0">
                          <a:solidFill>
                            <a:schemeClr val="tx1"/>
                          </a:solidFill>
                          <a:latin typeface="Trebuchet MS"/>
                          <a:cs typeface="Trebuchet MS"/>
                        </a:rPr>
                        <a:t>2019</a:t>
                      </a:r>
                      <a:endParaRPr sz="1400">
                        <a:solidFill>
                          <a:schemeClr val="tx1"/>
                        </a:solidFill>
                        <a:latin typeface="Trebuchet MS"/>
                        <a:cs typeface="Trebuchet MS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12725">
                <a:tc>
                  <a:txBody>
                    <a:bodyPr/>
                    <a:lstStyle/>
                    <a:p>
                      <a:pPr algn="ctr">
                        <a:lnSpc>
                          <a:spcPts val="1580"/>
                        </a:lnSpc>
                      </a:pPr>
                      <a:r>
                        <a:rPr sz="1400" b="1" spc="-10" dirty="0">
                          <a:solidFill>
                            <a:schemeClr val="tx1"/>
                          </a:solidFill>
                          <a:latin typeface="Trebuchet MS"/>
                          <a:cs typeface="Trebuchet MS"/>
                        </a:rPr>
                        <a:t>Первый</a:t>
                      </a:r>
                      <a:endParaRPr sz="1400" dirty="0">
                        <a:solidFill>
                          <a:schemeClr val="tx1"/>
                        </a:solidFill>
                        <a:latin typeface="Trebuchet MS"/>
                        <a:cs typeface="Trebuchet MS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580"/>
                        </a:lnSpc>
                      </a:pPr>
                      <a:r>
                        <a:rPr sz="1400" spc="-20" dirty="0">
                          <a:solidFill>
                            <a:srgbClr val="7030A0"/>
                          </a:solidFill>
                          <a:latin typeface="Trebuchet MS"/>
                          <a:cs typeface="Trebuchet MS"/>
                        </a:rPr>
                        <a:t>7,01</a:t>
                      </a:r>
                      <a:endParaRPr sz="1400" dirty="0">
                        <a:solidFill>
                          <a:srgbClr val="7030A0"/>
                        </a:solidFill>
                        <a:latin typeface="Trebuchet MS"/>
                        <a:cs typeface="Trebuchet MS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580"/>
                        </a:lnSpc>
                      </a:pPr>
                      <a:r>
                        <a:rPr sz="1400" spc="-20" dirty="0">
                          <a:solidFill>
                            <a:srgbClr val="7030A0"/>
                          </a:solidFill>
                          <a:latin typeface="Trebuchet MS"/>
                          <a:cs typeface="Trebuchet MS"/>
                        </a:rPr>
                        <a:t>7,39</a:t>
                      </a:r>
                      <a:endParaRPr sz="1400" dirty="0">
                        <a:solidFill>
                          <a:srgbClr val="7030A0"/>
                        </a:solidFill>
                        <a:latin typeface="Trebuchet MS"/>
                        <a:cs typeface="Trebuchet MS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580"/>
                        </a:lnSpc>
                      </a:pPr>
                      <a:r>
                        <a:rPr sz="1400" spc="-25" dirty="0">
                          <a:solidFill>
                            <a:srgbClr val="7030A0"/>
                          </a:solidFill>
                          <a:latin typeface="Trebuchet MS"/>
                          <a:cs typeface="Trebuchet MS"/>
                        </a:rPr>
                        <a:t>8,6</a:t>
                      </a:r>
                      <a:endParaRPr sz="1400">
                        <a:solidFill>
                          <a:srgbClr val="7030A0"/>
                        </a:solidFill>
                        <a:latin typeface="Trebuchet MS"/>
                        <a:cs typeface="Trebuchet MS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13360">
                <a:tc>
                  <a:txBody>
                    <a:bodyPr/>
                    <a:lstStyle/>
                    <a:p>
                      <a:pPr algn="ctr">
                        <a:lnSpc>
                          <a:spcPts val="1580"/>
                        </a:lnSpc>
                      </a:pPr>
                      <a:r>
                        <a:rPr sz="1400" b="1" spc="-10" dirty="0">
                          <a:solidFill>
                            <a:schemeClr val="tx1"/>
                          </a:solidFill>
                          <a:latin typeface="Trebuchet MS"/>
                          <a:cs typeface="Trebuchet MS"/>
                        </a:rPr>
                        <a:t>Второй</a:t>
                      </a:r>
                      <a:endParaRPr sz="1400">
                        <a:solidFill>
                          <a:schemeClr val="tx1"/>
                        </a:solidFill>
                        <a:latin typeface="Trebuchet MS"/>
                        <a:cs typeface="Trebuchet MS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580"/>
                        </a:lnSpc>
                      </a:pPr>
                      <a:r>
                        <a:rPr sz="1400" spc="-20" dirty="0">
                          <a:solidFill>
                            <a:srgbClr val="7030A0"/>
                          </a:solidFill>
                          <a:latin typeface="Trebuchet MS"/>
                          <a:cs typeface="Trebuchet MS"/>
                        </a:rPr>
                        <a:t>8,28</a:t>
                      </a:r>
                      <a:endParaRPr sz="1400" dirty="0">
                        <a:solidFill>
                          <a:srgbClr val="7030A0"/>
                        </a:solidFill>
                        <a:latin typeface="Trebuchet MS"/>
                        <a:cs typeface="Trebuchet MS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580"/>
                        </a:lnSpc>
                      </a:pPr>
                      <a:r>
                        <a:rPr sz="1400" spc="-20" dirty="0">
                          <a:solidFill>
                            <a:srgbClr val="7030A0"/>
                          </a:solidFill>
                          <a:latin typeface="Trebuchet MS"/>
                          <a:cs typeface="Trebuchet MS"/>
                        </a:rPr>
                        <a:t>7,29</a:t>
                      </a:r>
                      <a:endParaRPr sz="1400" dirty="0">
                        <a:solidFill>
                          <a:srgbClr val="7030A0"/>
                        </a:solidFill>
                        <a:latin typeface="Trebuchet MS"/>
                        <a:cs typeface="Trebuchet MS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580"/>
                        </a:lnSpc>
                      </a:pPr>
                      <a:r>
                        <a:rPr sz="1400" spc="-20" dirty="0">
                          <a:solidFill>
                            <a:srgbClr val="7030A0"/>
                          </a:solidFill>
                          <a:latin typeface="Trebuchet MS"/>
                          <a:cs typeface="Trebuchet MS"/>
                        </a:rPr>
                        <a:t>8,18</a:t>
                      </a:r>
                      <a:endParaRPr sz="1400">
                        <a:solidFill>
                          <a:srgbClr val="7030A0"/>
                        </a:solidFill>
                        <a:latin typeface="Trebuchet MS"/>
                        <a:cs typeface="Trebuchet MS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12725">
                <a:tc>
                  <a:txBody>
                    <a:bodyPr/>
                    <a:lstStyle/>
                    <a:p>
                      <a:pPr algn="ctr">
                        <a:lnSpc>
                          <a:spcPts val="1580"/>
                        </a:lnSpc>
                      </a:pPr>
                      <a:r>
                        <a:rPr sz="1400" b="1" spc="-10" dirty="0">
                          <a:solidFill>
                            <a:schemeClr val="tx1"/>
                          </a:solidFill>
                          <a:latin typeface="Trebuchet MS"/>
                          <a:cs typeface="Trebuchet MS"/>
                        </a:rPr>
                        <a:t>Третий</a:t>
                      </a:r>
                      <a:endParaRPr sz="1400">
                        <a:solidFill>
                          <a:schemeClr val="tx1"/>
                        </a:solidFill>
                        <a:latin typeface="Trebuchet MS"/>
                        <a:cs typeface="Trebuchet MS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580"/>
                        </a:lnSpc>
                      </a:pPr>
                      <a:r>
                        <a:rPr sz="1400" spc="-20" dirty="0">
                          <a:solidFill>
                            <a:srgbClr val="7030A0"/>
                          </a:solidFill>
                          <a:latin typeface="Trebuchet MS"/>
                          <a:cs typeface="Trebuchet MS"/>
                        </a:rPr>
                        <a:t>7,55</a:t>
                      </a:r>
                      <a:endParaRPr sz="1400" dirty="0">
                        <a:solidFill>
                          <a:srgbClr val="7030A0"/>
                        </a:solidFill>
                        <a:latin typeface="Trebuchet MS"/>
                        <a:cs typeface="Trebuchet MS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580"/>
                        </a:lnSpc>
                      </a:pPr>
                      <a:r>
                        <a:rPr sz="1400" spc="-20" dirty="0">
                          <a:solidFill>
                            <a:srgbClr val="7030A0"/>
                          </a:solidFill>
                          <a:latin typeface="Trebuchet MS"/>
                          <a:cs typeface="Trebuchet MS"/>
                        </a:rPr>
                        <a:t>7,27</a:t>
                      </a:r>
                      <a:endParaRPr sz="1400" dirty="0">
                        <a:solidFill>
                          <a:srgbClr val="7030A0"/>
                        </a:solidFill>
                        <a:latin typeface="Trebuchet MS"/>
                        <a:cs typeface="Trebuchet MS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580"/>
                        </a:lnSpc>
                      </a:pPr>
                      <a:r>
                        <a:rPr sz="1400" spc="-20" dirty="0">
                          <a:solidFill>
                            <a:srgbClr val="7030A0"/>
                          </a:solidFill>
                          <a:latin typeface="Trebuchet MS"/>
                          <a:cs typeface="Trebuchet MS"/>
                        </a:rPr>
                        <a:t>7,84</a:t>
                      </a:r>
                      <a:endParaRPr sz="1400">
                        <a:solidFill>
                          <a:srgbClr val="7030A0"/>
                        </a:solidFill>
                        <a:latin typeface="Trebuchet MS"/>
                        <a:cs typeface="Trebuchet MS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13360">
                <a:tc>
                  <a:txBody>
                    <a:bodyPr/>
                    <a:lstStyle/>
                    <a:p>
                      <a:pPr algn="ctr">
                        <a:lnSpc>
                          <a:spcPts val="1580"/>
                        </a:lnSpc>
                      </a:pPr>
                      <a:r>
                        <a:rPr sz="1400" b="1" spc="-10" dirty="0">
                          <a:solidFill>
                            <a:schemeClr val="tx1"/>
                          </a:solidFill>
                          <a:latin typeface="Trebuchet MS"/>
                          <a:cs typeface="Trebuchet MS"/>
                        </a:rPr>
                        <a:t>Четвертый</a:t>
                      </a:r>
                      <a:endParaRPr sz="1400" dirty="0">
                        <a:solidFill>
                          <a:schemeClr val="tx1"/>
                        </a:solidFill>
                        <a:latin typeface="Trebuchet MS"/>
                        <a:cs typeface="Trebuchet MS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580"/>
                        </a:lnSpc>
                      </a:pPr>
                      <a:r>
                        <a:rPr sz="1400" spc="-20" dirty="0">
                          <a:solidFill>
                            <a:srgbClr val="7030A0"/>
                          </a:solidFill>
                          <a:latin typeface="Trebuchet MS"/>
                          <a:cs typeface="Trebuchet MS"/>
                        </a:rPr>
                        <a:t>7,41</a:t>
                      </a:r>
                      <a:endParaRPr sz="1400" dirty="0">
                        <a:solidFill>
                          <a:srgbClr val="7030A0"/>
                        </a:solidFill>
                        <a:latin typeface="Trebuchet MS"/>
                        <a:cs typeface="Trebuchet MS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580"/>
                        </a:lnSpc>
                      </a:pPr>
                      <a:r>
                        <a:rPr sz="1400" spc="-20" dirty="0">
                          <a:solidFill>
                            <a:srgbClr val="7030A0"/>
                          </a:solidFill>
                          <a:latin typeface="Trebuchet MS"/>
                          <a:cs typeface="Trebuchet MS"/>
                        </a:rPr>
                        <a:t>7,37</a:t>
                      </a:r>
                      <a:endParaRPr sz="1400" dirty="0">
                        <a:solidFill>
                          <a:srgbClr val="7030A0"/>
                        </a:solidFill>
                        <a:latin typeface="Trebuchet MS"/>
                        <a:cs typeface="Trebuchet MS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580"/>
                        </a:lnSpc>
                      </a:pPr>
                      <a:r>
                        <a:rPr sz="1400" spc="-20" dirty="0">
                          <a:solidFill>
                            <a:srgbClr val="7030A0"/>
                          </a:solidFill>
                          <a:latin typeface="Trebuchet MS"/>
                          <a:cs typeface="Trebuchet MS"/>
                        </a:rPr>
                        <a:t>7,42</a:t>
                      </a:r>
                      <a:endParaRPr sz="1400" dirty="0">
                        <a:solidFill>
                          <a:srgbClr val="7030A0"/>
                        </a:solidFill>
                        <a:latin typeface="Trebuchet MS"/>
                        <a:cs typeface="Trebuchet MS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13360">
                <a:tc>
                  <a:txBody>
                    <a:bodyPr/>
                    <a:lstStyle/>
                    <a:p>
                      <a:pPr algn="ctr">
                        <a:lnSpc>
                          <a:spcPts val="1580"/>
                        </a:lnSpc>
                      </a:pPr>
                      <a:r>
                        <a:rPr sz="1400" b="1" spc="-10" dirty="0">
                          <a:solidFill>
                            <a:schemeClr val="tx1"/>
                          </a:solidFill>
                          <a:latin typeface="Trebuchet MS"/>
                          <a:cs typeface="Trebuchet MS"/>
                        </a:rPr>
                        <a:t>Пятый</a:t>
                      </a:r>
                      <a:endParaRPr sz="1400" dirty="0">
                        <a:solidFill>
                          <a:schemeClr val="tx1"/>
                        </a:solidFill>
                        <a:latin typeface="Trebuchet MS"/>
                        <a:cs typeface="Trebuchet MS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580"/>
                        </a:lnSpc>
                      </a:pPr>
                      <a:r>
                        <a:rPr sz="1400" spc="-20" dirty="0">
                          <a:solidFill>
                            <a:srgbClr val="7030A0"/>
                          </a:solidFill>
                          <a:latin typeface="Trebuchet MS"/>
                          <a:cs typeface="Trebuchet MS"/>
                        </a:rPr>
                        <a:t>8,27</a:t>
                      </a:r>
                      <a:endParaRPr sz="1400" dirty="0">
                        <a:solidFill>
                          <a:srgbClr val="7030A0"/>
                        </a:solidFill>
                        <a:latin typeface="Trebuchet MS"/>
                        <a:cs typeface="Trebuchet MS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580"/>
                        </a:lnSpc>
                      </a:pPr>
                      <a:r>
                        <a:rPr sz="1400" spc="-20" dirty="0">
                          <a:solidFill>
                            <a:srgbClr val="7030A0"/>
                          </a:solidFill>
                          <a:latin typeface="Trebuchet MS"/>
                          <a:cs typeface="Trebuchet MS"/>
                        </a:rPr>
                        <a:t>8,07</a:t>
                      </a:r>
                      <a:endParaRPr sz="1400" dirty="0">
                        <a:solidFill>
                          <a:srgbClr val="7030A0"/>
                        </a:solidFill>
                        <a:latin typeface="Trebuchet MS"/>
                        <a:cs typeface="Trebuchet MS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580"/>
                        </a:lnSpc>
                      </a:pPr>
                      <a:r>
                        <a:rPr sz="1400" spc="-25" dirty="0">
                          <a:solidFill>
                            <a:srgbClr val="7030A0"/>
                          </a:solidFill>
                          <a:latin typeface="Trebuchet MS"/>
                          <a:cs typeface="Trebuchet MS"/>
                        </a:rPr>
                        <a:t>7,6</a:t>
                      </a:r>
                      <a:endParaRPr sz="1400" dirty="0">
                        <a:solidFill>
                          <a:srgbClr val="7030A0"/>
                        </a:solidFill>
                        <a:latin typeface="Trebuchet MS"/>
                        <a:cs typeface="Trebuchet MS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12725">
                <a:tc>
                  <a:txBody>
                    <a:bodyPr/>
                    <a:lstStyle/>
                    <a:p>
                      <a:pPr marL="635" algn="ctr">
                        <a:lnSpc>
                          <a:spcPts val="1580"/>
                        </a:lnSpc>
                      </a:pPr>
                      <a:r>
                        <a:rPr sz="1400" b="1" spc="-10" dirty="0">
                          <a:solidFill>
                            <a:schemeClr val="tx1"/>
                          </a:solidFill>
                          <a:latin typeface="Trebuchet MS"/>
                          <a:cs typeface="Trebuchet MS"/>
                        </a:rPr>
                        <a:t>Шестой</a:t>
                      </a:r>
                      <a:endParaRPr sz="1400">
                        <a:solidFill>
                          <a:schemeClr val="tx1"/>
                        </a:solidFill>
                        <a:latin typeface="Trebuchet MS"/>
                        <a:cs typeface="Trebuchet MS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580"/>
                        </a:lnSpc>
                      </a:pPr>
                      <a:r>
                        <a:rPr sz="1400" spc="-20" dirty="0">
                          <a:solidFill>
                            <a:srgbClr val="7030A0"/>
                          </a:solidFill>
                          <a:latin typeface="Trebuchet MS"/>
                          <a:cs typeface="Trebuchet MS"/>
                        </a:rPr>
                        <a:t>8,05</a:t>
                      </a:r>
                      <a:endParaRPr sz="1400" dirty="0">
                        <a:solidFill>
                          <a:srgbClr val="7030A0"/>
                        </a:solidFill>
                        <a:latin typeface="Trebuchet MS"/>
                        <a:cs typeface="Trebuchet MS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580"/>
                        </a:lnSpc>
                      </a:pPr>
                      <a:r>
                        <a:rPr sz="1400" spc="-20" dirty="0">
                          <a:solidFill>
                            <a:srgbClr val="7030A0"/>
                          </a:solidFill>
                          <a:latin typeface="Trebuchet MS"/>
                          <a:cs typeface="Trebuchet MS"/>
                        </a:rPr>
                        <a:t>8,55</a:t>
                      </a:r>
                      <a:endParaRPr sz="1400" dirty="0">
                        <a:solidFill>
                          <a:srgbClr val="7030A0"/>
                        </a:solidFill>
                        <a:latin typeface="Trebuchet MS"/>
                        <a:cs typeface="Trebuchet MS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580"/>
                        </a:lnSpc>
                      </a:pPr>
                      <a:r>
                        <a:rPr sz="1400" spc="-20" dirty="0">
                          <a:solidFill>
                            <a:srgbClr val="7030A0"/>
                          </a:solidFill>
                          <a:latin typeface="Trebuchet MS"/>
                          <a:cs typeface="Trebuchet MS"/>
                        </a:rPr>
                        <a:t>7,53</a:t>
                      </a:r>
                      <a:endParaRPr sz="1400" dirty="0">
                        <a:solidFill>
                          <a:srgbClr val="7030A0"/>
                        </a:solidFill>
                        <a:latin typeface="Trebuchet MS"/>
                        <a:cs typeface="Trebuchet MS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539495" y="2161032"/>
            <a:ext cx="8354568" cy="4328160"/>
          </a:xfrm>
          <a:prstGeom prst="rect">
            <a:avLst/>
          </a:prstGeom>
        </p:spPr>
      </p:pic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F30EEBCA-A9D1-4252-BBD7-F0F7E8A1230D}"/>
              </a:ext>
            </a:extLst>
          </p:cNvPr>
          <p:cNvSpPr>
            <a:spLocks noGrp="1"/>
          </p:cNvSpPr>
          <p:nvPr>
            <p:ph type="ftr" sz="quarter" idx="5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55">
            <a:extLst>
              <a:ext uri="{FF2B5EF4-FFF2-40B4-BE49-F238E27FC236}">
                <a16:creationId xmlns:a16="http://schemas.microsoft.com/office/drawing/2014/main" id="{D704CD08-4E22-4FFC-89C1-A515CD3F9905}"/>
              </a:ext>
            </a:extLst>
          </p:cNvPr>
          <p:cNvSpPr txBox="1">
            <a:spLocks/>
          </p:cNvSpPr>
          <p:nvPr/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kern="0"/>
            </a:defPPr>
            <a:lvl1pPr marL="38100" algn="r">
              <a:lnSpc>
                <a:spcPct val="100000"/>
              </a:lnSpc>
              <a:spcBef>
                <a:spcPts val="244"/>
              </a:spcBef>
              <a:defRPr sz="1500" spc="-25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1D60167-4931-47E6-BA6A-407CBD079E47}" type="slidenum">
              <a:rPr lang="ru-RU"/>
              <a:pPr/>
              <a:t>49</a:t>
            </a:fld>
            <a:endParaRPr lang="ru-RU" dirty="0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ct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35145645"/>
              </p:ext>
            </p:extLst>
          </p:nvPr>
        </p:nvGraphicFramePr>
        <p:xfrm>
          <a:off x="2260600" y="196850"/>
          <a:ext cx="5175883" cy="177292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29349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9413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9412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29412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81305">
                <a:tc rowSpan="2">
                  <a:txBody>
                    <a:bodyPr/>
                    <a:lstStyle/>
                    <a:p>
                      <a:pPr marL="194945">
                        <a:lnSpc>
                          <a:spcPct val="100000"/>
                        </a:lnSpc>
                        <a:spcBef>
                          <a:spcPts val="1340"/>
                        </a:spcBef>
                      </a:pPr>
                      <a:r>
                        <a:rPr sz="1400" b="1" dirty="0">
                          <a:solidFill>
                            <a:schemeClr val="tx1"/>
                          </a:solidFill>
                          <a:latin typeface="Trebuchet MS"/>
                          <a:cs typeface="Trebuchet MS"/>
                        </a:rPr>
                        <a:t>Вид</a:t>
                      </a:r>
                      <a:r>
                        <a:rPr sz="1400" spc="65" dirty="0">
                          <a:solidFill>
                            <a:schemeClr val="tx1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400" b="1" spc="-10" dirty="0">
                          <a:solidFill>
                            <a:schemeClr val="tx1"/>
                          </a:solidFill>
                          <a:latin typeface="Trebuchet MS"/>
                          <a:cs typeface="Trebuchet MS"/>
                        </a:rPr>
                        <a:t>сырья</a:t>
                      </a:r>
                      <a:endParaRPr sz="1400" dirty="0">
                        <a:solidFill>
                          <a:schemeClr val="tx1"/>
                        </a:solidFill>
                        <a:latin typeface="Trebuchet MS"/>
                        <a:cs typeface="Trebuchet MS"/>
                      </a:endParaRPr>
                    </a:p>
                  </a:txBody>
                  <a:tcPr marL="0" marR="0" marT="17018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381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 gridSpan="3">
                  <a:txBody>
                    <a:bodyPr/>
                    <a:lstStyle/>
                    <a:p>
                      <a:pPr marL="1223645">
                        <a:lnSpc>
                          <a:spcPts val="1614"/>
                        </a:lnSpc>
                        <a:spcBef>
                          <a:spcPts val="500"/>
                        </a:spcBef>
                      </a:pPr>
                      <a:r>
                        <a:rPr sz="1400" b="1" dirty="0">
                          <a:solidFill>
                            <a:schemeClr val="tx1"/>
                          </a:solidFill>
                          <a:latin typeface="Trebuchet MS"/>
                          <a:cs typeface="Trebuchet MS"/>
                        </a:rPr>
                        <a:t>Год</a:t>
                      </a:r>
                      <a:r>
                        <a:rPr sz="1400" spc="55" dirty="0">
                          <a:solidFill>
                            <a:schemeClr val="tx1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400" b="1" spc="-10" dirty="0">
                          <a:solidFill>
                            <a:schemeClr val="tx1"/>
                          </a:solidFill>
                          <a:latin typeface="Trebuchet MS"/>
                          <a:cs typeface="Trebuchet MS"/>
                        </a:rPr>
                        <a:t>производства</a:t>
                      </a:r>
                      <a:endParaRPr sz="1400">
                        <a:solidFill>
                          <a:schemeClr val="tx1"/>
                        </a:solidFill>
                        <a:latin typeface="Trebuchet MS"/>
                        <a:cs typeface="Trebuchet MS"/>
                      </a:endParaRPr>
                    </a:p>
                  </a:txBody>
                  <a:tcPr marL="0" marR="0" marT="63500" marB="0">
                    <a:lnL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13360"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17018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381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5ECA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580"/>
                        </a:lnSpc>
                      </a:pPr>
                      <a:r>
                        <a:rPr sz="1400" spc="-20" dirty="0">
                          <a:solidFill>
                            <a:srgbClr val="7030A0"/>
                          </a:solidFill>
                          <a:latin typeface="Trebuchet MS"/>
                          <a:cs typeface="Trebuchet MS"/>
                        </a:rPr>
                        <a:t>2017</a:t>
                      </a:r>
                      <a:endParaRPr sz="1400" dirty="0">
                        <a:solidFill>
                          <a:srgbClr val="7030A0"/>
                        </a:solidFill>
                        <a:latin typeface="Trebuchet MS"/>
                        <a:cs typeface="Trebuchet MS"/>
                      </a:endParaRPr>
                    </a:p>
                  </a:txBody>
                  <a:tcPr marL="0" marR="0" marT="0" marB="0">
                    <a:lnL w="381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580"/>
                        </a:lnSpc>
                      </a:pPr>
                      <a:r>
                        <a:rPr sz="1400" spc="-20" dirty="0">
                          <a:solidFill>
                            <a:srgbClr val="7030A0"/>
                          </a:solidFill>
                          <a:latin typeface="Trebuchet MS"/>
                          <a:cs typeface="Trebuchet MS"/>
                        </a:rPr>
                        <a:t>2018</a:t>
                      </a:r>
                      <a:endParaRPr sz="1400">
                        <a:solidFill>
                          <a:srgbClr val="7030A0"/>
                        </a:solidFill>
                        <a:latin typeface="Trebuchet MS"/>
                        <a:cs typeface="Trebuchet MS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580"/>
                        </a:lnSpc>
                      </a:pPr>
                      <a:r>
                        <a:rPr sz="1400" spc="-20" dirty="0">
                          <a:solidFill>
                            <a:srgbClr val="7030A0"/>
                          </a:solidFill>
                          <a:latin typeface="Trebuchet MS"/>
                          <a:cs typeface="Trebuchet MS"/>
                        </a:rPr>
                        <a:t>2019</a:t>
                      </a:r>
                      <a:endParaRPr sz="1400">
                        <a:solidFill>
                          <a:srgbClr val="7030A0"/>
                        </a:solidFill>
                        <a:latin typeface="Trebuchet MS"/>
                        <a:cs typeface="Trebuchet MS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12725">
                <a:tc>
                  <a:txBody>
                    <a:bodyPr/>
                    <a:lstStyle/>
                    <a:p>
                      <a:pPr algn="ctr">
                        <a:lnSpc>
                          <a:spcPts val="1580"/>
                        </a:lnSpc>
                      </a:pPr>
                      <a:r>
                        <a:rPr sz="1400" b="1" spc="-10" dirty="0">
                          <a:solidFill>
                            <a:schemeClr val="tx1"/>
                          </a:solidFill>
                          <a:latin typeface="Trebuchet MS"/>
                          <a:cs typeface="Trebuchet MS"/>
                        </a:rPr>
                        <a:t>Первый</a:t>
                      </a:r>
                      <a:endParaRPr sz="1400">
                        <a:solidFill>
                          <a:schemeClr val="tx1"/>
                        </a:solidFill>
                        <a:latin typeface="Trebuchet MS"/>
                        <a:cs typeface="Trebuchet MS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580"/>
                        </a:lnSpc>
                      </a:pPr>
                      <a:r>
                        <a:rPr sz="1400" spc="-20" dirty="0">
                          <a:solidFill>
                            <a:srgbClr val="7030A0"/>
                          </a:solidFill>
                          <a:latin typeface="Trebuchet MS"/>
                          <a:cs typeface="Trebuchet MS"/>
                        </a:rPr>
                        <a:t>7,01</a:t>
                      </a:r>
                      <a:endParaRPr sz="1400" dirty="0">
                        <a:solidFill>
                          <a:srgbClr val="7030A0"/>
                        </a:solidFill>
                        <a:latin typeface="Trebuchet MS"/>
                        <a:cs typeface="Trebuchet MS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580"/>
                        </a:lnSpc>
                      </a:pPr>
                      <a:r>
                        <a:rPr sz="1400" spc="-20" dirty="0">
                          <a:solidFill>
                            <a:srgbClr val="7030A0"/>
                          </a:solidFill>
                          <a:latin typeface="Trebuchet MS"/>
                          <a:cs typeface="Trebuchet MS"/>
                        </a:rPr>
                        <a:t>7,39</a:t>
                      </a:r>
                      <a:endParaRPr sz="1400" dirty="0">
                        <a:solidFill>
                          <a:srgbClr val="7030A0"/>
                        </a:solidFill>
                        <a:latin typeface="Trebuchet MS"/>
                        <a:cs typeface="Trebuchet MS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580"/>
                        </a:lnSpc>
                      </a:pPr>
                      <a:r>
                        <a:rPr sz="1400" spc="-25" dirty="0">
                          <a:solidFill>
                            <a:srgbClr val="7030A0"/>
                          </a:solidFill>
                          <a:latin typeface="Trebuchet MS"/>
                          <a:cs typeface="Trebuchet MS"/>
                        </a:rPr>
                        <a:t>8,6</a:t>
                      </a:r>
                      <a:endParaRPr sz="1400">
                        <a:solidFill>
                          <a:srgbClr val="7030A0"/>
                        </a:solidFill>
                        <a:latin typeface="Trebuchet MS"/>
                        <a:cs typeface="Trebuchet MS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13360">
                <a:tc>
                  <a:txBody>
                    <a:bodyPr/>
                    <a:lstStyle/>
                    <a:p>
                      <a:pPr algn="ctr">
                        <a:lnSpc>
                          <a:spcPts val="1580"/>
                        </a:lnSpc>
                      </a:pPr>
                      <a:r>
                        <a:rPr sz="1400" b="1" spc="-10" dirty="0">
                          <a:solidFill>
                            <a:schemeClr val="tx1"/>
                          </a:solidFill>
                          <a:latin typeface="Trebuchet MS"/>
                          <a:cs typeface="Trebuchet MS"/>
                        </a:rPr>
                        <a:t>Второй</a:t>
                      </a:r>
                      <a:endParaRPr sz="1400">
                        <a:solidFill>
                          <a:schemeClr val="tx1"/>
                        </a:solidFill>
                        <a:latin typeface="Trebuchet MS"/>
                        <a:cs typeface="Trebuchet MS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580"/>
                        </a:lnSpc>
                      </a:pPr>
                      <a:r>
                        <a:rPr sz="1400" spc="-20" dirty="0">
                          <a:solidFill>
                            <a:srgbClr val="7030A0"/>
                          </a:solidFill>
                          <a:latin typeface="Trebuchet MS"/>
                          <a:cs typeface="Trebuchet MS"/>
                        </a:rPr>
                        <a:t>8,28</a:t>
                      </a:r>
                      <a:endParaRPr sz="1400" dirty="0">
                        <a:solidFill>
                          <a:srgbClr val="7030A0"/>
                        </a:solidFill>
                        <a:latin typeface="Trebuchet MS"/>
                        <a:cs typeface="Trebuchet MS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580"/>
                        </a:lnSpc>
                      </a:pPr>
                      <a:r>
                        <a:rPr sz="1400" spc="-20" dirty="0">
                          <a:solidFill>
                            <a:srgbClr val="7030A0"/>
                          </a:solidFill>
                          <a:latin typeface="Trebuchet MS"/>
                          <a:cs typeface="Trebuchet MS"/>
                        </a:rPr>
                        <a:t>7,29</a:t>
                      </a:r>
                      <a:endParaRPr sz="1400" dirty="0">
                        <a:solidFill>
                          <a:srgbClr val="7030A0"/>
                        </a:solidFill>
                        <a:latin typeface="Trebuchet MS"/>
                        <a:cs typeface="Trebuchet MS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580"/>
                        </a:lnSpc>
                      </a:pPr>
                      <a:r>
                        <a:rPr sz="1400" spc="-20" dirty="0">
                          <a:solidFill>
                            <a:srgbClr val="7030A0"/>
                          </a:solidFill>
                          <a:latin typeface="Trebuchet MS"/>
                          <a:cs typeface="Trebuchet MS"/>
                        </a:rPr>
                        <a:t>8,18</a:t>
                      </a:r>
                      <a:endParaRPr sz="1400">
                        <a:solidFill>
                          <a:srgbClr val="7030A0"/>
                        </a:solidFill>
                        <a:latin typeface="Trebuchet MS"/>
                        <a:cs typeface="Trebuchet MS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12725">
                <a:tc>
                  <a:txBody>
                    <a:bodyPr/>
                    <a:lstStyle/>
                    <a:p>
                      <a:pPr algn="ctr">
                        <a:lnSpc>
                          <a:spcPts val="1580"/>
                        </a:lnSpc>
                      </a:pPr>
                      <a:r>
                        <a:rPr sz="1400" b="1" spc="-10" dirty="0">
                          <a:solidFill>
                            <a:schemeClr val="tx1"/>
                          </a:solidFill>
                          <a:latin typeface="Trebuchet MS"/>
                          <a:cs typeface="Trebuchet MS"/>
                        </a:rPr>
                        <a:t>Третий</a:t>
                      </a:r>
                      <a:endParaRPr sz="1400">
                        <a:solidFill>
                          <a:schemeClr val="tx1"/>
                        </a:solidFill>
                        <a:latin typeface="Trebuchet MS"/>
                        <a:cs typeface="Trebuchet MS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580"/>
                        </a:lnSpc>
                      </a:pPr>
                      <a:r>
                        <a:rPr sz="1400" spc="-20" dirty="0">
                          <a:solidFill>
                            <a:srgbClr val="7030A0"/>
                          </a:solidFill>
                          <a:latin typeface="Trebuchet MS"/>
                          <a:cs typeface="Trebuchet MS"/>
                        </a:rPr>
                        <a:t>7,55</a:t>
                      </a:r>
                      <a:endParaRPr sz="1400" dirty="0">
                        <a:solidFill>
                          <a:srgbClr val="7030A0"/>
                        </a:solidFill>
                        <a:latin typeface="Trebuchet MS"/>
                        <a:cs typeface="Trebuchet MS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580"/>
                        </a:lnSpc>
                      </a:pPr>
                      <a:r>
                        <a:rPr sz="1400" spc="-20" dirty="0">
                          <a:solidFill>
                            <a:srgbClr val="7030A0"/>
                          </a:solidFill>
                          <a:latin typeface="Trebuchet MS"/>
                          <a:cs typeface="Trebuchet MS"/>
                        </a:rPr>
                        <a:t>7,27</a:t>
                      </a:r>
                      <a:endParaRPr sz="1400" dirty="0">
                        <a:solidFill>
                          <a:srgbClr val="7030A0"/>
                        </a:solidFill>
                        <a:latin typeface="Trebuchet MS"/>
                        <a:cs typeface="Trebuchet MS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580"/>
                        </a:lnSpc>
                      </a:pPr>
                      <a:r>
                        <a:rPr sz="1400" spc="-20" dirty="0">
                          <a:solidFill>
                            <a:srgbClr val="7030A0"/>
                          </a:solidFill>
                          <a:latin typeface="Trebuchet MS"/>
                          <a:cs typeface="Trebuchet MS"/>
                        </a:rPr>
                        <a:t>7,84</a:t>
                      </a:r>
                      <a:endParaRPr sz="1400">
                        <a:solidFill>
                          <a:srgbClr val="7030A0"/>
                        </a:solidFill>
                        <a:latin typeface="Trebuchet MS"/>
                        <a:cs typeface="Trebuchet MS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13360">
                <a:tc>
                  <a:txBody>
                    <a:bodyPr/>
                    <a:lstStyle/>
                    <a:p>
                      <a:pPr algn="ctr">
                        <a:lnSpc>
                          <a:spcPts val="1580"/>
                        </a:lnSpc>
                      </a:pPr>
                      <a:r>
                        <a:rPr sz="1400" b="1" spc="-10" dirty="0">
                          <a:solidFill>
                            <a:schemeClr val="tx1"/>
                          </a:solidFill>
                          <a:latin typeface="Trebuchet MS"/>
                          <a:cs typeface="Trebuchet MS"/>
                        </a:rPr>
                        <a:t>Четвертый</a:t>
                      </a:r>
                      <a:endParaRPr sz="1400" dirty="0">
                        <a:solidFill>
                          <a:schemeClr val="tx1"/>
                        </a:solidFill>
                        <a:latin typeface="Trebuchet MS"/>
                        <a:cs typeface="Trebuchet MS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580"/>
                        </a:lnSpc>
                      </a:pPr>
                      <a:r>
                        <a:rPr sz="1400" spc="-20" dirty="0">
                          <a:solidFill>
                            <a:srgbClr val="7030A0"/>
                          </a:solidFill>
                          <a:latin typeface="Trebuchet MS"/>
                          <a:cs typeface="Trebuchet MS"/>
                        </a:rPr>
                        <a:t>7,41</a:t>
                      </a:r>
                      <a:endParaRPr sz="1400" dirty="0">
                        <a:solidFill>
                          <a:srgbClr val="7030A0"/>
                        </a:solidFill>
                        <a:latin typeface="Trebuchet MS"/>
                        <a:cs typeface="Trebuchet MS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580"/>
                        </a:lnSpc>
                      </a:pPr>
                      <a:r>
                        <a:rPr sz="1400" spc="-20" dirty="0">
                          <a:solidFill>
                            <a:srgbClr val="7030A0"/>
                          </a:solidFill>
                          <a:latin typeface="Trebuchet MS"/>
                          <a:cs typeface="Trebuchet MS"/>
                        </a:rPr>
                        <a:t>7,37</a:t>
                      </a:r>
                      <a:endParaRPr sz="1400" dirty="0">
                        <a:solidFill>
                          <a:srgbClr val="7030A0"/>
                        </a:solidFill>
                        <a:latin typeface="Trebuchet MS"/>
                        <a:cs typeface="Trebuchet MS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580"/>
                        </a:lnSpc>
                      </a:pPr>
                      <a:r>
                        <a:rPr sz="1400" spc="-20" dirty="0">
                          <a:solidFill>
                            <a:srgbClr val="7030A0"/>
                          </a:solidFill>
                          <a:latin typeface="Trebuchet MS"/>
                          <a:cs typeface="Trebuchet MS"/>
                        </a:rPr>
                        <a:t>7,42</a:t>
                      </a:r>
                      <a:endParaRPr sz="1400" dirty="0">
                        <a:solidFill>
                          <a:srgbClr val="7030A0"/>
                        </a:solidFill>
                        <a:latin typeface="Trebuchet MS"/>
                        <a:cs typeface="Trebuchet MS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13360">
                <a:tc>
                  <a:txBody>
                    <a:bodyPr/>
                    <a:lstStyle/>
                    <a:p>
                      <a:pPr algn="ctr">
                        <a:lnSpc>
                          <a:spcPts val="1580"/>
                        </a:lnSpc>
                      </a:pPr>
                      <a:r>
                        <a:rPr sz="1400" b="1" spc="-10" dirty="0">
                          <a:solidFill>
                            <a:schemeClr val="tx1"/>
                          </a:solidFill>
                          <a:latin typeface="Trebuchet MS"/>
                          <a:cs typeface="Trebuchet MS"/>
                        </a:rPr>
                        <a:t>Пятый</a:t>
                      </a:r>
                      <a:endParaRPr sz="1400">
                        <a:solidFill>
                          <a:schemeClr val="tx1"/>
                        </a:solidFill>
                        <a:latin typeface="Trebuchet MS"/>
                        <a:cs typeface="Trebuchet MS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580"/>
                        </a:lnSpc>
                      </a:pPr>
                      <a:r>
                        <a:rPr sz="1400" spc="-20" dirty="0">
                          <a:solidFill>
                            <a:srgbClr val="7030A0"/>
                          </a:solidFill>
                          <a:latin typeface="Trebuchet MS"/>
                          <a:cs typeface="Trebuchet MS"/>
                        </a:rPr>
                        <a:t>8,27</a:t>
                      </a:r>
                      <a:endParaRPr sz="1400">
                        <a:solidFill>
                          <a:srgbClr val="7030A0"/>
                        </a:solidFill>
                        <a:latin typeface="Trebuchet MS"/>
                        <a:cs typeface="Trebuchet MS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580"/>
                        </a:lnSpc>
                      </a:pPr>
                      <a:r>
                        <a:rPr sz="1400" spc="-20" dirty="0">
                          <a:solidFill>
                            <a:srgbClr val="7030A0"/>
                          </a:solidFill>
                          <a:latin typeface="Trebuchet MS"/>
                          <a:cs typeface="Trebuchet MS"/>
                        </a:rPr>
                        <a:t>8,07</a:t>
                      </a:r>
                      <a:endParaRPr sz="1400" dirty="0">
                        <a:solidFill>
                          <a:srgbClr val="7030A0"/>
                        </a:solidFill>
                        <a:latin typeface="Trebuchet MS"/>
                        <a:cs typeface="Trebuchet MS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580"/>
                        </a:lnSpc>
                      </a:pPr>
                      <a:r>
                        <a:rPr sz="1400" spc="-25" dirty="0">
                          <a:solidFill>
                            <a:srgbClr val="7030A0"/>
                          </a:solidFill>
                          <a:latin typeface="Trebuchet MS"/>
                          <a:cs typeface="Trebuchet MS"/>
                        </a:rPr>
                        <a:t>7,6</a:t>
                      </a:r>
                      <a:endParaRPr sz="1400" dirty="0">
                        <a:solidFill>
                          <a:srgbClr val="7030A0"/>
                        </a:solidFill>
                        <a:latin typeface="Trebuchet MS"/>
                        <a:cs typeface="Trebuchet MS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12725">
                <a:tc>
                  <a:txBody>
                    <a:bodyPr/>
                    <a:lstStyle/>
                    <a:p>
                      <a:pPr marL="635" algn="ctr">
                        <a:lnSpc>
                          <a:spcPts val="1580"/>
                        </a:lnSpc>
                      </a:pPr>
                      <a:r>
                        <a:rPr sz="1400" b="1" spc="-10" dirty="0">
                          <a:solidFill>
                            <a:schemeClr val="tx1"/>
                          </a:solidFill>
                          <a:latin typeface="Trebuchet MS"/>
                          <a:cs typeface="Trebuchet MS"/>
                        </a:rPr>
                        <a:t>Шестой</a:t>
                      </a:r>
                      <a:endParaRPr sz="1400">
                        <a:solidFill>
                          <a:schemeClr val="tx1"/>
                        </a:solidFill>
                        <a:latin typeface="Trebuchet MS"/>
                        <a:cs typeface="Trebuchet MS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580"/>
                        </a:lnSpc>
                      </a:pPr>
                      <a:r>
                        <a:rPr sz="1400" spc="-20" dirty="0">
                          <a:solidFill>
                            <a:srgbClr val="7030A0"/>
                          </a:solidFill>
                          <a:latin typeface="Trebuchet MS"/>
                          <a:cs typeface="Trebuchet MS"/>
                        </a:rPr>
                        <a:t>8,05</a:t>
                      </a:r>
                      <a:endParaRPr sz="1400">
                        <a:solidFill>
                          <a:srgbClr val="7030A0"/>
                        </a:solidFill>
                        <a:latin typeface="Trebuchet MS"/>
                        <a:cs typeface="Trebuchet MS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580"/>
                        </a:lnSpc>
                      </a:pPr>
                      <a:r>
                        <a:rPr sz="1400" spc="-20" dirty="0">
                          <a:solidFill>
                            <a:srgbClr val="7030A0"/>
                          </a:solidFill>
                          <a:latin typeface="Trebuchet MS"/>
                          <a:cs typeface="Trebuchet MS"/>
                        </a:rPr>
                        <a:t>8,55</a:t>
                      </a:r>
                      <a:endParaRPr sz="1400" dirty="0">
                        <a:solidFill>
                          <a:srgbClr val="7030A0"/>
                        </a:solidFill>
                        <a:latin typeface="Trebuchet MS"/>
                        <a:cs typeface="Trebuchet MS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580"/>
                        </a:lnSpc>
                      </a:pPr>
                      <a:r>
                        <a:rPr sz="1400" spc="-20" dirty="0">
                          <a:solidFill>
                            <a:srgbClr val="7030A0"/>
                          </a:solidFill>
                          <a:latin typeface="Trebuchet MS"/>
                          <a:cs typeface="Trebuchet MS"/>
                        </a:rPr>
                        <a:t>7,53</a:t>
                      </a:r>
                      <a:endParaRPr sz="1400" dirty="0">
                        <a:solidFill>
                          <a:srgbClr val="7030A0"/>
                        </a:solidFill>
                        <a:latin typeface="Trebuchet MS"/>
                        <a:cs typeface="Trebuchet MS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grpSp>
        <p:nvGrpSpPr>
          <p:cNvPr id="3" name="object 3"/>
          <p:cNvGrpSpPr/>
          <p:nvPr/>
        </p:nvGrpSpPr>
        <p:grpSpPr>
          <a:xfrm>
            <a:off x="539495" y="2161032"/>
            <a:ext cx="8354695" cy="4328795"/>
            <a:chOff x="539495" y="2161032"/>
            <a:chExt cx="8354695" cy="4328795"/>
          </a:xfrm>
        </p:grpSpPr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539495" y="2161032"/>
              <a:ext cx="8354568" cy="3922776"/>
            </a:xfrm>
            <a:prstGeom prst="rect">
              <a:avLst/>
            </a:prstGeom>
          </p:spPr>
        </p:pic>
        <p:sp>
          <p:nvSpPr>
            <p:cNvPr id="5" name="object 5"/>
            <p:cNvSpPr/>
            <p:nvPr/>
          </p:nvSpPr>
          <p:spPr>
            <a:xfrm>
              <a:off x="4321174" y="5473700"/>
              <a:ext cx="4572000" cy="1016000"/>
            </a:xfrm>
            <a:custGeom>
              <a:avLst/>
              <a:gdLst/>
              <a:ahLst/>
              <a:cxnLst/>
              <a:rect l="l" t="t" r="r" b="b"/>
              <a:pathLst>
                <a:path w="4572000" h="1016000">
                  <a:moveTo>
                    <a:pt x="4572000" y="0"/>
                  </a:moveTo>
                  <a:lnTo>
                    <a:pt x="0" y="0"/>
                  </a:lnTo>
                  <a:lnTo>
                    <a:pt x="0" y="1016000"/>
                  </a:lnTo>
                  <a:lnTo>
                    <a:pt x="4572000" y="1016000"/>
                  </a:lnTo>
                  <a:lnTo>
                    <a:pt x="457200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/>
          <p:cNvSpPr txBox="1"/>
          <p:nvPr/>
        </p:nvSpPr>
        <p:spPr>
          <a:xfrm>
            <a:off x="4369529" y="5340351"/>
            <a:ext cx="4572000" cy="1016000"/>
          </a:xfrm>
          <a:prstGeom prst="rect">
            <a:avLst/>
          </a:prstGeom>
          <a:ln w="12700">
            <a:solidFill>
              <a:schemeClr val="tx1"/>
            </a:solidFill>
          </a:ln>
        </p:spPr>
        <p:txBody>
          <a:bodyPr vert="horz" wrap="square" lIns="0" tIns="33019" rIns="0" bIns="0" rtlCol="0">
            <a:spAutoFit/>
          </a:bodyPr>
          <a:lstStyle/>
          <a:p>
            <a:pPr marL="90805" marR="179070">
              <a:lnSpc>
                <a:spcPct val="100000"/>
              </a:lnSpc>
              <a:spcBef>
                <a:spcPts val="259"/>
              </a:spcBef>
            </a:pPr>
            <a:r>
              <a:rPr sz="2000" dirty="0">
                <a:latin typeface="Arial"/>
                <a:cs typeface="Arial"/>
              </a:rPr>
              <a:t>нет</a:t>
            </a:r>
            <a:r>
              <a:rPr sz="2000" spc="-7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Arial"/>
                <a:cs typeface="Arial"/>
              </a:rPr>
              <a:t>существенных</a:t>
            </a:r>
            <a:r>
              <a:rPr sz="2000" spc="-6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Arial"/>
                <a:cs typeface="Arial"/>
              </a:rPr>
              <a:t>отличий</a:t>
            </a:r>
            <a:r>
              <a:rPr sz="2000" spc="-70" dirty="0">
                <a:latin typeface="Times New Roman"/>
                <a:cs typeface="Times New Roman"/>
              </a:rPr>
              <a:t> </a:t>
            </a:r>
            <a:r>
              <a:rPr sz="2000" spc="-10" dirty="0">
                <a:latin typeface="Arial"/>
                <a:cs typeface="Arial"/>
              </a:rPr>
              <a:t>прибыли</a:t>
            </a:r>
            <a:r>
              <a:rPr sz="2000" spc="-1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Arial"/>
                <a:cs typeface="Arial"/>
              </a:rPr>
              <a:t>предприятия</a:t>
            </a:r>
            <a:r>
              <a:rPr sz="2000" spc="-2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Arial"/>
                <a:cs typeface="Arial"/>
              </a:rPr>
              <a:t>от</a:t>
            </a:r>
            <a:r>
              <a:rPr sz="2000" spc="-3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Arial"/>
                <a:cs typeface="Arial"/>
              </a:rPr>
              <a:t>вида</a:t>
            </a:r>
            <a:r>
              <a:rPr sz="2000" spc="-25" dirty="0">
                <a:latin typeface="Times New Roman"/>
                <a:cs typeface="Times New Roman"/>
              </a:rPr>
              <a:t> </a:t>
            </a:r>
            <a:r>
              <a:rPr sz="2000" spc="-10" dirty="0">
                <a:latin typeface="Arial"/>
                <a:cs typeface="Arial"/>
              </a:rPr>
              <a:t>сырья,</a:t>
            </a:r>
            <a:r>
              <a:rPr sz="2000" spc="-10" dirty="0">
                <a:latin typeface="Times New Roman"/>
                <a:cs typeface="Times New Roman"/>
              </a:rPr>
              <a:t> </a:t>
            </a:r>
            <a:r>
              <a:rPr sz="2000" spc="-10" dirty="0">
                <a:latin typeface="Arial"/>
                <a:cs typeface="Arial"/>
              </a:rPr>
              <a:t>использованного</a:t>
            </a:r>
            <a:r>
              <a:rPr sz="2000" spc="-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Arial"/>
                <a:cs typeface="Arial"/>
              </a:rPr>
              <a:t>в</a:t>
            </a:r>
            <a:r>
              <a:rPr sz="2000" spc="-5" dirty="0">
                <a:latin typeface="Times New Roman"/>
                <a:cs typeface="Times New Roman"/>
              </a:rPr>
              <a:t> </a:t>
            </a:r>
            <a:r>
              <a:rPr sz="2000" spc="-10" dirty="0">
                <a:latin typeface="Arial"/>
                <a:cs typeface="Arial"/>
              </a:rPr>
              <a:t>производстве</a:t>
            </a:r>
            <a:endParaRPr sz="2000" dirty="0">
              <a:latin typeface="Arial"/>
              <a:cs typeface="Arial"/>
            </a:endParaRPr>
          </a:p>
        </p:txBody>
      </p:sp>
      <p:grpSp>
        <p:nvGrpSpPr>
          <p:cNvPr id="7" name="object 7"/>
          <p:cNvGrpSpPr/>
          <p:nvPr/>
        </p:nvGrpSpPr>
        <p:grpSpPr>
          <a:xfrm>
            <a:off x="3871912" y="5781675"/>
            <a:ext cx="363855" cy="133350"/>
            <a:chOff x="3871912" y="5781675"/>
            <a:chExt cx="363855" cy="133350"/>
          </a:xfrm>
          <a:solidFill>
            <a:schemeClr val="tx1"/>
          </a:solidFill>
        </p:grpSpPr>
        <p:sp>
          <p:nvSpPr>
            <p:cNvPr id="8" name="object 8"/>
            <p:cNvSpPr/>
            <p:nvPr/>
          </p:nvSpPr>
          <p:spPr>
            <a:xfrm>
              <a:off x="3881437" y="5791200"/>
              <a:ext cx="344805" cy="114300"/>
            </a:xfrm>
            <a:custGeom>
              <a:avLst/>
              <a:gdLst/>
              <a:ahLst/>
              <a:cxnLst/>
              <a:rect l="l" t="t" r="r" b="b"/>
              <a:pathLst>
                <a:path w="344804" h="114300">
                  <a:moveTo>
                    <a:pt x="287337" y="0"/>
                  </a:moveTo>
                  <a:lnTo>
                    <a:pt x="287337" y="28575"/>
                  </a:lnTo>
                  <a:lnTo>
                    <a:pt x="0" y="28575"/>
                  </a:lnTo>
                  <a:lnTo>
                    <a:pt x="0" y="85725"/>
                  </a:lnTo>
                  <a:lnTo>
                    <a:pt x="287337" y="85725"/>
                  </a:lnTo>
                  <a:lnTo>
                    <a:pt x="287337" y="114300"/>
                  </a:lnTo>
                  <a:lnTo>
                    <a:pt x="344487" y="57150"/>
                  </a:lnTo>
                  <a:lnTo>
                    <a:pt x="287337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3881437" y="5791200"/>
              <a:ext cx="344805" cy="114300"/>
            </a:xfrm>
            <a:custGeom>
              <a:avLst/>
              <a:gdLst/>
              <a:ahLst/>
              <a:cxnLst/>
              <a:rect l="l" t="t" r="r" b="b"/>
              <a:pathLst>
                <a:path w="344804" h="114300">
                  <a:moveTo>
                    <a:pt x="0" y="28575"/>
                  </a:moveTo>
                  <a:lnTo>
                    <a:pt x="287337" y="28575"/>
                  </a:lnTo>
                  <a:lnTo>
                    <a:pt x="287337" y="0"/>
                  </a:lnTo>
                  <a:lnTo>
                    <a:pt x="344487" y="57150"/>
                  </a:lnTo>
                  <a:lnTo>
                    <a:pt x="287337" y="114300"/>
                  </a:lnTo>
                  <a:lnTo>
                    <a:pt x="287337" y="85725"/>
                  </a:lnTo>
                  <a:lnTo>
                    <a:pt x="0" y="85725"/>
                  </a:lnTo>
                  <a:lnTo>
                    <a:pt x="0" y="28575"/>
                  </a:lnTo>
                  <a:close/>
                </a:path>
              </a:pathLst>
            </a:custGeom>
            <a:grpFill/>
            <a:ln w="19050">
              <a:noFill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2" name="Нижний колонтитул 11">
            <a:extLst>
              <a:ext uri="{FF2B5EF4-FFF2-40B4-BE49-F238E27FC236}">
                <a16:creationId xmlns:a16="http://schemas.microsoft.com/office/drawing/2014/main" id="{436ED025-C7F4-4214-9C36-22425D185251}"/>
              </a:ext>
            </a:extLst>
          </p:cNvPr>
          <p:cNvSpPr>
            <a:spLocks noGrp="1"/>
          </p:cNvSpPr>
          <p:nvPr>
            <p:ph type="ftr" sz="quarter" idx="5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13" name="Номер слайда 55">
            <a:extLst>
              <a:ext uri="{FF2B5EF4-FFF2-40B4-BE49-F238E27FC236}">
                <a16:creationId xmlns:a16="http://schemas.microsoft.com/office/drawing/2014/main" id="{F480B742-FEC1-42C9-B788-0FBC25F234D3}"/>
              </a:ext>
            </a:extLst>
          </p:cNvPr>
          <p:cNvSpPr txBox="1">
            <a:spLocks/>
          </p:cNvSpPr>
          <p:nvPr/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kern="0"/>
            </a:defPPr>
            <a:lvl1pPr marL="38100" algn="r">
              <a:lnSpc>
                <a:spcPct val="100000"/>
              </a:lnSpc>
              <a:spcBef>
                <a:spcPts val="244"/>
              </a:spcBef>
              <a:defRPr sz="1500" spc="-25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1D60167-4931-47E6-BA6A-407CBD079E47}" type="slidenum">
              <a:rPr lang="ru-RU"/>
              <a:pPr/>
              <a:t>50</a:t>
            </a:fld>
            <a:endParaRPr lang="ru-RU" dirty="0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object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49534614"/>
              </p:ext>
            </p:extLst>
          </p:nvPr>
        </p:nvGraphicFramePr>
        <p:xfrm>
          <a:off x="685800" y="2406524"/>
          <a:ext cx="4317364" cy="269113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61734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9979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0043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9979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7051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600">
                        <a:solidFill>
                          <a:schemeClr val="tx1"/>
                        </a:solidFill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80"/>
                        </a:spcBef>
                      </a:pPr>
                      <a:r>
                        <a:rPr sz="1300" b="1" spc="-10" dirty="0">
                          <a:solidFill>
                            <a:schemeClr val="tx1"/>
                          </a:solidFill>
                          <a:latin typeface="Trebuchet MS"/>
                          <a:cs typeface="Trebuchet MS"/>
                        </a:rPr>
                        <a:t>малое</a:t>
                      </a:r>
                      <a:endParaRPr sz="1300">
                        <a:solidFill>
                          <a:schemeClr val="tx1"/>
                        </a:solidFill>
                        <a:latin typeface="Trebuchet MS"/>
                        <a:cs typeface="Trebuchet MS"/>
                      </a:endParaRPr>
                    </a:p>
                  </a:txBody>
                  <a:tcPr marL="0" marR="0" marT="3556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80"/>
                        </a:spcBef>
                      </a:pPr>
                      <a:r>
                        <a:rPr sz="1300" b="1" spc="-10" dirty="0">
                          <a:solidFill>
                            <a:schemeClr val="tx1"/>
                          </a:solidFill>
                          <a:latin typeface="Trebuchet MS"/>
                          <a:cs typeface="Trebuchet MS"/>
                        </a:rPr>
                        <a:t>среднее</a:t>
                      </a:r>
                      <a:endParaRPr sz="1300">
                        <a:solidFill>
                          <a:schemeClr val="tx1"/>
                        </a:solidFill>
                        <a:latin typeface="Trebuchet MS"/>
                        <a:cs typeface="Trebuchet MS"/>
                      </a:endParaRPr>
                    </a:p>
                  </a:txBody>
                  <a:tcPr marL="0" marR="0" marT="3556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80"/>
                        </a:spcBef>
                      </a:pPr>
                      <a:r>
                        <a:rPr sz="1300" b="1" spc="-10" dirty="0">
                          <a:solidFill>
                            <a:schemeClr val="tx1"/>
                          </a:solidFill>
                          <a:latin typeface="Trebuchet MS"/>
                          <a:cs typeface="Trebuchet MS"/>
                        </a:rPr>
                        <a:t>большое</a:t>
                      </a:r>
                      <a:endParaRPr sz="1300">
                        <a:solidFill>
                          <a:schemeClr val="tx1"/>
                        </a:solidFill>
                        <a:latin typeface="Trebuchet MS"/>
                        <a:cs typeface="Trebuchet MS"/>
                      </a:endParaRPr>
                    </a:p>
                  </a:txBody>
                  <a:tcPr marL="0" marR="0" marT="3556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7051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600">
                        <a:solidFill>
                          <a:schemeClr val="tx1"/>
                        </a:solidFill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sz="1300" spc="-25" dirty="0">
                          <a:solidFill>
                            <a:srgbClr val="7030A0"/>
                          </a:solidFill>
                          <a:latin typeface="Trebuchet MS"/>
                          <a:cs typeface="Trebuchet MS"/>
                        </a:rPr>
                        <a:t>48</a:t>
                      </a:r>
                      <a:endParaRPr sz="1300">
                        <a:solidFill>
                          <a:srgbClr val="7030A0"/>
                        </a:solidFill>
                        <a:latin typeface="Trebuchet MS"/>
                        <a:cs typeface="Trebuchet MS"/>
                      </a:endParaRPr>
                    </a:p>
                  </a:txBody>
                  <a:tcPr marL="0" marR="0" marT="3683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sz="1300" spc="-25" dirty="0">
                          <a:solidFill>
                            <a:srgbClr val="7030A0"/>
                          </a:solidFill>
                          <a:latin typeface="Trebuchet MS"/>
                          <a:cs typeface="Trebuchet MS"/>
                        </a:rPr>
                        <a:t>47</a:t>
                      </a:r>
                      <a:endParaRPr sz="1300">
                        <a:solidFill>
                          <a:srgbClr val="7030A0"/>
                        </a:solidFill>
                        <a:latin typeface="Trebuchet MS"/>
                        <a:cs typeface="Trebuchet MS"/>
                      </a:endParaRPr>
                    </a:p>
                  </a:txBody>
                  <a:tcPr marL="0" marR="0" marT="3683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sz="1300" spc="-25" dirty="0">
                          <a:solidFill>
                            <a:srgbClr val="7030A0"/>
                          </a:solidFill>
                          <a:latin typeface="Trebuchet MS"/>
                          <a:cs typeface="Trebuchet MS"/>
                        </a:rPr>
                        <a:t>46</a:t>
                      </a:r>
                      <a:endParaRPr sz="1300">
                        <a:solidFill>
                          <a:srgbClr val="7030A0"/>
                        </a:solidFill>
                        <a:latin typeface="Trebuchet MS"/>
                        <a:cs typeface="Trebuchet MS"/>
                      </a:endParaRPr>
                    </a:p>
                  </a:txBody>
                  <a:tcPr marL="0" marR="0" marT="3683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7051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600">
                        <a:solidFill>
                          <a:schemeClr val="tx1"/>
                        </a:solidFill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sz="1300" spc="-25" dirty="0">
                          <a:solidFill>
                            <a:srgbClr val="7030A0"/>
                          </a:solidFill>
                          <a:latin typeface="Trebuchet MS"/>
                          <a:cs typeface="Trebuchet MS"/>
                        </a:rPr>
                        <a:t>50</a:t>
                      </a:r>
                      <a:endParaRPr sz="1300">
                        <a:solidFill>
                          <a:srgbClr val="7030A0"/>
                        </a:solidFill>
                        <a:latin typeface="Trebuchet MS"/>
                        <a:cs typeface="Trebuchet MS"/>
                      </a:endParaRPr>
                    </a:p>
                  </a:txBody>
                  <a:tcPr marL="0" marR="0" marT="3746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sz="1300" spc="-25" dirty="0">
                          <a:solidFill>
                            <a:srgbClr val="7030A0"/>
                          </a:solidFill>
                          <a:latin typeface="Trebuchet MS"/>
                          <a:cs typeface="Trebuchet MS"/>
                        </a:rPr>
                        <a:t>61</a:t>
                      </a:r>
                      <a:endParaRPr sz="1300">
                        <a:solidFill>
                          <a:srgbClr val="7030A0"/>
                        </a:solidFill>
                        <a:latin typeface="Trebuchet MS"/>
                        <a:cs typeface="Trebuchet MS"/>
                      </a:endParaRPr>
                    </a:p>
                  </a:txBody>
                  <a:tcPr marL="0" marR="0" marT="3746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sz="1300" spc="-25" dirty="0">
                          <a:solidFill>
                            <a:srgbClr val="7030A0"/>
                          </a:solidFill>
                          <a:latin typeface="Trebuchet MS"/>
                          <a:cs typeface="Trebuchet MS"/>
                        </a:rPr>
                        <a:t>57</a:t>
                      </a:r>
                      <a:endParaRPr sz="1300">
                        <a:solidFill>
                          <a:srgbClr val="7030A0"/>
                        </a:solidFill>
                        <a:latin typeface="Trebuchet MS"/>
                        <a:cs typeface="Trebuchet MS"/>
                      </a:endParaRPr>
                    </a:p>
                  </a:txBody>
                  <a:tcPr marL="0" marR="0" marT="3746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7051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600" dirty="0">
                        <a:solidFill>
                          <a:schemeClr val="tx1"/>
                        </a:solidFill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75"/>
                        </a:spcBef>
                      </a:pPr>
                      <a:r>
                        <a:rPr sz="1300" spc="-25" dirty="0">
                          <a:solidFill>
                            <a:srgbClr val="7030A0"/>
                          </a:solidFill>
                          <a:latin typeface="Trebuchet MS"/>
                          <a:cs typeface="Trebuchet MS"/>
                        </a:rPr>
                        <a:t>63</a:t>
                      </a:r>
                      <a:endParaRPr sz="1300">
                        <a:solidFill>
                          <a:srgbClr val="7030A0"/>
                        </a:solidFill>
                        <a:latin typeface="Trebuchet MS"/>
                        <a:cs typeface="Trebuchet MS"/>
                      </a:endParaRPr>
                    </a:p>
                  </a:txBody>
                  <a:tcPr marL="0" marR="0" marT="3492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75"/>
                        </a:spcBef>
                      </a:pPr>
                      <a:r>
                        <a:rPr sz="1300" spc="-25" dirty="0">
                          <a:solidFill>
                            <a:srgbClr val="7030A0"/>
                          </a:solidFill>
                          <a:latin typeface="Trebuchet MS"/>
                          <a:cs typeface="Trebuchet MS"/>
                        </a:rPr>
                        <a:t>63</a:t>
                      </a:r>
                      <a:endParaRPr sz="1300" dirty="0">
                        <a:solidFill>
                          <a:srgbClr val="7030A0"/>
                        </a:solidFill>
                        <a:latin typeface="Trebuchet MS"/>
                        <a:cs typeface="Trebuchet MS"/>
                      </a:endParaRPr>
                    </a:p>
                  </a:txBody>
                  <a:tcPr marL="0" marR="0" marT="3492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75"/>
                        </a:spcBef>
                      </a:pPr>
                      <a:r>
                        <a:rPr sz="1300" spc="-25" dirty="0">
                          <a:solidFill>
                            <a:srgbClr val="7030A0"/>
                          </a:solidFill>
                          <a:latin typeface="Trebuchet MS"/>
                          <a:cs typeface="Trebuchet MS"/>
                        </a:rPr>
                        <a:t>57</a:t>
                      </a:r>
                      <a:endParaRPr sz="1300">
                        <a:solidFill>
                          <a:srgbClr val="7030A0"/>
                        </a:solidFill>
                        <a:latin typeface="Trebuchet MS"/>
                        <a:cs typeface="Trebuchet MS"/>
                      </a:endParaRPr>
                    </a:p>
                  </a:txBody>
                  <a:tcPr marL="0" marR="0" marT="3492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7051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600" dirty="0">
                        <a:solidFill>
                          <a:schemeClr val="tx1"/>
                        </a:solidFill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80"/>
                        </a:spcBef>
                      </a:pPr>
                      <a:r>
                        <a:rPr sz="1300" spc="-25" dirty="0">
                          <a:solidFill>
                            <a:srgbClr val="7030A0"/>
                          </a:solidFill>
                          <a:latin typeface="Trebuchet MS"/>
                          <a:cs typeface="Trebuchet MS"/>
                        </a:rPr>
                        <a:t>72</a:t>
                      </a:r>
                      <a:endParaRPr sz="1300">
                        <a:solidFill>
                          <a:srgbClr val="7030A0"/>
                        </a:solidFill>
                        <a:latin typeface="Trebuchet MS"/>
                        <a:cs typeface="Trebuchet MS"/>
                      </a:endParaRPr>
                    </a:p>
                  </a:txBody>
                  <a:tcPr marL="0" marR="0" marT="3556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80"/>
                        </a:spcBef>
                      </a:pPr>
                      <a:r>
                        <a:rPr sz="1300" spc="-25" dirty="0">
                          <a:solidFill>
                            <a:srgbClr val="7030A0"/>
                          </a:solidFill>
                          <a:latin typeface="Trebuchet MS"/>
                          <a:cs typeface="Trebuchet MS"/>
                        </a:rPr>
                        <a:t>47</a:t>
                      </a:r>
                      <a:endParaRPr sz="1300" dirty="0">
                        <a:solidFill>
                          <a:srgbClr val="7030A0"/>
                        </a:solidFill>
                        <a:latin typeface="Trebuchet MS"/>
                        <a:cs typeface="Trebuchet MS"/>
                      </a:endParaRPr>
                    </a:p>
                  </a:txBody>
                  <a:tcPr marL="0" marR="0" marT="3556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80"/>
                        </a:spcBef>
                      </a:pPr>
                      <a:r>
                        <a:rPr sz="1300" spc="-25" dirty="0">
                          <a:solidFill>
                            <a:srgbClr val="7030A0"/>
                          </a:solidFill>
                          <a:latin typeface="Trebuchet MS"/>
                          <a:cs typeface="Trebuchet MS"/>
                        </a:rPr>
                        <a:t>55</a:t>
                      </a:r>
                      <a:endParaRPr sz="1300">
                        <a:solidFill>
                          <a:srgbClr val="7030A0"/>
                        </a:solidFill>
                        <a:latin typeface="Trebuchet MS"/>
                        <a:cs typeface="Trebuchet MS"/>
                      </a:endParaRPr>
                    </a:p>
                  </a:txBody>
                  <a:tcPr marL="0" marR="0" marT="3556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7051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600" dirty="0">
                        <a:solidFill>
                          <a:schemeClr val="tx1"/>
                        </a:solidFill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600">
                        <a:solidFill>
                          <a:srgbClr val="7030A0"/>
                        </a:solidFill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85"/>
                        </a:spcBef>
                      </a:pPr>
                      <a:r>
                        <a:rPr sz="1300" spc="-25" dirty="0">
                          <a:solidFill>
                            <a:srgbClr val="7030A0"/>
                          </a:solidFill>
                          <a:latin typeface="Trebuchet MS"/>
                          <a:cs typeface="Trebuchet MS"/>
                        </a:rPr>
                        <a:t>43</a:t>
                      </a:r>
                      <a:endParaRPr sz="1300">
                        <a:solidFill>
                          <a:srgbClr val="7030A0"/>
                        </a:solidFill>
                        <a:latin typeface="Trebuchet MS"/>
                        <a:cs typeface="Trebuchet MS"/>
                      </a:endParaRPr>
                    </a:p>
                  </a:txBody>
                  <a:tcPr marL="0" marR="0" marT="3619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85"/>
                        </a:spcBef>
                      </a:pPr>
                      <a:r>
                        <a:rPr sz="1300" spc="-25" dirty="0">
                          <a:solidFill>
                            <a:srgbClr val="7030A0"/>
                          </a:solidFill>
                          <a:latin typeface="Trebuchet MS"/>
                          <a:cs typeface="Trebuchet MS"/>
                        </a:rPr>
                        <a:t>32</a:t>
                      </a:r>
                      <a:endParaRPr sz="1300" dirty="0">
                        <a:solidFill>
                          <a:srgbClr val="7030A0"/>
                        </a:solidFill>
                        <a:latin typeface="Trebuchet MS"/>
                        <a:cs typeface="Trebuchet MS"/>
                      </a:endParaRPr>
                    </a:p>
                  </a:txBody>
                  <a:tcPr marL="0" marR="0" marT="3619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7051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600" dirty="0">
                        <a:solidFill>
                          <a:schemeClr val="tx1"/>
                        </a:solidFill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600" dirty="0">
                        <a:solidFill>
                          <a:srgbClr val="7030A0"/>
                        </a:solidFill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sz="1300" spc="-25" dirty="0">
                          <a:solidFill>
                            <a:srgbClr val="7030A0"/>
                          </a:solidFill>
                          <a:latin typeface="Trebuchet MS"/>
                          <a:cs typeface="Trebuchet MS"/>
                        </a:rPr>
                        <a:t>59</a:t>
                      </a:r>
                      <a:endParaRPr sz="1300">
                        <a:solidFill>
                          <a:srgbClr val="7030A0"/>
                        </a:solidFill>
                        <a:latin typeface="Trebuchet MS"/>
                        <a:cs typeface="Trebuchet MS"/>
                      </a:endParaRPr>
                    </a:p>
                  </a:txBody>
                  <a:tcPr marL="0" marR="0" marT="3683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sz="1300" spc="-25" dirty="0">
                          <a:solidFill>
                            <a:srgbClr val="7030A0"/>
                          </a:solidFill>
                          <a:latin typeface="Trebuchet MS"/>
                          <a:cs typeface="Trebuchet MS"/>
                        </a:rPr>
                        <a:t>59</a:t>
                      </a:r>
                      <a:endParaRPr sz="1300">
                        <a:solidFill>
                          <a:srgbClr val="7030A0"/>
                        </a:solidFill>
                        <a:latin typeface="Trebuchet MS"/>
                        <a:cs typeface="Trebuchet MS"/>
                      </a:endParaRPr>
                    </a:p>
                  </a:txBody>
                  <a:tcPr marL="0" marR="0" marT="3683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7051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600" dirty="0">
                        <a:solidFill>
                          <a:schemeClr val="tx1"/>
                        </a:solidFill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600" dirty="0">
                        <a:solidFill>
                          <a:srgbClr val="7030A0"/>
                        </a:solidFill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75"/>
                        </a:spcBef>
                      </a:pPr>
                      <a:r>
                        <a:rPr sz="1300" spc="-25" dirty="0">
                          <a:solidFill>
                            <a:srgbClr val="7030A0"/>
                          </a:solidFill>
                          <a:latin typeface="Trebuchet MS"/>
                          <a:cs typeface="Trebuchet MS"/>
                        </a:rPr>
                        <a:t>58</a:t>
                      </a:r>
                      <a:endParaRPr sz="1300">
                        <a:solidFill>
                          <a:srgbClr val="7030A0"/>
                        </a:solidFill>
                        <a:latin typeface="Trebuchet MS"/>
                        <a:cs typeface="Trebuchet MS"/>
                      </a:endParaRPr>
                    </a:p>
                  </a:txBody>
                  <a:tcPr marL="0" marR="0" marT="3492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600" dirty="0">
                        <a:solidFill>
                          <a:srgbClr val="7030A0"/>
                        </a:solidFill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6352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ru-RU" sz="1600" dirty="0">
                          <a:solidFill>
                            <a:schemeClr val="tx1"/>
                          </a:solidFill>
                          <a:latin typeface="Times New Roman"/>
                          <a:cs typeface="Times New Roman"/>
                        </a:rPr>
                        <a:t>Среднее </a:t>
                      </a:r>
                      <a:r>
                        <a:rPr lang="en-US" sz="1600" dirty="0">
                          <a:solidFill>
                            <a:schemeClr val="tx1"/>
                          </a:solidFill>
                          <a:latin typeface="Times New Roman"/>
                          <a:cs typeface="Times New Roman"/>
                        </a:rPr>
                        <a:t>x</a:t>
                      </a:r>
                      <a:r>
                        <a:rPr lang="en-US" sz="1600" baseline="-25000" dirty="0">
                          <a:solidFill>
                            <a:schemeClr val="tx1"/>
                          </a:solidFill>
                          <a:latin typeface="Times New Roman"/>
                          <a:cs typeface="Times New Roman"/>
                        </a:rPr>
                        <a:t>i</a:t>
                      </a:r>
                      <a:endParaRPr sz="1600" baseline="-25000" dirty="0">
                        <a:solidFill>
                          <a:schemeClr val="tx1"/>
                        </a:solidFill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54"/>
                        </a:spcBef>
                      </a:pPr>
                      <a:r>
                        <a:rPr sz="1300" spc="-20" dirty="0">
                          <a:solidFill>
                            <a:schemeClr val="tx1"/>
                          </a:solidFill>
                          <a:latin typeface="Trebuchet MS"/>
                          <a:cs typeface="Trebuchet MS"/>
                        </a:rPr>
                        <a:t>58,6</a:t>
                      </a:r>
                      <a:endParaRPr sz="1300" dirty="0">
                        <a:solidFill>
                          <a:schemeClr val="tx1"/>
                        </a:solidFill>
                        <a:latin typeface="Trebuchet MS"/>
                        <a:cs typeface="Trebuchet MS"/>
                      </a:endParaRPr>
                    </a:p>
                  </a:txBody>
                  <a:tcPr marL="0" marR="0" marT="32384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54"/>
                        </a:spcBef>
                      </a:pPr>
                      <a:r>
                        <a:rPr sz="1300" spc="-20" dirty="0">
                          <a:solidFill>
                            <a:schemeClr val="tx1"/>
                          </a:solidFill>
                          <a:latin typeface="Trebuchet MS"/>
                          <a:cs typeface="Trebuchet MS"/>
                        </a:rPr>
                        <a:t>54,0</a:t>
                      </a:r>
                      <a:endParaRPr sz="1300">
                        <a:solidFill>
                          <a:schemeClr val="tx1"/>
                        </a:solidFill>
                        <a:latin typeface="Trebuchet MS"/>
                        <a:cs typeface="Trebuchet MS"/>
                      </a:endParaRPr>
                    </a:p>
                  </a:txBody>
                  <a:tcPr marL="0" marR="0" marT="32384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54"/>
                        </a:spcBef>
                      </a:pPr>
                      <a:r>
                        <a:rPr sz="1300" spc="-20" dirty="0">
                          <a:solidFill>
                            <a:schemeClr val="tx1"/>
                          </a:solidFill>
                          <a:latin typeface="Trebuchet MS"/>
                          <a:cs typeface="Trebuchet MS"/>
                        </a:rPr>
                        <a:t>51,0</a:t>
                      </a:r>
                      <a:endParaRPr sz="1300">
                        <a:solidFill>
                          <a:schemeClr val="tx1"/>
                        </a:solidFill>
                        <a:latin typeface="Trebuchet MS"/>
                        <a:cs typeface="Trebuchet MS"/>
                      </a:endParaRPr>
                    </a:p>
                  </a:txBody>
                  <a:tcPr marL="0" marR="0" marT="32384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6352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ru-RU" sz="1600" dirty="0">
                          <a:solidFill>
                            <a:schemeClr val="tx1"/>
                          </a:solidFill>
                          <a:latin typeface="Times New Roman"/>
                          <a:cs typeface="Times New Roman"/>
                        </a:rPr>
                        <a:t>Дисперсия ϭ</a:t>
                      </a:r>
                      <a:r>
                        <a:rPr lang="ru-RU" sz="1600" baseline="30000" dirty="0">
                          <a:solidFill>
                            <a:schemeClr val="tx1"/>
                          </a:solidFill>
                          <a:latin typeface="Times New Roman"/>
                          <a:cs typeface="Times New Roman"/>
                        </a:rPr>
                        <a:t>2</a:t>
                      </a:r>
                      <a:r>
                        <a:rPr lang="en-US" sz="1600" baseline="-25000" dirty="0" err="1">
                          <a:solidFill>
                            <a:schemeClr val="tx1"/>
                          </a:solidFill>
                          <a:latin typeface="Times New Roman"/>
                          <a:cs typeface="Times New Roman"/>
                        </a:rPr>
                        <a:t>i</a:t>
                      </a:r>
                      <a:endParaRPr sz="1600" baseline="-25000" dirty="0">
                        <a:solidFill>
                          <a:schemeClr val="tx1"/>
                        </a:solidFill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1300" spc="-10" dirty="0">
                          <a:solidFill>
                            <a:schemeClr val="tx1"/>
                          </a:solidFill>
                          <a:latin typeface="Trebuchet MS"/>
                          <a:cs typeface="Trebuchet MS"/>
                        </a:rPr>
                        <a:t>128,25</a:t>
                      </a:r>
                      <a:endParaRPr sz="1300">
                        <a:solidFill>
                          <a:schemeClr val="tx1"/>
                        </a:solidFill>
                        <a:latin typeface="Trebuchet MS"/>
                        <a:cs typeface="Trebuchet MS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1300" spc="-20" dirty="0">
                          <a:solidFill>
                            <a:schemeClr val="tx1"/>
                          </a:solidFill>
                          <a:latin typeface="Trebuchet MS"/>
                          <a:cs typeface="Trebuchet MS"/>
                        </a:rPr>
                        <a:t>65,00</a:t>
                      </a:r>
                      <a:endParaRPr sz="1300">
                        <a:solidFill>
                          <a:schemeClr val="tx1"/>
                        </a:solidFill>
                        <a:latin typeface="Trebuchet MS"/>
                        <a:cs typeface="Trebuchet MS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1300" spc="-10" dirty="0">
                          <a:solidFill>
                            <a:schemeClr val="tx1"/>
                          </a:solidFill>
                          <a:latin typeface="Trebuchet MS"/>
                          <a:cs typeface="Trebuchet MS"/>
                        </a:rPr>
                        <a:t>107,60</a:t>
                      </a:r>
                      <a:endParaRPr sz="1300" dirty="0">
                        <a:solidFill>
                          <a:schemeClr val="tx1"/>
                        </a:solidFill>
                        <a:latin typeface="Trebuchet MS"/>
                        <a:cs typeface="Trebuchet MS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  <p:sp>
        <p:nvSpPr>
          <p:cNvPr id="8" name="object 8"/>
          <p:cNvSpPr txBox="1"/>
          <p:nvPr/>
        </p:nvSpPr>
        <p:spPr>
          <a:xfrm>
            <a:off x="685800" y="217932"/>
            <a:ext cx="8017494" cy="2887980"/>
          </a:xfrm>
          <a:prstGeom prst="rect">
            <a:avLst/>
          </a:prstGeom>
        </p:spPr>
        <p:txBody>
          <a:bodyPr vert="horz" wrap="square" lIns="0" tIns="10160" rIns="0" bIns="0" rtlCol="0">
            <a:spAutoFit/>
          </a:bodyPr>
          <a:lstStyle/>
          <a:p>
            <a:pPr marL="25400" marR="17780" algn="just">
              <a:lnSpc>
                <a:spcPct val="100800"/>
              </a:lnSpc>
              <a:spcBef>
                <a:spcPts val="80"/>
              </a:spcBef>
            </a:pPr>
            <a:r>
              <a:rPr sz="2000" b="1" dirty="0">
                <a:latin typeface="Arial"/>
                <a:cs typeface="Arial"/>
              </a:rPr>
              <a:t>Пример.</a:t>
            </a:r>
            <a:r>
              <a:rPr sz="2000" spc="375" dirty="0">
                <a:latin typeface="Times New Roman"/>
                <a:cs typeface="Times New Roman"/>
              </a:rPr>
              <a:t>   </a:t>
            </a:r>
            <a:r>
              <a:rPr sz="2000" dirty="0">
                <a:latin typeface="Arial"/>
                <a:cs typeface="Arial"/>
              </a:rPr>
              <a:t>Исследуется</a:t>
            </a:r>
            <a:r>
              <a:rPr sz="2000" spc="320" dirty="0">
                <a:latin typeface="Times New Roman"/>
                <a:cs typeface="Times New Roman"/>
              </a:rPr>
              <a:t>   </a:t>
            </a:r>
            <a:r>
              <a:rPr sz="2000" dirty="0">
                <a:latin typeface="Arial"/>
                <a:cs typeface="Arial"/>
              </a:rPr>
              <a:t>зависимость</a:t>
            </a:r>
            <a:r>
              <a:rPr sz="2000" spc="320" dirty="0">
                <a:latin typeface="Times New Roman"/>
                <a:cs typeface="Times New Roman"/>
              </a:rPr>
              <a:t>   </a:t>
            </a:r>
            <a:r>
              <a:rPr sz="2000" dirty="0">
                <a:latin typeface="Arial"/>
                <a:cs typeface="Arial"/>
              </a:rPr>
              <a:t>себестоимости</a:t>
            </a:r>
            <a:r>
              <a:rPr sz="2000" spc="315" dirty="0">
                <a:latin typeface="Times New Roman"/>
                <a:cs typeface="Times New Roman"/>
              </a:rPr>
              <a:t>   </a:t>
            </a:r>
            <a:r>
              <a:rPr sz="2000" spc="-10" dirty="0">
                <a:latin typeface="Arial"/>
                <a:cs typeface="Arial"/>
              </a:rPr>
              <a:t>выпуска</a:t>
            </a:r>
            <a:r>
              <a:rPr sz="2000" spc="-1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Arial"/>
                <a:cs typeface="Arial"/>
              </a:rPr>
              <a:t>единицы</a:t>
            </a:r>
            <a:r>
              <a:rPr sz="2000" spc="265" dirty="0">
                <a:latin typeface="Times New Roman"/>
                <a:cs typeface="Times New Roman"/>
              </a:rPr>
              <a:t>  </a:t>
            </a:r>
            <a:r>
              <a:rPr sz="2000" dirty="0">
                <a:latin typeface="Arial"/>
                <a:cs typeface="Arial"/>
              </a:rPr>
              <a:t>продукции</a:t>
            </a:r>
            <a:r>
              <a:rPr sz="2000" spc="260" dirty="0">
                <a:latin typeface="Times New Roman"/>
                <a:cs typeface="Times New Roman"/>
              </a:rPr>
              <a:t>  </a:t>
            </a:r>
            <a:r>
              <a:rPr sz="2000" dirty="0">
                <a:latin typeface="Arial"/>
                <a:cs typeface="Arial"/>
              </a:rPr>
              <a:t>от</a:t>
            </a:r>
            <a:r>
              <a:rPr sz="2000" spc="265" dirty="0">
                <a:latin typeface="Times New Roman"/>
                <a:cs typeface="Times New Roman"/>
              </a:rPr>
              <a:t>  </a:t>
            </a:r>
            <a:r>
              <a:rPr sz="2000" dirty="0">
                <a:latin typeface="Arial"/>
                <a:cs typeface="Arial"/>
              </a:rPr>
              <a:t>величины</a:t>
            </a:r>
            <a:r>
              <a:rPr sz="2000" spc="270" dirty="0">
                <a:latin typeface="Times New Roman"/>
                <a:cs typeface="Times New Roman"/>
              </a:rPr>
              <a:t>  </a:t>
            </a:r>
            <a:r>
              <a:rPr sz="2000" dirty="0">
                <a:latin typeface="Arial"/>
                <a:cs typeface="Arial"/>
              </a:rPr>
              <a:t>подразделения</a:t>
            </a:r>
            <a:r>
              <a:rPr sz="2000" spc="270" dirty="0">
                <a:latin typeface="Times New Roman"/>
                <a:cs typeface="Times New Roman"/>
              </a:rPr>
              <a:t>  </a:t>
            </a:r>
            <a:r>
              <a:rPr sz="2000" spc="-10" dirty="0">
                <a:latin typeface="Arial"/>
                <a:cs typeface="Arial"/>
              </a:rPr>
              <a:t>предприятия.</a:t>
            </a:r>
            <a:r>
              <a:rPr sz="2000" spc="-1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Arial"/>
                <a:cs typeface="Arial"/>
              </a:rPr>
              <a:t>Величина</a:t>
            </a:r>
            <a:r>
              <a:rPr sz="2000" spc="29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Arial"/>
                <a:cs typeface="Arial"/>
              </a:rPr>
              <a:t>подразделения</a:t>
            </a:r>
            <a:r>
              <a:rPr sz="2000" spc="31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Arial"/>
                <a:cs typeface="Arial"/>
              </a:rPr>
              <a:t>(фактор)</a:t>
            </a:r>
            <a:r>
              <a:rPr sz="2000" spc="29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Arial"/>
                <a:cs typeface="Arial"/>
              </a:rPr>
              <a:t>делится</a:t>
            </a:r>
            <a:r>
              <a:rPr sz="2000" spc="29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Arial"/>
                <a:cs typeface="Arial"/>
              </a:rPr>
              <a:t>на</a:t>
            </a:r>
            <a:r>
              <a:rPr sz="2000" spc="30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Arial"/>
                <a:cs typeface="Arial"/>
              </a:rPr>
              <a:t>три</a:t>
            </a:r>
            <a:r>
              <a:rPr sz="2000" spc="29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Arial"/>
                <a:cs typeface="Arial"/>
              </a:rPr>
              <a:t>группы:</a:t>
            </a:r>
            <a:r>
              <a:rPr sz="2000" spc="290" dirty="0">
                <a:latin typeface="Times New Roman"/>
                <a:cs typeface="Times New Roman"/>
              </a:rPr>
              <a:t> </a:t>
            </a:r>
            <a:r>
              <a:rPr sz="2000" spc="-10" dirty="0">
                <a:latin typeface="Arial"/>
                <a:cs typeface="Arial"/>
              </a:rPr>
              <a:t>малое,</a:t>
            </a:r>
            <a:r>
              <a:rPr sz="2000" spc="-1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Arial"/>
                <a:cs typeface="Arial"/>
              </a:rPr>
              <a:t>среднее,</a:t>
            </a:r>
            <a:r>
              <a:rPr sz="2000" spc="50" dirty="0">
                <a:latin typeface="Times New Roman"/>
                <a:cs typeface="Times New Roman"/>
              </a:rPr>
              <a:t>  </a:t>
            </a:r>
            <a:r>
              <a:rPr sz="2000" dirty="0">
                <a:latin typeface="Arial"/>
                <a:cs typeface="Arial"/>
              </a:rPr>
              <a:t>большое.</a:t>
            </a:r>
            <a:r>
              <a:rPr sz="2000" spc="50" dirty="0">
                <a:latin typeface="Times New Roman"/>
                <a:cs typeface="Times New Roman"/>
              </a:rPr>
              <a:t>  </a:t>
            </a:r>
            <a:r>
              <a:rPr sz="2000" dirty="0">
                <a:latin typeface="Arial"/>
                <a:cs typeface="Arial"/>
              </a:rPr>
              <a:t>В</a:t>
            </a:r>
            <a:r>
              <a:rPr sz="2000" spc="60" dirty="0">
                <a:latin typeface="Times New Roman"/>
                <a:cs typeface="Times New Roman"/>
              </a:rPr>
              <a:t>  </a:t>
            </a:r>
            <a:r>
              <a:rPr sz="2000" dirty="0">
                <a:latin typeface="Arial"/>
                <a:cs typeface="Arial"/>
              </a:rPr>
              <a:t>таблице</a:t>
            </a:r>
            <a:r>
              <a:rPr sz="2000" spc="55" dirty="0">
                <a:latin typeface="Times New Roman"/>
                <a:cs typeface="Times New Roman"/>
              </a:rPr>
              <a:t>  </a:t>
            </a:r>
            <a:r>
              <a:rPr sz="2000" dirty="0">
                <a:latin typeface="Arial"/>
                <a:cs typeface="Arial"/>
              </a:rPr>
              <a:t>указаны</a:t>
            </a:r>
            <a:r>
              <a:rPr sz="2000" spc="55" dirty="0">
                <a:latin typeface="Times New Roman"/>
                <a:cs typeface="Times New Roman"/>
              </a:rPr>
              <a:t>  </a:t>
            </a:r>
            <a:r>
              <a:rPr sz="2000" dirty="0">
                <a:latin typeface="Arial"/>
                <a:cs typeface="Arial"/>
              </a:rPr>
              <a:t>данные</a:t>
            </a:r>
            <a:r>
              <a:rPr sz="2000" spc="50" dirty="0">
                <a:latin typeface="Times New Roman"/>
                <a:cs typeface="Times New Roman"/>
              </a:rPr>
              <a:t>  </a:t>
            </a:r>
            <a:r>
              <a:rPr sz="2000" dirty="0">
                <a:latin typeface="Arial"/>
                <a:cs typeface="Arial"/>
              </a:rPr>
              <a:t>о</a:t>
            </a:r>
            <a:r>
              <a:rPr sz="2000" spc="55" dirty="0">
                <a:latin typeface="Times New Roman"/>
                <a:cs typeface="Times New Roman"/>
              </a:rPr>
              <a:t>  </a:t>
            </a:r>
            <a:r>
              <a:rPr sz="2000" spc="-10" dirty="0">
                <a:latin typeface="Arial"/>
                <a:cs typeface="Arial"/>
              </a:rPr>
              <a:t>себестоимости</a:t>
            </a:r>
            <a:r>
              <a:rPr sz="2000" spc="-1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Arial"/>
                <a:cs typeface="Arial"/>
              </a:rPr>
              <a:t>выпуска</a:t>
            </a:r>
            <a:r>
              <a:rPr sz="2000" spc="245" dirty="0">
                <a:latin typeface="Times New Roman"/>
                <a:cs typeface="Times New Roman"/>
              </a:rPr>
              <a:t>  </a:t>
            </a:r>
            <a:r>
              <a:rPr sz="2000" dirty="0">
                <a:latin typeface="Arial"/>
                <a:cs typeface="Arial"/>
              </a:rPr>
              <a:t>единицы</a:t>
            </a:r>
            <a:r>
              <a:rPr sz="2000" spc="245" dirty="0">
                <a:latin typeface="Times New Roman"/>
                <a:cs typeface="Times New Roman"/>
              </a:rPr>
              <a:t>  </a:t>
            </a:r>
            <a:r>
              <a:rPr sz="2000" dirty="0">
                <a:latin typeface="Arial"/>
                <a:cs typeface="Arial"/>
              </a:rPr>
              <a:t>продукции</a:t>
            </a:r>
            <a:r>
              <a:rPr sz="2000" spc="245" dirty="0">
                <a:latin typeface="Times New Roman"/>
                <a:cs typeface="Times New Roman"/>
              </a:rPr>
              <a:t>  </a:t>
            </a:r>
            <a:r>
              <a:rPr sz="2000" dirty="0">
                <a:latin typeface="Arial"/>
                <a:cs typeface="Arial"/>
              </a:rPr>
              <a:t>за</a:t>
            </a:r>
            <a:r>
              <a:rPr sz="2000" spc="245" dirty="0">
                <a:latin typeface="Times New Roman"/>
                <a:cs typeface="Times New Roman"/>
              </a:rPr>
              <a:t>  </a:t>
            </a:r>
            <a:r>
              <a:rPr sz="2000" dirty="0">
                <a:latin typeface="Arial"/>
                <a:cs typeface="Arial"/>
              </a:rPr>
              <a:t>некоторый</a:t>
            </a:r>
            <a:r>
              <a:rPr sz="2000" spc="245" dirty="0">
                <a:latin typeface="Times New Roman"/>
                <a:cs typeface="Times New Roman"/>
              </a:rPr>
              <a:t>  </a:t>
            </a:r>
            <a:r>
              <a:rPr sz="2000" dirty="0">
                <a:latin typeface="Arial"/>
                <a:cs typeface="Arial"/>
              </a:rPr>
              <a:t>период</a:t>
            </a:r>
            <a:r>
              <a:rPr sz="2000" spc="245" dirty="0">
                <a:latin typeface="Times New Roman"/>
                <a:cs typeface="Times New Roman"/>
              </a:rPr>
              <a:t>  </a:t>
            </a:r>
            <a:r>
              <a:rPr sz="2000" dirty="0">
                <a:latin typeface="Arial"/>
                <a:cs typeface="Arial"/>
              </a:rPr>
              <a:t>времени</a:t>
            </a:r>
            <a:r>
              <a:rPr sz="2000" spc="245" dirty="0">
                <a:latin typeface="Times New Roman"/>
                <a:cs typeface="Times New Roman"/>
              </a:rPr>
              <a:t>  </a:t>
            </a:r>
            <a:r>
              <a:rPr sz="2000" spc="-50" dirty="0">
                <a:latin typeface="Arial"/>
                <a:cs typeface="Arial"/>
              </a:rPr>
              <a:t>в</a:t>
            </a:r>
            <a:r>
              <a:rPr sz="2000" spc="-50" dirty="0">
                <a:latin typeface="Times New Roman"/>
                <a:cs typeface="Times New Roman"/>
              </a:rPr>
              <a:t> </a:t>
            </a:r>
            <a:r>
              <a:rPr sz="2000" spc="-10" dirty="0">
                <a:latin typeface="Arial"/>
                <a:cs typeface="Arial"/>
              </a:rPr>
              <a:t>соответствующих</a:t>
            </a:r>
            <a:r>
              <a:rPr sz="2000" spc="-90" dirty="0">
                <a:latin typeface="Times New Roman"/>
                <a:cs typeface="Times New Roman"/>
              </a:rPr>
              <a:t> </a:t>
            </a:r>
            <a:r>
              <a:rPr sz="2000" spc="-10" dirty="0">
                <a:latin typeface="Arial"/>
                <a:cs typeface="Arial"/>
              </a:rPr>
              <a:t>группах.</a:t>
            </a:r>
            <a:endParaRPr sz="2000" dirty="0">
              <a:latin typeface="Arial"/>
              <a:cs typeface="Arial"/>
            </a:endParaRPr>
          </a:p>
          <a:p>
            <a:pPr marL="4572000">
              <a:lnSpc>
                <a:spcPct val="100000"/>
              </a:lnSpc>
              <a:spcBef>
                <a:spcPts val="840"/>
              </a:spcBef>
            </a:pPr>
            <a:r>
              <a:rPr sz="2000" dirty="0">
                <a:latin typeface="Arial"/>
                <a:cs typeface="Arial"/>
              </a:rPr>
              <a:t>m</a:t>
            </a:r>
            <a:r>
              <a:rPr sz="2000" spc="4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Arial"/>
                <a:cs typeface="Arial"/>
              </a:rPr>
              <a:t>=</a:t>
            </a:r>
            <a:r>
              <a:rPr sz="2000" spc="40" dirty="0">
                <a:latin typeface="Times New Roman"/>
                <a:cs typeface="Times New Roman"/>
              </a:rPr>
              <a:t> </a:t>
            </a:r>
            <a:r>
              <a:rPr sz="2000" spc="-50" dirty="0">
                <a:latin typeface="Arial"/>
                <a:cs typeface="Arial"/>
              </a:rPr>
              <a:t>3</a:t>
            </a:r>
            <a:endParaRPr sz="2000" dirty="0">
              <a:latin typeface="Arial"/>
              <a:cs typeface="Arial"/>
            </a:endParaRPr>
          </a:p>
          <a:p>
            <a:pPr marL="4572000">
              <a:lnSpc>
                <a:spcPct val="100000"/>
              </a:lnSpc>
            </a:pPr>
            <a:r>
              <a:rPr sz="2000" dirty="0">
                <a:latin typeface="Arial"/>
                <a:cs typeface="Arial"/>
              </a:rPr>
              <a:t>n</a:t>
            </a:r>
            <a:r>
              <a:rPr sz="1950" baseline="-17094" dirty="0">
                <a:latin typeface="Arial"/>
                <a:cs typeface="Arial"/>
              </a:rPr>
              <a:t>1</a:t>
            </a:r>
            <a:r>
              <a:rPr sz="1950" spc="337" baseline="-17094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Arial"/>
                <a:cs typeface="Arial"/>
              </a:rPr>
              <a:t>=</a:t>
            </a:r>
            <a:r>
              <a:rPr sz="2000" spc="3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Arial"/>
                <a:cs typeface="Arial"/>
              </a:rPr>
              <a:t>4,</a:t>
            </a:r>
            <a:r>
              <a:rPr sz="2000" spc="3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Arial"/>
                <a:cs typeface="Arial"/>
              </a:rPr>
              <a:t>n</a:t>
            </a:r>
            <a:r>
              <a:rPr sz="1950" baseline="-17094" dirty="0">
                <a:latin typeface="Arial"/>
                <a:cs typeface="Arial"/>
              </a:rPr>
              <a:t>2</a:t>
            </a:r>
            <a:r>
              <a:rPr sz="1950" spc="337" baseline="-17094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Arial"/>
                <a:cs typeface="Arial"/>
              </a:rPr>
              <a:t>=</a:t>
            </a:r>
            <a:r>
              <a:rPr sz="2000" spc="3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Arial"/>
                <a:cs typeface="Arial"/>
              </a:rPr>
              <a:t>7,</a:t>
            </a:r>
            <a:r>
              <a:rPr sz="2000" spc="3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Arial"/>
                <a:cs typeface="Arial"/>
              </a:rPr>
              <a:t>n</a:t>
            </a:r>
            <a:r>
              <a:rPr sz="1950" baseline="-17094" dirty="0">
                <a:latin typeface="Arial"/>
                <a:cs typeface="Arial"/>
              </a:rPr>
              <a:t>3</a:t>
            </a:r>
            <a:r>
              <a:rPr sz="1950" spc="337" baseline="-17094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Arial"/>
                <a:cs typeface="Arial"/>
              </a:rPr>
              <a:t>=</a:t>
            </a:r>
            <a:r>
              <a:rPr sz="2000" spc="30" dirty="0">
                <a:latin typeface="Times New Roman"/>
                <a:cs typeface="Times New Roman"/>
              </a:rPr>
              <a:t> </a:t>
            </a:r>
            <a:r>
              <a:rPr sz="2000" spc="-50" dirty="0">
                <a:latin typeface="Arial"/>
                <a:cs typeface="Arial"/>
              </a:rPr>
              <a:t>6</a:t>
            </a:r>
            <a:endParaRPr sz="2000" dirty="0">
              <a:latin typeface="Arial"/>
              <a:cs typeface="Arial"/>
            </a:endParaRPr>
          </a:p>
          <a:p>
            <a:pPr marL="4572000">
              <a:lnSpc>
                <a:spcPct val="100000"/>
              </a:lnSpc>
            </a:pPr>
            <a:r>
              <a:rPr sz="2000" dirty="0">
                <a:latin typeface="Arial"/>
                <a:cs typeface="Arial"/>
              </a:rPr>
              <a:t>n</a:t>
            </a:r>
            <a:r>
              <a:rPr sz="2000" spc="4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Arial"/>
                <a:cs typeface="Arial"/>
              </a:rPr>
              <a:t>=</a:t>
            </a:r>
            <a:r>
              <a:rPr sz="2000" spc="35" dirty="0">
                <a:latin typeface="Times New Roman"/>
                <a:cs typeface="Times New Roman"/>
              </a:rPr>
              <a:t> </a:t>
            </a:r>
            <a:r>
              <a:rPr sz="2000" spc="-25" dirty="0">
                <a:latin typeface="Arial"/>
                <a:cs typeface="Arial"/>
              </a:rPr>
              <a:t>17</a:t>
            </a:r>
            <a:endParaRPr sz="2000" dirty="0">
              <a:latin typeface="Arial"/>
              <a:cs typeface="Arial"/>
            </a:endParaRPr>
          </a:p>
        </p:txBody>
      </p:sp>
      <p:pic>
        <p:nvPicPr>
          <p:cNvPr id="9" name="object 9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5181600" y="3518028"/>
            <a:ext cx="3749040" cy="2493263"/>
          </a:xfrm>
          <a:prstGeom prst="rect">
            <a:avLst/>
          </a:prstGeom>
        </p:spPr>
      </p:pic>
      <p:sp>
        <p:nvSpPr>
          <p:cNvPr id="12" name="Нижний колонтитул 11">
            <a:extLst>
              <a:ext uri="{FF2B5EF4-FFF2-40B4-BE49-F238E27FC236}">
                <a16:creationId xmlns:a16="http://schemas.microsoft.com/office/drawing/2014/main" id="{9C1BCCE3-2982-4E76-9F5E-15F9AE7B5460}"/>
              </a:ext>
            </a:extLst>
          </p:cNvPr>
          <p:cNvSpPr>
            <a:spLocks noGrp="1"/>
          </p:cNvSpPr>
          <p:nvPr>
            <p:ph type="ftr" sz="quarter" idx="5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17" name="Номер слайда 55">
            <a:extLst>
              <a:ext uri="{FF2B5EF4-FFF2-40B4-BE49-F238E27FC236}">
                <a16:creationId xmlns:a16="http://schemas.microsoft.com/office/drawing/2014/main" id="{7402A9B2-AFFB-4EC0-95BC-B8D5CD62D37A}"/>
              </a:ext>
            </a:extLst>
          </p:cNvPr>
          <p:cNvSpPr txBox="1">
            <a:spLocks/>
          </p:cNvSpPr>
          <p:nvPr/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kern="0"/>
            </a:defPPr>
            <a:lvl1pPr marL="38100" algn="r">
              <a:lnSpc>
                <a:spcPct val="100000"/>
              </a:lnSpc>
              <a:spcBef>
                <a:spcPts val="244"/>
              </a:spcBef>
              <a:defRPr sz="1500" spc="-25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1D60167-4931-47E6-BA6A-407CBD079E47}" type="slidenum">
              <a:rPr lang="ru-RU"/>
              <a:pPr/>
              <a:t>51</a:t>
            </a:fld>
            <a:endParaRPr lang="ru-RU" dirty="0"/>
          </a:p>
        </p:txBody>
      </p:sp>
      <p:cxnSp>
        <p:nvCxnSpPr>
          <p:cNvPr id="19" name="Прямая соединительная линия 18">
            <a:extLst>
              <a:ext uri="{FF2B5EF4-FFF2-40B4-BE49-F238E27FC236}">
                <a16:creationId xmlns:a16="http://schemas.microsoft.com/office/drawing/2014/main" id="{18BBE5AA-37A9-450B-AE4C-78A4CDA62952}"/>
              </a:ext>
            </a:extLst>
          </p:cNvPr>
          <p:cNvCxnSpPr>
            <a:cxnSpLocks/>
          </p:cNvCxnSpPr>
          <p:nvPr/>
        </p:nvCxnSpPr>
        <p:spPr>
          <a:xfrm>
            <a:off x="1447800" y="4637437"/>
            <a:ext cx="152400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object 5"/>
          <p:cNvSpPr txBox="1"/>
          <p:nvPr/>
        </p:nvSpPr>
        <p:spPr>
          <a:xfrm>
            <a:off x="5867400" y="4549"/>
            <a:ext cx="2346325" cy="9398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2000" i="1" dirty="0">
                <a:latin typeface="Arial"/>
                <a:cs typeface="Arial"/>
              </a:rPr>
              <a:t>m</a:t>
            </a:r>
            <a:r>
              <a:rPr sz="2000" spc="45" dirty="0">
                <a:latin typeface="Times New Roman"/>
                <a:cs typeface="Times New Roman"/>
              </a:rPr>
              <a:t> </a:t>
            </a:r>
            <a:r>
              <a:rPr sz="2000" i="1" dirty="0">
                <a:latin typeface="Arial"/>
                <a:cs typeface="Arial"/>
              </a:rPr>
              <a:t>=</a:t>
            </a:r>
            <a:r>
              <a:rPr sz="2000" spc="40" dirty="0">
                <a:latin typeface="Times New Roman"/>
                <a:cs typeface="Times New Roman"/>
              </a:rPr>
              <a:t> </a:t>
            </a:r>
            <a:r>
              <a:rPr sz="2000" i="1" spc="-50" dirty="0">
                <a:latin typeface="Arial"/>
                <a:cs typeface="Arial"/>
              </a:rPr>
              <a:t>3</a:t>
            </a:r>
            <a:endParaRPr sz="2000" dirty="0">
              <a:latin typeface="Arial"/>
              <a:cs typeface="Arial"/>
            </a:endParaRPr>
          </a:p>
          <a:p>
            <a:pPr marL="38100">
              <a:lnSpc>
                <a:spcPct val="100000"/>
              </a:lnSpc>
            </a:pPr>
            <a:r>
              <a:rPr sz="2000" i="1" dirty="0">
                <a:latin typeface="Arial"/>
                <a:cs typeface="Arial"/>
              </a:rPr>
              <a:t>n</a:t>
            </a:r>
            <a:r>
              <a:rPr sz="1950" i="1" baseline="-17094" dirty="0">
                <a:latin typeface="Arial"/>
                <a:cs typeface="Arial"/>
              </a:rPr>
              <a:t>1</a:t>
            </a:r>
            <a:r>
              <a:rPr sz="1950" spc="337" baseline="-17094" dirty="0">
                <a:latin typeface="Times New Roman"/>
                <a:cs typeface="Times New Roman"/>
              </a:rPr>
              <a:t> </a:t>
            </a:r>
            <a:r>
              <a:rPr sz="2000" i="1" dirty="0">
                <a:latin typeface="Arial"/>
                <a:cs typeface="Arial"/>
              </a:rPr>
              <a:t>=</a:t>
            </a:r>
            <a:r>
              <a:rPr sz="2000" spc="30" dirty="0">
                <a:latin typeface="Times New Roman"/>
                <a:cs typeface="Times New Roman"/>
              </a:rPr>
              <a:t> </a:t>
            </a:r>
            <a:r>
              <a:rPr sz="2000" i="1" dirty="0">
                <a:latin typeface="Arial"/>
                <a:cs typeface="Arial"/>
              </a:rPr>
              <a:t>4,</a:t>
            </a:r>
            <a:r>
              <a:rPr sz="2000" spc="35" dirty="0">
                <a:latin typeface="Times New Roman"/>
                <a:cs typeface="Times New Roman"/>
              </a:rPr>
              <a:t> </a:t>
            </a:r>
            <a:r>
              <a:rPr sz="2000" i="1" dirty="0">
                <a:latin typeface="Arial"/>
                <a:cs typeface="Arial"/>
              </a:rPr>
              <a:t>n</a:t>
            </a:r>
            <a:r>
              <a:rPr sz="1950" i="1" baseline="-17094" dirty="0">
                <a:latin typeface="Arial"/>
                <a:cs typeface="Arial"/>
              </a:rPr>
              <a:t>2</a:t>
            </a:r>
            <a:r>
              <a:rPr sz="1950" spc="337" baseline="-17094" dirty="0">
                <a:latin typeface="Times New Roman"/>
                <a:cs typeface="Times New Roman"/>
              </a:rPr>
              <a:t> </a:t>
            </a:r>
            <a:r>
              <a:rPr sz="2000" i="1" dirty="0">
                <a:latin typeface="Arial"/>
                <a:cs typeface="Arial"/>
              </a:rPr>
              <a:t>=</a:t>
            </a:r>
            <a:r>
              <a:rPr sz="2000" spc="30" dirty="0">
                <a:latin typeface="Times New Roman"/>
                <a:cs typeface="Times New Roman"/>
              </a:rPr>
              <a:t> </a:t>
            </a:r>
            <a:r>
              <a:rPr sz="2000" i="1" dirty="0">
                <a:latin typeface="Arial"/>
                <a:cs typeface="Arial"/>
              </a:rPr>
              <a:t>7,</a:t>
            </a:r>
            <a:r>
              <a:rPr sz="2000" spc="35" dirty="0">
                <a:latin typeface="Times New Roman"/>
                <a:cs typeface="Times New Roman"/>
              </a:rPr>
              <a:t> </a:t>
            </a:r>
            <a:r>
              <a:rPr sz="2000" i="1" dirty="0">
                <a:latin typeface="Arial"/>
                <a:cs typeface="Arial"/>
              </a:rPr>
              <a:t>n</a:t>
            </a:r>
            <a:r>
              <a:rPr sz="1950" i="1" baseline="-17094" dirty="0">
                <a:latin typeface="Arial"/>
                <a:cs typeface="Arial"/>
              </a:rPr>
              <a:t>3</a:t>
            </a:r>
            <a:r>
              <a:rPr sz="1950" spc="337" baseline="-17094" dirty="0">
                <a:latin typeface="Times New Roman"/>
                <a:cs typeface="Times New Roman"/>
              </a:rPr>
              <a:t> </a:t>
            </a:r>
            <a:r>
              <a:rPr sz="2000" i="1" dirty="0">
                <a:latin typeface="Arial"/>
                <a:cs typeface="Arial"/>
              </a:rPr>
              <a:t>=</a:t>
            </a:r>
            <a:r>
              <a:rPr sz="2000" spc="30" dirty="0">
                <a:latin typeface="Times New Roman"/>
                <a:cs typeface="Times New Roman"/>
              </a:rPr>
              <a:t> </a:t>
            </a:r>
            <a:r>
              <a:rPr sz="2000" i="1" spc="-50" dirty="0">
                <a:latin typeface="Arial"/>
                <a:cs typeface="Arial"/>
              </a:rPr>
              <a:t>6</a:t>
            </a:r>
            <a:endParaRPr sz="2000" dirty="0">
              <a:latin typeface="Arial"/>
              <a:cs typeface="Arial"/>
            </a:endParaRPr>
          </a:p>
          <a:p>
            <a:pPr marL="38100">
              <a:lnSpc>
                <a:spcPct val="100000"/>
              </a:lnSpc>
            </a:pPr>
            <a:r>
              <a:rPr sz="2000" i="1" dirty="0">
                <a:latin typeface="Arial"/>
                <a:cs typeface="Arial"/>
              </a:rPr>
              <a:t>n</a:t>
            </a:r>
            <a:r>
              <a:rPr sz="2000" spc="40" dirty="0">
                <a:latin typeface="Times New Roman"/>
                <a:cs typeface="Times New Roman"/>
              </a:rPr>
              <a:t> </a:t>
            </a:r>
            <a:r>
              <a:rPr sz="2000" i="1" dirty="0">
                <a:latin typeface="Arial"/>
                <a:cs typeface="Arial"/>
              </a:rPr>
              <a:t>=</a:t>
            </a:r>
            <a:r>
              <a:rPr sz="2000" spc="35" dirty="0">
                <a:latin typeface="Times New Roman"/>
                <a:cs typeface="Times New Roman"/>
              </a:rPr>
              <a:t> </a:t>
            </a:r>
            <a:r>
              <a:rPr sz="2000" i="1" spc="-25" dirty="0">
                <a:latin typeface="Arial"/>
                <a:cs typeface="Arial"/>
              </a:rPr>
              <a:t>17</a:t>
            </a:r>
            <a:endParaRPr sz="2000" dirty="0">
              <a:latin typeface="Arial"/>
              <a:cs typeface="Arial"/>
            </a:endParaRPr>
          </a:p>
        </p:txBody>
      </p:sp>
      <p:grpSp>
        <p:nvGrpSpPr>
          <p:cNvPr id="6" name="object 6"/>
          <p:cNvGrpSpPr/>
          <p:nvPr/>
        </p:nvGrpSpPr>
        <p:grpSpPr>
          <a:xfrm>
            <a:off x="423672" y="862514"/>
            <a:ext cx="8720328" cy="5663253"/>
            <a:chOff x="423672" y="862514"/>
            <a:chExt cx="9757824" cy="5663253"/>
          </a:xfrm>
        </p:grpSpPr>
        <p:pic>
          <p:nvPicPr>
            <p:cNvPr id="7" name="object 7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6435505" y="862514"/>
              <a:ext cx="3745991" cy="1941576"/>
            </a:xfrm>
            <a:prstGeom prst="rect">
              <a:avLst/>
            </a:prstGeom>
          </p:spPr>
        </p:pic>
        <p:pic>
          <p:nvPicPr>
            <p:cNvPr id="8" name="object 8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423672" y="2852927"/>
              <a:ext cx="8586216" cy="3672840"/>
            </a:xfrm>
            <a:prstGeom prst="rect">
              <a:avLst/>
            </a:prstGeom>
          </p:spPr>
        </p:pic>
      </p:grpSp>
      <p:sp>
        <p:nvSpPr>
          <p:cNvPr id="11" name="Нижний колонтитул 10">
            <a:extLst>
              <a:ext uri="{FF2B5EF4-FFF2-40B4-BE49-F238E27FC236}">
                <a16:creationId xmlns:a16="http://schemas.microsoft.com/office/drawing/2014/main" id="{320FB4DD-384D-4E62-B5BF-999DB5057751}"/>
              </a:ext>
            </a:extLst>
          </p:cNvPr>
          <p:cNvSpPr>
            <a:spLocks noGrp="1"/>
          </p:cNvSpPr>
          <p:nvPr>
            <p:ph type="ftr" sz="quarter" idx="5"/>
          </p:nvPr>
        </p:nvSpPr>
        <p:spPr/>
        <p:txBody>
          <a:bodyPr/>
          <a:lstStyle/>
          <a:p>
            <a:endParaRPr lang="ru-RU"/>
          </a:p>
        </p:txBody>
      </p:sp>
      <p:graphicFrame>
        <p:nvGraphicFramePr>
          <p:cNvPr id="12" name="object 4">
            <a:extLst>
              <a:ext uri="{FF2B5EF4-FFF2-40B4-BE49-F238E27FC236}">
                <a16:creationId xmlns:a16="http://schemas.microsoft.com/office/drawing/2014/main" id="{8EEE573F-52DE-4B51-8A8A-87D7F944112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27522467"/>
              </p:ext>
            </p:extLst>
          </p:nvPr>
        </p:nvGraphicFramePr>
        <p:xfrm>
          <a:off x="930275" y="137379"/>
          <a:ext cx="4317364" cy="269113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61734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9979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0043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9979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7051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600" dirty="0">
                        <a:solidFill>
                          <a:schemeClr val="tx1"/>
                        </a:solidFill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80"/>
                        </a:spcBef>
                      </a:pPr>
                      <a:r>
                        <a:rPr sz="1300" b="1" spc="-10" dirty="0">
                          <a:solidFill>
                            <a:schemeClr val="tx1"/>
                          </a:solidFill>
                          <a:latin typeface="Trebuchet MS"/>
                          <a:cs typeface="Trebuchet MS"/>
                        </a:rPr>
                        <a:t>малое</a:t>
                      </a:r>
                      <a:endParaRPr sz="1300">
                        <a:solidFill>
                          <a:schemeClr val="tx1"/>
                        </a:solidFill>
                        <a:latin typeface="Trebuchet MS"/>
                        <a:cs typeface="Trebuchet MS"/>
                      </a:endParaRPr>
                    </a:p>
                  </a:txBody>
                  <a:tcPr marL="0" marR="0" marT="3556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80"/>
                        </a:spcBef>
                      </a:pPr>
                      <a:r>
                        <a:rPr sz="1300" b="1" spc="-10" dirty="0">
                          <a:solidFill>
                            <a:schemeClr val="tx1"/>
                          </a:solidFill>
                          <a:latin typeface="Trebuchet MS"/>
                          <a:cs typeface="Trebuchet MS"/>
                        </a:rPr>
                        <a:t>среднее</a:t>
                      </a:r>
                      <a:endParaRPr sz="1300">
                        <a:solidFill>
                          <a:schemeClr val="tx1"/>
                        </a:solidFill>
                        <a:latin typeface="Trebuchet MS"/>
                        <a:cs typeface="Trebuchet MS"/>
                      </a:endParaRPr>
                    </a:p>
                  </a:txBody>
                  <a:tcPr marL="0" marR="0" marT="3556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80"/>
                        </a:spcBef>
                      </a:pPr>
                      <a:r>
                        <a:rPr sz="1300" b="1" spc="-10" dirty="0">
                          <a:solidFill>
                            <a:schemeClr val="tx1"/>
                          </a:solidFill>
                          <a:latin typeface="Trebuchet MS"/>
                          <a:cs typeface="Trebuchet MS"/>
                        </a:rPr>
                        <a:t>большое</a:t>
                      </a:r>
                      <a:endParaRPr sz="1300">
                        <a:solidFill>
                          <a:schemeClr val="tx1"/>
                        </a:solidFill>
                        <a:latin typeface="Trebuchet MS"/>
                        <a:cs typeface="Trebuchet MS"/>
                      </a:endParaRPr>
                    </a:p>
                  </a:txBody>
                  <a:tcPr marL="0" marR="0" marT="3556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7051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600" dirty="0">
                        <a:solidFill>
                          <a:schemeClr val="tx1"/>
                        </a:solidFill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sz="1300" spc="-25" dirty="0">
                          <a:solidFill>
                            <a:srgbClr val="7030A0"/>
                          </a:solidFill>
                          <a:latin typeface="Trebuchet MS"/>
                          <a:cs typeface="Trebuchet MS"/>
                        </a:rPr>
                        <a:t>48</a:t>
                      </a:r>
                      <a:endParaRPr sz="1300" dirty="0">
                        <a:solidFill>
                          <a:srgbClr val="7030A0"/>
                        </a:solidFill>
                        <a:latin typeface="Trebuchet MS"/>
                        <a:cs typeface="Trebuchet MS"/>
                      </a:endParaRPr>
                    </a:p>
                  </a:txBody>
                  <a:tcPr marL="0" marR="0" marT="3683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sz="1300" spc="-25" dirty="0">
                          <a:solidFill>
                            <a:srgbClr val="7030A0"/>
                          </a:solidFill>
                          <a:latin typeface="Trebuchet MS"/>
                          <a:cs typeface="Trebuchet MS"/>
                        </a:rPr>
                        <a:t>47</a:t>
                      </a:r>
                      <a:endParaRPr sz="1300">
                        <a:solidFill>
                          <a:srgbClr val="7030A0"/>
                        </a:solidFill>
                        <a:latin typeface="Trebuchet MS"/>
                        <a:cs typeface="Trebuchet MS"/>
                      </a:endParaRPr>
                    </a:p>
                  </a:txBody>
                  <a:tcPr marL="0" marR="0" marT="3683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sz="1300" spc="-25" dirty="0">
                          <a:solidFill>
                            <a:srgbClr val="7030A0"/>
                          </a:solidFill>
                          <a:latin typeface="Trebuchet MS"/>
                          <a:cs typeface="Trebuchet MS"/>
                        </a:rPr>
                        <a:t>46</a:t>
                      </a:r>
                      <a:endParaRPr sz="1300">
                        <a:solidFill>
                          <a:srgbClr val="7030A0"/>
                        </a:solidFill>
                        <a:latin typeface="Trebuchet MS"/>
                        <a:cs typeface="Trebuchet MS"/>
                      </a:endParaRPr>
                    </a:p>
                  </a:txBody>
                  <a:tcPr marL="0" marR="0" marT="3683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7051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600">
                        <a:solidFill>
                          <a:schemeClr val="tx1"/>
                        </a:solidFill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sz="1300" spc="-25" dirty="0">
                          <a:solidFill>
                            <a:srgbClr val="7030A0"/>
                          </a:solidFill>
                          <a:latin typeface="Trebuchet MS"/>
                          <a:cs typeface="Trebuchet MS"/>
                        </a:rPr>
                        <a:t>50</a:t>
                      </a:r>
                      <a:endParaRPr sz="1300">
                        <a:solidFill>
                          <a:srgbClr val="7030A0"/>
                        </a:solidFill>
                        <a:latin typeface="Trebuchet MS"/>
                        <a:cs typeface="Trebuchet MS"/>
                      </a:endParaRPr>
                    </a:p>
                  </a:txBody>
                  <a:tcPr marL="0" marR="0" marT="3746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sz="1300" spc="-25" dirty="0">
                          <a:solidFill>
                            <a:srgbClr val="7030A0"/>
                          </a:solidFill>
                          <a:latin typeface="Trebuchet MS"/>
                          <a:cs typeface="Trebuchet MS"/>
                        </a:rPr>
                        <a:t>61</a:t>
                      </a:r>
                      <a:endParaRPr sz="1300">
                        <a:solidFill>
                          <a:srgbClr val="7030A0"/>
                        </a:solidFill>
                        <a:latin typeface="Trebuchet MS"/>
                        <a:cs typeface="Trebuchet MS"/>
                      </a:endParaRPr>
                    </a:p>
                  </a:txBody>
                  <a:tcPr marL="0" marR="0" marT="3746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sz="1300" spc="-25" dirty="0">
                          <a:solidFill>
                            <a:srgbClr val="7030A0"/>
                          </a:solidFill>
                          <a:latin typeface="Trebuchet MS"/>
                          <a:cs typeface="Trebuchet MS"/>
                        </a:rPr>
                        <a:t>57</a:t>
                      </a:r>
                      <a:endParaRPr sz="1300" dirty="0">
                        <a:solidFill>
                          <a:srgbClr val="7030A0"/>
                        </a:solidFill>
                        <a:latin typeface="Trebuchet MS"/>
                        <a:cs typeface="Trebuchet MS"/>
                      </a:endParaRPr>
                    </a:p>
                  </a:txBody>
                  <a:tcPr marL="0" marR="0" marT="3746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7051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600" dirty="0">
                        <a:solidFill>
                          <a:schemeClr val="tx1"/>
                        </a:solidFill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75"/>
                        </a:spcBef>
                      </a:pPr>
                      <a:r>
                        <a:rPr sz="1300" spc="-25" dirty="0">
                          <a:solidFill>
                            <a:srgbClr val="7030A0"/>
                          </a:solidFill>
                          <a:latin typeface="Trebuchet MS"/>
                          <a:cs typeface="Trebuchet MS"/>
                        </a:rPr>
                        <a:t>63</a:t>
                      </a:r>
                      <a:endParaRPr sz="1300">
                        <a:solidFill>
                          <a:srgbClr val="7030A0"/>
                        </a:solidFill>
                        <a:latin typeface="Trebuchet MS"/>
                        <a:cs typeface="Trebuchet MS"/>
                      </a:endParaRPr>
                    </a:p>
                  </a:txBody>
                  <a:tcPr marL="0" marR="0" marT="3492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75"/>
                        </a:spcBef>
                      </a:pPr>
                      <a:r>
                        <a:rPr sz="1300" spc="-25" dirty="0">
                          <a:solidFill>
                            <a:srgbClr val="7030A0"/>
                          </a:solidFill>
                          <a:latin typeface="Trebuchet MS"/>
                          <a:cs typeface="Trebuchet MS"/>
                        </a:rPr>
                        <a:t>63</a:t>
                      </a:r>
                      <a:endParaRPr sz="1300">
                        <a:solidFill>
                          <a:srgbClr val="7030A0"/>
                        </a:solidFill>
                        <a:latin typeface="Trebuchet MS"/>
                        <a:cs typeface="Trebuchet MS"/>
                      </a:endParaRPr>
                    </a:p>
                  </a:txBody>
                  <a:tcPr marL="0" marR="0" marT="3492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75"/>
                        </a:spcBef>
                      </a:pPr>
                      <a:r>
                        <a:rPr sz="1300" spc="-25" dirty="0">
                          <a:solidFill>
                            <a:srgbClr val="7030A0"/>
                          </a:solidFill>
                          <a:latin typeface="Trebuchet MS"/>
                          <a:cs typeface="Trebuchet MS"/>
                        </a:rPr>
                        <a:t>57</a:t>
                      </a:r>
                      <a:endParaRPr sz="1300">
                        <a:solidFill>
                          <a:srgbClr val="7030A0"/>
                        </a:solidFill>
                        <a:latin typeface="Trebuchet MS"/>
                        <a:cs typeface="Trebuchet MS"/>
                      </a:endParaRPr>
                    </a:p>
                  </a:txBody>
                  <a:tcPr marL="0" marR="0" marT="3492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7051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600" dirty="0">
                        <a:solidFill>
                          <a:schemeClr val="tx1"/>
                        </a:solidFill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80"/>
                        </a:spcBef>
                      </a:pPr>
                      <a:r>
                        <a:rPr sz="1300" spc="-25" dirty="0">
                          <a:solidFill>
                            <a:srgbClr val="7030A0"/>
                          </a:solidFill>
                          <a:latin typeface="Trebuchet MS"/>
                          <a:cs typeface="Trebuchet MS"/>
                        </a:rPr>
                        <a:t>72</a:t>
                      </a:r>
                      <a:endParaRPr sz="1300" dirty="0">
                        <a:solidFill>
                          <a:srgbClr val="7030A0"/>
                        </a:solidFill>
                        <a:latin typeface="Trebuchet MS"/>
                        <a:cs typeface="Trebuchet MS"/>
                      </a:endParaRPr>
                    </a:p>
                  </a:txBody>
                  <a:tcPr marL="0" marR="0" marT="3556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80"/>
                        </a:spcBef>
                      </a:pPr>
                      <a:r>
                        <a:rPr sz="1300" spc="-25" dirty="0">
                          <a:solidFill>
                            <a:srgbClr val="7030A0"/>
                          </a:solidFill>
                          <a:latin typeface="Trebuchet MS"/>
                          <a:cs typeface="Trebuchet MS"/>
                        </a:rPr>
                        <a:t>47</a:t>
                      </a:r>
                      <a:endParaRPr sz="1300" dirty="0">
                        <a:solidFill>
                          <a:srgbClr val="7030A0"/>
                        </a:solidFill>
                        <a:latin typeface="Trebuchet MS"/>
                        <a:cs typeface="Trebuchet MS"/>
                      </a:endParaRPr>
                    </a:p>
                  </a:txBody>
                  <a:tcPr marL="0" marR="0" marT="3556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80"/>
                        </a:spcBef>
                      </a:pPr>
                      <a:r>
                        <a:rPr sz="1300" spc="-25" dirty="0">
                          <a:solidFill>
                            <a:srgbClr val="7030A0"/>
                          </a:solidFill>
                          <a:latin typeface="Trebuchet MS"/>
                          <a:cs typeface="Trebuchet MS"/>
                        </a:rPr>
                        <a:t>55</a:t>
                      </a:r>
                      <a:endParaRPr sz="1300">
                        <a:solidFill>
                          <a:srgbClr val="7030A0"/>
                        </a:solidFill>
                        <a:latin typeface="Trebuchet MS"/>
                        <a:cs typeface="Trebuchet MS"/>
                      </a:endParaRPr>
                    </a:p>
                  </a:txBody>
                  <a:tcPr marL="0" marR="0" marT="3556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7051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600" dirty="0">
                        <a:solidFill>
                          <a:schemeClr val="tx1"/>
                        </a:solidFill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600">
                        <a:solidFill>
                          <a:srgbClr val="7030A0"/>
                        </a:solidFill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85"/>
                        </a:spcBef>
                      </a:pPr>
                      <a:r>
                        <a:rPr sz="1300" spc="-25" dirty="0">
                          <a:solidFill>
                            <a:srgbClr val="7030A0"/>
                          </a:solidFill>
                          <a:latin typeface="Trebuchet MS"/>
                          <a:cs typeface="Trebuchet MS"/>
                        </a:rPr>
                        <a:t>43</a:t>
                      </a:r>
                      <a:endParaRPr sz="1300">
                        <a:solidFill>
                          <a:srgbClr val="7030A0"/>
                        </a:solidFill>
                        <a:latin typeface="Trebuchet MS"/>
                        <a:cs typeface="Trebuchet MS"/>
                      </a:endParaRPr>
                    </a:p>
                  </a:txBody>
                  <a:tcPr marL="0" marR="0" marT="3619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85"/>
                        </a:spcBef>
                      </a:pPr>
                      <a:r>
                        <a:rPr sz="1300" spc="-25" dirty="0">
                          <a:solidFill>
                            <a:srgbClr val="7030A0"/>
                          </a:solidFill>
                          <a:latin typeface="Trebuchet MS"/>
                          <a:cs typeface="Trebuchet MS"/>
                        </a:rPr>
                        <a:t>32</a:t>
                      </a:r>
                      <a:endParaRPr sz="1300" dirty="0">
                        <a:solidFill>
                          <a:srgbClr val="7030A0"/>
                        </a:solidFill>
                        <a:latin typeface="Trebuchet MS"/>
                        <a:cs typeface="Trebuchet MS"/>
                      </a:endParaRPr>
                    </a:p>
                  </a:txBody>
                  <a:tcPr marL="0" marR="0" marT="3619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7051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600" dirty="0">
                        <a:solidFill>
                          <a:schemeClr val="tx1"/>
                        </a:solidFill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600" dirty="0">
                        <a:solidFill>
                          <a:srgbClr val="7030A0"/>
                        </a:solidFill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sz="1300" spc="-25" dirty="0">
                          <a:solidFill>
                            <a:srgbClr val="7030A0"/>
                          </a:solidFill>
                          <a:latin typeface="Trebuchet MS"/>
                          <a:cs typeface="Trebuchet MS"/>
                        </a:rPr>
                        <a:t>59</a:t>
                      </a:r>
                      <a:endParaRPr sz="1300">
                        <a:solidFill>
                          <a:srgbClr val="7030A0"/>
                        </a:solidFill>
                        <a:latin typeface="Trebuchet MS"/>
                        <a:cs typeface="Trebuchet MS"/>
                      </a:endParaRPr>
                    </a:p>
                  </a:txBody>
                  <a:tcPr marL="0" marR="0" marT="3683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sz="1300" spc="-25" dirty="0">
                          <a:solidFill>
                            <a:srgbClr val="7030A0"/>
                          </a:solidFill>
                          <a:latin typeface="Trebuchet MS"/>
                          <a:cs typeface="Trebuchet MS"/>
                        </a:rPr>
                        <a:t>59</a:t>
                      </a:r>
                      <a:endParaRPr sz="1300">
                        <a:solidFill>
                          <a:srgbClr val="7030A0"/>
                        </a:solidFill>
                        <a:latin typeface="Trebuchet MS"/>
                        <a:cs typeface="Trebuchet MS"/>
                      </a:endParaRPr>
                    </a:p>
                  </a:txBody>
                  <a:tcPr marL="0" marR="0" marT="3683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7051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600" dirty="0">
                        <a:solidFill>
                          <a:schemeClr val="tx1"/>
                        </a:solidFill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600" dirty="0">
                        <a:solidFill>
                          <a:srgbClr val="7030A0"/>
                        </a:solidFill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75"/>
                        </a:spcBef>
                      </a:pPr>
                      <a:r>
                        <a:rPr sz="1300" spc="-25" dirty="0">
                          <a:solidFill>
                            <a:srgbClr val="7030A0"/>
                          </a:solidFill>
                          <a:latin typeface="Trebuchet MS"/>
                          <a:cs typeface="Trebuchet MS"/>
                        </a:rPr>
                        <a:t>58</a:t>
                      </a:r>
                      <a:endParaRPr sz="1300">
                        <a:solidFill>
                          <a:srgbClr val="7030A0"/>
                        </a:solidFill>
                        <a:latin typeface="Trebuchet MS"/>
                        <a:cs typeface="Trebuchet MS"/>
                      </a:endParaRPr>
                    </a:p>
                  </a:txBody>
                  <a:tcPr marL="0" marR="0" marT="3492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600" dirty="0">
                        <a:solidFill>
                          <a:srgbClr val="7030A0"/>
                        </a:solidFill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6352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ru-RU" sz="1600" dirty="0">
                          <a:solidFill>
                            <a:schemeClr val="tx1"/>
                          </a:solidFill>
                          <a:latin typeface="Times New Roman"/>
                          <a:cs typeface="Times New Roman"/>
                        </a:rPr>
                        <a:t>Среднее </a:t>
                      </a:r>
                      <a:r>
                        <a:rPr lang="en-US" sz="1600" dirty="0">
                          <a:solidFill>
                            <a:schemeClr val="tx1"/>
                          </a:solidFill>
                          <a:latin typeface="Times New Roman"/>
                          <a:cs typeface="Times New Roman"/>
                        </a:rPr>
                        <a:t>x</a:t>
                      </a:r>
                      <a:r>
                        <a:rPr lang="en-US" sz="1600" baseline="-25000" dirty="0">
                          <a:solidFill>
                            <a:schemeClr val="tx1"/>
                          </a:solidFill>
                          <a:latin typeface="Times New Roman"/>
                          <a:cs typeface="Times New Roman"/>
                        </a:rPr>
                        <a:t>i</a:t>
                      </a:r>
                      <a:endParaRPr sz="1600" baseline="-25000" dirty="0">
                        <a:solidFill>
                          <a:schemeClr val="tx1"/>
                        </a:solidFill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54"/>
                        </a:spcBef>
                      </a:pPr>
                      <a:r>
                        <a:rPr sz="1300" spc="-20" dirty="0">
                          <a:solidFill>
                            <a:schemeClr val="tx1"/>
                          </a:solidFill>
                          <a:latin typeface="Trebuchet MS"/>
                          <a:cs typeface="Trebuchet MS"/>
                        </a:rPr>
                        <a:t>58,6</a:t>
                      </a:r>
                      <a:endParaRPr sz="1300" dirty="0">
                        <a:solidFill>
                          <a:schemeClr val="tx1"/>
                        </a:solidFill>
                        <a:latin typeface="Trebuchet MS"/>
                        <a:cs typeface="Trebuchet MS"/>
                      </a:endParaRPr>
                    </a:p>
                  </a:txBody>
                  <a:tcPr marL="0" marR="0" marT="32384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54"/>
                        </a:spcBef>
                      </a:pPr>
                      <a:r>
                        <a:rPr sz="1300" spc="-20" dirty="0">
                          <a:solidFill>
                            <a:schemeClr val="tx1"/>
                          </a:solidFill>
                          <a:latin typeface="Trebuchet MS"/>
                          <a:cs typeface="Trebuchet MS"/>
                        </a:rPr>
                        <a:t>54,0</a:t>
                      </a:r>
                      <a:endParaRPr sz="1300">
                        <a:solidFill>
                          <a:schemeClr val="tx1"/>
                        </a:solidFill>
                        <a:latin typeface="Trebuchet MS"/>
                        <a:cs typeface="Trebuchet MS"/>
                      </a:endParaRPr>
                    </a:p>
                  </a:txBody>
                  <a:tcPr marL="0" marR="0" marT="32384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54"/>
                        </a:spcBef>
                      </a:pPr>
                      <a:r>
                        <a:rPr sz="1300" spc="-20" dirty="0">
                          <a:solidFill>
                            <a:schemeClr val="tx1"/>
                          </a:solidFill>
                          <a:latin typeface="Trebuchet MS"/>
                          <a:cs typeface="Trebuchet MS"/>
                        </a:rPr>
                        <a:t>51,0</a:t>
                      </a:r>
                      <a:endParaRPr sz="1300">
                        <a:solidFill>
                          <a:schemeClr val="tx1"/>
                        </a:solidFill>
                        <a:latin typeface="Trebuchet MS"/>
                        <a:cs typeface="Trebuchet MS"/>
                      </a:endParaRPr>
                    </a:p>
                  </a:txBody>
                  <a:tcPr marL="0" marR="0" marT="32384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6352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ru-RU" sz="1600" dirty="0">
                          <a:solidFill>
                            <a:schemeClr val="tx1"/>
                          </a:solidFill>
                          <a:latin typeface="Times New Roman"/>
                          <a:cs typeface="Times New Roman"/>
                        </a:rPr>
                        <a:t>Дисперсия ϭ</a:t>
                      </a:r>
                      <a:r>
                        <a:rPr lang="ru-RU" sz="1600" baseline="30000" dirty="0">
                          <a:solidFill>
                            <a:schemeClr val="tx1"/>
                          </a:solidFill>
                          <a:latin typeface="Times New Roman"/>
                          <a:cs typeface="Times New Roman"/>
                        </a:rPr>
                        <a:t>2</a:t>
                      </a:r>
                      <a:r>
                        <a:rPr lang="en-US" sz="1600" baseline="-25000" dirty="0" err="1">
                          <a:solidFill>
                            <a:schemeClr val="tx1"/>
                          </a:solidFill>
                          <a:latin typeface="Times New Roman"/>
                          <a:cs typeface="Times New Roman"/>
                        </a:rPr>
                        <a:t>i</a:t>
                      </a:r>
                      <a:endParaRPr sz="1600" baseline="-25000" dirty="0">
                        <a:solidFill>
                          <a:schemeClr val="tx1"/>
                        </a:solidFill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1300" spc="-10" dirty="0">
                          <a:solidFill>
                            <a:schemeClr val="tx1"/>
                          </a:solidFill>
                          <a:latin typeface="Trebuchet MS"/>
                          <a:cs typeface="Trebuchet MS"/>
                        </a:rPr>
                        <a:t>128,25</a:t>
                      </a:r>
                      <a:endParaRPr sz="1300">
                        <a:solidFill>
                          <a:schemeClr val="tx1"/>
                        </a:solidFill>
                        <a:latin typeface="Trebuchet MS"/>
                        <a:cs typeface="Trebuchet MS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1300" spc="-20" dirty="0">
                          <a:solidFill>
                            <a:schemeClr val="tx1"/>
                          </a:solidFill>
                          <a:latin typeface="Trebuchet MS"/>
                          <a:cs typeface="Trebuchet MS"/>
                        </a:rPr>
                        <a:t>65,00</a:t>
                      </a:r>
                      <a:endParaRPr sz="1300">
                        <a:solidFill>
                          <a:schemeClr val="tx1"/>
                        </a:solidFill>
                        <a:latin typeface="Trebuchet MS"/>
                        <a:cs typeface="Trebuchet MS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1300" spc="-10" dirty="0">
                          <a:solidFill>
                            <a:schemeClr val="tx1"/>
                          </a:solidFill>
                          <a:latin typeface="Trebuchet MS"/>
                          <a:cs typeface="Trebuchet MS"/>
                        </a:rPr>
                        <a:t>107,60</a:t>
                      </a:r>
                      <a:endParaRPr sz="1300" dirty="0">
                        <a:solidFill>
                          <a:schemeClr val="tx1"/>
                        </a:solidFill>
                        <a:latin typeface="Trebuchet MS"/>
                        <a:cs typeface="Trebuchet MS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  <p:sp>
        <p:nvSpPr>
          <p:cNvPr id="15" name="Номер слайда 55">
            <a:extLst>
              <a:ext uri="{FF2B5EF4-FFF2-40B4-BE49-F238E27FC236}">
                <a16:creationId xmlns:a16="http://schemas.microsoft.com/office/drawing/2014/main" id="{A6ACCA66-250F-4190-A048-2B3332430BA5}"/>
              </a:ext>
            </a:extLst>
          </p:cNvPr>
          <p:cNvSpPr txBox="1">
            <a:spLocks/>
          </p:cNvSpPr>
          <p:nvPr/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kern="0"/>
            </a:defPPr>
            <a:lvl1pPr marL="38100" algn="r">
              <a:lnSpc>
                <a:spcPct val="100000"/>
              </a:lnSpc>
              <a:spcBef>
                <a:spcPts val="244"/>
              </a:spcBef>
              <a:defRPr sz="1500" spc="-25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1D60167-4931-47E6-BA6A-407CBD079E47}" type="slidenum">
              <a:rPr lang="ru-RU"/>
              <a:pPr/>
              <a:t>52</a:t>
            </a:fld>
            <a:endParaRPr lang="ru-RU" dirty="0"/>
          </a:p>
        </p:txBody>
      </p:sp>
      <p:cxnSp>
        <p:nvCxnSpPr>
          <p:cNvPr id="20" name="Прямая соединительная линия 19">
            <a:extLst>
              <a:ext uri="{FF2B5EF4-FFF2-40B4-BE49-F238E27FC236}">
                <a16:creationId xmlns:a16="http://schemas.microsoft.com/office/drawing/2014/main" id="{C917A673-3998-45FE-9E3D-A0C2117A464F}"/>
              </a:ext>
            </a:extLst>
          </p:cNvPr>
          <p:cNvCxnSpPr>
            <a:cxnSpLocks/>
          </p:cNvCxnSpPr>
          <p:nvPr/>
        </p:nvCxnSpPr>
        <p:spPr>
          <a:xfrm>
            <a:off x="1837944" y="2322576"/>
            <a:ext cx="152400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286511" y="2898648"/>
            <a:ext cx="8723376" cy="3514344"/>
            <a:chOff x="286511" y="2898648"/>
            <a:chExt cx="8723376" cy="3514344"/>
          </a:xfrm>
        </p:grpSpPr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86511" y="2898648"/>
              <a:ext cx="4946904" cy="3514344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4858511" y="2904744"/>
              <a:ext cx="4151376" cy="1039367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4648200" y="5788152"/>
              <a:ext cx="3733800" cy="472440"/>
            </a:xfrm>
            <a:prstGeom prst="rect">
              <a:avLst/>
            </a:prstGeom>
          </p:spPr>
        </p:pic>
      </p:grpSp>
      <p:sp>
        <p:nvSpPr>
          <p:cNvPr id="19" name="object 19"/>
          <p:cNvSpPr txBox="1"/>
          <p:nvPr/>
        </p:nvSpPr>
        <p:spPr>
          <a:xfrm>
            <a:off x="5320918" y="111758"/>
            <a:ext cx="2346325" cy="9398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2000" i="1" dirty="0">
                <a:latin typeface="Arial"/>
                <a:cs typeface="Arial"/>
              </a:rPr>
              <a:t>m</a:t>
            </a:r>
            <a:r>
              <a:rPr sz="2000" spc="45" dirty="0">
                <a:latin typeface="Times New Roman"/>
                <a:cs typeface="Times New Roman"/>
              </a:rPr>
              <a:t> </a:t>
            </a:r>
            <a:r>
              <a:rPr sz="2000" i="1" dirty="0">
                <a:latin typeface="Arial"/>
                <a:cs typeface="Arial"/>
              </a:rPr>
              <a:t>=</a:t>
            </a:r>
            <a:r>
              <a:rPr sz="2000" spc="40" dirty="0">
                <a:latin typeface="Times New Roman"/>
                <a:cs typeface="Times New Roman"/>
              </a:rPr>
              <a:t> </a:t>
            </a:r>
            <a:r>
              <a:rPr sz="2000" i="1" spc="-50" dirty="0">
                <a:latin typeface="Arial"/>
                <a:cs typeface="Arial"/>
              </a:rPr>
              <a:t>3</a:t>
            </a:r>
            <a:endParaRPr sz="2000" dirty="0">
              <a:latin typeface="Arial"/>
              <a:cs typeface="Arial"/>
            </a:endParaRPr>
          </a:p>
          <a:p>
            <a:pPr marL="38100">
              <a:lnSpc>
                <a:spcPct val="100000"/>
              </a:lnSpc>
            </a:pPr>
            <a:r>
              <a:rPr sz="2000" i="1" dirty="0">
                <a:latin typeface="Arial"/>
                <a:cs typeface="Arial"/>
              </a:rPr>
              <a:t>n</a:t>
            </a:r>
            <a:r>
              <a:rPr sz="1950" i="1" baseline="-17094" dirty="0">
                <a:latin typeface="Arial"/>
                <a:cs typeface="Arial"/>
              </a:rPr>
              <a:t>1</a:t>
            </a:r>
            <a:r>
              <a:rPr sz="1950" spc="337" baseline="-17094" dirty="0">
                <a:latin typeface="Times New Roman"/>
                <a:cs typeface="Times New Roman"/>
              </a:rPr>
              <a:t> </a:t>
            </a:r>
            <a:r>
              <a:rPr sz="2000" i="1" dirty="0">
                <a:latin typeface="Arial"/>
                <a:cs typeface="Arial"/>
              </a:rPr>
              <a:t>=</a:t>
            </a:r>
            <a:r>
              <a:rPr sz="2000" spc="30" dirty="0">
                <a:latin typeface="Times New Roman"/>
                <a:cs typeface="Times New Roman"/>
              </a:rPr>
              <a:t> </a:t>
            </a:r>
            <a:r>
              <a:rPr sz="2000" i="1" dirty="0">
                <a:latin typeface="Arial"/>
                <a:cs typeface="Arial"/>
              </a:rPr>
              <a:t>4,</a:t>
            </a:r>
            <a:r>
              <a:rPr sz="2000" spc="35" dirty="0">
                <a:latin typeface="Times New Roman"/>
                <a:cs typeface="Times New Roman"/>
              </a:rPr>
              <a:t> </a:t>
            </a:r>
            <a:r>
              <a:rPr sz="2000" i="1" dirty="0">
                <a:latin typeface="Arial"/>
                <a:cs typeface="Arial"/>
              </a:rPr>
              <a:t>n</a:t>
            </a:r>
            <a:r>
              <a:rPr sz="1950" i="1" baseline="-17094" dirty="0">
                <a:latin typeface="Arial"/>
                <a:cs typeface="Arial"/>
              </a:rPr>
              <a:t>2</a:t>
            </a:r>
            <a:r>
              <a:rPr sz="1950" spc="337" baseline="-17094" dirty="0">
                <a:latin typeface="Times New Roman"/>
                <a:cs typeface="Times New Roman"/>
              </a:rPr>
              <a:t> </a:t>
            </a:r>
            <a:r>
              <a:rPr sz="2000" i="1" dirty="0">
                <a:latin typeface="Arial"/>
                <a:cs typeface="Arial"/>
              </a:rPr>
              <a:t>=</a:t>
            </a:r>
            <a:r>
              <a:rPr sz="2000" spc="30" dirty="0">
                <a:latin typeface="Times New Roman"/>
                <a:cs typeface="Times New Roman"/>
              </a:rPr>
              <a:t> </a:t>
            </a:r>
            <a:r>
              <a:rPr sz="2000" i="1" dirty="0">
                <a:latin typeface="Arial"/>
                <a:cs typeface="Arial"/>
              </a:rPr>
              <a:t>7,</a:t>
            </a:r>
            <a:r>
              <a:rPr sz="2000" spc="35" dirty="0">
                <a:latin typeface="Times New Roman"/>
                <a:cs typeface="Times New Roman"/>
              </a:rPr>
              <a:t> </a:t>
            </a:r>
            <a:r>
              <a:rPr sz="2000" i="1" dirty="0">
                <a:latin typeface="Arial"/>
                <a:cs typeface="Arial"/>
              </a:rPr>
              <a:t>n</a:t>
            </a:r>
            <a:r>
              <a:rPr sz="1950" i="1" baseline="-17094" dirty="0">
                <a:latin typeface="Arial"/>
                <a:cs typeface="Arial"/>
              </a:rPr>
              <a:t>3</a:t>
            </a:r>
            <a:r>
              <a:rPr sz="1950" spc="337" baseline="-17094" dirty="0">
                <a:latin typeface="Times New Roman"/>
                <a:cs typeface="Times New Roman"/>
              </a:rPr>
              <a:t> </a:t>
            </a:r>
            <a:r>
              <a:rPr sz="2000" i="1" dirty="0">
                <a:latin typeface="Arial"/>
                <a:cs typeface="Arial"/>
              </a:rPr>
              <a:t>=</a:t>
            </a:r>
            <a:r>
              <a:rPr sz="2000" spc="30" dirty="0">
                <a:latin typeface="Times New Roman"/>
                <a:cs typeface="Times New Roman"/>
              </a:rPr>
              <a:t> </a:t>
            </a:r>
            <a:r>
              <a:rPr sz="2000" i="1" spc="-50" dirty="0">
                <a:latin typeface="Arial"/>
                <a:cs typeface="Arial"/>
              </a:rPr>
              <a:t>6</a:t>
            </a:r>
            <a:endParaRPr sz="2000" dirty="0">
              <a:latin typeface="Arial"/>
              <a:cs typeface="Arial"/>
            </a:endParaRPr>
          </a:p>
          <a:p>
            <a:pPr marL="38100">
              <a:lnSpc>
                <a:spcPct val="100000"/>
              </a:lnSpc>
            </a:pPr>
            <a:r>
              <a:rPr sz="2000" i="1" dirty="0">
                <a:latin typeface="Arial"/>
                <a:cs typeface="Arial"/>
              </a:rPr>
              <a:t>n</a:t>
            </a:r>
            <a:r>
              <a:rPr sz="2000" spc="40" dirty="0">
                <a:latin typeface="Times New Roman"/>
                <a:cs typeface="Times New Roman"/>
              </a:rPr>
              <a:t> </a:t>
            </a:r>
            <a:r>
              <a:rPr sz="2000" i="1" dirty="0">
                <a:latin typeface="Arial"/>
                <a:cs typeface="Arial"/>
              </a:rPr>
              <a:t>=</a:t>
            </a:r>
            <a:r>
              <a:rPr sz="2000" spc="35" dirty="0">
                <a:latin typeface="Times New Roman"/>
                <a:cs typeface="Times New Roman"/>
              </a:rPr>
              <a:t> </a:t>
            </a:r>
            <a:r>
              <a:rPr sz="2000" i="1" spc="-25" dirty="0">
                <a:latin typeface="Arial"/>
                <a:cs typeface="Arial"/>
              </a:rPr>
              <a:t>17</a:t>
            </a:r>
            <a:endParaRPr sz="2000" dirty="0">
              <a:latin typeface="Arial"/>
              <a:cs typeface="Arial"/>
            </a:endParaRPr>
          </a:p>
        </p:txBody>
      </p:sp>
      <p:grpSp>
        <p:nvGrpSpPr>
          <p:cNvPr id="20" name="object 20"/>
          <p:cNvGrpSpPr/>
          <p:nvPr/>
        </p:nvGrpSpPr>
        <p:grpSpPr>
          <a:xfrm>
            <a:off x="5233415" y="924814"/>
            <a:ext cx="3910585" cy="1941576"/>
            <a:chOff x="4629911" y="899160"/>
            <a:chExt cx="3910585" cy="1941576"/>
          </a:xfrm>
        </p:grpSpPr>
        <p:pic>
          <p:nvPicPr>
            <p:cNvPr id="21" name="object 21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4629911" y="899160"/>
              <a:ext cx="3745991" cy="1941576"/>
            </a:xfrm>
            <a:prstGeom prst="rect">
              <a:avLst/>
            </a:prstGeom>
          </p:spPr>
        </p:pic>
        <p:pic>
          <p:nvPicPr>
            <p:cNvPr id="22" name="object 22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6233161" y="1892427"/>
              <a:ext cx="2307335" cy="926591"/>
            </a:xfrm>
            <a:prstGeom prst="rect">
              <a:avLst/>
            </a:prstGeom>
          </p:spPr>
        </p:pic>
      </p:grpSp>
      <p:sp>
        <p:nvSpPr>
          <p:cNvPr id="26" name="Нижний колонтитул 25">
            <a:extLst>
              <a:ext uri="{FF2B5EF4-FFF2-40B4-BE49-F238E27FC236}">
                <a16:creationId xmlns:a16="http://schemas.microsoft.com/office/drawing/2014/main" id="{B9ECDFEB-E8C2-4428-BC64-0B89342D0114}"/>
              </a:ext>
            </a:extLst>
          </p:cNvPr>
          <p:cNvSpPr>
            <a:spLocks noGrp="1"/>
          </p:cNvSpPr>
          <p:nvPr>
            <p:ph type="ftr" sz="quarter" idx="5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29" name="Номер слайда 55">
            <a:extLst>
              <a:ext uri="{FF2B5EF4-FFF2-40B4-BE49-F238E27FC236}">
                <a16:creationId xmlns:a16="http://schemas.microsoft.com/office/drawing/2014/main" id="{CB081118-7C4A-4881-89A1-51ABEC9C2C64}"/>
              </a:ext>
            </a:extLst>
          </p:cNvPr>
          <p:cNvSpPr txBox="1">
            <a:spLocks/>
          </p:cNvSpPr>
          <p:nvPr/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kern="0"/>
            </a:defPPr>
            <a:lvl1pPr marL="38100" algn="r">
              <a:lnSpc>
                <a:spcPct val="100000"/>
              </a:lnSpc>
              <a:spcBef>
                <a:spcPts val="244"/>
              </a:spcBef>
              <a:defRPr sz="1500" spc="-25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1D60167-4931-47E6-BA6A-407CBD079E47}" type="slidenum">
              <a:rPr lang="ru-RU"/>
              <a:pPr/>
              <a:t>53</a:t>
            </a:fld>
            <a:endParaRPr lang="ru-RU" dirty="0"/>
          </a:p>
        </p:txBody>
      </p:sp>
      <p:graphicFrame>
        <p:nvGraphicFramePr>
          <p:cNvPr id="30" name="object 4">
            <a:extLst>
              <a:ext uri="{FF2B5EF4-FFF2-40B4-BE49-F238E27FC236}">
                <a16:creationId xmlns:a16="http://schemas.microsoft.com/office/drawing/2014/main" id="{3DA444D1-F278-4506-A6EB-51982161589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93948283"/>
              </p:ext>
            </p:extLst>
          </p:nvPr>
        </p:nvGraphicFramePr>
        <p:xfrm>
          <a:off x="791080" y="175514"/>
          <a:ext cx="4317364" cy="269113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61734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9979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0043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9979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7051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600" dirty="0">
                        <a:solidFill>
                          <a:schemeClr val="tx1"/>
                        </a:solidFill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80"/>
                        </a:spcBef>
                      </a:pPr>
                      <a:r>
                        <a:rPr sz="1300" b="1" spc="-10" dirty="0">
                          <a:solidFill>
                            <a:schemeClr val="tx1"/>
                          </a:solidFill>
                          <a:latin typeface="Trebuchet MS"/>
                          <a:cs typeface="Trebuchet MS"/>
                        </a:rPr>
                        <a:t>малое</a:t>
                      </a:r>
                      <a:endParaRPr sz="1300" dirty="0">
                        <a:solidFill>
                          <a:schemeClr val="tx1"/>
                        </a:solidFill>
                        <a:latin typeface="Trebuchet MS"/>
                        <a:cs typeface="Trebuchet MS"/>
                      </a:endParaRPr>
                    </a:p>
                  </a:txBody>
                  <a:tcPr marL="0" marR="0" marT="3556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80"/>
                        </a:spcBef>
                      </a:pPr>
                      <a:r>
                        <a:rPr sz="1300" b="1" spc="-10" dirty="0">
                          <a:solidFill>
                            <a:schemeClr val="tx1"/>
                          </a:solidFill>
                          <a:latin typeface="Trebuchet MS"/>
                          <a:cs typeface="Trebuchet MS"/>
                        </a:rPr>
                        <a:t>среднее</a:t>
                      </a:r>
                      <a:endParaRPr sz="1300">
                        <a:solidFill>
                          <a:schemeClr val="tx1"/>
                        </a:solidFill>
                        <a:latin typeface="Trebuchet MS"/>
                        <a:cs typeface="Trebuchet MS"/>
                      </a:endParaRPr>
                    </a:p>
                  </a:txBody>
                  <a:tcPr marL="0" marR="0" marT="3556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80"/>
                        </a:spcBef>
                      </a:pPr>
                      <a:r>
                        <a:rPr sz="1300" b="1" spc="-10" dirty="0">
                          <a:solidFill>
                            <a:schemeClr val="tx1"/>
                          </a:solidFill>
                          <a:latin typeface="Trebuchet MS"/>
                          <a:cs typeface="Trebuchet MS"/>
                        </a:rPr>
                        <a:t>большое</a:t>
                      </a:r>
                      <a:endParaRPr sz="1300" dirty="0">
                        <a:solidFill>
                          <a:schemeClr val="tx1"/>
                        </a:solidFill>
                        <a:latin typeface="Trebuchet MS"/>
                        <a:cs typeface="Trebuchet MS"/>
                      </a:endParaRPr>
                    </a:p>
                  </a:txBody>
                  <a:tcPr marL="0" marR="0" marT="3556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7051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600" dirty="0">
                        <a:solidFill>
                          <a:schemeClr val="tx1"/>
                        </a:solidFill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sz="1300" spc="-25" dirty="0">
                          <a:solidFill>
                            <a:srgbClr val="7030A0"/>
                          </a:solidFill>
                          <a:latin typeface="Trebuchet MS"/>
                          <a:cs typeface="Trebuchet MS"/>
                        </a:rPr>
                        <a:t>48</a:t>
                      </a:r>
                      <a:endParaRPr sz="1300" dirty="0">
                        <a:solidFill>
                          <a:srgbClr val="7030A0"/>
                        </a:solidFill>
                        <a:latin typeface="Trebuchet MS"/>
                        <a:cs typeface="Trebuchet MS"/>
                      </a:endParaRPr>
                    </a:p>
                  </a:txBody>
                  <a:tcPr marL="0" marR="0" marT="3683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sz="1300" spc="-25" dirty="0">
                          <a:solidFill>
                            <a:srgbClr val="7030A0"/>
                          </a:solidFill>
                          <a:latin typeface="Trebuchet MS"/>
                          <a:cs typeface="Trebuchet MS"/>
                        </a:rPr>
                        <a:t>47</a:t>
                      </a:r>
                      <a:endParaRPr sz="1300" dirty="0">
                        <a:solidFill>
                          <a:srgbClr val="7030A0"/>
                        </a:solidFill>
                        <a:latin typeface="Trebuchet MS"/>
                        <a:cs typeface="Trebuchet MS"/>
                      </a:endParaRPr>
                    </a:p>
                  </a:txBody>
                  <a:tcPr marL="0" marR="0" marT="3683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sz="1300" spc="-25" dirty="0">
                          <a:solidFill>
                            <a:srgbClr val="7030A0"/>
                          </a:solidFill>
                          <a:latin typeface="Trebuchet MS"/>
                          <a:cs typeface="Trebuchet MS"/>
                        </a:rPr>
                        <a:t>46</a:t>
                      </a:r>
                      <a:endParaRPr sz="1300">
                        <a:solidFill>
                          <a:srgbClr val="7030A0"/>
                        </a:solidFill>
                        <a:latin typeface="Trebuchet MS"/>
                        <a:cs typeface="Trebuchet MS"/>
                      </a:endParaRPr>
                    </a:p>
                  </a:txBody>
                  <a:tcPr marL="0" marR="0" marT="3683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7051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600">
                        <a:solidFill>
                          <a:schemeClr val="tx1"/>
                        </a:solidFill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sz="1300" spc="-25" dirty="0">
                          <a:solidFill>
                            <a:srgbClr val="7030A0"/>
                          </a:solidFill>
                          <a:latin typeface="Trebuchet MS"/>
                          <a:cs typeface="Trebuchet MS"/>
                        </a:rPr>
                        <a:t>50</a:t>
                      </a:r>
                      <a:endParaRPr sz="1300">
                        <a:solidFill>
                          <a:srgbClr val="7030A0"/>
                        </a:solidFill>
                        <a:latin typeface="Trebuchet MS"/>
                        <a:cs typeface="Trebuchet MS"/>
                      </a:endParaRPr>
                    </a:p>
                  </a:txBody>
                  <a:tcPr marL="0" marR="0" marT="3746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sz="1300" spc="-25" dirty="0">
                          <a:solidFill>
                            <a:srgbClr val="7030A0"/>
                          </a:solidFill>
                          <a:latin typeface="Trebuchet MS"/>
                          <a:cs typeface="Trebuchet MS"/>
                        </a:rPr>
                        <a:t>61</a:t>
                      </a:r>
                      <a:endParaRPr sz="1300" dirty="0">
                        <a:solidFill>
                          <a:srgbClr val="7030A0"/>
                        </a:solidFill>
                        <a:latin typeface="Trebuchet MS"/>
                        <a:cs typeface="Trebuchet MS"/>
                      </a:endParaRPr>
                    </a:p>
                  </a:txBody>
                  <a:tcPr marL="0" marR="0" marT="3746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sz="1300" spc="-25" dirty="0">
                          <a:solidFill>
                            <a:srgbClr val="7030A0"/>
                          </a:solidFill>
                          <a:latin typeface="Trebuchet MS"/>
                          <a:cs typeface="Trebuchet MS"/>
                        </a:rPr>
                        <a:t>57</a:t>
                      </a:r>
                      <a:endParaRPr sz="1300" dirty="0">
                        <a:solidFill>
                          <a:srgbClr val="7030A0"/>
                        </a:solidFill>
                        <a:latin typeface="Trebuchet MS"/>
                        <a:cs typeface="Trebuchet MS"/>
                      </a:endParaRPr>
                    </a:p>
                  </a:txBody>
                  <a:tcPr marL="0" marR="0" marT="3746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7051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600" dirty="0">
                        <a:solidFill>
                          <a:schemeClr val="tx1"/>
                        </a:solidFill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75"/>
                        </a:spcBef>
                      </a:pPr>
                      <a:r>
                        <a:rPr sz="1300" spc="-25" dirty="0">
                          <a:solidFill>
                            <a:srgbClr val="7030A0"/>
                          </a:solidFill>
                          <a:latin typeface="Trebuchet MS"/>
                          <a:cs typeface="Trebuchet MS"/>
                        </a:rPr>
                        <a:t>63</a:t>
                      </a:r>
                      <a:endParaRPr sz="1300">
                        <a:solidFill>
                          <a:srgbClr val="7030A0"/>
                        </a:solidFill>
                        <a:latin typeface="Trebuchet MS"/>
                        <a:cs typeface="Trebuchet MS"/>
                      </a:endParaRPr>
                    </a:p>
                  </a:txBody>
                  <a:tcPr marL="0" marR="0" marT="3492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75"/>
                        </a:spcBef>
                      </a:pPr>
                      <a:r>
                        <a:rPr sz="1300" spc="-25" dirty="0">
                          <a:solidFill>
                            <a:srgbClr val="7030A0"/>
                          </a:solidFill>
                          <a:latin typeface="Trebuchet MS"/>
                          <a:cs typeface="Trebuchet MS"/>
                        </a:rPr>
                        <a:t>63</a:t>
                      </a:r>
                      <a:endParaRPr sz="1300">
                        <a:solidFill>
                          <a:srgbClr val="7030A0"/>
                        </a:solidFill>
                        <a:latin typeface="Trebuchet MS"/>
                        <a:cs typeface="Trebuchet MS"/>
                      </a:endParaRPr>
                    </a:p>
                  </a:txBody>
                  <a:tcPr marL="0" marR="0" marT="3492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75"/>
                        </a:spcBef>
                      </a:pPr>
                      <a:r>
                        <a:rPr sz="1300" spc="-25" dirty="0">
                          <a:solidFill>
                            <a:srgbClr val="7030A0"/>
                          </a:solidFill>
                          <a:latin typeface="Trebuchet MS"/>
                          <a:cs typeface="Trebuchet MS"/>
                        </a:rPr>
                        <a:t>57</a:t>
                      </a:r>
                      <a:endParaRPr sz="1300" dirty="0">
                        <a:solidFill>
                          <a:srgbClr val="7030A0"/>
                        </a:solidFill>
                        <a:latin typeface="Trebuchet MS"/>
                        <a:cs typeface="Trebuchet MS"/>
                      </a:endParaRPr>
                    </a:p>
                  </a:txBody>
                  <a:tcPr marL="0" marR="0" marT="3492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7051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600" dirty="0">
                        <a:solidFill>
                          <a:schemeClr val="tx1"/>
                        </a:solidFill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80"/>
                        </a:spcBef>
                      </a:pPr>
                      <a:r>
                        <a:rPr sz="1300" spc="-25" dirty="0">
                          <a:solidFill>
                            <a:srgbClr val="7030A0"/>
                          </a:solidFill>
                          <a:latin typeface="Trebuchet MS"/>
                          <a:cs typeface="Trebuchet MS"/>
                        </a:rPr>
                        <a:t>72</a:t>
                      </a:r>
                      <a:endParaRPr sz="1300">
                        <a:solidFill>
                          <a:srgbClr val="7030A0"/>
                        </a:solidFill>
                        <a:latin typeface="Trebuchet MS"/>
                        <a:cs typeface="Trebuchet MS"/>
                      </a:endParaRPr>
                    </a:p>
                  </a:txBody>
                  <a:tcPr marL="0" marR="0" marT="3556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80"/>
                        </a:spcBef>
                      </a:pPr>
                      <a:r>
                        <a:rPr sz="1300" spc="-25" dirty="0">
                          <a:solidFill>
                            <a:srgbClr val="7030A0"/>
                          </a:solidFill>
                          <a:latin typeface="Trebuchet MS"/>
                          <a:cs typeface="Trebuchet MS"/>
                        </a:rPr>
                        <a:t>47</a:t>
                      </a:r>
                      <a:endParaRPr sz="1300" dirty="0">
                        <a:solidFill>
                          <a:srgbClr val="7030A0"/>
                        </a:solidFill>
                        <a:latin typeface="Trebuchet MS"/>
                        <a:cs typeface="Trebuchet MS"/>
                      </a:endParaRPr>
                    </a:p>
                  </a:txBody>
                  <a:tcPr marL="0" marR="0" marT="3556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80"/>
                        </a:spcBef>
                      </a:pPr>
                      <a:r>
                        <a:rPr sz="1300" spc="-25" dirty="0">
                          <a:solidFill>
                            <a:srgbClr val="7030A0"/>
                          </a:solidFill>
                          <a:latin typeface="Trebuchet MS"/>
                          <a:cs typeface="Trebuchet MS"/>
                        </a:rPr>
                        <a:t>55</a:t>
                      </a:r>
                      <a:endParaRPr sz="1300" dirty="0">
                        <a:solidFill>
                          <a:srgbClr val="7030A0"/>
                        </a:solidFill>
                        <a:latin typeface="Trebuchet MS"/>
                        <a:cs typeface="Trebuchet MS"/>
                      </a:endParaRPr>
                    </a:p>
                  </a:txBody>
                  <a:tcPr marL="0" marR="0" marT="3556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7051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600" dirty="0">
                        <a:solidFill>
                          <a:schemeClr val="tx1"/>
                        </a:solidFill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600" dirty="0">
                        <a:solidFill>
                          <a:srgbClr val="7030A0"/>
                        </a:solidFill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85"/>
                        </a:spcBef>
                      </a:pPr>
                      <a:r>
                        <a:rPr sz="1300" spc="-25" dirty="0">
                          <a:solidFill>
                            <a:srgbClr val="7030A0"/>
                          </a:solidFill>
                          <a:latin typeface="Trebuchet MS"/>
                          <a:cs typeface="Trebuchet MS"/>
                        </a:rPr>
                        <a:t>43</a:t>
                      </a:r>
                      <a:endParaRPr sz="1300" dirty="0">
                        <a:solidFill>
                          <a:srgbClr val="7030A0"/>
                        </a:solidFill>
                        <a:latin typeface="Trebuchet MS"/>
                        <a:cs typeface="Trebuchet MS"/>
                      </a:endParaRPr>
                    </a:p>
                  </a:txBody>
                  <a:tcPr marL="0" marR="0" marT="3619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85"/>
                        </a:spcBef>
                      </a:pPr>
                      <a:r>
                        <a:rPr sz="1300" spc="-25" dirty="0">
                          <a:solidFill>
                            <a:srgbClr val="7030A0"/>
                          </a:solidFill>
                          <a:latin typeface="Trebuchet MS"/>
                          <a:cs typeface="Trebuchet MS"/>
                        </a:rPr>
                        <a:t>32</a:t>
                      </a:r>
                      <a:endParaRPr sz="1300" dirty="0">
                        <a:solidFill>
                          <a:srgbClr val="7030A0"/>
                        </a:solidFill>
                        <a:latin typeface="Trebuchet MS"/>
                        <a:cs typeface="Trebuchet MS"/>
                      </a:endParaRPr>
                    </a:p>
                  </a:txBody>
                  <a:tcPr marL="0" marR="0" marT="3619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7051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600" dirty="0">
                        <a:solidFill>
                          <a:schemeClr val="tx1"/>
                        </a:solidFill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600" dirty="0">
                        <a:solidFill>
                          <a:srgbClr val="7030A0"/>
                        </a:solidFill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sz="1300" spc="-25" dirty="0">
                          <a:solidFill>
                            <a:srgbClr val="7030A0"/>
                          </a:solidFill>
                          <a:latin typeface="Trebuchet MS"/>
                          <a:cs typeface="Trebuchet MS"/>
                        </a:rPr>
                        <a:t>59</a:t>
                      </a:r>
                      <a:endParaRPr sz="1300">
                        <a:solidFill>
                          <a:srgbClr val="7030A0"/>
                        </a:solidFill>
                        <a:latin typeface="Trebuchet MS"/>
                        <a:cs typeface="Trebuchet MS"/>
                      </a:endParaRPr>
                    </a:p>
                  </a:txBody>
                  <a:tcPr marL="0" marR="0" marT="3683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sz="1300" spc="-25" dirty="0">
                          <a:solidFill>
                            <a:srgbClr val="7030A0"/>
                          </a:solidFill>
                          <a:latin typeface="Trebuchet MS"/>
                          <a:cs typeface="Trebuchet MS"/>
                        </a:rPr>
                        <a:t>59</a:t>
                      </a:r>
                      <a:endParaRPr sz="1300" dirty="0">
                        <a:solidFill>
                          <a:srgbClr val="7030A0"/>
                        </a:solidFill>
                        <a:latin typeface="Trebuchet MS"/>
                        <a:cs typeface="Trebuchet MS"/>
                      </a:endParaRPr>
                    </a:p>
                  </a:txBody>
                  <a:tcPr marL="0" marR="0" marT="3683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7051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600" dirty="0">
                        <a:solidFill>
                          <a:schemeClr val="tx1"/>
                        </a:solidFill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600" dirty="0">
                        <a:solidFill>
                          <a:srgbClr val="7030A0"/>
                        </a:solidFill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75"/>
                        </a:spcBef>
                      </a:pPr>
                      <a:r>
                        <a:rPr sz="1300" spc="-25" dirty="0">
                          <a:solidFill>
                            <a:srgbClr val="7030A0"/>
                          </a:solidFill>
                          <a:latin typeface="Trebuchet MS"/>
                          <a:cs typeface="Trebuchet MS"/>
                        </a:rPr>
                        <a:t>58</a:t>
                      </a:r>
                      <a:endParaRPr sz="1300">
                        <a:solidFill>
                          <a:srgbClr val="7030A0"/>
                        </a:solidFill>
                        <a:latin typeface="Trebuchet MS"/>
                        <a:cs typeface="Trebuchet MS"/>
                      </a:endParaRPr>
                    </a:p>
                  </a:txBody>
                  <a:tcPr marL="0" marR="0" marT="3492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600" dirty="0">
                        <a:solidFill>
                          <a:srgbClr val="7030A0"/>
                        </a:solidFill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6352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ru-RU" sz="1600" dirty="0">
                          <a:solidFill>
                            <a:schemeClr val="tx1"/>
                          </a:solidFill>
                          <a:latin typeface="Times New Roman"/>
                          <a:cs typeface="Times New Roman"/>
                        </a:rPr>
                        <a:t>Среднее </a:t>
                      </a:r>
                      <a:r>
                        <a:rPr lang="en-US" sz="1600" dirty="0">
                          <a:solidFill>
                            <a:schemeClr val="tx1"/>
                          </a:solidFill>
                          <a:latin typeface="Times New Roman"/>
                          <a:cs typeface="Times New Roman"/>
                        </a:rPr>
                        <a:t>x</a:t>
                      </a:r>
                      <a:r>
                        <a:rPr lang="en-US" sz="1600" baseline="-25000" dirty="0">
                          <a:solidFill>
                            <a:schemeClr val="tx1"/>
                          </a:solidFill>
                          <a:latin typeface="Times New Roman"/>
                          <a:cs typeface="Times New Roman"/>
                        </a:rPr>
                        <a:t>i</a:t>
                      </a:r>
                      <a:endParaRPr sz="1600" baseline="-25000" dirty="0">
                        <a:solidFill>
                          <a:schemeClr val="tx1"/>
                        </a:solidFill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54"/>
                        </a:spcBef>
                      </a:pPr>
                      <a:r>
                        <a:rPr sz="1300" spc="-20" dirty="0">
                          <a:solidFill>
                            <a:schemeClr val="tx1"/>
                          </a:solidFill>
                          <a:latin typeface="Trebuchet MS"/>
                          <a:cs typeface="Trebuchet MS"/>
                        </a:rPr>
                        <a:t>58,6</a:t>
                      </a:r>
                      <a:endParaRPr sz="1300" dirty="0">
                        <a:solidFill>
                          <a:schemeClr val="tx1"/>
                        </a:solidFill>
                        <a:latin typeface="Trebuchet MS"/>
                        <a:cs typeface="Trebuchet MS"/>
                      </a:endParaRPr>
                    </a:p>
                  </a:txBody>
                  <a:tcPr marL="0" marR="0" marT="32384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54"/>
                        </a:spcBef>
                      </a:pPr>
                      <a:r>
                        <a:rPr sz="1300" spc="-20" dirty="0">
                          <a:solidFill>
                            <a:schemeClr val="tx1"/>
                          </a:solidFill>
                          <a:latin typeface="Trebuchet MS"/>
                          <a:cs typeface="Trebuchet MS"/>
                        </a:rPr>
                        <a:t>54,0</a:t>
                      </a:r>
                      <a:endParaRPr sz="1300">
                        <a:solidFill>
                          <a:schemeClr val="tx1"/>
                        </a:solidFill>
                        <a:latin typeface="Trebuchet MS"/>
                        <a:cs typeface="Trebuchet MS"/>
                      </a:endParaRPr>
                    </a:p>
                  </a:txBody>
                  <a:tcPr marL="0" marR="0" marT="32384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54"/>
                        </a:spcBef>
                      </a:pPr>
                      <a:r>
                        <a:rPr sz="1300" spc="-20" dirty="0">
                          <a:solidFill>
                            <a:schemeClr val="tx1"/>
                          </a:solidFill>
                          <a:latin typeface="Trebuchet MS"/>
                          <a:cs typeface="Trebuchet MS"/>
                        </a:rPr>
                        <a:t>51,0</a:t>
                      </a:r>
                      <a:endParaRPr sz="1300" dirty="0">
                        <a:solidFill>
                          <a:schemeClr val="tx1"/>
                        </a:solidFill>
                        <a:latin typeface="Trebuchet MS"/>
                        <a:cs typeface="Trebuchet MS"/>
                      </a:endParaRPr>
                    </a:p>
                  </a:txBody>
                  <a:tcPr marL="0" marR="0" marT="32384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6352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ru-RU" sz="1600" dirty="0">
                          <a:solidFill>
                            <a:schemeClr val="tx1"/>
                          </a:solidFill>
                          <a:latin typeface="Times New Roman"/>
                          <a:cs typeface="Times New Roman"/>
                        </a:rPr>
                        <a:t>Дисперсия ϭ</a:t>
                      </a:r>
                      <a:r>
                        <a:rPr lang="ru-RU" sz="1600" baseline="30000" dirty="0">
                          <a:solidFill>
                            <a:schemeClr val="tx1"/>
                          </a:solidFill>
                          <a:latin typeface="Times New Roman"/>
                          <a:cs typeface="Times New Roman"/>
                        </a:rPr>
                        <a:t>2</a:t>
                      </a:r>
                      <a:r>
                        <a:rPr lang="en-US" sz="1600" baseline="-25000" dirty="0" err="1">
                          <a:solidFill>
                            <a:schemeClr val="tx1"/>
                          </a:solidFill>
                          <a:latin typeface="Times New Roman"/>
                          <a:cs typeface="Times New Roman"/>
                        </a:rPr>
                        <a:t>i</a:t>
                      </a:r>
                      <a:endParaRPr sz="1600" baseline="-25000" dirty="0">
                        <a:solidFill>
                          <a:schemeClr val="tx1"/>
                        </a:solidFill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1300" spc="-10" dirty="0">
                          <a:solidFill>
                            <a:schemeClr val="tx1"/>
                          </a:solidFill>
                          <a:latin typeface="Trebuchet MS"/>
                          <a:cs typeface="Trebuchet MS"/>
                        </a:rPr>
                        <a:t>128,25</a:t>
                      </a:r>
                      <a:endParaRPr sz="1300">
                        <a:solidFill>
                          <a:schemeClr val="tx1"/>
                        </a:solidFill>
                        <a:latin typeface="Trebuchet MS"/>
                        <a:cs typeface="Trebuchet MS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1300" spc="-20" dirty="0">
                          <a:solidFill>
                            <a:schemeClr val="tx1"/>
                          </a:solidFill>
                          <a:latin typeface="Trebuchet MS"/>
                          <a:cs typeface="Trebuchet MS"/>
                        </a:rPr>
                        <a:t>65,00</a:t>
                      </a:r>
                      <a:endParaRPr sz="1300">
                        <a:solidFill>
                          <a:schemeClr val="tx1"/>
                        </a:solidFill>
                        <a:latin typeface="Trebuchet MS"/>
                        <a:cs typeface="Trebuchet MS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1300" spc="-10" dirty="0">
                          <a:solidFill>
                            <a:schemeClr val="tx1"/>
                          </a:solidFill>
                          <a:latin typeface="Trebuchet MS"/>
                          <a:cs typeface="Trebuchet MS"/>
                        </a:rPr>
                        <a:t>107,60</a:t>
                      </a:r>
                      <a:endParaRPr sz="1300" dirty="0">
                        <a:solidFill>
                          <a:schemeClr val="tx1"/>
                        </a:solidFill>
                        <a:latin typeface="Trebuchet MS"/>
                        <a:cs typeface="Trebuchet MS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1141412" y="33573"/>
            <a:ext cx="7653655" cy="400050"/>
          </a:xfrm>
          <a:custGeom>
            <a:avLst/>
            <a:gdLst/>
            <a:ahLst/>
            <a:cxnLst/>
            <a:rect l="l" t="t" r="r" b="b"/>
            <a:pathLst>
              <a:path w="7653655" h="400050">
                <a:moveTo>
                  <a:pt x="7653337" y="0"/>
                </a:moveTo>
                <a:lnTo>
                  <a:pt x="0" y="0"/>
                </a:lnTo>
                <a:lnTo>
                  <a:pt x="0" y="400050"/>
                </a:lnTo>
                <a:lnTo>
                  <a:pt x="7653337" y="400050"/>
                </a:lnTo>
                <a:lnTo>
                  <a:pt x="7653337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952500" y="6679"/>
            <a:ext cx="7807452" cy="559639"/>
          </a:xfrm>
          <a:prstGeom prst="rect">
            <a:avLst/>
          </a:prstGeom>
        </p:spPr>
        <p:txBody>
          <a:bodyPr vert="horz" wrap="square" lIns="0" tIns="188467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100"/>
              </a:spcBef>
            </a:pPr>
            <a:r>
              <a:rPr sz="2400" spc="-10" dirty="0">
                <a:latin typeface="+mn-lt"/>
                <a:cs typeface="Arial"/>
              </a:rPr>
              <a:t>Двухфакторный</a:t>
            </a:r>
            <a:r>
              <a:rPr sz="2400" b="0" spc="-50" dirty="0">
                <a:latin typeface="+mn-lt"/>
                <a:cs typeface="Times New Roman"/>
              </a:rPr>
              <a:t> </a:t>
            </a:r>
            <a:r>
              <a:rPr sz="2400" dirty="0">
                <a:latin typeface="+mn-lt"/>
                <a:cs typeface="Arial"/>
              </a:rPr>
              <a:t>дисперсионный</a:t>
            </a:r>
            <a:r>
              <a:rPr sz="2400" b="0" spc="-45" dirty="0">
                <a:latin typeface="+mn-lt"/>
                <a:cs typeface="Times New Roman"/>
              </a:rPr>
              <a:t> </a:t>
            </a:r>
            <a:r>
              <a:rPr sz="2400" dirty="0">
                <a:latin typeface="+mn-lt"/>
                <a:cs typeface="Arial"/>
              </a:rPr>
              <a:t>анализ</a:t>
            </a:r>
            <a:r>
              <a:rPr sz="2400" b="0" spc="-45" dirty="0">
                <a:latin typeface="+mn-lt"/>
                <a:cs typeface="Times New Roman"/>
              </a:rPr>
              <a:t> </a:t>
            </a:r>
            <a:r>
              <a:rPr sz="2400" dirty="0">
                <a:latin typeface="+mn-lt"/>
                <a:cs typeface="Arial"/>
              </a:rPr>
              <a:t>без</a:t>
            </a:r>
            <a:r>
              <a:rPr sz="2400" b="0" spc="-50" dirty="0">
                <a:latin typeface="+mn-lt"/>
                <a:cs typeface="Times New Roman"/>
              </a:rPr>
              <a:t> </a:t>
            </a:r>
            <a:r>
              <a:rPr sz="2400" spc="-10" dirty="0">
                <a:latin typeface="+mn-lt"/>
                <a:cs typeface="Arial"/>
              </a:rPr>
              <a:t>повторений</a:t>
            </a:r>
            <a:endParaRPr sz="2400" dirty="0">
              <a:latin typeface="+mn-lt"/>
              <a:cs typeface="Arial"/>
            </a:endParaRPr>
          </a:p>
        </p:txBody>
      </p:sp>
      <p:sp>
        <p:nvSpPr>
          <p:cNvPr id="7" name="Нижний колонтитул 6">
            <a:extLst>
              <a:ext uri="{FF2B5EF4-FFF2-40B4-BE49-F238E27FC236}">
                <a16:creationId xmlns:a16="http://schemas.microsoft.com/office/drawing/2014/main" id="{4FBB4C93-5C69-4D1C-8CF0-6E38CA1E5F93}"/>
              </a:ext>
            </a:extLst>
          </p:cNvPr>
          <p:cNvSpPr>
            <a:spLocks noGrp="1"/>
          </p:cNvSpPr>
          <p:nvPr>
            <p:ph type="ftr" sz="quarter" idx="5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384048" y="1258651"/>
            <a:ext cx="8375904" cy="4882896"/>
          </a:xfrm>
          <a:prstGeom prst="rect">
            <a:avLst/>
          </a:prstGeom>
        </p:spPr>
      </p:pic>
      <p:sp>
        <p:nvSpPr>
          <p:cNvPr id="9" name="Номер слайда 55">
            <a:extLst>
              <a:ext uri="{FF2B5EF4-FFF2-40B4-BE49-F238E27FC236}">
                <a16:creationId xmlns:a16="http://schemas.microsoft.com/office/drawing/2014/main" id="{4C1B1BDA-53D2-403A-A835-ED37AA33E65D}"/>
              </a:ext>
            </a:extLst>
          </p:cNvPr>
          <p:cNvSpPr txBox="1">
            <a:spLocks/>
          </p:cNvSpPr>
          <p:nvPr/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kern="0"/>
            </a:defPPr>
            <a:lvl1pPr marL="38100" algn="r">
              <a:lnSpc>
                <a:spcPct val="100000"/>
              </a:lnSpc>
              <a:spcBef>
                <a:spcPts val="244"/>
              </a:spcBef>
              <a:defRPr sz="1500" spc="-25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1D60167-4931-47E6-BA6A-407CBD079E47}" type="slidenum">
              <a:rPr lang="ru-RU"/>
              <a:pPr/>
              <a:t>54</a:t>
            </a:fld>
            <a:endParaRPr lang="ru-RU" dirty="0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1116012" y="146050"/>
            <a:ext cx="7653655" cy="400050"/>
          </a:xfrm>
          <a:custGeom>
            <a:avLst/>
            <a:gdLst/>
            <a:ahLst/>
            <a:cxnLst/>
            <a:rect l="l" t="t" r="r" b="b"/>
            <a:pathLst>
              <a:path w="7653655" h="400050">
                <a:moveTo>
                  <a:pt x="7653337" y="0"/>
                </a:moveTo>
                <a:lnTo>
                  <a:pt x="0" y="0"/>
                </a:lnTo>
                <a:lnTo>
                  <a:pt x="0" y="400050"/>
                </a:lnTo>
                <a:lnTo>
                  <a:pt x="7653337" y="400050"/>
                </a:lnTo>
                <a:lnTo>
                  <a:pt x="7653337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982217" y="3302"/>
            <a:ext cx="7886700" cy="498084"/>
          </a:xfrm>
          <a:prstGeom prst="rect">
            <a:avLst/>
          </a:prstGeom>
        </p:spPr>
        <p:txBody>
          <a:bodyPr vert="horz" wrap="square" lIns="0" tIns="188467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100"/>
              </a:spcBef>
            </a:pPr>
            <a:r>
              <a:rPr sz="2000" spc="-10" dirty="0">
                <a:latin typeface="Arial"/>
                <a:cs typeface="Arial"/>
              </a:rPr>
              <a:t>Двухфакторный</a:t>
            </a:r>
            <a:r>
              <a:rPr sz="2000" b="0" spc="-5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Arial"/>
                <a:cs typeface="Arial"/>
              </a:rPr>
              <a:t>дисперсионный</a:t>
            </a:r>
            <a:r>
              <a:rPr sz="2000" b="0" spc="-4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Arial"/>
                <a:cs typeface="Arial"/>
              </a:rPr>
              <a:t>анализ</a:t>
            </a:r>
            <a:r>
              <a:rPr sz="2000" b="0" spc="-4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Arial"/>
                <a:cs typeface="Arial"/>
              </a:rPr>
              <a:t>без</a:t>
            </a:r>
            <a:r>
              <a:rPr sz="2000" b="0" spc="-50" dirty="0">
                <a:latin typeface="Times New Roman"/>
                <a:cs typeface="Times New Roman"/>
              </a:rPr>
              <a:t> </a:t>
            </a:r>
            <a:r>
              <a:rPr sz="2000" spc="-10" dirty="0">
                <a:latin typeface="Arial"/>
                <a:cs typeface="Arial"/>
              </a:rPr>
              <a:t>повторений</a:t>
            </a:r>
            <a:endParaRPr sz="2000" dirty="0">
              <a:latin typeface="Arial"/>
              <a:cs typeface="Arial"/>
            </a:endParaRPr>
          </a:p>
        </p:txBody>
      </p:sp>
      <p:sp>
        <p:nvSpPr>
          <p:cNvPr id="19" name="Нижний колонтитул 18">
            <a:extLst>
              <a:ext uri="{FF2B5EF4-FFF2-40B4-BE49-F238E27FC236}">
                <a16:creationId xmlns:a16="http://schemas.microsoft.com/office/drawing/2014/main" id="{90AC230C-52BA-436A-B463-EA42C874C843}"/>
              </a:ext>
            </a:extLst>
          </p:cNvPr>
          <p:cNvSpPr>
            <a:spLocks noGrp="1"/>
          </p:cNvSpPr>
          <p:nvPr>
            <p:ph type="ftr" sz="quarter" idx="5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600455" y="624840"/>
            <a:ext cx="2849880" cy="1002791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591312" y="1783079"/>
            <a:ext cx="2008632" cy="402336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627887" y="2289048"/>
            <a:ext cx="2700528" cy="749808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591312" y="3087623"/>
            <a:ext cx="2633472" cy="719327"/>
          </a:xfrm>
          <a:prstGeom prst="rect">
            <a:avLst/>
          </a:prstGeom>
        </p:spPr>
      </p:pic>
      <p:pic>
        <p:nvPicPr>
          <p:cNvPr id="8" name="object 8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591312" y="3934967"/>
            <a:ext cx="2676143" cy="935736"/>
          </a:xfrm>
          <a:prstGeom prst="rect">
            <a:avLst/>
          </a:prstGeom>
        </p:spPr>
      </p:pic>
      <p:pic>
        <p:nvPicPr>
          <p:cNvPr id="9" name="object 9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609600" y="4998720"/>
            <a:ext cx="1996439" cy="429768"/>
          </a:xfrm>
          <a:prstGeom prst="rect">
            <a:avLst/>
          </a:prstGeom>
        </p:spPr>
      </p:pic>
      <p:pic>
        <p:nvPicPr>
          <p:cNvPr id="10" name="object 10"/>
          <p:cNvPicPr/>
          <p:nvPr/>
        </p:nvPicPr>
        <p:blipFill>
          <a:blip r:embed="rId9" cstate="print"/>
          <a:stretch>
            <a:fillRect/>
          </a:stretch>
        </p:blipFill>
        <p:spPr>
          <a:xfrm>
            <a:off x="4858511" y="640080"/>
            <a:ext cx="2782824" cy="1002791"/>
          </a:xfrm>
          <a:prstGeom prst="rect">
            <a:avLst/>
          </a:prstGeom>
        </p:spPr>
      </p:pic>
      <p:pic>
        <p:nvPicPr>
          <p:cNvPr id="11" name="object 11"/>
          <p:cNvPicPr/>
          <p:nvPr/>
        </p:nvPicPr>
        <p:blipFill>
          <a:blip r:embed="rId10" cstate="print"/>
          <a:stretch>
            <a:fillRect/>
          </a:stretch>
        </p:blipFill>
        <p:spPr>
          <a:xfrm>
            <a:off x="4823967" y="1666621"/>
            <a:ext cx="1929384" cy="429767"/>
          </a:xfrm>
          <a:prstGeom prst="rect">
            <a:avLst/>
          </a:prstGeom>
        </p:spPr>
      </p:pic>
      <p:pic>
        <p:nvPicPr>
          <p:cNvPr id="12" name="object 12"/>
          <p:cNvPicPr/>
          <p:nvPr/>
        </p:nvPicPr>
        <p:blipFill>
          <a:blip r:embed="rId11" cstate="print"/>
          <a:stretch>
            <a:fillRect/>
          </a:stretch>
        </p:blipFill>
        <p:spPr>
          <a:xfrm>
            <a:off x="4572000" y="2131188"/>
            <a:ext cx="4575047" cy="999744"/>
          </a:xfrm>
          <a:prstGeom prst="rect">
            <a:avLst/>
          </a:prstGeom>
        </p:spPr>
      </p:pic>
      <p:pic>
        <p:nvPicPr>
          <p:cNvPr id="13" name="object 13"/>
          <p:cNvPicPr/>
          <p:nvPr/>
        </p:nvPicPr>
        <p:blipFill>
          <a:blip r:embed="rId12" cstate="print"/>
          <a:stretch>
            <a:fillRect/>
          </a:stretch>
        </p:blipFill>
        <p:spPr>
          <a:xfrm>
            <a:off x="4910328" y="3197100"/>
            <a:ext cx="2959608" cy="402335"/>
          </a:xfrm>
          <a:prstGeom prst="rect">
            <a:avLst/>
          </a:prstGeom>
        </p:spPr>
      </p:pic>
      <p:pic>
        <p:nvPicPr>
          <p:cNvPr id="14" name="object 14"/>
          <p:cNvPicPr/>
          <p:nvPr/>
        </p:nvPicPr>
        <p:blipFill>
          <a:blip r:embed="rId13" cstate="print"/>
          <a:stretch>
            <a:fillRect/>
          </a:stretch>
        </p:blipFill>
        <p:spPr>
          <a:xfrm>
            <a:off x="4953507" y="3710813"/>
            <a:ext cx="1795272" cy="762000"/>
          </a:xfrm>
          <a:prstGeom prst="rect">
            <a:avLst/>
          </a:prstGeom>
        </p:spPr>
      </p:pic>
      <p:pic>
        <p:nvPicPr>
          <p:cNvPr id="15" name="object 15"/>
          <p:cNvPicPr/>
          <p:nvPr/>
        </p:nvPicPr>
        <p:blipFill>
          <a:blip r:embed="rId14" cstate="print"/>
          <a:stretch>
            <a:fillRect/>
          </a:stretch>
        </p:blipFill>
        <p:spPr>
          <a:xfrm>
            <a:off x="4996178" y="4472813"/>
            <a:ext cx="1819656" cy="762000"/>
          </a:xfrm>
          <a:prstGeom prst="rect">
            <a:avLst/>
          </a:prstGeom>
        </p:spPr>
      </p:pic>
      <p:pic>
        <p:nvPicPr>
          <p:cNvPr id="16" name="object 16"/>
          <p:cNvPicPr/>
          <p:nvPr/>
        </p:nvPicPr>
        <p:blipFill>
          <a:blip r:embed="rId15" cstate="print"/>
          <a:stretch>
            <a:fillRect/>
          </a:stretch>
        </p:blipFill>
        <p:spPr>
          <a:xfrm>
            <a:off x="5049011" y="5321298"/>
            <a:ext cx="1810512" cy="728472"/>
          </a:xfrm>
          <a:prstGeom prst="rect">
            <a:avLst/>
          </a:prstGeom>
        </p:spPr>
      </p:pic>
      <p:sp>
        <p:nvSpPr>
          <p:cNvPr id="21" name="Номер слайда 55">
            <a:extLst>
              <a:ext uri="{FF2B5EF4-FFF2-40B4-BE49-F238E27FC236}">
                <a16:creationId xmlns:a16="http://schemas.microsoft.com/office/drawing/2014/main" id="{0D16C4CD-2279-4776-B74A-23BE2A2BD9A7}"/>
              </a:ext>
            </a:extLst>
          </p:cNvPr>
          <p:cNvSpPr txBox="1">
            <a:spLocks/>
          </p:cNvSpPr>
          <p:nvPr/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kern="0"/>
            </a:defPPr>
            <a:lvl1pPr marL="38100" algn="r">
              <a:lnSpc>
                <a:spcPct val="100000"/>
              </a:lnSpc>
              <a:spcBef>
                <a:spcPts val="244"/>
              </a:spcBef>
              <a:defRPr sz="1500" spc="-25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1D60167-4931-47E6-BA6A-407CBD079E47}" type="slidenum">
              <a:rPr lang="ru-RU"/>
              <a:pPr/>
              <a:t>55</a:t>
            </a:fld>
            <a:endParaRPr lang="ru-RU" dirty="0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35867" y="6546731"/>
            <a:ext cx="203835" cy="227329"/>
          </a:xfrm>
          <a:prstGeom prst="rect">
            <a:avLst/>
          </a:prstGeom>
        </p:spPr>
        <p:txBody>
          <a:bodyPr vert="horz" wrap="square" lIns="0" tIns="1841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45"/>
              </a:spcBef>
            </a:pPr>
            <a:r>
              <a:rPr sz="1250" i="1" spc="-60" dirty="0">
                <a:latin typeface="Arial Black"/>
                <a:cs typeface="Arial Black"/>
              </a:rPr>
              <a:t>52</a:t>
            </a:r>
            <a:endParaRPr sz="1250">
              <a:latin typeface="Arial Black"/>
              <a:cs typeface="Arial Black"/>
            </a:endParaRPr>
          </a:p>
        </p:txBody>
      </p:sp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0" y="762000"/>
            <a:ext cx="8839200" cy="5715000"/>
          </a:xfrm>
          <a:prstGeom prst="rect">
            <a:avLst/>
          </a:prstGeom>
        </p:spPr>
      </p:pic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914400" y="168273"/>
            <a:ext cx="8382000" cy="361189"/>
          </a:xfrm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48895" marR="5080" indent="-36830">
              <a:lnSpc>
                <a:spcPct val="100800"/>
              </a:lnSpc>
              <a:spcBef>
                <a:spcPts val="75"/>
              </a:spcBef>
            </a:pPr>
            <a:r>
              <a:rPr sz="2400" dirty="0"/>
              <a:t>Проверка,</a:t>
            </a:r>
            <a:r>
              <a:rPr sz="2400" b="0" spc="-5" dirty="0">
                <a:latin typeface="Times New Roman"/>
                <a:cs typeface="Times New Roman"/>
              </a:rPr>
              <a:t> </a:t>
            </a:r>
            <a:r>
              <a:rPr sz="2400" dirty="0"/>
              <a:t>что</a:t>
            </a:r>
            <a:r>
              <a:rPr sz="2400" b="0" dirty="0">
                <a:latin typeface="Times New Roman"/>
                <a:cs typeface="Times New Roman"/>
              </a:rPr>
              <a:t> </a:t>
            </a:r>
            <a:r>
              <a:rPr sz="2400" dirty="0"/>
              <a:t>нам</a:t>
            </a:r>
            <a:r>
              <a:rPr sz="2400" b="0" dirty="0">
                <a:latin typeface="Times New Roman"/>
                <a:cs typeface="Times New Roman"/>
              </a:rPr>
              <a:t> </a:t>
            </a:r>
            <a:r>
              <a:rPr sz="2400" spc="-10" dirty="0"/>
              <a:t>подходит</a:t>
            </a:r>
            <a:r>
              <a:rPr sz="2400" b="0" spc="-10" dirty="0">
                <a:latin typeface="Times New Roman"/>
                <a:cs typeface="Times New Roman"/>
              </a:rPr>
              <a:t> </a:t>
            </a:r>
            <a:r>
              <a:rPr sz="2400" dirty="0"/>
              <a:t>дисперсионный</a:t>
            </a:r>
            <a:r>
              <a:rPr sz="2400" b="0" spc="-110" dirty="0">
                <a:latin typeface="Times New Roman"/>
                <a:cs typeface="Times New Roman"/>
              </a:rPr>
              <a:t> </a:t>
            </a:r>
            <a:r>
              <a:rPr sz="2400" spc="-10" dirty="0"/>
              <a:t>анализ</a:t>
            </a:r>
            <a:endParaRPr sz="2400" dirty="0">
              <a:latin typeface="Times New Roman"/>
              <a:cs typeface="Times New Roman"/>
            </a:endParaRPr>
          </a:p>
        </p:txBody>
      </p:sp>
      <p:sp>
        <p:nvSpPr>
          <p:cNvPr id="7" name="Нижний колонтитул 6">
            <a:extLst>
              <a:ext uri="{FF2B5EF4-FFF2-40B4-BE49-F238E27FC236}">
                <a16:creationId xmlns:a16="http://schemas.microsoft.com/office/drawing/2014/main" id="{8A57079B-02BA-4EFD-B05E-5F070C5EB1AA}"/>
              </a:ext>
            </a:extLst>
          </p:cNvPr>
          <p:cNvSpPr>
            <a:spLocks noGrp="1"/>
          </p:cNvSpPr>
          <p:nvPr>
            <p:ph type="ftr" sz="quarter" idx="5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55">
            <a:extLst>
              <a:ext uri="{FF2B5EF4-FFF2-40B4-BE49-F238E27FC236}">
                <a16:creationId xmlns:a16="http://schemas.microsoft.com/office/drawing/2014/main" id="{E495E41F-D344-4267-8D02-85F95C8CB026}"/>
              </a:ext>
            </a:extLst>
          </p:cNvPr>
          <p:cNvSpPr txBox="1">
            <a:spLocks/>
          </p:cNvSpPr>
          <p:nvPr/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kern="0"/>
            </a:defPPr>
            <a:lvl1pPr marL="38100" algn="r">
              <a:lnSpc>
                <a:spcPct val="100000"/>
              </a:lnSpc>
              <a:spcBef>
                <a:spcPts val="244"/>
              </a:spcBef>
              <a:defRPr sz="1500" spc="-25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1D60167-4931-47E6-BA6A-407CBD079E47}" type="slidenum">
              <a:rPr lang="ru-RU"/>
              <a:pPr/>
              <a:t>56</a:t>
            </a:fld>
            <a:endParaRPr lang="ru-RU" dirty="0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1116012" y="146050"/>
            <a:ext cx="7653655" cy="400050"/>
          </a:xfrm>
          <a:custGeom>
            <a:avLst/>
            <a:gdLst/>
            <a:ahLst/>
            <a:cxnLst/>
            <a:rect l="l" t="t" r="r" b="b"/>
            <a:pathLst>
              <a:path w="7653655" h="400050">
                <a:moveTo>
                  <a:pt x="7653337" y="0"/>
                </a:moveTo>
                <a:lnTo>
                  <a:pt x="0" y="0"/>
                </a:lnTo>
                <a:lnTo>
                  <a:pt x="0" y="400050"/>
                </a:lnTo>
                <a:lnTo>
                  <a:pt x="7653337" y="400050"/>
                </a:lnTo>
                <a:lnTo>
                  <a:pt x="7653337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1141412" y="297058"/>
            <a:ext cx="7653655" cy="498084"/>
          </a:xfrm>
          <a:prstGeom prst="rect">
            <a:avLst/>
          </a:prstGeom>
        </p:spPr>
        <p:txBody>
          <a:bodyPr vert="horz" wrap="square" lIns="0" tIns="188467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100"/>
              </a:spcBef>
            </a:pPr>
            <a:r>
              <a:rPr sz="2000" spc="-10" dirty="0"/>
              <a:t>Двухфакторный</a:t>
            </a:r>
            <a:r>
              <a:rPr sz="2000" b="0" spc="-35" dirty="0">
                <a:latin typeface="Times New Roman"/>
                <a:cs typeface="Times New Roman"/>
              </a:rPr>
              <a:t> </a:t>
            </a:r>
            <a:r>
              <a:rPr sz="2000" dirty="0"/>
              <a:t>дисперсионный</a:t>
            </a:r>
            <a:r>
              <a:rPr sz="2000" b="0" spc="-35" dirty="0">
                <a:latin typeface="Times New Roman"/>
                <a:cs typeface="Times New Roman"/>
              </a:rPr>
              <a:t> </a:t>
            </a:r>
            <a:r>
              <a:rPr sz="2000" dirty="0"/>
              <a:t>анализ</a:t>
            </a:r>
            <a:r>
              <a:rPr sz="2000" b="0" spc="-25" dirty="0">
                <a:latin typeface="Times New Roman"/>
                <a:cs typeface="Times New Roman"/>
              </a:rPr>
              <a:t> </a:t>
            </a:r>
            <a:r>
              <a:rPr sz="2000" dirty="0"/>
              <a:t>без</a:t>
            </a:r>
            <a:r>
              <a:rPr sz="2000" b="0" spc="-25" dirty="0">
                <a:latin typeface="Times New Roman"/>
                <a:cs typeface="Times New Roman"/>
              </a:rPr>
              <a:t> </a:t>
            </a:r>
            <a:r>
              <a:rPr sz="2000" spc="-10" dirty="0"/>
              <a:t>повторений</a:t>
            </a:r>
            <a:endParaRPr sz="2000" dirty="0">
              <a:latin typeface="Times New Roman"/>
              <a:cs typeface="Times New Roman"/>
            </a:endParaRPr>
          </a:p>
        </p:txBody>
      </p:sp>
      <p:sp>
        <p:nvSpPr>
          <p:cNvPr id="7" name="Нижний колонтитул 6">
            <a:extLst>
              <a:ext uri="{FF2B5EF4-FFF2-40B4-BE49-F238E27FC236}">
                <a16:creationId xmlns:a16="http://schemas.microsoft.com/office/drawing/2014/main" id="{A997D081-91DD-436D-8E77-2446F8C5A4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object 4"/>
          <p:cNvSpPr txBox="1"/>
          <p:nvPr/>
        </p:nvSpPr>
        <p:spPr>
          <a:xfrm>
            <a:off x="624826" y="1266451"/>
            <a:ext cx="5623560" cy="2768600"/>
          </a:xfrm>
          <a:prstGeom prst="rect">
            <a:avLst/>
          </a:prstGeom>
        </p:spPr>
        <p:txBody>
          <a:bodyPr vert="horz" wrap="square" lIns="0" tIns="165100" rIns="0" bIns="0" rtlCol="0">
            <a:spAutoFit/>
          </a:bodyPr>
          <a:lstStyle/>
          <a:p>
            <a:pPr marL="418465" indent="-342265">
              <a:lnSpc>
                <a:spcPct val="100000"/>
              </a:lnSpc>
              <a:spcBef>
                <a:spcPts val="1300"/>
              </a:spcBef>
              <a:buFont typeface="Symbol"/>
              <a:buChar char=""/>
              <a:tabLst>
                <a:tab pos="418465" algn="l"/>
              </a:tabLst>
            </a:pPr>
            <a:r>
              <a:rPr sz="2000" b="1" dirty="0">
                <a:latin typeface="Arial"/>
                <a:cs typeface="Arial"/>
              </a:rPr>
              <a:t>для</a:t>
            </a:r>
            <a:r>
              <a:rPr sz="2000" spc="-40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Arial"/>
                <a:cs typeface="Arial"/>
              </a:rPr>
              <a:t>первого</a:t>
            </a:r>
            <a:r>
              <a:rPr sz="2000" spc="-35" dirty="0">
                <a:latin typeface="Times New Roman"/>
                <a:cs typeface="Times New Roman"/>
              </a:rPr>
              <a:t> </a:t>
            </a:r>
            <a:r>
              <a:rPr sz="2000" b="1" spc="-10" dirty="0">
                <a:latin typeface="Arial"/>
                <a:cs typeface="Arial"/>
              </a:rPr>
              <a:t>фактора</a:t>
            </a:r>
            <a:r>
              <a:rPr sz="2000" spc="-10" dirty="0">
                <a:latin typeface="Arial"/>
                <a:cs typeface="Arial"/>
              </a:rPr>
              <a:t>:</a:t>
            </a:r>
            <a:endParaRPr sz="2000" dirty="0">
              <a:latin typeface="Arial"/>
              <a:cs typeface="Arial"/>
            </a:endParaRPr>
          </a:p>
          <a:p>
            <a:pPr marL="76200" marR="68580">
              <a:lnSpc>
                <a:spcPct val="150000"/>
              </a:lnSpc>
            </a:pPr>
            <a:r>
              <a:rPr sz="2000" dirty="0">
                <a:latin typeface="Arial"/>
                <a:cs typeface="Arial"/>
              </a:rPr>
              <a:t>Нулевая</a:t>
            </a:r>
            <a:r>
              <a:rPr sz="2000" spc="1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Arial"/>
                <a:cs typeface="Arial"/>
              </a:rPr>
              <a:t>гипотеза</a:t>
            </a:r>
            <a:r>
              <a:rPr sz="2000" spc="1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Arial"/>
                <a:cs typeface="Arial"/>
              </a:rPr>
              <a:t>H</a:t>
            </a:r>
            <a:r>
              <a:rPr sz="1950" baseline="-17094" dirty="0">
                <a:latin typeface="Arial"/>
                <a:cs typeface="Arial"/>
              </a:rPr>
              <a:t>0</a:t>
            </a:r>
            <a:r>
              <a:rPr sz="2000" dirty="0">
                <a:latin typeface="Arial"/>
                <a:cs typeface="Arial"/>
              </a:rPr>
              <a:t>:</a:t>
            </a:r>
            <a:r>
              <a:rPr sz="2000" spc="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Arial"/>
                <a:cs typeface="Arial"/>
              </a:rPr>
              <a:t>μ</a:t>
            </a:r>
            <a:r>
              <a:rPr sz="1950" baseline="-17094" dirty="0">
                <a:latin typeface="Arial"/>
                <a:cs typeface="Arial"/>
              </a:rPr>
              <a:t>1A</a:t>
            </a:r>
            <a:r>
              <a:rPr sz="1950" spc="202" baseline="-17094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Arial"/>
                <a:cs typeface="Arial"/>
              </a:rPr>
              <a:t>=</a:t>
            </a:r>
            <a:r>
              <a:rPr sz="2000" spc="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Arial"/>
                <a:cs typeface="Arial"/>
              </a:rPr>
              <a:t>μ</a:t>
            </a:r>
            <a:r>
              <a:rPr sz="1950" baseline="-17094" dirty="0">
                <a:latin typeface="Arial"/>
                <a:cs typeface="Arial"/>
              </a:rPr>
              <a:t>2A</a:t>
            </a:r>
            <a:r>
              <a:rPr sz="1950" spc="209" baseline="-17094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Arial"/>
                <a:cs typeface="Arial"/>
              </a:rPr>
              <a:t>=</a:t>
            </a:r>
            <a:r>
              <a:rPr sz="2000" spc="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Arial"/>
                <a:cs typeface="Arial"/>
              </a:rPr>
              <a:t>...</a:t>
            </a:r>
            <a:r>
              <a:rPr sz="200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Arial"/>
                <a:cs typeface="Arial"/>
              </a:rPr>
              <a:t>=</a:t>
            </a:r>
            <a:r>
              <a:rPr sz="2000" spc="5" dirty="0">
                <a:latin typeface="Times New Roman"/>
                <a:cs typeface="Times New Roman"/>
              </a:rPr>
              <a:t> </a:t>
            </a:r>
            <a:r>
              <a:rPr sz="2000" spc="-20" dirty="0">
                <a:latin typeface="Arial"/>
                <a:cs typeface="Arial"/>
              </a:rPr>
              <a:t>μ</a:t>
            </a:r>
            <a:r>
              <a:rPr sz="1950" spc="-30" baseline="-17094" dirty="0">
                <a:latin typeface="Arial"/>
                <a:cs typeface="Arial"/>
              </a:rPr>
              <a:t>mA</a:t>
            </a:r>
            <a:r>
              <a:rPr sz="2000" spc="-20" dirty="0">
                <a:latin typeface="Arial"/>
                <a:cs typeface="Arial"/>
              </a:rPr>
              <a:t>,</a:t>
            </a:r>
            <a:r>
              <a:rPr sz="2000" spc="-20" dirty="0">
                <a:latin typeface="Times New Roman"/>
                <a:cs typeface="Times New Roman"/>
              </a:rPr>
              <a:t> </a:t>
            </a:r>
            <a:r>
              <a:rPr sz="2000" spc="-20" dirty="0">
                <a:latin typeface="Arial"/>
                <a:cs typeface="Arial"/>
              </a:rPr>
              <a:t>Альтернативная</a:t>
            </a:r>
            <a:r>
              <a:rPr sz="200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Arial"/>
                <a:cs typeface="Arial"/>
              </a:rPr>
              <a:t>гипотеза</a:t>
            </a:r>
            <a:r>
              <a:rPr sz="200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Arial"/>
                <a:cs typeface="Arial"/>
              </a:rPr>
              <a:t>H</a:t>
            </a:r>
            <a:r>
              <a:rPr sz="1950" baseline="-17094" dirty="0">
                <a:latin typeface="Arial"/>
                <a:cs typeface="Arial"/>
              </a:rPr>
              <a:t>1</a:t>
            </a:r>
            <a:r>
              <a:rPr sz="2000" dirty="0">
                <a:latin typeface="Arial"/>
                <a:cs typeface="Arial"/>
              </a:rPr>
              <a:t>:</a:t>
            </a:r>
            <a:r>
              <a:rPr sz="2000" spc="-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Arial"/>
                <a:cs typeface="Arial"/>
              </a:rPr>
              <a:t>не</a:t>
            </a:r>
            <a:r>
              <a:rPr sz="2000" spc="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Arial"/>
                <a:cs typeface="Arial"/>
              </a:rPr>
              <a:t>все</a:t>
            </a:r>
            <a:r>
              <a:rPr sz="2000" spc="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Arial"/>
                <a:cs typeface="Arial"/>
              </a:rPr>
              <a:t>μ</a:t>
            </a:r>
            <a:r>
              <a:rPr sz="1950" baseline="-17094" dirty="0">
                <a:latin typeface="Arial"/>
                <a:cs typeface="Arial"/>
              </a:rPr>
              <a:t>iA</a:t>
            </a:r>
            <a:r>
              <a:rPr sz="1950" spc="195" baseline="-17094" dirty="0">
                <a:latin typeface="Times New Roman"/>
                <a:cs typeface="Times New Roman"/>
              </a:rPr>
              <a:t> </a:t>
            </a:r>
            <a:r>
              <a:rPr sz="2000" spc="-10" dirty="0">
                <a:latin typeface="Arial"/>
                <a:cs typeface="Arial"/>
              </a:rPr>
              <a:t>равны;</a:t>
            </a:r>
            <a:endParaRPr sz="2000" dirty="0">
              <a:latin typeface="Arial"/>
              <a:cs typeface="Arial"/>
            </a:endParaRPr>
          </a:p>
          <a:p>
            <a:pPr marL="75565" marR="2453005" indent="342900">
              <a:lnSpc>
                <a:spcPct val="150000"/>
              </a:lnSpc>
              <a:buFont typeface="Symbol"/>
              <a:buChar char=""/>
              <a:tabLst>
                <a:tab pos="418465" algn="l"/>
              </a:tabLst>
            </a:pPr>
            <a:r>
              <a:rPr sz="2000" b="1" dirty="0">
                <a:latin typeface="Arial"/>
                <a:cs typeface="Arial"/>
              </a:rPr>
              <a:t>для</a:t>
            </a:r>
            <a:r>
              <a:rPr sz="2000" spc="-45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Arial"/>
                <a:cs typeface="Arial"/>
              </a:rPr>
              <a:t>второго</a:t>
            </a:r>
            <a:r>
              <a:rPr sz="2000" spc="-35" dirty="0">
                <a:latin typeface="Times New Roman"/>
                <a:cs typeface="Times New Roman"/>
              </a:rPr>
              <a:t> </a:t>
            </a:r>
            <a:r>
              <a:rPr sz="2000" b="1" spc="-10" dirty="0">
                <a:latin typeface="Arial"/>
                <a:cs typeface="Arial"/>
              </a:rPr>
              <a:t>фактора</a:t>
            </a:r>
            <a:r>
              <a:rPr sz="2000" spc="-10" dirty="0">
                <a:latin typeface="Arial"/>
                <a:cs typeface="Arial"/>
              </a:rPr>
              <a:t>:</a:t>
            </a:r>
            <a:r>
              <a:rPr sz="2000" spc="-1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Arial"/>
                <a:cs typeface="Arial"/>
              </a:rPr>
              <a:t>H</a:t>
            </a:r>
            <a:r>
              <a:rPr sz="1950" baseline="-17094" dirty="0">
                <a:latin typeface="Arial"/>
                <a:cs typeface="Arial"/>
              </a:rPr>
              <a:t>0</a:t>
            </a:r>
            <a:r>
              <a:rPr sz="2000" dirty="0">
                <a:latin typeface="Arial"/>
                <a:cs typeface="Arial"/>
              </a:rPr>
              <a:t>:</a:t>
            </a:r>
            <a:r>
              <a:rPr sz="2000" spc="3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Arial"/>
                <a:cs typeface="Arial"/>
              </a:rPr>
              <a:t>μ</a:t>
            </a:r>
            <a:r>
              <a:rPr sz="1950" baseline="-17094" dirty="0">
                <a:latin typeface="Arial"/>
                <a:cs typeface="Arial"/>
              </a:rPr>
              <a:t>1B</a:t>
            </a:r>
            <a:r>
              <a:rPr sz="1950" spc="367" baseline="-17094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Arial"/>
                <a:cs typeface="Arial"/>
              </a:rPr>
              <a:t>=</a:t>
            </a:r>
            <a:r>
              <a:rPr sz="2000" spc="4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Arial"/>
                <a:cs typeface="Arial"/>
              </a:rPr>
              <a:t>μ</a:t>
            </a:r>
            <a:r>
              <a:rPr sz="1950" baseline="-17094" dirty="0">
                <a:latin typeface="Arial"/>
                <a:cs typeface="Arial"/>
              </a:rPr>
              <a:t>2B</a:t>
            </a:r>
            <a:r>
              <a:rPr sz="1950" spc="359" baseline="-17094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Arial"/>
                <a:cs typeface="Arial"/>
              </a:rPr>
              <a:t>=</a:t>
            </a:r>
            <a:r>
              <a:rPr sz="2000" spc="4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Arial"/>
                <a:cs typeface="Arial"/>
              </a:rPr>
              <a:t>...</a:t>
            </a:r>
            <a:r>
              <a:rPr sz="2000" spc="4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Arial"/>
                <a:cs typeface="Arial"/>
              </a:rPr>
              <a:t>=</a:t>
            </a:r>
            <a:r>
              <a:rPr sz="2000" spc="40" dirty="0">
                <a:latin typeface="Times New Roman"/>
                <a:cs typeface="Times New Roman"/>
              </a:rPr>
              <a:t> </a:t>
            </a:r>
            <a:r>
              <a:rPr sz="2000" spc="-20" dirty="0">
                <a:latin typeface="Arial"/>
                <a:cs typeface="Arial"/>
              </a:rPr>
              <a:t>μ</a:t>
            </a:r>
            <a:r>
              <a:rPr sz="1950" spc="-30" baseline="-17094" dirty="0">
                <a:latin typeface="Arial"/>
                <a:cs typeface="Arial"/>
              </a:rPr>
              <a:t>kB</a:t>
            </a:r>
            <a:r>
              <a:rPr sz="2000" spc="-20" dirty="0">
                <a:latin typeface="Arial"/>
                <a:cs typeface="Arial"/>
              </a:rPr>
              <a:t>,</a:t>
            </a:r>
            <a:endParaRPr sz="2000" dirty="0">
              <a:latin typeface="Arial"/>
              <a:cs typeface="Arial"/>
            </a:endParaRPr>
          </a:p>
          <a:p>
            <a:pPr marL="75565">
              <a:lnSpc>
                <a:spcPct val="100000"/>
              </a:lnSpc>
              <a:spcBef>
                <a:spcPts val="1200"/>
              </a:spcBef>
            </a:pPr>
            <a:r>
              <a:rPr sz="2000" dirty="0">
                <a:latin typeface="Arial"/>
                <a:cs typeface="Arial"/>
              </a:rPr>
              <a:t>H</a:t>
            </a:r>
            <a:r>
              <a:rPr sz="1950" baseline="-17094" dirty="0">
                <a:latin typeface="Arial"/>
                <a:cs typeface="Arial"/>
              </a:rPr>
              <a:t>1</a:t>
            </a:r>
            <a:r>
              <a:rPr sz="2000" dirty="0">
                <a:latin typeface="Arial"/>
                <a:cs typeface="Arial"/>
              </a:rPr>
              <a:t>:</a:t>
            </a:r>
            <a:r>
              <a:rPr sz="2000" spc="3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Arial"/>
                <a:cs typeface="Arial"/>
              </a:rPr>
              <a:t>не</a:t>
            </a:r>
            <a:r>
              <a:rPr sz="2000" spc="4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Arial"/>
                <a:cs typeface="Arial"/>
              </a:rPr>
              <a:t>все</a:t>
            </a:r>
            <a:r>
              <a:rPr sz="2000" spc="4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Arial"/>
                <a:cs typeface="Arial"/>
              </a:rPr>
              <a:t>μ</a:t>
            </a:r>
            <a:r>
              <a:rPr sz="1950" baseline="-17094" dirty="0">
                <a:latin typeface="Arial"/>
                <a:cs typeface="Arial"/>
              </a:rPr>
              <a:t>jB</a:t>
            </a:r>
            <a:r>
              <a:rPr sz="1950" spc="352" baseline="-17094" dirty="0">
                <a:latin typeface="Times New Roman"/>
                <a:cs typeface="Times New Roman"/>
              </a:rPr>
              <a:t> </a:t>
            </a:r>
            <a:r>
              <a:rPr sz="2000" spc="-10" dirty="0">
                <a:latin typeface="Arial"/>
                <a:cs typeface="Arial"/>
              </a:rPr>
              <a:t>равны.</a:t>
            </a:r>
            <a:endParaRPr sz="2000" dirty="0">
              <a:latin typeface="Arial"/>
              <a:cs typeface="Arial"/>
            </a:endParaRPr>
          </a:p>
        </p:txBody>
      </p:sp>
      <p:sp>
        <p:nvSpPr>
          <p:cNvPr id="9" name="Номер слайда 55">
            <a:extLst>
              <a:ext uri="{FF2B5EF4-FFF2-40B4-BE49-F238E27FC236}">
                <a16:creationId xmlns:a16="http://schemas.microsoft.com/office/drawing/2014/main" id="{87696CC6-FB9D-4525-9AA3-0F083C1875FE}"/>
              </a:ext>
            </a:extLst>
          </p:cNvPr>
          <p:cNvSpPr txBox="1">
            <a:spLocks/>
          </p:cNvSpPr>
          <p:nvPr/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kern="0"/>
            </a:defPPr>
            <a:lvl1pPr marL="38100" algn="r">
              <a:lnSpc>
                <a:spcPct val="100000"/>
              </a:lnSpc>
              <a:spcBef>
                <a:spcPts val="244"/>
              </a:spcBef>
              <a:defRPr sz="1500" spc="-25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1D60167-4931-47E6-BA6A-407CBD079E47}" type="slidenum">
              <a:rPr lang="ru-RU"/>
              <a:pPr/>
              <a:t>57</a:t>
            </a:fld>
            <a:endParaRPr lang="ru-RU" dirty="0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1116012" y="146050"/>
            <a:ext cx="7653655" cy="400050"/>
          </a:xfrm>
          <a:custGeom>
            <a:avLst/>
            <a:gdLst/>
            <a:ahLst/>
            <a:cxnLst/>
            <a:rect l="l" t="t" r="r" b="b"/>
            <a:pathLst>
              <a:path w="7653655" h="400050">
                <a:moveTo>
                  <a:pt x="7653337" y="0"/>
                </a:moveTo>
                <a:lnTo>
                  <a:pt x="0" y="0"/>
                </a:lnTo>
                <a:lnTo>
                  <a:pt x="0" y="400050"/>
                </a:lnTo>
                <a:lnTo>
                  <a:pt x="7653337" y="400050"/>
                </a:lnTo>
                <a:lnTo>
                  <a:pt x="7653337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1257300" y="48016"/>
            <a:ext cx="7886700" cy="498084"/>
          </a:xfrm>
          <a:prstGeom prst="rect">
            <a:avLst/>
          </a:prstGeom>
        </p:spPr>
        <p:txBody>
          <a:bodyPr vert="horz" wrap="square" lIns="0" tIns="188467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sz="2000" spc="-10" dirty="0"/>
              <a:t>Двухфакторный</a:t>
            </a:r>
            <a:r>
              <a:rPr sz="2000" b="0" spc="-35" dirty="0">
                <a:latin typeface="Times New Roman"/>
                <a:cs typeface="Times New Roman"/>
              </a:rPr>
              <a:t> </a:t>
            </a:r>
            <a:r>
              <a:rPr sz="2000" dirty="0"/>
              <a:t>дисперсионный</a:t>
            </a:r>
            <a:r>
              <a:rPr sz="2000" b="0" spc="-35" dirty="0">
                <a:latin typeface="Times New Roman"/>
                <a:cs typeface="Times New Roman"/>
              </a:rPr>
              <a:t> </a:t>
            </a:r>
            <a:r>
              <a:rPr sz="2000" dirty="0"/>
              <a:t>анализ</a:t>
            </a:r>
            <a:r>
              <a:rPr sz="2000" b="0" spc="-25" dirty="0">
                <a:latin typeface="Times New Roman"/>
                <a:cs typeface="Times New Roman"/>
              </a:rPr>
              <a:t> </a:t>
            </a:r>
            <a:r>
              <a:rPr sz="2000" dirty="0"/>
              <a:t>без</a:t>
            </a:r>
            <a:r>
              <a:rPr sz="2000" b="0" spc="-25" dirty="0">
                <a:latin typeface="Times New Roman"/>
                <a:cs typeface="Times New Roman"/>
              </a:rPr>
              <a:t> </a:t>
            </a:r>
            <a:r>
              <a:rPr sz="2000" spc="-10" dirty="0"/>
              <a:t>повторений</a:t>
            </a:r>
            <a:endParaRPr sz="2000" dirty="0">
              <a:latin typeface="Times New Roman"/>
              <a:cs typeface="Times New Roman"/>
            </a:endParaRPr>
          </a:p>
        </p:txBody>
      </p:sp>
      <p:sp>
        <p:nvSpPr>
          <p:cNvPr id="10" name="Нижний колонтитул 9">
            <a:extLst>
              <a:ext uri="{FF2B5EF4-FFF2-40B4-BE49-F238E27FC236}">
                <a16:creationId xmlns:a16="http://schemas.microsoft.com/office/drawing/2014/main" id="{D6FFA352-E71A-45B6-BED4-396B1499AB48}"/>
              </a:ext>
            </a:extLst>
          </p:cNvPr>
          <p:cNvSpPr>
            <a:spLocks noGrp="1"/>
          </p:cNvSpPr>
          <p:nvPr>
            <p:ph type="ftr" sz="quarter" idx="5"/>
          </p:nvPr>
        </p:nvSpPr>
        <p:spPr/>
        <p:txBody>
          <a:bodyPr/>
          <a:lstStyle/>
          <a:p>
            <a:endParaRPr lang="ru-RU"/>
          </a:p>
        </p:txBody>
      </p:sp>
      <p:grpSp>
        <p:nvGrpSpPr>
          <p:cNvPr id="4" name="object 4"/>
          <p:cNvGrpSpPr/>
          <p:nvPr/>
        </p:nvGrpSpPr>
        <p:grpSpPr>
          <a:xfrm>
            <a:off x="609600" y="780287"/>
            <a:ext cx="8162544" cy="5157216"/>
            <a:chOff x="609600" y="780287"/>
            <a:chExt cx="8162544" cy="5157216"/>
          </a:xfrm>
        </p:grpSpPr>
        <p:pic>
          <p:nvPicPr>
            <p:cNvPr id="5" name="object 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609600" y="780287"/>
              <a:ext cx="8162544" cy="5157216"/>
            </a:xfrm>
            <a:prstGeom prst="rect">
              <a:avLst/>
            </a:prstGeom>
          </p:spPr>
        </p:pic>
        <p:sp>
          <p:nvSpPr>
            <p:cNvPr id="7" name="object 7"/>
            <p:cNvSpPr/>
            <p:nvPr/>
          </p:nvSpPr>
          <p:spPr>
            <a:xfrm>
              <a:off x="2438400" y="5018721"/>
              <a:ext cx="457200" cy="86679"/>
            </a:xfrm>
            <a:custGeom>
              <a:avLst/>
              <a:gdLst/>
              <a:ahLst/>
              <a:cxnLst/>
              <a:rect l="l" t="t" r="r" b="b"/>
              <a:pathLst>
                <a:path w="403225" h="46354">
                  <a:moveTo>
                    <a:pt x="0" y="34524"/>
                  </a:moveTo>
                  <a:lnTo>
                    <a:pt x="380206" y="34524"/>
                  </a:lnTo>
                  <a:lnTo>
                    <a:pt x="380206" y="46037"/>
                  </a:lnTo>
                  <a:lnTo>
                    <a:pt x="403225" y="23018"/>
                  </a:lnTo>
                  <a:lnTo>
                    <a:pt x="380206" y="0"/>
                  </a:lnTo>
                  <a:lnTo>
                    <a:pt x="380206" y="11506"/>
                  </a:lnTo>
                  <a:lnTo>
                    <a:pt x="0" y="11506"/>
                  </a:lnTo>
                  <a:lnTo>
                    <a:pt x="0" y="34524"/>
                  </a:lnTo>
                  <a:close/>
                </a:path>
              </a:pathLst>
            </a:custGeom>
            <a:ln w="19050">
              <a:solidFill>
                <a:schemeClr val="tx1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1" name="Номер слайда 55">
            <a:extLst>
              <a:ext uri="{FF2B5EF4-FFF2-40B4-BE49-F238E27FC236}">
                <a16:creationId xmlns:a16="http://schemas.microsoft.com/office/drawing/2014/main" id="{504E026F-4F40-42CF-A801-852566ACEC74}"/>
              </a:ext>
            </a:extLst>
          </p:cNvPr>
          <p:cNvSpPr txBox="1">
            <a:spLocks/>
          </p:cNvSpPr>
          <p:nvPr/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kern="0"/>
            </a:defPPr>
            <a:lvl1pPr marL="38100" algn="r">
              <a:lnSpc>
                <a:spcPct val="100000"/>
              </a:lnSpc>
              <a:spcBef>
                <a:spcPts val="244"/>
              </a:spcBef>
              <a:defRPr sz="1500" spc="-25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1D60167-4931-47E6-BA6A-407CBD079E47}" type="slidenum">
              <a:rPr lang="ru-RU"/>
              <a:pPr/>
              <a:t>58</a:t>
            </a:fld>
            <a:endParaRPr lang="ru-RU" dirty="0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609600" y="146049"/>
            <a:ext cx="8159750" cy="1779905"/>
          </a:xfrm>
          <a:custGeom>
            <a:avLst/>
            <a:gdLst/>
            <a:ahLst/>
            <a:cxnLst/>
            <a:rect l="l" t="t" r="r" b="b"/>
            <a:pathLst>
              <a:path w="8159750" h="1779905">
                <a:moveTo>
                  <a:pt x="8159750" y="0"/>
                </a:moveTo>
                <a:lnTo>
                  <a:pt x="506412" y="0"/>
                </a:lnTo>
                <a:lnTo>
                  <a:pt x="506412" y="400050"/>
                </a:lnTo>
                <a:lnTo>
                  <a:pt x="0" y="400050"/>
                </a:lnTo>
                <a:lnTo>
                  <a:pt x="0" y="1779587"/>
                </a:lnTo>
                <a:lnTo>
                  <a:pt x="8159750" y="1779587"/>
                </a:lnTo>
                <a:lnTo>
                  <a:pt x="8159750" y="400050"/>
                </a:lnTo>
                <a:lnTo>
                  <a:pt x="8159750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699758" y="71627"/>
            <a:ext cx="7990205" cy="826508"/>
          </a:xfrm>
          <a:prstGeom prst="rect">
            <a:avLst/>
          </a:prstGeom>
        </p:spPr>
        <p:txBody>
          <a:bodyPr vert="horz" wrap="square" lIns="0" tIns="107315" rIns="0" bIns="0" rtlCol="0">
            <a:spAutoFit/>
          </a:bodyPr>
          <a:lstStyle/>
          <a:p>
            <a:pPr marL="12700" indent="494665" algn="just">
              <a:lnSpc>
                <a:spcPct val="100000"/>
              </a:lnSpc>
              <a:spcBef>
                <a:spcPts val="845"/>
              </a:spcBef>
            </a:pPr>
            <a:r>
              <a:rPr sz="2000" b="1" spc="-10" dirty="0">
                <a:latin typeface="Arial"/>
                <a:cs typeface="Arial"/>
              </a:rPr>
              <a:t>Двухфакторный</a:t>
            </a:r>
            <a:r>
              <a:rPr sz="2000" spc="-50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Arial"/>
                <a:cs typeface="Arial"/>
              </a:rPr>
              <a:t>дисперсионный</a:t>
            </a:r>
            <a:r>
              <a:rPr sz="2000" spc="-45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Arial"/>
                <a:cs typeface="Arial"/>
              </a:rPr>
              <a:t>анализ</a:t>
            </a:r>
            <a:r>
              <a:rPr sz="2000" spc="-45" dirty="0">
                <a:latin typeface="Times New Roman"/>
                <a:cs typeface="Times New Roman"/>
              </a:rPr>
              <a:t> </a:t>
            </a:r>
            <a:r>
              <a:rPr sz="2000" b="1" dirty="0" err="1">
                <a:latin typeface="Arial"/>
                <a:cs typeface="Arial"/>
              </a:rPr>
              <a:t>без</a:t>
            </a:r>
            <a:r>
              <a:rPr sz="2000" spc="-50" dirty="0">
                <a:latin typeface="Times New Roman"/>
                <a:cs typeface="Times New Roman"/>
              </a:rPr>
              <a:t> </a:t>
            </a:r>
            <a:r>
              <a:rPr sz="2000" b="1" spc="-10" dirty="0" err="1">
                <a:latin typeface="Arial"/>
                <a:cs typeface="Arial"/>
              </a:rPr>
              <a:t>повторений</a:t>
            </a:r>
            <a:endParaRPr lang="en-US" sz="2000" b="1" spc="-10" dirty="0">
              <a:latin typeface="Arial"/>
              <a:cs typeface="Arial"/>
            </a:endParaRPr>
          </a:p>
          <a:p>
            <a:pPr marL="12700" indent="494665" algn="just">
              <a:lnSpc>
                <a:spcPct val="100000"/>
              </a:lnSpc>
              <a:spcBef>
                <a:spcPts val="845"/>
              </a:spcBef>
            </a:pPr>
            <a:endParaRPr sz="2000" dirty="0">
              <a:latin typeface="Arial"/>
              <a:cs typeface="Arial"/>
            </a:endParaRPr>
          </a:p>
        </p:txBody>
      </p:sp>
      <p:graphicFrame>
        <p:nvGraphicFramePr>
          <p:cNvPr id="6" name="object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4318118"/>
              </p:ext>
            </p:extLst>
          </p:nvPr>
        </p:nvGraphicFramePr>
        <p:xfrm>
          <a:off x="1514780" y="2503020"/>
          <a:ext cx="6348729" cy="214518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26936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6936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6999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270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2700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461943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700" dirty="0">
                        <a:solidFill>
                          <a:schemeClr val="tx1"/>
                        </a:solidFill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266065" marR="197485" indent="-61594">
                        <a:lnSpc>
                          <a:spcPts val="1610"/>
                        </a:lnSpc>
                        <a:spcBef>
                          <a:spcPts val="40"/>
                        </a:spcBef>
                      </a:pPr>
                      <a:r>
                        <a:rPr sz="1400" b="1" dirty="0">
                          <a:solidFill>
                            <a:schemeClr val="tx1"/>
                          </a:solidFill>
                          <a:latin typeface="Trebuchet MS"/>
                          <a:cs typeface="Trebuchet MS"/>
                        </a:rPr>
                        <a:t>Бензин</a:t>
                      </a:r>
                      <a:r>
                        <a:rPr sz="1400" spc="25" dirty="0">
                          <a:solidFill>
                            <a:schemeClr val="tx1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400" b="1" spc="-25" dirty="0">
                          <a:solidFill>
                            <a:schemeClr val="tx1"/>
                          </a:solidFill>
                          <a:latin typeface="Trebuchet MS"/>
                          <a:cs typeface="Trebuchet MS"/>
                        </a:rPr>
                        <a:t>со</a:t>
                      </a:r>
                      <a:r>
                        <a:rPr sz="1400" spc="-25" dirty="0">
                          <a:solidFill>
                            <a:schemeClr val="tx1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400" b="1" spc="-10" dirty="0">
                          <a:solidFill>
                            <a:schemeClr val="tx1"/>
                          </a:solidFill>
                          <a:latin typeface="Trebuchet MS"/>
                          <a:cs typeface="Trebuchet MS"/>
                        </a:rPr>
                        <a:t>свинцом</a:t>
                      </a:r>
                      <a:endParaRPr sz="1400" dirty="0">
                        <a:solidFill>
                          <a:schemeClr val="tx1"/>
                        </a:solidFill>
                        <a:latin typeface="Trebuchet MS"/>
                        <a:cs typeface="Trebuchet MS"/>
                      </a:endParaRPr>
                    </a:p>
                  </a:txBody>
                  <a:tcPr marL="0" marR="0" marT="508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334010" marR="148590" indent="-177800">
                        <a:lnSpc>
                          <a:spcPts val="1610"/>
                        </a:lnSpc>
                        <a:spcBef>
                          <a:spcPts val="40"/>
                        </a:spcBef>
                      </a:pPr>
                      <a:r>
                        <a:rPr sz="1400" b="1" dirty="0">
                          <a:solidFill>
                            <a:schemeClr val="tx1"/>
                          </a:solidFill>
                          <a:latin typeface="Trebuchet MS"/>
                          <a:cs typeface="Trebuchet MS"/>
                        </a:rPr>
                        <a:t>Бензин</a:t>
                      </a:r>
                      <a:r>
                        <a:rPr sz="1400" spc="25" dirty="0">
                          <a:solidFill>
                            <a:schemeClr val="tx1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400" b="1" spc="-25" dirty="0">
                          <a:solidFill>
                            <a:schemeClr val="tx1"/>
                          </a:solidFill>
                          <a:latin typeface="Trebuchet MS"/>
                          <a:cs typeface="Trebuchet MS"/>
                        </a:rPr>
                        <a:t>без</a:t>
                      </a:r>
                      <a:r>
                        <a:rPr sz="1400" spc="-25" dirty="0">
                          <a:solidFill>
                            <a:schemeClr val="tx1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400" b="1" spc="-10" dirty="0">
                          <a:solidFill>
                            <a:schemeClr val="tx1"/>
                          </a:solidFill>
                          <a:latin typeface="Trebuchet MS"/>
                          <a:cs typeface="Trebuchet MS"/>
                        </a:rPr>
                        <a:t>свинца</a:t>
                      </a:r>
                      <a:endParaRPr sz="1400" dirty="0">
                        <a:solidFill>
                          <a:schemeClr val="tx1"/>
                        </a:solidFill>
                        <a:latin typeface="Trebuchet MS"/>
                        <a:cs typeface="Trebuchet MS"/>
                      </a:endParaRPr>
                    </a:p>
                  </a:txBody>
                  <a:tcPr marL="0" marR="0" marT="508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283210" marR="159385" indent="-116839">
                        <a:lnSpc>
                          <a:spcPts val="1610"/>
                        </a:lnSpc>
                        <a:spcBef>
                          <a:spcPts val="40"/>
                        </a:spcBef>
                      </a:pPr>
                      <a:r>
                        <a:rPr sz="1400" b="1" spc="-10" dirty="0">
                          <a:solidFill>
                            <a:schemeClr val="tx1"/>
                          </a:solidFill>
                          <a:latin typeface="Trebuchet MS"/>
                          <a:cs typeface="Trebuchet MS"/>
                        </a:rPr>
                        <a:t>Дизельное</a:t>
                      </a:r>
                      <a:r>
                        <a:rPr sz="1400" spc="-10" dirty="0">
                          <a:solidFill>
                            <a:schemeClr val="tx1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400" b="1" spc="-10" dirty="0">
                          <a:solidFill>
                            <a:schemeClr val="tx1"/>
                          </a:solidFill>
                          <a:latin typeface="Trebuchet MS"/>
                          <a:cs typeface="Trebuchet MS"/>
                        </a:rPr>
                        <a:t>топливо</a:t>
                      </a:r>
                      <a:endParaRPr sz="1400">
                        <a:solidFill>
                          <a:schemeClr val="tx1"/>
                        </a:solidFill>
                        <a:latin typeface="Trebuchet MS"/>
                        <a:cs typeface="Trebuchet MS"/>
                      </a:endParaRPr>
                    </a:p>
                  </a:txBody>
                  <a:tcPr marL="0" marR="0" marT="508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700" dirty="0">
                          <a:solidFill>
                            <a:schemeClr val="tx1"/>
                          </a:solidFill>
                          <a:latin typeface="Times New Roman"/>
                          <a:cs typeface="Times New Roman"/>
                        </a:rPr>
                        <a:t>Среднее </a:t>
                      </a:r>
                      <a:r>
                        <a:rPr lang="en-US" sz="1700" dirty="0">
                          <a:solidFill>
                            <a:schemeClr val="tx1"/>
                          </a:solidFill>
                          <a:latin typeface="Times New Roman"/>
                          <a:cs typeface="Times New Roman"/>
                        </a:rPr>
                        <a:t>x</a:t>
                      </a:r>
                      <a:r>
                        <a:rPr lang="en-US" sz="1700" baseline="-25000" dirty="0">
                          <a:solidFill>
                            <a:schemeClr val="tx1"/>
                          </a:solidFill>
                          <a:latin typeface="Times New Roman"/>
                          <a:cs typeface="Times New Roman"/>
                        </a:rPr>
                        <a:t>i</a:t>
                      </a:r>
                      <a:endParaRPr sz="1700" dirty="0">
                        <a:solidFill>
                          <a:schemeClr val="tx1"/>
                        </a:solidFill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61943">
                <a:tc>
                  <a:txBody>
                    <a:bodyPr/>
                    <a:lstStyle/>
                    <a:p>
                      <a:pPr marL="66675">
                        <a:lnSpc>
                          <a:spcPts val="1639"/>
                        </a:lnSpc>
                      </a:pPr>
                      <a:r>
                        <a:rPr sz="1400" b="1" spc="-10" dirty="0">
                          <a:solidFill>
                            <a:schemeClr val="tx1"/>
                          </a:solidFill>
                          <a:latin typeface="Trebuchet MS"/>
                          <a:cs typeface="Trebuchet MS"/>
                        </a:rPr>
                        <a:t>1001-</a:t>
                      </a:r>
                      <a:r>
                        <a:rPr sz="1400" b="1" spc="-20" dirty="0">
                          <a:solidFill>
                            <a:schemeClr val="tx1"/>
                          </a:solidFill>
                          <a:latin typeface="Trebuchet MS"/>
                          <a:cs typeface="Trebuchet MS"/>
                        </a:rPr>
                        <a:t>1500</a:t>
                      </a:r>
                      <a:endParaRPr sz="1400" dirty="0">
                        <a:solidFill>
                          <a:schemeClr val="tx1"/>
                        </a:solidFill>
                        <a:latin typeface="Trebuchet MS"/>
                        <a:cs typeface="Trebuchet MS"/>
                      </a:endParaRPr>
                    </a:p>
                    <a:p>
                      <a:pPr marL="66675">
                        <a:lnSpc>
                          <a:spcPts val="1620"/>
                        </a:lnSpc>
                      </a:pPr>
                      <a:r>
                        <a:rPr sz="1400" b="1" spc="-25" dirty="0">
                          <a:solidFill>
                            <a:schemeClr val="tx1"/>
                          </a:solidFill>
                          <a:latin typeface="Trebuchet MS"/>
                          <a:cs typeface="Trebuchet MS"/>
                        </a:rPr>
                        <a:t>см³</a:t>
                      </a:r>
                      <a:endParaRPr sz="1400" dirty="0">
                        <a:solidFill>
                          <a:schemeClr val="tx1"/>
                        </a:solidFill>
                        <a:latin typeface="Trebuchet MS"/>
                        <a:cs typeface="Trebuchet MS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66675">
                        <a:lnSpc>
                          <a:spcPct val="100000"/>
                        </a:lnSpc>
                        <a:spcBef>
                          <a:spcPts val="835"/>
                        </a:spcBef>
                      </a:pPr>
                      <a:r>
                        <a:rPr sz="1400" spc="-25" dirty="0">
                          <a:solidFill>
                            <a:srgbClr val="7030A0"/>
                          </a:solidFill>
                          <a:latin typeface="Trebuchet MS"/>
                          <a:cs typeface="Trebuchet MS"/>
                        </a:rPr>
                        <a:t>9,3</a:t>
                      </a:r>
                      <a:endParaRPr sz="1400" dirty="0">
                        <a:solidFill>
                          <a:srgbClr val="7030A0"/>
                        </a:solidFill>
                        <a:latin typeface="Trebuchet MS"/>
                        <a:cs typeface="Trebuchet MS"/>
                      </a:endParaRPr>
                    </a:p>
                  </a:txBody>
                  <a:tcPr marL="0" marR="0" marT="10604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66675">
                        <a:lnSpc>
                          <a:spcPct val="100000"/>
                        </a:lnSpc>
                        <a:spcBef>
                          <a:spcPts val="835"/>
                        </a:spcBef>
                      </a:pPr>
                      <a:r>
                        <a:rPr sz="1400" spc="-25" dirty="0">
                          <a:solidFill>
                            <a:srgbClr val="7030A0"/>
                          </a:solidFill>
                          <a:latin typeface="Trebuchet MS"/>
                          <a:cs typeface="Trebuchet MS"/>
                        </a:rPr>
                        <a:t>8,9</a:t>
                      </a:r>
                      <a:endParaRPr sz="1400" dirty="0">
                        <a:solidFill>
                          <a:srgbClr val="7030A0"/>
                        </a:solidFill>
                        <a:latin typeface="Trebuchet MS"/>
                        <a:cs typeface="Trebuchet MS"/>
                      </a:endParaRPr>
                    </a:p>
                  </a:txBody>
                  <a:tcPr marL="0" marR="0" marT="10604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66675">
                        <a:lnSpc>
                          <a:spcPct val="100000"/>
                        </a:lnSpc>
                        <a:spcBef>
                          <a:spcPts val="835"/>
                        </a:spcBef>
                      </a:pPr>
                      <a:r>
                        <a:rPr sz="1400" spc="-25" dirty="0">
                          <a:solidFill>
                            <a:srgbClr val="7030A0"/>
                          </a:solidFill>
                          <a:latin typeface="Trebuchet MS"/>
                          <a:cs typeface="Trebuchet MS"/>
                        </a:rPr>
                        <a:t>6,5</a:t>
                      </a:r>
                      <a:endParaRPr sz="1400" dirty="0">
                        <a:solidFill>
                          <a:srgbClr val="7030A0"/>
                        </a:solidFill>
                        <a:latin typeface="Trebuchet MS"/>
                        <a:cs typeface="Trebuchet MS"/>
                      </a:endParaRPr>
                    </a:p>
                  </a:txBody>
                  <a:tcPr marL="0" marR="0" marT="10604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66675">
                        <a:lnSpc>
                          <a:spcPct val="100000"/>
                        </a:lnSpc>
                        <a:spcBef>
                          <a:spcPts val="835"/>
                        </a:spcBef>
                      </a:pPr>
                      <a:r>
                        <a:rPr sz="1400" spc="-20" dirty="0">
                          <a:solidFill>
                            <a:schemeClr val="tx1"/>
                          </a:solidFill>
                          <a:latin typeface="Trebuchet MS"/>
                          <a:cs typeface="Trebuchet MS"/>
                        </a:rPr>
                        <a:t>8,23</a:t>
                      </a:r>
                      <a:endParaRPr sz="1400">
                        <a:solidFill>
                          <a:schemeClr val="tx1"/>
                        </a:solidFill>
                        <a:latin typeface="Trebuchet MS"/>
                        <a:cs typeface="Trebuchet MS"/>
                      </a:endParaRPr>
                    </a:p>
                  </a:txBody>
                  <a:tcPr marL="0" marR="0" marT="10604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61943">
                <a:tc>
                  <a:txBody>
                    <a:bodyPr/>
                    <a:lstStyle/>
                    <a:p>
                      <a:pPr marL="66675">
                        <a:lnSpc>
                          <a:spcPts val="1639"/>
                        </a:lnSpc>
                      </a:pPr>
                      <a:r>
                        <a:rPr sz="1400" b="1" spc="-10" dirty="0">
                          <a:solidFill>
                            <a:schemeClr val="tx1"/>
                          </a:solidFill>
                          <a:latin typeface="Trebuchet MS"/>
                          <a:cs typeface="Trebuchet MS"/>
                        </a:rPr>
                        <a:t>1501-</a:t>
                      </a:r>
                      <a:r>
                        <a:rPr sz="1400" b="1" spc="-20" dirty="0">
                          <a:solidFill>
                            <a:schemeClr val="tx1"/>
                          </a:solidFill>
                          <a:latin typeface="Trebuchet MS"/>
                          <a:cs typeface="Trebuchet MS"/>
                        </a:rPr>
                        <a:t>2000</a:t>
                      </a:r>
                      <a:endParaRPr sz="1400">
                        <a:solidFill>
                          <a:schemeClr val="tx1"/>
                        </a:solidFill>
                        <a:latin typeface="Trebuchet MS"/>
                        <a:cs typeface="Trebuchet MS"/>
                      </a:endParaRPr>
                    </a:p>
                    <a:p>
                      <a:pPr marL="66675">
                        <a:lnSpc>
                          <a:spcPts val="1620"/>
                        </a:lnSpc>
                      </a:pPr>
                      <a:r>
                        <a:rPr sz="1400" b="1" spc="-25" dirty="0">
                          <a:solidFill>
                            <a:schemeClr val="tx1"/>
                          </a:solidFill>
                          <a:latin typeface="Trebuchet MS"/>
                          <a:cs typeface="Trebuchet MS"/>
                        </a:rPr>
                        <a:t>см³</a:t>
                      </a:r>
                      <a:endParaRPr sz="1400">
                        <a:solidFill>
                          <a:schemeClr val="tx1"/>
                        </a:solidFill>
                        <a:latin typeface="Trebuchet MS"/>
                        <a:cs typeface="Trebuchet MS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66675">
                        <a:lnSpc>
                          <a:spcPct val="100000"/>
                        </a:lnSpc>
                        <a:spcBef>
                          <a:spcPts val="835"/>
                        </a:spcBef>
                      </a:pPr>
                      <a:r>
                        <a:rPr sz="1400" spc="-25" dirty="0">
                          <a:solidFill>
                            <a:srgbClr val="7030A0"/>
                          </a:solidFill>
                          <a:latin typeface="Trebuchet MS"/>
                          <a:cs typeface="Trebuchet MS"/>
                        </a:rPr>
                        <a:t>9,4</a:t>
                      </a:r>
                      <a:endParaRPr sz="1400" dirty="0">
                        <a:solidFill>
                          <a:srgbClr val="7030A0"/>
                        </a:solidFill>
                        <a:latin typeface="Trebuchet MS"/>
                        <a:cs typeface="Trebuchet MS"/>
                      </a:endParaRPr>
                    </a:p>
                  </a:txBody>
                  <a:tcPr marL="0" marR="0" marT="10604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66675">
                        <a:lnSpc>
                          <a:spcPct val="100000"/>
                        </a:lnSpc>
                        <a:spcBef>
                          <a:spcPts val="835"/>
                        </a:spcBef>
                      </a:pPr>
                      <a:r>
                        <a:rPr sz="1400" spc="-25" dirty="0">
                          <a:solidFill>
                            <a:srgbClr val="7030A0"/>
                          </a:solidFill>
                          <a:latin typeface="Trebuchet MS"/>
                          <a:cs typeface="Trebuchet MS"/>
                        </a:rPr>
                        <a:t>9,1</a:t>
                      </a:r>
                      <a:endParaRPr sz="1400" dirty="0">
                        <a:solidFill>
                          <a:srgbClr val="7030A0"/>
                        </a:solidFill>
                        <a:latin typeface="Trebuchet MS"/>
                        <a:cs typeface="Trebuchet MS"/>
                      </a:endParaRPr>
                    </a:p>
                  </a:txBody>
                  <a:tcPr marL="0" marR="0" marT="10604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66675">
                        <a:lnSpc>
                          <a:spcPct val="100000"/>
                        </a:lnSpc>
                        <a:spcBef>
                          <a:spcPts val="835"/>
                        </a:spcBef>
                      </a:pPr>
                      <a:r>
                        <a:rPr sz="1400" spc="-25" dirty="0">
                          <a:solidFill>
                            <a:srgbClr val="7030A0"/>
                          </a:solidFill>
                          <a:latin typeface="Trebuchet MS"/>
                          <a:cs typeface="Trebuchet MS"/>
                        </a:rPr>
                        <a:t>7,1</a:t>
                      </a:r>
                      <a:endParaRPr sz="1400" dirty="0">
                        <a:solidFill>
                          <a:srgbClr val="7030A0"/>
                        </a:solidFill>
                        <a:latin typeface="Trebuchet MS"/>
                        <a:cs typeface="Trebuchet MS"/>
                      </a:endParaRPr>
                    </a:p>
                  </a:txBody>
                  <a:tcPr marL="0" marR="0" marT="10604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66675">
                        <a:lnSpc>
                          <a:spcPct val="100000"/>
                        </a:lnSpc>
                        <a:spcBef>
                          <a:spcPts val="835"/>
                        </a:spcBef>
                      </a:pPr>
                      <a:r>
                        <a:rPr sz="1400" spc="-20" dirty="0">
                          <a:solidFill>
                            <a:schemeClr val="tx1"/>
                          </a:solidFill>
                          <a:latin typeface="Trebuchet MS"/>
                          <a:cs typeface="Trebuchet MS"/>
                        </a:rPr>
                        <a:t>8,53</a:t>
                      </a:r>
                      <a:endParaRPr sz="1400" dirty="0">
                        <a:solidFill>
                          <a:schemeClr val="tx1"/>
                        </a:solidFill>
                        <a:latin typeface="Trebuchet MS"/>
                        <a:cs typeface="Trebuchet MS"/>
                      </a:endParaRPr>
                    </a:p>
                  </a:txBody>
                  <a:tcPr marL="0" marR="0" marT="10604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62633">
                <a:tc>
                  <a:txBody>
                    <a:bodyPr/>
                    <a:lstStyle/>
                    <a:p>
                      <a:pPr marL="66675">
                        <a:lnSpc>
                          <a:spcPts val="1639"/>
                        </a:lnSpc>
                        <a:tabLst>
                          <a:tab pos="781050" algn="l"/>
                        </a:tabLst>
                      </a:pPr>
                      <a:r>
                        <a:rPr sz="1400" b="1" spc="-10" dirty="0">
                          <a:solidFill>
                            <a:schemeClr val="tx1"/>
                          </a:solidFill>
                          <a:latin typeface="Trebuchet MS"/>
                          <a:cs typeface="Trebuchet MS"/>
                        </a:rPr>
                        <a:t>Более</a:t>
                      </a:r>
                      <a:r>
                        <a:rPr sz="1400" dirty="0">
                          <a:solidFill>
                            <a:schemeClr val="tx1"/>
                          </a:solidFill>
                          <a:latin typeface="Times New Roman"/>
                          <a:cs typeface="Times New Roman"/>
                        </a:rPr>
                        <a:t>	</a:t>
                      </a:r>
                      <a:r>
                        <a:rPr sz="1400" b="1" spc="-20" dirty="0">
                          <a:solidFill>
                            <a:schemeClr val="tx1"/>
                          </a:solidFill>
                          <a:latin typeface="Trebuchet MS"/>
                          <a:cs typeface="Trebuchet MS"/>
                        </a:rPr>
                        <a:t>2000</a:t>
                      </a:r>
                      <a:endParaRPr sz="1400" dirty="0">
                        <a:solidFill>
                          <a:schemeClr val="tx1"/>
                        </a:solidFill>
                        <a:latin typeface="Trebuchet MS"/>
                        <a:cs typeface="Trebuchet MS"/>
                      </a:endParaRPr>
                    </a:p>
                    <a:p>
                      <a:pPr marL="66675">
                        <a:lnSpc>
                          <a:spcPts val="1620"/>
                        </a:lnSpc>
                      </a:pPr>
                      <a:r>
                        <a:rPr sz="1400" b="1" spc="-25" dirty="0">
                          <a:solidFill>
                            <a:schemeClr val="tx1"/>
                          </a:solidFill>
                          <a:latin typeface="Trebuchet MS"/>
                          <a:cs typeface="Trebuchet MS"/>
                        </a:rPr>
                        <a:t>см³</a:t>
                      </a:r>
                      <a:endParaRPr sz="1400" dirty="0">
                        <a:solidFill>
                          <a:schemeClr val="tx1"/>
                        </a:solidFill>
                        <a:latin typeface="Trebuchet MS"/>
                        <a:cs typeface="Trebuchet MS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66675">
                        <a:lnSpc>
                          <a:spcPct val="100000"/>
                        </a:lnSpc>
                        <a:spcBef>
                          <a:spcPts val="835"/>
                        </a:spcBef>
                      </a:pPr>
                      <a:r>
                        <a:rPr sz="1400" spc="-20" dirty="0">
                          <a:solidFill>
                            <a:srgbClr val="7030A0"/>
                          </a:solidFill>
                          <a:latin typeface="Trebuchet MS"/>
                          <a:cs typeface="Trebuchet MS"/>
                        </a:rPr>
                        <a:t>12,6</a:t>
                      </a:r>
                      <a:endParaRPr sz="1400" dirty="0">
                        <a:solidFill>
                          <a:srgbClr val="7030A0"/>
                        </a:solidFill>
                        <a:latin typeface="Trebuchet MS"/>
                        <a:cs typeface="Trebuchet MS"/>
                      </a:endParaRPr>
                    </a:p>
                  </a:txBody>
                  <a:tcPr marL="0" marR="0" marT="10604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66675">
                        <a:lnSpc>
                          <a:spcPct val="100000"/>
                        </a:lnSpc>
                        <a:spcBef>
                          <a:spcPts val="835"/>
                        </a:spcBef>
                      </a:pPr>
                      <a:r>
                        <a:rPr sz="1400" spc="-25" dirty="0">
                          <a:solidFill>
                            <a:srgbClr val="7030A0"/>
                          </a:solidFill>
                          <a:latin typeface="Trebuchet MS"/>
                          <a:cs typeface="Trebuchet MS"/>
                        </a:rPr>
                        <a:t>9,8</a:t>
                      </a:r>
                      <a:endParaRPr sz="1400" dirty="0">
                        <a:solidFill>
                          <a:srgbClr val="7030A0"/>
                        </a:solidFill>
                        <a:latin typeface="Trebuchet MS"/>
                        <a:cs typeface="Trebuchet MS"/>
                      </a:endParaRPr>
                    </a:p>
                  </a:txBody>
                  <a:tcPr marL="0" marR="0" marT="10604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66675">
                        <a:lnSpc>
                          <a:spcPct val="100000"/>
                        </a:lnSpc>
                        <a:spcBef>
                          <a:spcPts val="835"/>
                        </a:spcBef>
                      </a:pPr>
                      <a:r>
                        <a:rPr sz="1400" spc="-25" dirty="0">
                          <a:solidFill>
                            <a:srgbClr val="7030A0"/>
                          </a:solidFill>
                          <a:latin typeface="Trebuchet MS"/>
                          <a:cs typeface="Trebuchet MS"/>
                        </a:rPr>
                        <a:t>8,0</a:t>
                      </a:r>
                      <a:endParaRPr sz="1400" dirty="0">
                        <a:solidFill>
                          <a:srgbClr val="7030A0"/>
                        </a:solidFill>
                        <a:latin typeface="Trebuchet MS"/>
                        <a:cs typeface="Trebuchet MS"/>
                      </a:endParaRPr>
                    </a:p>
                  </a:txBody>
                  <a:tcPr marL="0" marR="0" marT="10604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66675">
                        <a:lnSpc>
                          <a:spcPct val="100000"/>
                        </a:lnSpc>
                        <a:spcBef>
                          <a:spcPts val="835"/>
                        </a:spcBef>
                      </a:pPr>
                      <a:r>
                        <a:rPr sz="1400" spc="-10" dirty="0">
                          <a:solidFill>
                            <a:schemeClr val="tx1"/>
                          </a:solidFill>
                          <a:latin typeface="Trebuchet MS"/>
                          <a:cs typeface="Trebuchet MS"/>
                        </a:rPr>
                        <a:t>10,13</a:t>
                      </a:r>
                      <a:endParaRPr sz="1400" dirty="0">
                        <a:solidFill>
                          <a:schemeClr val="tx1"/>
                        </a:solidFill>
                        <a:latin typeface="Trebuchet MS"/>
                        <a:cs typeface="Trebuchet MS"/>
                      </a:endParaRPr>
                    </a:p>
                  </a:txBody>
                  <a:tcPr marL="0" marR="0" marT="10604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96718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ru-RU" sz="1700" dirty="0">
                          <a:solidFill>
                            <a:schemeClr val="tx1"/>
                          </a:solidFill>
                          <a:latin typeface="Times New Roman"/>
                          <a:cs typeface="Times New Roman"/>
                        </a:rPr>
                        <a:t>Среднее </a:t>
                      </a:r>
                      <a:r>
                        <a:rPr lang="en-US" sz="1700" dirty="0" err="1">
                          <a:solidFill>
                            <a:schemeClr val="tx1"/>
                          </a:solidFill>
                          <a:latin typeface="Times New Roman"/>
                          <a:cs typeface="Times New Roman"/>
                        </a:rPr>
                        <a:t>x</a:t>
                      </a:r>
                      <a:r>
                        <a:rPr lang="en-US" sz="1700" baseline="-25000" dirty="0" err="1">
                          <a:solidFill>
                            <a:schemeClr val="tx1"/>
                          </a:solidFill>
                          <a:latin typeface="Times New Roman"/>
                          <a:cs typeface="Times New Roman"/>
                        </a:rPr>
                        <a:t>j</a:t>
                      </a:r>
                      <a:endParaRPr sz="1700" baseline="-25000" dirty="0">
                        <a:solidFill>
                          <a:schemeClr val="tx1"/>
                        </a:solidFill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66675">
                        <a:lnSpc>
                          <a:spcPct val="100000"/>
                        </a:lnSpc>
                        <a:spcBef>
                          <a:spcPts val="234"/>
                        </a:spcBef>
                      </a:pPr>
                      <a:r>
                        <a:rPr sz="1400" spc="-10" dirty="0">
                          <a:solidFill>
                            <a:schemeClr val="tx1"/>
                          </a:solidFill>
                          <a:latin typeface="Trebuchet MS"/>
                          <a:cs typeface="Trebuchet MS"/>
                        </a:rPr>
                        <a:t>10,42</a:t>
                      </a:r>
                      <a:endParaRPr sz="1400">
                        <a:solidFill>
                          <a:schemeClr val="tx1"/>
                        </a:solidFill>
                        <a:latin typeface="Trebuchet MS"/>
                        <a:cs typeface="Trebuchet MS"/>
                      </a:endParaRPr>
                    </a:p>
                  </a:txBody>
                  <a:tcPr marL="0" marR="0" marT="29844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66675">
                        <a:lnSpc>
                          <a:spcPct val="100000"/>
                        </a:lnSpc>
                        <a:spcBef>
                          <a:spcPts val="234"/>
                        </a:spcBef>
                      </a:pPr>
                      <a:r>
                        <a:rPr sz="1400" spc="-20" dirty="0">
                          <a:solidFill>
                            <a:schemeClr val="tx1"/>
                          </a:solidFill>
                          <a:latin typeface="Trebuchet MS"/>
                          <a:cs typeface="Trebuchet MS"/>
                        </a:rPr>
                        <a:t>9,27</a:t>
                      </a:r>
                      <a:endParaRPr sz="1400">
                        <a:solidFill>
                          <a:schemeClr val="tx1"/>
                        </a:solidFill>
                        <a:latin typeface="Trebuchet MS"/>
                        <a:cs typeface="Trebuchet MS"/>
                      </a:endParaRPr>
                    </a:p>
                  </a:txBody>
                  <a:tcPr marL="0" marR="0" marT="29844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66675">
                        <a:lnSpc>
                          <a:spcPct val="100000"/>
                        </a:lnSpc>
                        <a:spcBef>
                          <a:spcPts val="234"/>
                        </a:spcBef>
                      </a:pPr>
                      <a:r>
                        <a:rPr sz="1400" spc="-25" dirty="0">
                          <a:solidFill>
                            <a:schemeClr val="tx1"/>
                          </a:solidFill>
                          <a:latin typeface="Trebuchet MS"/>
                          <a:cs typeface="Trebuchet MS"/>
                        </a:rPr>
                        <a:t>7,2</a:t>
                      </a:r>
                      <a:endParaRPr sz="1400" dirty="0">
                        <a:solidFill>
                          <a:schemeClr val="tx1"/>
                        </a:solidFill>
                        <a:latin typeface="Trebuchet MS"/>
                        <a:cs typeface="Trebuchet MS"/>
                      </a:endParaRPr>
                    </a:p>
                  </a:txBody>
                  <a:tcPr marL="0" marR="0" marT="29844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700" dirty="0">
                        <a:solidFill>
                          <a:schemeClr val="tx1"/>
                        </a:solidFill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8" name="object 8"/>
          <p:cNvSpPr txBox="1"/>
          <p:nvPr/>
        </p:nvSpPr>
        <p:spPr>
          <a:xfrm>
            <a:off x="926466" y="5032178"/>
            <a:ext cx="7842884" cy="6350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indent="-635">
              <a:lnSpc>
                <a:spcPct val="100000"/>
              </a:lnSpc>
              <a:spcBef>
                <a:spcPts val="100"/>
              </a:spcBef>
            </a:pPr>
            <a:r>
              <a:rPr sz="2000" spc="-30" dirty="0">
                <a:latin typeface="Arial"/>
                <a:cs typeface="Arial"/>
              </a:rPr>
              <a:t>Требуется</a:t>
            </a:r>
            <a:r>
              <a:rPr sz="2000" spc="-2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Arial"/>
                <a:cs typeface="Arial"/>
              </a:rPr>
              <a:t>проверить,</a:t>
            </a:r>
            <a:r>
              <a:rPr sz="2000" spc="-1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Arial"/>
                <a:cs typeface="Arial"/>
              </a:rPr>
              <a:t>зависит</a:t>
            </a:r>
            <a:r>
              <a:rPr sz="2000" spc="-2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Arial"/>
                <a:cs typeface="Arial"/>
              </a:rPr>
              <a:t>ли</a:t>
            </a:r>
            <a:r>
              <a:rPr sz="2000" spc="-25" dirty="0">
                <a:latin typeface="Times New Roman"/>
                <a:cs typeface="Times New Roman"/>
              </a:rPr>
              <a:t> </a:t>
            </a:r>
            <a:r>
              <a:rPr sz="2000" spc="-10" dirty="0">
                <a:latin typeface="Arial"/>
                <a:cs typeface="Arial"/>
              </a:rPr>
              <a:t>потребление</a:t>
            </a:r>
            <a:r>
              <a:rPr sz="2000" spc="-1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Arial"/>
                <a:cs typeface="Arial"/>
              </a:rPr>
              <a:t>топлива</a:t>
            </a:r>
            <a:r>
              <a:rPr sz="2000" spc="-1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Arial"/>
                <a:cs typeface="Arial"/>
              </a:rPr>
              <a:t>от</a:t>
            </a:r>
            <a:r>
              <a:rPr sz="2000" spc="-25" dirty="0">
                <a:latin typeface="Times New Roman"/>
                <a:cs typeface="Times New Roman"/>
              </a:rPr>
              <a:t> </a:t>
            </a:r>
            <a:r>
              <a:rPr sz="2000" spc="-10" dirty="0">
                <a:latin typeface="Arial"/>
                <a:cs typeface="Arial"/>
              </a:rPr>
              <a:t>объёма</a:t>
            </a:r>
            <a:r>
              <a:rPr sz="2000" spc="-10" dirty="0">
                <a:latin typeface="Times New Roman"/>
                <a:cs typeface="Times New Roman"/>
              </a:rPr>
              <a:t> </a:t>
            </a:r>
            <a:r>
              <a:rPr sz="2000" spc="-10" dirty="0">
                <a:latin typeface="Arial"/>
                <a:cs typeface="Arial"/>
              </a:rPr>
              <a:t>двигателя</a:t>
            </a:r>
            <a:r>
              <a:rPr sz="2000" spc="-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Arial"/>
                <a:cs typeface="Arial"/>
              </a:rPr>
              <a:t>и</a:t>
            </a:r>
            <a:r>
              <a:rPr sz="2000" spc="-1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Arial"/>
                <a:cs typeface="Arial"/>
              </a:rPr>
              <a:t>вида</a:t>
            </a:r>
            <a:r>
              <a:rPr sz="2000" spc="-10" dirty="0">
                <a:latin typeface="Times New Roman"/>
                <a:cs typeface="Times New Roman"/>
              </a:rPr>
              <a:t> </a:t>
            </a:r>
            <a:r>
              <a:rPr sz="2000" spc="-10" dirty="0">
                <a:latin typeface="Arial"/>
                <a:cs typeface="Arial"/>
              </a:rPr>
              <a:t>топлива.</a:t>
            </a:r>
            <a:endParaRPr sz="2000" dirty="0">
              <a:latin typeface="Arial"/>
              <a:cs typeface="Arial"/>
            </a:endParaRPr>
          </a:p>
        </p:txBody>
      </p:sp>
      <p:sp>
        <p:nvSpPr>
          <p:cNvPr id="11" name="Нижний колонтитул 10">
            <a:extLst>
              <a:ext uri="{FF2B5EF4-FFF2-40B4-BE49-F238E27FC236}">
                <a16:creationId xmlns:a16="http://schemas.microsoft.com/office/drawing/2014/main" id="{E190CB44-E469-48D2-A1D7-335F7343A118}"/>
              </a:ext>
            </a:extLst>
          </p:cNvPr>
          <p:cNvSpPr>
            <a:spLocks noGrp="1"/>
          </p:cNvSpPr>
          <p:nvPr>
            <p:ph type="ftr" sz="quarter" idx="5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12" name="Номер слайда 55">
            <a:extLst>
              <a:ext uri="{FF2B5EF4-FFF2-40B4-BE49-F238E27FC236}">
                <a16:creationId xmlns:a16="http://schemas.microsoft.com/office/drawing/2014/main" id="{C2256E3F-9BB1-4528-9BDA-9724F98C6509}"/>
              </a:ext>
            </a:extLst>
          </p:cNvPr>
          <p:cNvSpPr txBox="1">
            <a:spLocks/>
          </p:cNvSpPr>
          <p:nvPr/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kern="0"/>
            </a:defPPr>
            <a:lvl1pPr marL="38100" algn="r">
              <a:lnSpc>
                <a:spcPct val="100000"/>
              </a:lnSpc>
              <a:spcBef>
                <a:spcPts val="244"/>
              </a:spcBef>
              <a:defRPr sz="1500" spc="-25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1D60167-4931-47E6-BA6A-407CBD079E47}" type="slidenum">
              <a:rPr lang="ru-RU"/>
              <a:pPr/>
              <a:t>59</a:t>
            </a:fld>
            <a:endParaRPr lang="ru-RU" dirty="0"/>
          </a:p>
        </p:txBody>
      </p:sp>
      <p:sp>
        <p:nvSpPr>
          <p:cNvPr id="13" name="object 8">
            <a:extLst>
              <a:ext uri="{FF2B5EF4-FFF2-40B4-BE49-F238E27FC236}">
                <a16:creationId xmlns:a16="http://schemas.microsoft.com/office/drawing/2014/main" id="{F8340110-14FE-4ED9-AF0C-93C5B2D7E79F}"/>
              </a:ext>
            </a:extLst>
          </p:cNvPr>
          <p:cNvSpPr txBox="1"/>
          <p:nvPr/>
        </p:nvSpPr>
        <p:spPr>
          <a:xfrm>
            <a:off x="926466" y="1190822"/>
            <a:ext cx="7842884" cy="125675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indent="-635" algn="just">
              <a:spcBef>
                <a:spcPts val="100"/>
              </a:spcBef>
            </a:pPr>
            <a:r>
              <a:rPr lang="ru-RU" sz="2000" b="1" dirty="0">
                <a:latin typeface="Arial"/>
                <a:cs typeface="Arial"/>
              </a:rPr>
              <a:t>Пример.</a:t>
            </a:r>
            <a:r>
              <a:rPr lang="ru-RU" sz="2000" spc="425" dirty="0">
                <a:latin typeface="Times New Roman"/>
                <a:cs typeface="Times New Roman"/>
              </a:rPr>
              <a:t> </a:t>
            </a:r>
            <a:r>
              <a:rPr lang="ru-RU" sz="2000" dirty="0">
                <a:latin typeface="Arial"/>
                <a:cs typeface="Arial"/>
              </a:rPr>
              <a:t>Дана</a:t>
            </a:r>
            <a:r>
              <a:rPr lang="ru-RU" sz="2000" spc="430" dirty="0">
                <a:latin typeface="Times New Roman"/>
                <a:cs typeface="Times New Roman"/>
              </a:rPr>
              <a:t> </a:t>
            </a:r>
            <a:r>
              <a:rPr lang="ru-RU" sz="2000" dirty="0">
                <a:latin typeface="Arial"/>
                <a:cs typeface="Arial"/>
              </a:rPr>
              <a:t>информация</a:t>
            </a:r>
            <a:r>
              <a:rPr lang="ru-RU" sz="2000" spc="434" dirty="0">
                <a:latin typeface="Times New Roman"/>
                <a:cs typeface="Times New Roman"/>
              </a:rPr>
              <a:t> </a:t>
            </a:r>
            <a:r>
              <a:rPr lang="ru-RU" sz="2000" dirty="0">
                <a:latin typeface="Arial"/>
                <a:cs typeface="Arial"/>
              </a:rPr>
              <a:t>о</a:t>
            </a:r>
            <a:r>
              <a:rPr lang="ru-RU" sz="2000" spc="430" dirty="0">
                <a:latin typeface="Times New Roman"/>
                <a:cs typeface="Times New Roman"/>
              </a:rPr>
              <a:t> </a:t>
            </a:r>
            <a:r>
              <a:rPr lang="ru-RU" sz="2000" dirty="0">
                <a:latin typeface="Arial"/>
                <a:cs typeface="Arial"/>
              </a:rPr>
              <a:t>среднем</a:t>
            </a:r>
            <a:r>
              <a:rPr lang="ru-RU" sz="2000" spc="430" dirty="0">
                <a:latin typeface="Times New Roman"/>
                <a:cs typeface="Times New Roman"/>
              </a:rPr>
              <a:t> </a:t>
            </a:r>
            <a:r>
              <a:rPr lang="ru-RU" sz="2000" dirty="0">
                <a:latin typeface="Arial"/>
                <a:cs typeface="Arial"/>
              </a:rPr>
              <a:t>потреблении</a:t>
            </a:r>
            <a:r>
              <a:rPr lang="ru-RU" sz="2000" spc="434" dirty="0">
                <a:latin typeface="Times New Roman"/>
                <a:cs typeface="Times New Roman"/>
              </a:rPr>
              <a:t> </a:t>
            </a:r>
            <a:r>
              <a:rPr lang="ru-RU" sz="2000" dirty="0">
                <a:latin typeface="Arial"/>
                <a:cs typeface="Arial"/>
              </a:rPr>
              <a:t>топлива</a:t>
            </a:r>
            <a:r>
              <a:rPr lang="ru-RU" sz="2000" spc="430" dirty="0">
                <a:latin typeface="Times New Roman"/>
                <a:cs typeface="Times New Roman"/>
              </a:rPr>
              <a:t> </a:t>
            </a:r>
            <a:r>
              <a:rPr lang="ru-RU" sz="2000" spc="-25" dirty="0">
                <a:latin typeface="Arial"/>
                <a:cs typeface="Arial"/>
              </a:rPr>
              <a:t>на</a:t>
            </a:r>
            <a:r>
              <a:rPr lang="ru-RU" sz="2000" spc="-25" dirty="0">
                <a:latin typeface="Times New Roman"/>
                <a:cs typeface="Times New Roman"/>
              </a:rPr>
              <a:t> </a:t>
            </a:r>
            <a:r>
              <a:rPr lang="ru-RU" sz="2000" dirty="0">
                <a:latin typeface="Arial"/>
                <a:cs typeface="Arial"/>
              </a:rPr>
              <a:t>100</a:t>
            </a:r>
            <a:r>
              <a:rPr lang="ru-RU" sz="2000" spc="390" dirty="0">
                <a:latin typeface="Times New Roman"/>
                <a:cs typeface="Times New Roman"/>
              </a:rPr>
              <a:t> </a:t>
            </a:r>
            <a:r>
              <a:rPr lang="ru-RU" sz="2000" dirty="0">
                <a:latin typeface="Arial"/>
                <a:cs typeface="Arial"/>
              </a:rPr>
              <a:t>километров</a:t>
            </a:r>
            <a:r>
              <a:rPr lang="ru-RU" sz="2000" spc="390" dirty="0">
                <a:latin typeface="Times New Roman"/>
                <a:cs typeface="Times New Roman"/>
              </a:rPr>
              <a:t> </a:t>
            </a:r>
            <a:r>
              <a:rPr lang="ru-RU" sz="2000" dirty="0">
                <a:latin typeface="Arial"/>
                <a:cs typeface="Arial"/>
              </a:rPr>
              <a:t>в</a:t>
            </a:r>
            <a:r>
              <a:rPr lang="ru-RU" sz="2000" spc="390" dirty="0">
                <a:latin typeface="Times New Roman"/>
                <a:cs typeface="Times New Roman"/>
              </a:rPr>
              <a:t> </a:t>
            </a:r>
            <a:r>
              <a:rPr lang="ru-RU" sz="2000" dirty="0">
                <a:latin typeface="Arial"/>
                <a:cs typeface="Arial"/>
              </a:rPr>
              <a:t>литрах</a:t>
            </a:r>
            <a:r>
              <a:rPr lang="ru-RU" sz="2000" spc="390" dirty="0">
                <a:latin typeface="Times New Roman"/>
                <a:cs typeface="Times New Roman"/>
              </a:rPr>
              <a:t> </a:t>
            </a:r>
            <a:r>
              <a:rPr lang="ru-RU" sz="2000" dirty="0">
                <a:latin typeface="Arial"/>
                <a:cs typeface="Arial"/>
              </a:rPr>
              <a:t>в</a:t>
            </a:r>
            <a:r>
              <a:rPr lang="ru-RU" sz="2000" spc="390" dirty="0">
                <a:latin typeface="Times New Roman"/>
                <a:cs typeface="Times New Roman"/>
              </a:rPr>
              <a:t> </a:t>
            </a:r>
            <a:r>
              <a:rPr lang="ru-RU" sz="2000" dirty="0">
                <a:latin typeface="Arial"/>
                <a:cs typeface="Arial"/>
              </a:rPr>
              <a:t>зависимости</a:t>
            </a:r>
            <a:r>
              <a:rPr lang="ru-RU" sz="2000" spc="390" dirty="0">
                <a:latin typeface="Times New Roman"/>
                <a:cs typeface="Times New Roman"/>
              </a:rPr>
              <a:t> </a:t>
            </a:r>
            <a:r>
              <a:rPr lang="ru-RU" sz="2000" dirty="0">
                <a:latin typeface="Arial"/>
                <a:cs typeface="Arial"/>
              </a:rPr>
              <a:t>от</a:t>
            </a:r>
            <a:r>
              <a:rPr lang="ru-RU" sz="2000" spc="385" dirty="0">
                <a:latin typeface="Times New Roman"/>
                <a:cs typeface="Times New Roman"/>
              </a:rPr>
              <a:t> </a:t>
            </a:r>
            <a:r>
              <a:rPr lang="ru-RU" sz="2000" dirty="0">
                <a:latin typeface="Arial"/>
                <a:cs typeface="Arial"/>
              </a:rPr>
              <a:t>объёма</a:t>
            </a:r>
            <a:r>
              <a:rPr lang="ru-RU" sz="2000" spc="385" dirty="0">
                <a:latin typeface="Times New Roman"/>
                <a:cs typeface="Times New Roman"/>
              </a:rPr>
              <a:t> </a:t>
            </a:r>
            <a:r>
              <a:rPr lang="ru-RU" sz="2000" dirty="0">
                <a:latin typeface="Arial"/>
                <a:cs typeface="Arial"/>
              </a:rPr>
              <a:t>двигателя</a:t>
            </a:r>
            <a:r>
              <a:rPr lang="ru-RU" sz="2000" spc="390" dirty="0">
                <a:latin typeface="Times New Roman"/>
                <a:cs typeface="Times New Roman"/>
              </a:rPr>
              <a:t> </a:t>
            </a:r>
            <a:r>
              <a:rPr lang="ru-RU" sz="2000" spc="-50" dirty="0">
                <a:latin typeface="Arial"/>
                <a:cs typeface="Arial"/>
              </a:rPr>
              <a:t>и</a:t>
            </a:r>
            <a:r>
              <a:rPr lang="ru-RU" sz="2000" spc="-50" dirty="0">
                <a:latin typeface="Times New Roman"/>
                <a:cs typeface="Times New Roman"/>
              </a:rPr>
              <a:t> </a:t>
            </a:r>
            <a:r>
              <a:rPr lang="ru-RU" sz="2000" dirty="0">
                <a:latin typeface="Arial"/>
                <a:cs typeface="Arial"/>
              </a:rPr>
              <a:t>вида</a:t>
            </a:r>
            <a:r>
              <a:rPr lang="ru-RU" sz="2000" spc="20" dirty="0">
                <a:latin typeface="Times New Roman"/>
                <a:cs typeface="Times New Roman"/>
              </a:rPr>
              <a:t> </a:t>
            </a:r>
            <a:r>
              <a:rPr lang="ru-RU" sz="2000" spc="-10" dirty="0">
                <a:latin typeface="Arial"/>
                <a:cs typeface="Arial"/>
              </a:rPr>
              <a:t>топлива.</a:t>
            </a:r>
            <a:endParaRPr lang="ru-RU" sz="2000" dirty="0">
              <a:latin typeface="Arial"/>
              <a:cs typeface="Arial"/>
            </a:endParaRPr>
          </a:p>
          <a:p>
            <a:pPr marL="12700" marR="5080" indent="-635">
              <a:lnSpc>
                <a:spcPct val="100000"/>
              </a:lnSpc>
              <a:spcBef>
                <a:spcPts val="100"/>
              </a:spcBef>
            </a:pPr>
            <a:endParaRPr sz="2000" dirty="0">
              <a:latin typeface="Arial"/>
              <a:cs typeface="Arial"/>
            </a:endParaRPr>
          </a:p>
        </p:txBody>
      </p:sp>
      <p:cxnSp>
        <p:nvCxnSpPr>
          <p:cNvPr id="15" name="Прямая соединительная линия 14">
            <a:extLst>
              <a:ext uri="{FF2B5EF4-FFF2-40B4-BE49-F238E27FC236}">
                <a16:creationId xmlns:a16="http://schemas.microsoft.com/office/drawing/2014/main" id="{F3313F6F-9303-404B-8749-7BA5F34D0422}"/>
              </a:ext>
            </a:extLst>
          </p:cNvPr>
          <p:cNvCxnSpPr>
            <a:cxnSpLocks/>
          </p:cNvCxnSpPr>
          <p:nvPr/>
        </p:nvCxnSpPr>
        <p:spPr>
          <a:xfrm>
            <a:off x="2286000" y="4419600"/>
            <a:ext cx="152400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8" name="Прямая соединительная линия 17">
            <a:extLst>
              <a:ext uri="{FF2B5EF4-FFF2-40B4-BE49-F238E27FC236}">
                <a16:creationId xmlns:a16="http://schemas.microsoft.com/office/drawing/2014/main" id="{5F8F14B5-A38D-4F61-9306-B871B83B3697}"/>
              </a:ext>
            </a:extLst>
          </p:cNvPr>
          <p:cNvCxnSpPr/>
          <p:nvPr/>
        </p:nvCxnSpPr>
        <p:spPr>
          <a:xfrm>
            <a:off x="7391400" y="2590800"/>
            <a:ext cx="152400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object 7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6248400" y="371640"/>
            <a:ext cx="2855595" cy="1152360"/>
          </a:xfrm>
          <a:prstGeom prst="rect">
            <a:avLst/>
          </a:prstGeom>
        </p:spPr>
      </p:pic>
      <p:pic>
        <p:nvPicPr>
          <p:cNvPr id="8" name="object 8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6115050" y="1975992"/>
            <a:ext cx="2598420" cy="2078111"/>
          </a:xfrm>
          <a:prstGeom prst="rect">
            <a:avLst/>
          </a:prstGeom>
        </p:spPr>
      </p:pic>
      <p:pic>
        <p:nvPicPr>
          <p:cNvPr id="9" name="object 9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6115050" y="4253321"/>
            <a:ext cx="2519464" cy="1410647"/>
          </a:xfrm>
          <a:prstGeom prst="rect">
            <a:avLst/>
          </a:prstGeom>
        </p:spPr>
      </p:pic>
      <p:pic>
        <p:nvPicPr>
          <p:cNvPr id="11" name="object 11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1226821" y="2667000"/>
            <a:ext cx="3226436" cy="2617609"/>
          </a:xfrm>
          <a:prstGeom prst="rect">
            <a:avLst/>
          </a:prstGeom>
        </p:spPr>
      </p:pic>
      <p:pic>
        <p:nvPicPr>
          <p:cNvPr id="12" name="object 12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841630" y="5837724"/>
            <a:ext cx="3505200" cy="365126"/>
          </a:xfrm>
          <a:prstGeom prst="rect">
            <a:avLst/>
          </a:prstGeom>
        </p:spPr>
      </p:pic>
      <p:pic>
        <p:nvPicPr>
          <p:cNvPr id="14" name="object 14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4577714" y="5834675"/>
            <a:ext cx="4227195" cy="365125"/>
          </a:xfrm>
          <a:prstGeom prst="rect">
            <a:avLst/>
          </a:prstGeom>
        </p:spPr>
      </p:pic>
      <p:sp>
        <p:nvSpPr>
          <p:cNvPr id="18" name="Нижний колонтитул 17">
            <a:extLst>
              <a:ext uri="{FF2B5EF4-FFF2-40B4-BE49-F238E27FC236}">
                <a16:creationId xmlns:a16="http://schemas.microsoft.com/office/drawing/2014/main" id="{B0857C87-9698-4A45-8BD1-27A505C7C3C5}"/>
              </a:ext>
            </a:extLst>
          </p:cNvPr>
          <p:cNvSpPr>
            <a:spLocks noGrp="1"/>
          </p:cNvSpPr>
          <p:nvPr>
            <p:ph type="ftr" sz="quarter" idx="5"/>
          </p:nvPr>
        </p:nvSpPr>
        <p:spPr/>
        <p:txBody>
          <a:bodyPr/>
          <a:lstStyle/>
          <a:p>
            <a:endParaRPr lang="ru-RU"/>
          </a:p>
        </p:txBody>
      </p:sp>
      <p:graphicFrame>
        <p:nvGraphicFramePr>
          <p:cNvPr id="19" name="object 6">
            <a:extLst>
              <a:ext uri="{FF2B5EF4-FFF2-40B4-BE49-F238E27FC236}">
                <a16:creationId xmlns:a16="http://schemas.microsoft.com/office/drawing/2014/main" id="{77EBE83C-6313-46C3-91C4-B583695CD65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36997324"/>
              </p:ext>
            </p:extLst>
          </p:nvPr>
        </p:nvGraphicFramePr>
        <p:xfrm>
          <a:off x="685801" y="136524"/>
          <a:ext cx="5334001" cy="1891982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0664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664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6701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6701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067014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97232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700" dirty="0">
                        <a:solidFill>
                          <a:schemeClr val="tx1"/>
                        </a:solidFill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266065" marR="197485" indent="-61594">
                        <a:lnSpc>
                          <a:spcPts val="1610"/>
                        </a:lnSpc>
                        <a:spcBef>
                          <a:spcPts val="40"/>
                        </a:spcBef>
                      </a:pPr>
                      <a:r>
                        <a:rPr sz="1050" b="1" dirty="0">
                          <a:solidFill>
                            <a:schemeClr val="tx1"/>
                          </a:solidFill>
                          <a:latin typeface="Trebuchet MS"/>
                          <a:cs typeface="Trebuchet MS"/>
                        </a:rPr>
                        <a:t>Б</a:t>
                      </a:r>
                      <a:r>
                        <a:rPr lang="ru-RU" sz="1050" b="1" dirty="0">
                          <a:solidFill>
                            <a:schemeClr val="tx1"/>
                          </a:solidFill>
                          <a:latin typeface="Trebuchet MS"/>
                          <a:cs typeface="Trebuchet MS"/>
                        </a:rPr>
                        <a:t>е</a:t>
                      </a:r>
                      <a:r>
                        <a:rPr sz="1050" b="1" dirty="0">
                          <a:solidFill>
                            <a:schemeClr val="tx1"/>
                          </a:solidFill>
                          <a:latin typeface="Trebuchet MS"/>
                          <a:cs typeface="Trebuchet MS"/>
                        </a:rPr>
                        <a:t>н</a:t>
                      </a:r>
                      <a:r>
                        <a:rPr lang="ru-RU" sz="1050" b="1" dirty="0">
                          <a:solidFill>
                            <a:schemeClr val="tx1"/>
                          </a:solidFill>
                          <a:latin typeface="Trebuchet MS"/>
                          <a:cs typeface="Trebuchet MS"/>
                        </a:rPr>
                        <a:t>з</a:t>
                      </a:r>
                      <a:r>
                        <a:rPr sz="1050" b="1" dirty="0">
                          <a:solidFill>
                            <a:schemeClr val="tx1"/>
                          </a:solidFill>
                          <a:latin typeface="Trebuchet MS"/>
                          <a:cs typeface="Trebuchet MS"/>
                        </a:rPr>
                        <a:t>и</a:t>
                      </a:r>
                      <a:r>
                        <a:rPr lang="ru-RU" sz="1050" b="1" dirty="0">
                          <a:solidFill>
                            <a:schemeClr val="tx1"/>
                          </a:solidFill>
                          <a:latin typeface="Trebuchet MS"/>
                          <a:cs typeface="Trebuchet MS"/>
                        </a:rPr>
                        <a:t>н</a:t>
                      </a:r>
                      <a:r>
                        <a:rPr lang="en-US" sz="1050" b="1" spc="25" dirty="0">
                          <a:solidFill>
                            <a:schemeClr val="tx1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lang="ru-RU" sz="1050" b="1" spc="-25" dirty="0">
                          <a:solidFill>
                            <a:schemeClr val="tx1"/>
                          </a:solidFill>
                          <a:latin typeface="Trebuchet MS"/>
                          <a:cs typeface="Trebuchet MS"/>
                        </a:rPr>
                        <a:t>со</a:t>
                      </a:r>
                      <a:r>
                        <a:rPr lang="en-US" sz="1050" b="1" spc="-25" dirty="0">
                          <a:solidFill>
                            <a:schemeClr val="tx1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lang="ru-RU" sz="1050" b="1" spc="-10" dirty="0" err="1">
                          <a:solidFill>
                            <a:schemeClr val="tx1"/>
                          </a:solidFill>
                          <a:latin typeface="Trebuchet MS"/>
                          <a:cs typeface="Trebuchet MS"/>
                        </a:rPr>
                        <a:t>св</a:t>
                      </a:r>
                      <a:r>
                        <a:rPr sz="1050" b="1" spc="-10" dirty="0">
                          <a:solidFill>
                            <a:schemeClr val="tx1"/>
                          </a:solidFill>
                          <a:latin typeface="Trebuchet MS"/>
                          <a:cs typeface="Trebuchet MS"/>
                        </a:rPr>
                        <a:t>и</a:t>
                      </a:r>
                      <a:r>
                        <a:rPr lang="ru-RU" sz="1050" b="1" spc="-10" dirty="0">
                          <a:solidFill>
                            <a:schemeClr val="tx1"/>
                          </a:solidFill>
                          <a:latin typeface="Trebuchet MS"/>
                          <a:cs typeface="Trebuchet MS"/>
                        </a:rPr>
                        <a:t>н</a:t>
                      </a:r>
                      <a:r>
                        <a:rPr sz="1050" b="1" spc="-10" dirty="0">
                          <a:solidFill>
                            <a:schemeClr val="tx1"/>
                          </a:solidFill>
                          <a:latin typeface="Trebuchet MS"/>
                          <a:cs typeface="Trebuchet MS"/>
                        </a:rPr>
                        <a:t>ц</a:t>
                      </a:r>
                      <a:r>
                        <a:rPr lang="ru-RU" sz="1050" b="1" spc="-10" dirty="0">
                          <a:solidFill>
                            <a:schemeClr val="tx1"/>
                          </a:solidFill>
                          <a:latin typeface="Trebuchet MS"/>
                          <a:cs typeface="Trebuchet MS"/>
                        </a:rPr>
                        <a:t>о</a:t>
                      </a:r>
                      <a:r>
                        <a:rPr sz="1050" b="1" spc="-10" dirty="0">
                          <a:solidFill>
                            <a:schemeClr val="tx1"/>
                          </a:solidFill>
                          <a:latin typeface="Trebuchet MS"/>
                          <a:cs typeface="Trebuchet MS"/>
                        </a:rPr>
                        <a:t>м</a:t>
                      </a:r>
                      <a:endParaRPr sz="1050" dirty="0">
                        <a:solidFill>
                          <a:schemeClr val="tx1"/>
                        </a:solidFill>
                        <a:latin typeface="Trebuchet MS"/>
                        <a:cs typeface="Trebuchet MS"/>
                      </a:endParaRPr>
                    </a:p>
                  </a:txBody>
                  <a:tcPr marL="0" marR="0" marT="508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334010" marR="148590" indent="-177800">
                        <a:lnSpc>
                          <a:spcPts val="1610"/>
                        </a:lnSpc>
                        <a:spcBef>
                          <a:spcPts val="40"/>
                        </a:spcBef>
                      </a:pPr>
                      <a:r>
                        <a:rPr sz="1050" b="1" dirty="0">
                          <a:solidFill>
                            <a:schemeClr val="tx1"/>
                          </a:solidFill>
                          <a:latin typeface="Trebuchet MS"/>
                          <a:cs typeface="Trebuchet MS"/>
                        </a:rPr>
                        <a:t>Бензин</a:t>
                      </a:r>
                      <a:r>
                        <a:rPr sz="1050" spc="25" dirty="0">
                          <a:solidFill>
                            <a:schemeClr val="tx1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050" b="1" spc="-25" dirty="0">
                          <a:solidFill>
                            <a:schemeClr val="tx1"/>
                          </a:solidFill>
                          <a:latin typeface="Trebuchet MS"/>
                          <a:cs typeface="Trebuchet MS"/>
                        </a:rPr>
                        <a:t>без</a:t>
                      </a:r>
                      <a:r>
                        <a:rPr sz="1050" spc="-25" dirty="0">
                          <a:solidFill>
                            <a:schemeClr val="tx1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050" b="1" spc="-10" dirty="0">
                          <a:solidFill>
                            <a:schemeClr val="tx1"/>
                          </a:solidFill>
                          <a:latin typeface="Trebuchet MS"/>
                          <a:cs typeface="Trebuchet MS"/>
                        </a:rPr>
                        <a:t>свинца</a:t>
                      </a:r>
                      <a:endParaRPr sz="1050" dirty="0">
                        <a:solidFill>
                          <a:schemeClr val="tx1"/>
                        </a:solidFill>
                        <a:latin typeface="Trebuchet MS"/>
                        <a:cs typeface="Trebuchet MS"/>
                      </a:endParaRPr>
                    </a:p>
                  </a:txBody>
                  <a:tcPr marL="0" marR="0" marT="508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283210" marR="159385" indent="-116839">
                        <a:lnSpc>
                          <a:spcPts val="1610"/>
                        </a:lnSpc>
                        <a:spcBef>
                          <a:spcPts val="40"/>
                        </a:spcBef>
                      </a:pPr>
                      <a:r>
                        <a:rPr sz="1050" b="1" spc="-10" dirty="0">
                          <a:solidFill>
                            <a:schemeClr val="tx1"/>
                          </a:solidFill>
                          <a:latin typeface="Trebuchet MS"/>
                          <a:cs typeface="Trebuchet MS"/>
                        </a:rPr>
                        <a:t>Дизельное</a:t>
                      </a:r>
                      <a:r>
                        <a:rPr sz="1050" spc="-10" dirty="0">
                          <a:solidFill>
                            <a:schemeClr val="tx1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050" b="1" spc="-10" dirty="0">
                          <a:solidFill>
                            <a:schemeClr val="tx1"/>
                          </a:solidFill>
                          <a:latin typeface="Trebuchet MS"/>
                          <a:cs typeface="Trebuchet MS"/>
                        </a:rPr>
                        <a:t>топливо</a:t>
                      </a:r>
                      <a:endParaRPr sz="1050" dirty="0">
                        <a:solidFill>
                          <a:schemeClr val="tx1"/>
                        </a:solidFill>
                        <a:latin typeface="Trebuchet MS"/>
                        <a:cs typeface="Trebuchet MS"/>
                      </a:endParaRPr>
                    </a:p>
                  </a:txBody>
                  <a:tcPr marL="0" marR="0" marT="508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283210" marR="159385" lvl="0" indent="-116839" algn="l" defTabSz="685800" rtl="0" eaLnBrk="1" fontAlgn="auto" latinLnBrk="0" hangingPunct="1">
                        <a:lnSpc>
                          <a:spcPts val="1610"/>
                        </a:lnSpc>
                        <a:spcBef>
                          <a:spcPts val="4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050" b="1" kern="1200" spc="-10" dirty="0">
                          <a:solidFill>
                            <a:schemeClr val="tx1"/>
                          </a:solidFill>
                          <a:latin typeface="Trebuchet MS"/>
                          <a:ea typeface="+mn-ea"/>
                          <a:cs typeface="Times New Roman"/>
                        </a:rPr>
                        <a:t>Среднее </a:t>
                      </a:r>
                      <a:r>
                        <a:rPr lang="en-US" sz="1050" b="1" kern="1200" spc="-10" dirty="0">
                          <a:solidFill>
                            <a:schemeClr val="tx1"/>
                          </a:solidFill>
                          <a:latin typeface="Trebuchet MS"/>
                          <a:ea typeface="+mn-ea"/>
                          <a:cs typeface="Times New Roman"/>
                        </a:rPr>
                        <a:t>x</a:t>
                      </a:r>
                      <a:r>
                        <a:rPr lang="en-US" sz="1050" b="1" kern="1200" spc="-10" baseline="-25000" dirty="0">
                          <a:solidFill>
                            <a:schemeClr val="tx1"/>
                          </a:solidFill>
                          <a:latin typeface="Trebuchet MS"/>
                          <a:ea typeface="+mn-ea"/>
                          <a:cs typeface="Times New Roman"/>
                        </a:rPr>
                        <a:t>i</a:t>
                      </a:r>
                      <a:endParaRPr sz="1050" b="1" kern="1200" spc="-10" baseline="-25000" dirty="0">
                        <a:solidFill>
                          <a:schemeClr val="tx1"/>
                        </a:solidFill>
                        <a:latin typeface="Trebuchet MS"/>
                        <a:ea typeface="+mn-ea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97232">
                <a:tc>
                  <a:txBody>
                    <a:bodyPr/>
                    <a:lstStyle/>
                    <a:p>
                      <a:pPr marL="66675">
                        <a:lnSpc>
                          <a:spcPts val="1639"/>
                        </a:lnSpc>
                      </a:pPr>
                      <a:r>
                        <a:rPr sz="1050" b="1" spc="-10" dirty="0">
                          <a:solidFill>
                            <a:schemeClr val="tx1"/>
                          </a:solidFill>
                          <a:latin typeface="Trebuchet MS"/>
                          <a:cs typeface="Trebuchet MS"/>
                        </a:rPr>
                        <a:t>1001-</a:t>
                      </a:r>
                      <a:r>
                        <a:rPr sz="1050" b="1" spc="-20" dirty="0">
                          <a:solidFill>
                            <a:schemeClr val="tx1"/>
                          </a:solidFill>
                          <a:latin typeface="Trebuchet MS"/>
                          <a:cs typeface="Trebuchet MS"/>
                        </a:rPr>
                        <a:t>1500</a:t>
                      </a:r>
                      <a:r>
                        <a:rPr lang="en-US" sz="1050" b="0" spc="0" dirty="0">
                          <a:solidFill>
                            <a:schemeClr val="tx1"/>
                          </a:solidFill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050" b="1" spc="-25" dirty="0">
                          <a:solidFill>
                            <a:schemeClr val="tx1"/>
                          </a:solidFill>
                          <a:latin typeface="Trebuchet MS"/>
                          <a:cs typeface="Trebuchet MS"/>
                        </a:rPr>
                        <a:t>см³</a:t>
                      </a:r>
                      <a:endParaRPr sz="1050" dirty="0">
                        <a:solidFill>
                          <a:schemeClr val="tx1"/>
                        </a:solidFill>
                        <a:latin typeface="Trebuchet MS"/>
                        <a:cs typeface="Trebuchet MS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66675">
                        <a:lnSpc>
                          <a:spcPct val="100000"/>
                        </a:lnSpc>
                        <a:spcBef>
                          <a:spcPts val="835"/>
                        </a:spcBef>
                      </a:pPr>
                      <a:r>
                        <a:rPr sz="1400" spc="-25" dirty="0">
                          <a:solidFill>
                            <a:srgbClr val="7030A0"/>
                          </a:solidFill>
                          <a:latin typeface="Trebuchet MS"/>
                          <a:cs typeface="Trebuchet MS"/>
                        </a:rPr>
                        <a:t>9,3</a:t>
                      </a:r>
                      <a:endParaRPr sz="1400" dirty="0">
                        <a:solidFill>
                          <a:srgbClr val="7030A0"/>
                        </a:solidFill>
                        <a:latin typeface="Trebuchet MS"/>
                        <a:cs typeface="Trebuchet MS"/>
                      </a:endParaRPr>
                    </a:p>
                  </a:txBody>
                  <a:tcPr marL="0" marR="0" marT="10604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66675">
                        <a:lnSpc>
                          <a:spcPct val="100000"/>
                        </a:lnSpc>
                        <a:spcBef>
                          <a:spcPts val="835"/>
                        </a:spcBef>
                      </a:pPr>
                      <a:r>
                        <a:rPr sz="1400" spc="-25" dirty="0">
                          <a:solidFill>
                            <a:srgbClr val="7030A0"/>
                          </a:solidFill>
                          <a:latin typeface="Trebuchet MS"/>
                          <a:cs typeface="Trebuchet MS"/>
                        </a:rPr>
                        <a:t>8,9</a:t>
                      </a:r>
                      <a:endParaRPr sz="1400" dirty="0">
                        <a:solidFill>
                          <a:srgbClr val="7030A0"/>
                        </a:solidFill>
                        <a:latin typeface="Trebuchet MS"/>
                        <a:cs typeface="Trebuchet MS"/>
                      </a:endParaRPr>
                    </a:p>
                  </a:txBody>
                  <a:tcPr marL="0" marR="0" marT="10604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66675">
                        <a:lnSpc>
                          <a:spcPct val="100000"/>
                        </a:lnSpc>
                        <a:spcBef>
                          <a:spcPts val="835"/>
                        </a:spcBef>
                      </a:pPr>
                      <a:r>
                        <a:rPr sz="1400" spc="-25" dirty="0">
                          <a:solidFill>
                            <a:srgbClr val="7030A0"/>
                          </a:solidFill>
                          <a:latin typeface="Trebuchet MS"/>
                          <a:cs typeface="Trebuchet MS"/>
                        </a:rPr>
                        <a:t>6,5</a:t>
                      </a:r>
                      <a:endParaRPr sz="1400" dirty="0">
                        <a:solidFill>
                          <a:srgbClr val="7030A0"/>
                        </a:solidFill>
                        <a:latin typeface="Trebuchet MS"/>
                        <a:cs typeface="Trebuchet MS"/>
                      </a:endParaRPr>
                    </a:p>
                  </a:txBody>
                  <a:tcPr marL="0" marR="0" marT="10604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66675">
                        <a:lnSpc>
                          <a:spcPct val="100000"/>
                        </a:lnSpc>
                        <a:spcBef>
                          <a:spcPts val="835"/>
                        </a:spcBef>
                      </a:pPr>
                      <a:r>
                        <a:rPr sz="1400" spc="-20" dirty="0">
                          <a:solidFill>
                            <a:schemeClr val="tx1"/>
                          </a:solidFill>
                          <a:latin typeface="Trebuchet MS"/>
                          <a:cs typeface="Trebuchet MS"/>
                        </a:rPr>
                        <a:t>8,23</a:t>
                      </a:r>
                      <a:endParaRPr sz="1400" dirty="0">
                        <a:solidFill>
                          <a:schemeClr val="tx1"/>
                        </a:solidFill>
                        <a:latin typeface="Trebuchet MS"/>
                        <a:cs typeface="Trebuchet MS"/>
                      </a:endParaRPr>
                    </a:p>
                  </a:txBody>
                  <a:tcPr marL="0" marR="0" marT="10604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40612">
                <a:tc>
                  <a:txBody>
                    <a:bodyPr/>
                    <a:lstStyle/>
                    <a:p>
                      <a:pPr marL="66675">
                        <a:lnSpc>
                          <a:spcPts val="1639"/>
                        </a:lnSpc>
                      </a:pPr>
                      <a:r>
                        <a:rPr sz="1050" b="1" spc="-10" dirty="0">
                          <a:solidFill>
                            <a:schemeClr val="tx1"/>
                          </a:solidFill>
                          <a:latin typeface="Trebuchet MS"/>
                          <a:cs typeface="Trebuchet MS"/>
                        </a:rPr>
                        <a:t>1501-</a:t>
                      </a:r>
                      <a:r>
                        <a:rPr sz="1050" b="1" spc="-20" dirty="0">
                          <a:solidFill>
                            <a:schemeClr val="tx1"/>
                          </a:solidFill>
                          <a:latin typeface="Trebuchet MS"/>
                          <a:cs typeface="Trebuchet MS"/>
                        </a:rPr>
                        <a:t>2000</a:t>
                      </a:r>
                      <a:r>
                        <a:rPr lang="en-US" sz="1050" b="0" spc="0" dirty="0">
                          <a:solidFill>
                            <a:schemeClr val="tx1"/>
                          </a:solidFill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050" b="1" spc="-25" dirty="0">
                          <a:solidFill>
                            <a:schemeClr val="tx1"/>
                          </a:solidFill>
                          <a:latin typeface="Trebuchet MS"/>
                          <a:cs typeface="Trebuchet MS"/>
                        </a:rPr>
                        <a:t>см³</a:t>
                      </a:r>
                      <a:endParaRPr sz="1050" dirty="0">
                        <a:solidFill>
                          <a:schemeClr val="tx1"/>
                        </a:solidFill>
                        <a:latin typeface="Trebuchet MS"/>
                        <a:cs typeface="Trebuchet MS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66675">
                        <a:lnSpc>
                          <a:spcPct val="100000"/>
                        </a:lnSpc>
                        <a:spcBef>
                          <a:spcPts val="835"/>
                        </a:spcBef>
                      </a:pPr>
                      <a:r>
                        <a:rPr sz="1400" spc="-25" dirty="0">
                          <a:solidFill>
                            <a:srgbClr val="7030A0"/>
                          </a:solidFill>
                          <a:latin typeface="Trebuchet MS"/>
                          <a:cs typeface="Trebuchet MS"/>
                        </a:rPr>
                        <a:t>9,4</a:t>
                      </a:r>
                      <a:endParaRPr sz="1400" dirty="0">
                        <a:solidFill>
                          <a:srgbClr val="7030A0"/>
                        </a:solidFill>
                        <a:latin typeface="Trebuchet MS"/>
                        <a:cs typeface="Trebuchet MS"/>
                      </a:endParaRPr>
                    </a:p>
                  </a:txBody>
                  <a:tcPr marL="0" marR="0" marT="10604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66675">
                        <a:lnSpc>
                          <a:spcPct val="100000"/>
                        </a:lnSpc>
                        <a:spcBef>
                          <a:spcPts val="835"/>
                        </a:spcBef>
                      </a:pPr>
                      <a:r>
                        <a:rPr sz="1400" spc="-25" dirty="0">
                          <a:solidFill>
                            <a:srgbClr val="7030A0"/>
                          </a:solidFill>
                          <a:latin typeface="Trebuchet MS"/>
                          <a:cs typeface="Trebuchet MS"/>
                        </a:rPr>
                        <a:t>9,1</a:t>
                      </a:r>
                      <a:endParaRPr sz="1400" dirty="0">
                        <a:solidFill>
                          <a:srgbClr val="7030A0"/>
                        </a:solidFill>
                        <a:latin typeface="Trebuchet MS"/>
                        <a:cs typeface="Trebuchet MS"/>
                      </a:endParaRPr>
                    </a:p>
                  </a:txBody>
                  <a:tcPr marL="0" marR="0" marT="10604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66675">
                        <a:lnSpc>
                          <a:spcPct val="100000"/>
                        </a:lnSpc>
                        <a:spcBef>
                          <a:spcPts val="835"/>
                        </a:spcBef>
                      </a:pPr>
                      <a:r>
                        <a:rPr sz="1400" spc="-25" dirty="0">
                          <a:solidFill>
                            <a:srgbClr val="7030A0"/>
                          </a:solidFill>
                          <a:latin typeface="Trebuchet MS"/>
                          <a:cs typeface="Trebuchet MS"/>
                        </a:rPr>
                        <a:t>7,1</a:t>
                      </a:r>
                      <a:endParaRPr sz="1400" dirty="0">
                        <a:solidFill>
                          <a:srgbClr val="7030A0"/>
                        </a:solidFill>
                        <a:latin typeface="Trebuchet MS"/>
                        <a:cs typeface="Trebuchet MS"/>
                      </a:endParaRPr>
                    </a:p>
                  </a:txBody>
                  <a:tcPr marL="0" marR="0" marT="10604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66675">
                        <a:lnSpc>
                          <a:spcPct val="100000"/>
                        </a:lnSpc>
                        <a:spcBef>
                          <a:spcPts val="835"/>
                        </a:spcBef>
                      </a:pPr>
                      <a:r>
                        <a:rPr sz="1400" spc="-20" dirty="0">
                          <a:solidFill>
                            <a:schemeClr val="tx1"/>
                          </a:solidFill>
                          <a:latin typeface="Trebuchet MS"/>
                          <a:cs typeface="Trebuchet MS"/>
                        </a:rPr>
                        <a:t>8,53</a:t>
                      </a:r>
                      <a:endParaRPr sz="1400" dirty="0">
                        <a:solidFill>
                          <a:schemeClr val="tx1"/>
                        </a:solidFill>
                        <a:latin typeface="Trebuchet MS"/>
                        <a:cs typeface="Trebuchet MS"/>
                      </a:endParaRPr>
                    </a:p>
                  </a:txBody>
                  <a:tcPr marL="0" marR="0" marT="10604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97826">
                <a:tc>
                  <a:txBody>
                    <a:bodyPr/>
                    <a:lstStyle/>
                    <a:p>
                      <a:pPr marL="66675">
                        <a:lnSpc>
                          <a:spcPts val="1639"/>
                        </a:lnSpc>
                        <a:tabLst>
                          <a:tab pos="781050" algn="l"/>
                        </a:tabLst>
                      </a:pPr>
                      <a:r>
                        <a:rPr sz="1050" b="1" spc="-10" dirty="0">
                          <a:solidFill>
                            <a:schemeClr val="tx1"/>
                          </a:solidFill>
                          <a:latin typeface="Trebuchet MS"/>
                          <a:cs typeface="Trebuchet MS"/>
                        </a:rPr>
                        <a:t>Б</a:t>
                      </a:r>
                      <a:r>
                        <a:rPr lang="ru-RU" sz="1050" b="1" spc="-10" dirty="0">
                          <a:solidFill>
                            <a:schemeClr val="tx1"/>
                          </a:solidFill>
                          <a:latin typeface="Trebuchet MS"/>
                          <a:cs typeface="Trebuchet MS"/>
                        </a:rPr>
                        <a:t>о</a:t>
                      </a:r>
                      <a:r>
                        <a:rPr sz="1050" b="1" spc="-10" dirty="0" err="1">
                          <a:solidFill>
                            <a:schemeClr val="tx1"/>
                          </a:solidFill>
                          <a:latin typeface="Trebuchet MS"/>
                          <a:cs typeface="Trebuchet MS"/>
                        </a:rPr>
                        <a:t>ле</a:t>
                      </a:r>
                      <a:r>
                        <a:rPr lang="ru-RU" sz="1050" b="1" spc="-10" dirty="0">
                          <a:solidFill>
                            <a:schemeClr val="tx1"/>
                          </a:solidFill>
                          <a:latin typeface="Trebuchet MS"/>
                          <a:cs typeface="Trebuchet MS"/>
                        </a:rPr>
                        <a:t>е</a:t>
                      </a:r>
                      <a:r>
                        <a:rPr lang="en-US" sz="1050" b="1" spc="-10" dirty="0">
                          <a:solidFill>
                            <a:schemeClr val="tx1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050" b="1" spc="-20" dirty="0">
                          <a:solidFill>
                            <a:schemeClr val="tx1"/>
                          </a:solidFill>
                          <a:latin typeface="Trebuchet MS"/>
                          <a:cs typeface="Trebuchet MS"/>
                        </a:rPr>
                        <a:t>2000</a:t>
                      </a:r>
                      <a:r>
                        <a:rPr lang="en-US" sz="1050" b="0" spc="0" dirty="0">
                          <a:solidFill>
                            <a:schemeClr val="tx1"/>
                          </a:solidFill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050" b="1" spc="-25" dirty="0">
                          <a:solidFill>
                            <a:schemeClr val="tx1"/>
                          </a:solidFill>
                          <a:latin typeface="Trebuchet MS"/>
                          <a:cs typeface="Trebuchet MS"/>
                        </a:rPr>
                        <a:t>см³</a:t>
                      </a:r>
                      <a:endParaRPr sz="1050" dirty="0">
                        <a:solidFill>
                          <a:schemeClr val="tx1"/>
                        </a:solidFill>
                        <a:latin typeface="Trebuchet MS"/>
                        <a:cs typeface="Trebuchet MS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66675">
                        <a:lnSpc>
                          <a:spcPct val="100000"/>
                        </a:lnSpc>
                        <a:spcBef>
                          <a:spcPts val="835"/>
                        </a:spcBef>
                      </a:pPr>
                      <a:r>
                        <a:rPr sz="1400" spc="-20" dirty="0">
                          <a:solidFill>
                            <a:srgbClr val="7030A0"/>
                          </a:solidFill>
                          <a:latin typeface="Trebuchet MS"/>
                          <a:cs typeface="Trebuchet MS"/>
                        </a:rPr>
                        <a:t>12,6</a:t>
                      </a:r>
                      <a:endParaRPr sz="1400" dirty="0">
                        <a:solidFill>
                          <a:srgbClr val="7030A0"/>
                        </a:solidFill>
                        <a:latin typeface="Trebuchet MS"/>
                        <a:cs typeface="Trebuchet MS"/>
                      </a:endParaRPr>
                    </a:p>
                  </a:txBody>
                  <a:tcPr marL="0" marR="0" marT="10604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66675">
                        <a:lnSpc>
                          <a:spcPct val="100000"/>
                        </a:lnSpc>
                        <a:spcBef>
                          <a:spcPts val="835"/>
                        </a:spcBef>
                      </a:pPr>
                      <a:r>
                        <a:rPr sz="1400" spc="-25" dirty="0">
                          <a:solidFill>
                            <a:srgbClr val="7030A0"/>
                          </a:solidFill>
                          <a:latin typeface="Trebuchet MS"/>
                          <a:cs typeface="Trebuchet MS"/>
                        </a:rPr>
                        <a:t>9,8</a:t>
                      </a:r>
                      <a:endParaRPr sz="1400" dirty="0">
                        <a:solidFill>
                          <a:srgbClr val="7030A0"/>
                        </a:solidFill>
                        <a:latin typeface="Trebuchet MS"/>
                        <a:cs typeface="Trebuchet MS"/>
                      </a:endParaRPr>
                    </a:p>
                  </a:txBody>
                  <a:tcPr marL="0" marR="0" marT="10604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66675">
                        <a:lnSpc>
                          <a:spcPct val="100000"/>
                        </a:lnSpc>
                        <a:spcBef>
                          <a:spcPts val="835"/>
                        </a:spcBef>
                      </a:pPr>
                      <a:r>
                        <a:rPr sz="1400" spc="-25" dirty="0">
                          <a:solidFill>
                            <a:srgbClr val="7030A0"/>
                          </a:solidFill>
                          <a:latin typeface="Trebuchet MS"/>
                          <a:cs typeface="Trebuchet MS"/>
                        </a:rPr>
                        <a:t>8,0</a:t>
                      </a:r>
                      <a:endParaRPr sz="1400" dirty="0">
                        <a:solidFill>
                          <a:srgbClr val="7030A0"/>
                        </a:solidFill>
                        <a:latin typeface="Trebuchet MS"/>
                        <a:cs typeface="Trebuchet MS"/>
                      </a:endParaRPr>
                    </a:p>
                  </a:txBody>
                  <a:tcPr marL="0" marR="0" marT="10604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66675">
                        <a:lnSpc>
                          <a:spcPct val="100000"/>
                        </a:lnSpc>
                        <a:spcBef>
                          <a:spcPts val="835"/>
                        </a:spcBef>
                      </a:pPr>
                      <a:r>
                        <a:rPr sz="1400" spc="-10" dirty="0">
                          <a:solidFill>
                            <a:schemeClr val="tx1"/>
                          </a:solidFill>
                          <a:latin typeface="Trebuchet MS"/>
                          <a:cs typeface="Trebuchet MS"/>
                        </a:rPr>
                        <a:t>10,13</a:t>
                      </a:r>
                      <a:endParaRPr sz="1400" dirty="0">
                        <a:solidFill>
                          <a:schemeClr val="tx1"/>
                        </a:solidFill>
                        <a:latin typeface="Trebuchet MS"/>
                        <a:cs typeface="Trebuchet MS"/>
                      </a:endParaRPr>
                    </a:p>
                  </a:txBody>
                  <a:tcPr marL="0" marR="0" marT="10604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55153">
                <a:tc>
                  <a:txBody>
                    <a:bodyPr/>
                    <a:lstStyle/>
                    <a:p>
                      <a:pPr marL="92075" indent="0">
                        <a:lnSpc>
                          <a:spcPct val="100000"/>
                        </a:lnSpc>
                      </a:pPr>
                      <a:r>
                        <a:rPr lang="ru-RU" sz="1050" b="1" kern="1200" spc="-10" dirty="0">
                          <a:solidFill>
                            <a:schemeClr val="tx1"/>
                          </a:solidFill>
                          <a:latin typeface="Trebuchet MS"/>
                          <a:ea typeface="+mn-ea"/>
                          <a:cs typeface="Times New Roman"/>
                        </a:rPr>
                        <a:t>Среднее </a:t>
                      </a:r>
                      <a:r>
                        <a:rPr lang="en-US" sz="1050" b="1" kern="1200" spc="-10" dirty="0" err="1">
                          <a:solidFill>
                            <a:schemeClr val="tx1"/>
                          </a:solidFill>
                          <a:latin typeface="Trebuchet MS"/>
                          <a:ea typeface="+mn-ea"/>
                          <a:cs typeface="Times New Roman"/>
                        </a:rPr>
                        <a:t>x</a:t>
                      </a:r>
                      <a:r>
                        <a:rPr lang="en-US" sz="1050" b="1" kern="1200" spc="-10" baseline="-25000" dirty="0" err="1">
                          <a:solidFill>
                            <a:schemeClr val="tx1"/>
                          </a:solidFill>
                          <a:latin typeface="Trebuchet MS"/>
                          <a:ea typeface="+mn-ea"/>
                          <a:cs typeface="Times New Roman"/>
                        </a:rPr>
                        <a:t>j</a:t>
                      </a:r>
                      <a:endParaRPr sz="1050" b="1" kern="1200" spc="-10" baseline="-25000" dirty="0">
                        <a:solidFill>
                          <a:schemeClr val="tx1"/>
                        </a:solidFill>
                        <a:latin typeface="Trebuchet MS"/>
                        <a:ea typeface="+mn-ea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66675">
                        <a:lnSpc>
                          <a:spcPct val="100000"/>
                        </a:lnSpc>
                        <a:spcBef>
                          <a:spcPts val="234"/>
                        </a:spcBef>
                      </a:pPr>
                      <a:r>
                        <a:rPr sz="1400" spc="-10" dirty="0">
                          <a:solidFill>
                            <a:schemeClr val="tx1"/>
                          </a:solidFill>
                          <a:latin typeface="Trebuchet MS"/>
                          <a:cs typeface="Trebuchet MS"/>
                        </a:rPr>
                        <a:t>10,42</a:t>
                      </a:r>
                      <a:endParaRPr sz="1400">
                        <a:solidFill>
                          <a:schemeClr val="tx1"/>
                        </a:solidFill>
                        <a:latin typeface="Trebuchet MS"/>
                        <a:cs typeface="Trebuchet MS"/>
                      </a:endParaRPr>
                    </a:p>
                  </a:txBody>
                  <a:tcPr marL="0" marR="0" marT="29844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66675">
                        <a:lnSpc>
                          <a:spcPct val="100000"/>
                        </a:lnSpc>
                        <a:spcBef>
                          <a:spcPts val="234"/>
                        </a:spcBef>
                      </a:pPr>
                      <a:r>
                        <a:rPr sz="1400" spc="-20" dirty="0">
                          <a:solidFill>
                            <a:schemeClr val="tx1"/>
                          </a:solidFill>
                          <a:latin typeface="Trebuchet MS"/>
                          <a:cs typeface="Trebuchet MS"/>
                        </a:rPr>
                        <a:t>9,27</a:t>
                      </a:r>
                      <a:endParaRPr sz="1400">
                        <a:solidFill>
                          <a:schemeClr val="tx1"/>
                        </a:solidFill>
                        <a:latin typeface="Trebuchet MS"/>
                        <a:cs typeface="Trebuchet MS"/>
                      </a:endParaRPr>
                    </a:p>
                  </a:txBody>
                  <a:tcPr marL="0" marR="0" marT="29844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66675">
                        <a:lnSpc>
                          <a:spcPct val="100000"/>
                        </a:lnSpc>
                        <a:spcBef>
                          <a:spcPts val="234"/>
                        </a:spcBef>
                      </a:pPr>
                      <a:r>
                        <a:rPr sz="1400" spc="-25" dirty="0">
                          <a:solidFill>
                            <a:schemeClr val="tx1"/>
                          </a:solidFill>
                          <a:latin typeface="Trebuchet MS"/>
                          <a:cs typeface="Trebuchet MS"/>
                        </a:rPr>
                        <a:t>7,2</a:t>
                      </a:r>
                      <a:endParaRPr sz="1400" dirty="0">
                        <a:solidFill>
                          <a:schemeClr val="tx1"/>
                        </a:solidFill>
                        <a:latin typeface="Trebuchet MS"/>
                        <a:cs typeface="Trebuchet MS"/>
                      </a:endParaRPr>
                    </a:p>
                  </a:txBody>
                  <a:tcPr marL="0" marR="0" marT="29844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700" dirty="0">
                        <a:solidFill>
                          <a:schemeClr val="tx1"/>
                        </a:solidFill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cxnSp>
        <p:nvCxnSpPr>
          <p:cNvPr id="25" name="Прямая соединительная линия 24">
            <a:extLst>
              <a:ext uri="{FF2B5EF4-FFF2-40B4-BE49-F238E27FC236}">
                <a16:creationId xmlns:a16="http://schemas.microsoft.com/office/drawing/2014/main" id="{9BF14DBF-7912-4239-BB1B-D746D51A651A}"/>
              </a:ext>
            </a:extLst>
          </p:cNvPr>
          <p:cNvCxnSpPr>
            <a:cxnSpLocks/>
          </p:cNvCxnSpPr>
          <p:nvPr/>
        </p:nvCxnSpPr>
        <p:spPr>
          <a:xfrm>
            <a:off x="5692140" y="175260"/>
            <a:ext cx="99060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9" name="Прямая соединительная линия 28">
            <a:extLst>
              <a:ext uri="{FF2B5EF4-FFF2-40B4-BE49-F238E27FC236}">
                <a16:creationId xmlns:a16="http://schemas.microsoft.com/office/drawing/2014/main" id="{180889FB-FFFA-40B6-8EDB-02FF355DA43B}"/>
              </a:ext>
            </a:extLst>
          </p:cNvPr>
          <p:cNvCxnSpPr>
            <a:cxnSpLocks/>
          </p:cNvCxnSpPr>
          <p:nvPr/>
        </p:nvCxnSpPr>
        <p:spPr>
          <a:xfrm>
            <a:off x="1362075" y="1806575"/>
            <a:ext cx="76200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0" name="Номер слайда 55">
            <a:extLst>
              <a:ext uri="{FF2B5EF4-FFF2-40B4-BE49-F238E27FC236}">
                <a16:creationId xmlns:a16="http://schemas.microsoft.com/office/drawing/2014/main" id="{47CA461E-B1AD-439A-BD30-E82FD7402CD1}"/>
              </a:ext>
            </a:extLst>
          </p:cNvPr>
          <p:cNvSpPr txBox="1">
            <a:spLocks/>
          </p:cNvSpPr>
          <p:nvPr/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kern="0"/>
            </a:defPPr>
            <a:lvl1pPr marL="38100" algn="r">
              <a:lnSpc>
                <a:spcPct val="100000"/>
              </a:lnSpc>
              <a:spcBef>
                <a:spcPts val="244"/>
              </a:spcBef>
              <a:defRPr sz="1500" spc="-25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1D60167-4931-47E6-BA6A-407CBD079E47}" type="slidenum">
              <a:rPr lang="ru-RU"/>
              <a:pPr/>
              <a:t>60</a:t>
            </a:fld>
            <a:endParaRPr lang="ru-RU" dirty="0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1000125" y="146050"/>
            <a:ext cx="7704455" cy="400050"/>
          </a:xfrm>
          <a:custGeom>
            <a:avLst/>
            <a:gdLst/>
            <a:ahLst/>
            <a:cxnLst/>
            <a:rect l="l" t="t" r="r" b="b"/>
            <a:pathLst>
              <a:path w="7704455" h="400050">
                <a:moveTo>
                  <a:pt x="7704137" y="0"/>
                </a:moveTo>
                <a:lnTo>
                  <a:pt x="0" y="0"/>
                </a:lnTo>
                <a:lnTo>
                  <a:pt x="0" y="400050"/>
                </a:lnTo>
                <a:lnTo>
                  <a:pt x="7704137" y="400050"/>
                </a:lnTo>
                <a:lnTo>
                  <a:pt x="7704137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1000125" y="115273"/>
            <a:ext cx="7886700" cy="559639"/>
          </a:xfrm>
          <a:prstGeom prst="rect">
            <a:avLst/>
          </a:prstGeom>
        </p:spPr>
        <p:txBody>
          <a:bodyPr vert="horz" wrap="square" lIns="0" tIns="188467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100"/>
              </a:spcBef>
            </a:pPr>
            <a:r>
              <a:rPr sz="2400" spc="-10" dirty="0">
                <a:latin typeface="+mn-lt"/>
                <a:cs typeface="Arial"/>
              </a:rPr>
              <a:t>Двухфакторный</a:t>
            </a:r>
            <a:r>
              <a:rPr sz="2400" b="0" spc="-40" dirty="0">
                <a:latin typeface="+mn-lt"/>
                <a:cs typeface="Times New Roman"/>
              </a:rPr>
              <a:t> </a:t>
            </a:r>
            <a:r>
              <a:rPr sz="2400" dirty="0">
                <a:latin typeface="+mn-lt"/>
                <a:cs typeface="Arial"/>
              </a:rPr>
              <a:t>дисперсионный</a:t>
            </a:r>
            <a:r>
              <a:rPr sz="2400" b="0" spc="-40" dirty="0">
                <a:latin typeface="+mn-lt"/>
                <a:cs typeface="Times New Roman"/>
              </a:rPr>
              <a:t> </a:t>
            </a:r>
            <a:r>
              <a:rPr sz="2400" dirty="0">
                <a:latin typeface="+mn-lt"/>
                <a:cs typeface="Arial"/>
              </a:rPr>
              <a:t>анализ</a:t>
            </a:r>
            <a:r>
              <a:rPr sz="2400" b="0" spc="-40" dirty="0">
                <a:latin typeface="+mn-lt"/>
                <a:cs typeface="Times New Roman"/>
              </a:rPr>
              <a:t> </a:t>
            </a:r>
            <a:r>
              <a:rPr sz="2400" dirty="0">
                <a:latin typeface="+mn-lt"/>
                <a:cs typeface="Arial"/>
              </a:rPr>
              <a:t>с</a:t>
            </a:r>
            <a:r>
              <a:rPr sz="2400" b="0" spc="-40" dirty="0">
                <a:latin typeface="+mn-lt"/>
                <a:cs typeface="Times New Roman"/>
              </a:rPr>
              <a:t> </a:t>
            </a:r>
            <a:r>
              <a:rPr sz="2400" spc="-10" dirty="0">
                <a:latin typeface="+mn-lt"/>
                <a:cs typeface="Arial"/>
              </a:rPr>
              <a:t>повторениями</a:t>
            </a:r>
            <a:endParaRPr sz="2400" dirty="0">
              <a:latin typeface="+mn-lt"/>
              <a:cs typeface="Arial"/>
            </a:endParaRPr>
          </a:p>
        </p:txBody>
      </p:sp>
      <p:sp>
        <p:nvSpPr>
          <p:cNvPr id="7" name="Нижний колонтитул 6">
            <a:extLst>
              <a:ext uri="{FF2B5EF4-FFF2-40B4-BE49-F238E27FC236}">
                <a16:creationId xmlns:a16="http://schemas.microsoft.com/office/drawing/2014/main" id="{9771E99F-9DC4-44D9-AA86-EAD2F08F8F6B}"/>
              </a:ext>
            </a:extLst>
          </p:cNvPr>
          <p:cNvSpPr>
            <a:spLocks noGrp="1"/>
          </p:cNvSpPr>
          <p:nvPr>
            <p:ph type="ftr" sz="quarter" idx="5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432689" y="1219200"/>
            <a:ext cx="8281416" cy="4821936"/>
          </a:xfrm>
          <a:prstGeom prst="rect">
            <a:avLst/>
          </a:prstGeom>
        </p:spPr>
      </p:pic>
      <p:sp>
        <p:nvSpPr>
          <p:cNvPr id="8" name="Номер слайда 55">
            <a:extLst>
              <a:ext uri="{FF2B5EF4-FFF2-40B4-BE49-F238E27FC236}">
                <a16:creationId xmlns:a16="http://schemas.microsoft.com/office/drawing/2014/main" id="{9857038B-A87C-4718-87A2-76145B63482B}"/>
              </a:ext>
            </a:extLst>
          </p:cNvPr>
          <p:cNvSpPr txBox="1">
            <a:spLocks/>
          </p:cNvSpPr>
          <p:nvPr/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kern="0"/>
            </a:defPPr>
            <a:lvl1pPr marL="38100" algn="r">
              <a:lnSpc>
                <a:spcPct val="100000"/>
              </a:lnSpc>
              <a:spcBef>
                <a:spcPts val="244"/>
              </a:spcBef>
              <a:defRPr sz="1500" spc="-25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1D60167-4931-47E6-BA6A-407CBD079E47}" type="slidenum">
              <a:rPr lang="ru-RU"/>
              <a:pPr/>
              <a:t>61</a:t>
            </a:fld>
            <a:endParaRPr lang="ru-RU" dirty="0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1000125" y="146050"/>
            <a:ext cx="7704455" cy="400050"/>
          </a:xfrm>
          <a:custGeom>
            <a:avLst/>
            <a:gdLst/>
            <a:ahLst/>
            <a:cxnLst/>
            <a:rect l="l" t="t" r="r" b="b"/>
            <a:pathLst>
              <a:path w="7704455" h="400050">
                <a:moveTo>
                  <a:pt x="7704137" y="0"/>
                </a:moveTo>
                <a:lnTo>
                  <a:pt x="0" y="0"/>
                </a:lnTo>
                <a:lnTo>
                  <a:pt x="0" y="400050"/>
                </a:lnTo>
                <a:lnTo>
                  <a:pt x="7704137" y="400050"/>
                </a:lnTo>
                <a:lnTo>
                  <a:pt x="7704137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1000125" y="66255"/>
            <a:ext cx="7886700" cy="559639"/>
          </a:xfrm>
          <a:prstGeom prst="rect">
            <a:avLst/>
          </a:prstGeom>
        </p:spPr>
        <p:txBody>
          <a:bodyPr vert="horz" wrap="square" lIns="0" tIns="188467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100"/>
              </a:spcBef>
            </a:pPr>
            <a:r>
              <a:rPr sz="2400" spc="-10" dirty="0">
                <a:latin typeface="+mn-lt"/>
                <a:cs typeface="Arial"/>
              </a:rPr>
              <a:t>Двухфакторный</a:t>
            </a:r>
            <a:r>
              <a:rPr sz="2400" b="0" spc="-40" dirty="0">
                <a:latin typeface="+mn-lt"/>
                <a:cs typeface="Times New Roman"/>
              </a:rPr>
              <a:t> </a:t>
            </a:r>
            <a:r>
              <a:rPr sz="2400" dirty="0">
                <a:latin typeface="+mn-lt"/>
                <a:cs typeface="Arial"/>
              </a:rPr>
              <a:t>дисперсионный</a:t>
            </a:r>
            <a:r>
              <a:rPr sz="2400" b="0" spc="-40" dirty="0">
                <a:latin typeface="+mn-lt"/>
                <a:cs typeface="Times New Roman"/>
              </a:rPr>
              <a:t> </a:t>
            </a:r>
            <a:r>
              <a:rPr sz="2400" dirty="0">
                <a:latin typeface="+mn-lt"/>
                <a:cs typeface="Arial"/>
              </a:rPr>
              <a:t>анализ</a:t>
            </a:r>
            <a:r>
              <a:rPr sz="2400" b="0" spc="-40" dirty="0">
                <a:latin typeface="+mn-lt"/>
                <a:cs typeface="Times New Roman"/>
              </a:rPr>
              <a:t> </a:t>
            </a:r>
            <a:r>
              <a:rPr sz="2400" dirty="0">
                <a:latin typeface="+mn-lt"/>
                <a:cs typeface="Arial"/>
              </a:rPr>
              <a:t>с</a:t>
            </a:r>
            <a:r>
              <a:rPr sz="2400" b="0" spc="-40" dirty="0">
                <a:latin typeface="+mn-lt"/>
                <a:cs typeface="Times New Roman"/>
              </a:rPr>
              <a:t> </a:t>
            </a:r>
            <a:r>
              <a:rPr sz="2400" spc="-10" dirty="0">
                <a:latin typeface="+mn-lt"/>
                <a:cs typeface="Arial"/>
              </a:rPr>
              <a:t>повторениями</a:t>
            </a:r>
            <a:endParaRPr sz="2400" dirty="0">
              <a:latin typeface="+mn-lt"/>
              <a:cs typeface="Arial"/>
            </a:endParaRPr>
          </a:p>
        </p:txBody>
      </p:sp>
      <p:sp>
        <p:nvSpPr>
          <p:cNvPr id="10" name="Нижний колонтитул 9">
            <a:extLst>
              <a:ext uri="{FF2B5EF4-FFF2-40B4-BE49-F238E27FC236}">
                <a16:creationId xmlns:a16="http://schemas.microsoft.com/office/drawing/2014/main" id="{712ACDB1-A96B-4831-ABD1-4A4A7F353655}"/>
              </a:ext>
            </a:extLst>
          </p:cNvPr>
          <p:cNvSpPr>
            <a:spLocks noGrp="1"/>
          </p:cNvSpPr>
          <p:nvPr>
            <p:ph type="ftr" sz="quarter" idx="5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481583" y="893063"/>
            <a:ext cx="4035552" cy="5141976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4868036" y="827741"/>
            <a:ext cx="3810065" cy="836729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4868036" y="1806212"/>
            <a:ext cx="3925380" cy="4325366"/>
          </a:xfrm>
          <a:prstGeom prst="rect">
            <a:avLst/>
          </a:prstGeom>
        </p:spPr>
      </p:pic>
      <p:sp>
        <p:nvSpPr>
          <p:cNvPr id="11" name="Номер слайда 55">
            <a:extLst>
              <a:ext uri="{FF2B5EF4-FFF2-40B4-BE49-F238E27FC236}">
                <a16:creationId xmlns:a16="http://schemas.microsoft.com/office/drawing/2014/main" id="{8F9B0A28-C3D5-4B37-B834-BB6BC1933D65}"/>
              </a:ext>
            </a:extLst>
          </p:cNvPr>
          <p:cNvSpPr txBox="1">
            <a:spLocks/>
          </p:cNvSpPr>
          <p:nvPr/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kern="0"/>
            </a:defPPr>
            <a:lvl1pPr marL="38100" algn="r">
              <a:lnSpc>
                <a:spcPct val="100000"/>
              </a:lnSpc>
              <a:spcBef>
                <a:spcPts val="244"/>
              </a:spcBef>
              <a:defRPr sz="1500" spc="-25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1D60167-4931-47E6-BA6A-407CBD079E47}" type="slidenum">
              <a:rPr lang="ru-RU"/>
              <a:pPr/>
              <a:t>62</a:t>
            </a:fld>
            <a:endParaRPr lang="ru-RU" dirty="0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1000125" y="146050"/>
            <a:ext cx="7704455" cy="400050"/>
          </a:xfrm>
          <a:custGeom>
            <a:avLst/>
            <a:gdLst/>
            <a:ahLst/>
            <a:cxnLst/>
            <a:rect l="l" t="t" r="r" b="b"/>
            <a:pathLst>
              <a:path w="7704455" h="400050">
                <a:moveTo>
                  <a:pt x="7704137" y="0"/>
                </a:moveTo>
                <a:lnTo>
                  <a:pt x="0" y="0"/>
                </a:lnTo>
                <a:lnTo>
                  <a:pt x="0" y="400050"/>
                </a:lnTo>
                <a:lnTo>
                  <a:pt x="7704137" y="400050"/>
                </a:lnTo>
                <a:lnTo>
                  <a:pt x="7704137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692658" y="146050"/>
            <a:ext cx="7886700" cy="498084"/>
          </a:xfrm>
          <a:prstGeom prst="rect">
            <a:avLst/>
          </a:prstGeom>
        </p:spPr>
        <p:txBody>
          <a:bodyPr vert="horz" wrap="square" lIns="0" tIns="188467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100"/>
              </a:spcBef>
            </a:pPr>
            <a:r>
              <a:rPr sz="2000" spc="-10" dirty="0">
                <a:latin typeface="Arial"/>
                <a:cs typeface="Arial"/>
              </a:rPr>
              <a:t>Двухфакторный</a:t>
            </a:r>
            <a:r>
              <a:rPr sz="2000" b="0" spc="-4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Arial"/>
                <a:cs typeface="Arial"/>
              </a:rPr>
              <a:t>дисперсионный</a:t>
            </a:r>
            <a:r>
              <a:rPr sz="2000" b="0" spc="-4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Arial"/>
                <a:cs typeface="Arial"/>
              </a:rPr>
              <a:t>анализ</a:t>
            </a:r>
            <a:r>
              <a:rPr sz="2000" b="0" spc="-4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Arial"/>
                <a:cs typeface="Arial"/>
              </a:rPr>
              <a:t>с</a:t>
            </a:r>
            <a:r>
              <a:rPr sz="2000" b="0" spc="-40" dirty="0">
                <a:latin typeface="Times New Roman"/>
                <a:cs typeface="Times New Roman"/>
              </a:rPr>
              <a:t> </a:t>
            </a:r>
            <a:r>
              <a:rPr sz="2000" spc="-10" dirty="0">
                <a:latin typeface="Arial"/>
                <a:cs typeface="Arial"/>
              </a:rPr>
              <a:t>повторениями</a:t>
            </a:r>
            <a:endParaRPr sz="2000" dirty="0">
              <a:latin typeface="Arial"/>
              <a:cs typeface="Arial"/>
            </a:endParaRPr>
          </a:p>
        </p:txBody>
      </p:sp>
      <p:sp>
        <p:nvSpPr>
          <p:cNvPr id="8" name="Нижний колонтитул 7">
            <a:extLst>
              <a:ext uri="{FF2B5EF4-FFF2-40B4-BE49-F238E27FC236}">
                <a16:creationId xmlns:a16="http://schemas.microsoft.com/office/drawing/2014/main" id="{698B0E44-683E-4941-AE9B-FB339B7A60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284732" y="1226693"/>
            <a:ext cx="6574536" cy="1551432"/>
          </a:xfrm>
          <a:prstGeom prst="rect">
            <a:avLst/>
          </a:prstGeom>
        </p:spPr>
      </p:pic>
      <p:sp>
        <p:nvSpPr>
          <p:cNvPr id="5" name="object 5"/>
          <p:cNvSpPr txBox="1"/>
          <p:nvPr/>
        </p:nvSpPr>
        <p:spPr>
          <a:xfrm>
            <a:off x="656082" y="3048000"/>
            <a:ext cx="4583430" cy="27686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93065" indent="-342265">
              <a:lnSpc>
                <a:spcPct val="100000"/>
              </a:lnSpc>
              <a:spcBef>
                <a:spcPts val="100"/>
              </a:spcBef>
              <a:buFont typeface="Symbol"/>
              <a:buChar char=""/>
              <a:tabLst>
                <a:tab pos="393065" algn="l"/>
              </a:tabLst>
            </a:pPr>
            <a:r>
              <a:rPr sz="2000" b="1" dirty="0">
                <a:latin typeface="Times New Roman"/>
                <a:cs typeface="Times New Roman"/>
              </a:rPr>
              <a:t>для</a:t>
            </a:r>
            <a:r>
              <a:rPr sz="2000" spc="-70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первого</a:t>
            </a:r>
            <a:r>
              <a:rPr sz="2000" spc="-75" dirty="0">
                <a:latin typeface="Times New Roman"/>
                <a:cs typeface="Times New Roman"/>
              </a:rPr>
              <a:t> </a:t>
            </a:r>
            <a:r>
              <a:rPr sz="2000" b="1" spc="-10" dirty="0">
                <a:latin typeface="Times New Roman"/>
                <a:cs typeface="Times New Roman"/>
              </a:rPr>
              <a:t>фактора:</a:t>
            </a:r>
            <a:endParaRPr sz="2000" dirty="0">
              <a:latin typeface="Times New Roman"/>
              <a:cs typeface="Times New Roman"/>
            </a:endParaRPr>
          </a:p>
          <a:p>
            <a:pPr marL="50800">
              <a:lnSpc>
                <a:spcPct val="100000"/>
              </a:lnSpc>
            </a:pPr>
            <a:r>
              <a:rPr sz="2000" dirty="0">
                <a:latin typeface="Times New Roman"/>
                <a:cs typeface="Times New Roman"/>
              </a:rPr>
              <a:t>H</a:t>
            </a:r>
            <a:r>
              <a:rPr sz="1950" baseline="-17094" dirty="0">
                <a:latin typeface="Times New Roman"/>
                <a:cs typeface="Times New Roman"/>
              </a:rPr>
              <a:t>0</a:t>
            </a:r>
            <a:r>
              <a:rPr sz="2000" dirty="0">
                <a:latin typeface="Times New Roman"/>
                <a:cs typeface="Times New Roman"/>
              </a:rPr>
              <a:t>:</a:t>
            </a:r>
            <a:r>
              <a:rPr sz="2000" spc="-3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µ</a:t>
            </a:r>
            <a:r>
              <a:rPr sz="1950" baseline="-17094" dirty="0">
                <a:latin typeface="Times New Roman"/>
                <a:cs typeface="Times New Roman"/>
              </a:rPr>
              <a:t>1A</a:t>
            </a:r>
            <a:r>
              <a:rPr sz="1950" spc="157" baseline="-17094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=</a:t>
            </a:r>
            <a:r>
              <a:rPr sz="2000" spc="-2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µ</a:t>
            </a:r>
            <a:r>
              <a:rPr sz="1950" baseline="-17094" dirty="0">
                <a:latin typeface="Times New Roman"/>
                <a:cs typeface="Times New Roman"/>
              </a:rPr>
              <a:t>2A</a:t>
            </a:r>
            <a:r>
              <a:rPr sz="1950" spc="157" baseline="-17094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=</a:t>
            </a:r>
            <a:r>
              <a:rPr sz="2000" spc="-2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...</a:t>
            </a:r>
            <a:r>
              <a:rPr sz="2000" spc="-2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=</a:t>
            </a:r>
            <a:r>
              <a:rPr sz="2000" spc="-20" dirty="0">
                <a:latin typeface="Times New Roman"/>
                <a:cs typeface="Times New Roman"/>
              </a:rPr>
              <a:t> µ</a:t>
            </a:r>
            <a:r>
              <a:rPr sz="1950" spc="-30" baseline="-17094" dirty="0">
                <a:latin typeface="Times New Roman"/>
                <a:cs typeface="Times New Roman"/>
              </a:rPr>
              <a:t>mA</a:t>
            </a:r>
            <a:r>
              <a:rPr sz="2000" spc="-20" dirty="0">
                <a:latin typeface="Times New Roman"/>
                <a:cs typeface="Times New Roman"/>
              </a:rPr>
              <a:t>,</a:t>
            </a:r>
            <a:endParaRPr sz="2000" dirty="0">
              <a:latin typeface="Times New Roman"/>
              <a:cs typeface="Times New Roman"/>
            </a:endParaRPr>
          </a:p>
          <a:p>
            <a:pPr marL="50800">
              <a:lnSpc>
                <a:spcPct val="100000"/>
              </a:lnSpc>
            </a:pPr>
            <a:r>
              <a:rPr sz="2000" dirty="0">
                <a:latin typeface="Times New Roman"/>
                <a:cs typeface="Times New Roman"/>
              </a:rPr>
              <a:t>H</a:t>
            </a:r>
            <a:r>
              <a:rPr sz="1950" baseline="-17094" dirty="0">
                <a:latin typeface="Times New Roman"/>
                <a:cs typeface="Times New Roman"/>
              </a:rPr>
              <a:t>1</a:t>
            </a:r>
            <a:r>
              <a:rPr sz="2000" dirty="0">
                <a:latin typeface="Times New Roman"/>
                <a:cs typeface="Times New Roman"/>
              </a:rPr>
              <a:t>:</a:t>
            </a:r>
            <a:r>
              <a:rPr sz="2000" spc="-3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не</a:t>
            </a:r>
            <a:r>
              <a:rPr sz="2000" spc="-2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все</a:t>
            </a:r>
            <a:r>
              <a:rPr sz="2000" spc="-3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µ</a:t>
            </a:r>
            <a:r>
              <a:rPr sz="1950" baseline="-17094" dirty="0">
                <a:latin typeface="Times New Roman"/>
                <a:cs typeface="Times New Roman"/>
              </a:rPr>
              <a:t>iA</a:t>
            </a:r>
            <a:r>
              <a:rPr sz="1950" spc="157" baseline="-17094" dirty="0">
                <a:latin typeface="Times New Roman"/>
                <a:cs typeface="Times New Roman"/>
              </a:rPr>
              <a:t> </a:t>
            </a:r>
            <a:r>
              <a:rPr sz="2000" spc="-10" dirty="0">
                <a:latin typeface="Times New Roman"/>
                <a:cs typeface="Times New Roman"/>
              </a:rPr>
              <a:t>равны;</a:t>
            </a:r>
            <a:endParaRPr sz="2000" dirty="0">
              <a:latin typeface="Times New Roman"/>
              <a:cs typeface="Times New Roman"/>
            </a:endParaRPr>
          </a:p>
          <a:p>
            <a:pPr marL="393065" indent="-342265">
              <a:lnSpc>
                <a:spcPct val="100000"/>
              </a:lnSpc>
              <a:buFont typeface="Symbol"/>
              <a:buChar char=""/>
              <a:tabLst>
                <a:tab pos="393065" algn="l"/>
              </a:tabLst>
            </a:pPr>
            <a:r>
              <a:rPr sz="2000" b="1" dirty="0">
                <a:latin typeface="Times New Roman"/>
                <a:cs typeface="Times New Roman"/>
              </a:rPr>
              <a:t>для</a:t>
            </a:r>
            <a:r>
              <a:rPr sz="2000" spc="-40" dirty="0">
                <a:latin typeface="Times New Roman"/>
                <a:cs typeface="Times New Roman"/>
              </a:rPr>
              <a:t> </a:t>
            </a:r>
            <a:r>
              <a:rPr sz="2000" b="1" spc="-20" dirty="0">
                <a:latin typeface="Times New Roman"/>
                <a:cs typeface="Times New Roman"/>
              </a:rPr>
              <a:t>второго</a:t>
            </a:r>
            <a:r>
              <a:rPr sz="2000" spc="-50" dirty="0">
                <a:latin typeface="Times New Roman"/>
                <a:cs typeface="Times New Roman"/>
              </a:rPr>
              <a:t> </a:t>
            </a:r>
            <a:r>
              <a:rPr sz="2000" b="1" spc="-10" dirty="0">
                <a:latin typeface="Times New Roman"/>
                <a:cs typeface="Times New Roman"/>
              </a:rPr>
              <a:t>фактора:</a:t>
            </a:r>
            <a:endParaRPr sz="2000" dirty="0">
              <a:latin typeface="Times New Roman"/>
              <a:cs typeface="Times New Roman"/>
            </a:endParaRPr>
          </a:p>
          <a:p>
            <a:pPr marL="50800">
              <a:lnSpc>
                <a:spcPct val="100000"/>
              </a:lnSpc>
            </a:pPr>
            <a:r>
              <a:rPr sz="2000" dirty="0">
                <a:latin typeface="Times New Roman"/>
                <a:cs typeface="Times New Roman"/>
              </a:rPr>
              <a:t>H</a:t>
            </a:r>
            <a:r>
              <a:rPr sz="1950" baseline="-17094" dirty="0">
                <a:latin typeface="Times New Roman"/>
                <a:cs typeface="Times New Roman"/>
              </a:rPr>
              <a:t>0</a:t>
            </a:r>
            <a:r>
              <a:rPr sz="2000" dirty="0">
                <a:latin typeface="Times New Roman"/>
                <a:cs typeface="Times New Roman"/>
              </a:rPr>
              <a:t>:</a:t>
            </a:r>
            <a:r>
              <a:rPr sz="2000" spc="-3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µ</a:t>
            </a:r>
            <a:r>
              <a:rPr sz="1950" baseline="-17094" dirty="0">
                <a:latin typeface="Times New Roman"/>
                <a:cs typeface="Times New Roman"/>
              </a:rPr>
              <a:t>1B</a:t>
            </a:r>
            <a:r>
              <a:rPr sz="1950" spc="262" baseline="-17094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=</a:t>
            </a:r>
            <a:r>
              <a:rPr sz="2000" spc="-2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µ</a:t>
            </a:r>
            <a:r>
              <a:rPr sz="1950" baseline="-17094" dirty="0">
                <a:latin typeface="Times New Roman"/>
                <a:cs typeface="Times New Roman"/>
              </a:rPr>
              <a:t>2B</a:t>
            </a:r>
            <a:r>
              <a:rPr sz="1950" spc="262" baseline="-17094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=</a:t>
            </a:r>
            <a:r>
              <a:rPr sz="2000" spc="-2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...</a:t>
            </a:r>
            <a:r>
              <a:rPr sz="2000" spc="-2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=</a:t>
            </a:r>
            <a:r>
              <a:rPr sz="2000" spc="-20" dirty="0">
                <a:latin typeface="Times New Roman"/>
                <a:cs typeface="Times New Roman"/>
              </a:rPr>
              <a:t> µ</a:t>
            </a:r>
            <a:r>
              <a:rPr sz="1950" spc="-30" baseline="-17094" dirty="0">
                <a:latin typeface="Times New Roman"/>
                <a:cs typeface="Times New Roman"/>
              </a:rPr>
              <a:t>kB</a:t>
            </a:r>
            <a:r>
              <a:rPr sz="2000" spc="-20" dirty="0">
                <a:latin typeface="Times New Roman"/>
                <a:cs typeface="Times New Roman"/>
              </a:rPr>
              <a:t>,</a:t>
            </a:r>
            <a:endParaRPr sz="2000" dirty="0">
              <a:latin typeface="Times New Roman"/>
              <a:cs typeface="Times New Roman"/>
            </a:endParaRPr>
          </a:p>
          <a:p>
            <a:pPr marL="50800">
              <a:lnSpc>
                <a:spcPct val="100000"/>
              </a:lnSpc>
            </a:pPr>
            <a:r>
              <a:rPr sz="2000" dirty="0">
                <a:latin typeface="Times New Roman"/>
                <a:cs typeface="Times New Roman"/>
              </a:rPr>
              <a:t>H</a:t>
            </a:r>
            <a:r>
              <a:rPr sz="1950" baseline="-17094" dirty="0">
                <a:latin typeface="Times New Roman"/>
                <a:cs typeface="Times New Roman"/>
              </a:rPr>
              <a:t>1</a:t>
            </a:r>
            <a:r>
              <a:rPr sz="2000" dirty="0">
                <a:latin typeface="Times New Roman"/>
                <a:cs typeface="Times New Roman"/>
              </a:rPr>
              <a:t>:</a:t>
            </a:r>
            <a:r>
              <a:rPr sz="2000" spc="-3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не</a:t>
            </a:r>
            <a:r>
              <a:rPr sz="2000" spc="-2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все</a:t>
            </a:r>
            <a:r>
              <a:rPr sz="2000" spc="-2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µ</a:t>
            </a:r>
            <a:r>
              <a:rPr sz="1950" baseline="-17094" dirty="0">
                <a:latin typeface="Times New Roman"/>
                <a:cs typeface="Times New Roman"/>
              </a:rPr>
              <a:t>jB</a:t>
            </a:r>
            <a:r>
              <a:rPr sz="1950" spc="254" baseline="-17094" dirty="0">
                <a:latin typeface="Times New Roman"/>
                <a:cs typeface="Times New Roman"/>
              </a:rPr>
              <a:t> </a:t>
            </a:r>
            <a:r>
              <a:rPr sz="2000" spc="-10" dirty="0">
                <a:latin typeface="Times New Roman"/>
                <a:cs typeface="Times New Roman"/>
              </a:rPr>
              <a:t>равны.</a:t>
            </a:r>
            <a:endParaRPr sz="2000" dirty="0">
              <a:latin typeface="Times New Roman"/>
              <a:cs typeface="Times New Roman"/>
            </a:endParaRPr>
          </a:p>
          <a:p>
            <a:pPr marL="393065" indent="-342265">
              <a:lnSpc>
                <a:spcPct val="100000"/>
              </a:lnSpc>
              <a:buFont typeface="Symbol"/>
              <a:buChar char=""/>
              <a:tabLst>
                <a:tab pos="393065" algn="l"/>
              </a:tabLst>
            </a:pPr>
            <a:r>
              <a:rPr sz="2000" b="1" dirty="0">
                <a:latin typeface="Times New Roman"/>
                <a:cs typeface="Times New Roman"/>
              </a:rPr>
              <a:t>для</a:t>
            </a:r>
            <a:r>
              <a:rPr sz="2000" spc="-50" dirty="0">
                <a:latin typeface="Times New Roman"/>
                <a:cs typeface="Times New Roman"/>
              </a:rPr>
              <a:t> </a:t>
            </a:r>
            <a:r>
              <a:rPr sz="2000" b="1" spc="-10" dirty="0">
                <a:latin typeface="Times New Roman"/>
                <a:cs typeface="Times New Roman"/>
              </a:rPr>
              <a:t>взаимодействия</a:t>
            </a:r>
            <a:r>
              <a:rPr sz="2000" spc="-50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двух</a:t>
            </a:r>
            <a:r>
              <a:rPr sz="2000" spc="-60" dirty="0">
                <a:latin typeface="Times New Roman"/>
                <a:cs typeface="Times New Roman"/>
              </a:rPr>
              <a:t> </a:t>
            </a:r>
            <a:r>
              <a:rPr sz="2000" b="1" spc="-10" dirty="0">
                <a:latin typeface="Times New Roman"/>
                <a:cs typeface="Times New Roman"/>
              </a:rPr>
              <a:t>факторов:</a:t>
            </a:r>
            <a:endParaRPr sz="2000" dirty="0">
              <a:latin typeface="Times New Roman"/>
              <a:cs typeface="Times New Roman"/>
            </a:endParaRPr>
          </a:p>
          <a:p>
            <a:pPr marL="50800">
              <a:lnSpc>
                <a:spcPct val="100000"/>
              </a:lnSpc>
            </a:pPr>
            <a:r>
              <a:rPr sz="2000" dirty="0">
                <a:latin typeface="Times New Roman"/>
                <a:cs typeface="Times New Roman"/>
              </a:rPr>
              <a:t>H</a:t>
            </a:r>
            <a:r>
              <a:rPr sz="1950" baseline="-17094" dirty="0">
                <a:latin typeface="Times New Roman"/>
                <a:cs typeface="Times New Roman"/>
              </a:rPr>
              <a:t>0</a:t>
            </a:r>
            <a:r>
              <a:rPr sz="2000" dirty="0">
                <a:latin typeface="Times New Roman"/>
                <a:cs typeface="Times New Roman"/>
              </a:rPr>
              <a:t>:</a:t>
            </a:r>
            <a:r>
              <a:rPr sz="2000" spc="-12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AB</a:t>
            </a:r>
            <a:r>
              <a:rPr sz="1950" baseline="-17094" dirty="0">
                <a:latin typeface="Times New Roman"/>
                <a:cs typeface="Times New Roman"/>
              </a:rPr>
              <a:t>ij</a:t>
            </a:r>
            <a:r>
              <a:rPr sz="1950" spc="270" baseline="-17094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=</a:t>
            </a:r>
            <a:r>
              <a:rPr sz="2000" spc="-10" dirty="0">
                <a:latin typeface="Times New Roman"/>
                <a:cs typeface="Times New Roman"/>
              </a:rPr>
              <a:t> </a:t>
            </a:r>
            <a:r>
              <a:rPr sz="2000" spc="-25" dirty="0">
                <a:latin typeface="Times New Roman"/>
                <a:cs typeface="Times New Roman"/>
              </a:rPr>
              <a:t>0,</a:t>
            </a:r>
            <a:endParaRPr sz="2000" dirty="0">
              <a:latin typeface="Times New Roman"/>
              <a:cs typeface="Times New Roman"/>
            </a:endParaRPr>
          </a:p>
          <a:p>
            <a:pPr marL="50800">
              <a:lnSpc>
                <a:spcPct val="100000"/>
              </a:lnSpc>
            </a:pPr>
            <a:r>
              <a:rPr sz="2000" dirty="0">
                <a:latin typeface="Times New Roman"/>
                <a:cs typeface="Times New Roman"/>
              </a:rPr>
              <a:t>H</a:t>
            </a:r>
            <a:r>
              <a:rPr sz="1950" baseline="-17094" dirty="0">
                <a:latin typeface="Times New Roman"/>
                <a:cs typeface="Times New Roman"/>
              </a:rPr>
              <a:t>1</a:t>
            </a:r>
            <a:r>
              <a:rPr sz="2000" dirty="0">
                <a:latin typeface="Times New Roman"/>
                <a:cs typeface="Times New Roman"/>
              </a:rPr>
              <a:t>:</a:t>
            </a:r>
            <a:r>
              <a:rPr sz="2000" spc="-3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не</a:t>
            </a:r>
            <a:r>
              <a:rPr sz="2000" spc="-2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все</a:t>
            </a:r>
            <a:r>
              <a:rPr sz="2000" spc="-12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AB</a:t>
            </a:r>
            <a:r>
              <a:rPr sz="1950" baseline="-17094" dirty="0">
                <a:latin typeface="Times New Roman"/>
                <a:cs typeface="Times New Roman"/>
              </a:rPr>
              <a:t>ij</a:t>
            </a:r>
            <a:r>
              <a:rPr sz="1950" spc="254" baseline="-17094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равны</a:t>
            </a:r>
            <a:r>
              <a:rPr sz="2000" spc="-10" dirty="0">
                <a:latin typeface="Times New Roman"/>
                <a:cs typeface="Times New Roman"/>
              </a:rPr>
              <a:t> </a:t>
            </a:r>
            <a:r>
              <a:rPr sz="2000" spc="-20" dirty="0">
                <a:latin typeface="Times New Roman"/>
                <a:cs typeface="Times New Roman"/>
              </a:rPr>
              <a:t>нулю.</a:t>
            </a:r>
            <a:endParaRPr sz="2000" dirty="0">
              <a:latin typeface="Times New Roman"/>
              <a:cs typeface="Times New Roman"/>
            </a:endParaRPr>
          </a:p>
        </p:txBody>
      </p:sp>
      <p:sp>
        <p:nvSpPr>
          <p:cNvPr id="9" name="Номер слайда 55">
            <a:extLst>
              <a:ext uri="{FF2B5EF4-FFF2-40B4-BE49-F238E27FC236}">
                <a16:creationId xmlns:a16="http://schemas.microsoft.com/office/drawing/2014/main" id="{86485884-6722-4972-BBFB-2EC959C76298}"/>
              </a:ext>
            </a:extLst>
          </p:cNvPr>
          <p:cNvSpPr txBox="1">
            <a:spLocks/>
          </p:cNvSpPr>
          <p:nvPr/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kern="0"/>
            </a:defPPr>
            <a:lvl1pPr marL="38100" algn="r">
              <a:lnSpc>
                <a:spcPct val="100000"/>
              </a:lnSpc>
              <a:spcBef>
                <a:spcPts val="244"/>
              </a:spcBef>
              <a:defRPr sz="1500" spc="-25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1D60167-4931-47E6-BA6A-407CBD079E47}" type="slidenum">
              <a:rPr lang="ru-RU"/>
              <a:pPr/>
              <a:t>63</a:t>
            </a:fld>
            <a:endParaRPr lang="ru-RU" dirty="0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1000125" y="146050"/>
            <a:ext cx="7704455" cy="400050"/>
          </a:xfrm>
          <a:custGeom>
            <a:avLst/>
            <a:gdLst/>
            <a:ahLst/>
            <a:cxnLst/>
            <a:rect l="l" t="t" r="r" b="b"/>
            <a:pathLst>
              <a:path w="7704455" h="400050">
                <a:moveTo>
                  <a:pt x="7704137" y="0"/>
                </a:moveTo>
                <a:lnTo>
                  <a:pt x="0" y="0"/>
                </a:lnTo>
                <a:lnTo>
                  <a:pt x="0" y="400050"/>
                </a:lnTo>
                <a:lnTo>
                  <a:pt x="7704137" y="400050"/>
                </a:lnTo>
                <a:lnTo>
                  <a:pt x="7704137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909002" y="-46897"/>
            <a:ext cx="7886700" cy="559639"/>
          </a:xfrm>
          <a:prstGeom prst="rect">
            <a:avLst/>
          </a:prstGeom>
        </p:spPr>
        <p:txBody>
          <a:bodyPr vert="horz" wrap="square" lIns="0" tIns="188467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sz="2400" spc="-10" dirty="0">
                <a:latin typeface="+mn-lt"/>
                <a:cs typeface="Arial"/>
              </a:rPr>
              <a:t>Двухфакторный</a:t>
            </a:r>
            <a:r>
              <a:rPr sz="2400" b="0" spc="-40" dirty="0">
                <a:latin typeface="+mn-lt"/>
                <a:cs typeface="Times New Roman"/>
              </a:rPr>
              <a:t> </a:t>
            </a:r>
            <a:r>
              <a:rPr sz="2400" dirty="0">
                <a:latin typeface="+mn-lt"/>
                <a:cs typeface="Arial"/>
              </a:rPr>
              <a:t>дисперсионный</a:t>
            </a:r>
            <a:r>
              <a:rPr sz="2400" b="0" spc="-40" dirty="0">
                <a:latin typeface="+mn-lt"/>
                <a:cs typeface="Times New Roman"/>
              </a:rPr>
              <a:t> </a:t>
            </a:r>
            <a:r>
              <a:rPr sz="2400" dirty="0">
                <a:latin typeface="+mn-lt"/>
                <a:cs typeface="Arial"/>
              </a:rPr>
              <a:t>анализ</a:t>
            </a:r>
            <a:r>
              <a:rPr sz="2400" b="0" spc="-40" dirty="0">
                <a:latin typeface="+mn-lt"/>
                <a:cs typeface="Times New Roman"/>
              </a:rPr>
              <a:t> </a:t>
            </a:r>
            <a:r>
              <a:rPr sz="2400" dirty="0">
                <a:latin typeface="+mn-lt"/>
                <a:cs typeface="Arial"/>
              </a:rPr>
              <a:t>с</a:t>
            </a:r>
            <a:r>
              <a:rPr sz="2400" b="0" spc="-40" dirty="0">
                <a:latin typeface="+mn-lt"/>
                <a:cs typeface="Times New Roman"/>
              </a:rPr>
              <a:t> </a:t>
            </a:r>
            <a:r>
              <a:rPr sz="2400" spc="-10" dirty="0">
                <a:latin typeface="+mn-lt"/>
                <a:cs typeface="Arial"/>
              </a:rPr>
              <a:t>повторениями</a:t>
            </a:r>
            <a:endParaRPr sz="2400" dirty="0">
              <a:latin typeface="+mn-lt"/>
              <a:cs typeface="Arial"/>
            </a:endParaRPr>
          </a:p>
        </p:txBody>
      </p:sp>
      <p:sp>
        <p:nvSpPr>
          <p:cNvPr id="7" name="Нижний колонтитул 6">
            <a:extLst>
              <a:ext uri="{FF2B5EF4-FFF2-40B4-BE49-F238E27FC236}">
                <a16:creationId xmlns:a16="http://schemas.microsoft.com/office/drawing/2014/main" id="{C80B6325-4029-4908-A8AC-F12C295FFEE8}"/>
              </a:ext>
            </a:extLst>
          </p:cNvPr>
          <p:cNvSpPr>
            <a:spLocks noGrp="1"/>
          </p:cNvSpPr>
          <p:nvPr>
            <p:ph type="ftr" sz="quarter" idx="5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000125" y="1002792"/>
            <a:ext cx="7190233" cy="5365751"/>
          </a:xfrm>
          <a:prstGeom prst="rect">
            <a:avLst/>
          </a:prstGeom>
        </p:spPr>
      </p:pic>
      <p:sp>
        <p:nvSpPr>
          <p:cNvPr id="9" name="Номер слайда 55">
            <a:extLst>
              <a:ext uri="{FF2B5EF4-FFF2-40B4-BE49-F238E27FC236}">
                <a16:creationId xmlns:a16="http://schemas.microsoft.com/office/drawing/2014/main" id="{1AD5638C-C5DA-4300-9878-63F1AADE91B0}"/>
              </a:ext>
            </a:extLst>
          </p:cNvPr>
          <p:cNvSpPr txBox="1">
            <a:spLocks/>
          </p:cNvSpPr>
          <p:nvPr/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kern="0"/>
            </a:defPPr>
            <a:lvl1pPr marL="38100" algn="r">
              <a:lnSpc>
                <a:spcPct val="100000"/>
              </a:lnSpc>
              <a:spcBef>
                <a:spcPts val="244"/>
              </a:spcBef>
              <a:defRPr sz="1500" spc="-25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1D60167-4931-47E6-BA6A-407CBD079E47}" type="slidenum">
              <a:rPr lang="ru-RU"/>
              <a:pPr/>
              <a:t>64</a:t>
            </a:fld>
            <a:endParaRPr lang="ru-RU" dirty="0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1000125" y="146050"/>
            <a:ext cx="7704455" cy="400050"/>
          </a:xfrm>
          <a:custGeom>
            <a:avLst/>
            <a:gdLst/>
            <a:ahLst/>
            <a:cxnLst/>
            <a:rect l="l" t="t" r="r" b="b"/>
            <a:pathLst>
              <a:path w="7704455" h="400050">
                <a:moveTo>
                  <a:pt x="7704137" y="0"/>
                </a:moveTo>
                <a:lnTo>
                  <a:pt x="0" y="0"/>
                </a:lnTo>
                <a:lnTo>
                  <a:pt x="0" y="400050"/>
                </a:lnTo>
                <a:lnTo>
                  <a:pt x="7704137" y="400050"/>
                </a:lnTo>
                <a:lnTo>
                  <a:pt x="7704137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1078854" y="166115"/>
            <a:ext cx="7268209" cy="3302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spc="-10" dirty="0"/>
              <a:t>Двухфакторный</a:t>
            </a:r>
            <a:r>
              <a:rPr sz="2000" b="0" spc="-30" dirty="0">
                <a:latin typeface="Times New Roman"/>
                <a:cs typeface="Times New Roman"/>
              </a:rPr>
              <a:t> </a:t>
            </a:r>
            <a:r>
              <a:rPr sz="2000" dirty="0"/>
              <a:t>дисперсионный</a:t>
            </a:r>
            <a:r>
              <a:rPr sz="2000" b="0" spc="-30" dirty="0">
                <a:latin typeface="Times New Roman"/>
                <a:cs typeface="Times New Roman"/>
              </a:rPr>
              <a:t> </a:t>
            </a:r>
            <a:r>
              <a:rPr sz="2000" dirty="0"/>
              <a:t>анализ</a:t>
            </a:r>
            <a:r>
              <a:rPr sz="2000" b="0" spc="-20" dirty="0">
                <a:latin typeface="Times New Roman"/>
                <a:cs typeface="Times New Roman"/>
              </a:rPr>
              <a:t> </a:t>
            </a:r>
            <a:r>
              <a:rPr sz="2000" dirty="0"/>
              <a:t>с</a:t>
            </a:r>
            <a:r>
              <a:rPr sz="2000" b="0" spc="-25" dirty="0">
                <a:latin typeface="Times New Roman"/>
                <a:cs typeface="Times New Roman"/>
              </a:rPr>
              <a:t> </a:t>
            </a:r>
            <a:r>
              <a:rPr sz="2000" spc="-10" dirty="0"/>
              <a:t>повторениями</a:t>
            </a:r>
            <a:endParaRPr sz="2000" dirty="0">
              <a:latin typeface="Times New Roman"/>
              <a:cs typeface="Times New Roman"/>
            </a:endParaRPr>
          </a:p>
        </p:txBody>
      </p:sp>
      <p:sp>
        <p:nvSpPr>
          <p:cNvPr id="12" name="Нижний колонтитул 11">
            <a:extLst>
              <a:ext uri="{FF2B5EF4-FFF2-40B4-BE49-F238E27FC236}">
                <a16:creationId xmlns:a16="http://schemas.microsoft.com/office/drawing/2014/main" id="{7B3065BB-2518-44A5-9251-05604FCF94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object 4"/>
          <p:cNvSpPr/>
          <p:nvPr/>
        </p:nvSpPr>
        <p:spPr>
          <a:xfrm>
            <a:off x="592137" y="541337"/>
            <a:ext cx="8112125" cy="2062480"/>
          </a:xfrm>
          <a:custGeom>
            <a:avLst/>
            <a:gdLst/>
            <a:ahLst/>
            <a:cxnLst/>
            <a:rect l="l" t="t" r="r" b="b"/>
            <a:pathLst>
              <a:path w="8112125" h="2062480">
                <a:moveTo>
                  <a:pt x="8112125" y="0"/>
                </a:moveTo>
                <a:lnTo>
                  <a:pt x="0" y="0"/>
                </a:lnTo>
                <a:lnTo>
                  <a:pt x="0" y="2062162"/>
                </a:lnTo>
                <a:lnTo>
                  <a:pt x="8112125" y="2062162"/>
                </a:lnTo>
                <a:lnTo>
                  <a:pt x="8112125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670852" y="575564"/>
            <a:ext cx="7954009" cy="1689100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 marR="5080" algn="just">
              <a:lnSpc>
                <a:spcPct val="99100"/>
              </a:lnSpc>
              <a:spcBef>
                <a:spcPts val="120"/>
              </a:spcBef>
            </a:pPr>
            <a:r>
              <a:rPr sz="1800" b="1" dirty="0">
                <a:latin typeface="Arial"/>
                <a:cs typeface="Arial"/>
              </a:rPr>
              <a:t>Пример.</a:t>
            </a:r>
            <a:r>
              <a:rPr sz="1800" spc="210" dirty="0">
                <a:latin typeface="Times New Roman"/>
                <a:cs typeface="Times New Roman"/>
              </a:rPr>
              <a:t>  </a:t>
            </a:r>
            <a:r>
              <a:rPr sz="1800" dirty="0">
                <a:latin typeface="Arial"/>
                <a:cs typeface="Arial"/>
              </a:rPr>
              <a:t>У</a:t>
            </a:r>
            <a:r>
              <a:rPr sz="1800" spc="210" dirty="0">
                <a:latin typeface="Times New Roman"/>
                <a:cs typeface="Times New Roman"/>
              </a:rPr>
              <a:t>  </a:t>
            </a:r>
            <a:r>
              <a:rPr sz="1800" dirty="0">
                <a:latin typeface="Arial"/>
                <a:cs typeface="Arial"/>
              </a:rPr>
              <a:t>торгового</a:t>
            </a:r>
            <a:r>
              <a:rPr sz="1800" spc="210" dirty="0">
                <a:latin typeface="Times New Roman"/>
                <a:cs typeface="Times New Roman"/>
              </a:rPr>
              <a:t>  </a:t>
            </a:r>
            <a:r>
              <a:rPr sz="1800" dirty="0">
                <a:latin typeface="Arial"/>
                <a:cs typeface="Arial"/>
              </a:rPr>
              <a:t>предприятия</a:t>
            </a:r>
            <a:r>
              <a:rPr sz="1800" spc="210" dirty="0">
                <a:latin typeface="Times New Roman"/>
                <a:cs typeface="Times New Roman"/>
              </a:rPr>
              <a:t>  </a:t>
            </a:r>
            <a:r>
              <a:rPr sz="1800" dirty="0">
                <a:latin typeface="Arial"/>
                <a:cs typeface="Arial"/>
              </a:rPr>
              <a:t>три</a:t>
            </a:r>
            <a:r>
              <a:rPr sz="1800" spc="210" dirty="0">
                <a:latin typeface="Times New Roman"/>
                <a:cs typeface="Times New Roman"/>
              </a:rPr>
              <a:t>  </a:t>
            </a:r>
            <a:r>
              <a:rPr sz="1800" dirty="0">
                <a:latin typeface="Arial"/>
                <a:cs typeface="Arial"/>
              </a:rPr>
              <a:t>магазина.</a:t>
            </a:r>
            <a:r>
              <a:rPr sz="1800" spc="215" dirty="0">
                <a:latin typeface="Times New Roman"/>
                <a:cs typeface="Times New Roman"/>
              </a:rPr>
              <a:t>  </a:t>
            </a:r>
            <a:r>
              <a:rPr sz="1800" dirty="0">
                <a:latin typeface="Arial"/>
                <a:cs typeface="Arial"/>
              </a:rPr>
              <a:t>Для</a:t>
            </a:r>
            <a:r>
              <a:rPr sz="1800" spc="210" dirty="0">
                <a:latin typeface="Times New Roman"/>
                <a:cs typeface="Times New Roman"/>
              </a:rPr>
              <a:t>  </a:t>
            </a:r>
            <a:r>
              <a:rPr sz="1800" spc="-10" dirty="0">
                <a:latin typeface="Arial"/>
                <a:cs typeface="Arial"/>
              </a:rPr>
              <a:t>продвижения</a:t>
            </a:r>
            <a:r>
              <a:rPr sz="1800" spc="-1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Arial"/>
                <a:cs typeface="Arial"/>
              </a:rPr>
              <a:t>продукции</a:t>
            </a:r>
            <a:r>
              <a:rPr sz="1800" spc="55" dirty="0">
                <a:latin typeface="Times New Roman"/>
                <a:cs typeface="Times New Roman"/>
              </a:rPr>
              <a:t>  </a:t>
            </a:r>
            <a:r>
              <a:rPr sz="1800" dirty="0">
                <a:latin typeface="Arial"/>
                <a:cs typeface="Arial"/>
              </a:rPr>
              <a:t>магазинов</a:t>
            </a:r>
            <a:r>
              <a:rPr sz="1800" spc="60" dirty="0">
                <a:latin typeface="Times New Roman"/>
                <a:cs typeface="Times New Roman"/>
              </a:rPr>
              <a:t>  </a:t>
            </a:r>
            <a:r>
              <a:rPr sz="1800" dirty="0">
                <a:latin typeface="Arial"/>
                <a:cs typeface="Arial"/>
              </a:rPr>
              <a:t>было</a:t>
            </a:r>
            <a:r>
              <a:rPr sz="1800" spc="60" dirty="0">
                <a:latin typeface="Times New Roman"/>
                <a:cs typeface="Times New Roman"/>
              </a:rPr>
              <a:t>  </a:t>
            </a:r>
            <a:r>
              <a:rPr sz="1800" dirty="0">
                <a:latin typeface="Arial"/>
                <a:cs typeface="Arial"/>
              </a:rPr>
              <a:t>проведено</a:t>
            </a:r>
            <a:r>
              <a:rPr sz="1800" spc="60" dirty="0">
                <a:latin typeface="Times New Roman"/>
                <a:cs typeface="Times New Roman"/>
              </a:rPr>
              <a:t>  </a:t>
            </a:r>
            <a:r>
              <a:rPr sz="1800" dirty="0">
                <a:latin typeface="Arial"/>
                <a:cs typeface="Arial"/>
              </a:rPr>
              <a:t>две</a:t>
            </a:r>
            <a:r>
              <a:rPr sz="1800" spc="55" dirty="0">
                <a:latin typeface="Times New Roman"/>
                <a:cs typeface="Times New Roman"/>
              </a:rPr>
              <a:t>  </a:t>
            </a:r>
            <a:r>
              <a:rPr sz="1800" dirty="0">
                <a:latin typeface="Arial"/>
                <a:cs typeface="Arial"/>
              </a:rPr>
              <a:t>рекламные</a:t>
            </a:r>
            <a:r>
              <a:rPr sz="1800" spc="60" dirty="0">
                <a:latin typeface="Times New Roman"/>
                <a:cs typeface="Times New Roman"/>
              </a:rPr>
              <a:t>  </a:t>
            </a:r>
            <a:r>
              <a:rPr sz="1800" dirty="0">
                <a:latin typeface="Arial"/>
                <a:cs typeface="Arial"/>
              </a:rPr>
              <a:t>кампании.</a:t>
            </a:r>
            <a:r>
              <a:rPr sz="1800" spc="60" dirty="0">
                <a:latin typeface="Times New Roman"/>
                <a:cs typeface="Times New Roman"/>
              </a:rPr>
              <a:t>  </a:t>
            </a:r>
            <a:r>
              <a:rPr sz="1800" spc="-25" dirty="0">
                <a:latin typeface="Arial"/>
                <a:cs typeface="Arial"/>
              </a:rPr>
              <a:t>Для</a:t>
            </a:r>
            <a:r>
              <a:rPr sz="1800" spc="-2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Arial"/>
                <a:cs typeface="Arial"/>
              </a:rPr>
              <a:t>проверки</a:t>
            </a:r>
            <a:r>
              <a:rPr sz="1800" spc="225" dirty="0">
                <a:latin typeface="Times New Roman"/>
                <a:cs typeface="Times New Roman"/>
              </a:rPr>
              <a:t>   </a:t>
            </a:r>
            <a:r>
              <a:rPr sz="1800" dirty="0">
                <a:latin typeface="Arial"/>
                <a:cs typeface="Arial"/>
              </a:rPr>
              <a:t>зависимости</a:t>
            </a:r>
            <a:r>
              <a:rPr sz="1800" spc="229" dirty="0">
                <a:latin typeface="Times New Roman"/>
                <a:cs typeface="Times New Roman"/>
              </a:rPr>
              <a:t>   </a:t>
            </a:r>
            <a:r>
              <a:rPr sz="1800" dirty="0">
                <a:latin typeface="Arial"/>
                <a:cs typeface="Arial"/>
              </a:rPr>
              <a:t>средних</a:t>
            </a:r>
            <a:r>
              <a:rPr sz="1800" spc="229" dirty="0">
                <a:latin typeface="Times New Roman"/>
                <a:cs typeface="Times New Roman"/>
              </a:rPr>
              <a:t>   </a:t>
            </a:r>
            <a:r>
              <a:rPr sz="1800" dirty="0">
                <a:latin typeface="Arial"/>
                <a:cs typeface="Arial"/>
              </a:rPr>
              <a:t>дневных</a:t>
            </a:r>
            <a:r>
              <a:rPr sz="1800" spc="229" dirty="0">
                <a:latin typeface="Times New Roman"/>
                <a:cs typeface="Times New Roman"/>
              </a:rPr>
              <a:t>   </a:t>
            </a:r>
            <a:r>
              <a:rPr sz="1800" dirty="0">
                <a:latin typeface="Arial"/>
                <a:cs typeface="Arial"/>
              </a:rPr>
              <a:t>доходов</a:t>
            </a:r>
            <a:r>
              <a:rPr sz="1800" spc="235" dirty="0">
                <a:latin typeface="Times New Roman"/>
                <a:cs typeface="Times New Roman"/>
              </a:rPr>
              <a:t>   </a:t>
            </a:r>
            <a:r>
              <a:rPr sz="1800" dirty="0">
                <a:latin typeface="Arial"/>
                <a:cs typeface="Arial"/>
              </a:rPr>
              <a:t>магазинов</a:t>
            </a:r>
            <a:r>
              <a:rPr sz="1800" spc="229" dirty="0">
                <a:latin typeface="Times New Roman"/>
                <a:cs typeface="Times New Roman"/>
              </a:rPr>
              <a:t>   </a:t>
            </a:r>
            <a:r>
              <a:rPr sz="1800" spc="-25" dirty="0">
                <a:latin typeface="Arial"/>
                <a:cs typeface="Arial"/>
              </a:rPr>
              <a:t>от</a:t>
            </a:r>
            <a:r>
              <a:rPr sz="1800" spc="-2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Arial"/>
                <a:cs typeface="Arial"/>
              </a:rPr>
              <a:t>проведенных</a:t>
            </a:r>
            <a:r>
              <a:rPr sz="1800" spc="48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Arial"/>
                <a:cs typeface="Arial"/>
              </a:rPr>
              <a:t>рекламных</a:t>
            </a:r>
            <a:r>
              <a:rPr sz="1800" spc="47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Arial"/>
                <a:cs typeface="Arial"/>
              </a:rPr>
              <a:t>кампаний,</a:t>
            </a:r>
            <a:r>
              <a:rPr sz="1800" spc="484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Arial"/>
                <a:cs typeface="Arial"/>
              </a:rPr>
              <a:t>случайно</a:t>
            </a:r>
            <a:r>
              <a:rPr sz="1800" spc="48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Arial"/>
                <a:cs typeface="Arial"/>
              </a:rPr>
              <a:t>выбраны</a:t>
            </a:r>
            <a:r>
              <a:rPr sz="1800" spc="49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Arial"/>
                <a:cs typeface="Arial"/>
              </a:rPr>
              <a:t>результаты</a:t>
            </a:r>
            <a:r>
              <a:rPr sz="1800" spc="484" dirty="0">
                <a:latin typeface="Times New Roman"/>
                <a:cs typeface="Times New Roman"/>
              </a:rPr>
              <a:t> </a:t>
            </a:r>
            <a:r>
              <a:rPr sz="1800" spc="-10" dirty="0">
                <a:latin typeface="Arial"/>
                <a:cs typeface="Arial"/>
              </a:rPr>
              <a:t>3-</a:t>
            </a:r>
            <a:r>
              <a:rPr sz="1800" spc="-50" dirty="0">
                <a:latin typeface="Arial"/>
                <a:cs typeface="Arial"/>
              </a:rPr>
              <a:t>х</a:t>
            </a:r>
            <a:r>
              <a:rPr sz="1800" spc="-5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Arial"/>
                <a:cs typeface="Arial"/>
              </a:rPr>
              <a:t>дней</a:t>
            </a:r>
            <a:r>
              <a:rPr sz="1800" spc="12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Arial"/>
                <a:cs typeface="Arial"/>
              </a:rPr>
              <a:t>каждой</a:t>
            </a:r>
            <a:r>
              <a:rPr sz="1800" spc="12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Arial"/>
                <a:cs typeface="Arial"/>
              </a:rPr>
              <a:t>из</a:t>
            </a:r>
            <a:r>
              <a:rPr sz="1800" spc="13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Arial"/>
                <a:cs typeface="Arial"/>
              </a:rPr>
              <a:t>кампании</a:t>
            </a:r>
            <a:r>
              <a:rPr sz="1800" spc="12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Arial"/>
                <a:cs typeface="Arial"/>
              </a:rPr>
              <a:t>(число</a:t>
            </a:r>
            <a:r>
              <a:rPr sz="1800" spc="12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Arial"/>
                <a:cs typeface="Arial"/>
              </a:rPr>
              <a:t>повторений</a:t>
            </a:r>
            <a:r>
              <a:rPr sz="1800" spc="12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Arial"/>
                <a:cs typeface="Arial"/>
              </a:rPr>
              <a:t>r</a:t>
            </a:r>
            <a:r>
              <a:rPr sz="1800" spc="13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Arial"/>
                <a:cs typeface="Arial"/>
              </a:rPr>
              <a:t>=</a:t>
            </a:r>
            <a:r>
              <a:rPr sz="1800" spc="12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Arial"/>
                <a:cs typeface="Arial"/>
              </a:rPr>
              <a:t>3).</a:t>
            </a:r>
            <a:r>
              <a:rPr sz="1800" spc="12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Arial"/>
                <a:cs typeface="Arial"/>
              </a:rPr>
              <a:t>Данные</a:t>
            </a:r>
            <a:r>
              <a:rPr sz="1800" spc="12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Arial"/>
                <a:cs typeface="Arial"/>
              </a:rPr>
              <a:t>приведены</a:t>
            </a:r>
            <a:r>
              <a:rPr sz="1800" spc="130" dirty="0">
                <a:latin typeface="Times New Roman"/>
                <a:cs typeface="Times New Roman"/>
              </a:rPr>
              <a:t> </a:t>
            </a:r>
            <a:r>
              <a:rPr sz="1800" spc="-50" dirty="0">
                <a:latin typeface="Arial"/>
                <a:cs typeface="Arial"/>
              </a:rPr>
              <a:t>в</a:t>
            </a:r>
            <a:r>
              <a:rPr sz="1800" spc="-50" dirty="0">
                <a:latin typeface="Times New Roman"/>
                <a:cs typeface="Times New Roman"/>
              </a:rPr>
              <a:t> </a:t>
            </a:r>
            <a:r>
              <a:rPr sz="1800" spc="-10" dirty="0">
                <a:latin typeface="Arial"/>
                <a:cs typeface="Arial"/>
              </a:rPr>
              <a:t>таблице</a:t>
            </a:r>
            <a:r>
              <a:rPr sz="2000" spc="-10" dirty="0">
                <a:latin typeface="Arial"/>
                <a:cs typeface="Arial"/>
              </a:rPr>
              <a:t>:</a:t>
            </a:r>
            <a:endParaRPr sz="2000" dirty="0">
              <a:latin typeface="Arial"/>
              <a:cs typeface="Arial"/>
            </a:endParaRPr>
          </a:p>
        </p:txBody>
      </p:sp>
      <p:graphicFrame>
        <p:nvGraphicFramePr>
          <p:cNvPr id="9" name="object 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10265006"/>
              </p:ext>
            </p:extLst>
          </p:nvPr>
        </p:nvGraphicFramePr>
        <p:xfrm>
          <a:off x="1041400" y="3030981"/>
          <a:ext cx="6350000" cy="1978659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27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70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70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270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2700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426084">
                <a:tc>
                  <a:txBody>
                    <a:bodyPr/>
                    <a:lstStyle/>
                    <a:p>
                      <a:pPr marL="68580" marR="258445">
                        <a:lnSpc>
                          <a:spcPts val="1610"/>
                        </a:lnSpc>
                        <a:spcBef>
                          <a:spcPts val="40"/>
                        </a:spcBef>
                      </a:pPr>
                      <a:r>
                        <a:rPr sz="1400" b="1" spc="-10" dirty="0">
                          <a:solidFill>
                            <a:schemeClr val="tx1"/>
                          </a:solidFill>
                          <a:latin typeface="Trebuchet MS"/>
                          <a:cs typeface="Trebuchet MS"/>
                        </a:rPr>
                        <a:t>Рекламная</a:t>
                      </a:r>
                      <a:r>
                        <a:rPr sz="1400" spc="-10" dirty="0">
                          <a:solidFill>
                            <a:schemeClr val="tx1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400" b="1" spc="-10" dirty="0">
                          <a:solidFill>
                            <a:schemeClr val="tx1"/>
                          </a:solidFill>
                          <a:latin typeface="Trebuchet MS"/>
                          <a:cs typeface="Trebuchet MS"/>
                        </a:rPr>
                        <a:t>кампания</a:t>
                      </a:r>
                      <a:endParaRPr sz="1400" dirty="0">
                        <a:solidFill>
                          <a:schemeClr val="tx1"/>
                        </a:solidFill>
                        <a:latin typeface="Trebuchet MS"/>
                        <a:cs typeface="Trebuchet MS"/>
                      </a:endParaRPr>
                    </a:p>
                  </a:txBody>
                  <a:tcPr marL="0" marR="0" marT="508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830"/>
                        </a:spcBef>
                      </a:pPr>
                      <a:r>
                        <a:rPr sz="1400" b="1" dirty="0">
                          <a:solidFill>
                            <a:schemeClr val="tx1"/>
                          </a:solidFill>
                          <a:latin typeface="Trebuchet MS"/>
                          <a:cs typeface="Trebuchet MS"/>
                        </a:rPr>
                        <a:t>1</a:t>
                      </a:r>
                      <a:r>
                        <a:rPr sz="1400" spc="65" dirty="0">
                          <a:solidFill>
                            <a:schemeClr val="tx1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400" b="1" spc="-10" dirty="0">
                          <a:solidFill>
                            <a:schemeClr val="tx1"/>
                          </a:solidFill>
                          <a:latin typeface="Trebuchet MS"/>
                          <a:cs typeface="Trebuchet MS"/>
                        </a:rPr>
                        <a:t>магазин</a:t>
                      </a:r>
                      <a:endParaRPr sz="1400">
                        <a:solidFill>
                          <a:schemeClr val="tx1"/>
                        </a:solidFill>
                        <a:latin typeface="Trebuchet MS"/>
                        <a:cs typeface="Trebuchet MS"/>
                      </a:endParaRPr>
                    </a:p>
                  </a:txBody>
                  <a:tcPr marL="0" marR="0" marT="10541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830"/>
                        </a:spcBef>
                      </a:pPr>
                      <a:r>
                        <a:rPr sz="1400" b="1" dirty="0">
                          <a:solidFill>
                            <a:schemeClr val="tx1"/>
                          </a:solidFill>
                          <a:latin typeface="Trebuchet MS"/>
                          <a:cs typeface="Trebuchet MS"/>
                        </a:rPr>
                        <a:t>2</a:t>
                      </a:r>
                      <a:r>
                        <a:rPr sz="1400" spc="65" dirty="0">
                          <a:solidFill>
                            <a:schemeClr val="tx1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400" b="1" spc="-10" dirty="0">
                          <a:solidFill>
                            <a:schemeClr val="tx1"/>
                          </a:solidFill>
                          <a:latin typeface="Trebuchet MS"/>
                          <a:cs typeface="Trebuchet MS"/>
                        </a:rPr>
                        <a:t>магазин</a:t>
                      </a:r>
                      <a:endParaRPr sz="1400" dirty="0">
                        <a:solidFill>
                          <a:schemeClr val="tx1"/>
                        </a:solidFill>
                        <a:latin typeface="Trebuchet MS"/>
                        <a:cs typeface="Trebuchet MS"/>
                      </a:endParaRPr>
                    </a:p>
                  </a:txBody>
                  <a:tcPr marL="0" marR="0" marT="10541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685800" rtl="0" eaLnBrk="1" latinLnBrk="0" hangingPunct="1">
                        <a:lnSpc>
                          <a:spcPct val="100000"/>
                        </a:lnSpc>
                        <a:spcBef>
                          <a:spcPts val="830"/>
                        </a:spcBef>
                      </a:pPr>
                      <a:r>
                        <a:rPr sz="1400" b="1" kern="1200" dirty="0">
                          <a:solidFill>
                            <a:schemeClr val="tx1"/>
                          </a:solidFill>
                          <a:latin typeface="Trebuchet MS"/>
                          <a:ea typeface="+mn-ea"/>
                          <a:cs typeface="Trebuchet MS"/>
                        </a:rPr>
                        <a:t>3</a:t>
                      </a:r>
                      <a:r>
                        <a:rPr sz="1400" b="1" kern="1200" dirty="0">
                          <a:solidFill>
                            <a:schemeClr val="tx1"/>
                          </a:solidFill>
                          <a:latin typeface="Trebuchet MS"/>
                          <a:ea typeface="+mn-ea"/>
                          <a:cs typeface="Times New Roman"/>
                        </a:rPr>
                        <a:t> </a:t>
                      </a:r>
                      <a:r>
                        <a:rPr sz="1400" b="1" kern="1200" dirty="0">
                          <a:solidFill>
                            <a:schemeClr val="tx1"/>
                          </a:solidFill>
                          <a:latin typeface="Trebuchet MS"/>
                          <a:ea typeface="+mn-ea"/>
                          <a:cs typeface="Trebuchet MS"/>
                        </a:rPr>
                        <a:t>магазин</a:t>
                      </a:r>
                    </a:p>
                  </a:txBody>
                  <a:tcPr marL="0" marR="0" marT="10541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685800" rtl="0" eaLnBrk="1" latinLnBrk="0" hangingPunct="1">
                        <a:lnSpc>
                          <a:spcPct val="150000"/>
                        </a:lnSpc>
                        <a:spcBef>
                          <a:spcPts val="830"/>
                        </a:spcBef>
                      </a:pPr>
                      <a:r>
                        <a:rPr lang="ru-RU" sz="1400" b="1" kern="1200" dirty="0">
                          <a:solidFill>
                            <a:schemeClr val="tx1"/>
                          </a:solidFill>
                          <a:latin typeface="Trebuchet MS"/>
                          <a:ea typeface="+mn-ea"/>
                          <a:cs typeface="Times New Roman"/>
                        </a:rPr>
                        <a:t>Среднее </a:t>
                      </a:r>
                      <a:r>
                        <a:rPr lang="en-US" sz="1400" b="1" kern="1200" dirty="0">
                          <a:solidFill>
                            <a:schemeClr val="tx1"/>
                          </a:solidFill>
                          <a:latin typeface="Trebuchet MS"/>
                          <a:ea typeface="+mn-ea"/>
                          <a:cs typeface="Times New Roman"/>
                        </a:rPr>
                        <a:t>x</a:t>
                      </a:r>
                      <a:r>
                        <a:rPr lang="en-US" sz="1400" b="1" kern="1200" baseline="-25000" dirty="0">
                          <a:solidFill>
                            <a:schemeClr val="tx1"/>
                          </a:solidFill>
                          <a:latin typeface="Trebuchet MS"/>
                          <a:ea typeface="+mn-ea"/>
                          <a:cs typeface="Times New Roman"/>
                        </a:rPr>
                        <a:t>i</a:t>
                      </a:r>
                      <a:endParaRPr sz="1400" b="1" kern="1200" baseline="-25000" dirty="0">
                        <a:solidFill>
                          <a:schemeClr val="tx1"/>
                        </a:solidFill>
                        <a:latin typeface="Trebuchet MS"/>
                        <a:ea typeface="+mn-ea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12725">
                <a:tc rowSpan="3">
                  <a:txBody>
                    <a:bodyPr/>
                    <a:lstStyle/>
                    <a:p>
                      <a:pPr marL="68580" marR="204470">
                        <a:lnSpc>
                          <a:spcPts val="1610"/>
                        </a:lnSpc>
                        <a:spcBef>
                          <a:spcPts val="940"/>
                        </a:spcBef>
                      </a:pPr>
                      <a:r>
                        <a:rPr sz="1400" b="1" spc="-10" dirty="0">
                          <a:solidFill>
                            <a:schemeClr val="tx1"/>
                          </a:solidFill>
                          <a:latin typeface="Trebuchet MS"/>
                          <a:cs typeface="Trebuchet MS"/>
                        </a:rPr>
                        <a:t>Рекламная</a:t>
                      </a:r>
                      <a:r>
                        <a:rPr sz="1400" spc="-10" dirty="0">
                          <a:solidFill>
                            <a:schemeClr val="tx1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400" b="1" dirty="0">
                          <a:solidFill>
                            <a:schemeClr val="tx1"/>
                          </a:solidFill>
                          <a:latin typeface="Trebuchet MS"/>
                          <a:cs typeface="Trebuchet MS"/>
                        </a:rPr>
                        <a:t>кампания</a:t>
                      </a:r>
                      <a:r>
                        <a:rPr sz="1400" spc="10" dirty="0">
                          <a:solidFill>
                            <a:schemeClr val="tx1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400" b="1" spc="-50" dirty="0">
                          <a:solidFill>
                            <a:schemeClr val="tx1"/>
                          </a:solidFill>
                          <a:latin typeface="Trebuchet MS"/>
                          <a:cs typeface="Trebuchet MS"/>
                        </a:rPr>
                        <a:t>1</a:t>
                      </a:r>
                      <a:endParaRPr sz="1400">
                        <a:solidFill>
                          <a:schemeClr val="tx1"/>
                        </a:solidFill>
                        <a:latin typeface="Trebuchet MS"/>
                        <a:cs typeface="Trebuchet MS"/>
                      </a:endParaRPr>
                    </a:p>
                  </a:txBody>
                  <a:tcPr marL="0" marR="0" marT="11938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580"/>
                        </a:lnSpc>
                      </a:pPr>
                      <a:r>
                        <a:rPr sz="1400" spc="-10" dirty="0">
                          <a:solidFill>
                            <a:srgbClr val="7030A0"/>
                          </a:solidFill>
                          <a:latin typeface="Trebuchet MS"/>
                          <a:cs typeface="Trebuchet MS"/>
                        </a:rPr>
                        <a:t>23,94</a:t>
                      </a:r>
                      <a:endParaRPr sz="1400" dirty="0">
                        <a:solidFill>
                          <a:srgbClr val="7030A0"/>
                        </a:solidFill>
                        <a:latin typeface="Trebuchet MS"/>
                        <a:cs typeface="Trebuchet MS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580"/>
                        </a:lnSpc>
                      </a:pPr>
                      <a:r>
                        <a:rPr sz="1400" spc="-10" dirty="0">
                          <a:solidFill>
                            <a:srgbClr val="7030A0"/>
                          </a:solidFill>
                          <a:latin typeface="Trebuchet MS"/>
                          <a:cs typeface="Trebuchet MS"/>
                        </a:rPr>
                        <a:t>15,17</a:t>
                      </a:r>
                      <a:endParaRPr sz="1400">
                        <a:solidFill>
                          <a:srgbClr val="7030A0"/>
                        </a:solidFill>
                        <a:latin typeface="Trebuchet MS"/>
                        <a:cs typeface="Trebuchet MS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580"/>
                        </a:lnSpc>
                      </a:pPr>
                      <a:r>
                        <a:rPr sz="1400" spc="-10" dirty="0">
                          <a:solidFill>
                            <a:srgbClr val="7030A0"/>
                          </a:solidFill>
                          <a:latin typeface="Trebuchet MS"/>
                          <a:cs typeface="Trebuchet MS"/>
                        </a:rPr>
                        <a:t>10,47</a:t>
                      </a:r>
                      <a:endParaRPr sz="1400">
                        <a:solidFill>
                          <a:srgbClr val="7030A0"/>
                        </a:solidFill>
                        <a:latin typeface="Trebuchet MS"/>
                        <a:cs typeface="Trebuchet MS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tc rowSpan="3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60"/>
                        </a:spcBef>
                      </a:pPr>
                      <a:endParaRPr sz="1400">
                        <a:solidFill>
                          <a:schemeClr val="tx1"/>
                        </a:solidFill>
                        <a:latin typeface="Times New Roman"/>
                        <a:cs typeface="Times New Roman"/>
                      </a:endParaRPr>
                    </a:p>
                    <a:p>
                      <a:pPr marL="414655">
                        <a:lnSpc>
                          <a:spcPct val="100000"/>
                        </a:lnSpc>
                      </a:pPr>
                      <a:r>
                        <a:rPr sz="1400" spc="-10" dirty="0">
                          <a:solidFill>
                            <a:schemeClr val="tx1"/>
                          </a:solidFill>
                          <a:latin typeface="Trebuchet MS"/>
                          <a:cs typeface="Trebuchet MS"/>
                        </a:rPr>
                        <a:t>14,53</a:t>
                      </a:r>
                      <a:endParaRPr sz="1400">
                        <a:solidFill>
                          <a:schemeClr val="tx1"/>
                        </a:solidFill>
                        <a:latin typeface="Trebuchet MS"/>
                        <a:cs typeface="Trebuchet MS"/>
                      </a:endParaRPr>
                    </a:p>
                  </a:txBody>
                  <a:tcPr marL="0" marR="0" marT="762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13360"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11938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5ECA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580"/>
                        </a:lnSpc>
                      </a:pPr>
                      <a:r>
                        <a:rPr sz="1400" spc="-10" dirty="0">
                          <a:solidFill>
                            <a:srgbClr val="7030A0"/>
                          </a:solidFill>
                          <a:latin typeface="Trebuchet MS"/>
                          <a:cs typeface="Trebuchet MS"/>
                        </a:rPr>
                        <a:t>14,63</a:t>
                      </a:r>
                      <a:endParaRPr sz="1400" dirty="0">
                        <a:solidFill>
                          <a:srgbClr val="7030A0"/>
                        </a:solidFill>
                        <a:latin typeface="Trebuchet MS"/>
                        <a:cs typeface="Trebuchet MS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580"/>
                        </a:lnSpc>
                      </a:pPr>
                      <a:r>
                        <a:rPr sz="1400" spc="-10" dirty="0">
                          <a:solidFill>
                            <a:srgbClr val="7030A0"/>
                          </a:solidFill>
                          <a:latin typeface="Trebuchet MS"/>
                          <a:cs typeface="Trebuchet MS"/>
                        </a:rPr>
                        <a:t>19,57</a:t>
                      </a:r>
                      <a:endParaRPr sz="1400">
                        <a:solidFill>
                          <a:srgbClr val="7030A0"/>
                        </a:solidFill>
                        <a:latin typeface="Trebuchet MS"/>
                        <a:cs typeface="Trebuchet MS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580"/>
                        </a:lnSpc>
                      </a:pPr>
                      <a:r>
                        <a:rPr sz="1400" spc="-20" dirty="0">
                          <a:solidFill>
                            <a:srgbClr val="7030A0"/>
                          </a:solidFill>
                          <a:latin typeface="Trebuchet MS"/>
                          <a:cs typeface="Trebuchet MS"/>
                        </a:rPr>
                        <a:t>6,92</a:t>
                      </a:r>
                      <a:endParaRPr sz="1400" dirty="0">
                        <a:solidFill>
                          <a:srgbClr val="7030A0"/>
                        </a:solidFill>
                        <a:latin typeface="Trebuchet MS"/>
                        <a:cs typeface="Trebuchet MS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762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2EB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13360"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11938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5ECA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580"/>
                        </a:lnSpc>
                      </a:pPr>
                      <a:r>
                        <a:rPr sz="1400" spc="-10" dirty="0">
                          <a:solidFill>
                            <a:srgbClr val="7030A0"/>
                          </a:solidFill>
                          <a:latin typeface="Trebuchet MS"/>
                          <a:cs typeface="Trebuchet MS"/>
                        </a:rPr>
                        <a:t>12,05</a:t>
                      </a:r>
                      <a:endParaRPr sz="1400">
                        <a:solidFill>
                          <a:srgbClr val="7030A0"/>
                        </a:solidFill>
                        <a:latin typeface="Trebuchet MS"/>
                        <a:cs typeface="Trebuchet MS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580"/>
                        </a:lnSpc>
                      </a:pPr>
                      <a:r>
                        <a:rPr sz="1400" spc="-10" dirty="0">
                          <a:solidFill>
                            <a:srgbClr val="7030A0"/>
                          </a:solidFill>
                          <a:latin typeface="Trebuchet MS"/>
                          <a:cs typeface="Trebuchet MS"/>
                        </a:rPr>
                        <a:t>18,52</a:t>
                      </a:r>
                      <a:endParaRPr sz="1400" dirty="0">
                        <a:solidFill>
                          <a:srgbClr val="7030A0"/>
                        </a:solidFill>
                        <a:latin typeface="Trebuchet MS"/>
                        <a:cs typeface="Trebuchet MS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580"/>
                        </a:lnSpc>
                      </a:pPr>
                      <a:r>
                        <a:rPr sz="1400" spc="-20" dirty="0">
                          <a:solidFill>
                            <a:srgbClr val="7030A0"/>
                          </a:solidFill>
                          <a:latin typeface="Trebuchet MS"/>
                          <a:cs typeface="Trebuchet MS"/>
                        </a:rPr>
                        <a:t>9,48</a:t>
                      </a:r>
                      <a:endParaRPr sz="1400">
                        <a:solidFill>
                          <a:srgbClr val="7030A0"/>
                        </a:solidFill>
                        <a:latin typeface="Trebuchet MS"/>
                        <a:cs typeface="Trebuchet MS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762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2EB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12725">
                <a:tc rowSpan="3">
                  <a:txBody>
                    <a:bodyPr/>
                    <a:lstStyle/>
                    <a:p>
                      <a:pPr marL="68580" marR="204470">
                        <a:lnSpc>
                          <a:spcPts val="1610"/>
                        </a:lnSpc>
                        <a:spcBef>
                          <a:spcPts val="940"/>
                        </a:spcBef>
                      </a:pPr>
                      <a:r>
                        <a:rPr sz="1400" b="1" spc="-10" dirty="0">
                          <a:solidFill>
                            <a:schemeClr val="tx1"/>
                          </a:solidFill>
                          <a:latin typeface="Trebuchet MS"/>
                          <a:cs typeface="Trebuchet MS"/>
                        </a:rPr>
                        <a:t>Рекламная</a:t>
                      </a:r>
                      <a:r>
                        <a:rPr sz="1400" spc="-10" dirty="0">
                          <a:solidFill>
                            <a:schemeClr val="tx1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400" b="1" dirty="0">
                          <a:solidFill>
                            <a:schemeClr val="tx1"/>
                          </a:solidFill>
                          <a:latin typeface="Trebuchet MS"/>
                          <a:cs typeface="Trebuchet MS"/>
                        </a:rPr>
                        <a:t>кампания</a:t>
                      </a:r>
                      <a:r>
                        <a:rPr sz="1400" spc="10" dirty="0">
                          <a:solidFill>
                            <a:schemeClr val="tx1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400" b="1" spc="-50" dirty="0">
                          <a:solidFill>
                            <a:schemeClr val="tx1"/>
                          </a:solidFill>
                          <a:latin typeface="Trebuchet MS"/>
                          <a:cs typeface="Trebuchet MS"/>
                        </a:rPr>
                        <a:t>2</a:t>
                      </a:r>
                      <a:endParaRPr sz="1400" dirty="0">
                        <a:solidFill>
                          <a:schemeClr val="tx1"/>
                        </a:solidFill>
                        <a:latin typeface="Trebuchet MS"/>
                        <a:cs typeface="Trebuchet MS"/>
                      </a:endParaRPr>
                    </a:p>
                  </a:txBody>
                  <a:tcPr marL="0" marR="0" marT="11938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580"/>
                        </a:lnSpc>
                      </a:pPr>
                      <a:r>
                        <a:rPr sz="1400" spc="-10" dirty="0">
                          <a:solidFill>
                            <a:srgbClr val="7030A0"/>
                          </a:solidFill>
                          <a:latin typeface="Trebuchet MS"/>
                          <a:cs typeface="Trebuchet MS"/>
                        </a:rPr>
                        <a:t>25,78</a:t>
                      </a:r>
                      <a:endParaRPr sz="1400">
                        <a:solidFill>
                          <a:srgbClr val="7030A0"/>
                        </a:solidFill>
                        <a:latin typeface="Trebuchet MS"/>
                        <a:cs typeface="Trebuchet MS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580"/>
                        </a:lnSpc>
                      </a:pPr>
                      <a:r>
                        <a:rPr sz="1400" spc="-10" dirty="0">
                          <a:solidFill>
                            <a:srgbClr val="7030A0"/>
                          </a:solidFill>
                          <a:latin typeface="Trebuchet MS"/>
                          <a:cs typeface="Trebuchet MS"/>
                        </a:rPr>
                        <a:t>20,57</a:t>
                      </a:r>
                      <a:endParaRPr sz="1400" dirty="0">
                        <a:solidFill>
                          <a:srgbClr val="7030A0"/>
                        </a:solidFill>
                        <a:latin typeface="Trebuchet MS"/>
                        <a:cs typeface="Trebuchet MS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580"/>
                        </a:lnSpc>
                      </a:pPr>
                      <a:r>
                        <a:rPr sz="1400" spc="-10" dirty="0">
                          <a:solidFill>
                            <a:srgbClr val="7030A0"/>
                          </a:solidFill>
                          <a:latin typeface="Trebuchet MS"/>
                          <a:cs typeface="Trebuchet MS"/>
                        </a:rPr>
                        <a:t>11,90</a:t>
                      </a:r>
                      <a:endParaRPr sz="1400">
                        <a:solidFill>
                          <a:srgbClr val="7030A0"/>
                        </a:solidFill>
                        <a:latin typeface="Trebuchet MS"/>
                        <a:cs typeface="Trebuchet MS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tc rowSpan="3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60"/>
                        </a:spcBef>
                      </a:pPr>
                      <a:endParaRPr sz="1400" dirty="0">
                        <a:solidFill>
                          <a:schemeClr val="tx1"/>
                        </a:solidFill>
                        <a:latin typeface="Times New Roman"/>
                        <a:cs typeface="Times New Roman"/>
                      </a:endParaRPr>
                    </a:p>
                    <a:p>
                      <a:pPr marL="414655">
                        <a:lnSpc>
                          <a:spcPct val="100000"/>
                        </a:lnSpc>
                      </a:pPr>
                      <a:r>
                        <a:rPr sz="1400" spc="-10" dirty="0">
                          <a:solidFill>
                            <a:schemeClr val="tx1"/>
                          </a:solidFill>
                          <a:latin typeface="Trebuchet MS"/>
                          <a:cs typeface="Trebuchet MS"/>
                        </a:rPr>
                        <a:t>15,86</a:t>
                      </a:r>
                      <a:endParaRPr sz="1400" dirty="0">
                        <a:solidFill>
                          <a:schemeClr val="tx1"/>
                        </a:solidFill>
                        <a:latin typeface="Trebuchet MS"/>
                        <a:cs typeface="Trebuchet MS"/>
                      </a:endParaRPr>
                    </a:p>
                  </a:txBody>
                  <a:tcPr marL="0" marR="0" marT="762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13360"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11938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5ECA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580"/>
                        </a:lnSpc>
                      </a:pPr>
                      <a:r>
                        <a:rPr sz="1400" spc="-10" dirty="0">
                          <a:solidFill>
                            <a:srgbClr val="7030A0"/>
                          </a:solidFill>
                          <a:latin typeface="Trebuchet MS"/>
                          <a:cs typeface="Trebuchet MS"/>
                        </a:rPr>
                        <a:t>18,45</a:t>
                      </a:r>
                      <a:endParaRPr sz="1400">
                        <a:solidFill>
                          <a:srgbClr val="7030A0"/>
                        </a:solidFill>
                        <a:latin typeface="Trebuchet MS"/>
                        <a:cs typeface="Trebuchet MS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580"/>
                        </a:lnSpc>
                      </a:pPr>
                      <a:r>
                        <a:rPr sz="1400" spc="-10" dirty="0">
                          <a:solidFill>
                            <a:srgbClr val="7030A0"/>
                          </a:solidFill>
                          <a:latin typeface="Trebuchet MS"/>
                          <a:cs typeface="Trebuchet MS"/>
                        </a:rPr>
                        <a:t>13,59</a:t>
                      </a:r>
                      <a:endParaRPr sz="1400" dirty="0">
                        <a:solidFill>
                          <a:srgbClr val="7030A0"/>
                        </a:solidFill>
                        <a:latin typeface="Trebuchet MS"/>
                        <a:cs typeface="Trebuchet MS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580"/>
                        </a:lnSpc>
                      </a:pPr>
                      <a:r>
                        <a:rPr sz="1400" spc="-20" dirty="0">
                          <a:solidFill>
                            <a:srgbClr val="7030A0"/>
                          </a:solidFill>
                          <a:latin typeface="Trebuchet MS"/>
                          <a:cs typeface="Trebuchet MS"/>
                        </a:rPr>
                        <a:t>7,63</a:t>
                      </a:r>
                      <a:endParaRPr sz="1400" dirty="0">
                        <a:solidFill>
                          <a:srgbClr val="7030A0"/>
                        </a:solidFill>
                        <a:latin typeface="Trebuchet MS"/>
                        <a:cs typeface="Trebuchet MS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762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9F6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12725"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11938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5ECA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580"/>
                        </a:lnSpc>
                      </a:pPr>
                      <a:r>
                        <a:rPr sz="1400" spc="-10" dirty="0">
                          <a:solidFill>
                            <a:srgbClr val="7030A0"/>
                          </a:solidFill>
                          <a:latin typeface="Trebuchet MS"/>
                          <a:cs typeface="Trebuchet MS"/>
                        </a:rPr>
                        <a:t>17,52</a:t>
                      </a:r>
                      <a:endParaRPr sz="1400">
                        <a:solidFill>
                          <a:srgbClr val="7030A0"/>
                        </a:solidFill>
                        <a:latin typeface="Trebuchet MS"/>
                        <a:cs typeface="Trebuchet MS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580"/>
                        </a:lnSpc>
                      </a:pPr>
                      <a:r>
                        <a:rPr sz="1400" spc="-10" dirty="0">
                          <a:solidFill>
                            <a:srgbClr val="7030A0"/>
                          </a:solidFill>
                          <a:latin typeface="Trebuchet MS"/>
                          <a:cs typeface="Trebuchet MS"/>
                        </a:rPr>
                        <a:t>21,40</a:t>
                      </a:r>
                      <a:endParaRPr sz="1400" dirty="0">
                        <a:solidFill>
                          <a:srgbClr val="7030A0"/>
                        </a:solidFill>
                        <a:latin typeface="Trebuchet MS"/>
                        <a:cs typeface="Trebuchet MS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580"/>
                        </a:lnSpc>
                      </a:pPr>
                      <a:r>
                        <a:rPr sz="1400" spc="-20" dirty="0">
                          <a:solidFill>
                            <a:srgbClr val="7030A0"/>
                          </a:solidFill>
                          <a:latin typeface="Trebuchet MS"/>
                          <a:cs typeface="Trebuchet MS"/>
                        </a:rPr>
                        <a:t>5,92</a:t>
                      </a:r>
                      <a:endParaRPr sz="1400" dirty="0">
                        <a:solidFill>
                          <a:srgbClr val="7030A0"/>
                        </a:solidFill>
                        <a:latin typeface="Trebuchet MS"/>
                        <a:cs typeface="Trebuchet MS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762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9F6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marR="0" lvl="0" indent="0" algn="l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400" b="1" kern="1200" dirty="0">
                          <a:solidFill>
                            <a:schemeClr val="tx1"/>
                          </a:solidFill>
                          <a:latin typeface="Trebuchet MS"/>
                          <a:ea typeface="+mn-ea"/>
                          <a:cs typeface="Times New Roman"/>
                        </a:rPr>
                        <a:t>Среднее </a:t>
                      </a:r>
                      <a:r>
                        <a:rPr lang="en-US" sz="1600" b="1" kern="1200" dirty="0" err="1">
                          <a:solidFill>
                            <a:schemeClr val="tx1"/>
                          </a:solidFill>
                          <a:latin typeface="Trebuchet MS"/>
                          <a:ea typeface="+mn-ea"/>
                          <a:cs typeface="Times New Roman"/>
                        </a:rPr>
                        <a:t>x</a:t>
                      </a:r>
                      <a:r>
                        <a:rPr lang="en-US" sz="1600" b="1" kern="1200" baseline="-25000" dirty="0" err="1">
                          <a:solidFill>
                            <a:schemeClr val="tx1"/>
                          </a:solidFill>
                          <a:latin typeface="Trebuchet MS"/>
                          <a:ea typeface="+mn-ea"/>
                          <a:cs typeface="Times New Roman"/>
                        </a:rPr>
                        <a:t>j</a:t>
                      </a:r>
                      <a:endParaRPr sz="1600" baseline="-25000" dirty="0">
                        <a:solidFill>
                          <a:schemeClr val="tx1"/>
                        </a:solidFill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29"/>
                        </a:spcBef>
                      </a:pPr>
                      <a:r>
                        <a:rPr sz="1400" spc="-10" dirty="0">
                          <a:solidFill>
                            <a:schemeClr val="tx1"/>
                          </a:solidFill>
                          <a:latin typeface="Trebuchet MS"/>
                          <a:cs typeface="Trebuchet MS"/>
                        </a:rPr>
                        <a:t>18,73</a:t>
                      </a:r>
                      <a:endParaRPr sz="1400">
                        <a:solidFill>
                          <a:schemeClr val="tx1"/>
                        </a:solidFill>
                        <a:latin typeface="Trebuchet MS"/>
                        <a:cs typeface="Trebuchet MS"/>
                      </a:endParaRPr>
                    </a:p>
                  </a:txBody>
                  <a:tcPr marL="0" marR="0" marT="29209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29"/>
                        </a:spcBef>
                      </a:pPr>
                      <a:r>
                        <a:rPr sz="1400" spc="-10" dirty="0">
                          <a:solidFill>
                            <a:schemeClr val="tx1"/>
                          </a:solidFill>
                          <a:latin typeface="Trebuchet MS"/>
                          <a:cs typeface="Trebuchet MS"/>
                        </a:rPr>
                        <a:t>18,14</a:t>
                      </a:r>
                      <a:endParaRPr sz="1400">
                        <a:solidFill>
                          <a:schemeClr val="tx1"/>
                        </a:solidFill>
                        <a:latin typeface="Trebuchet MS"/>
                        <a:cs typeface="Trebuchet MS"/>
                      </a:endParaRPr>
                    </a:p>
                  </a:txBody>
                  <a:tcPr marL="0" marR="0" marT="29209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29"/>
                        </a:spcBef>
                      </a:pPr>
                      <a:r>
                        <a:rPr sz="1400" spc="-20" dirty="0">
                          <a:solidFill>
                            <a:schemeClr val="tx1"/>
                          </a:solidFill>
                          <a:latin typeface="Trebuchet MS"/>
                          <a:cs typeface="Trebuchet MS"/>
                        </a:rPr>
                        <a:t>8,72</a:t>
                      </a:r>
                      <a:endParaRPr sz="1400" dirty="0">
                        <a:solidFill>
                          <a:schemeClr val="tx1"/>
                        </a:solidFill>
                        <a:latin typeface="Trebuchet MS"/>
                        <a:cs typeface="Trebuchet MS"/>
                      </a:endParaRPr>
                    </a:p>
                  </a:txBody>
                  <a:tcPr marL="0" marR="0" marT="29209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414655" algn="l" defTabSz="685800" rtl="0" eaLnBrk="1" latinLnBrk="0" hangingPunct="1">
                        <a:lnSpc>
                          <a:spcPct val="100000"/>
                        </a:lnSpc>
                      </a:pPr>
                      <a:r>
                        <a:rPr lang="en-US" sz="1400" kern="1200" spc="-10" dirty="0">
                          <a:solidFill>
                            <a:schemeClr val="tx1"/>
                          </a:solidFill>
                          <a:latin typeface="Trebuchet MS"/>
                          <a:ea typeface="+mn-ea"/>
                          <a:cs typeface="Times New Roman"/>
                        </a:rPr>
                        <a:t>x =15,2</a:t>
                      </a:r>
                      <a:endParaRPr sz="1400" kern="1200" spc="-10" dirty="0">
                        <a:solidFill>
                          <a:schemeClr val="tx1"/>
                        </a:solidFill>
                        <a:latin typeface="Trebuchet MS"/>
                        <a:ea typeface="+mn-ea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cxnSp>
        <p:nvCxnSpPr>
          <p:cNvPr id="14" name="Прямая соединительная линия 13">
            <a:extLst>
              <a:ext uri="{FF2B5EF4-FFF2-40B4-BE49-F238E27FC236}">
                <a16:creationId xmlns:a16="http://schemas.microsoft.com/office/drawing/2014/main" id="{F67AEA54-B613-4F04-A9B9-0DB906F1D408}"/>
              </a:ext>
            </a:extLst>
          </p:cNvPr>
          <p:cNvCxnSpPr/>
          <p:nvPr/>
        </p:nvCxnSpPr>
        <p:spPr>
          <a:xfrm>
            <a:off x="1819656" y="4779264"/>
            <a:ext cx="152400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6" name="Прямая соединительная линия 15">
            <a:extLst>
              <a:ext uri="{FF2B5EF4-FFF2-40B4-BE49-F238E27FC236}">
                <a16:creationId xmlns:a16="http://schemas.microsoft.com/office/drawing/2014/main" id="{6098C3C9-9D94-4769-A74E-67B005868C15}"/>
              </a:ext>
            </a:extLst>
          </p:cNvPr>
          <p:cNvCxnSpPr/>
          <p:nvPr/>
        </p:nvCxnSpPr>
        <p:spPr>
          <a:xfrm>
            <a:off x="7059168" y="3108960"/>
            <a:ext cx="164592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2" name="Прямая соединительная линия 21">
            <a:extLst>
              <a:ext uri="{FF2B5EF4-FFF2-40B4-BE49-F238E27FC236}">
                <a16:creationId xmlns:a16="http://schemas.microsoft.com/office/drawing/2014/main" id="{FD24B42E-FBD8-4BE0-A9ED-C244E3608018}"/>
              </a:ext>
            </a:extLst>
          </p:cNvPr>
          <p:cNvCxnSpPr>
            <a:cxnSpLocks/>
          </p:cNvCxnSpPr>
          <p:nvPr/>
        </p:nvCxnSpPr>
        <p:spPr>
          <a:xfrm>
            <a:off x="6508750" y="4791075"/>
            <a:ext cx="136525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4" name="Прямая соединительная линия 23">
            <a:extLst>
              <a:ext uri="{FF2B5EF4-FFF2-40B4-BE49-F238E27FC236}">
                <a16:creationId xmlns:a16="http://schemas.microsoft.com/office/drawing/2014/main" id="{D7514836-1277-45A8-93F6-6C39E9F7335E}"/>
              </a:ext>
            </a:extLst>
          </p:cNvPr>
          <p:cNvCxnSpPr/>
          <p:nvPr/>
        </p:nvCxnSpPr>
        <p:spPr>
          <a:xfrm>
            <a:off x="6505575" y="4752975"/>
            <a:ext cx="139700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6" name="Номер слайда 55">
            <a:extLst>
              <a:ext uri="{FF2B5EF4-FFF2-40B4-BE49-F238E27FC236}">
                <a16:creationId xmlns:a16="http://schemas.microsoft.com/office/drawing/2014/main" id="{08E0AF3A-3A9D-46F7-894B-FCF5FAF80AE2}"/>
              </a:ext>
            </a:extLst>
          </p:cNvPr>
          <p:cNvSpPr txBox="1">
            <a:spLocks/>
          </p:cNvSpPr>
          <p:nvPr/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kern="0"/>
            </a:defPPr>
            <a:lvl1pPr marL="38100" algn="r">
              <a:lnSpc>
                <a:spcPct val="100000"/>
              </a:lnSpc>
              <a:spcBef>
                <a:spcPts val="244"/>
              </a:spcBef>
              <a:defRPr sz="1500" spc="-25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1D60167-4931-47E6-BA6A-407CBD079E47}" type="slidenum">
              <a:rPr lang="ru-RU"/>
              <a:pPr/>
              <a:t>65</a:t>
            </a:fld>
            <a:endParaRPr lang="ru-RU" dirty="0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1000125" y="146050"/>
            <a:ext cx="7704455" cy="400050"/>
          </a:xfrm>
          <a:custGeom>
            <a:avLst/>
            <a:gdLst/>
            <a:ahLst/>
            <a:cxnLst/>
            <a:rect l="l" t="t" r="r" b="b"/>
            <a:pathLst>
              <a:path w="7704455" h="400050">
                <a:moveTo>
                  <a:pt x="7704137" y="0"/>
                </a:moveTo>
                <a:lnTo>
                  <a:pt x="0" y="0"/>
                </a:lnTo>
                <a:lnTo>
                  <a:pt x="0" y="400050"/>
                </a:lnTo>
                <a:lnTo>
                  <a:pt x="7704137" y="400050"/>
                </a:lnTo>
                <a:lnTo>
                  <a:pt x="7704137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1275716" y="318135"/>
            <a:ext cx="7268209" cy="3302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algn="ctr">
              <a:lnSpc>
                <a:spcPct val="100000"/>
              </a:lnSpc>
              <a:spcBef>
                <a:spcPts val="100"/>
              </a:spcBef>
            </a:pPr>
            <a:r>
              <a:rPr sz="2000" spc="-10" dirty="0"/>
              <a:t>Двухфакторный</a:t>
            </a:r>
            <a:r>
              <a:rPr sz="2000" b="0" spc="-30" dirty="0">
                <a:latin typeface="Times New Roman"/>
                <a:cs typeface="Times New Roman"/>
              </a:rPr>
              <a:t> </a:t>
            </a:r>
            <a:r>
              <a:rPr sz="2000" dirty="0"/>
              <a:t>дисперсионный</a:t>
            </a:r>
            <a:r>
              <a:rPr sz="2000" b="0" spc="-30" dirty="0">
                <a:latin typeface="Times New Roman"/>
                <a:cs typeface="Times New Roman"/>
              </a:rPr>
              <a:t> </a:t>
            </a:r>
            <a:r>
              <a:rPr sz="2000" dirty="0"/>
              <a:t>анализ</a:t>
            </a:r>
            <a:r>
              <a:rPr sz="2000" b="0" spc="-20" dirty="0">
                <a:latin typeface="Times New Roman"/>
                <a:cs typeface="Times New Roman"/>
              </a:rPr>
              <a:t> </a:t>
            </a:r>
            <a:r>
              <a:rPr sz="2000" dirty="0"/>
              <a:t>с</a:t>
            </a:r>
            <a:r>
              <a:rPr sz="2000" b="0" spc="-25" dirty="0">
                <a:latin typeface="Times New Roman"/>
                <a:cs typeface="Times New Roman"/>
              </a:rPr>
              <a:t> </a:t>
            </a:r>
            <a:r>
              <a:rPr sz="2000" spc="-10" dirty="0"/>
              <a:t>повторениями</a:t>
            </a:r>
            <a:endParaRPr sz="2000" dirty="0">
              <a:latin typeface="Times New Roman"/>
              <a:cs typeface="Times New Roman"/>
            </a:endParaRPr>
          </a:p>
        </p:txBody>
      </p:sp>
      <p:sp>
        <p:nvSpPr>
          <p:cNvPr id="11" name="Нижний колонтитул 10">
            <a:extLst>
              <a:ext uri="{FF2B5EF4-FFF2-40B4-BE49-F238E27FC236}">
                <a16:creationId xmlns:a16="http://schemas.microsoft.com/office/drawing/2014/main" id="{FD5B85A5-F260-4EBC-B068-C2F99B3649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8" name="object 8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362200" y="3863344"/>
            <a:ext cx="5723660" cy="1907541"/>
          </a:xfrm>
          <a:prstGeom prst="rect">
            <a:avLst/>
          </a:prstGeom>
        </p:spPr>
      </p:pic>
      <p:graphicFrame>
        <p:nvGraphicFramePr>
          <p:cNvPr id="12" name="object 9">
            <a:extLst>
              <a:ext uri="{FF2B5EF4-FFF2-40B4-BE49-F238E27FC236}">
                <a16:creationId xmlns:a16="http://schemas.microsoft.com/office/drawing/2014/main" id="{32D4EBF6-4572-4903-85D4-3F22196F193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47553886"/>
              </p:ext>
            </p:extLst>
          </p:nvPr>
        </p:nvGraphicFramePr>
        <p:xfrm>
          <a:off x="1537958" y="1093470"/>
          <a:ext cx="6350000" cy="1978659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27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70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70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270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2700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426084">
                <a:tc>
                  <a:txBody>
                    <a:bodyPr/>
                    <a:lstStyle/>
                    <a:p>
                      <a:pPr marL="68580" marR="258445">
                        <a:lnSpc>
                          <a:spcPts val="1610"/>
                        </a:lnSpc>
                        <a:spcBef>
                          <a:spcPts val="40"/>
                        </a:spcBef>
                      </a:pPr>
                      <a:r>
                        <a:rPr sz="1400" b="1" spc="-10" dirty="0">
                          <a:solidFill>
                            <a:schemeClr val="tx1"/>
                          </a:solidFill>
                          <a:latin typeface="Trebuchet MS"/>
                          <a:cs typeface="Trebuchet MS"/>
                        </a:rPr>
                        <a:t>Рекламная</a:t>
                      </a:r>
                      <a:r>
                        <a:rPr sz="1400" spc="-10" dirty="0">
                          <a:solidFill>
                            <a:schemeClr val="tx1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400" b="1" spc="-10" dirty="0">
                          <a:solidFill>
                            <a:schemeClr val="tx1"/>
                          </a:solidFill>
                          <a:latin typeface="Trebuchet MS"/>
                          <a:cs typeface="Trebuchet MS"/>
                        </a:rPr>
                        <a:t>кампания</a:t>
                      </a:r>
                      <a:endParaRPr sz="1400" dirty="0">
                        <a:solidFill>
                          <a:schemeClr val="tx1"/>
                        </a:solidFill>
                        <a:latin typeface="Trebuchet MS"/>
                        <a:cs typeface="Trebuchet MS"/>
                      </a:endParaRPr>
                    </a:p>
                  </a:txBody>
                  <a:tcPr marL="0" marR="0" marT="508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830"/>
                        </a:spcBef>
                      </a:pPr>
                      <a:r>
                        <a:rPr sz="1400" b="1" dirty="0">
                          <a:solidFill>
                            <a:schemeClr val="tx1"/>
                          </a:solidFill>
                          <a:latin typeface="Trebuchet MS"/>
                          <a:cs typeface="Trebuchet MS"/>
                        </a:rPr>
                        <a:t>1</a:t>
                      </a:r>
                      <a:r>
                        <a:rPr sz="1400" spc="65" dirty="0">
                          <a:solidFill>
                            <a:schemeClr val="tx1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400" b="1" spc="-10" dirty="0">
                          <a:solidFill>
                            <a:schemeClr val="tx1"/>
                          </a:solidFill>
                          <a:latin typeface="Trebuchet MS"/>
                          <a:cs typeface="Trebuchet MS"/>
                        </a:rPr>
                        <a:t>магазин</a:t>
                      </a:r>
                      <a:endParaRPr sz="1400" dirty="0">
                        <a:solidFill>
                          <a:schemeClr val="tx1"/>
                        </a:solidFill>
                        <a:latin typeface="Trebuchet MS"/>
                        <a:cs typeface="Trebuchet MS"/>
                      </a:endParaRPr>
                    </a:p>
                  </a:txBody>
                  <a:tcPr marL="0" marR="0" marT="10541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830"/>
                        </a:spcBef>
                      </a:pPr>
                      <a:r>
                        <a:rPr sz="1400" b="1" dirty="0">
                          <a:solidFill>
                            <a:schemeClr val="tx1"/>
                          </a:solidFill>
                          <a:latin typeface="Trebuchet MS"/>
                          <a:cs typeface="Trebuchet MS"/>
                        </a:rPr>
                        <a:t>2</a:t>
                      </a:r>
                      <a:r>
                        <a:rPr sz="1400" spc="65" dirty="0">
                          <a:solidFill>
                            <a:schemeClr val="tx1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400" b="1" spc="-10" dirty="0">
                          <a:solidFill>
                            <a:schemeClr val="tx1"/>
                          </a:solidFill>
                          <a:latin typeface="Trebuchet MS"/>
                          <a:cs typeface="Trebuchet MS"/>
                        </a:rPr>
                        <a:t>магазин</a:t>
                      </a:r>
                      <a:endParaRPr sz="1400" dirty="0">
                        <a:solidFill>
                          <a:schemeClr val="tx1"/>
                        </a:solidFill>
                        <a:latin typeface="Trebuchet MS"/>
                        <a:cs typeface="Trebuchet MS"/>
                      </a:endParaRPr>
                    </a:p>
                  </a:txBody>
                  <a:tcPr marL="0" marR="0" marT="10541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685800" rtl="0" eaLnBrk="1" latinLnBrk="0" hangingPunct="1">
                        <a:lnSpc>
                          <a:spcPct val="100000"/>
                        </a:lnSpc>
                        <a:spcBef>
                          <a:spcPts val="830"/>
                        </a:spcBef>
                      </a:pPr>
                      <a:r>
                        <a:rPr sz="1400" b="1" kern="1200" dirty="0">
                          <a:solidFill>
                            <a:schemeClr val="tx1"/>
                          </a:solidFill>
                          <a:latin typeface="Trebuchet MS"/>
                          <a:ea typeface="+mn-ea"/>
                          <a:cs typeface="Trebuchet MS"/>
                        </a:rPr>
                        <a:t>3</a:t>
                      </a:r>
                      <a:r>
                        <a:rPr sz="1400" b="1" kern="1200" dirty="0">
                          <a:solidFill>
                            <a:schemeClr val="tx1"/>
                          </a:solidFill>
                          <a:latin typeface="Trebuchet MS"/>
                          <a:ea typeface="+mn-ea"/>
                          <a:cs typeface="Times New Roman"/>
                        </a:rPr>
                        <a:t> </a:t>
                      </a:r>
                      <a:r>
                        <a:rPr sz="1400" b="1" kern="1200" dirty="0">
                          <a:solidFill>
                            <a:schemeClr val="tx1"/>
                          </a:solidFill>
                          <a:latin typeface="Trebuchet MS"/>
                          <a:ea typeface="+mn-ea"/>
                          <a:cs typeface="Trebuchet MS"/>
                        </a:rPr>
                        <a:t>магазин</a:t>
                      </a:r>
                    </a:p>
                  </a:txBody>
                  <a:tcPr marL="0" marR="0" marT="10541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685800" rtl="0" eaLnBrk="1" latinLnBrk="0" hangingPunct="1">
                        <a:lnSpc>
                          <a:spcPct val="150000"/>
                        </a:lnSpc>
                        <a:spcBef>
                          <a:spcPts val="830"/>
                        </a:spcBef>
                      </a:pPr>
                      <a:r>
                        <a:rPr lang="ru-RU" sz="1400" b="1" kern="1200" dirty="0">
                          <a:solidFill>
                            <a:schemeClr val="tx1"/>
                          </a:solidFill>
                          <a:latin typeface="Trebuchet MS"/>
                          <a:ea typeface="+mn-ea"/>
                          <a:cs typeface="Times New Roman"/>
                        </a:rPr>
                        <a:t>Среднее </a:t>
                      </a:r>
                      <a:r>
                        <a:rPr lang="en-US" sz="1400" b="1" kern="1200" dirty="0">
                          <a:solidFill>
                            <a:schemeClr val="tx1"/>
                          </a:solidFill>
                          <a:latin typeface="Trebuchet MS"/>
                          <a:ea typeface="+mn-ea"/>
                          <a:cs typeface="Times New Roman"/>
                        </a:rPr>
                        <a:t>x</a:t>
                      </a:r>
                      <a:r>
                        <a:rPr lang="en-US" sz="1400" b="1" kern="1200" baseline="-25000" dirty="0">
                          <a:solidFill>
                            <a:schemeClr val="tx1"/>
                          </a:solidFill>
                          <a:latin typeface="Trebuchet MS"/>
                          <a:ea typeface="+mn-ea"/>
                          <a:cs typeface="Times New Roman"/>
                        </a:rPr>
                        <a:t>i</a:t>
                      </a:r>
                      <a:endParaRPr sz="1400" b="1" kern="1200" baseline="-25000" dirty="0">
                        <a:solidFill>
                          <a:schemeClr val="tx1"/>
                        </a:solidFill>
                        <a:latin typeface="Trebuchet MS"/>
                        <a:ea typeface="+mn-ea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12725">
                <a:tc rowSpan="3">
                  <a:txBody>
                    <a:bodyPr/>
                    <a:lstStyle/>
                    <a:p>
                      <a:pPr marL="68580" marR="204470">
                        <a:lnSpc>
                          <a:spcPts val="1610"/>
                        </a:lnSpc>
                        <a:spcBef>
                          <a:spcPts val="940"/>
                        </a:spcBef>
                      </a:pPr>
                      <a:r>
                        <a:rPr sz="1400" b="1" spc="-10" dirty="0">
                          <a:solidFill>
                            <a:schemeClr val="tx1"/>
                          </a:solidFill>
                          <a:latin typeface="Trebuchet MS"/>
                          <a:cs typeface="Trebuchet MS"/>
                        </a:rPr>
                        <a:t>Рекламная</a:t>
                      </a:r>
                      <a:r>
                        <a:rPr sz="1400" spc="-10" dirty="0">
                          <a:solidFill>
                            <a:schemeClr val="tx1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400" b="1" dirty="0">
                          <a:solidFill>
                            <a:schemeClr val="tx1"/>
                          </a:solidFill>
                          <a:latin typeface="Trebuchet MS"/>
                          <a:cs typeface="Trebuchet MS"/>
                        </a:rPr>
                        <a:t>кампания</a:t>
                      </a:r>
                      <a:r>
                        <a:rPr sz="1400" spc="10" dirty="0">
                          <a:solidFill>
                            <a:schemeClr val="tx1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400" b="1" spc="-50" dirty="0">
                          <a:solidFill>
                            <a:schemeClr val="tx1"/>
                          </a:solidFill>
                          <a:latin typeface="Trebuchet MS"/>
                          <a:cs typeface="Trebuchet MS"/>
                        </a:rPr>
                        <a:t>1</a:t>
                      </a:r>
                      <a:endParaRPr sz="1400">
                        <a:solidFill>
                          <a:schemeClr val="tx1"/>
                        </a:solidFill>
                        <a:latin typeface="Trebuchet MS"/>
                        <a:cs typeface="Trebuchet MS"/>
                      </a:endParaRPr>
                    </a:p>
                  </a:txBody>
                  <a:tcPr marL="0" marR="0" marT="11938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580"/>
                        </a:lnSpc>
                      </a:pPr>
                      <a:r>
                        <a:rPr sz="1400" spc="-10" dirty="0">
                          <a:solidFill>
                            <a:srgbClr val="7030A0"/>
                          </a:solidFill>
                          <a:latin typeface="Trebuchet MS"/>
                          <a:cs typeface="Trebuchet MS"/>
                        </a:rPr>
                        <a:t>23,94</a:t>
                      </a:r>
                      <a:endParaRPr sz="1400" dirty="0">
                        <a:solidFill>
                          <a:srgbClr val="7030A0"/>
                        </a:solidFill>
                        <a:latin typeface="Trebuchet MS"/>
                        <a:cs typeface="Trebuchet MS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580"/>
                        </a:lnSpc>
                      </a:pPr>
                      <a:r>
                        <a:rPr sz="1400" spc="-10" dirty="0">
                          <a:solidFill>
                            <a:srgbClr val="7030A0"/>
                          </a:solidFill>
                          <a:latin typeface="Trebuchet MS"/>
                          <a:cs typeface="Trebuchet MS"/>
                        </a:rPr>
                        <a:t>15,17</a:t>
                      </a:r>
                      <a:endParaRPr sz="1400">
                        <a:solidFill>
                          <a:srgbClr val="7030A0"/>
                        </a:solidFill>
                        <a:latin typeface="Trebuchet MS"/>
                        <a:cs typeface="Trebuchet MS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580"/>
                        </a:lnSpc>
                      </a:pPr>
                      <a:r>
                        <a:rPr sz="1400" spc="-10" dirty="0">
                          <a:solidFill>
                            <a:srgbClr val="7030A0"/>
                          </a:solidFill>
                          <a:latin typeface="Trebuchet MS"/>
                          <a:cs typeface="Trebuchet MS"/>
                        </a:rPr>
                        <a:t>10,47</a:t>
                      </a:r>
                      <a:endParaRPr sz="1400">
                        <a:solidFill>
                          <a:srgbClr val="7030A0"/>
                        </a:solidFill>
                        <a:latin typeface="Trebuchet MS"/>
                        <a:cs typeface="Trebuchet MS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tc rowSpan="3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60"/>
                        </a:spcBef>
                      </a:pPr>
                      <a:endParaRPr sz="1400" dirty="0">
                        <a:solidFill>
                          <a:schemeClr val="tx1"/>
                        </a:solidFill>
                        <a:latin typeface="Times New Roman"/>
                        <a:cs typeface="Times New Roman"/>
                      </a:endParaRPr>
                    </a:p>
                    <a:p>
                      <a:pPr marL="414655">
                        <a:lnSpc>
                          <a:spcPct val="100000"/>
                        </a:lnSpc>
                      </a:pPr>
                      <a:r>
                        <a:rPr sz="1400" spc="-10" dirty="0">
                          <a:solidFill>
                            <a:schemeClr val="tx1"/>
                          </a:solidFill>
                          <a:latin typeface="Trebuchet MS"/>
                          <a:cs typeface="Trebuchet MS"/>
                        </a:rPr>
                        <a:t>14,53</a:t>
                      </a:r>
                      <a:endParaRPr sz="1400" dirty="0">
                        <a:solidFill>
                          <a:schemeClr val="tx1"/>
                        </a:solidFill>
                        <a:latin typeface="Trebuchet MS"/>
                        <a:cs typeface="Trebuchet MS"/>
                      </a:endParaRPr>
                    </a:p>
                  </a:txBody>
                  <a:tcPr marL="0" marR="0" marT="762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13360"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11938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5ECA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580"/>
                        </a:lnSpc>
                      </a:pPr>
                      <a:r>
                        <a:rPr sz="1400" spc="-10" dirty="0">
                          <a:solidFill>
                            <a:srgbClr val="7030A0"/>
                          </a:solidFill>
                          <a:latin typeface="Trebuchet MS"/>
                          <a:cs typeface="Trebuchet MS"/>
                        </a:rPr>
                        <a:t>14,63</a:t>
                      </a:r>
                      <a:endParaRPr sz="1400" dirty="0">
                        <a:solidFill>
                          <a:srgbClr val="7030A0"/>
                        </a:solidFill>
                        <a:latin typeface="Trebuchet MS"/>
                        <a:cs typeface="Trebuchet MS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580"/>
                        </a:lnSpc>
                      </a:pPr>
                      <a:r>
                        <a:rPr sz="1400" spc="-10" dirty="0">
                          <a:solidFill>
                            <a:srgbClr val="7030A0"/>
                          </a:solidFill>
                          <a:latin typeface="Trebuchet MS"/>
                          <a:cs typeface="Trebuchet MS"/>
                        </a:rPr>
                        <a:t>19,57</a:t>
                      </a:r>
                      <a:endParaRPr sz="1400">
                        <a:solidFill>
                          <a:srgbClr val="7030A0"/>
                        </a:solidFill>
                        <a:latin typeface="Trebuchet MS"/>
                        <a:cs typeface="Trebuchet MS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580"/>
                        </a:lnSpc>
                      </a:pPr>
                      <a:r>
                        <a:rPr sz="1400" spc="-20" dirty="0">
                          <a:solidFill>
                            <a:srgbClr val="7030A0"/>
                          </a:solidFill>
                          <a:latin typeface="Trebuchet MS"/>
                          <a:cs typeface="Trebuchet MS"/>
                        </a:rPr>
                        <a:t>6,92</a:t>
                      </a:r>
                      <a:endParaRPr sz="1400" dirty="0">
                        <a:solidFill>
                          <a:srgbClr val="7030A0"/>
                        </a:solidFill>
                        <a:latin typeface="Trebuchet MS"/>
                        <a:cs typeface="Trebuchet MS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762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2EB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13360"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11938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5ECA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580"/>
                        </a:lnSpc>
                      </a:pPr>
                      <a:r>
                        <a:rPr sz="1400" spc="-10" dirty="0">
                          <a:solidFill>
                            <a:srgbClr val="7030A0"/>
                          </a:solidFill>
                          <a:latin typeface="Trebuchet MS"/>
                          <a:cs typeface="Trebuchet MS"/>
                        </a:rPr>
                        <a:t>12,05</a:t>
                      </a:r>
                      <a:endParaRPr sz="1400" dirty="0">
                        <a:solidFill>
                          <a:srgbClr val="7030A0"/>
                        </a:solidFill>
                        <a:latin typeface="Trebuchet MS"/>
                        <a:cs typeface="Trebuchet MS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580"/>
                        </a:lnSpc>
                      </a:pPr>
                      <a:r>
                        <a:rPr sz="1400" spc="-10" dirty="0">
                          <a:solidFill>
                            <a:srgbClr val="7030A0"/>
                          </a:solidFill>
                          <a:latin typeface="Trebuchet MS"/>
                          <a:cs typeface="Trebuchet MS"/>
                        </a:rPr>
                        <a:t>18,52</a:t>
                      </a:r>
                      <a:endParaRPr sz="1400" dirty="0">
                        <a:solidFill>
                          <a:srgbClr val="7030A0"/>
                        </a:solidFill>
                        <a:latin typeface="Trebuchet MS"/>
                        <a:cs typeface="Trebuchet MS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580"/>
                        </a:lnSpc>
                      </a:pPr>
                      <a:r>
                        <a:rPr sz="1400" spc="-20" dirty="0">
                          <a:solidFill>
                            <a:srgbClr val="7030A0"/>
                          </a:solidFill>
                          <a:latin typeface="Trebuchet MS"/>
                          <a:cs typeface="Trebuchet MS"/>
                        </a:rPr>
                        <a:t>9,48</a:t>
                      </a:r>
                      <a:endParaRPr sz="1400">
                        <a:solidFill>
                          <a:srgbClr val="7030A0"/>
                        </a:solidFill>
                        <a:latin typeface="Trebuchet MS"/>
                        <a:cs typeface="Trebuchet MS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762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2EB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12725">
                <a:tc rowSpan="3">
                  <a:txBody>
                    <a:bodyPr/>
                    <a:lstStyle/>
                    <a:p>
                      <a:pPr marL="68580" marR="204470">
                        <a:lnSpc>
                          <a:spcPts val="1610"/>
                        </a:lnSpc>
                        <a:spcBef>
                          <a:spcPts val="940"/>
                        </a:spcBef>
                      </a:pPr>
                      <a:r>
                        <a:rPr sz="1400" b="1" spc="-10" dirty="0">
                          <a:solidFill>
                            <a:schemeClr val="tx1"/>
                          </a:solidFill>
                          <a:latin typeface="Trebuchet MS"/>
                          <a:cs typeface="Trebuchet MS"/>
                        </a:rPr>
                        <a:t>Рекламная</a:t>
                      </a:r>
                      <a:r>
                        <a:rPr sz="1400" spc="-10" dirty="0">
                          <a:solidFill>
                            <a:schemeClr val="tx1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400" b="1" dirty="0">
                          <a:solidFill>
                            <a:schemeClr val="tx1"/>
                          </a:solidFill>
                          <a:latin typeface="Trebuchet MS"/>
                          <a:cs typeface="Trebuchet MS"/>
                        </a:rPr>
                        <a:t>кампания</a:t>
                      </a:r>
                      <a:r>
                        <a:rPr sz="1400" spc="10" dirty="0">
                          <a:solidFill>
                            <a:schemeClr val="tx1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400" b="1" spc="-50" dirty="0">
                          <a:solidFill>
                            <a:schemeClr val="tx1"/>
                          </a:solidFill>
                          <a:latin typeface="Trebuchet MS"/>
                          <a:cs typeface="Trebuchet MS"/>
                        </a:rPr>
                        <a:t>2</a:t>
                      </a:r>
                      <a:endParaRPr sz="1400" dirty="0">
                        <a:solidFill>
                          <a:schemeClr val="tx1"/>
                        </a:solidFill>
                        <a:latin typeface="Trebuchet MS"/>
                        <a:cs typeface="Trebuchet MS"/>
                      </a:endParaRPr>
                    </a:p>
                  </a:txBody>
                  <a:tcPr marL="0" marR="0" marT="11938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580"/>
                        </a:lnSpc>
                      </a:pPr>
                      <a:r>
                        <a:rPr sz="1400" spc="-10" dirty="0">
                          <a:solidFill>
                            <a:srgbClr val="7030A0"/>
                          </a:solidFill>
                          <a:latin typeface="Trebuchet MS"/>
                          <a:cs typeface="Trebuchet MS"/>
                        </a:rPr>
                        <a:t>25,78</a:t>
                      </a:r>
                      <a:endParaRPr sz="1400">
                        <a:solidFill>
                          <a:srgbClr val="7030A0"/>
                        </a:solidFill>
                        <a:latin typeface="Trebuchet MS"/>
                        <a:cs typeface="Trebuchet MS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580"/>
                        </a:lnSpc>
                      </a:pPr>
                      <a:r>
                        <a:rPr sz="1400" spc="-10" dirty="0">
                          <a:solidFill>
                            <a:srgbClr val="7030A0"/>
                          </a:solidFill>
                          <a:latin typeface="Trebuchet MS"/>
                          <a:cs typeface="Trebuchet MS"/>
                        </a:rPr>
                        <a:t>20,57</a:t>
                      </a:r>
                      <a:endParaRPr sz="1400" dirty="0">
                        <a:solidFill>
                          <a:srgbClr val="7030A0"/>
                        </a:solidFill>
                        <a:latin typeface="Trebuchet MS"/>
                        <a:cs typeface="Trebuchet MS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580"/>
                        </a:lnSpc>
                      </a:pPr>
                      <a:r>
                        <a:rPr sz="1400" spc="-10" dirty="0">
                          <a:solidFill>
                            <a:srgbClr val="7030A0"/>
                          </a:solidFill>
                          <a:latin typeface="Trebuchet MS"/>
                          <a:cs typeface="Trebuchet MS"/>
                        </a:rPr>
                        <a:t>11,90</a:t>
                      </a:r>
                      <a:endParaRPr sz="1400">
                        <a:solidFill>
                          <a:srgbClr val="7030A0"/>
                        </a:solidFill>
                        <a:latin typeface="Trebuchet MS"/>
                        <a:cs typeface="Trebuchet MS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tc rowSpan="3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60"/>
                        </a:spcBef>
                      </a:pPr>
                      <a:endParaRPr sz="1400" dirty="0">
                        <a:solidFill>
                          <a:schemeClr val="tx1"/>
                        </a:solidFill>
                        <a:latin typeface="Times New Roman"/>
                        <a:cs typeface="Times New Roman"/>
                      </a:endParaRPr>
                    </a:p>
                    <a:p>
                      <a:pPr marL="414655">
                        <a:lnSpc>
                          <a:spcPct val="100000"/>
                        </a:lnSpc>
                      </a:pPr>
                      <a:r>
                        <a:rPr sz="1400" spc="-10" dirty="0">
                          <a:solidFill>
                            <a:schemeClr val="tx1"/>
                          </a:solidFill>
                          <a:latin typeface="Trebuchet MS"/>
                          <a:cs typeface="Trebuchet MS"/>
                        </a:rPr>
                        <a:t>15,86</a:t>
                      </a:r>
                      <a:endParaRPr sz="1400" dirty="0">
                        <a:solidFill>
                          <a:schemeClr val="tx1"/>
                        </a:solidFill>
                        <a:latin typeface="Trebuchet MS"/>
                        <a:cs typeface="Trebuchet MS"/>
                      </a:endParaRPr>
                    </a:p>
                  </a:txBody>
                  <a:tcPr marL="0" marR="0" marT="762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13360"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11938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5ECA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580"/>
                        </a:lnSpc>
                      </a:pPr>
                      <a:r>
                        <a:rPr sz="1400" spc="-10" dirty="0">
                          <a:solidFill>
                            <a:srgbClr val="7030A0"/>
                          </a:solidFill>
                          <a:latin typeface="Trebuchet MS"/>
                          <a:cs typeface="Trebuchet MS"/>
                        </a:rPr>
                        <a:t>18,45</a:t>
                      </a:r>
                      <a:endParaRPr sz="1400">
                        <a:solidFill>
                          <a:srgbClr val="7030A0"/>
                        </a:solidFill>
                        <a:latin typeface="Trebuchet MS"/>
                        <a:cs typeface="Trebuchet MS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580"/>
                        </a:lnSpc>
                      </a:pPr>
                      <a:r>
                        <a:rPr sz="1400" spc="-10" dirty="0">
                          <a:solidFill>
                            <a:srgbClr val="7030A0"/>
                          </a:solidFill>
                          <a:latin typeface="Trebuchet MS"/>
                          <a:cs typeface="Trebuchet MS"/>
                        </a:rPr>
                        <a:t>13,59</a:t>
                      </a:r>
                      <a:endParaRPr sz="1400" dirty="0">
                        <a:solidFill>
                          <a:srgbClr val="7030A0"/>
                        </a:solidFill>
                        <a:latin typeface="Trebuchet MS"/>
                        <a:cs typeface="Trebuchet MS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580"/>
                        </a:lnSpc>
                      </a:pPr>
                      <a:r>
                        <a:rPr sz="1400" spc="-20" dirty="0">
                          <a:solidFill>
                            <a:srgbClr val="7030A0"/>
                          </a:solidFill>
                          <a:latin typeface="Trebuchet MS"/>
                          <a:cs typeface="Trebuchet MS"/>
                        </a:rPr>
                        <a:t>7,63</a:t>
                      </a:r>
                      <a:endParaRPr sz="1400" dirty="0">
                        <a:solidFill>
                          <a:srgbClr val="7030A0"/>
                        </a:solidFill>
                        <a:latin typeface="Trebuchet MS"/>
                        <a:cs typeface="Trebuchet MS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762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9F6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12725"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11938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5ECA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580"/>
                        </a:lnSpc>
                      </a:pPr>
                      <a:r>
                        <a:rPr sz="1400" spc="-10" dirty="0">
                          <a:solidFill>
                            <a:srgbClr val="7030A0"/>
                          </a:solidFill>
                          <a:latin typeface="Trebuchet MS"/>
                          <a:cs typeface="Trebuchet MS"/>
                        </a:rPr>
                        <a:t>17,52</a:t>
                      </a:r>
                      <a:endParaRPr sz="1400">
                        <a:solidFill>
                          <a:srgbClr val="7030A0"/>
                        </a:solidFill>
                        <a:latin typeface="Trebuchet MS"/>
                        <a:cs typeface="Trebuchet MS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580"/>
                        </a:lnSpc>
                      </a:pPr>
                      <a:r>
                        <a:rPr sz="1400" spc="-10" dirty="0">
                          <a:solidFill>
                            <a:srgbClr val="7030A0"/>
                          </a:solidFill>
                          <a:latin typeface="Trebuchet MS"/>
                          <a:cs typeface="Trebuchet MS"/>
                        </a:rPr>
                        <a:t>21,40</a:t>
                      </a:r>
                      <a:endParaRPr sz="1400" dirty="0">
                        <a:solidFill>
                          <a:srgbClr val="7030A0"/>
                        </a:solidFill>
                        <a:latin typeface="Trebuchet MS"/>
                        <a:cs typeface="Trebuchet MS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580"/>
                        </a:lnSpc>
                      </a:pPr>
                      <a:r>
                        <a:rPr sz="1400" spc="-20" dirty="0">
                          <a:solidFill>
                            <a:srgbClr val="7030A0"/>
                          </a:solidFill>
                          <a:latin typeface="Trebuchet MS"/>
                          <a:cs typeface="Trebuchet MS"/>
                        </a:rPr>
                        <a:t>5,92</a:t>
                      </a:r>
                      <a:endParaRPr sz="1400" dirty="0">
                        <a:solidFill>
                          <a:srgbClr val="7030A0"/>
                        </a:solidFill>
                        <a:latin typeface="Trebuchet MS"/>
                        <a:cs typeface="Trebuchet MS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762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9F6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marR="0" lvl="0" indent="0" algn="l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400" b="1" kern="1200" dirty="0">
                          <a:solidFill>
                            <a:schemeClr val="tx1"/>
                          </a:solidFill>
                          <a:latin typeface="Trebuchet MS"/>
                          <a:ea typeface="+mn-ea"/>
                          <a:cs typeface="Times New Roman"/>
                        </a:rPr>
                        <a:t>Среднее </a:t>
                      </a:r>
                      <a:r>
                        <a:rPr lang="en-US" sz="1600" b="1" kern="1200" dirty="0" err="1">
                          <a:solidFill>
                            <a:schemeClr val="tx1"/>
                          </a:solidFill>
                          <a:latin typeface="Trebuchet MS"/>
                          <a:ea typeface="+mn-ea"/>
                          <a:cs typeface="Times New Roman"/>
                        </a:rPr>
                        <a:t>x</a:t>
                      </a:r>
                      <a:r>
                        <a:rPr lang="en-US" sz="1600" b="1" kern="1200" baseline="-25000" dirty="0" err="1">
                          <a:solidFill>
                            <a:schemeClr val="tx1"/>
                          </a:solidFill>
                          <a:latin typeface="Trebuchet MS"/>
                          <a:ea typeface="+mn-ea"/>
                          <a:cs typeface="Times New Roman"/>
                        </a:rPr>
                        <a:t>j</a:t>
                      </a:r>
                      <a:endParaRPr sz="1600" baseline="-25000" dirty="0">
                        <a:solidFill>
                          <a:schemeClr val="tx1"/>
                        </a:solidFill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29"/>
                        </a:spcBef>
                      </a:pPr>
                      <a:r>
                        <a:rPr sz="1400" spc="-10" dirty="0">
                          <a:solidFill>
                            <a:schemeClr val="tx1"/>
                          </a:solidFill>
                          <a:latin typeface="Trebuchet MS"/>
                          <a:cs typeface="Trebuchet MS"/>
                        </a:rPr>
                        <a:t>18,73</a:t>
                      </a:r>
                      <a:endParaRPr sz="1400">
                        <a:solidFill>
                          <a:schemeClr val="tx1"/>
                        </a:solidFill>
                        <a:latin typeface="Trebuchet MS"/>
                        <a:cs typeface="Trebuchet MS"/>
                      </a:endParaRPr>
                    </a:p>
                  </a:txBody>
                  <a:tcPr marL="0" marR="0" marT="29209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29"/>
                        </a:spcBef>
                      </a:pPr>
                      <a:r>
                        <a:rPr sz="1400" spc="-10" dirty="0">
                          <a:solidFill>
                            <a:schemeClr val="tx1"/>
                          </a:solidFill>
                          <a:latin typeface="Trebuchet MS"/>
                          <a:cs typeface="Trebuchet MS"/>
                        </a:rPr>
                        <a:t>18,14</a:t>
                      </a:r>
                      <a:endParaRPr sz="1400">
                        <a:solidFill>
                          <a:schemeClr val="tx1"/>
                        </a:solidFill>
                        <a:latin typeface="Trebuchet MS"/>
                        <a:cs typeface="Trebuchet MS"/>
                      </a:endParaRPr>
                    </a:p>
                  </a:txBody>
                  <a:tcPr marL="0" marR="0" marT="29209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29"/>
                        </a:spcBef>
                      </a:pPr>
                      <a:r>
                        <a:rPr sz="1400" spc="-20" dirty="0">
                          <a:solidFill>
                            <a:schemeClr val="tx1"/>
                          </a:solidFill>
                          <a:latin typeface="Trebuchet MS"/>
                          <a:cs typeface="Trebuchet MS"/>
                        </a:rPr>
                        <a:t>8,72</a:t>
                      </a:r>
                      <a:endParaRPr sz="1400" dirty="0">
                        <a:solidFill>
                          <a:schemeClr val="tx1"/>
                        </a:solidFill>
                        <a:latin typeface="Trebuchet MS"/>
                        <a:cs typeface="Trebuchet MS"/>
                      </a:endParaRPr>
                    </a:p>
                  </a:txBody>
                  <a:tcPr marL="0" marR="0" marT="29209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414655" algn="l" defTabSz="685800" rtl="0" eaLnBrk="1" latinLnBrk="0" hangingPunct="1">
                        <a:lnSpc>
                          <a:spcPct val="100000"/>
                        </a:lnSpc>
                      </a:pPr>
                      <a:r>
                        <a:rPr lang="en-US" sz="1400" kern="1200" spc="-10" dirty="0">
                          <a:solidFill>
                            <a:schemeClr val="tx1"/>
                          </a:solidFill>
                          <a:latin typeface="Trebuchet MS"/>
                          <a:ea typeface="+mn-ea"/>
                          <a:cs typeface="Times New Roman"/>
                        </a:rPr>
                        <a:t>x =15,2</a:t>
                      </a:r>
                      <a:endParaRPr sz="1400" kern="1200" spc="-10" dirty="0">
                        <a:solidFill>
                          <a:schemeClr val="tx1"/>
                        </a:solidFill>
                        <a:latin typeface="Trebuchet MS"/>
                        <a:ea typeface="+mn-ea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13" name="Номер слайда 55">
            <a:extLst>
              <a:ext uri="{FF2B5EF4-FFF2-40B4-BE49-F238E27FC236}">
                <a16:creationId xmlns:a16="http://schemas.microsoft.com/office/drawing/2014/main" id="{80BF3760-5CF0-4717-95C3-A7406D640FC1}"/>
              </a:ext>
            </a:extLst>
          </p:cNvPr>
          <p:cNvSpPr txBox="1">
            <a:spLocks/>
          </p:cNvSpPr>
          <p:nvPr/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kern="0"/>
            </a:defPPr>
            <a:lvl1pPr marL="38100" algn="r">
              <a:lnSpc>
                <a:spcPct val="100000"/>
              </a:lnSpc>
              <a:spcBef>
                <a:spcPts val="244"/>
              </a:spcBef>
              <a:defRPr sz="1500" spc="-25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1D60167-4931-47E6-BA6A-407CBD079E47}" type="slidenum">
              <a:rPr lang="ru-RU"/>
              <a:pPr/>
              <a:t>66</a:t>
            </a:fld>
            <a:endParaRPr lang="ru-RU" dirty="0"/>
          </a:p>
        </p:txBody>
      </p:sp>
      <p:cxnSp>
        <p:nvCxnSpPr>
          <p:cNvPr id="15" name="Прямая соединительная линия 14">
            <a:extLst>
              <a:ext uri="{FF2B5EF4-FFF2-40B4-BE49-F238E27FC236}">
                <a16:creationId xmlns:a16="http://schemas.microsoft.com/office/drawing/2014/main" id="{B4754821-1B75-458F-A4E8-3554C4658C96}"/>
              </a:ext>
            </a:extLst>
          </p:cNvPr>
          <p:cNvCxnSpPr/>
          <p:nvPr/>
        </p:nvCxnSpPr>
        <p:spPr>
          <a:xfrm>
            <a:off x="2328863" y="2857500"/>
            <a:ext cx="123825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7" name="Прямая соединительная линия 16">
            <a:extLst>
              <a:ext uri="{FF2B5EF4-FFF2-40B4-BE49-F238E27FC236}">
                <a16:creationId xmlns:a16="http://schemas.microsoft.com/office/drawing/2014/main" id="{4E6A85CA-0B25-42AC-8092-3C48AFC271C4}"/>
              </a:ext>
            </a:extLst>
          </p:cNvPr>
          <p:cNvCxnSpPr/>
          <p:nvPr/>
        </p:nvCxnSpPr>
        <p:spPr>
          <a:xfrm>
            <a:off x="7019925" y="2855119"/>
            <a:ext cx="104775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9" name="Прямая соединительная линия 18">
            <a:extLst>
              <a:ext uri="{FF2B5EF4-FFF2-40B4-BE49-F238E27FC236}">
                <a16:creationId xmlns:a16="http://schemas.microsoft.com/office/drawing/2014/main" id="{3B0AED02-1898-47AC-9BAE-B231B076395C}"/>
              </a:ext>
            </a:extLst>
          </p:cNvPr>
          <p:cNvCxnSpPr>
            <a:cxnSpLocks/>
          </p:cNvCxnSpPr>
          <p:nvPr/>
        </p:nvCxnSpPr>
        <p:spPr>
          <a:xfrm>
            <a:off x="7019925" y="2828925"/>
            <a:ext cx="104775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3" name="Прямая соединительная линия 22">
            <a:extLst>
              <a:ext uri="{FF2B5EF4-FFF2-40B4-BE49-F238E27FC236}">
                <a16:creationId xmlns:a16="http://schemas.microsoft.com/office/drawing/2014/main" id="{23213B63-CA70-4990-A777-6D1729A1FCB3}"/>
              </a:ext>
            </a:extLst>
          </p:cNvPr>
          <p:cNvCxnSpPr/>
          <p:nvPr/>
        </p:nvCxnSpPr>
        <p:spPr>
          <a:xfrm flipV="1">
            <a:off x="7582229" y="1219200"/>
            <a:ext cx="104775" cy="2381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Объект 13">
            <a:extLst>
              <a:ext uri="{FF2B5EF4-FFF2-40B4-BE49-F238E27FC236}">
                <a16:creationId xmlns:a16="http://schemas.microsoft.com/office/drawing/2014/main" id="{F01F7553-E3EA-4E62-A182-B6BA4DC67FF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 algn="l">
              <a:buNone/>
            </a:pPr>
            <a:r>
              <a:rPr lang="ru-RU" sz="1800" b="1" i="0" u="none" strike="noStrike" baseline="0" dirty="0">
                <a:latin typeface="Arial-BoldMT"/>
              </a:rPr>
              <a:t>Плюсы:</a:t>
            </a:r>
          </a:p>
          <a:p>
            <a:pPr marL="342900" lvl="1" indent="0">
              <a:buNone/>
            </a:pPr>
            <a:r>
              <a:rPr lang="ru-RU" sz="1500" b="0" i="0" u="none" strike="noStrike" baseline="0" dirty="0">
                <a:latin typeface="SymbolMT"/>
              </a:rPr>
              <a:t>•</a:t>
            </a:r>
            <a:r>
              <a:rPr lang="ru-RU" sz="1500" b="0" i="0" u="none" strike="noStrike" baseline="0" dirty="0">
                <a:latin typeface="ArialMT"/>
              </a:rPr>
              <a:t>Очень богатые возможности для статистического</a:t>
            </a:r>
          </a:p>
          <a:p>
            <a:pPr marL="342900" lvl="1" indent="0">
              <a:buNone/>
            </a:pPr>
            <a:r>
              <a:rPr lang="ru-RU" sz="1500" b="0" i="0" u="none" strike="noStrike" baseline="0" dirty="0">
                <a:latin typeface="ArialMT"/>
              </a:rPr>
              <a:t>анализа</a:t>
            </a:r>
          </a:p>
          <a:p>
            <a:pPr marL="342900" lvl="1" indent="0">
              <a:buNone/>
            </a:pPr>
            <a:r>
              <a:rPr lang="ru-RU" sz="1500" b="0" i="0" u="none" strike="noStrike" baseline="0" dirty="0">
                <a:latin typeface="SymbolMT"/>
              </a:rPr>
              <a:t>•</a:t>
            </a:r>
            <a:r>
              <a:rPr lang="ru-RU" sz="1500" b="0" i="0" u="none" strike="noStrike" baseline="0" dirty="0">
                <a:latin typeface="ArialMT"/>
              </a:rPr>
              <a:t>Хорошие графические возможности</a:t>
            </a:r>
          </a:p>
          <a:p>
            <a:pPr marL="342900" lvl="1" indent="0">
              <a:buNone/>
            </a:pPr>
            <a:r>
              <a:rPr lang="ru-RU" sz="1500" b="0" i="0" u="none" strike="noStrike" baseline="0" dirty="0">
                <a:latin typeface="SymbolMT"/>
              </a:rPr>
              <a:t>•</a:t>
            </a:r>
            <a:r>
              <a:rPr lang="ru-RU" sz="1500" b="0" i="0" u="none" strike="noStrike" baseline="0" dirty="0">
                <a:latin typeface="ArialMT"/>
              </a:rPr>
              <a:t>Внимание к деталям</a:t>
            </a:r>
          </a:p>
          <a:p>
            <a:pPr marL="342900" lvl="1" indent="0">
              <a:buNone/>
            </a:pPr>
            <a:r>
              <a:rPr lang="ru-RU" sz="1500" b="0" i="0" u="none" strike="noStrike" baseline="0" dirty="0">
                <a:latin typeface="SymbolMT"/>
              </a:rPr>
              <a:t>•</a:t>
            </a:r>
            <a:r>
              <a:rPr lang="ru-RU" sz="1500" b="0" i="0" u="none" strike="noStrike" baseline="0" dirty="0">
                <a:latin typeface="ArialMT"/>
              </a:rPr>
              <a:t>С данными можно работать офлайн</a:t>
            </a:r>
          </a:p>
          <a:p>
            <a:pPr marL="0" indent="0" algn="l">
              <a:buNone/>
            </a:pPr>
            <a:endParaRPr lang="en-US" sz="1800" b="1" i="0" u="none" strike="noStrike" baseline="0" dirty="0">
              <a:latin typeface="Arial-BoldMT"/>
            </a:endParaRPr>
          </a:p>
          <a:p>
            <a:pPr marL="0" indent="0" algn="l">
              <a:buNone/>
            </a:pPr>
            <a:r>
              <a:rPr lang="ru-RU" sz="1800" b="1" i="0" u="none" strike="noStrike" baseline="0" dirty="0">
                <a:latin typeface="Arial-BoldMT"/>
              </a:rPr>
              <a:t>Минусы:</a:t>
            </a:r>
          </a:p>
          <a:p>
            <a:pPr marL="342900" lvl="1" indent="0">
              <a:buNone/>
            </a:pPr>
            <a:r>
              <a:rPr lang="ru-RU" sz="1500" b="0" i="0" u="none" strike="noStrike" baseline="0" dirty="0">
                <a:latin typeface="SymbolMT"/>
              </a:rPr>
              <a:t>•</a:t>
            </a:r>
            <a:r>
              <a:rPr lang="ru-RU" sz="1500" b="0" i="0" u="none" strike="noStrike" baseline="0" dirty="0">
                <a:latin typeface="ArialMT"/>
              </a:rPr>
              <a:t>Высокий порог входа</a:t>
            </a:r>
          </a:p>
          <a:p>
            <a:pPr marL="342900" lvl="1" indent="0">
              <a:buNone/>
            </a:pPr>
            <a:r>
              <a:rPr lang="ru-RU" sz="1500" b="0" i="0" u="none" strike="noStrike" baseline="0" dirty="0">
                <a:latin typeface="SymbolMT"/>
              </a:rPr>
              <a:t>•</a:t>
            </a:r>
            <a:r>
              <a:rPr lang="ru-RU" sz="1500" b="0" i="0" u="none" strike="noStrike" baseline="0" dirty="0">
                <a:latin typeface="ArialMT"/>
              </a:rPr>
              <a:t>Коммерческие продукты стоят дорого</a:t>
            </a:r>
            <a:endParaRPr lang="en-US" sz="1500" b="0" i="0" u="none" strike="noStrike" baseline="0" dirty="0">
              <a:latin typeface="ArialMT"/>
            </a:endParaRPr>
          </a:p>
          <a:p>
            <a:pPr marL="342900" lvl="1" indent="0">
              <a:buNone/>
            </a:pPr>
            <a:endParaRPr lang="en-US" sz="1500" dirty="0">
              <a:latin typeface="ArialMT"/>
            </a:endParaRPr>
          </a:p>
          <a:p>
            <a:pPr marL="342900" lvl="1" indent="0">
              <a:buNone/>
            </a:pPr>
            <a:endParaRPr lang="en-US" sz="1800" b="1" i="1" u="none" strike="noStrike" baseline="0" dirty="0">
              <a:latin typeface="TimesNewRomanPS-BoldItalicMT"/>
            </a:endParaRPr>
          </a:p>
          <a:p>
            <a:pPr marL="342900" lvl="1" indent="0">
              <a:buNone/>
            </a:pPr>
            <a:r>
              <a:rPr lang="en-US" sz="1800" b="1" i="1" u="none" strike="noStrike" baseline="0" dirty="0">
                <a:latin typeface="TimesNewRomanPS-BoldItalicMT"/>
              </a:rPr>
              <a:t>MS Excel 			Calc</a:t>
            </a:r>
            <a:endParaRPr lang="ru-RU" dirty="0"/>
          </a:p>
        </p:txBody>
      </p:sp>
      <p:sp>
        <p:nvSpPr>
          <p:cNvPr id="10" name="Нижний колонтитул 9">
            <a:extLst>
              <a:ext uri="{FF2B5EF4-FFF2-40B4-BE49-F238E27FC236}">
                <a16:creationId xmlns:a16="http://schemas.microsoft.com/office/drawing/2014/main" id="{3672B4FC-0BEE-4AC3-83CA-1B317A2A3D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028950" y="6356351"/>
            <a:ext cx="3086100" cy="365125"/>
          </a:xfrm>
        </p:spPr>
        <p:txBody>
          <a:bodyPr/>
          <a:lstStyle/>
          <a:p>
            <a:endParaRPr lang="ru-RU"/>
          </a:p>
        </p:txBody>
      </p:sp>
      <p:sp>
        <p:nvSpPr>
          <p:cNvPr id="16" name="Заголовок 15">
            <a:extLst>
              <a:ext uri="{FF2B5EF4-FFF2-40B4-BE49-F238E27FC236}">
                <a16:creationId xmlns:a16="http://schemas.microsoft.com/office/drawing/2014/main" id="{A0509CD6-C4B5-4196-B3AF-F67597E85A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ru-RU" dirty="0"/>
              <a:t>Инструменты статистического анализа данных</a:t>
            </a:r>
          </a:p>
        </p:txBody>
      </p:sp>
      <p:sp>
        <p:nvSpPr>
          <p:cNvPr id="17" name="Номер слайда 55">
            <a:extLst>
              <a:ext uri="{FF2B5EF4-FFF2-40B4-BE49-F238E27FC236}">
                <a16:creationId xmlns:a16="http://schemas.microsoft.com/office/drawing/2014/main" id="{275D30EC-29D7-40D5-A7D0-7A964B82EEB5}"/>
              </a:ext>
            </a:extLst>
          </p:cNvPr>
          <p:cNvSpPr txBox="1">
            <a:spLocks/>
          </p:cNvSpPr>
          <p:nvPr/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kern="0"/>
            </a:defPPr>
            <a:lvl1pPr marL="38100" algn="r">
              <a:lnSpc>
                <a:spcPct val="100000"/>
              </a:lnSpc>
              <a:spcBef>
                <a:spcPts val="244"/>
              </a:spcBef>
              <a:defRPr sz="1500" spc="-25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1D60167-4931-47E6-BA6A-407CBD079E47}" type="slidenum">
              <a:rPr lang="ru-RU"/>
              <a:pPr/>
              <a:t>67</a:t>
            </a:fld>
            <a:endParaRPr lang="ru-RU" dirty="0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6ED535F1-CF81-46F9-8CF4-C4A8032F03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028950" y="6356351"/>
            <a:ext cx="3086100" cy="365125"/>
          </a:xfrm>
        </p:spPr>
        <p:txBody>
          <a:bodyPr/>
          <a:lstStyle/>
          <a:p>
            <a:endParaRPr lang="ru-RU"/>
          </a:p>
        </p:txBody>
      </p:sp>
      <p:sp>
        <p:nvSpPr>
          <p:cNvPr id="3" name="object 3"/>
          <p:cNvSpPr txBox="1"/>
          <p:nvPr/>
        </p:nvSpPr>
        <p:spPr>
          <a:xfrm>
            <a:off x="1148715" y="1524000"/>
            <a:ext cx="6846570" cy="404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4965" indent="-342265">
              <a:lnSpc>
                <a:spcPct val="100000"/>
              </a:lnSpc>
              <a:spcBef>
                <a:spcPts val="100"/>
              </a:spcBef>
              <a:buFont typeface="Wingdings"/>
              <a:buChar char=""/>
              <a:tabLst>
                <a:tab pos="354965" algn="l"/>
              </a:tabLst>
            </a:pPr>
            <a:r>
              <a:rPr sz="2400" b="1" spc="-50" dirty="0">
                <a:latin typeface="Arial"/>
                <a:cs typeface="Arial"/>
              </a:rPr>
              <a:t>R</a:t>
            </a:r>
            <a:endParaRPr sz="2400" dirty="0">
              <a:latin typeface="Arial"/>
              <a:cs typeface="Arial"/>
            </a:endParaRPr>
          </a:p>
          <a:p>
            <a:pPr marL="354965" indent="-342265">
              <a:lnSpc>
                <a:spcPct val="100000"/>
              </a:lnSpc>
              <a:spcBef>
                <a:spcPts val="20"/>
              </a:spcBef>
              <a:buFont typeface="Wingdings"/>
              <a:buChar char=""/>
              <a:tabLst>
                <a:tab pos="354965" algn="l"/>
              </a:tabLst>
            </a:pPr>
            <a:r>
              <a:rPr sz="2400" b="1" spc="-25" dirty="0">
                <a:latin typeface="Arial"/>
                <a:cs typeface="Arial"/>
              </a:rPr>
              <a:t>SAS</a:t>
            </a:r>
            <a:endParaRPr sz="2400" dirty="0">
              <a:latin typeface="Arial"/>
              <a:cs typeface="Arial"/>
            </a:endParaRPr>
          </a:p>
          <a:p>
            <a:pPr marL="354965" indent="-342265">
              <a:lnSpc>
                <a:spcPct val="100000"/>
              </a:lnSpc>
              <a:spcBef>
                <a:spcPts val="25"/>
              </a:spcBef>
              <a:buFont typeface="Wingdings"/>
              <a:buChar char=""/>
              <a:tabLst>
                <a:tab pos="354965" algn="l"/>
              </a:tabLst>
            </a:pPr>
            <a:r>
              <a:rPr sz="2400" b="1" spc="-10" dirty="0">
                <a:latin typeface="Arial"/>
                <a:cs typeface="Arial"/>
              </a:rPr>
              <a:t>Stata</a:t>
            </a:r>
            <a:endParaRPr sz="2400" dirty="0">
              <a:latin typeface="Arial"/>
              <a:cs typeface="Arial"/>
            </a:endParaRPr>
          </a:p>
          <a:p>
            <a:pPr marL="354965" indent="-342265">
              <a:lnSpc>
                <a:spcPct val="100000"/>
              </a:lnSpc>
              <a:spcBef>
                <a:spcPts val="25"/>
              </a:spcBef>
              <a:buFont typeface="Wingdings"/>
              <a:buChar char=""/>
              <a:tabLst>
                <a:tab pos="354965" algn="l"/>
              </a:tabLst>
            </a:pPr>
            <a:r>
              <a:rPr sz="2400" b="1" dirty="0">
                <a:latin typeface="Arial"/>
                <a:cs typeface="Arial"/>
              </a:rPr>
              <a:t>Statistica</a:t>
            </a:r>
            <a:r>
              <a:rPr sz="2400" spc="1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Arial"/>
                <a:cs typeface="Arial"/>
              </a:rPr>
              <a:t>или</a:t>
            </a:r>
            <a:r>
              <a:rPr sz="2400" spc="20" dirty="0">
                <a:latin typeface="Times New Roman"/>
                <a:cs typeface="Times New Roman"/>
              </a:rPr>
              <a:t> </a:t>
            </a:r>
            <a:r>
              <a:rPr sz="2400" b="1" dirty="0">
                <a:latin typeface="Arial"/>
                <a:cs typeface="Arial"/>
              </a:rPr>
              <a:t>SPSS</a:t>
            </a:r>
            <a:r>
              <a:rPr sz="2400" spc="20" dirty="0">
                <a:latin typeface="Times New Roman"/>
                <a:cs typeface="Times New Roman"/>
              </a:rPr>
              <a:t> </a:t>
            </a:r>
            <a:r>
              <a:rPr sz="2400" b="1" spc="-10" dirty="0">
                <a:latin typeface="Arial"/>
                <a:cs typeface="Arial"/>
              </a:rPr>
              <a:t>Statistics</a:t>
            </a:r>
            <a:endParaRPr sz="2400" dirty="0">
              <a:latin typeface="Arial"/>
              <a:cs typeface="Arial"/>
            </a:endParaRPr>
          </a:p>
          <a:p>
            <a:pPr marL="354965" indent="-342265">
              <a:lnSpc>
                <a:spcPts val="2830"/>
              </a:lnSpc>
              <a:spcBef>
                <a:spcPts val="25"/>
              </a:spcBef>
              <a:buFont typeface="Wingdings"/>
              <a:buChar char=""/>
              <a:tabLst>
                <a:tab pos="354965" algn="l"/>
              </a:tabLst>
            </a:pPr>
            <a:r>
              <a:rPr sz="2400" b="1" spc="-10" dirty="0">
                <a:latin typeface="Arial"/>
                <a:cs typeface="Arial"/>
              </a:rPr>
              <a:t>Polymatica</a:t>
            </a:r>
            <a:endParaRPr sz="2400" dirty="0">
              <a:latin typeface="Arial"/>
              <a:cs typeface="Arial"/>
            </a:endParaRPr>
          </a:p>
          <a:p>
            <a:pPr marL="354965" indent="-342265">
              <a:lnSpc>
                <a:spcPts val="2830"/>
              </a:lnSpc>
              <a:buFont typeface="Wingdings"/>
              <a:buChar char=""/>
              <a:tabLst>
                <a:tab pos="354965" algn="l"/>
              </a:tabLst>
            </a:pPr>
            <a:r>
              <a:rPr sz="2400" b="1" spc="-10" dirty="0">
                <a:latin typeface="Arial"/>
                <a:cs typeface="Arial"/>
              </a:rPr>
              <a:t>IQPLATFORM</a:t>
            </a:r>
            <a:endParaRPr sz="2400" dirty="0">
              <a:latin typeface="Arial"/>
              <a:cs typeface="Arial"/>
            </a:endParaRPr>
          </a:p>
          <a:p>
            <a:pPr marL="354965" indent="-342265">
              <a:lnSpc>
                <a:spcPct val="100000"/>
              </a:lnSpc>
              <a:spcBef>
                <a:spcPts val="25"/>
              </a:spcBef>
              <a:buFont typeface="Wingdings"/>
              <a:buChar char=""/>
              <a:tabLst>
                <a:tab pos="354965" algn="l"/>
              </a:tabLst>
            </a:pPr>
            <a:r>
              <a:rPr sz="2400" b="1" spc="-20" dirty="0">
                <a:latin typeface="Arial"/>
                <a:cs typeface="Arial"/>
              </a:rPr>
              <a:t>M-</a:t>
            </a:r>
            <a:r>
              <a:rPr sz="2400" b="1" dirty="0">
                <a:latin typeface="Arial"/>
                <a:cs typeface="Arial"/>
              </a:rPr>
              <a:t>Brain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b="1" dirty="0">
                <a:latin typeface="Arial"/>
                <a:cs typeface="Arial"/>
              </a:rPr>
              <a:t>Intelligence</a:t>
            </a:r>
            <a:r>
              <a:rPr sz="2400" spc="5" dirty="0">
                <a:latin typeface="Times New Roman"/>
                <a:cs typeface="Times New Roman"/>
              </a:rPr>
              <a:t> </a:t>
            </a:r>
            <a:r>
              <a:rPr sz="2400" b="1" spc="-10" dirty="0">
                <a:latin typeface="Arial"/>
                <a:cs typeface="Arial"/>
              </a:rPr>
              <a:t>Plaza</a:t>
            </a:r>
            <a:endParaRPr sz="2400" dirty="0">
              <a:latin typeface="Arial"/>
              <a:cs typeface="Arial"/>
            </a:endParaRPr>
          </a:p>
          <a:p>
            <a:pPr marL="354965" indent="-342265">
              <a:lnSpc>
                <a:spcPct val="100000"/>
              </a:lnSpc>
              <a:spcBef>
                <a:spcPts val="25"/>
              </a:spcBef>
              <a:buFont typeface="Wingdings"/>
              <a:buChar char=""/>
              <a:tabLst>
                <a:tab pos="354965" algn="l"/>
              </a:tabLst>
            </a:pPr>
            <a:r>
              <a:rPr sz="2400" b="1" spc="-10" dirty="0">
                <a:latin typeface="Arial"/>
                <a:cs typeface="Arial"/>
              </a:rPr>
              <a:t>Anaconda</a:t>
            </a:r>
            <a:endParaRPr sz="2400" dirty="0">
              <a:latin typeface="Arial"/>
              <a:cs typeface="Arial"/>
            </a:endParaRPr>
          </a:p>
          <a:p>
            <a:pPr marL="354965" indent="-342265">
              <a:lnSpc>
                <a:spcPct val="100000"/>
              </a:lnSpc>
              <a:spcBef>
                <a:spcPts val="20"/>
              </a:spcBef>
              <a:buFont typeface="Wingdings"/>
              <a:buChar char=""/>
              <a:tabLst>
                <a:tab pos="354965" algn="l"/>
              </a:tabLst>
            </a:pPr>
            <a:r>
              <a:rPr sz="2400" b="1" dirty="0">
                <a:latin typeface="Arial"/>
                <a:cs typeface="Arial"/>
              </a:rPr>
              <a:t>TIBCO</a:t>
            </a:r>
            <a:r>
              <a:rPr sz="2400" spc="15" dirty="0">
                <a:latin typeface="Times New Roman"/>
                <a:cs typeface="Times New Roman"/>
              </a:rPr>
              <a:t> </a:t>
            </a:r>
            <a:r>
              <a:rPr sz="2400" b="1" dirty="0">
                <a:latin typeface="Arial"/>
                <a:cs typeface="Arial"/>
              </a:rPr>
              <a:t>Data</a:t>
            </a:r>
            <a:r>
              <a:rPr sz="2400" spc="30" dirty="0">
                <a:latin typeface="Times New Roman"/>
                <a:cs typeface="Times New Roman"/>
              </a:rPr>
              <a:t> </a:t>
            </a:r>
            <a:r>
              <a:rPr sz="2400" b="1" spc="-10" dirty="0">
                <a:latin typeface="Arial"/>
                <a:cs typeface="Arial"/>
              </a:rPr>
              <a:t>Science</a:t>
            </a:r>
            <a:endParaRPr sz="2400" dirty="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50"/>
              </a:spcBef>
            </a:pPr>
            <a:endParaRPr sz="2400" dirty="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</a:pPr>
            <a:r>
              <a:rPr sz="2400" dirty="0">
                <a:latin typeface="Arial"/>
                <a:cs typeface="Arial"/>
              </a:rPr>
              <a:t>Minitab,</a:t>
            </a:r>
            <a:r>
              <a:rPr sz="2400" spc="-1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Arial"/>
                <a:cs typeface="Arial"/>
              </a:rPr>
              <a:t>MatLab,</a:t>
            </a:r>
            <a:r>
              <a:rPr sz="2400" spc="1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Arial"/>
                <a:cs typeface="Arial"/>
              </a:rPr>
              <a:t>Octave,</a:t>
            </a:r>
            <a:r>
              <a:rPr sz="2400" spc="2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Arial"/>
                <a:cs typeface="Arial"/>
              </a:rPr>
              <a:t>GenStat,</a:t>
            </a:r>
            <a:r>
              <a:rPr sz="2400" spc="20" dirty="0">
                <a:latin typeface="Times New Roman"/>
                <a:cs typeface="Times New Roman"/>
              </a:rPr>
              <a:t> </a:t>
            </a:r>
            <a:r>
              <a:rPr sz="2400" spc="-90" dirty="0">
                <a:latin typeface="Arial"/>
                <a:cs typeface="Arial"/>
              </a:rPr>
              <a:t>JMP,</a:t>
            </a:r>
            <a:r>
              <a:rPr sz="2400" spc="-75" dirty="0">
                <a:latin typeface="Times New Roman"/>
                <a:cs typeface="Times New Roman"/>
              </a:rPr>
              <a:t> </a:t>
            </a:r>
            <a:r>
              <a:rPr sz="2400" spc="-20" dirty="0">
                <a:latin typeface="Arial"/>
                <a:cs typeface="Arial"/>
              </a:rPr>
              <a:t>Analyse-</a:t>
            </a:r>
            <a:r>
              <a:rPr sz="2400" spc="-25" dirty="0">
                <a:latin typeface="Arial"/>
                <a:cs typeface="Arial"/>
              </a:rPr>
              <a:t>it</a:t>
            </a:r>
            <a:endParaRPr sz="2400" dirty="0">
              <a:latin typeface="Arial"/>
              <a:cs typeface="Arial"/>
            </a:endParaRPr>
          </a:p>
        </p:txBody>
      </p:sp>
      <p:sp>
        <p:nvSpPr>
          <p:cNvPr id="7" name="Номер слайда 55">
            <a:extLst>
              <a:ext uri="{FF2B5EF4-FFF2-40B4-BE49-F238E27FC236}">
                <a16:creationId xmlns:a16="http://schemas.microsoft.com/office/drawing/2014/main" id="{E450BD71-A9D7-4E3D-B9C5-49CD57686149}"/>
              </a:ext>
            </a:extLst>
          </p:cNvPr>
          <p:cNvSpPr txBox="1">
            <a:spLocks/>
          </p:cNvSpPr>
          <p:nvPr/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kern="0"/>
            </a:defPPr>
            <a:lvl1pPr marL="38100" algn="r">
              <a:lnSpc>
                <a:spcPct val="100000"/>
              </a:lnSpc>
              <a:spcBef>
                <a:spcPts val="244"/>
              </a:spcBef>
              <a:defRPr sz="1500" spc="-25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1D60167-4931-47E6-BA6A-407CBD079E47}" type="slidenum">
              <a:rPr lang="ru-RU"/>
              <a:pPr/>
              <a:t>68</a:t>
            </a:fld>
            <a:endParaRPr lang="ru-RU" dirty="0"/>
          </a:p>
        </p:txBody>
      </p:sp>
      <p:sp>
        <p:nvSpPr>
          <p:cNvPr id="13" name="Заголовок 12">
            <a:extLst>
              <a:ext uri="{FF2B5EF4-FFF2-40B4-BE49-F238E27FC236}">
                <a16:creationId xmlns:a16="http://schemas.microsoft.com/office/drawing/2014/main" id="{3428F33C-C170-4D14-AC71-D560FA028C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ru-RU" dirty="0"/>
              <a:t>Инструменты</a:t>
            </a:r>
            <a:r>
              <a:rPr lang="ru-RU" b="0" spc="-130" dirty="0">
                <a:latin typeface="Times New Roman"/>
                <a:cs typeface="Times New Roman"/>
              </a:rPr>
              <a:t> </a:t>
            </a:r>
            <a:r>
              <a:rPr lang="ru-RU" spc="-10" dirty="0"/>
              <a:t>статистического</a:t>
            </a:r>
            <a:r>
              <a:rPr lang="ru-RU" b="0" spc="-10" dirty="0">
                <a:latin typeface="Times New Roman"/>
                <a:cs typeface="Times New Roman"/>
              </a:rPr>
              <a:t> </a:t>
            </a:r>
            <a:r>
              <a:rPr lang="ru-RU" dirty="0"/>
              <a:t>анализа</a:t>
            </a:r>
            <a:r>
              <a:rPr lang="ru-RU" b="0" spc="-70" dirty="0">
                <a:latin typeface="Times New Roman"/>
                <a:cs typeface="Times New Roman"/>
              </a:rPr>
              <a:t> </a:t>
            </a:r>
            <a:r>
              <a:rPr lang="ru-RU" spc="-10" dirty="0"/>
              <a:t>данных</a:t>
            </a:r>
            <a:endParaRPr lang="ru-RU" dirty="0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theme/theme1.xml><?xml version="1.0" encoding="utf-8"?>
<a:theme xmlns:a="http://schemas.openxmlformats.org/drawingml/2006/main" name="Специальное оформление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Override1.xml><?xml version="1.0" encoding="utf-8"?>
<a:themeOverride xmlns:a="http://schemas.openxmlformats.org/drawingml/2006/main">
  <a:clrScheme name="Стандартная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4472C4"/>
    </a:accent1>
    <a:accent2>
      <a:srgbClr val="ED7D31"/>
    </a:accent2>
    <a:accent3>
      <a:srgbClr val="A5A5A5"/>
    </a:accent3>
    <a:accent4>
      <a:srgbClr val="FFC000"/>
    </a:accent4>
    <a:accent5>
      <a:srgbClr val="5B9BD5"/>
    </a:accent5>
    <a:accent6>
      <a:srgbClr val="70AD47"/>
    </a:accent6>
    <a:hlink>
      <a:srgbClr val="0563C1"/>
    </a:hlink>
    <a:folHlink>
      <a:srgbClr val="954F72"/>
    </a:folHlink>
  </a:clrScheme>
</a:themeOverride>
</file>

<file path=ppt/theme/themeOverride2.xml><?xml version="1.0" encoding="utf-8"?>
<a:themeOverride xmlns:a="http://schemas.openxmlformats.org/drawingml/2006/main">
  <a:clrScheme name="Стандартная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4472C4"/>
    </a:accent1>
    <a:accent2>
      <a:srgbClr val="ED7D31"/>
    </a:accent2>
    <a:accent3>
      <a:srgbClr val="A5A5A5"/>
    </a:accent3>
    <a:accent4>
      <a:srgbClr val="FFC000"/>
    </a:accent4>
    <a:accent5>
      <a:srgbClr val="5B9BD5"/>
    </a:accent5>
    <a:accent6>
      <a:srgbClr val="70AD47"/>
    </a:accent6>
    <a:hlink>
      <a:srgbClr val="0563C1"/>
    </a:hlink>
    <a:folHlink>
      <a:srgbClr val="954F72"/>
    </a:folHlink>
  </a:clrScheme>
</a:themeOverride>
</file>

<file path=ppt/theme/themeOverride3.xml><?xml version="1.0" encoding="utf-8"?>
<a:themeOverride xmlns:a="http://schemas.openxmlformats.org/drawingml/2006/main">
  <a:clrScheme name="Стандартная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4472C4"/>
    </a:accent1>
    <a:accent2>
      <a:srgbClr val="ED7D31"/>
    </a:accent2>
    <a:accent3>
      <a:srgbClr val="A5A5A5"/>
    </a:accent3>
    <a:accent4>
      <a:srgbClr val="FFC000"/>
    </a:accent4>
    <a:accent5>
      <a:srgbClr val="5B9BD5"/>
    </a:accent5>
    <a:accent6>
      <a:srgbClr val="70AD47"/>
    </a:accent6>
    <a:hlink>
      <a:srgbClr val="0563C1"/>
    </a:hlink>
    <a:folHlink>
      <a:srgbClr val="954F72"/>
    </a:folHlink>
  </a:clrScheme>
</a:themeOverride>
</file>

<file path=ppt/theme/themeOverride4.xml><?xml version="1.0" encoding="utf-8"?>
<a:themeOverride xmlns:a="http://schemas.openxmlformats.org/drawingml/2006/main">
  <a:clrScheme name="Стандартная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4472C4"/>
    </a:accent1>
    <a:accent2>
      <a:srgbClr val="ED7D31"/>
    </a:accent2>
    <a:accent3>
      <a:srgbClr val="A5A5A5"/>
    </a:accent3>
    <a:accent4>
      <a:srgbClr val="FFC000"/>
    </a:accent4>
    <a:accent5>
      <a:srgbClr val="5B9BD5"/>
    </a:accent5>
    <a:accent6>
      <a:srgbClr val="70AD47"/>
    </a:accent6>
    <a:hlink>
      <a:srgbClr val="0563C1"/>
    </a:hlink>
    <a:folHlink>
      <a:srgbClr val="954F72"/>
    </a:folHlink>
  </a:clrScheme>
</a:themeOverride>
</file>

<file path=ppt/theme/themeOverride5.xml><?xml version="1.0" encoding="utf-8"?>
<a:themeOverride xmlns:a="http://schemas.openxmlformats.org/drawingml/2006/main">
  <a:clrScheme name="Стандартная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4472C4"/>
    </a:accent1>
    <a:accent2>
      <a:srgbClr val="ED7D31"/>
    </a:accent2>
    <a:accent3>
      <a:srgbClr val="A5A5A5"/>
    </a:accent3>
    <a:accent4>
      <a:srgbClr val="FFC000"/>
    </a:accent4>
    <a:accent5>
      <a:srgbClr val="5B9BD5"/>
    </a:accent5>
    <a:accent6>
      <a:srgbClr val="70AD47"/>
    </a:accent6>
    <a:hlink>
      <a:srgbClr val="0563C1"/>
    </a:hlink>
    <a:folHlink>
      <a:srgbClr val="954F72"/>
    </a:folHlink>
  </a:clrScheme>
</a:themeOverride>
</file>

<file path=ppt/theme/themeOverride6.xml><?xml version="1.0" encoding="utf-8"?>
<a:themeOverride xmlns:a="http://schemas.openxmlformats.org/drawingml/2006/main">
  <a:clrScheme name="Стандартная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4472C4"/>
    </a:accent1>
    <a:accent2>
      <a:srgbClr val="ED7D31"/>
    </a:accent2>
    <a:accent3>
      <a:srgbClr val="A5A5A5"/>
    </a:accent3>
    <a:accent4>
      <a:srgbClr val="FFC000"/>
    </a:accent4>
    <a:accent5>
      <a:srgbClr val="5B9BD5"/>
    </a:accent5>
    <a:accent6>
      <a:srgbClr val="70AD47"/>
    </a:accent6>
    <a:hlink>
      <a:srgbClr val="0563C1"/>
    </a:hlink>
    <a:folHlink>
      <a:srgbClr val="954F72"/>
    </a:folHlink>
  </a:clrScheme>
</a:themeOverride>
</file>

<file path=ppt/theme/themeOverride7.xml><?xml version="1.0" encoding="utf-8"?>
<a:themeOverride xmlns:a="http://schemas.openxmlformats.org/drawingml/2006/main">
  <a:clrScheme name="Стандартная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4472C4"/>
    </a:accent1>
    <a:accent2>
      <a:srgbClr val="ED7D31"/>
    </a:accent2>
    <a:accent3>
      <a:srgbClr val="A5A5A5"/>
    </a:accent3>
    <a:accent4>
      <a:srgbClr val="FFC000"/>
    </a:accent4>
    <a:accent5>
      <a:srgbClr val="5B9BD5"/>
    </a:accent5>
    <a:accent6>
      <a:srgbClr val="70AD47"/>
    </a:accent6>
    <a:hlink>
      <a:srgbClr val="0563C1"/>
    </a:hlink>
    <a:folHlink>
      <a:srgbClr val="954F72"/>
    </a:folHlink>
  </a:clrScheme>
</a:themeOverride>
</file>

<file path=ppt/theme/themeOverride8.xml><?xml version="1.0" encoding="utf-8"?>
<a:themeOverride xmlns:a="http://schemas.openxmlformats.org/drawingml/2006/main">
  <a:clrScheme name="Стандартная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4472C4"/>
    </a:accent1>
    <a:accent2>
      <a:srgbClr val="ED7D31"/>
    </a:accent2>
    <a:accent3>
      <a:srgbClr val="A5A5A5"/>
    </a:accent3>
    <a:accent4>
      <a:srgbClr val="FFC000"/>
    </a:accent4>
    <a:accent5>
      <a:srgbClr val="5B9BD5"/>
    </a:accent5>
    <a:accent6>
      <a:srgbClr val="70AD47"/>
    </a:accent6>
    <a:hlink>
      <a:srgbClr val="0563C1"/>
    </a:hlink>
    <a:folHlink>
      <a:srgbClr val="954F72"/>
    </a:folHlink>
  </a:clrScheme>
</a:themeOverride>
</file>

<file path=ppt/theme/themeOverride9.xml><?xml version="1.0" encoding="utf-8"?>
<a:themeOverride xmlns:a="http://schemas.openxmlformats.org/drawingml/2006/main">
  <a:clrScheme name="Стандартная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4472C4"/>
    </a:accent1>
    <a:accent2>
      <a:srgbClr val="ED7D31"/>
    </a:accent2>
    <a:accent3>
      <a:srgbClr val="A5A5A5"/>
    </a:accent3>
    <a:accent4>
      <a:srgbClr val="FFC000"/>
    </a:accent4>
    <a:accent5>
      <a:srgbClr val="5B9BD5"/>
    </a:accent5>
    <a:accent6>
      <a:srgbClr val="70AD47"/>
    </a:accent6>
    <a:hlink>
      <a:srgbClr val="0563C1"/>
    </a:hlink>
    <a:folHlink>
      <a:srgbClr val="954F72"/>
    </a:folHlink>
  </a:clrScheme>
</a:themeOverride>
</file>

<file path=ppt/theme/themeOverride10.xml><?xml version="1.0" encoding="utf-8"?>
<a:themeOverride xmlns:a="http://schemas.openxmlformats.org/drawingml/2006/main">
  <a:clrScheme name="Стандартная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4472C4"/>
    </a:accent1>
    <a:accent2>
      <a:srgbClr val="ED7D31"/>
    </a:accent2>
    <a:accent3>
      <a:srgbClr val="A5A5A5"/>
    </a:accent3>
    <a:accent4>
      <a:srgbClr val="FFC000"/>
    </a:accent4>
    <a:accent5>
      <a:srgbClr val="5B9BD5"/>
    </a:accent5>
    <a:accent6>
      <a:srgbClr val="70AD47"/>
    </a:accent6>
    <a:hlink>
      <a:srgbClr val="0563C1"/>
    </a:hlink>
    <a:folHlink>
      <a:srgbClr val="954F72"/>
    </a:folHlink>
  </a:clrScheme>
</a:themeOverride>
</file>

<file path=ppt/theme/themeOverride11.xml><?xml version="1.0" encoding="utf-8"?>
<a:themeOverride xmlns:a="http://schemas.openxmlformats.org/drawingml/2006/main">
  <a:clrScheme name="Стандартная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4472C4"/>
    </a:accent1>
    <a:accent2>
      <a:srgbClr val="ED7D31"/>
    </a:accent2>
    <a:accent3>
      <a:srgbClr val="A5A5A5"/>
    </a:accent3>
    <a:accent4>
      <a:srgbClr val="FFC000"/>
    </a:accent4>
    <a:accent5>
      <a:srgbClr val="5B9BD5"/>
    </a:accent5>
    <a:accent6>
      <a:srgbClr val="70AD47"/>
    </a:accent6>
    <a:hlink>
      <a:srgbClr val="0563C1"/>
    </a:hlink>
    <a:folHlink>
      <a:srgbClr val="954F72"/>
    </a:folHlink>
  </a:clrScheme>
</a:themeOverride>
</file>

<file path=ppt/theme/themeOverride12.xml><?xml version="1.0" encoding="utf-8"?>
<a:themeOverride xmlns:a="http://schemas.openxmlformats.org/drawingml/2006/main">
  <a:clrScheme name="Стандартная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4472C4"/>
    </a:accent1>
    <a:accent2>
      <a:srgbClr val="ED7D31"/>
    </a:accent2>
    <a:accent3>
      <a:srgbClr val="A5A5A5"/>
    </a:accent3>
    <a:accent4>
      <a:srgbClr val="FFC000"/>
    </a:accent4>
    <a:accent5>
      <a:srgbClr val="5B9BD5"/>
    </a:accent5>
    <a:accent6>
      <a:srgbClr val="70AD47"/>
    </a:accent6>
    <a:hlink>
      <a:srgbClr val="0563C1"/>
    </a:hlink>
    <a:folHlink>
      <a:srgbClr val="954F72"/>
    </a:folHlink>
  </a:clrScheme>
</a:themeOverride>
</file>

<file path=ppt/theme/themeOverride13.xml><?xml version="1.0" encoding="utf-8"?>
<a:themeOverride xmlns:a="http://schemas.openxmlformats.org/drawingml/2006/main">
  <a:clrScheme name="Стандартная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4472C4"/>
    </a:accent1>
    <a:accent2>
      <a:srgbClr val="ED7D31"/>
    </a:accent2>
    <a:accent3>
      <a:srgbClr val="A5A5A5"/>
    </a:accent3>
    <a:accent4>
      <a:srgbClr val="FFC000"/>
    </a:accent4>
    <a:accent5>
      <a:srgbClr val="5B9BD5"/>
    </a:accent5>
    <a:accent6>
      <a:srgbClr val="70AD47"/>
    </a:accent6>
    <a:hlink>
      <a:srgbClr val="0563C1"/>
    </a:hlink>
    <a:folHlink>
      <a:srgbClr val="954F72"/>
    </a:folHlink>
  </a:clrScheme>
</a:themeOverride>
</file>

<file path=ppt/theme/themeOverride14.xml><?xml version="1.0" encoding="utf-8"?>
<a:themeOverride xmlns:a="http://schemas.openxmlformats.org/drawingml/2006/main">
  <a:clrScheme name="Стандартная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4472C4"/>
    </a:accent1>
    <a:accent2>
      <a:srgbClr val="ED7D31"/>
    </a:accent2>
    <a:accent3>
      <a:srgbClr val="A5A5A5"/>
    </a:accent3>
    <a:accent4>
      <a:srgbClr val="FFC000"/>
    </a:accent4>
    <a:accent5>
      <a:srgbClr val="5B9BD5"/>
    </a:accent5>
    <a:accent6>
      <a:srgbClr val="70AD47"/>
    </a:accent6>
    <a:hlink>
      <a:srgbClr val="0563C1"/>
    </a:hlink>
    <a:folHlink>
      <a:srgbClr val="954F72"/>
    </a:folHlink>
  </a:clrScheme>
</a:themeOverride>
</file>

<file path=ppt/theme/themeOverride15.xml><?xml version="1.0" encoding="utf-8"?>
<a:themeOverride xmlns:a="http://schemas.openxmlformats.org/drawingml/2006/main">
  <a:clrScheme name="Стандартная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4472C4"/>
    </a:accent1>
    <a:accent2>
      <a:srgbClr val="ED7D31"/>
    </a:accent2>
    <a:accent3>
      <a:srgbClr val="A5A5A5"/>
    </a:accent3>
    <a:accent4>
      <a:srgbClr val="FFC000"/>
    </a:accent4>
    <a:accent5>
      <a:srgbClr val="5B9BD5"/>
    </a:accent5>
    <a:accent6>
      <a:srgbClr val="70AD47"/>
    </a:accent6>
    <a:hlink>
      <a:srgbClr val="0563C1"/>
    </a:hlink>
    <a:folHlink>
      <a:srgbClr val="954F72"/>
    </a:folHlink>
  </a:clrScheme>
</a:themeOverride>
</file>

<file path=ppt/theme/themeOverride16.xml><?xml version="1.0" encoding="utf-8"?>
<a:themeOverride xmlns:a="http://schemas.openxmlformats.org/drawingml/2006/main">
  <a:clrScheme name="Стандартная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4472C4"/>
    </a:accent1>
    <a:accent2>
      <a:srgbClr val="ED7D31"/>
    </a:accent2>
    <a:accent3>
      <a:srgbClr val="A5A5A5"/>
    </a:accent3>
    <a:accent4>
      <a:srgbClr val="FFC000"/>
    </a:accent4>
    <a:accent5>
      <a:srgbClr val="5B9BD5"/>
    </a:accent5>
    <a:accent6>
      <a:srgbClr val="70AD47"/>
    </a:accent6>
    <a:hlink>
      <a:srgbClr val="0563C1"/>
    </a:hlink>
    <a:folHlink>
      <a:srgbClr val="954F72"/>
    </a:folHlink>
  </a:clrScheme>
</a:themeOverride>
</file>

<file path=ppt/theme/themeOverride17.xml><?xml version="1.0" encoding="utf-8"?>
<a:themeOverride xmlns:a="http://schemas.openxmlformats.org/drawingml/2006/main">
  <a:clrScheme name="Стандартная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4472C4"/>
    </a:accent1>
    <a:accent2>
      <a:srgbClr val="ED7D31"/>
    </a:accent2>
    <a:accent3>
      <a:srgbClr val="A5A5A5"/>
    </a:accent3>
    <a:accent4>
      <a:srgbClr val="FFC000"/>
    </a:accent4>
    <a:accent5>
      <a:srgbClr val="5B9BD5"/>
    </a:accent5>
    <a:accent6>
      <a:srgbClr val="70AD47"/>
    </a:accent6>
    <a:hlink>
      <a:srgbClr val="0563C1"/>
    </a:hlink>
    <a:folHlink>
      <a:srgbClr val="954F72"/>
    </a:folHlink>
  </a:clrScheme>
</a:themeOverride>
</file>

<file path=ppt/theme/themeOverride18.xml><?xml version="1.0" encoding="utf-8"?>
<a:themeOverride xmlns:a="http://schemas.openxmlformats.org/drawingml/2006/main">
  <a:clrScheme name="Стандартная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4472C4"/>
    </a:accent1>
    <a:accent2>
      <a:srgbClr val="ED7D31"/>
    </a:accent2>
    <a:accent3>
      <a:srgbClr val="A5A5A5"/>
    </a:accent3>
    <a:accent4>
      <a:srgbClr val="FFC000"/>
    </a:accent4>
    <a:accent5>
      <a:srgbClr val="5B9BD5"/>
    </a:accent5>
    <a:accent6>
      <a:srgbClr val="70AD47"/>
    </a:accent6>
    <a:hlink>
      <a:srgbClr val="0563C1"/>
    </a:hlink>
    <a:folHlink>
      <a:srgbClr val="954F72"/>
    </a:folHlink>
  </a:clrScheme>
</a:themeOverride>
</file>

<file path=ppt/theme/themeOverride19.xml><?xml version="1.0" encoding="utf-8"?>
<a:themeOverride xmlns:a="http://schemas.openxmlformats.org/drawingml/2006/main">
  <a:clrScheme name="Стандартная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4472C4"/>
    </a:accent1>
    <a:accent2>
      <a:srgbClr val="ED7D31"/>
    </a:accent2>
    <a:accent3>
      <a:srgbClr val="A5A5A5"/>
    </a:accent3>
    <a:accent4>
      <a:srgbClr val="FFC000"/>
    </a:accent4>
    <a:accent5>
      <a:srgbClr val="5B9BD5"/>
    </a:accent5>
    <a:accent6>
      <a:srgbClr val="70AD47"/>
    </a:accent6>
    <a:hlink>
      <a:srgbClr val="0563C1"/>
    </a:hlink>
    <a:folHlink>
      <a:srgbClr val="954F72"/>
    </a:folHlink>
  </a:clrScheme>
</a:themeOverride>
</file>

<file path=ppt/theme/themeOverride20.xml><?xml version="1.0" encoding="utf-8"?>
<a:themeOverride xmlns:a="http://schemas.openxmlformats.org/drawingml/2006/main">
  <a:clrScheme name="Стандартная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4472C4"/>
    </a:accent1>
    <a:accent2>
      <a:srgbClr val="ED7D31"/>
    </a:accent2>
    <a:accent3>
      <a:srgbClr val="A5A5A5"/>
    </a:accent3>
    <a:accent4>
      <a:srgbClr val="FFC000"/>
    </a:accent4>
    <a:accent5>
      <a:srgbClr val="5B9BD5"/>
    </a:accent5>
    <a:accent6>
      <a:srgbClr val="70AD47"/>
    </a:accent6>
    <a:hlink>
      <a:srgbClr val="0563C1"/>
    </a:hlink>
    <a:folHlink>
      <a:srgbClr val="954F72"/>
    </a:folHlink>
  </a:clrScheme>
</a:themeOverride>
</file>

<file path=ppt/theme/themeOverride21.xml><?xml version="1.0" encoding="utf-8"?>
<a:themeOverride xmlns:a="http://schemas.openxmlformats.org/drawingml/2006/main">
  <a:clrScheme name="Стандартная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4472C4"/>
    </a:accent1>
    <a:accent2>
      <a:srgbClr val="ED7D31"/>
    </a:accent2>
    <a:accent3>
      <a:srgbClr val="A5A5A5"/>
    </a:accent3>
    <a:accent4>
      <a:srgbClr val="FFC000"/>
    </a:accent4>
    <a:accent5>
      <a:srgbClr val="5B9BD5"/>
    </a:accent5>
    <a:accent6>
      <a:srgbClr val="70AD47"/>
    </a:accent6>
    <a:hlink>
      <a:srgbClr val="0563C1"/>
    </a:hlink>
    <a:folHlink>
      <a:srgbClr val="954F72"/>
    </a:folHlink>
  </a:clrScheme>
</a:themeOverride>
</file>

<file path=ppt/theme/themeOverride22.xml><?xml version="1.0" encoding="utf-8"?>
<a:themeOverride xmlns:a="http://schemas.openxmlformats.org/drawingml/2006/main">
  <a:clrScheme name="Стандартная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4472C4"/>
    </a:accent1>
    <a:accent2>
      <a:srgbClr val="ED7D31"/>
    </a:accent2>
    <a:accent3>
      <a:srgbClr val="A5A5A5"/>
    </a:accent3>
    <a:accent4>
      <a:srgbClr val="FFC000"/>
    </a:accent4>
    <a:accent5>
      <a:srgbClr val="5B9BD5"/>
    </a:accent5>
    <a:accent6>
      <a:srgbClr val="70AD47"/>
    </a:accent6>
    <a:hlink>
      <a:srgbClr val="0563C1"/>
    </a:hlink>
    <a:folHlink>
      <a:srgbClr val="954F72"/>
    </a:folHlink>
  </a:clrScheme>
</a:themeOverride>
</file>

<file path=ppt/theme/themeOverride23.xml><?xml version="1.0" encoding="utf-8"?>
<a:themeOverride xmlns:a="http://schemas.openxmlformats.org/drawingml/2006/main">
  <a:clrScheme name="Стандартная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4472C4"/>
    </a:accent1>
    <a:accent2>
      <a:srgbClr val="ED7D31"/>
    </a:accent2>
    <a:accent3>
      <a:srgbClr val="A5A5A5"/>
    </a:accent3>
    <a:accent4>
      <a:srgbClr val="FFC000"/>
    </a:accent4>
    <a:accent5>
      <a:srgbClr val="5B9BD5"/>
    </a:accent5>
    <a:accent6>
      <a:srgbClr val="70AD47"/>
    </a:accent6>
    <a:hlink>
      <a:srgbClr val="0563C1"/>
    </a:hlink>
    <a:folHlink>
      <a:srgbClr val="954F72"/>
    </a:folHlink>
  </a:clrScheme>
</a:themeOverride>
</file>

<file path=ppt/theme/themeOverride24.xml><?xml version="1.0" encoding="utf-8"?>
<a:themeOverride xmlns:a="http://schemas.openxmlformats.org/drawingml/2006/main">
  <a:clrScheme name="Стандартная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4472C4"/>
    </a:accent1>
    <a:accent2>
      <a:srgbClr val="ED7D31"/>
    </a:accent2>
    <a:accent3>
      <a:srgbClr val="A5A5A5"/>
    </a:accent3>
    <a:accent4>
      <a:srgbClr val="FFC000"/>
    </a:accent4>
    <a:accent5>
      <a:srgbClr val="5B9BD5"/>
    </a:accent5>
    <a:accent6>
      <a:srgbClr val="70AD47"/>
    </a:accent6>
    <a:hlink>
      <a:srgbClr val="0563C1"/>
    </a:hlink>
    <a:folHlink>
      <a:srgbClr val="954F72"/>
    </a:folHlink>
  </a:clrScheme>
</a:themeOverride>
</file>

<file path=ppt/theme/themeOverride25.xml><?xml version="1.0" encoding="utf-8"?>
<a:themeOverride xmlns:a="http://schemas.openxmlformats.org/drawingml/2006/main">
  <a:clrScheme name="Стандартная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4472C4"/>
    </a:accent1>
    <a:accent2>
      <a:srgbClr val="ED7D31"/>
    </a:accent2>
    <a:accent3>
      <a:srgbClr val="A5A5A5"/>
    </a:accent3>
    <a:accent4>
      <a:srgbClr val="FFC000"/>
    </a:accent4>
    <a:accent5>
      <a:srgbClr val="5B9BD5"/>
    </a:accent5>
    <a:accent6>
      <a:srgbClr val="70AD47"/>
    </a:accent6>
    <a:hlink>
      <a:srgbClr val="0563C1"/>
    </a:hlink>
    <a:folHlink>
      <a:srgbClr val="954F72"/>
    </a:folHlink>
  </a:clrScheme>
</a:themeOverride>
</file>

<file path=ppt/theme/themeOverride26.xml><?xml version="1.0" encoding="utf-8"?>
<a:themeOverride xmlns:a="http://schemas.openxmlformats.org/drawingml/2006/main">
  <a:clrScheme name="Стандартная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4472C4"/>
    </a:accent1>
    <a:accent2>
      <a:srgbClr val="ED7D31"/>
    </a:accent2>
    <a:accent3>
      <a:srgbClr val="A5A5A5"/>
    </a:accent3>
    <a:accent4>
      <a:srgbClr val="FFC000"/>
    </a:accent4>
    <a:accent5>
      <a:srgbClr val="5B9BD5"/>
    </a:accent5>
    <a:accent6>
      <a:srgbClr val="70AD47"/>
    </a:accent6>
    <a:hlink>
      <a:srgbClr val="0563C1"/>
    </a:hlink>
    <a:folHlink>
      <a:srgbClr val="954F72"/>
    </a:folHlink>
  </a:clrScheme>
</a:themeOverride>
</file>

<file path=ppt/theme/themeOverride27.xml><?xml version="1.0" encoding="utf-8"?>
<a:themeOverride xmlns:a="http://schemas.openxmlformats.org/drawingml/2006/main">
  <a:clrScheme name="Стандартная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4472C4"/>
    </a:accent1>
    <a:accent2>
      <a:srgbClr val="ED7D31"/>
    </a:accent2>
    <a:accent3>
      <a:srgbClr val="A5A5A5"/>
    </a:accent3>
    <a:accent4>
      <a:srgbClr val="FFC000"/>
    </a:accent4>
    <a:accent5>
      <a:srgbClr val="5B9BD5"/>
    </a:accent5>
    <a:accent6>
      <a:srgbClr val="70AD47"/>
    </a:accent6>
    <a:hlink>
      <a:srgbClr val="0563C1"/>
    </a:hlink>
    <a:folHlink>
      <a:srgbClr val="954F72"/>
    </a:folHlink>
  </a:clrScheme>
</a:themeOverride>
</file>

<file path=ppt/theme/themeOverride28.xml><?xml version="1.0" encoding="utf-8"?>
<a:themeOverride xmlns:a="http://schemas.openxmlformats.org/drawingml/2006/main">
  <a:clrScheme name="Стандартная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4472C4"/>
    </a:accent1>
    <a:accent2>
      <a:srgbClr val="ED7D31"/>
    </a:accent2>
    <a:accent3>
      <a:srgbClr val="A5A5A5"/>
    </a:accent3>
    <a:accent4>
      <a:srgbClr val="FFC000"/>
    </a:accent4>
    <a:accent5>
      <a:srgbClr val="5B9BD5"/>
    </a:accent5>
    <a:accent6>
      <a:srgbClr val="70AD47"/>
    </a:accent6>
    <a:hlink>
      <a:srgbClr val="0563C1"/>
    </a:hlink>
    <a:folHlink>
      <a:srgbClr val="954F72"/>
    </a:folHlink>
  </a:clrScheme>
</a:themeOverride>
</file>

<file path=ppt/theme/themeOverride29.xml><?xml version="1.0" encoding="utf-8"?>
<a:themeOverride xmlns:a="http://schemas.openxmlformats.org/drawingml/2006/main">
  <a:clrScheme name="Стандартная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4472C4"/>
    </a:accent1>
    <a:accent2>
      <a:srgbClr val="ED7D31"/>
    </a:accent2>
    <a:accent3>
      <a:srgbClr val="A5A5A5"/>
    </a:accent3>
    <a:accent4>
      <a:srgbClr val="FFC000"/>
    </a:accent4>
    <a:accent5>
      <a:srgbClr val="5B9BD5"/>
    </a:accent5>
    <a:accent6>
      <a:srgbClr val="70AD47"/>
    </a:accent6>
    <a:hlink>
      <a:srgbClr val="0563C1"/>
    </a:hlink>
    <a:folHlink>
      <a:srgbClr val="954F72"/>
    </a:folHlink>
  </a:clrScheme>
</a:themeOverride>
</file>

<file path=ppt/theme/themeOverride30.xml><?xml version="1.0" encoding="utf-8"?>
<a:themeOverride xmlns:a="http://schemas.openxmlformats.org/drawingml/2006/main">
  <a:clrScheme name="Стандартная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4472C4"/>
    </a:accent1>
    <a:accent2>
      <a:srgbClr val="ED7D31"/>
    </a:accent2>
    <a:accent3>
      <a:srgbClr val="A5A5A5"/>
    </a:accent3>
    <a:accent4>
      <a:srgbClr val="FFC000"/>
    </a:accent4>
    <a:accent5>
      <a:srgbClr val="5B9BD5"/>
    </a:accent5>
    <a:accent6>
      <a:srgbClr val="70AD47"/>
    </a:accent6>
    <a:hlink>
      <a:srgbClr val="0563C1"/>
    </a:hlink>
    <a:folHlink>
      <a:srgbClr val="954F72"/>
    </a:folHlink>
  </a:clrScheme>
</a:themeOverride>
</file>

<file path=ppt/theme/themeOverride31.xml><?xml version="1.0" encoding="utf-8"?>
<a:themeOverride xmlns:a="http://schemas.openxmlformats.org/drawingml/2006/main">
  <a:clrScheme name="Стандартная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4472C4"/>
    </a:accent1>
    <a:accent2>
      <a:srgbClr val="ED7D31"/>
    </a:accent2>
    <a:accent3>
      <a:srgbClr val="A5A5A5"/>
    </a:accent3>
    <a:accent4>
      <a:srgbClr val="FFC000"/>
    </a:accent4>
    <a:accent5>
      <a:srgbClr val="5B9BD5"/>
    </a:accent5>
    <a:accent6>
      <a:srgbClr val="70AD47"/>
    </a:accent6>
    <a:hlink>
      <a:srgbClr val="0563C1"/>
    </a:hlink>
    <a:folHlink>
      <a:srgbClr val="954F72"/>
    </a:folHlink>
  </a:clrScheme>
</a:themeOverride>
</file>

<file path=ppt/theme/themeOverride32.xml><?xml version="1.0" encoding="utf-8"?>
<a:themeOverride xmlns:a="http://schemas.openxmlformats.org/drawingml/2006/main">
  <a:clrScheme name="Стандартная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4472C4"/>
    </a:accent1>
    <a:accent2>
      <a:srgbClr val="ED7D31"/>
    </a:accent2>
    <a:accent3>
      <a:srgbClr val="A5A5A5"/>
    </a:accent3>
    <a:accent4>
      <a:srgbClr val="FFC000"/>
    </a:accent4>
    <a:accent5>
      <a:srgbClr val="5B9BD5"/>
    </a:accent5>
    <a:accent6>
      <a:srgbClr val="70AD47"/>
    </a:accent6>
    <a:hlink>
      <a:srgbClr val="0563C1"/>
    </a:hlink>
    <a:folHlink>
      <a:srgbClr val="954F72"/>
    </a:folHlink>
  </a:clrScheme>
</a:themeOverride>
</file>

<file path=ppt/theme/themeOverride33.xml><?xml version="1.0" encoding="utf-8"?>
<a:themeOverride xmlns:a="http://schemas.openxmlformats.org/drawingml/2006/main">
  <a:clrScheme name="Стандартная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4472C4"/>
    </a:accent1>
    <a:accent2>
      <a:srgbClr val="ED7D31"/>
    </a:accent2>
    <a:accent3>
      <a:srgbClr val="A5A5A5"/>
    </a:accent3>
    <a:accent4>
      <a:srgbClr val="FFC000"/>
    </a:accent4>
    <a:accent5>
      <a:srgbClr val="5B9BD5"/>
    </a:accent5>
    <a:accent6>
      <a:srgbClr val="70AD47"/>
    </a:accent6>
    <a:hlink>
      <a:srgbClr val="0563C1"/>
    </a:hlink>
    <a:folHlink>
      <a:srgbClr val="954F72"/>
    </a:folHlink>
  </a:clrScheme>
</a:themeOverride>
</file>

<file path=ppt/theme/themeOverride34.xml><?xml version="1.0" encoding="utf-8"?>
<a:themeOverride xmlns:a="http://schemas.openxmlformats.org/drawingml/2006/main">
  <a:clrScheme name="Стандартная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4472C4"/>
    </a:accent1>
    <a:accent2>
      <a:srgbClr val="ED7D31"/>
    </a:accent2>
    <a:accent3>
      <a:srgbClr val="A5A5A5"/>
    </a:accent3>
    <a:accent4>
      <a:srgbClr val="FFC000"/>
    </a:accent4>
    <a:accent5>
      <a:srgbClr val="5B9BD5"/>
    </a:accent5>
    <a:accent6>
      <a:srgbClr val="70AD47"/>
    </a:accent6>
    <a:hlink>
      <a:srgbClr val="0563C1"/>
    </a:hlink>
    <a:folHlink>
      <a:srgbClr val="954F72"/>
    </a:folHlink>
  </a:clrScheme>
</a:themeOverride>
</file>

<file path=ppt/theme/themeOverride35.xml><?xml version="1.0" encoding="utf-8"?>
<a:themeOverride xmlns:a="http://schemas.openxmlformats.org/drawingml/2006/main">
  <a:clrScheme name="Стандартная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4472C4"/>
    </a:accent1>
    <a:accent2>
      <a:srgbClr val="ED7D31"/>
    </a:accent2>
    <a:accent3>
      <a:srgbClr val="A5A5A5"/>
    </a:accent3>
    <a:accent4>
      <a:srgbClr val="FFC000"/>
    </a:accent4>
    <a:accent5>
      <a:srgbClr val="5B9BD5"/>
    </a:accent5>
    <a:accent6>
      <a:srgbClr val="70AD47"/>
    </a:accent6>
    <a:hlink>
      <a:srgbClr val="0563C1"/>
    </a:hlink>
    <a:folHlink>
      <a:srgbClr val="954F72"/>
    </a:folHlink>
  </a:clrScheme>
</a:themeOverride>
</file>

<file path=ppt/theme/themeOverride36.xml><?xml version="1.0" encoding="utf-8"?>
<a:themeOverride xmlns:a="http://schemas.openxmlformats.org/drawingml/2006/main">
  <a:clrScheme name="Стандартная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4472C4"/>
    </a:accent1>
    <a:accent2>
      <a:srgbClr val="ED7D31"/>
    </a:accent2>
    <a:accent3>
      <a:srgbClr val="A5A5A5"/>
    </a:accent3>
    <a:accent4>
      <a:srgbClr val="FFC000"/>
    </a:accent4>
    <a:accent5>
      <a:srgbClr val="5B9BD5"/>
    </a:accent5>
    <a:accent6>
      <a:srgbClr val="70AD47"/>
    </a:accent6>
    <a:hlink>
      <a:srgbClr val="0563C1"/>
    </a:hlink>
    <a:folHlink>
      <a:srgbClr val="954F72"/>
    </a:folHlink>
  </a:clrScheme>
</a:themeOverride>
</file>

<file path=ppt/theme/themeOverride37.xml><?xml version="1.0" encoding="utf-8"?>
<a:themeOverride xmlns:a="http://schemas.openxmlformats.org/drawingml/2006/main">
  <a:clrScheme name="Стандартная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4472C4"/>
    </a:accent1>
    <a:accent2>
      <a:srgbClr val="ED7D31"/>
    </a:accent2>
    <a:accent3>
      <a:srgbClr val="A5A5A5"/>
    </a:accent3>
    <a:accent4>
      <a:srgbClr val="FFC000"/>
    </a:accent4>
    <a:accent5>
      <a:srgbClr val="5B9BD5"/>
    </a:accent5>
    <a:accent6>
      <a:srgbClr val="70AD47"/>
    </a:accent6>
    <a:hlink>
      <a:srgbClr val="0563C1"/>
    </a:hlink>
    <a:folHlink>
      <a:srgbClr val="954F72"/>
    </a:folHlink>
  </a:clrScheme>
</a:themeOverride>
</file>

<file path=ppt/theme/themeOverride38.xml><?xml version="1.0" encoding="utf-8"?>
<a:themeOverride xmlns:a="http://schemas.openxmlformats.org/drawingml/2006/main">
  <a:clrScheme name="Стандартная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4472C4"/>
    </a:accent1>
    <a:accent2>
      <a:srgbClr val="ED7D31"/>
    </a:accent2>
    <a:accent3>
      <a:srgbClr val="A5A5A5"/>
    </a:accent3>
    <a:accent4>
      <a:srgbClr val="FFC000"/>
    </a:accent4>
    <a:accent5>
      <a:srgbClr val="5B9BD5"/>
    </a:accent5>
    <a:accent6>
      <a:srgbClr val="70AD47"/>
    </a:accent6>
    <a:hlink>
      <a:srgbClr val="0563C1"/>
    </a:hlink>
    <a:folHlink>
      <a:srgbClr val="954F72"/>
    </a:folHlink>
  </a:clrScheme>
</a:themeOverride>
</file>

<file path=ppt/theme/themeOverride39.xml><?xml version="1.0" encoding="utf-8"?>
<a:themeOverride xmlns:a="http://schemas.openxmlformats.org/drawingml/2006/main">
  <a:clrScheme name="Стандартная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4472C4"/>
    </a:accent1>
    <a:accent2>
      <a:srgbClr val="ED7D31"/>
    </a:accent2>
    <a:accent3>
      <a:srgbClr val="A5A5A5"/>
    </a:accent3>
    <a:accent4>
      <a:srgbClr val="FFC000"/>
    </a:accent4>
    <a:accent5>
      <a:srgbClr val="5B9BD5"/>
    </a:accent5>
    <a:accent6>
      <a:srgbClr val="70AD47"/>
    </a:accent6>
    <a:hlink>
      <a:srgbClr val="0563C1"/>
    </a:hlink>
    <a:folHlink>
      <a:srgbClr val="954F72"/>
    </a:folHlink>
  </a:clrScheme>
</a:themeOverride>
</file>

<file path=ppt/theme/themeOverride40.xml><?xml version="1.0" encoding="utf-8"?>
<a:themeOverride xmlns:a="http://schemas.openxmlformats.org/drawingml/2006/main">
  <a:clrScheme name="Стандартная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4472C4"/>
    </a:accent1>
    <a:accent2>
      <a:srgbClr val="ED7D31"/>
    </a:accent2>
    <a:accent3>
      <a:srgbClr val="A5A5A5"/>
    </a:accent3>
    <a:accent4>
      <a:srgbClr val="FFC000"/>
    </a:accent4>
    <a:accent5>
      <a:srgbClr val="5B9BD5"/>
    </a:accent5>
    <a:accent6>
      <a:srgbClr val="70AD47"/>
    </a:accent6>
    <a:hlink>
      <a:srgbClr val="0563C1"/>
    </a:hlink>
    <a:folHlink>
      <a:srgbClr val="954F72"/>
    </a:folHlink>
  </a:clrScheme>
</a:themeOverride>
</file>

<file path=ppt/theme/themeOverride41.xml><?xml version="1.0" encoding="utf-8"?>
<a:themeOverride xmlns:a="http://schemas.openxmlformats.org/drawingml/2006/main">
  <a:clrScheme name="Стандартная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4472C4"/>
    </a:accent1>
    <a:accent2>
      <a:srgbClr val="ED7D31"/>
    </a:accent2>
    <a:accent3>
      <a:srgbClr val="A5A5A5"/>
    </a:accent3>
    <a:accent4>
      <a:srgbClr val="FFC000"/>
    </a:accent4>
    <a:accent5>
      <a:srgbClr val="5B9BD5"/>
    </a:accent5>
    <a:accent6>
      <a:srgbClr val="70AD47"/>
    </a:accent6>
    <a:hlink>
      <a:srgbClr val="0563C1"/>
    </a:hlink>
    <a:folHlink>
      <a:srgbClr val="954F72"/>
    </a:folHlink>
  </a:clrScheme>
</a:themeOverride>
</file>

<file path=ppt/theme/themeOverride42.xml><?xml version="1.0" encoding="utf-8"?>
<a:themeOverride xmlns:a="http://schemas.openxmlformats.org/drawingml/2006/main">
  <a:clrScheme name="Стандартная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4472C4"/>
    </a:accent1>
    <a:accent2>
      <a:srgbClr val="ED7D31"/>
    </a:accent2>
    <a:accent3>
      <a:srgbClr val="A5A5A5"/>
    </a:accent3>
    <a:accent4>
      <a:srgbClr val="FFC000"/>
    </a:accent4>
    <a:accent5>
      <a:srgbClr val="5B9BD5"/>
    </a:accent5>
    <a:accent6>
      <a:srgbClr val="70AD47"/>
    </a:accent6>
    <a:hlink>
      <a:srgbClr val="0563C1"/>
    </a:hlink>
    <a:folHlink>
      <a:srgbClr val="954F72"/>
    </a:folHlink>
  </a:clrScheme>
</a:themeOverride>
</file>

<file path=ppt/theme/themeOverride43.xml><?xml version="1.0" encoding="utf-8"?>
<a:themeOverride xmlns:a="http://schemas.openxmlformats.org/drawingml/2006/main">
  <a:clrScheme name="Стандартная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4472C4"/>
    </a:accent1>
    <a:accent2>
      <a:srgbClr val="ED7D31"/>
    </a:accent2>
    <a:accent3>
      <a:srgbClr val="A5A5A5"/>
    </a:accent3>
    <a:accent4>
      <a:srgbClr val="FFC000"/>
    </a:accent4>
    <a:accent5>
      <a:srgbClr val="5B9BD5"/>
    </a:accent5>
    <a:accent6>
      <a:srgbClr val="70AD47"/>
    </a:accent6>
    <a:hlink>
      <a:srgbClr val="0563C1"/>
    </a:hlink>
    <a:folHlink>
      <a:srgbClr val="954F72"/>
    </a:folHlink>
  </a:clrScheme>
</a:themeOverride>
</file>

<file path=ppt/theme/themeOverride44.xml><?xml version="1.0" encoding="utf-8"?>
<a:themeOverride xmlns:a="http://schemas.openxmlformats.org/drawingml/2006/main">
  <a:clrScheme name="Стандартная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4472C4"/>
    </a:accent1>
    <a:accent2>
      <a:srgbClr val="ED7D31"/>
    </a:accent2>
    <a:accent3>
      <a:srgbClr val="A5A5A5"/>
    </a:accent3>
    <a:accent4>
      <a:srgbClr val="FFC000"/>
    </a:accent4>
    <a:accent5>
      <a:srgbClr val="5B9BD5"/>
    </a:accent5>
    <a:accent6>
      <a:srgbClr val="70AD47"/>
    </a:accent6>
    <a:hlink>
      <a:srgbClr val="0563C1"/>
    </a:hlink>
    <a:folHlink>
      <a:srgbClr val="954F72"/>
    </a:folHlink>
  </a:clrScheme>
</a:themeOverride>
</file>

<file path=ppt/theme/themeOverride45.xml><?xml version="1.0" encoding="utf-8"?>
<a:themeOverride xmlns:a="http://schemas.openxmlformats.org/drawingml/2006/main">
  <a:clrScheme name="Стандартная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4472C4"/>
    </a:accent1>
    <a:accent2>
      <a:srgbClr val="ED7D31"/>
    </a:accent2>
    <a:accent3>
      <a:srgbClr val="A5A5A5"/>
    </a:accent3>
    <a:accent4>
      <a:srgbClr val="FFC000"/>
    </a:accent4>
    <a:accent5>
      <a:srgbClr val="5B9BD5"/>
    </a:accent5>
    <a:accent6>
      <a:srgbClr val="70AD47"/>
    </a:accent6>
    <a:hlink>
      <a:srgbClr val="0563C1"/>
    </a:hlink>
    <a:folHlink>
      <a:srgbClr val="954F72"/>
    </a:folHlink>
  </a:clrScheme>
</a:themeOverride>
</file>

<file path=ppt/theme/themeOverride46.xml><?xml version="1.0" encoding="utf-8"?>
<a:themeOverride xmlns:a="http://schemas.openxmlformats.org/drawingml/2006/main">
  <a:clrScheme name="Стандартная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4472C4"/>
    </a:accent1>
    <a:accent2>
      <a:srgbClr val="ED7D31"/>
    </a:accent2>
    <a:accent3>
      <a:srgbClr val="A5A5A5"/>
    </a:accent3>
    <a:accent4>
      <a:srgbClr val="FFC000"/>
    </a:accent4>
    <a:accent5>
      <a:srgbClr val="5B9BD5"/>
    </a:accent5>
    <a:accent6>
      <a:srgbClr val="70AD47"/>
    </a:accent6>
    <a:hlink>
      <a:srgbClr val="0563C1"/>
    </a:hlink>
    <a:folHlink>
      <a:srgbClr val="954F72"/>
    </a:folHlink>
  </a:clrScheme>
</a:themeOverride>
</file>

<file path=ppt/theme/themeOverride47.xml><?xml version="1.0" encoding="utf-8"?>
<a:themeOverride xmlns:a="http://schemas.openxmlformats.org/drawingml/2006/main">
  <a:clrScheme name="Стандартная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4472C4"/>
    </a:accent1>
    <a:accent2>
      <a:srgbClr val="ED7D31"/>
    </a:accent2>
    <a:accent3>
      <a:srgbClr val="A5A5A5"/>
    </a:accent3>
    <a:accent4>
      <a:srgbClr val="FFC000"/>
    </a:accent4>
    <a:accent5>
      <a:srgbClr val="5B9BD5"/>
    </a:accent5>
    <a:accent6>
      <a:srgbClr val="70AD47"/>
    </a:accent6>
    <a:hlink>
      <a:srgbClr val="0563C1"/>
    </a:hlink>
    <a:folHlink>
      <a:srgbClr val="954F72"/>
    </a:folHlink>
  </a:clrScheme>
</a:themeOverride>
</file>

<file path=ppt/theme/themeOverride48.xml><?xml version="1.0" encoding="utf-8"?>
<a:themeOverride xmlns:a="http://schemas.openxmlformats.org/drawingml/2006/main">
  <a:clrScheme name="Стандартная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4472C4"/>
    </a:accent1>
    <a:accent2>
      <a:srgbClr val="ED7D31"/>
    </a:accent2>
    <a:accent3>
      <a:srgbClr val="A5A5A5"/>
    </a:accent3>
    <a:accent4>
      <a:srgbClr val="FFC000"/>
    </a:accent4>
    <a:accent5>
      <a:srgbClr val="5B9BD5"/>
    </a:accent5>
    <a:accent6>
      <a:srgbClr val="70AD47"/>
    </a:accent6>
    <a:hlink>
      <a:srgbClr val="0563C1"/>
    </a:hlink>
    <a:folHlink>
      <a:srgbClr val="954F72"/>
    </a:folHlink>
  </a:clrScheme>
</a:themeOverride>
</file>

<file path=ppt/theme/themeOverride49.xml><?xml version="1.0" encoding="utf-8"?>
<a:themeOverride xmlns:a="http://schemas.openxmlformats.org/drawingml/2006/main">
  <a:clrScheme name="Стандартная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4472C4"/>
    </a:accent1>
    <a:accent2>
      <a:srgbClr val="ED7D31"/>
    </a:accent2>
    <a:accent3>
      <a:srgbClr val="A5A5A5"/>
    </a:accent3>
    <a:accent4>
      <a:srgbClr val="FFC000"/>
    </a:accent4>
    <a:accent5>
      <a:srgbClr val="5B9BD5"/>
    </a:accent5>
    <a:accent6>
      <a:srgbClr val="70AD47"/>
    </a:accent6>
    <a:hlink>
      <a:srgbClr val="0563C1"/>
    </a:hlink>
    <a:folHlink>
      <a:srgbClr val="954F72"/>
    </a:folHlink>
  </a:clrScheme>
</a:themeOverride>
</file>

<file path=ppt/theme/themeOverride50.xml><?xml version="1.0" encoding="utf-8"?>
<a:themeOverride xmlns:a="http://schemas.openxmlformats.org/drawingml/2006/main">
  <a:clrScheme name="Стандартная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4472C4"/>
    </a:accent1>
    <a:accent2>
      <a:srgbClr val="ED7D31"/>
    </a:accent2>
    <a:accent3>
      <a:srgbClr val="A5A5A5"/>
    </a:accent3>
    <a:accent4>
      <a:srgbClr val="FFC000"/>
    </a:accent4>
    <a:accent5>
      <a:srgbClr val="5B9BD5"/>
    </a:accent5>
    <a:accent6>
      <a:srgbClr val="70AD47"/>
    </a:accent6>
    <a:hlink>
      <a:srgbClr val="0563C1"/>
    </a:hlink>
    <a:folHlink>
      <a:srgbClr val="954F72"/>
    </a:folHlink>
  </a:clrScheme>
</a:themeOverride>
</file>

<file path=ppt/theme/themeOverride51.xml><?xml version="1.0" encoding="utf-8"?>
<a:themeOverride xmlns:a="http://schemas.openxmlformats.org/drawingml/2006/main">
  <a:clrScheme name="Стандартная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4472C4"/>
    </a:accent1>
    <a:accent2>
      <a:srgbClr val="ED7D31"/>
    </a:accent2>
    <a:accent3>
      <a:srgbClr val="A5A5A5"/>
    </a:accent3>
    <a:accent4>
      <a:srgbClr val="FFC000"/>
    </a:accent4>
    <a:accent5>
      <a:srgbClr val="5B9BD5"/>
    </a:accent5>
    <a:accent6>
      <a:srgbClr val="70AD47"/>
    </a:accent6>
    <a:hlink>
      <a:srgbClr val="0563C1"/>
    </a:hlink>
    <a:folHlink>
      <a:srgbClr val="954F72"/>
    </a:folHlink>
  </a:clrScheme>
</a:themeOverride>
</file>

<file path=ppt/theme/themeOverride52.xml><?xml version="1.0" encoding="utf-8"?>
<a:themeOverride xmlns:a="http://schemas.openxmlformats.org/drawingml/2006/main">
  <a:clrScheme name="Стандартная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4472C4"/>
    </a:accent1>
    <a:accent2>
      <a:srgbClr val="ED7D31"/>
    </a:accent2>
    <a:accent3>
      <a:srgbClr val="A5A5A5"/>
    </a:accent3>
    <a:accent4>
      <a:srgbClr val="FFC000"/>
    </a:accent4>
    <a:accent5>
      <a:srgbClr val="5B9BD5"/>
    </a:accent5>
    <a:accent6>
      <a:srgbClr val="70AD47"/>
    </a:accent6>
    <a:hlink>
      <a:srgbClr val="0563C1"/>
    </a:hlink>
    <a:folHlink>
      <a:srgbClr val="954F72"/>
    </a:folHlink>
  </a:clrScheme>
</a:themeOverride>
</file>

<file path=ppt/theme/themeOverride53.xml><?xml version="1.0" encoding="utf-8"?>
<a:themeOverride xmlns:a="http://schemas.openxmlformats.org/drawingml/2006/main">
  <a:clrScheme name="Стандартная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4472C4"/>
    </a:accent1>
    <a:accent2>
      <a:srgbClr val="ED7D31"/>
    </a:accent2>
    <a:accent3>
      <a:srgbClr val="A5A5A5"/>
    </a:accent3>
    <a:accent4>
      <a:srgbClr val="FFC000"/>
    </a:accent4>
    <a:accent5>
      <a:srgbClr val="5B9BD5"/>
    </a:accent5>
    <a:accent6>
      <a:srgbClr val="70AD47"/>
    </a:accent6>
    <a:hlink>
      <a:srgbClr val="0563C1"/>
    </a:hlink>
    <a:folHlink>
      <a:srgbClr val="954F72"/>
    </a:folHlink>
  </a:clrScheme>
</a:themeOverride>
</file>

<file path=ppt/theme/themeOverride54.xml><?xml version="1.0" encoding="utf-8"?>
<a:themeOverride xmlns:a="http://schemas.openxmlformats.org/drawingml/2006/main">
  <a:clrScheme name="Стандартная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4472C4"/>
    </a:accent1>
    <a:accent2>
      <a:srgbClr val="ED7D31"/>
    </a:accent2>
    <a:accent3>
      <a:srgbClr val="A5A5A5"/>
    </a:accent3>
    <a:accent4>
      <a:srgbClr val="FFC000"/>
    </a:accent4>
    <a:accent5>
      <a:srgbClr val="5B9BD5"/>
    </a:accent5>
    <a:accent6>
      <a:srgbClr val="70AD47"/>
    </a:accent6>
    <a:hlink>
      <a:srgbClr val="0563C1"/>
    </a:hlink>
    <a:folHlink>
      <a:srgbClr val="954F72"/>
    </a:folHlink>
  </a:clrScheme>
</a:themeOverride>
</file>

<file path=ppt/theme/themeOverride55.xml><?xml version="1.0" encoding="utf-8"?>
<a:themeOverride xmlns:a="http://schemas.openxmlformats.org/drawingml/2006/main">
  <a:clrScheme name="Стандартная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4472C4"/>
    </a:accent1>
    <a:accent2>
      <a:srgbClr val="ED7D31"/>
    </a:accent2>
    <a:accent3>
      <a:srgbClr val="A5A5A5"/>
    </a:accent3>
    <a:accent4>
      <a:srgbClr val="FFC000"/>
    </a:accent4>
    <a:accent5>
      <a:srgbClr val="5B9BD5"/>
    </a:accent5>
    <a:accent6>
      <a:srgbClr val="70AD47"/>
    </a:accent6>
    <a:hlink>
      <a:srgbClr val="0563C1"/>
    </a:hlink>
    <a:folHlink>
      <a:srgbClr val="954F72"/>
    </a:folHlink>
  </a:clrScheme>
</a:themeOverride>
</file>

<file path=ppt/theme/themeOverride56.xml><?xml version="1.0" encoding="utf-8"?>
<a:themeOverride xmlns:a="http://schemas.openxmlformats.org/drawingml/2006/main">
  <a:clrScheme name="Стандартная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4472C4"/>
    </a:accent1>
    <a:accent2>
      <a:srgbClr val="ED7D31"/>
    </a:accent2>
    <a:accent3>
      <a:srgbClr val="A5A5A5"/>
    </a:accent3>
    <a:accent4>
      <a:srgbClr val="FFC000"/>
    </a:accent4>
    <a:accent5>
      <a:srgbClr val="5B9BD5"/>
    </a:accent5>
    <a:accent6>
      <a:srgbClr val="70AD47"/>
    </a:accent6>
    <a:hlink>
      <a:srgbClr val="0563C1"/>
    </a:hlink>
    <a:folHlink>
      <a:srgbClr val="954F72"/>
    </a:folHlink>
  </a:clrScheme>
</a:themeOverride>
</file>

<file path=ppt/theme/themeOverride57.xml><?xml version="1.0" encoding="utf-8"?>
<a:themeOverride xmlns:a="http://schemas.openxmlformats.org/drawingml/2006/main">
  <a:clrScheme name="Стандартная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4472C4"/>
    </a:accent1>
    <a:accent2>
      <a:srgbClr val="ED7D31"/>
    </a:accent2>
    <a:accent3>
      <a:srgbClr val="A5A5A5"/>
    </a:accent3>
    <a:accent4>
      <a:srgbClr val="FFC000"/>
    </a:accent4>
    <a:accent5>
      <a:srgbClr val="5B9BD5"/>
    </a:accent5>
    <a:accent6>
      <a:srgbClr val="70AD47"/>
    </a:accent6>
    <a:hlink>
      <a:srgbClr val="0563C1"/>
    </a:hlink>
    <a:folHlink>
      <a:srgbClr val="954F72"/>
    </a:folHlink>
  </a:clrScheme>
</a:themeOverride>
</file>

<file path=ppt/theme/themeOverride58.xml><?xml version="1.0" encoding="utf-8"?>
<a:themeOverride xmlns:a="http://schemas.openxmlformats.org/drawingml/2006/main">
  <a:clrScheme name="Стандартная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4472C4"/>
    </a:accent1>
    <a:accent2>
      <a:srgbClr val="ED7D31"/>
    </a:accent2>
    <a:accent3>
      <a:srgbClr val="A5A5A5"/>
    </a:accent3>
    <a:accent4>
      <a:srgbClr val="FFC000"/>
    </a:accent4>
    <a:accent5>
      <a:srgbClr val="5B9BD5"/>
    </a:accent5>
    <a:accent6>
      <a:srgbClr val="70AD47"/>
    </a:accent6>
    <a:hlink>
      <a:srgbClr val="0563C1"/>
    </a:hlink>
    <a:folHlink>
      <a:srgbClr val="954F72"/>
    </a:folHlink>
  </a:clrScheme>
</a:themeOverride>
</file>

<file path=ppt/theme/themeOverride59.xml><?xml version="1.0" encoding="utf-8"?>
<a:themeOverride xmlns:a="http://schemas.openxmlformats.org/drawingml/2006/main">
  <a:clrScheme name="Стандартная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4472C4"/>
    </a:accent1>
    <a:accent2>
      <a:srgbClr val="ED7D31"/>
    </a:accent2>
    <a:accent3>
      <a:srgbClr val="A5A5A5"/>
    </a:accent3>
    <a:accent4>
      <a:srgbClr val="FFC000"/>
    </a:accent4>
    <a:accent5>
      <a:srgbClr val="5B9BD5"/>
    </a:accent5>
    <a:accent6>
      <a:srgbClr val="70AD47"/>
    </a:accent6>
    <a:hlink>
      <a:srgbClr val="0563C1"/>
    </a:hlink>
    <a:folHlink>
      <a:srgbClr val="954F72"/>
    </a:folHlink>
  </a:clrScheme>
</a:themeOverride>
</file>

<file path=ppt/theme/themeOverride60.xml><?xml version="1.0" encoding="utf-8"?>
<a:themeOverride xmlns:a="http://schemas.openxmlformats.org/drawingml/2006/main">
  <a:clrScheme name="Стандартная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4472C4"/>
    </a:accent1>
    <a:accent2>
      <a:srgbClr val="ED7D31"/>
    </a:accent2>
    <a:accent3>
      <a:srgbClr val="A5A5A5"/>
    </a:accent3>
    <a:accent4>
      <a:srgbClr val="FFC000"/>
    </a:accent4>
    <a:accent5>
      <a:srgbClr val="5B9BD5"/>
    </a:accent5>
    <a:accent6>
      <a:srgbClr val="70AD47"/>
    </a:accent6>
    <a:hlink>
      <a:srgbClr val="0563C1"/>
    </a:hlink>
    <a:folHlink>
      <a:srgbClr val="954F72"/>
    </a:folHlink>
  </a:clrScheme>
</a:themeOverride>
</file>

<file path=ppt/theme/themeOverride61.xml><?xml version="1.0" encoding="utf-8"?>
<a:themeOverride xmlns:a="http://schemas.openxmlformats.org/drawingml/2006/main">
  <a:clrScheme name="Стандартная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4472C4"/>
    </a:accent1>
    <a:accent2>
      <a:srgbClr val="ED7D31"/>
    </a:accent2>
    <a:accent3>
      <a:srgbClr val="A5A5A5"/>
    </a:accent3>
    <a:accent4>
      <a:srgbClr val="FFC000"/>
    </a:accent4>
    <a:accent5>
      <a:srgbClr val="5B9BD5"/>
    </a:accent5>
    <a:accent6>
      <a:srgbClr val="70AD47"/>
    </a:accent6>
    <a:hlink>
      <a:srgbClr val="0563C1"/>
    </a:hlink>
    <a:folHlink>
      <a:srgbClr val="954F72"/>
    </a:folHlink>
  </a:clrScheme>
</a:themeOverride>
</file>

<file path=ppt/theme/themeOverride62.xml><?xml version="1.0" encoding="utf-8"?>
<a:themeOverride xmlns:a="http://schemas.openxmlformats.org/drawingml/2006/main">
  <a:clrScheme name="Стандартная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4472C4"/>
    </a:accent1>
    <a:accent2>
      <a:srgbClr val="ED7D31"/>
    </a:accent2>
    <a:accent3>
      <a:srgbClr val="A5A5A5"/>
    </a:accent3>
    <a:accent4>
      <a:srgbClr val="FFC000"/>
    </a:accent4>
    <a:accent5>
      <a:srgbClr val="5B9BD5"/>
    </a:accent5>
    <a:accent6>
      <a:srgbClr val="70AD47"/>
    </a:accent6>
    <a:hlink>
      <a:srgbClr val="0563C1"/>
    </a:hlink>
    <a:folHlink>
      <a:srgbClr val="954F72"/>
    </a:folHlink>
  </a:clrScheme>
</a:themeOverride>
</file>

<file path=ppt/theme/themeOverride63.xml><?xml version="1.0" encoding="utf-8"?>
<a:themeOverride xmlns:a="http://schemas.openxmlformats.org/drawingml/2006/main">
  <a:clrScheme name="Стандартная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4472C4"/>
    </a:accent1>
    <a:accent2>
      <a:srgbClr val="ED7D31"/>
    </a:accent2>
    <a:accent3>
      <a:srgbClr val="A5A5A5"/>
    </a:accent3>
    <a:accent4>
      <a:srgbClr val="FFC000"/>
    </a:accent4>
    <a:accent5>
      <a:srgbClr val="5B9BD5"/>
    </a:accent5>
    <a:accent6>
      <a:srgbClr val="70AD47"/>
    </a:accent6>
    <a:hlink>
      <a:srgbClr val="0563C1"/>
    </a:hlink>
    <a:folHlink>
      <a:srgbClr val="954F72"/>
    </a:folHlink>
  </a:clrScheme>
</a:themeOverride>
</file>

<file path=ppt/theme/themeOverride64.xml><?xml version="1.0" encoding="utf-8"?>
<a:themeOverride xmlns:a="http://schemas.openxmlformats.org/drawingml/2006/main">
  <a:clrScheme name="Стандартная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4472C4"/>
    </a:accent1>
    <a:accent2>
      <a:srgbClr val="ED7D31"/>
    </a:accent2>
    <a:accent3>
      <a:srgbClr val="A5A5A5"/>
    </a:accent3>
    <a:accent4>
      <a:srgbClr val="FFC000"/>
    </a:accent4>
    <a:accent5>
      <a:srgbClr val="5B9BD5"/>
    </a:accent5>
    <a:accent6>
      <a:srgbClr val="70AD47"/>
    </a:accent6>
    <a:hlink>
      <a:srgbClr val="0563C1"/>
    </a:hlink>
    <a:folHlink>
      <a:srgbClr val="954F72"/>
    </a:folHlink>
  </a:clrScheme>
</a:themeOverride>
</file>

<file path=ppt/theme/themeOverride65.xml><?xml version="1.0" encoding="utf-8"?>
<a:themeOverride xmlns:a="http://schemas.openxmlformats.org/drawingml/2006/main">
  <a:clrScheme name="Стандартная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4472C4"/>
    </a:accent1>
    <a:accent2>
      <a:srgbClr val="ED7D31"/>
    </a:accent2>
    <a:accent3>
      <a:srgbClr val="A5A5A5"/>
    </a:accent3>
    <a:accent4>
      <a:srgbClr val="FFC000"/>
    </a:accent4>
    <a:accent5>
      <a:srgbClr val="5B9BD5"/>
    </a:accent5>
    <a:accent6>
      <a:srgbClr val="70AD47"/>
    </a:accent6>
    <a:hlink>
      <a:srgbClr val="0563C1"/>
    </a:hlink>
    <a:folHlink>
      <a:srgbClr val="954F72"/>
    </a:folHlink>
  </a:clrScheme>
</a:themeOverrid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1349</TotalTime>
  <Words>4103</Words>
  <Application>Microsoft Office PowerPoint</Application>
  <PresentationFormat>Экран (4:3)</PresentationFormat>
  <Paragraphs>881</Paragraphs>
  <Slides>68</Slides>
  <Notes>6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17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68</vt:i4>
      </vt:variant>
    </vt:vector>
  </HeadingPairs>
  <TitlesOfParts>
    <vt:vector size="86" baseType="lpstr">
      <vt:lpstr>Arial</vt:lpstr>
      <vt:lpstr>Arial Black</vt:lpstr>
      <vt:lpstr>Arial-BoldMT</vt:lpstr>
      <vt:lpstr>Arial-ItalicMT</vt:lpstr>
      <vt:lpstr>ArialMT</vt:lpstr>
      <vt:lpstr>Calibri</vt:lpstr>
      <vt:lpstr>Cambria Math</vt:lpstr>
      <vt:lpstr>KaTeX_Main</vt:lpstr>
      <vt:lpstr>KaTeX_Math</vt:lpstr>
      <vt:lpstr>Source Sans Pro</vt:lpstr>
      <vt:lpstr>Symbol</vt:lpstr>
      <vt:lpstr>SymbolMT</vt:lpstr>
      <vt:lpstr>Times New Roman</vt:lpstr>
      <vt:lpstr>TimesNewRomanPS-BoldItalicMT</vt:lpstr>
      <vt:lpstr>Trebuchet MS</vt:lpstr>
      <vt:lpstr>Wingdings</vt:lpstr>
      <vt:lpstr>Wingdings-Regular</vt:lpstr>
      <vt:lpstr>Специальное оформление</vt:lpstr>
      <vt:lpstr>Презентация PowerPoint</vt:lpstr>
      <vt:lpstr>Лекция №4. Корреляция и линейная регрессия Дисперсионный анализ</vt:lpstr>
      <vt:lpstr>Корреляция</vt:lpstr>
      <vt:lpstr>Связь</vt:lpstr>
      <vt:lpstr>Диаграммы рассеяния</vt:lpstr>
      <vt:lpstr>Корреляция</vt:lpstr>
      <vt:lpstr>Корреляция</vt:lpstr>
      <vt:lpstr>Корреляция</vt:lpstr>
      <vt:lpstr>Корреляция</vt:lpstr>
      <vt:lpstr>Корреляция</vt:lpstr>
      <vt:lpstr>Коэффициент корреляции Пирсона</vt:lpstr>
      <vt:lpstr>Коэффициент корреляции Пирсона</vt:lpstr>
      <vt:lpstr>Метрики качества линейных регрессионных моделей</vt:lpstr>
      <vt:lpstr>Метрики качества линейных регрессионных моделей</vt:lpstr>
      <vt:lpstr>Метрики качества линейных регрессионных моделей</vt:lpstr>
      <vt:lpstr>Метрики качества линейных регрессионных моделей</vt:lpstr>
      <vt:lpstr>Коэффициент детерминации</vt:lpstr>
      <vt:lpstr>Коэффициент детерминации</vt:lpstr>
      <vt:lpstr>Коэффициент детерминации</vt:lpstr>
      <vt:lpstr>Коэффициент детерминации</vt:lpstr>
      <vt:lpstr>Скорректированный R-квадрат</vt:lpstr>
      <vt:lpstr>Скорректированный R-квадрат</vt:lpstr>
      <vt:lpstr>Регрессионный анализ</vt:lpstr>
      <vt:lpstr>Регрессионный анализ</vt:lpstr>
      <vt:lpstr>Однофакторный регрессионный анализ</vt:lpstr>
      <vt:lpstr>Однофакторный анализ</vt:lpstr>
      <vt:lpstr>Метод наименьших квадратов (МНК)</vt:lpstr>
      <vt:lpstr>Метод наименьших квадратов (МНК)</vt:lpstr>
      <vt:lpstr>Метод наименьших квадратов (МНК)</vt:lpstr>
      <vt:lpstr>Многофакторная модель регрессии</vt:lpstr>
      <vt:lpstr>Дисперсия</vt:lpstr>
      <vt:lpstr>F-распределение для числа групп – 5 и числа степеней свободы – 5</vt:lpstr>
      <vt:lpstr>Дисперсионный анализ</vt:lpstr>
      <vt:lpstr>Проверка, что нам подходит дисперсионный анализ</vt:lpstr>
      <vt:lpstr>Межгрупповая и внутригрупповая дисперсии</vt:lpstr>
      <vt:lpstr>Межгрупповая и внутригрупповая дисперсии</vt:lpstr>
      <vt:lpstr>Однофакторный дисперсионный анализ</vt:lpstr>
      <vt:lpstr>Примеры</vt:lpstr>
      <vt:lpstr>Однофакторный дисперсионный анализ</vt:lpstr>
      <vt:lpstr>Однофакторный дисперсионный анализ</vt:lpstr>
      <vt:lpstr>Однофакторный дисперсионный анализ</vt:lpstr>
      <vt:lpstr>Однофакторный дисперсионный анализ</vt:lpstr>
      <vt:lpstr>Однофакторный дисперсионный анализ</vt:lpstr>
      <vt:lpstr>Пост-хок тесты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Двухфакторный дисперсионный анализ без повторений</vt:lpstr>
      <vt:lpstr>Двухфакторный дисперсионный анализ без повторений</vt:lpstr>
      <vt:lpstr>Проверка, что нам подходит дисперсионный анализ</vt:lpstr>
      <vt:lpstr>Двухфакторный дисперсионный анализ без повторений</vt:lpstr>
      <vt:lpstr>Двухфакторный дисперсионный анализ без повторений</vt:lpstr>
      <vt:lpstr>Презентация PowerPoint</vt:lpstr>
      <vt:lpstr>Презентация PowerPoint</vt:lpstr>
      <vt:lpstr>Двухфакторный дисперсионный анализ с повторениями</vt:lpstr>
      <vt:lpstr>Двухфакторный дисперсионный анализ с повторениями</vt:lpstr>
      <vt:lpstr>Двухфакторный дисперсионный анализ с повторениями</vt:lpstr>
      <vt:lpstr>Двухфакторный дисперсионный анализ с повторениями</vt:lpstr>
      <vt:lpstr>Двухфакторный дисперсионный анализ с повторениями</vt:lpstr>
      <vt:lpstr>Двухфакторный дисперсионный анализ с повторениями</vt:lpstr>
      <vt:lpstr>Инструменты статистического анализа данных</vt:lpstr>
      <vt:lpstr>Инструменты статистического анализа данных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creator>Mikhail Bocharov</dc:creator>
  <cp:lastModifiedBy>Иван Юрченков</cp:lastModifiedBy>
  <cp:revision>108</cp:revision>
  <dcterms:created xsi:type="dcterms:W3CDTF">2024-10-12T05:17:42Z</dcterms:created>
  <dcterms:modified xsi:type="dcterms:W3CDTF">2024-10-15T14:45:56Z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LastSaved">
    <vt:filetime>2024-10-12T00:00:00Z</vt:filetime>
  </property>
  <property fmtid="{D5CDD505-2E9C-101B-9397-08002B2CF9AE}" pid="3" name="Producer">
    <vt:lpwstr>3-Heights(TM) PDF Security Shell 4.8.25.2 (http://www.pdf-tools.com)</vt:lpwstr>
  </property>
</Properties>
</file>